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5"/>
  </p:notesMasterIdLst>
  <p:handoutMasterIdLst>
    <p:handoutMasterId r:id="rId76"/>
  </p:handoutMasterIdLst>
  <p:sldIdLst>
    <p:sldId id="384" r:id="rId2"/>
    <p:sldId id="790" r:id="rId3"/>
    <p:sldId id="792" r:id="rId4"/>
    <p:sldId id="794" r:id="rId5"/>
    <p:sldId id="795" r:id="rId6"/>
    <p:sldId id="796" r:id="rId7"/>
    <p:sldId id="797" r:id="rId8"/>
    <p:sldId id="802" r:id="rId9"/>
    <p:sldId id="803" r:id="rId10"/>
    <p:sldId id="804" r:id="rId11"/>
    <p:sldId id="805" r:id="rId12"/>
    <p:sldId id="806" r:id="rId13"/>
    <p:sldId id="807" r:id="rId14"/>
    <p:sldId id="808" r:id="rId15"/>
    <p:sldId id="809" r:id="rId16"/>
    <p:sldId id="810" r:id="rId17"/>
    <p:sldId id="816" r:id="rId18"/>
    <p:sldId id="817" r:id="rId19"/>
    <p:sldId id="818" r:id="rId20"/>
    <p:sldId id="827" r:id="rId21"/>
    <p:sldId id="828" r:id="rId22"/>
    <p:sldId id="829" r:id="rId23"/>
    <p:sldId id="830" r:id="rId24"/>
    <p:sldId id="831" r:id="rId25"/>
    <p:sldId id="832" r:id="rId26"/>
    <p:sldId id="833" r:id="rId27"/>
    <p:sldId id="834" r:id="rId28"/>
    <p:sldId id="835" r:id="rId29"/>
    <p:sldId id="836" r:id="rId30"/>
    <p:sldId id="837" r:id="rId31"/>
    <p:sldId id="838" r:id="rId32"/>
    <p:sldId id="839" r:id="rId33"/>
    <p:sldId id="840" r:id="rId34"/>
    <p:sldId id="841" r:id="rId35"/>
    <p:sldId id="842" r:id="rId36"/>
    <p:sldId id="843" r:id="rId37"/>
    <p:sldId id="844" r:id="rId38"/>
    <p:sldId id="845" r:id="rId39"/>
    <p:sldId id="846" r:id="rId40"/>
    <p:sldId id="885" r:id="rId41"/>
    <p:sldId id="886" r:id="rId42"/>
    <p:sldId id="887" r:id="rId43"/>
    <p:sldId id="890" r:id="rId44"/>
    <p:sldId id="889" r:id="rId45"/>
    <p:sldId id="847" r:id="rId46"/>
    <p:sldId id="891" r:id="rId47"/>
    <p:sldId id="892" r:id="rId48"/>
    <p:sldId id="848" r:id="rId49"/>
    <p:sldId id="849" r:id="rId50"/>
    <p:sldId id="850" r:id="rId51"/>
    <p:sldId id="854" r:id="rId52"/>
    <p:sldId id="855" r:id="rId53"/>
    <p:sldId id="859" r:id="rId54"/>
    <p:sldId id="860" r:id="rId55"/>
    <p:sldId id="862" r:id="rId56"/>
    <p:sldId id="895" r:id="rId57"/>
    <p:sldId id="894" r:id="rId58"/>
    <p:sldId id="893" r:id="rId59"/>
    <p:sldId id="865" r:id="rId60"/>
    <p:sldId id="896" r:id="rId61"/>
    <p:sldId id="866" r:id="rId62"/>
    <p:sldId id="868" r:id="rId63"/>
    <p:sldId id="869" r:id="rId64"/>
    <p:sldId id="870" r:id="rId65"/>
    <p:sldId id="871" r:id="rId66"/>
    <p:sldId id="872" r:id="rId67"/>
    <p:sldId id="873" r:id="rId68"/>
    <p:sldId id="874" r:id="rId69"/>
    <p:sldId id="875" r:id="rId70"/>
    <p:sldId id="876" r:id="rId71"/>
    <p:sldId id="877" r:id="rId72"/>
    <p:sldId id="878" r:id="rId73"/>
    <p:sldId id="879" r:id="rId74"/>
  </p:sldIdLst>
  <p:sldSz cx="9144000" cy="6858000" type="screen4x3"/>
  <p:notesSz cx="6985000" cy="92821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03">
          <p15:clr>
            <a:srgbClr val="A4A3A4"/>
          </p15:clr>
        </p15:guide>
        <p15:guide id="2" pos="292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FCC00"/>
    <a:srgbClr val="3366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512" autoAdjust="0"/>
    <p:restoredTop sz="79533" autoAdjust="0"/>
  </p:normalViewPr>
  <p:slideViewPr>
    <p:cSldViewPr>
      <p:cViewPr varScale="1">
        <p:scale>
          <a:sx n="46" d="100"/>
          <a:sy n="46" d="100"/>
        </p:scale>
        <p:origin x="162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39" d="100"/>
          <a:sy n="39" d="100"/>
        </p:scale>
        <p:origin x="-1222" y="-95"/>
      </p:cViewPr>
      <p:guideLst>
        <p:guide orient="horz" pos="2203"/>
        <p:guide pos="292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50" Type="http://schemas.openxmlformats.org/officeDocument/2006/relationships/slide" Target="slides/slide49.xml" /><Relationship Id="rId55" Type="http://schemas.openxmlformats.org/officeDocument/2006/relationships/slide" Target="slides/slide54.xml" /><Relationship Id="rId63" Type="http://schemas.openxmlformats.org/officeDocument/2006/relationships/slide" Target="slides/slide62.xml" /><Relationship Id="rId68" Type="http://schemas.openxmlformats.org/officeDocument/2006/relationships/slide" Target="slides/slide67.xml" /><Relationship Id="rId76" Type="http://schemas.openxmlformats.org/officeDocument/2006/relationships/handoutMaster" Target="handoutMasters/handoutMaster1.xml" /><Relationship Id="rId7" Type="http://schemas.openxmlformats.org/officeDocument/2006/relationships/slide" Target="slides/slide6.xml" /><Relationship Id="rId71" Type="http://schemas.openxmlformats.org/officeDocument/2006/relationships/slide" Target="slides/slide70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9" Type="http://schemas.openxmlformats.org/officeDocument/2006/relationships/slide" Target="slides/slide28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3" Type="http://schemas.openxmlformats.org/officeDocument/2006/relationships/slide" Target="slides/slide52.xml" /><Relationship Id="rId58" Type="http://schemas.openxmlformats.org/officeDocument/2006/relationships/slide" Target="slides/slide57.xml" /><Relationship Id="rId66" Type="http://schemas.openxmlformats.org/officeDocument/2006/relationships/slide" Target="slides/slide65.xml" /><Relationship Id="rId74" Type="http://schemas.openxmlformats.org/officeDocument/2006/relationships/slide" Target="slides/slide73.xml" /><Relationship Id="rId79" Type="http://schemas.openxmlformats.org/officeDocument/2006/relationships/theme" Target="theme/theme1.xml" /><Relationship Id="rId5" Type="http://schemas.openxmlformats.org/officeDocument/2006/relationships/slide" Target="slides/slide4.xml" /><Relationship Id="rId61" Type="http://schemas.openxmlformats.org/officeDocument/2006/relationships/slide" Target="slides/slide60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slide" Target="slides/slide51.xml" /><Relationship Id="rId60" Type="http://schemas.openxmlformats.org/officeDocument/2006/relationships/slide" Target="slides/slide59.xml" /><Relationship Id="rId65" Type="http://schemas.openxmlformats.org/officeDocument/2006/relationships/slide" Target="slides/slide64.xml" /><Relationship Id="rId73" Type="http://schemas.openxmlformats.org/officeDocument/2006/relationships/slide" Target="slides/slide72.xml" /><Relationship Id="rId78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slide" Target="slides/slide47.xml" /><Relationship Id="rId56" Type="http://schemas.openxmlformats.org/officeDocument/2006/relationships/slide" Target="slides/slide55.xml" /><Relationship Id="rId64" Type="http://schemas.openxmlformats.org/officeDocument/2006/relationships/slide" Target="slides/slide63.xml" /><Relationship Id="rId69" Type="http://schemas.openxmlformats.org/officeDocument/2006/relationships/slide" Target="slides/slide68.xml" /><Relationship Id="rId77" Type="http://schemas.openxmlformats.org/officeDocument/2006/relationships/presProps" Target="presProps.xml" /><Relationship Id="rId8" Type="http://schemas.openxmlformats.org/officeDocument/2006/relationships/slide" Target="slides/slide7.xml" /><Relationship Id="rId51" Type="http://schemas.openxmlformats.org/officeDocument/2006/relationships/slide" Target="slides/slide50.xml" /><Relationship Id="rId72" Type="http://schemas.openxmlformats.org/officeDocument/2006/relationships/slide" Target="slides/slide71.xml" /><Relationship Id="rId80" Type="http://schemas.openxmlformats.org/officeDocument/2006/relationships/tableStyles" Target="tableStyles.xml" /><Relationship Id="rId3" Type="http://schemas.openxmlformats.org/officeDocument/2006/relationships/slide" Target="slides/slide2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59" Type="http://schemas.openxmlformats.org/officeDocument/2006/relationships/slide" Target="slides/slide58.xml" /><Relationship Id="rId67" Type="http://schemas.openxmlformats.org/officeDocument/2006/relationships/slide" Target="slides/slide66.xml" /><Relationship Id="rId20" Type="http://schemas.openxmlformats.org/officeDocument/2006/relationships/slide" Target="slides/slide19.xml" /><Relationship Id="rId41" Type="http://schemas.openxmlformats.org/officeDocument/2006/relationships/slide" Target="slides/slide40.xml" /><Relationship Id="rId54" Type="http://schemas.openxmlformats.org/officeDocument/2006/relationships/slide" Target="slides/slide53.xml" /><Relationship Id="rId62" Type="http://schemas.openxmlformats.org/officeDocument/2006/relationships/slide" Target="slides/slide61.xml" /><Relationship Id="rId70" Type="http://schemas.openxmlformats.org/officeDocument/2006/relationships/slide" Target="slides/slide69.xml" /><Relationship Id="rId75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slide" Target="slides/slide48.xml" /><Relationship Id="rId57" Type="http://schemas.openxmlformats.org/officeDocument/2006/relationships/slide" Target="slides/slide56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93997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7363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364" tIns="0" rIns="19364" bIns="0" numCol="1" anchor="t" anchorCtr="0" compatLnSpc="1">
            <a:prstTxWarp prst="textNoShape">
              <a:avLst/>
            </a:prstTxWarp>
          </a:bodyPr>
          <a:lstStyle>
            <a:lvl1pPr defTabSz="930275">
              <a:defRPr sz="100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57638" y="0"/>
            <a:ext cx="3027362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364" tIns="0" rIns="19364" bIns="0" numCol="1" anchor="t" anchorCtr="0" compatLnSpc="1">
            <a:prstTxWarp prst="textNoShape">
              <a:avLst/>
            </a:prstTxWarp>
          </a:bodyPr>
          <a:lstStyle>
            <a:lvl1pPr algn="r" defTabSz="930275">
              <a:defRPr sz="100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703263"/>
            <a:ext cx="4622800" cy="3467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08488"/>
            <a:ext cx="5121275" cy="417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594" tIns="46798" rIns="93594" bIns="4679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27363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364" tIns="0" rIns="19364" bIns="0" numCol="1" anchor="b" anchorCtr="0" compatLnSpc="1">
            <a:prstTxWarp prst="textNoShape">
              <a:avLst/>
            </a:prstTxWarp>
          </a:bodyPr>
          <a:lstStyle>
            <a:lvl1pPr defTabSz="930275">
              <a:defRPr sz="100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57638" y="8818563"/>
            <a:ext cx="3027362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364" tIns="0" rIns="19364" bIns="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00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3658F5B-3343-4117-8290-03B49CFAAF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8049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658F5B-3343-4117-8290-03B49CFAAF33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5938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8B13F8-7DA0-447D-A562-5296F3FA4DA1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0319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9E7DFD-3DDC-460F-868D-C01D1C71C34D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8924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73C816-1F79-4D3D-9973-81448C95F7C0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775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85BD3C-824E-4D8C-85B4-E78CA366E4D9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86363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884795-F8C6-4E15-B889-7AC6807B595F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65221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23FCA2-3336-4062-8937-C8AEA1309085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2066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95FA99-B128-459B-984D-6E8ADBE899F7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74871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46CE70-4469-4283-AA87-1D36A93A4514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4310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10BB4D3-74F0-4F10-A5C7-08019CB0AAE8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5314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C55238-7011-4E4F-B344-6C7600ABA375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36873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2FEBBE-1FC8-434D-A899-3639F5DCBA7C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0160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F28C46-7604-493F-BB06-8C0857175D47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84833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CAD035-A353-4919-BBB9-1627B2DE60C5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77891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15C434-7C63-4047-BD0E-BC15772635BA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53975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9BF587-749E-4464-BD38-C3311C742D90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07061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FE9343-D28D-4EE1-912B-474BE27E3E83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20601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73286A-F5DA-4910-8185-F60C3BF81EE6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55787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CFB2B5-7A21-4AFF-A6EA-791D668539F4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97193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658F5B-3343-4117-8290-03B49CFAAF33}" type="slidenum">
              <a:rPr lang="en-US" altLang="en-US" smtClean="0"/>
              <a:pPr>
                <a:defRPr/>
              </a:pPr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74846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73286A-F5DA-4910-8185-F60C3BF81EE6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97203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CFB2B5-7A21-4AFF-A6EA-791D668539F4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98740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B56DA3-7ACF-4681-850A-1C374571CABB}" type="slidenum">
              <a:rPr lang="en-US" altLang="en-US"/>
              <a:pPr/>
              <a:t>54</a:t>
            </a:fld>
            <a:endParaRPr lang="en-US" altLang="en-US"/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701675"/>
            <a:ext cx="4622800" cy="34671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31863" y="4408488"/>
            <a:ext cx="5121275" cy="41767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Adaptation of quicksort exposed the need for data structures for double-ended priority queues; concept of buffers (portions of memory to read into and write from); and buffer management to reduce time spent waiting for a buffer to empty or fill to/from disk. </a:t>
            </a:r>
          </a:p>
        </p:txBody>
      </p:sp>
    </p:spTree>
    <p:extLst>
      <p:ext uri="{BB962C8B-B14F-4D97-AF65-F5344CB8AC3E}">
        <p14:creationId xmlns:p14="http://schemas.microsoft.com/office/powerpoint/2010/main" val="25718720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27466C-5A5E-478B-AC42-8B929CC1AB0F}" type="slidenum">
              <a:rPr lang="en-US" altLang="en-US"/>
              <a:pPr/>
              <a:t>56</a:t>
            </a:fld>
            <a:endParaRPr lang="en-US" altLang="en-US"/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701675"/>
            <a:ext cx="4622800" cy="34671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31863" y="4408488"/>
            <a:ext cx="5121275" cy="41767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Iterative internal merge sort starts with sorted segments; performs merge passes in each of which the number of sorted segments becomes half; stops when we have just one sorted segment. The sorted segments may be created using insertion sort say to get initial segments of size 15 (say). </a:t>
            </a:r>
          </a:p>
        </p:txBody>
      </p:sp>
    </p:spTree>
    <p:extLst>
      <p:ext uri="{BB962C8B-B14F-4D97-AF65-F5344CB8AC3E}">
        <p14:creationId xmlns:p14="http://schemas.microsoft.com/office/powerpoint/2010/main" val="1211388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CHAPTER 6</a:t>
            </a: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5F72C7-026F-4187-BB5E-46ACCB8054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1698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CHAPTER 6</a:t>
            </a: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B7097-287C-4E35-8783-0A22626769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2543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CHAPTER 6</a:t>
            </a: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398357-23B2-4924-9495-25F02B6530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0791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CHAPTER 6</a:t>
            </a: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F18595-8D3A-4C25-B4E4-3A1ED7AD16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5338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CHAPTER 6</a:t>
            </a: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611148-2841-44F1-857A-7F5A683BBD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388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CHAPTER 6</a:t>
            </a: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D36D6E-8561-4717-A1FB-9BEB70BA8AD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7770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CHAPTER 6</a:t>
            </a: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124D79-F077-4A94-925F-20EDB7B2D6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2370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CHAPTER 6</a:t>
            </a: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4A13F4-BC24-4BB7-A59F-AEE8452F60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7939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CHAPTER 6</a:t>
            </a: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5AC686-78E9-40E9-B105-070B224827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38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CHAPTER 6</a:t>
            </a: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E1FF9A-6160-4653-A4A2-602122FDD65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1806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152400"/>
            <a:ext cx="194310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690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CHAPTER 6</a:t>
            </a: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277C67-808F-4056-A0DF-22D7ABBB6F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9658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IN" altLang="en-US"/>
              <a:t>CHAPTER 6</a:t>
            </a: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2C95A3D-699E-409D-B20D-1468DFF0EB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.xml" 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1.xml" 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1.xml" 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2.xml" 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1.xml" 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1.xml" 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2.xml" 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2.xml" 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836613"/>
            <a:ext cx="8640959" cy="5334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/>
              <a:t>SORTING</a:t>
            </a:r>
            <a:r>
              <a:rPr lang="en-US" altLang="en-US" sz="3600" dirty="0">
                <a:solidFill>
                  <a:srgbClr val="C00000"/>
                </a:solidFill>
                <a:cs typeface="Times New Roman" panose="02020603050405020304" pitchFamily="18" charset="0"/>
              </a:rPr>
              <a:t> </a:t>
            </a:r>
            <a:br>
              <a:rPr lang="en-US" altLang="en-US" sz="3600" dirty="0">
                <a:solidFill>
                  <a:srgbClr val="C00000"/>
                </a:solidFill>
                <a:cs typeface="Times New Roman" panose="02020603050405020304" pitchFamily="18" charset="0"/>
              </a:rPr>
            </a:br>
            <a:r>
              <a:rPr lang="en-US" altLang="en-US" sz="3600" dirty="0">
                <a:solidFill>
                  <a:srgbClr val="C00000"/>
                </a:solidFill>
                <a:cs typeface="Times New Roman" panose="02020603050405020304" pitchFamily="18" charset="0"/>
              </a:rPr>
              <a:t>Heap Sort &amp; </a:t>
            </a:r>
            <a:r>
              <a:rPr lang="en-US" altLang="en-US" sz="3600" dirty="0" err="1">
                <a:solidFill>
                  <a:srgbClr val="C00000"/>
                </a:solidFill>
                <a:cs typeface="Times New Roman" panose="02020603050405020304" pitchFamily="18" charset="0"/>
              </a:rPr>
              <a:t>Mergesort</a:t>
            </a:r>
            <a:endParaRPr lang="en-IN" sz="360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685800" y="4876800"/>
            <a:ext cx="7772400" cy="1219200"/>
          </a:xfrm>
        </p:spPr>
        <p:txBody>
          <a:bodyPr/>
          <a:lstStyle/>
          <a:p>
            <a:pPr marL="0" indent="0" algn="ctr">
              <a:buFontTx/>
              <a:buNone/>
            </a:pPr>
            <a:endParaRPr lang="en-IN" altLang="en-US" sz="28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5410200"/>
            <a:ext cx="6400800" cy="228600"/>
          </a:xfrm>
          <a:ln/>
        </p:spPr>
        <p:txBody>
          <a:bodyPr/>
          <a:lstStyle/>
          <a:p>
            <a:pPr marL="342900" indent="-342900" algn="l"/>
            <a:endParaRPr lang="en-US" altLang="en-US" sz="3200"/>
          </a:p>
        </p:txBody>
      </p:sp>
      <p:sp>
        <p:nvSpPr>
          <p:cNvPr id="40990" name="Rectangle 30"/>
          <p:cNvSpPr>
            <a:spLocks noChangeArrowheads="1"/>
          </p:cNvSpPr>
          <p:nvPr/>
        </p:nvSpPr>
        <p:spPr bwMode="auto">
          <a:xfrm>
            <a:off x="692150" y="5416550"/>
            <a:ext cx="444500" cy="4445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0991" name="Rectangle 31"/>
          <p:cNvSpPr>
            <a:spLocks noChangeArrowheads="1"/>
          </p:cNvSpPr>
          <p:nvPr/>
        </p:nvSpPr>
        <p:spPr bwMode="auto">
          <a:xfrm>
            <a:off x="1149350" y="5416550"/>
            <a:ext cx="444500" cy="4445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0992" name="Rectangle 32"/>
          <p:cNvSpPr>
            <a:spLocks noChangeArrowheads="1"/>
          </p:cNvSpPr>
          <p:nvPr/>
        </p:nvSpPr>
        <p:spPr bwMode="auto">
          <a:xfrm>
            <a:off x="1606550" y="5416550"/>
            <a:ext cx="444500" cy="4445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0993" name="Rectangle 33"/>
          <p:cNvSpPr>
            <a:spLocks noChangeArrowheads="1"/>
          </p:cNvSpPr>
          <p:nvPr/>
        </p:nvSpPr>
        <p:spPr bwMode="auto">
          <a:xfrm>
            <a:off x="2063750" y="5416550"/>
            <a:ext cx="444500" cy="4445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0994" name="Rectangle 34"/>
          <p:cNvSpPr>
            <a:spLocks noChangeArrowheads="1"/>
          </p:cNvSpPr>
          <p:nvPr/>
        </p:nvSpPr>
        <p:spPr bwMode="auto">
          <a:xfrm>
            <a:off x="2520950" y="5416550"/>
            <a:ext cx="444500" cy="4445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0995" name="Rectangle 35"/>
          <p:cNvSpPr>
            <a:spLocks noChangeArrowheads="1"/>
          </p:cNvSpPr>
          <p:nvPr/>
        </p:nvSpPr>
        <p:spPr bwMode="auto">
          <a:xfrm>
            <a:off x="2978150" y="5416550"/>
            <a:ext cx="444500" cy="4445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0996" name="Rectangle 36"/>
          <p:cNvSpPr>
            <a:spLocks noChangeArrowheads="1"/>
          </p:cNvSpPr>
          <p:nvPr/>
        </p:nvSpPr>
        <p:spPr bwMode="auto">
          <a:xfrm>
            <a:off x="3435350" y="5416550"/>
            <a:ext cx="444500" cy="4445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0997" name="Rectangle 37"/>
          <p:cNvSpPr>
            <a:spLocks noChangeArrowheads="1"/>
          </p:cNvSpPr>
          <p:nvPr/>
        </p:nvSpPr>
        <p:spPr bwMode="auto">
          <a:xfrm>
            <a:off x="3892550" y="5416550"/>
            <a:ext cx="444500" cy="4445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0998" name="Rectangle 38"/>
          <p:cNvSpPr>
            <a:spLocks noChangeArrowheads="1"/>
          </p:cNvSpPr>
          <p:nvPr/>
        </p:nvSpPr>
        <p:spPr bwMode="auto">
          <a:xfrm>
            <a:off x="4349750" y="5416550"/>
            <a:ext cx="444500" cy="4445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0999" name="Rectangle 39"/>
          <p:cNvSpPr>
            <a:spLocks noChangeArrowheads="1"/>
          </p:cNvSpPr>
          <p:nvPr/>
        </p:nvSpPr>
        <p:spPr bwMode="auto">
          <a:xfrm>
            <a:off x="4806950" y="5416550"/>
            <a:ext cx="444500" cy="4445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1000" name="Rectangle 40"/>
          <p:cNvSpPr>
            <a:spLocks noChangeArrowheads="1"/>
          </p:cNvSpPr>
          <p:nvPr/>
        </p:nvSpPr>
        <p:spPr bwMode="auto">
          <a:xfrm>
            <a:off x="5264150" y="5416550"/>
            <a:ext cx="444500" cy="4445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1001" name="Rectangle 41"/>
          <p:cNvSpPr>
            <a:spLocks noChangeArrowheads="1"/>
          </p:cNvSpPr>
          <p:nvPr/>
        </p:nvSpPr>
        <p:spPr bwMode="auto">
          <a:xfrm>
            <a:off x="5721350" y="5416550"/>
            <a:ext cx="444500" cy="4445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1002" name="Rectangle 42"/>
          <p:cNvSpPr>
            <a:spLocks noChangeArrowheads="1"/>
          </p:cNvSpPr>
          <p:nvPr/>
        </p:nvSpPr>
        <p:spPr bwMode="auto">
          <a:xfrm>
            <a:off x="6178550" y="5416550"/>
            <a:ext cx="444500" cy="4445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1003" name="Rectangle 43"/>
          <p:cNvSpPr>
            <a:spLocks noChangeArrowheads="1"/>
          </p:cNvSpPr>
          <p:nvPr/>
        </p:nvSpPr>
        <p:spPr bwMode="auto">
          <a:xfrm>
            <a:off x="6635750" y="5416550"/>
            <a:ext cx="444500" cy="4445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1004" name="Rectangle 44"/>
          <p:cNvSpPr>
            <a:spLocks noChangeArrowheads="1"/>
          </p:cNvSpPr>
          <p:nvPr/>
        </p:nvSpPr>
        <p:spPr bwMode="auto">
          <a:xfrm>
            <a:off x="7092950" y="5416550"/>
            <a:ext cx="444500" cy="4445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1005" name="Rectangle 45"/>
          <p:cNvSpPr>
            <a:spLocks noChangeArrowheads="1"/>
          </p:cNvSpPr>
          <p:nvPr/>
        </p:nvSpPr>
        <p:spPr bwMode="auto">
          <a:xfrm>
            <a:off x="7550150" y="5416550"/>
            <a:ext cx="444500" cy="4445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1006" name="Rectangle 46"/>
          <p:cNvSpPr>
            <a:spLocks noChangeArrowheads="1"/>
          </p:cNvSpPr>
          <p:nvPr/>
        </p:nvSpPr>
        <p:spPr bwMode="auto">
          <a:xfrm>
            <a:off x="8007350" y="5416550"/>
            <a:ext cx="444500" cy="4445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1007" name="Rectangle 47"/>
          <p:cNvSpPr>
            <a:spLocks noChangeArrowheads="1"/>
          </p:cNvSpPr>
          <p:nvPr/>
        </p:nvSpPr>
        <p:spPr bwMode="auto">
          <a:xfrm>
            <a:off x="1219200" y="5486400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9</a:t>
            </a:r>
          </a:p>
        </p:txBody>
      </p:sp>
      <p:sp>
        <p:nvSpPr>
          <p:cNvPr id="41008" name="Rectangle 48"/>
          <p:cNvSpPr>
            <a:spLocks noChangeArrowheads="1"/>
          </p:cNvSpPr>
          <p:nvPr/>
        </p:nvSpPr>
        <p:spPr bwMode="auto">
          <a:xfrm>
            <a:off x="1676400" y="5486400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41009" name="Rectangle 49"/>
          <p:cNvSpPr>
            <a:spLocks noChangeArrowheads="1"/>
          </p:cNvSpPr>
          <p:nvPr/>
        </p:nvSpPr>
        <p:spPr bwMode="auto">
          <a:xfrm>
            <a:off x="2133600" y="5486400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41010" name="Rectangle 50"/>
          <p:cNvSpPr>
            <a:spLocks noChangeArrowheads="1"/>
          </p:cNvSpPr>
          <p:nvPr/>
        </p:nvSpPr>
        <p:spPr bwMode="auto">
          <a:xfrm>
            <a:off x="2590800" y="5486400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41011" name="Rectangle 51"/>
          <p:cNvSpPr>
            <a:spLocks noChangeArrowheads="1"/>
          </p:cNvSpPr>
          <p:nvPr/>
        </p:nvSpPr>
        <p:spPr bwMode="auto">
          <a:xfrm>
            <a:off x="3048000" y="5486400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41012" name="Rectangle 52"/>
          <p:cNvSpPr>
            <a:spLocks noChangeArrowheads="1"/>
          </p:cNvSpPr>
          <p:nvPr/>
        </p:nvSpPr>
        <p:spPr bwMode="auto">
          <a:xfrm>
            <a:off x="3505200" y="5486400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41013" name="Rectangle 53"/>
          <p:cNvSpPr>
            <a:spLocks noChangeArrowheads="1"/>
          </p:cNvSpPr>
          <p:nvPr/>
        </p:nvSpPr>
        <p:spPr bwMode="auto">
          <a:xfrm>
            <a:off x="3962400" y="5486400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41014" name="Rectangle 54"/>
          <p:cNvSpPr>
            <a:spLocks noChangeArrowheads="1"/>
          </p:cNvSpPr>
          <p:nvPr/>
        </p:nvSpPr>
        <p:spPr bwMode="auto">
          <a:xfrm>
            <a:off x="4419600" y="5486400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1015" name="Rectangle 55"/>
          <p:cNvSpPr>
            <a:spLocks noChangeArrowheads="1"/>
          </p:cNvSpPr>
          <p:nvPr/>
        </p:nvSpPr>
        <p:spPr bwMode="auto">
          <a:xfrm>
            <a:off x="4876800" y="5486400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41016" name="Rectangle 56"/>
          <p:cNvSpPr>
            <a:spLocks noChangeArrowheads="1"/>
          </p:cNvSpPr>
          <p:nvPr/>
        </p:nvSpPr>
        <p:spPr bwMode="auto">
          <a:xfrm>
            <a:off x="1219200" y="6019800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1017" name="Rectangle 57"/>
          <p:cNvSpPr>
            <a:spLocks noChangeArrowheads="1"/>
          </p:cNvSpPr>
          <p:nvPr/>
        </p:nvSpPr>
        <p:spPr bwMode="auto">
          <a:xfrm>
            <a:off x="1676400" y="6019800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2</a:t>
            </a:r>
          </a:p>
        </p:txBody>
      </p:sp>
      <p:sp>
        <p:nvSpPr>
          <p:cNvPr id="41018" name="Rectangle 58"/>
          <p:cNvSpPr>
            <a:spLocks noChangeArrowheads="1"/>
          </p:cNvSpPr>
          <p:nvPr/>
        </p:nvSpPr>
        <p:spPr bwMode="auto">
          <a:xfrm>
            <a:off x="2133600" y="6019800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3</a:t>
            </a:r>
          </a:p>
        </p:txBody>
      </p:sp>
      <p:sp>
        <p:nvSpPr>
          <p:cNvPr id="41019" name="Rectangle 59"/>
          <p:cNvSpPr>
            <a:spLocks noChangeArrowheads="1"/>
          </p:cNvSpPr>
          <p:nvPr/>
        </p:nvSpPr>
        <p:spPr bwMode="auto">
          <a:xfrm>
            <a:off x="2590800" y="6019800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4</a:t>
            </a:r>
          </a:p>
        </p:txBody>
      </p:sp>
      <p:sp>
        <p:nvSpPr>
          <p:cNvPr id="41020" name="Rectangle 60"/>
          <p:cNvSpPr>
            <a:spLocks noChangeArrowheads="1"/>
          </p:cNvSpPr>
          <p:nvPr/>
        </p:nvSpPr>
        <p:spPr bwMode="auto">
          <a:xfrm>
            <a:off x="3048000" y="6019800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5</a:t>
            </a:r>
          </a:p>
        </p:txBody>
      </p:sp>
      <p:sp>
        <p:nvSpPr>
          <p:cNvPr id="41021" name="Rectangle 61"/>
          <p:cNvSpPr>
            <a:spLocks noChangeArrowheads="1"/>
          </p:cNvSpPr>
          <p:nvPr/>
        </p:nvSpPr>
        <p:spPr bwMode="auto">
          <a:xfrm>
            <a:off x="3505200" y="6019800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6</a:t>
            </a:r>
          </a:p>
        </p:txBody>
      </p:sp>
      <p:sp>
        <p:nvSpPr>
          <p:cNvPr id="41022" name="Rectangle 62"/>
          <p:cNvSpPr>
            <a:spLocks noChangeArrowheads="1"/>
          </p:cNvSpPr>
          <p:nvPr/>
        </p:nvSpPr>
        <p:spPr bwMode="auto">
          <a:xfrm>
            <a:off x="3962400" y="6019800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7</a:t>
            </a:r>
          </a:p>
        </p:txBody>
      </p:sp>
      <p:sp>
        <p:nvSpPr>
          <p:cNvPr id="41023" name="Rectangle 63"/>
          <p:cNvSpPr>
            <a:spLocks noChangeArrowheads="1"/>
          </p:cNvSpPr>
          <p:nvPr/>
        </p:nvSpPr>
        <p:spPr bwMode="auto">
          <a:xfrm>
            <a:off x="4419600" y="6019800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8</a:t>
            </a:r>
          </a:p>
        </p:txBody>
      </p:sp>
      <p:sp>
        <p:nvSpPr>
          <p:cNvPr id="41024" name="Rectangle 64"/>
          <p:cNvSpPr>
            <a:spLocks noChangeArrowheads="1"/>
          </p:cNvSpPr>
          <p:nvPr/>
        </p:nvSpPr>
        <p:spPr bwMode="auto">
          <a:xfrm>
            <a:off x="4876800" y="6019800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9</a:t>
            </a:r>
          </a:p>
        </p:txBody>
      </p:sp>
      <p:sp>
        <p:nvSpPr>
          <p:cNvPr id="41025" name="Rectangle 65"/>
          <p:cNvSpPr>
            <a:spLocks noChangeArrowheads="1"/>
          </p:cNvSpPr>
          <p:nvPr/>
        </p:nvSpPr>
        <p:spPr bwMode="auto">
          <a:xfrm>
            <a:off x="5257800" y="601980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10</a:t>
            </a:r>
          </a:p>
        </p:txBody>
      </p:sp>
      <p:sp>
        <p:nvSpPr>
          <p:cNvPr id="41026" name="Rectangle 66"/>
          <p:cNvSpPr>
            <a:spLocks noChangeArrowheads="1"/>
          </p:cNvSpPr>
          <p:nvPr/>
        </p:nvSpPr>
        <p:spPr bwMode="auto">
          <a:xfrm>
            <a:off x="762000" y="6019800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0</a:t>
            </a:r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3200"/>
              <a:t>A Heap Is Efficiently Represented As An Array</a:t>
            </a:r>
          </a:p>
        </p:txBody>
      </p:sp>
      <p:grpSp>
        <p:nvGrpSpPr>
          <p:cNvPr id="41027" name="Group 67"/>
          <p:cNvGrpSpPr>
            <a:grpSpLocks/>
          </p:cNvGrpSpPr>
          <p:nvPr/>
        </p:nvGrpSpPr>
        <p:grpSpPr bwMode="auto">
          <a:xfrm>
            <a:off x="463550" y="1454150"/>
            <a:ext cx="7531100" cy="3340100"/>
            <a:chOff x="292" y="916"/>
            <a:chExt cx="4744" cy="2104"/>
          </a:xfrm>
        </p:grpSpPr>
        <p:sp>
          <p:nvSpPr>
            <p:cNvPr id="40964" name="Oval 4"/>
            <p:cNvSpPr>
              <a:spLocks noChangeArrowheads="1"/>
            </p:cNvSpPr>
            <p:nvPr/>
          </p:nvSpPr>
          <p:spPr bwMode="auto">
            <a:xfrm>
              <a:off x="2644" y="91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0965" name="Oval 5"/>
            <p:cNvSpPr>
              <a:spLocks noChangeArrowheads="1"/>
            </p:cNvSpPr>
            <p:nvPr/>
          </p:nvSpPr>
          <p:spPr bwMode="auto">
            <a:xfrm>
              <a:off x="1300" y="15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0966" name="Oval 6"/>
            <p:cNvSpPr>
              <a:spLocks noChangeArrowheads="1"/>
            </p:cNvSpPr>
            <p:nvPr/>
          </p:nvSpPr>
          <p:spPr bwMode="auto">
            <a:xfrm>
              <a:off x="4036" y="15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0967" name="Oval 7"/>
            <p:cNvSpPr>
              <a:spLocks noChangeArrowheads="1"/>
            </p:cNvSpPr>
            <p:nvPr/>
          </p:nvSpPr>
          <p:spPr bwMode="auto">
            <a:xfrm>
              <a:off x="676" y="206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0968" name="Oval 8"/>
            <p:cNvSpPr>
              <a:spLocks noChangeArrowheads="1"/>
            </p:cNvSpPr>
            <p:nvPr/>
          </p:nvSpPr>
          <p:spPr bwMode="auto">
            <a:xfrm>
              <a:off x="1780" y="206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0969" name="Oval 9"/>
            <p:cNvSpPr>
              <a:spLocks noChangeArrowheads="1"/>
            </p:cNvSpPr>
            <p:nvPr/>
          </p:nvSpPr>
          <p:spPr bwMode="auto">
            <a:xfrm>
              <a:off x="3268" y="206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0970" name="Oval 10"/>
            <p:cNvSpPr>
              <a:spLocks noChangeArrowheads="1"/>
            </p:cNvSpPr>
            <p:nvPr/>
          </p:nvSpPr>
          <p:spPr bwMode="auto">
            <a:xfrm>
              <a:off x="4756" y="206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0971" name="Oval 11"/>
            <p:cNvSpPr>
              <a:spLocks noChangeArrowheads="1"/>
            </p:cNvSpPr>
            <p:nvPr/>
          </p:nvSpPr>
          <p:spPr bwMode="auto">
            <a:xfrm>
              <a:off x="292" y="27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0972" name="Oval 12"/>
            <p:cNvSpPr>
              <a:spLocks noChangeArrowheads="1"/>
            </p:cNvSpPr>
            <p:nvPr/>
          </p:nvSpPr>
          <p:spPr bwMode="auto">
            <a:xfrm>
              <a:off x="1012" y="27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0973" name="Line 13"/>
            <p:cNvSpPr>
              <a:spLocks noChangeShapeType="1"/>
            </p:cNvSpPr>
            <p:nvPr/>
          </p:nvSpPr>
          <p:spPr bwMode="auto">
            <a:xfrm flipH="1">
              <a:off x="1584" y="1104"/>
              <a:ext cx="1056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974" name="Line 14"/>
            <p:cNvSpPr>
              <a:spLocks noChangeShapeType="1"/>
            </p:cNvSpPr>
            <p:nvPr/>
          </p:nvSpPr>
          <p:spPr bwMode="auto">
            <a:xfrm>
              <a:off x="2928" y="1104"/>
              <a:ext cx="1152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975" name="Line 15"/>
            <p:cNvSpPr>
              <a:spLocks noChangeShapeType="1"/>
            </p:cNvSpPr>
            <p:nvPr/>
          </p:nvSpPr>
          <p:spPr bwMode="auto">
            <a:xfrm flipH="1">
              <a:off x="864" y="1776"/>
              <a:ext cx="48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976" name="Line 16"/>
            <p:cNvSpPr>
              <a:spLocks noChangeShapeType="1"/>
            </p:cNvSpPr>
            <p:nvPr/>
          </p:nvSpPr>
          <p:spPr bwMode="auto">
            <a:xfrm>
              <a:off x="1536" y="1776"/>
              <a:ext cx="336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977" name="Line 17"/>
            <p:cNvSpPr>
              <a:spLocks noChangeShapeType="1"/>
            </p:cNvSpPr>
            <p:nvPr/>
          </p:nvSpPr>
          <p:spPr bwMode="auto">
            <a:xfrm flipH="1">
              <a:off x="3504" y="1824"/>
              <a:ext cx="576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978" name="Line 18"/>
            <p:cNvSpPr>
              <a:spLocks noChangeShapeType="1"/>
            </p:cNvSpPr>
            <p:nvPr/>
          </p:nvSpPr>
          <p:spPr bwMode="auto">
            <a:xfrm>
              <a:off x="4272" y="1776"/>
              <a:ext cx="528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979" name="Line 19"/>
            <p:cNvSpPr>
              <a:spLocks noChangeShapeType="1"/>
            </p:cNvSpPr>
            <p:nvPr/>
          </p:nvSpPr>
          <p:spPr bwMode="auto">
            <a:xfrm flipH="1">
              <a:off x="480" y="2304"/>
              <a:ext cx="24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980" name="Line 20"/>
            <p:cNvSpPr>
              <a:spLocks noChangeShapeType="1"/>
            </p:cNvSpPr>
            <p:nvPr/>
          </p:nvSpPr>
          <p:spPr bwMode="auto">
            <a:xfrm>
              <a:off x="912" y="2304"/>
              <a:ext cx="19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981" name="Rectangle 21"/>
            <p:cNvSpPr>
              <a:spLocks noChangeArrowheads="1"/>
            </p:cNvSpPr>
            <p:nvPr/>
          </p:nvSpPr>
          <p:spPr bwMode="auto">
            <a:xfrm>
              <a:off x="2678" y="931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9</a:t>
              </a:r>
            </a:p>
          </p:txBody>
        </p:sp>
        <p:sp>
          <p:nvSpPr>
            <p:cNvPr id="40982" name="Rectangle 22"/>
            <p:cNvSpPr>
              <a:spLocks noChangeArrowheads="1"/>
            </p:cNvSpPr>
            <p:nvPr/>
          </p:nvSpPr>
          <p:spPr bwMode="auto">
            <a:xfrm>
              <a:off x="1334" y="155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8</a:t>
              </a:r>
            </a:p>
          </p:txBody>
        </p:sp>
        <p:sp>
          <p:nvSpPr>
            <p:cNvPr id="40983" name="Rectangle 23"/>
            <p:cNvSpPr>
              <a:spLocks noChangeArrowheads="1"/>
            </p:cNvSpPr>
            <p:nvPr/>
          </p:nvSpPr>
          <p:spPr bwMode="auto">
            <a:xfrm>
              <a:off x="710" y="208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6</a:t>
              </a:r>
            </a:p>
          </p:txBody>
        </p:sp>
        <p:sp>
          <p:nvSpPr>
            <p:cNvPr id="40984" name="Rectangle 24"/>
            <p:cNvSpPr>
              <a:spLocks noChangeArrowheads="1"/>
            </p:cNvSpPr>
            <p:nvPr/>
          </p:nvSpPr>
          <p:spPr bwMode="auto">
            <a:xfrm>
              <a:off x="1814" y="208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7</a:t>
              </a:r>
            </a:p>
          </p:txBody>
        </p:sp>
        <p:sp>
          <p:nvSpPr>
            <p:cNvPr id="40985" name="Rectangle 25"/>
            <p:cNvSpPr>
              <a:spLocks noChangeArrowheads="1"/>
            </p:cNvSpPr>
            <p:nvPr/>
          </p:nvSpPr>
          <p:spPr bwMode="auto">
            <a:xfrm>
              <a:off x="3302" y="208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2</a:t>
              </a:r>
            </a:p>
          </p:txBody>
        </p:sp>
        <p:sp>
          <p:nvSpPr>
            <p:cNvPr id="40986" name="Rectangle 26"/>
            <p:cNvSpPr>
              <a:spLocks noChangeArrowheads="1"/>
            </p:cNvSpPr>
            <p:nvPr/>
          </p:nvSpPr>
          <p:spPr bwMode="auto">
            <a:xfrm>
              <a:off x="4790" y="208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6</a:t>
              </a:r>
            </a:p>
          </p:txBody>
        </p:sp>
        <p:sp>
          <p:nvSpPr>
            <p:cNvPr id="40987" name="Rectangle 27"/>
            <p:cNvSpPr>
              <a:spLocks noChangeArrowheads="1"/>
            </p:cNvSpPr>
            <p:nvPr/>
          </p:nvSpPr>
          <p:spPr bwMode="auto">
            <a:xfrm>
              <a:off x="326" y="275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5</a:t>
              </a:r>
            </a:p>
          </p:txBody>
        </p:sp>
        <p:sp>
          <p:nvSpPr>
            <p:cNvPr id="40988" name="Rectangle 28"/>
            <p:cNvSpPr>
              <a:spLocks noChangeArrowheads="1"/>
            </p:cNvSpPr>
            <p:nvPr/>
          </p:nvSpPr>
          <p:spPr bwMode="auto">
            <a:xfrm>
              <a:off x="1046" y="275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1</a:t>
              </a:r>
            </a:p>
          </p:txBody>
        </p:sp>
        <p:sp>
          <p:nvSpPr>
            <p:cNvPr id="40989" name="Rectangle 29"/>
            <p:cNvSpPr>
              <a:spLocks noChangeArrowheads="1"/>
            </p:cNvSpPr>
            <p:nvPr/>
          </p:nvSpPr>
          <p:spPr bwMode="auto">
            <a:xfrm>
              <a:off x="4070" y="155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6262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000"/>
              <a:t>Inserting An Element Into A Max Heap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5410200"/>
            <a:ext cx="6400800" cy="228600"/>
          </a:xfrm>
          <a:noFill/>
          <a:ln/>
        </p:spPr>
        <p:txBody>
          <a:bodyPr/>
          <a:lstStyle/>
          <a:p>
            <a:pPr marL="342900" indent="-342900" algn="l"/>
            <a:r>
              <a:rPr lang="en-US" altLang="en-US" sz="3200"/>
              <a:t>Complete binary tree with </a:t>
            </a:r>
            <a:r>
              <a:rPr lang="en-US" altLang="en-US" sz="3200">
                <a:solidFill>
                  <a:schemeClr val="hlink"/>
                </a:solidFill>
              </a:rPr>
              <a:t>10 </a:t>
            </a:r>
            <a:r>
              <a:rPr lang="en-US" altLang="en-US" sz="3200"/>
              <a:t>nodes.</a:t>
            </a:r>
          </a:p>
        </p:txBody>
      </p:sp>
      <p:grpSp>
        <p:nvGrpSpPr>
          <p:cNvPr id="43042" name="Group 34"/>
          <p:cNvGrpSpPr>
            <a:grpSpLocks/>
          </p:cNvGrpSpPr>
          <p:nvPr/>
        </p:nvGrpSpPr>
        <p:grpSpPr bwMode="auto">
          <a:xfrm>
            <a:off x="463550" y="1454150"/>
            <a:ext cx="7531100" cy="3340100"/>
            <a:chOff x="292" y="916"/>
            <a:chExt cx="4744" cy="2104"/>
          </a:xfrm>
        </p:grpSpPr>
        <p:sp>
          <p:nvSpPr>
            <p:cNvPr id="43012" name="Oval 4"/>
            <p:cNvSpPr>
              <a:spLocks noChangeArrowheads="1"/>
            </p:cNvSpPr>
            <p:nvPr/>
          </p:nvSpPr>
          <p:spPr bwMode="auto">
            <a:xfrm>
              <a:off x="2644" y="91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3013" name="Oval 5"/>
            <p:cNvSpPr>
              <a:spLocks noChangeArrowheads="1"/>
            </p:cNvSpPr>
            <p:nvPr/>
          </p:nvSpPr>
          <p:spPr bwMode="auto">
            <a:xfrm>
              <a:off x="1300" y="15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3014" name="Oval 6"/>
            <p:cNvSpPr>
              <a:spLocks noChangeArrowheads="1"/>
            </p:cNvSpPr>
            <p:nvPr/>
          </p:nvSpPr>
          <p:spPr bwMode="auto">
            <a:xfrm>
              <a:off x="4036" y="15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3015" name="Oval 7"/>
            <p:cNvSpPr>
              <a:spLocks noChangeArrowheads="1"/>
            </p:cNvSpPr>
            <p:nvPr/>
          </p:nvSpPr>
          <p:spPr bwMode="auto">
            <a:xfrm>
              <a:off x="676" y="206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3016" name="Oval 8"/>
            <p:cNvSpPr>
              <a:spLocks noChangeArrowheads="1"/>
            </p:cNvSpPr>
            <p:nvPr/>
          </p:nvSpPr>
          <p:spPr bwMode="auto">
            <a:xfrm>
              <a:off x="1780" y="206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3017" name="Oval 9"/>
            <p:cNvSpPr>
              <a:spLocks noChangeArrowheads="1"/>
            </p:cNvSpPr>
            <p:nvPr/>
          </p:nvSpPr>
          <p:spPr bwMode="auto">
            <a:xfrm>
              <a:off x="3268" y="206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3018" name="Oval 10"/>
            <p:cNvSpPr>
              <a:spLocks noChangeArrowheads="1"/>
            </p:cNvSpPr>
            <p:nvPr/>
          </p:nvSpPr>
          <p:spPr bwMode="auto">
            <a:xfrm>
              <a:off x="4756" y="206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3019" name="Oval 11"/>
            <p:cNvSpPr>
              <a:spLocks noChangeArrowheads="1"/>
            </p:cNvSpPr>
            <p:nvPr/>
          </p:nvSpPr>
          <p:spPr bwMode="auto">
            <a:xfrm>
              <a:off x="292" y="27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3020" name="Oval 12"/>
            <p:cNvSpPr>
              <a:spLocks noChangeArrowheads="1"/>
            </p:cNvSpPr>
            <p:nvPr/>
          </p:nvSpPr>
          <p:spPr bwMode="auto">
            <a:xfrm>
              <a:off x="1012" y="27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3021" name="Line 13"/>
            <p:cNvSpPr>
              <a:spLocks noChangeShapeType="1"/>
            </p:cNvSpPr>
            <p:nvPr/>
          </p:nvSpPr>
          <p:spPr bwMode="auto">
            <a:xfrm flipH="1">
              <a:off x="1584" y="1104"/>
              <a:ext cx="1056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022" name="Line 14"/>
            <p:cNvSpPr>
              <a:spLocks noChangeShapeType="1"/>
            </p:cNvSpPr>
            <p:nvPr/>
          </p:nvSpPr>
          <p:spPr bwMode="auto">
            <a:xfrm>
              <a:off x="2928" y="1104"/>
              <a:ext cx="1152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023" name="Line 15"/>
            <p:cNvSpPr>
              <a:spLocks noChangeShapeType="1"/>
            </p:cNvSpPr>
            <p:nvPr/>
          </p:nvSpPr>
          <p:spPr bwMode="auto">
            <a:xfrm flipH="1">
              <a:off x="864" y="1776"/>
              <a:ext cx="48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024" name="Line 16"/>
            <p:cNvSpPr>
              <a:spLocks noChangeShapeType="1"/>
            </p:cNvSpPr>
            <p:nvPr/>
          </p:nvSpPr>
          <p:spPr bwMode="auto">
            <a:xfrm>
              <a:off x="1536" y="1776"/>
              <a:ext cx="336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025" name="Line 17"/>
            <p:cNvSpPr>
              <a:spLocks noChangeShapeType="1"/>
            </p:cNvSpPr>
            <p:nvPr/>
          </p:nvSpPr>
          <p:spPr bwMode="auto">
            <a:xfrm flipH="1">
              <a:off x="3504" y="1824"/>
              <a:ext cx="576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026" name="Line 18"/>
            <p:cNvSpPr>
              <a:spLocks noChangeShapeType="1"/>
            </p:cNvSpPr>
            <p:nvPr/>
          </p:nvSpPr>
          <p:spPr bwMode="auto">
            <a:xfrm>
              <a:off x="4272" y="1776"/>
              <a:ext cx="528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027" name="Line 19"/>
            <p:cNvSpPr>
              <a:spLocks noChangeShapeType="1"/>
            </p:cNvSpPr>
            <p:nvPr/>
          </p:nvSpPr>
          <p:spPr bwMode="auto">
            <a:xfrm flipH="1">
              <a:off x="480" y="2304"/>
              <a:ext cx="24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028" name="Line 20"/>
            <p:cNvSpPr>
              <a:spLocks noChangeShapeType="1"/>
            </p:cNvSpPr>
            <p:nvPr/>
          </p:nvSpPr>
          <p:spPr bwMode="auto">
            <a:xfrm>
              <a:off x="912" y="2304"/>
              <a:ext cx="19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029" name="Rectangle 21"/>
            <p:cNvSpPr>
              <a:spLocks noChangeArrowheads="1"/>
            </p:cNvSpPr>
            <p:nvPr/>
          </p:nvSpPr>
          <p:spPr bwMode="auto">
            <a:xfrm>
              <a:off x="2678" y="931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9</a:t>
              </a:r>
            </a:p>
          </p:txBody>
        </p:sp>
        <p:sp>
          <p:nvSpPr>
            <p:cNvPr id="43030" name="Rectangle 22"/>
            <p:cNvSpPr>
              <a:spLocks noChangeArrowheads="1"/>
            </p:cNvSpPr>
            <p:nvPr/>
          </p:nvSpPr>
          <p:spPr bwMode="auto">
            <a:xfrm>
              <a:off x="1334" y="155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8</a:t>
              </a:r>
            </a:p>
          </p:txBody>
        </p:sp>
        <p:sp>
          <p:nvSpPr>
            <p:cNvPr id="43031" name="Rectangle 23"/>
            <p:cNvSpPr>
              <a:spLocks noChangeArrowheads="1"/>
            </p:cNvSpPr>
            <p:nvPr/>
          </p:nvSpPr>
          <p:spPr bwMode="auto">
            <a:xfrm>
              <a:off x="710" y="208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6</a:t>
              </a:r>
            </a:p>
          </p:txBody>
        </p:sp>
        <p:sp>
          <p:nvSpPr>
            <p:cNvPr id="43032" name="Rectangle 24"/>
            <p:cNvSpPr>
              <a:spLocks noChangeArrowheads="1"/>
            </p:cNvSpPr>
            <p:nvPr/>
          </p:nvSpPr>
          <p:spPr bwMode="auto">
            <a:xfrm>
              <a:off x="1814" y="208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7</a:t>
              </a:r>
            </a:p>
          </p:txBody>
        </p:sp>
        <p:sp>
          <p:nvSpPr>
            <p:cNvPr id="43033" name="Rectangle 25"/>
            <p:cNvSpPr>
              <a:spLocks noChangeArrowheads="1"/>
            </p:cNvSpPr>
            <p:nvPr/>
          </p:nvSpPr>
          <p:spPr bwMode="auto">
            <a:xfrm>
              <a:off x="3302" y="208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2</a:t>
              </a:r>
            </a:p>
          </p:txBody>
        </p:sp>
        <p:sp>
          <p:nvSpPr>
            <p:cNvPr id="43034" name="Rectangle 26"/>
            <p:cNvSpPr>
              <a:spLocks noChangeArrowheads="1"/>
            </p:cNvSpPr>
            <p:nvPr/>
          </p:nvSpPr>
          <p:spPr bwMode="auto">
            <a:xfrm>
              <a:off x="4790" y="208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6</a:t>
              </a:r>
            </a:p>
          </p:txBody>
        </p:sp>
        <p:sp>
          <p:nvSpPr>
            <p:cNvPr id="43035" name="Rectangle 27"/>
            <p:cNvSpPr>
              <a:spLocks noChangeArrowheads="1"/>
            </p:cNvSpPr>
            <p:nvPr/>
          </p:nvSpPr>
          <p:spPr bwMode="auto">
            <a:xfrm>
              <a:off x="326" y="275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5</a:t>
              </a:r>
            </a:p>
          </p:txBody>
        </p:sp>
        <p:sp>
          <p:nvSpPr>
            <p:cNvPr id="43036" name="Rectangle 28"/>
            <p:cNvSpPr>
              <a:spLocks noChangeArrowheads="1"/>
            </p:cNvSpPr>
            <p:nvPr/>
          </p:nvSpPr>
          <p:spPr bwMode="auto">
            <a:xfrm>
              <a:off x="1046" y="275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1</a:t>
              </a:r>
            </a:p>
          </p:txBody>
        </p:sp>
        <p:sp>
          <p:nvSpPr>
            <p:cNvPr id="43037" name="Rectangle 29"/>
            <p:cNvSpPr>
              <a:spLocks noChangeArrowheads="1"/>
            </p:cNvSpPr>
            <p:nvPr/>
          </p:nvSpPr>
          <p:spPr bwMode="auto">
            <a:xfrm>
              <a:off x="4070" y="155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7</a:t>
              </a:r>
            </a:p>
          </p:txBody>
        </p:sp>
      </p:grpSp>
      <p:grpSp>
        <p:nvGrpSpPr>
          <p:cNvPr id="43041" name="Group 33"/>
          <p:cNvGrpSpPr>
            <a:grpSpLocks/>
          </p:cNvGrpSpPr>
          <p:nvPr/>
        </p:nvGrpSpPr>
        <p:grpSpPr bwMode="auto">
          <a:xfrm>
            <a:off x="2438400" y="3733800"/>
            <a:ext cx="527050" cy="1060450"/>
            <a:chOff x="1540" y="2352"/>
            <a:chExt cx="332" cy="668"/>
          </a:xfrm>
        </p:grpSpPr>
        <p:sp>
          <p:nvSpPr>
            <p:cNvPr id="43038" name="Rectangle 30"/>
            <p:cNvSpPr>
              <a:spLocks noChangeArrowheads="1"/>
            </p:cNvSpPr>
            <p:nvPr/>
          </p:nvSpPr>
          <p:spPr bwMode="auto">
            <a:xfrm>
              <a:off x="1574" y="275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7</a:t>
              </a:r>
            </a:p>
          </p:txBody>
        </p:sp>
        <p:sp>
          <p:nvSpPr>
            <p:cNvPr id="43039" name="Oval 31"/>
            <p:cNvSpPr>
              <a:spLocks noChangeArrowheads="1"/>
            </p:cNvSpPr>
            <p:nvPr/>
          </p:nvSpPr>
          <p:spPr bwMode="auto">
            <a:xfrm>
              <a:off x="1540" y="2740"/>
              <a:ext cx="280" cy="280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3040" name="Line 32"/>
            <p:cNvSpPr>
              <a:spLocks noChangeShapeType="1"/>
            </p:cNvSpPr>
            <p:nvPr/>
          </p:nvSpPr>
          <p:spPr bwMode="auto">
            <a:xfrm flipH="1">
              <a:off x="1728" y="2352"/>
              <a:ext cx="144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285022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000"/>
              <a:t>Inserting An Element Into A Max Heap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5410200"/>
            <a:ext cx="6400800" cy="228600"/>
          </a:xfrm>
          <a:noFill/>
          <a:ln/>
        </p:spPr>
        <p:txBody>
          <a:bodyPr/>
          <a:lstStyle/>
          <a:p>
            <a:pPr marL="342900" indent="-342900" algn="l"/>
            <a:r>
              <a:rPr lang="en-US" altLang="en-US" sz="3200"/>
              <a:t>New element is </a:t>
            </a:r>
            <a:r>
              <a:rPr lang="en-US" altLang="en-US" sz="3200">
                <a:solidFill>
                  <a:schemeClr val="hlink"/>
                </a:solidFill>
              </a:rPr>
              <a:t>20</a:t>
            </a:r>
            <a:r>
              <a:rPr lang="en-US" altLang="en-US" sz="3200"/>
              <a:t>.</a:t>
            </a:r>
          </a:p>
        </p:txBody>
      </p:sp>
      <p:sp>
        <p:nvSpPr>
          <p:cNvPr id="45060" name="Oval 4"/>
          <p:cNvSpPr>
            <a:spLocks noChangeArrowheads="1"/>
          </p:cNvSpPr>
          <p:nvPr/>
        </p:nvSpPr>
        <p:spPr bwMode="auto">
          <a:xfrm>
            <a:off x="4197350" y="14541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5061" name="Oval 5"/>
          <p:cNvSpPr>
            <a:spLocks noChangeArrowheads="1"/>
          </p:cNvSpPr>
          <p:nvPr/>
        </p:nvSpPr>
        <p:spPr bwMode="auto">
          <a:xfrm>
            <a:off x="20637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5062" name="Oval 6"/>
          <p:cNvSpPr>
            <a:spLocks noChangeArrowheads="1"/>
          </p:cNvSpPr>
          <p:nvPr/>
        </p:nvSpPr>
        <p:spPr bwMode="auto">
          <a:xfrm>
            <a:off x="64071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5063" name="Oval 7"/>
          <p:cNvSpPr>
            <a:spLocks noChangeArrowheads="1"/>
          </p:cNvSpPr>
          <p:nvPr/>
        </p:nvSpPr>
        <p:spPr bwMode="auto">
          <a:xfrm>
            <a:off x="1073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5064" name="Oval 8"/>
          <p:cNvSpPr>
            <a:spLocks noChangeArrowheads="1"/>
          </p:cNvSpPr>
          <p:nvPr/>
        </p:nvSpPr>
        <p:spPr bwMode="auto">
          <a:xfrm>
            <a:off x="28257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5065" name="Oval 9"/>
          <p:cNvSpPr>
            <a:spLocks noChangeArrowheads="1"/>
          </p:cNvSpPr>
          <p:nvPr/>
        </p:nvSpPr>
        <p:spPr bwMode="auto">
          <a:xfrm>
            <a:off x="51879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5066" name="Oval 10"/>
          <p:cNvSpPr>
            <a:spLocks noChangeArrowheads="1"/>
          </p:cNvSpPr>
          <p:nvPr/>
        </p:nvSpPr>
        <p:spPr bwMode="auto">
          <a:xfrm>
            <a:off x="7550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5067" name="Oval 11"/>
          <p:cNvSpPr>
            <a:spLocks noChangeArrowheads="1"/>
          </p:cNvSpPr>
          <p:nvPr/>
        </p:nvSpPr>
        <p:spPr bwMode="auto">
          <a:xfrm>
            <a:off x="463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5068" name="Oval 12"/>
          <p:cNvSpPr>
            <a:spLocks noChangeArrowheads="1"/>
          </p:cNvSpPr>
          <p:nvPr/>
        </p:nvSpPr>
        <p:spPr bwMode="auto">
          <a:xfrm>
            <a:off x="1606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5069" name="Line 13"/>
          <p:cNvSpPr>
            <a:spLocks noChangeShapeType="1"/>
          </p:cNvSpPr>
          <p:nvPr/>
        </p:nvSpPr>
        <p:spPr bwMode="auto">
          <a:xfrm flipH="1">
            <a:off x="2514600" y="1752600"/>
            <a:ext cx="1676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5070" name="Line 14"/>
          <p:cNvSpPr>
            <a:spLocks noChangeShapeType="1"/>
          </p:cNvSpPr>
          <p:nvPr/>
        </p:nvSpPr>
        <p:spPr bwMode="auto">
          <a:xfrm>
            <a:off x="4648200" y="175260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5071" name="Line 15"/>
          <p:cNvSpPr>
            <a:spLocks noChangeShapeType="1"/>
          </p:cNvSpPr>
          <p:nvPr/>
        </p:nvSpPr>
        <p:spPr bwMode="auto">
          <a:xfrm flipH="1">
            <a:off x="1371600" y="2819400"/>
            <a:ext cx="7620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5072" name="Line 16"/>
          <p:cNvSpPr>
            <a:spLocks noChangeShapeType="1"/>
          </p:cNvSpPr>
          <p:nvPr/>
        </p:nvSpPr>
        <p:spPr bwMode="auto">
          <a:xfrm>
            <a:off x="2438400" y="2819400"/>
            <a:ext cx="533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5073" name="Line 17"/>
          <p:cNvSpPr>
            <a:spLocks noChangeShapeType="1"/>
          </p:cNvSpPr>
          <p:nvPr/>
        </p:nvSpPr>
        <p:spPr bwMode="auto">
          <a:xfrm flipH="1">
            <a:off x="5562600" y="2895600"/>
            <a:ext cx="914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5074" name="Line 18"/>
          <p:cNvSpPr>
            <a:spLocks noChangeShapeType="1"/>
          </p:cNvSpPr>
          <p:nvPr/>
        </p:nvSpPr>
        <p:spPr bwMode="auto">
          <a:xfrm>
            <a:off x="6781800" y="2819400"/>
            <a:ext cx="838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5075" name="Line 19"/>
          <p:cNvSpPr>
            <a:spLocks noChangeShapeType="1"/>
          </p:cNvSpPr>
          <p:nvPr/>
        </p:nvSpPr>
        <p:spPr bwMode="auto">
          <a:xfrm flipH="1">
            <a:off x="762000" y="365760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5076" name="Line 20"/>
          <p:cNvSpPr>
            <a:spLocks noChangeShapeType="1"/>
          </p:cNvSpPr>
          <p:nvPr/>
        </p:nvSpPr>
        <p:spPr bwMode="auto">
          <a:xfrm>
            <a:off x="1447800" y="365760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5077" name="Rectangle 21"/>
          <p:cNvSpPr>
            <a:spLocks noChangeArrowheads="1"/>
          </p:cNvSpPr>
          <p:nvPr/>
        </p:nvSpPr>
        <p:spPr bwMode="auto">
          <a:xfrm>
            <a:off x="4251325" y="14779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9</a:t>
            </a:r>
          </a:p>
        </p:txBody>
      </p:sp>
      <p:sp>
        <p:nvSpPr>
          <p:cNvPr id="45078" name="Rectangle 22"/>
          <p:cNvSpPr>
            <a:spLocks noChangeArrowheads="1"/>
          </p:cNvSpPr>
          <p:nvPr/>
        </p:nvSpPr>
        <p:spPr bwMode="auto">
          <a:xfrm>
            <a:off x="21177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45079" name="Rectangle 23"/>
          <p:cNvSpPr>
            <a:spLocks noChangeArrowheads="1"/>
          </p:cNvSpPr>
          <p:nvPr/>
        </p:nvSpPr>
        <p:spPr bwMode="auto">
          <a:xfrm>
            <a:off x="1127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45080" name="Rectangle 24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45081" name="Rectangle 25"/>
          <p:cNvSpPr>
            <a:spLocks noChangeArrowheads="1"/>
          </p:cNvSpPr>
          <p:nvPr/>
        </p:nvSpPr>
        <p:spPr bwMode="auto">
          <a:xfrm>
            <a:off x="52419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45082" name="Rectangle 26"/>
          <p:cNvSpPr>
            <a:spLocks noChangeArrowheads="1"/>
          </p:cNvSpPr>
          <p:nvPr/>
        </p:nvSpPr>
        <p:spPr bwMode="auto">
          <a:xfrm>
            <a:off x="7604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45083" name="Rectangle 27"/>
          <p:cNvSpPr>
            <a:spLocks noChangeArrowheads="1"/>
          </p:cNvSpPr>
          <p:nvPr/>
        </p:nvSpPr>
        <p:spPr bwMode="auto">
          <a:xfrm>
            <a:off x="517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5084" name="Rectangle 28"/>
          <p:cNvSpPr>
            <a:spLocks noChangeArrowheads="1"/>
          </p:cNvSpPr>
          <p:nvPr/>
        </p:nvSpPr>
        <p:spPr bwMode="auto">
          <a:xfrm>
            <a:off x="1660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45085" name="Rectangle 29"/>
          <p:cNvSpPr>
            <a:spLocks noChangeArrowheads="1"/>
          </p:cNvSpPr>
          <p:nvPr/>
        </p:nvSpPr>
        <p:spPr bwMode="auto">
          <a:xfrm>
            <a:off x="64611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45086" name="Rectangle 30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45087" name="Oval 31"/>
          <p:cNvSpPr>
            <a:spLocks noChangeArrowheads="1"/>
          </p:cNvSpPr>
          <p:nvPr/>
        </p:nvSpPr>
        <p:spPr bwMode="auto">
          <a:xfrm>
            <a:off x="2444750" y="4349750"/>
            <a:ext cx="444500" cy="4445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5088" name="Line 32"/>
          <p:cNvSpPr>
            <a:spLocks noChangeShapeType="1"/>
          </p:cNvSpPr>
          <p:nvPr/>
        </p:nvSpPr>
        <p:spPr bwMode="auto">
          <a:xfrm flipH="1">
            <a:off x="2743200" y="3733800"/>
            <a:ext cx="2286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5089" name="Rectangle 33"/>
          <p:cNvSpPr>
            <a:spLocks noChangeArrowheads="1"/>
          </p:cNvSpPr>
          <p:nvPr/>
        </p:nvSpPr>
        <p:spPr bwMode="auto">
          <a:xfrm>
            <a:off x="2895600" y="3352800"/>
            <a:ext cx="228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423707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000"/>
              <a:t>Inserting An Element Into A Max Heap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5410200"/>
            <a:ext cx="6400800" cy="228600"/>
          </a:xfrm>
          <a:noFill/>
          <a:ln/>
        </p:spPr>
        <p:txBody>
          <a:bodyPr/>
          <a:lstStyle/>
          <a:p>
            <a:pPr marL="342900" indent="-342900" algn="l"/>
            <a:r>
              <a:rPr lang="en-US" altLang="en-US" sz="3200"/>
              <a:t>New element is </a:t>
            </a:r>
            <a:r>
              <a:rPr lang="en-US" altLang="en-US" sz="3200">
                <a:solidFill>
                  <a:schemeClr val="hlink"/>
                </a:solidFill>
              </a:rPr>
              <a:t>20</a:t>
            </a:r>
            <a:r>
              <a:rPr lang="en-US" altLang="en-US" sz="3200"/>
              <a:t>.</a:t>
            </a:r>
          </a:p>
        </p:txBody>
      </p:sp>
      <p:sp>
        <p:nvSpPr>
          <p:cNvPr id="46084" name="Oval 4"/>
          <p:cNvSpPr>
            <a:spLocks noChangeArrowheads="1"/>
          </p:cNvSpPr>
          <p:nvPr/>
        </p:nvSpPr>
        <p:spPr bwMode="auto">
          <a:xfrm>
            <a:off x="4197350" y="14541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6085" name="Oval 5"/>
          <p:cNvSpPr>
            <a:spLocks noChangeArrowheads="1"/>
          </p:cNvSpPr>
          <p:nvPr/>
        </p:nvSpPr>
        <p:spPr bwMode="auto">
          <a:xfrm>
            <a:off x="20637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6086" name="Oval 6"/>
          <p:cNvSpPr>
            <a:spLocks noChangeArrowheads="1"/>
          </p:cNvSpPr>
          <p:nvPr/>
        </p:nvSpPr>
        <p:spPr bwMode="auto">
          <a:xfrm>
            <a:off x="64071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6087" name="Oval 7"/>
          <p:cNvSpPr>
            <a:spLocks noChangeArrowheads="1"/>
          </p:cNvSpPr>
          <p:nvPr/>
        </p:nvSpPr>
        <p:spPr bwMode="auto">
          <a:xfrm>
            <a:off x="1073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6088" name="Oval 8"/>
          <p:cNvSpPr>
            <a:spLocks noChangeArrowheads="1"/>
          </p:cNvSpPr>
          <p:nvPr/>
        </p:nvSpPr>
        <p:spPr bwMode="auto">
          <a:xfrm>
            <a:off x="2825750" y="3282950"/>
            <a:ext cx="444500" cy="4445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6089" name="Oval 9"/>
          <p:cNvSpPr>
            <a:spLocks noChangeArrowheads="1"/>
          </p:cNvSpPr>
          <p:nvPr/>
        </p:nvSpPr>
        <p:spPr bwMode="auto">
          <a:xfrm>
            <a:off x="51879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6090" name="Oval 10"/>
          <p:cNvSpPr>
            <a:spLocks noChangeArrowheads="1"/>
          </p:cNvSpPr>
          <p:nvPr/>
        </p:nvSpPr>
        <p:spPr bwMode="auto">
          <a:xfrm>
            <a:off x="7550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6091" name="Oval 11"/>
          <p:cNvSpPr>
            <a:spLocks noChangeArrowheads="1"/>
          </p:cNvSpPr>
          <p:nvPr/>
        </p:nvSpPr>
        <p:spPr bwMode="auto">
          <a:xfrm>
            <a:off x="463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6092" name="Oval 12"/>
          <p:cNvSpPr>
            <a:spLocks noChangeArrowheads="1"/>
          </p:cNvSpPr>
          <p:nvPr/>
        </p:nvSpPr>
        <p:spPr bwMode="auto">
          <a:xfrm>
            <a:off x="1606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6093" name="Line 13"/>
          <p:cNvSpPr>
            <a:spLocks noChangeShapeType="1"/>
          </p:cNvSpPr>
          <p:nvPr/>
        </p:nvSpPr>
        <p:spPr bwMode="auto">
          <a:xfrm flipH="1">
            <a:off x="2514600" y="1752600"/>
            <a:ext cx="1676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6094" name="Line 14"/>
          <p:cNvSpPr>
            <a:spLocks noChangeShapeType="1"/>
          </p:cNvSpPr>
          <p:nvPr/>
        </p:nvSpPr>
        <p:spPr bwMode="auto">
          <a:xfrm>
            <a:off x="4648200" y="175260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6095" name="Line 15"/>
          <p:cNvSpPr>
            <a:spLocks noChangeShapeType="1"/>
          </p:cNvSpPr>
          <p:nvPr/>
        </p:nvSpPr>
        <p:spPr bwMode="auto">
          <a:xfrm flipH="1">
            <a:off x="1371600" y="281940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6096" name="Line 16"/>
          <p:cNvSpPr>
            <a:spLocks noChangeShapeType="1"/>
          </p:cNvSpPr>
          <p:nvPr/>
        </p:nvSpPr>
        <p:spPr bwMode="auto">
          <a:xfrm>
            <a:off x="2438400" y="2819400"/>
            <a:ext cx="533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6097" name="Line 17"/>
          <p:cNvSpPr>
            <a:spLocks noChangeShapeType="1"/>
          </p:cNvSpPr>
          <p:nvPr/>
        </p:nvSpPr>
        <p:spPr bwMode="auto">
          <a:xfrm flipH="1">
            <a:off x="5562600" y="2895600"/>
            <a:ext cx="914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6098" name="Line 18"/>
          <p:cNvSpPr>
            <a:spLocks noChangeShapeType="1"/>
          </p:cNvSpPr>
          <p:nvPr/>
        </p:nvSpPr>
        <p:spPr bwMode="auto">
          <a:xfrm>
            <a:off x="6781800" y="2819400"/>
            <a:ext cx="838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6099" name="Line 19"/>
          <p:cNvSpPr>
            <a:spLocks noChangeShapeType="1"/>
          </p:cNvSpPr>
          <p:nvPr/>
        </p:nvSpPr>
        <p:spPr bwMode="auto">
          <a:xfrm flipH="1">
            <a:off x="762000" y="365760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6100" name="Line 20"/>
          <p:cNvSpPr>
            <a:spLocks noChangeShapeType="1"/>
          </p:cNvSpPr>
          <p:nvPr/>
        </p:nvSpPr>
        <p:spPr bwMode="auto">
          <a:xfrm>
            <a:off x="1447800" y="365760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6101" name="Rectangle 21"/>
          <p:cNvSpPr>
            <a:spLocks noChangeArrowheads="1"/>
          </p:cNvSpPr>
          <p:nvPr/>
        </p:nvSpPr>
        <p:spPr bwMode="auto">
          <a:xfrm>
            <a:off x="4251325" y="14779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9</a:t>
            </a:r>
          </a:p>
        </p:txBody>
      </p:sp>
      <p:sp>
        <p:nvSpPr>
          <p:cNvPr id="46102" name="Rectangle 22"/>
          <p:cNvSpPr>
            <a:spLocks noChangeArrowheads="1"/>
          </p:cNvSpPr>
          <p:nvPr/>
        </p:nvSpPr>
        <p:spPr bwMode="auto">
          <a:xfrm>
            <a:off x="21177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46103" name="Rectangle 23"/>
          <p:cNvSpPr>
            <a:spLocks noChangeArrowheads="1"/>
          </p:cNvSpPr>
          <p:nvPr/>
        </p:nvSpPr>
        <p:spPr bwMode="auto">
          <a:xfrm>
            <a:off x="1127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46104" name="Rectangle 24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46105" name="Rectangle 25"/>
          <p:cNvSpPr>
            <a:spLocks noChangeArrowheads="1"/>
          </p:cNvSpPr>
          <p:nvPr/>
        </p:nvSpPr>
        <p:spPr bwMode="auto">
          <a:xfrm>
            <a:off x="52419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46106" name="Rectangle 26"/>
          <p:cNvSpPr>
            <a:spLocks noChangeArrowheads="1"/>
          </p:cNvSpPr>
          <p:nvPr/>
        </p:nvSpPr>
        <p:spPr bwMode="auto">
          <a:xfrm>
            <a:off x="7604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46107" name="Rectangle 27"/>
          <p:cNvSpPr>
            <a:spLocks noChangeArrowheads="1"/>
          </p:cNvSpPr>
          <p:nvPr/>
        </p:nvSpPr>
        <p:spPr bwMode="auto">
          <a:xfrm>
            <a:off x="517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6108" name="Rectangle 28"/>
          <p:cNvSpPr>
            <a:spLocks noChangeArrowheads="1"/>
          </p:cNvSpPr>
          <p:nvPr/>
        </p:nvSpPr>
        <p:spPr bwMode="auto">
          <a:xfrm>
            <a:off x="1660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46109" name="Rectangle 29"/>
          <p:cNvSpPr>
            <a:spLocks noChangeArrowheads="1"/>
          </p:cNvSpPr>
          <p:nvPr/>
        </p:nvSpPr>
        <p:spPr bwMode="auto">
          <a:xfrm>
            <a:off x="64611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46110" name="Rectangle 30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46111" name="Oval 31"/>
          <p:cNvSpPr>
            <a:spLocks noChangeArrowheads="1"/>
          </p:cNvSpPr>
          <p:nvPr/>
        </p:nvSpPr>
        <p:spPr bwMode="auto">
          <a:xfrm>
            <a:off x="24447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6112" name="Line 32"/>
          <p:cNvSpPr>
            <a:spLocks noChangeShapeType="1"/>
          </p:cNvSpPr>
          <p:nvPr/>
        </p:nvSpPr>
        <p:spPr bwMode="auto">
          <a:xfrm flipH="1">
            <a:off x="2743200" y="3733800"/>
            <a:ext cx="2286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6113" name="Rectangle 33"/>
          <p:cNvSpPr>
            <a:spLocks noChangeArrowheads="1"/>
          </p:cNvSpPr>
          <p:nvPr/>
        </p:nvSpPr>
        <p:spPr bwMode="auto">
          <a:xfrm>
            <a:off x="2514600" y="4419600"/>
            <a:ext cx="228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997453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000"/>
              <a:t>Inserting An Element Into A Max Heap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5410200"/>
            <a:ext cx="6400800" cy="228600"/>
          </a:xfrm>
          <a:noFill/>
          <a:ln/>
        </p:spPr>
        <p:txBody>
          <a:bodyPr/>
          <a:lstStyle/>
          <a:p>
            <a:pPr marL="342900" indent="-342900" algn="l"/>
            <a:r>
              <a:rPr lang="en-US" altLang="en-US" sz="3200"/>
              <a:t>New element is </a:t>
            </a:r>
            <a:r>
              <a:rPr lang="en-US" altLang="en-US" sz="3200">
                <a:solidFill>
                  <a:schemeClr val="hlink"/>
                </a:solidFill>
              </a:rPr>
              <a:t>20</a:t>
            </a:r>
            <a:r>
              <a:rPr lang="en-US" altLang="en-US" sz="3200"/>
              <a:t>.</a:t>
            </a:r>
          </a:p>
        </p:txBody>
      </p:sp>
      <p:sp>
        <p:nvSpPr>
          <p:cNvPr id="47108" name="Oval 4"/>
          <p:cNvSpPr>
            <a:spLocks noChangeArrowheads="1"/>
          </p:cNvSpPr>
          <p:nvPr/>
        </p:nvSpPr>
        <p:spPr bwMode="auto">
          <a:xfrm>
            <a:off x="4197350" y="14541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7109" name="Oval 5"/>
          <p:cNvSpPr>
            <a:spLocks noChangeArrowheads="1"/>
          </p:cNvSpPr>
          <p:nvPr/>
        </p:nvSpPr>
        <p:spPr bwMode="auto">
          <a:xfrm>
            <a:off x="2063750" y="2444750"/>
            <a:ext cx="444500" cy="4445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7110" name="Oval 6"/>
          <p:cNvSpPr>
            <a:spLocks noChangeArrowheads="1"/>
          </p:cNvSpPr>
          <p:nvPr/>
        </p:nvSpPr>
        <p:spPr bwMode="auto">
          <a:xfrm>
            <a:off x="64071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7111" name="Oval 7"/>
          <p:cNvSpPr>
            <a:spLocks noChangeArrowheads="1"/>
          </p:cNvSpPr>
          <p:nvPr/>
        </p:nvSpPr>
        <p:spPr bwMode="auto">
          <a:xfrm>
            <a:off x="1073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7112" name="Oval 8"/>
          <p:cNvSpPr>
            <a:spLocks noChangeArrowheads="1"/>
          </p:cNvSpPr>
          <p:nvPr/>
        </p:nvSpPr>
        <p:spPr bwMode="auto">
          <a:xfrm>
            <a:off x="28257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7113" name="Oval 9"/>
          <p:cNvSpPr>
            <a:spLocks noChangeArrowheads="1"/>
          </p:cNvSpPr>
          <p:nvPr/>
        </p:nvSpPr>
        <p:spPr bwMode="auto">
          <a:xfrm>
            <a:off x="51879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7114" name="Oval 10"/>
          <p:cNvSpPr>
            <a:spLocks noChangeArrowheads="1"/>
          </p:cNvSpPr>
          <p:nvPr/>
        </p:nvSpPr>
        <p:spPr bwMode="auto">
          <a:xfrm>
            <a:off x="7550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7115" name="Oval 11"/>
          <p:cNvSpPr>
            <a:spLocks noChangeArrowheads="1"/>
          </p:cNvSpPr>
          <p:nvPr/>
        </p:nvSpPr>
        <p:spPr bwMode="auto">
          <a:xfrm>
            <a:off x="463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7116" name="Oval 12"/>
          <p:cNvSpPr>
            <a:spLocks noChangeArrowheads="1"/>
          </p:cNvSpPr>
          <p:nvPr/>
        </p:nvSpPr>
        <p:spPr bwMode="auto">
          <a:xfrm>
            <a:off x="1606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7117" name="Line 13"/>
          <p:cNvSpPr>
            <a:spLocks noChangeShapeType="1"/>
          </p:cNvSpPr>
          <p:nvPr/>
        </p:nvSpPr>
        <p:spPr bwMode="auto">
          <a:xfrm flipH="1">
            <a:off x="2514600" y="1752600"/>
            <a:ext cx="1676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7118" name="Line 14"/>
          <p:cNvSpPr>
            <a:spLocks noChangeShapeType="1"/>
          </p:cNvSpPr>
          <p:nvPr/>
        </p:nvSpPr>
        <p:spPr bwMode="auto">
          <a:xfrm>
            <a:off x="4648200" y="175260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7119" name="Line 15"/>
          <p:cNvSpPr>
            <a:spLocks noChangeShapeType="1"/>
          </p:cNvSpPr>
          <p:nvPr/>
        </p:nvSpPr>
        <p:spPr bwMode="auto">
          <a:xfrm flipH="1">
            <a:off x="1371600" y="281940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7120" name="Line 16"/>
          <p:cNvSpPr>
            <a:spLocks noChangeShapeType="1"/>
          </p:cNvSpPr>
          <p:nvPr/>
        </p:nvSpPr>
        <p:spPr bwMode="auto">
          <a:xfrm>
            <a:off x="2438400" y="2819400"/>
            <a:ext cx="533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7121" name="Line 17"/>
          <p:cNvSpPr>
            <a:spLocks noChangeShapeType="1"/>
          </p:cNvSpPr>
          <p:nvPr/>
        </p:nvSpPr>
        <p:spPr bwMode="auto">
          <a:xfrm flipH="1">
            <a:off x="5562600" y="2895600"/>
            <a:ext cx="914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7122" name="Line 18"/>
          <p:cNvSpPr>
            <a:spLocks noChangeShapeType="1"/>
          </p:cNvSpPr>
          <p:nvPr/>
        </p:nvSpPr>
        <p:spPr bwMode="auto">
          <a:xfrm>
            <a:off x="6781800" y="2819400"/>
            <a:ext cx="838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7123" name="Line 19"/>
          <p:cNvSpPr>
            <a:spLocks noChangeShapeType="1"/>
          </p:cNvSpPr>
          <p:nvPr/>
        </p:nvSpPr>
        <p:spPr bwMode="auto">
          <a:xfrm flipH="1">
            <a:off x="762000" y="365760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7124" name="Line 20"/>
          <p:cNvSpPr>
            <a:spLocks noChangeShapeType="1"/>
          </p:cNvSpPr>
          <p:nvPr/>
        </p:nvSpPr>
        <p:spPr bwMode="auto">
          <a:xfrm>
            <a:off x="1447800" y="365760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7125" name="Rectangle 21"/>
          <p:cNvSpPr>
            <a:spLocks noChangeArrowheads="1"/>
          </p:cNvSpPr>
          <p:nvPr/>
        </p:nvSpPr>
        <p:spPr bwMode="auto">
          <a:xfrm>
            <a:off x="4251325" y="14779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9</a:t>
            </a:r>
          </a:p>
        </p:txBody>
      </p:sp>
      <p:sp>
        <p:nvSpPr>
          <p:cNvPr id="47126" name="Rectangle 22"/>
          <p:cNvSpPr>
            <a:spLocks noChangeArrowheads="1"/>
          </p:cNvSpPr>
          <p:nvPr/>
        </p:nvSpPr>
        <p:spPr bwMode="auto">
          <a:xfrm>
            <a:off x="28797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47127" name="Rectangle 23"/>
          <p:cNvSpPr>
            <a:spLocks noChangeArrowheads="1"/>
          </p:cNvSpPr>
          <p:nvPr/>
        </p:nvSpPr>
        <p:spPr bwMode="auto">
          <a:xfrm>
            <a:off x="1127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47128" name="Rectangle 24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47129" name="Rectangle 25"/>
          <p:cNvSpPr>
            <a:spLocks noChangeArrowheads="1"/>
          </p:cNvSpPr>
          <p:nvPr/>
        </p:nvSpPr>
        <p:spPr bwMode="auto">
          <a:xfrm>
            <a:off x="52419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47130" name="Rectangle 26"/>
          <p:cNvSpPr>
            <a:spLocks noChangeArrowheads="1"/>
          </p:cNvSpPr>
          <p:nvPr/>
        </p:nvSpPr>
        <p:spPr bwMode="auto">
          <a:xfrm>
            <a:off x="7604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47131" name="Rectangle 27"/>
          <p:cNvSpPr>
            <a:spLocks noChangeArrowheads="1"/>
          </p:cNvSpPr>
          <p:nvPr/>
        </p:nvSpPr>
        <p:spPr bwMode="auto">
          <a:xfrm>
            <a:off x="517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7132" name="Rectangle 28"/>
          <p:cNvSpPr>
            <a:spLocks noChangeArrowheads="1"/>
          </p:cNvSpPr>
          <p:nvPr/>
        </p:nvSpPr>
        <p:spPr bwMode="auto">
          <a:xfrm>
            <a:off x="1660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47133" name="Rectangle 29"/>
          <p:cNvSpPr>
            <a:spLocks noChangeArrowheads="1"/>
          </p:cNvSpPr>
          <p:nvPr/>
        </p:nvSpPr>
        <p:spPr bwMode="auto">
          <a:xfrm>
            <a:off x="64611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47134" name="Rectangle 30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47135" name="Oval 31"/>
          <p:cNvSpPr>
            <a:spLocks noChangeArrowheads="1"/>
          </p:cNvSpPr>
          <p:nvPr/>
        </p:nvSpPr>
        <p:spPr bwMode="auto">
          <a:xfrm>
            <a:off x="24447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7136" name="Line 32"/>
          <p:cNvSpPr>
            <a:spLocks noChangeShapeType="1"/>
          </p:cNvSpPr>
          <p:nvPr/>
        </p:nvSpPr>
        <p:spPr bwMode="auto">
          <a:xfrm flipH="1">
            <a:off x="2743200" y="3733800"/>
            <a:ext cx="2286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7137" name="Rectangle 33"/>
          <p:cNvSpPr>
            <a:spLocks noChangeArrowheads="1"/>
          </p:cNvSpPr>
          <p:nvPr/>
        </p:nvSpPr>
        <p:spPr bwMode="auto">
          <a:xfrm>
            <a:off x="2514600" y="4419600"/>
            <a:ext cx="228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199355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000"/>
              <a:t>Inserting An Element Into A Max Heap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5410200"/>
            <a:ext cx="6400800" cy="228600"/>
          </a:xfrm>
          <a:noFill/>
          <a:ln/>
        </p:spPr>
        <p:txBody>
          <a:bodyPr/>
          <a:lstStyle/>
          <a:p>
            <a:pPr marL="342900" indent="-342900" algn="l"/>
            <a:r>
              <a:rPr lang="en-US" altLang="en-US" sz="3200"/>
              <a:t>New element is </a:t>
            </a:r>
            <a:r>
              <a:rPr lang="en-US" altLang="en-US" sz="3200">
                <a:solidFill>
                  <a:schemeClr val="hlink"/>
                </a:solidFill>
              </a:rPr>
              <a:t>20</a:t>
            </a:r>
            <a:r>
              <a:rPr lang="en-US" altLang="en-US" sz="3200"/>
              <a:t>.</a:t>
            </a:r>
          </a:p>
        </p:txBody>
      </p:sp>
      <p:sp>
        <p:nvSpPr>
          <p:cNvPr id="48132" name="Oval 4"/>
          <p:cNvSpPr>
            <a:spLocks noChangeArrowheads="1"/>
          </p:cNvSpPr>
          <p:nvPr/>
        </p:nvSpPr>
        <p:spPr bwMode="auto">
          <a:xfrm>
            <a:off x="4197350" y="1454150"/>
            <a:ext cx="444500" cy="4445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133" name="Oval 5"/>
          <p:cNvSpPr>
            <a:spLocks noChangeArrowheads="1"/>
          </p:cNvSpPr>
          <p:nvPr/>
        </p:nvSpPr>
        <p:spPr bwMode="auto">
          <a:xfrm>
            <a:off x="20637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134" name="Oval 6"/>
          <p:cNvSpPr>
            <a:spLocks noChangeArrowheads="1"/>
          </p:cNvSpPr>
          <p:nvPr/>
        </p:nvSpPr>
        <p:spPr bwMode="auto">
          <a:xfrm>
            <a:off x="64071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135" name="Oval 7"/>
          <p:cNvSpPr>
            <a:spLocks noChangeArrowheads="1"/>
          </p:cNvSpPr>
          <p:nvPr/>
        </p:nvSpPr>
        <p:spPr bwMode="auto">
          <a:xfrm>
            <a:off x="1073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136" name="Oval 8"/>
          <p:cNvSpPr>
            <a:spLocks noChangeArrowheads="1"/>
          </p:cNvSpPr>
          <p:nvPr/>
        </p:nvSpPr>
        <p:spPr bwMode="auto">
          <a:xfrm>
            <a:off x="28257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137" name="Oval 9"/>
          <p:cNvSpPr>
            <a:spLocks noChangeArrowheads="1"/>
          </p:cNvSpPr>
          <p:nvPr/>
        </p:nvSpPr>
        <p:spPr bwMode="auto">
          <a:xfrm>
            <a:off x="51879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138" name="Oval 10"/>
          <p:cNvSpPr>
            <a:spLocks noChangeArrowheads="1"/>
          </p:cNvSpPr>
          <p:nvPr/>
        </p:nvSpPr>
        <p:spPr bwMode="auto">
          <a:xfrm>
            <a:off x="7550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139" name="Oval 11"/>
          <p:cNvSpPr>
            <a:spLocks noChangeArrowheads="1"/>
          </p:cNvSpPr>
          <p:nvPr/>
        </p:nvSpPr>
        <p:spPr bwMode="auto">
          <a:xfrm>
            <a:off x="463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140" name="Oval 12"/>
          <p:cNvSpPr>
            <a:spLocks noChangeArrowheads="1"/>
          </p:cNvSpPr>
          <p:nvPr/>
        </p:nvSpPr>
        <p:spPr bwMode="auto">
          <a:xfrm>
            <a:off x="1606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141" name="Line 13"/>
          <p:cNvSpPr>
            <a:spLocks noChangeShapeType="1"/>
          </p:cNvSpPr>
          <p:nvPr/>
        </p:nvSpPr>
        <p:spPr bwMode="auto">
          <a:xfrm flipH="1">
            <a:off x="2514600" y="1752600"/>
            <a:ext cx="1676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8142" name="Line 14"/>
          <p:cNvSpPr>
            <a:spLocks noChangeShapeType="1"/>
          </p:cNvSpPr>
          <p:nvPr/>
        </p:nvSpPr>
        <p:spPr bwMode="auto">
          <a:xfrm>
            <a:off x="4648200" y="175260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8143" name="Line 15"/>
          <p:cNvSpPr>
            <a:spLocks noChangeShapeType="1"/>
          </p:cNvSpPr>
          <p:nvPr/>
        </p:nvSpPr>
        <p:spPr bwMode="auto">
          <a:xfrm flipH="1">
            <a:off x="1371600" y="281940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8144" name="Line 16"/>
          <p:cNvSpPr>
            <a:spLocks noChangeShapeType="1"/>
          </p:cNvSpPr>
          <p:nvPr/>
        </p:nvSpPr>
        <p:spPr bwMode="auto">
          <a:xfrm>
            <a:off x="2438400" y="2819400"/>
            <a:ext cx="533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8145" name="Line 17"/>
          <p:cNvSpPr>
            <a:spLocks noChangeShapeType="1"/>
          </p:cNvSpPr>
          <p:nvPr/>
        </p:nvSpPr>
        <p:spPr bwMode="auto">
          <a:xfrm flipH="1">
            <a:off x="5562600" y="2895600"/>
            <a:ext cx="914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8146" name="Line 18"/>
          <p:cNvSpPr>
            <a:spLocks noChangeShapeType="1"/>
          </p:cNvSpPr>
          <p:nvPr/>
        </p:nvSpPr>
        <p:spPr bwMode="auto">
          <a:xfrm>
            <a:off x="6781800" y="2819400"/>
            <a:ext cx="838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8147" name="Line 19"/>
          <p:cNvSpPr>
            <a:spLocks noChangeShapeType="1"/>
          </p:cNvSpPr>
          <p:nvPr/>
        </p:nvSpPr>
        <p:spPr bwMode="auto">
          <a:xfrm flipH="1">
            <a:off x="762000" y="365760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8148" name="Line 20"/>
          <p:cNvSpPr>
            <a:spLocks noChangeShapeType="1"/>
          </p:cNvSpPr>
          <p:nvPr/>
        </p:nvSpPr>
        <p:spPr bwMode="auto">
          <a:xfrm>
            <a:off x="1447800" y="365760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8149" name="Rectangle 21"/>
          <p:cNvSpPr>
            <a:spLocks noChangeArrowheads="1"/>
          </p:cNvSpPr>
          <p:nvPr/>
        </p:nvSpPr>
        <p:spPr bwMode="auto">
          <a:xfrm>
            <a:off x="21177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9</a:t>
            </a:r>
          </a:p>
        </p:txBody>
      </p:sp>
      <p:sp>
        <p:nvSpPr>
          <p:cNvPr id="48150" name="Rectangle 22"/>
          <p:cNvSpPr>
            <a:spLocks noChangeArrowheads="1"/>
          </p:cNvSpPr>
          <p:nvPr/>
        </p:nvSpPr>
        <p:spPr bwMode="auto">
          <a:xfrm>
            <a:off x="28797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48151" name="Rectangle 23"/>
          <p:cNvSpPr>
            <a:spLocks noChangeArrowheads="1"/>
          </p:cNvSpPr>
          <p:nvPr/>
        </p:nvSpPr>
        <p:spPr bwMode="auto">
          <a:xfrm>
            <a:off x="1127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48152" name="Rectangle 24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48153" name="Rectangle 25"/>
          <p:cNvSpPr>
            <a:spLocks noChangeArrowheads="1"/>
          </p:cNvSpPr>
          <p:nvPr/>
        </p:nvSpPr>
        <p:spPr bwMode="auto">
          <a:xfrm>
            <a:off x="52419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48154" name="Rectangle 26"/>
          <p:cNvSpPr>
            <a:spLocks noChangeArrowheads="1"/>
          </p:cNvSpPr>
          <p:nvPr/>
        </p:nvSpPr>
        <p:spPr bwMode="auto">
          <a:xfrm>
            <a:off x="7604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48155" name="Rectangle 27"/>
          <p:cNvSpPr>
            <a:spLocks noChangeArrowheads="1"/>
          </p:cNvSpPr>
          <p:nvPr/>
        </p:nvSpPr>
        <p:spPr bwMode="auto">
          <a:xfrm>
            <a:off x="517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8156" name="Rectangle 28"/>
          <p:cNvSpPr>
            <a:spLocks noChangeArrowheads="1"/>
          </p:cNvSpPr>
          <p:nvPr/>
        </p:nvSpPr>
        <p:spPr bwMode="auto">
          <a:xfrm>
            <a:off x="1660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48157" name="Rectangle 29"/>
          <p:cNvSpPr>
            <a:spLocks noChangeArrowheads="1"/>
          </p:cNvSpPr>
          <p:nvPr/>
        </p:nvSpPr>
        <p:spPr bwMode="auto">
          <a:xfrm>
            <a:off x="64611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48158" name="Rectangle 30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48159" name="Oval 31"/>
          <p:cNvSpPr>
            <a:spLocks noChangeArrowheads="1"/>
          </p:cNvSpPr>
          <p:nvPr/>
        </p:nvSpPr>
        <p:spPr bwMode="auto">
          <a:xfrm>
            <a:off x="24447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160" name="Line 32"/>
          <p:cNvSpPr>
            <a:spLocks noChangeShapeType="1"/>
          </p:cNvSpPr>
          <p:nvPr/>
        </p:nvSpPr>
        <p:spPr bwMode="auto">
          <a:xfrm flipH="1">
            <a:off x="2743200" y="3733800"/>
            <a:ext cx="2286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8161" name="Rectangle 33"/>
          <p:cNvSpPr>
            <a:spLocks noChangeArrowheads="1"/>
          </p:cNvSpPr>
          <p:nvPr/>
        </p:nvSpPr>
        <p:spPr bwMode="auto">
          <a:xfrm>
            <a:off x="2514600" y="4419600"/>
            <a:ext cx="228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48162" name="Rectangle 34"/>
          <p:cNvSpPr>
            <a:spLocks noChangeArrowheads="1"/>
          </p:cNvSpPr>
          <p:nvPr/>
        </p:nvSpPr>
        <p:spPr bwMode="auto">
          <a:xfrm>
            <a:off x="4191000" y="1524000"/>
            <a:ext cx="838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452453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62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400"/>
              <a:t>Complexity Of Insert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5410200"/>
            <a:ext cx="6400800" cy="228600"/>
          </a:xfrm>
          <a:noFill/>
          <a:ln/>
        </p:spPr>
        <p:txBody>
          <a:bodyPr/>
          <a:lstStyle/>
          <a:p>
            <a:pPr marL="342900" indent="-342900" algn="l"/>
            <a:r>
              <a:rPr lang="en-US" altLang="en-US" sz="3200">
                <a:solidFill>
                  <a:schemeClr val="bg2"/>
                </a:solidFill>
              </a:rPr>
              <a:t>Complexity is </a:t>
            </a:r>
            <a:r>
              <a:rPr lang="en-US" altLang="en-US" sz="3200">
                <a:solidFill>
                  <a:schemeClr val="hlink"/>
                </a:solidFill>
              </a:rPr>
              <a:t>O(log n)</a:t>
            </a:r>
            <a:r>
              <a:rPr lang="en-US" altLang="en-US" sz="3200">
                <a:solidFill>
                  <a:schemeClr val="bg2"/>
                </a:solidFill>
              </a:rPr>
              <a:t>, where </a:t>
            </a:r>
            <a:r>
              <a:rPr lang="en-US" altLang="en-US" sz="3200">
                <a:solidFill>
                  <a:schemeClr val="hlink"/>
                </a:solidFill>
              </a:rPr>
              <a:t>n </a:t>
            </a:r>
            <a:r>
              <a:rPr lang="en-US" altLang="en-US" sz="3200">
                <a:solidFill>
                  <a:schemeClr val="bg2"/>
                </a:solidFill>
              </a:rPr>
              <a:t>is heap size.</a:t>
            </a:r>
          </a:p>
        </p:txBody>
      </p:sp>
      <p:grpSp>
        <p:nvGrpSpPr>
          <p:cNvPr id="53289" name="Group 41"/>
          <p:cNvGrpSpPr>
            <a:grpSpLocks/>
          </p:cNvGrpSpPr>
          <p:nvPr/>
        </p:nvGrpSpPr>
        <p:grpSpPr bwMode="auto">
          <a:xfrm>
            <a:off x="463550" y="1454150"/>
            <a:ext cx="7531100" cy="3362325"/>
            <a:chOff x="292" y="916"/>
            <a:chExt cx="4744" cy="2118"/>
          </a:xfrm>
        </p:grpSpPr>
        <p:sp>
          <p:nvSpPr>
            <p:cNvPr id="53252" name="Oval 4"/>
            <p:cNvSpPr>
              <a:spLocks noChangeArrowheads="1"/>
            </p:cNvSpPr>
            <p:nvPr/>
          </p:nvSpPr>
          <p:spPr bwMode="auto">
            <a:xfrm>
              <a:off x="2644" y="91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3253" name="Oval 5"/>
            <p:cNvSpPr>
              <a:spLocks noChangeArrowheads="1"/>
            </p:cNvSpPr>
            <p:nvPr/>
          </p:nvSpPr>
          <p:spPr bwMode="auto">
            <a:xfrm>
              <a:off x="1300" y="15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3254" name="Oval 6"/>
            <p:cNvSpPr>
              <a:spLocks noChangeArrowheads="1"/>
            </p:cNvSpPr>
            <p:nvPr/>
          </p:nvSpPr>
          <p:spPr bwMode="auto">
            <a:xfrm>
              <a:off x="4036" y="15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3255" name="Oval 7"/>
            <p:cNvSpPr>
              <a:spLocks noChangeArrowheads="1"/>
            </p:cNvSpPr>
            <p:nvPr/>
          </p:nvSpPr>
          <p:spPr bwMode="auto">
            <a:xfrm>
              <a:off x="676" y="206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3256" name="Oval 8"/>
            <p:cNvSpPr>
              <a:spLocks noChangeArrowheads="1"/>
            </p:cNvSpPr>
            <p:nvPr/>
          </p:nvSpPr>
          <p:spPr bwMode="auto">
            <a:xfrm>
              <a:off x="1780" y="206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3257" name="Oval 9"/>
            <p:cNvSpPr>
              <a:spLocks noChangeArrowheads="1"/>
            </p:cNvSpPr>
            <p:nvPr/>
          </p:nvSpPr>
          <p:spPr bwMode="auto">
            <a:xfrm>
              <a:off x="3268" y="206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3258" name="Oval 10"/>
            <p:cNvSpPr>
              <a:spLocks noChangeArrowheads="1"/>
            </p:cNvSpPr>
            <p:nvPr/>
          </p:nvSpPr>
          <p:spPr bwMode="auto">
            <a:xfrm>
              <a:off x="4756" y="206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3259" name="Oval 11"/>
            <p:cNvSpPr>
              <a:spLocks noChangeArrowheads="1"/>
            </p:cNvSpPr>
            <p:nvPr/>
          </p:nvSpPr>
          <p:spPr bwMode="auto">
            <a:xfrm>
              <a:off x="292" y="27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3260" name="Oval 12"/>
            <p:cNvSpPr>
              <a:spLocks noChangeArrowheads="1"/>
            </p:cNvSpPr>
            <p:nvPr/>
          </p:nvSpPr>
          <p:spPr bwMode="auto">
            <a:xfrm>
              <a:off x="1012" y="27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3261" name="Line 13"/>
            <p:cNvSpPr>
              <a:spLocks noChangeShapeType="1"/>
            </p:cNvSpPr>
            <p:nvPr/>
          </p:nvSpPr>
          <p:spPr bwMode="auto">
            <a:xfrm flipH="1">
              <a:off x="1584" y="1104"/>
              <a:ext cx="1056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262" name="Line 14"/>
            <p:cNvSpPr>
              <a:spLocks noChangeShapeType="1"/>
            </p:cNvSpPr>
            <p:nvPr/>
          </p:nvSpPr>
          <p:spPr bwMode="auto">
            <a:xfrm>
              <a:off x="2928" y="1104"/>
              <a:ext cx="1152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263" name="Line 15"/>
            <p:cNvSpPr>
              <a:spLocks noChangeShapeType="1"/>
            </p:cNvSpPr>
            <p:nvPr/>
          </p:nvSpPr>
          <p:spPr bwMode="auto">
            <a:xfrm flipH="1">
              <a:off x="864" y="1776"/>
              <a:ext cx="48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264" name="Line 16"/>
            <p:cNvSpPr>
              <a:spLocks noChangeShapeType="1"/>
            </p:cNvSpPr>
            <p:nvPr/>
          </p:nvSpPr>
          <p:spPr bwMode="auto">
            <a:xfrm>
              <a:off x="1536" y="1776"/>
              <a:ext cx="336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265" name="Line 17"/>
            <p:cNvSpPr>
              <a:spLocks noChangeShapeType="1"/>
            </p:cNvSpPr>
            <p:nvPr/>
          </p:nvSpPr>
          <p:spPr bwMode="auto">
            <a:xfrm flipH="1">
              <a:off x="3504" y="1824"/>
              <a:ext cx="576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266" name="Line 18"/>
            <p:cNvSpPr>
              <a:spLocks noChangeShapeType="1"/>
            </p:cNvSpPr>
            <p:nvPr/>
          </p:nvSpPr>
          <p:spPr bwMode="auto">
            <a:xfrm>
              <a:off x="4272" y="1776"/>
              <a:ext cx="528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267" name="Line 19"/>
            <p:cNvSpPr>
              <a:spLocks noChangeShapeType="1"/>
            </p:cNvSpPr>
            <p:nvPr/>
          </p:nvSpPr>
          <p:spPr bwMode="auto">
            <a:xfrm flipH="1">
              <a:off x="480" y="2304"/>
              <a:ext cx="24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268" name="Line 20"/>
            <p:cNvSpPr>
              <a:spLocks noChangeShapeType="1"/>
            </p:cNvSpPr>
            <p:nvPr/>
          </p:nvSpPr>
          <p:spPr bwMode="auto">
            <a:xfrm>
              <a:off x="912" y="2304"/>
              <a:ext cx="19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269" name="Rectangle 21"/>
            <p:cNvSpPr>
              <a:spLocks noChangeArrowheads="1"/>
            </p:cNvSpPr>
            <p:nvPr/>
          </p:nvSpPr>
          <p:spPr bwMode="auto">
            <a:xfrm>
              <a:off x="2198" y="275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8</a:t>
              </a:r>
            </a:p>
          </p:txBody>
        </p:sp>
        <p:sp>
          <p:nvSpPr>
            <p:cNvPr id="53270" name="Rectangle 22"/>
            <p:cNvSpPr>
              <a:spLocks noChangeArrowheads="1"/>
            </p:cNvSpPr>
            <p:nvPr/>
          </p:nvSpPr>
          <p:spPr bwMode="auto">
            <a:xfrm>
              <a:off x="710" y="208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6</a:t>
              </a:r>
            </a:p>
          </p:txBody>
        </p:sp>
        <p:sp>
          <p:nvSpPr>
            <p:cNvPr id="53271" name="Rectangle 23"/>
            <p:cNvSpPr>
              <a:spLocks noChangeArrowheads="1"/>
            </p:cNvSpPr>
            <p:nvPr/>
          </p:nvSpPr>
          <p:spPr bwMode="auto">
            <a:xfrm>
              <a:off x="1574" y="275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7</a:t>
              </a:r>
            </a:p>
          </p:txBody>
        </p:sp>
        <p:sp>
          <p:nvSpPr>
            <p:cNvPr id="53272" name="Rectangle 24"/>
            <p:cNvSpPr>
              <a:spLocks noChangeArrowheads="1"/>
            </p:cNvSpPr>
            <p:nvPr/>
          </p:nvSpPr>
          <p:spPr bwMode="auto">
            <a:xfrm>
              <a:off x="3302" y="208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2</a:t>
              </a:r>
            </a:p>
          </p:txBody>
        </p:sp>
        <p:sp>
          <p:nvSpPr>
            <p:cNvPr id="53273" name="Rectangle 25"/>
            <p:cNvSpPr>
              <a:spLocks noChangeArrowheads="1"/>
            </p:cNvSpPr>
            <p:nvPr/>
          </p:nvSpPr>
          <p:spPr bwMode="auto">
            <a:xfrm>
              <a:off x="4790" y="208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6</a:t>
              </a:r>
            </a:p>
          </p:txBody>
        </p:sp>
        <p:sp>
          <p:nvSpPr>
            <p:cNvPr id="53274" name="Rectangle 26"/>
            <p:cNvSpPr>
              <a:spLocks noChangeArrowheads="1"/>
            </p:cNvSpPr>
            <p:nvPr/>
          </p:nvSpPr>
          <p:spPr bwMode="auto">
            <a:xfrm>
              <a:off x="326" y="275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5</a:t>
              </a:r>
            </a:p>
          </p:txBody>
        </p:sp>
        <p:sp>
          <p:nvSpPr>
            <p:cNvPr id="53275" name="Rectangle 27"/>
            <p:cNvSpPr>
              <a:spLocks noChangeArrowheads="1"/>
            </p:cNvSpPr>
            <p:nvPr/>
          </p:nvSpPr>
          <p:spPr bwMode="auto">
            <a:xfrm>
              <a:off x="1046" y="275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1</a:t>
              </a:r>
            </a:p>
          </p:txBody>
        </p:sp>
        <p:sp>
          <p:nvSpPr>
            <p:cNvPr id="53276" name="Rectangle 28"/>
            <p:cNvSpPr>
              <a:spLocks noChangeArrowheads="1"/>
            </p:cNvSpPr>
            <p:nvPr/>
          </p:nvSpPr>
          <p:spPr bwMode="auto">
            <a:xfrm>
              <a:off x="4070" y="155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7</a:t>
              </a:r>
            </a:p>
          </p:txBody>
        </p:sp>
        <p:sp>
          <p:nvSpPr>
            <p:cNvPr id="53277" name="Rectangle 29"/>
            <p:cNvSpPr>
              <a:spLocks noChangeArrowheads="1"/>
            </p:cNvSpPr>
            <p:nvPr/>
          </p:nvSpPr>
          <p:spPr bwMode="auto">
            <a:xfrm>
              <a:off x="1574" y="275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7</a:t>
              </a:r>
            </a:p>
          </p:txBody>
        </p:sp>
        <p:sp>
          <p:nvSpPr>
            <p:cNvPr id="53278" name="Oval 30"/>
            <p:cNvSpPr>
              <a:spLocks noChangeArrowheads="1"/>
            </p:cNvSpPr>
            <p:nvPr/>
          </p:nvSpPr>
          <p:spPr bwMode="auto">
            <a:xfrm>
              <a:off x="1540" y="27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3279" name="Line 31"/>
            <p:cNvSpPr>
              <a:spLocks noChangeShapeType="1"/>
            </p:cNvSpPr>
            <p:nvPr/>
          </p:nvSpPr>
          <p:spPr bwMode="auto">
            <a:xfrm flipH="1">
              <a:off x="1728" y="2352"/>
              <a:ext cx="144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280" name="Rectangle 32"/>
            <p:cNvSpPr>
              <a:spLocks noChangeArrowheads="1"/>
            </p:cNvSpPr>
            <p:nvPr/>
          </p:nvSpPr>
          <p:spPr bwMode="auto">
            <a:xfrm>
              <a:off x="1584" y="2784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bg2"/>
                  </a:solidFill>
                </a:rPr>
                <a:t>7</a:t>
              </a:r>
            </a:p>
          </p:txBody>
        </p:sp>
        <p:sp>
          <p:nvSpPr>
            <p:cNvPr id="53281" name="Rectangle 33"/>
            <p:cNvSpPr>
              <a:spLocks noChangeArrowheads="1"/>
            </p:cNvSpPr>
            <p:nvPr/>
          </p:nvSpPr>
          <p:spPr bwMode="auto">
            <a:xfrm>
              <a:off x="2640" y="960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bg2"/>
                  </a:solidFill>
                </a:rPr>
                <a:t>20</a:t>
              </a:r>
            </a:p>
          </p:txBody>
        </p:sp>
        <p:sp>
          <p:nvSpPr>
            <p:cNvPr id="53282" name="Oval 34"/>
            <p:cNvSpPr>
              <a:spLocks noChangeArrowheads="1"/>
            </p:cNvSpPr>
            <p:nvPr/>
          </p:nvSpPr>
          <p:spPr bwMode="auto">
            <a:xfrm>
              <a:off x="2164" y="27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>
                  <a:solidFill>
                    <a:schemeClr val="bg2"/>
                  </a:solidFill>
                </a:rPr>
                <a:t>8</a:t>
              </a:r>
            </a:p>
          </p:txBody>
        </p:sp>
        <p:sp>
          <p:nvSpPr>
            <p:cNvPr id="53283" name="Line 35"/>
            <p:cNvSpPr>
              <a:spLocks noChangeShapeType="1"/>
            </p:cNvSpPr>
            <p:nvPr/>
          </p:nvSpPr>
          <p:spPr bwMode="auto">
            <a:xfrm>
              <a:off x="2016" y="2304"/>
              <a:ext cx="288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284" name="Rectangle 36"/>
            <p:cNvSpPr>
              <a:spLocks noChangeArrowheads="1"/>
            </p:cNvSpPr>
            <p:nvPr/>
          </p:nvSpPr>
          <p:spPr bwMode="auto">
            <a:xfrm>
              <a:off x="1814" y="208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9</a:t>
              </a:r>
            </a:p>
          </p:txBody>
        </p:sp>
        <p:sp>
          <p:nvSpPr>
            <p:cNvPr id="53285" name="Rectangle 37"/>
            <p:cNvSpPr>
              <a:spLocks noChangeArrowheads="1"/>
            </p:cNvSpPr>
            <p:nvPr/>
          </p:nvSpPr>
          <p:spPr bwMode="auto">
            <a:xfrm>
              <a:off x="1296" y="1584"/>
              <a:ext cx="48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bg2"/>
                  </a:solidFill>
                </a:rPr>
                <a:t>15</a:t>
              </a:r>
            </a:p>
          </p:txBody>
        </p:sp>
      </p:grpSp>
      <p:grpSp>
        <p:nvGrpSpPr>
          <p:cNvPr id="53288" name="Group 40"/>
          <p:cNvGrpSpPr>
            <a:grpSpLocks/>
          </p:cNvGrpSpPr>
          <p:nvPr/>
        </p:nvGrpSpPr>
        <p:grpSpPr bwMode="auto">
          <a:xfrm>
            <a:off x="4724400" y="3733800"/>
            <a:ext cx="603250" cy="1136650"/>
            <a:chOff x="2932" y="2304"/>
            <a:chExt cx="380" cy="716"/>
          </a:xfrm>
        </p:grpSpPr>
        <p:sp>
          <p:nvSpPr>
            <p:cNvPr id="53286" name="Oval 38"/>
            <p:cNvSpPr>
              <a:spLocks noChangeArrowheads="1"/>
            </p:cNvSpPr>
            <p:nvPr/>
          </p:nvSpPr>
          <p:spPr bwMode="auto">
            <a:xfrm>
              <a:off x="2932" y="2740"/>
              <a:ext cx="280" cy="280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3287" name="Line 39"/>
            <p:cNvSpPr>
              <a:spLocks noChangeShapeType="1"/>
            </p:cNvSpPr>
            <p:nvPr/>
          </p:nvSpPr>
          <p:spPr bwMode="auto">
            <a:xfrm flipH="1">
              <a:off x="3120" y="2304"/>
              <a:ext cx="192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542908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3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3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400"/>
              <a:t>Removing The Max Element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5410200"/>
            <a:ext cx="6400800" cy="228600"/>
          </a:xfrm>
          <a:noFill/>
          <a:ln/>
        </p:spPr>
        <p:txBody>
          <a:bodyPr/>
          <a:lstStyle/>
          <a:p>
            <a:pPr marL="342900" indent="-342900" algn="l"/>
            <a:r>
              <a:rPr lang="en-US" altLang="en-US" sz="3200"/>
              <a:t>Max element is in the root</a:t>
            </a:r>
            <a:r>
              <a:rPr lang="en-US" altLang="en-US" sz="3200">
                <a:solidFill>
                  <a:schemeClr val="bg2"/>
                </a:solidFill>
              </a:rPr>
              <a:t>.</a:t>
            </a:r>
          </a:p>
        </p:txBody>
      </p:sp>
      <p:grpSp>
        <p:nvGrpSpPr>
          <p:cNvPr id="54310" name="Group 38"/>
          <p:cNvGrpSpPr>
            <a:grpSpLocks/>
          </p:cNvGrpSpPr>
          <p:nvPr/>
        </p:nvGrpSpPr>
        <p:grpSpPr bwMode="auto">
          <a:xfrm>
            <a:off x="463550" y="1454150"/>
            <a:ext cx="7531100" cy="3362325"/>
            <a:chOff x="292" y="916"/>
            <a:chExt cx="4744" cy="2118"/>
          </a:xfrm>
        </p:grpSpPr>
        <p:sp>
          <p:nvSpPr>
            <p:cNvPr id="54276" name="Oval 4"/>
            <p:cNvSpPr>
              <a:spLocks noChangeArrowheads="1"/>
            </p:cNvSpPr>
            <p:nvPr/>
          </p:nvSpPr>
          <p:spPr bwMode="auto">
            <a:xfrm>
              <a:off x="2644" y="91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4277" name="Oval 5"/>
            <p:cNvSpPr>
              <a:spLocks noChangeArrowheads="1"/>
            </p:cNvSpPr>
            <p:nvPr/>
          </p:nvSpPr>
          <p:spPr bwMode="auto">
            <a:xfrm>
              <a:off x="1300" y="15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4278" name="Oval 6"/>
            <p:cNvSpPr>
              <a:spLocks noChangeArrowheads="1"/>
            </p:cNvSpPr>
            <p:nvPr/>
          </p:nvSpPr>
          <p:spPr bwMode="auto">
            <a:xfrm>
              <a:off x="4036" y="15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4279" name="Oval 7"/>
            <p:cNvSpPr>
              <a:spLocks noChangeArrowheads="1"/>
            </p:cNvSpPr>
            <p:nvPr/>
          </p:nvSpPr>
          <p:spPr bwMode="auto">
            <a:xfrm>
              <a:off x="676" y="206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4280" name="Oval 8"/>
            <p:cNvSpPr>
              <a:spLocks noChangeArrowheads="1"/>
            </p:cNvSpPr>
            <p:nvPr/>
          </p:nvSpPr>
          <p:spPr bwMode="auto">
            <a:xfrm>
              <a:off x="1780" y="206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4281" name="Oval 9"/>
            <p:cNvSpPr>
              <a:spLocks noChangeArrowheads="1"/>
            </p:cNvSpPr>
            <p:nvPr/>
          </p:nvSpPr>
          <p:spPr bwMode="auto">
            <a:xfrm>
              <a:off x="3268" y="206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4282" name="Oval 10"/>
            <p:cNvSpPr>
              <a:spLocks noChangeArrowheads="1"/>
            </p:cNvSpPr>
            <p:nvPr/>
          </p:nvSpPr>
          <p:spPr bwMode="auto">
            <a:xfrm>
              <a:off x="4756" y="206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4283" name="Oval 11"/>
            <p:cNvSpPr>
              <a:spLocks noChangeArrowheads="1"/>
            </p:cNvSpPr>
            <p:nvPr/>
          </p:nvSpPr>
          <p:spPr bwMode="auto">
            <a:xfrm>
              <a:off x="292" y="27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4284" name="Oval 12"/>
            <p:cNvSpPr>
              <a:spLocks noChangeArrowheads="1"/>
            </p:cNvSpPr>
            <p:nvPr/>
          </p:nvSpPr>
          <p:spPr bwMode="auto">
            <a:xfrm>
              <a:off x="1012" y="27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4285" name="Line 13"/>
            <p:cNvSpPr>
              <a:spLocks noChangeShapeType="1"/>
            </p:cNvSpPr>
            <p:nvPr/>
          </p:nvSpPr>
          <p:spPr bwMode="auto">
            <a:xfrm flipH="1">
              <a:off x="1584" y="1104"/>
              <a:ext cx="1056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286" name="Line 14"/>
            <p:cNvSpPr>
              <a:spLocks noChangeShapeType="1"/>
            </p:cNvSpPr>
            <p:nvPr/>
          </p:nvSpPr>
          <p:spPr bwMode="auto">
            <a:xfrm>
              <a:off x="2928" y="1104"/>
              <a:ext cx="1152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287" name="Line 15"/>
            <p:cNvSpPr>
              <a:spLocks noChangeShapeType="1"/>
            </p:cNvSpPr>
            <p:nvPr/>
          </p:nvSpPr>
          <p:spPr bwMode="auto">
            <a:xfrm flipH="1">
              <a:off x="864" y="1776"/>
              <a:ext cx="48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288" name="Line 16"/>
            <p:cNvSpPr>
              <a:spLocks noChangeShapeType="1"/>
            </p:cNvSpPr>
            <p:nvPr/>
          </p:nvSpPr>
          <p:spPr bwMode="auto">
            <a:xfrm>
              <a:off x="1536" y="1776"/>
              <a:ext cx="336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289" name="Line 17"/>
            <p:cNvSpPr>
              <a:spLocks noChangeShapeType="1"/>
            </p:cNvSpPr>
            <p:nvPr/>
          </p:nvSpPr>
          <p:spPr bwMode="auto">
            <a:xfrm flipH="1">
              <a:off x="3504" y="1824"/>
              <a:ext cx="576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290" name="Line 18"/>
            <p:cNvSpPr>
              <a:spLocks noChangeShapeType="1"/>
            </p:cNvSpPr>
            <p:nvPr/>
          </p:nvSpPr>
          <p:spPr bwMode="auto">
            <a:xfrm>
              <a:off x="4272" y="1776"/>
              <a:ext cx="528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291" name="Line 19"/>
            <p:cNvSpPr>
              <a:spLocks noChangeShapeType="1"/>
            </p:cNvSpPr>
            <p:nvPr/>
          </p:nvSpPr>
          <p:spPr bwMode="auto">
            <a:xfrm flipH="1">
              <a:off x="480" y="2304"/>
              <a:ext cx="24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292" name="Line 20"/>
            <p:cNvSpPr>
              <a:spLocks noChangeShapeType="1"/>
            </p:cNvSpPr>
            <p:nvPr/>
          </p:nvSpPr>
          <p:spPr bwMode="auto">
            <a:xfrm>
              <a:off x="912" y="2304"/>
              <a:ext cx="19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293" name="Rectangle 21"/>
            <p:cNvSpPr>
              <a:spLocks noChangeArrowheads="1"/>
            </p:cNvSpPr>
            <p:nvPr/>
          </p:nvSpPr>
          <p:spPr bwMode="auto">
            <a:xfrm>
              <a:off x="2198" y="275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8</a:t>
              </a:r>
            </a:p>
          </p:txBody>
        </p:sp>
        <p:sp>
          <p:nvSpPr>
            <p:cNvPr id="54294" name="Rectangle 22"/>
            <p:cNvSpPr>
              <a:spLocks noChangeArrowheads="1"/>
            </p:cNvSpPr>
            <p:nvPr/>
          </p:nvSpPr>
          <p:spPr bwMode="auto">
            <a:xfrm>
              <a:off x="710" y="208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6</a:t>
              </a:r>
            </a:p>
          </p:txBody>
        </p:sp>
        <p:sp>
          <p:nvSpPr>
            <p:cNvPr id="54295" name="Rectangle 23"/>
            <p:cNvSpPr>
              <a:spLocks noChangeArrowheads="1"/>
            </p:cNvSpPr>
            <p:nvPr/>
          </p:nvSpPr>
          <p:spPr bwMode="auto">
            <a:xfrm>
              <a:off x="1574" y="275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7</a:t>
              </a:r>
            </a:p>
          </p:txBody>
        </p:sp>
        <p:sp>
          <p:nvSpPr>
            <p:cNvPr id="54296" name="Rectangle 24"/>
            <p:cNvSpPr>
              <a:spLocks noChangeArrowheads="1"/>
            </p:cNvSpPr>
            <p:nvPr/>
          </p:nvSpPr>
          <p:spPr bwMode="auto">
            <a:xfrm>
              <a:off x="3302" y="208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2</a:t>
              </a:r>
            </a:p>
          </p:txBody>
        </p:sp>
        <p:sp>
          <p:nvSpPr>
            <p:cNvPr id="54297" name="Rectangle 25"/>
            <p:cNvSpPr>
              <a:spLocks noChangeArrowheads="1"/>
            </p:cNvSpPr>
            <p:nvPr/>
          </p:nvSpPr>
          <p:spPr bwMode="auto">
            <a:xfrm>
              <a:off x="4790" y="208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6</a:t>
              </a:r>
            </a:p>
          </p:txBody>
        </p:sp>
        <p:sp>
          <p:nvSpPr>
            <p:cNvPr id="54298" name="Rectangle 26"/>
            <p:cNvSpPr>
              <a:spLocks noChangeArrowheads="1"/>
            </p:cNvSpPr>
            <p:nvPr/>
          </p:nvSpPr>
          <p:spPr bwMode="auto">
            <a:xfrm>
              <a:off x="326" y="275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5</a:t>
              </a:r>
            </a:p>
          </p:txBody>
        </p:sp>
        <p:sp>
          <p:nvSpPr>
            <p:cNvPr id="54299" name="Rectangle 27"/>
            <p:cNvSpPr>
              <a:spLocks noChangeArrowheads="1"/>
            </p:cNvSpPr>
            <p:nvPr/>
          </p:nvSpPr>
          <p:spPr bwMode="auto">
            <a:xfrm>
              <a:off x="1046" y="275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1</a:t>
              </a:r>
            </a:p>
          </p:txBody>
        </p:sp>
        <p:sp>
          <p:nvSpPr>
            <p:cNvPr id="54300" name="Rectangle 28"/>
            <p:cNvSpPr>
              <a:spLocks noChangeArrowheads="1"/>
            </p:cNvSpPr>
            <p:nvPr/>
          </p:nvSpPr>
          <p:spPr bwMode="auto">
            <a:xfrm>
              <a:off x="4070" y="155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7</a:t>
              </a:r>
            </a:p>
          </p:txBody>
        </p:sp>
        <p:sp>
          <p:nvSpPr>
            <p:cNvPr id="54301" name="Rectangle 29"/>
            <p:cNvSpPr>
              <a:spLocks noChangeArrowheads="1"/>
            </p:cNvSpPr>
            <p:nvPr/>
          </p:nvSpPr>
          <p:spPr bwMode="auto">
            <a:xfrm>
              <a:off x="1574" y="275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7</a:t>
              </a:r>
            </a:p>
          </p:txBody>
        </p:sp>
        <p:sp>
          <p:nvSpPr>
            <p:cNvPr id="54302" name="Oval 30"/>
            <p:cNvSpPr>
              <a:spLocks noChangeArrowheads="1"/>
            </p:cNvSpPr>
            <p:nvPr/>
          </p:nvSpPr>
          <p:spPr bwMode="auto">
            <a:xfrm>
              <a:off x="1540" y="27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4303" name="Line 31"/>
            <p:cNvSpPr>
              <a:spLocks noChangeShapeType="1"/>
            </p:cNvSpPr>
            <p:nvPr/>
          </p:nvSpPr>
          <p:spPr bwMode="auto">
            <a:xfrm flipH="1">
              <a:off x="1728" y="2352"/>
              <a:ext cx="144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304" name="Rectangle 32"/>
            <p:cNvSpPr>
              <a:spLocks noChangeArrowheads="1"/>
            </p:cNvSpPr>
            <p:nvPr/>
          </p:nvSpPr>
          <p:spPr bwMode="auto">
            <a:xfrm>
              <a:off x="1584" y="2784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bg2"/>
                  </a:solidFill>
                </a:rPr>
                <a:t>7</a:t>
              </a:r>
            </a:p>
          </p:txBody>
        </p:sp>
        <p:sp>
          <p:nvSpPr>
            <p:cNvPr id="54305" name="Rectangle 33"/>
            <p:cNvSpPr>
              <a:spLocks noChangeArrowheads="1"/>
            </p:cNvSpPr>
            <p:nvPr/>
          </p:nvSpPr>
          <p:spPr bwMode="auto">
            <a:xfrm>
              <a:off x="2640" y="960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bg2"/>
                  </a:solidFill>
                </a:rPr>
                <a:t>20</a:t>
              </a:r>
            </a:p>
          </p:txBody>
        </p:sp>
        <p:sp>
          <p:nvSpPr>
            <p:cNvPr id="54306" name="Oval 34"/>
            <p:cNvSpPr>
              <a:spLocks noChangeArrowheads="1"/>
            </p:cNvSpPr>
            <p:nvPr/>
          </p:nvSpPr>
          <p:spPr bwMode="auto">
            <a:xfrm>
              <a:off x="2164" y="27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>
                  <a:solidFill>
                    <a:schemeClr val="bg2"/>
                  </a:solidFill>
                </a:rPr>
                <a:t>8</a:t>
              </a:r>
            </a:p>
          </p:txBody>
        </p:sp>
        <p:sp>
          <p:nvSpPr>
            <p:cNvPr id="54307" name="Line 35"/>
            <p:cNvSpPr>
              <a:spLocks noChangeShapeType="1"/>
            </p:cNvSpPr>
            <p:nvPr/>
          </p:nvSpPr>
          <p:spPr bwMode="auto">
            <a:xfrm>
              <a:off x="2016" y="2304"/>
              <a:ext cx="288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308" name="Rectangle 36"/>
            <p:cNvSpPr>
              <a:spLocks noChangeArrowheads="1"/>
            </p:cNvSpPr>
            <p:nvPr/>
          </p:nvSpPr>
          <p:spPr bwMode="auto">
            <a:xfrm>
              <a:off x="1814" y="208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9</a:t>
              </a:r>
            </a:p>
          </p:txBody>
        </p:sp>
        <p:sp>
          <p:nvSpPr>
            <p:cNvPr id="54309" name="Rectangle 37"/>
            <p:cNvSpPr>
              <a:spLocks noChangeArrowheads="1"/>
            </p:cNvSpPr>
            <p:nvPr/>
          </p:nvSpPr>
          <p:spPr bwMode="auto">
            <a:xfrm>
              <a:off x="1296" y="1584"/>
              <a:ext cx="48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bg2"/>
                  </a:solidFill>
                </a:rPr>
                <a:t>15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3190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400"/>
              <a:t>Removing The Max Element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5410200"/>
            <a:ext cx="6400800" cy="228600"/>
          </a:xfrm>
          <a:noFill/>
          <a:ln/>
        </p:spPr>
        <p:txBody>
          <a:bodyPr/>
          <a:lstStyle/>
          <a:p>
            <a:pPr marL="342900" indent="-342900" algn="l"/>
            <a:r>
              <a:rPr lang="en-US" altLang="en-US" sz="3200"/>
              <a:t>After max element is removed.</a:t>
            </a:r>
          </a:p>
        </p:txBody>
      </p:sp>
      <p:sp>
        <p:nvSpPr>
          <p:cNvPr id="55300" name="Oval 4"/>
          <p:cNvSpPr>
            <a:spLocks noChangeArrowheads="1"/>
          </p:cNvSpPr>
          <p:nvPr/>
        </p:nvSpPr>
        <p:spPr bwMode="auto">
          <a:xfrm>
            <a:off x="4197350" y="1454150"/>
            <a:ext cx="444500" cy="4445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5301" name="Oval 5"/>
          <p:cNvSpPr>
            <a:spLocks noChangeArrowheads="1"/>
          </p:cNvSpPr>
          <p:nvPr/>
        </p:nvSpPr>
        <p:spPr bwMode="auto">
          <a:xfrm>
            <a:off x="20637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5302" name="Oval 6"/>
          <p:cNvSpPr>
            <a:spLocks noChangeArrowheads="1"/>
          </p:cNvSpPr>
          <p:nvPr/>
        </p:nvSpPr>
        <p:spPr bwMode="auto">
          <a:xfrm>
            <a:off x="64071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5303" name="Oval 7"/>
          <p:cNvSpPr>
            <a:spLocks noChangeArrowheads="1"/>
          </p:cNvSpPr>
          <p:nvPr/>
        </p:nvSpPr>
        <p:spPr bwMode="auto">
          <a:xfrm>
            <a:off x="1073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5304" name="Oval 8"/>
          <p:cNvSpPr>
            <a:spLocks noChangeArrowheads="1"/>
          </p:cNvSpPr>
          <p:nvPr/>
        </p:nvSpPr>
        <p:spPr bwMode="auto">
          <a:xfrm>
            <a:off x="28257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5305" name="Oval 9"/>
          <p:cNvSpPr>
            <a:spLocks noChangeArrowheads="1"/>
          </p:cNvSpPr>
          <p:nvPr/>
        </p:nvSpPr>
        <p:spPr bwMode="auto">
          <a:xfrm>
            <a:off x="51879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5306" name="Oval 10"/>
          <p:cNvSpPr>
            <a:spLocks noChangeArrowheads="1"/>
          </p:cNvSpPr>
          <p:nvPr/>
        </p:nvSpPr>
        <p:spPr bwMode="auto">
          <a:xfrm>
            <a:off x="7550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5307" name="Oval 11"/>
          <p:cNvSpPr>
            <a:spLocks noChangeArrowheads="1"/>
          </p:cNvSpPr>
          <p:nvPr/>
        </p:nvSpPr>
        <p:spPr bwMode="auto">
          <a:xfrm>
            <a:off x="463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5308" name="Oval 12"/>
          <p:cNvSpPr>
            <a:spLocks noChangeArrowheads="1"/>
          </p:cNvSpPr>
          <p:nvPr/>
        </p:nvSpPr>
        <p:spPr bwMode="auto">
          <a:xfrm>
            <a:off x="1606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5309" name="Line 13"/>
          <p:cNvSpPr>
            <a:spLocks noChangeShapeType="1"/>
          </p:cNvSpPr>
          <p:nvPr/>
        </p:nvSpPr>
        <p:spPr bwMode="auto">
          <a:xfrm flipH="1">
            <a:off x="2514600" y="1752600"/>
            <a:ext cx="1676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5310" name="Line 14"/>
          <p:cNvSpPr>
            <a:spLocks noChangeShapeType="1"/>
          </p:cNvSpPr>
          <p:nvPr/>
        </p:nvSpPr>
        <p:spPr bwMode="auto">
          <a:xfrm>
            <a:off x="4648200" y="175260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5311" name="Line 15"/>
          <p:cNvSpPr>
            <a:spLocks noChangeShapeType="1"/>
          </p:cNvSpPr>
          <p:nvPr/>
        </p:nvSpPr>
        <p:spPr bwMode="auto">
          <a:xfrm flipH="1">
            <a:off x="1371600" y="281940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5312" name="Line 16"/>
          <p:cNvSpPr>
            <a:spLocks noChangeShapeType="1"/>
          </p:cNvSpPr>
          <p:nvPr/>
        </p:nvSpPr>
        <p:spPr bwMode="auto">
          <a:xfrm>
            <a:off x="2438400" y="2819400"/>
            <a:ext cx="533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5313" name="Line 17"/>
          <p:cNvSpPr>
            <a:spLocks noChangeShapeType="1"/>
          </p:cNvSpPr>
          <p:nvPr/>
        </p:nvSpPr>
        <p:spPr bwMode="auto">
          <a:xfrm flipH="1">
            <a:off x="5562600" y="2895600"/>
            <a:ext cx="914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5314" name="Line 18"/>
          <p:cNvSpPr>
            <a:spLocks noChangeShapeType="1"/>
          </p:cNvSpPr>
          <p:nvPr/>
        </p:nvSpPr>
        <p:spPr bwMode="auto">
          <a:xfrm>
            <a:off x="6781800" y="2819400"/>
            <a:ext cx="838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5315" name="Line 19"/>
          <p:cNvSpPr>
            <a:spLocks noChangeShapeType="1"/>
          </p:cNvSpPr>
          <p:nvPr/>
        </p:nvSpPr>
        <p:spPr bwMode="auto">
          <a:xfrm flipH="1">
            <a:off x="762000" y="365760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5316" name="Line 20"/>
          <p:cNvSpPr>
            <a:spLocks noChangeShapeType="1"/>
          </p:cNvSpPr>
          <p:nvPr/>
        </p:nvSpPr>
        <p:spPr bwMode="auto">
          <a:xfrm>
            <a:off x="1447800" y="365760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5317" name="Rectangle 21"/>
          <p:cNvSpPr>
            <a:spLocks noChangeArrowheads="1"/>
          </p:cNvSpPr>
          <p:nvPr/>
        </p:nvSpPr>
        <p:spPr bwMode="auto">
          <a:xfrm>
            <a:off x="34893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55318" name="Rectangle 22"/>
          <p:cNvSpPr>
            <a:spLocks noChangeArrowheads="1"/>
          </p:cNvSpPr>
          <p:nvPr/>
        </p:nvSpPr>
        <p:spPr bwMode="auto">
          <a:xfrm>
            <a:off x="1127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55319" name="Rectangle 23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55320" name="Rectangle 24"/>
          <p:cNvSpPr>
            <a:spLocks noChangeArrowheads="1"/>
          </p:cNvSpPr>
          <p:nvPr/>
        </p:nvSpPr>
        <p:spPr bwMode="auto">
          <a:xfrm>
            <a:off x="52419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55321" name="Rectangle 25"/>
          <p:cNvSpPr>
            <a:spLocks noChangeArrowheads="1"/>
          </p:cNvSpPr>
          <p:nvPr/>
        </p:nvSpPr>
        <p:spPr bwMode="auto">
          <a:xfrm>
            <a:off x="7604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55322" name="Rectangle 26"/>
          <p:cNvSpPr>
            <a:spLocks noChangeArrowheads="1"/>
          </p:cNvSpPr>
          <p:nvPr/>
        </p:nvSpPr>
        <p:spPr bwMode="auto">
          <a:xfrm>
            <a:off x="517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55323" name="Rectangle 27"/>
          <p:cNvSpPr>
            <a:spLocks noChangeArrowheads="1"/>
          </p:cNvSpPr>
          <p:nvPr/>
        </p:nvSpPr>
        <p:spPr bwMode="auto">
          <a:xfrm>
            <a:off x="1660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55324" name="Rectangle 28"/>
          <p:cNvSpPr>
            <a:spLocks noChangeArrowheads="1"/>
          </p:cNvSpPr>
          <p:nvPr/>
        </p:nvSpPr>
        <p:spPr bwMode="auto">
          <a:xfrm>
            <a:off x="64611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55325" name="Rectangle 29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55326" name="Oval 30"/>
          <p:cNvSpPr>
            <a:spLocks noChangeArrowheads="1"/>
          </p:cNvSpPr>
          <p:nvPr/>
        </p:nvSpPr>
        <p:spPr bwMode="auto">
          <a:xfrm>
            <a:off x="24447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5327" name="Line 31"/>
          <p:cNvSpPr>
            <a:spLocks noChangeShapeType="1"/>
          </p:cNvSpPr>
          <p:nvPr/>
        </p:nvSpPr>
        <p:spPr bwMode="auto">
          <a:xfrm flipH="1">
            <a:off x="2743200" y="3733800"/>
            <a:ext cx="2286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5328" name="Rectangle 32"/>
          <p:cNvSpPr>
            <a:spLocks noChangeArrowheads="1"/>
          </p:cNvSpPr>
          <p:nvPr/>
        </p:nvSpPr>
        <p:spPr bwMode="auto">
          <a:xfrm>
            <a:off x="2514600" y="4419600"/>
            <a:ext cx="228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55329" name="Oval 33"/>
          <p:cNvSpPr>
            <a:spLocks noChangeArrowheads="1"/>
          </p:cNvSpPr>
          <p:nvPr/>
        </p:nvSpPr>
        <p:spPr bwMode="auto">
          <a:xfrm>
            <a:off x="34353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55330" name="Line 34"/>
          <p:cNvSpPr>
            <a:spLocks noChangeShapeType="1"/>
          </p:cNvSpPr>
          <p:nvPr/>
        </p:nvSpPr>
        <p:spPr bwMode="auto">
          <a:xfrm>
            <a:off x="3200400" y="3657600"/>
            <a:ext cx="4572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5331" name="Rectangle 35"/>
          <p:cNvSpPr>
            <a:spLocks noChangeArrowheads="1"/>
          </p:cNvSpPr>
          <p:nvPr/>
        </p:nvSpPr>
        <p:spPr bwMode="auto">
          <a:xfrm>
            <a:off x="28797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9</a:t>
            </a:r>
          </a:p>
        </p:txBody>
      </p:sp>
      <p:sp>
        <p:nvSpPr>
          <p:cNvPr id="55332" name="Rectangle 36"/>
          <p:cNvSpPr>
            <a:spLocks noChangeArrowheads="1"/>
          </p:cNvSpPr>
          <p:nvPr/>
        </p:nvSpPr>
        <p:spPr bwMode="auto">
          <a:xfrm>
            <a:off x="2057400" y="25146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468779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400"/>
              <a:t>Removing The Max Element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5410200"/>
            <a:ext cx="6400800" cy="457200"/>
          </a:xfrm>
          <a:noFill/>
          <a:ln/>
        </p:spPr>
        <p:txBody>
          <a:bodyPr/>
          <a:lstStyle/>
          <a:p>
            <a:pPr marL="342900" indent="-342900" algn="l"/>
            <a:r>
              <a:rPr lang="en-US" altLang="en-US" sz="3200"/>
              <a:t>Heap with </a:t>
            </a:r>
            <a:r>
              <a:rPr lang="en-US" altLang="en-US" sz="3200">
                <a:solidFill>
                  <a:schemeClr val="hlink"/>
                </a:solidFill>
              </a:rPr>
              <a:t>10 </a:t>
            </a:r>
            <a:r>
              <a:rPr lang="en-US" altLang="en-US" sz="3200">
                <a:solidFill>
                  <a:schemeClr val="bg2"/>
                </a:solidFill>
              </a:rPr>
              <a:t>nodes.</a:t>
            </a:r>
          </a:p>
        </p:txBody>
      </p:sp>
      <p:sp>
        <p:nvSpPr>
          <p:cNvPr id="56324" name="Oval 4"/>
          <p:cNvSpPr>
            <a:spLocks noChangeArrowheads="1"/>
          </p:cNvSpPr>
          <p:nvPr/>
        </p:nvSpPr>
        <p:spPr bwMode="auto">
          <a:xfrm>
            <a:off x="4197350" y="1454150"/>
            <a:ext cx="444500" cy="4445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6325" name="Oval 5"/>
          <p:cNvSpPr>
            <a:spLocks noChangeArrowheads="1"/>
          </p:cNvSpPr>
          <p:nvPr/>
        </p:nvSpPr>
        <p:spPr bwMode="auto">
          <a:xfrm>
            <a:off x="20637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6326" name="Oval 6"/>
          <p:cNvSpPr>
            <a:spLocks noChangeArrowheads="1"/>
          </p:cNvSpPr>
          <p:nvPr/>
        </p:nvSpPr>
        <p:spPr bwMode="auto">
          <a:xfrm>
            <a:off x="64071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6327" name="Oval 7"/>
          <p:cNvSpPr>
            <a:spLocks noChangeArrowheads="1"/>
          </p:cNvSpPr>
          <p:nvPr/>
        </p:nvSpPr>
        <p:spPr bwMode="auto">
          <a:xfrm>
            <a:off x="1073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6328" name="Oval 8"/>
          <p:cNvSpPr>
            <a:spLocks noChangeArrowheads="1"/>
          </p:cNvSpPr>
          <p:nvPr/>
        </p:nvSpPr>
        <p:spPr bwMode="auto">
          <a:xfrm>
            <a:off x="28257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6329" name="Oval 9"/>
          <p:cNvSpPr>
            <a:spLocks noChangeArrowheads="1"/>
          </p:cNvSpPr>
          <p:nvPr/>
        </p:nvSpPr>
        <p:spPr bwMode="auto">
          <a:xfrm>
            <a:off x="51879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6330" name="Oval 10"/>
          <p:cNvSpPr>
            <a:spLocks noChangeArrowheads="1"/>
          </p:cNvSpPr>
          <p:nvPr/>
        </p:nvSpPr>
        <p:spPr bwMode="auto">
          <a:xfrm>
            <a:off x="7550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6331" name="Oval 11"/>
          <p:cNvSpPr>
            <a:spLocks noChangeArrowheads="1"/>
          </p:cNvSpPr>
          <p:nvPr/>
        </p:nvSpPr>
        <p:spPr bwMode="auto">
          <a:xfrm>
            <a:off x="463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6332" name="Oval 12"/>
          <p:cNvSpPr>
            <a:spLocks noChangeArrowheads="1"/>
          </p:cNvSpPr>
          <p:nvPr/>
        </p:nvSpPr>
        <p:spPr bwMode="auto">
          <a:xfrm>
            <a:off x="1606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6333" name="Line 13"/>
          <p:cNvSpPr>
            <a:spLocks noChangeShapeType="1"/>
          </p:cNvSpPr>
          <p:nvPr/>
        </p:nvSpPr>
        <p:spPr bwMode="auto">
          <a:xfrm flipH="1">
            <a:off x="2514600" y="1752600"/>
            <a:ext cx="1676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6334" name="Line 14"/>
          <p:cNvSpPr>
            <a:spLocks noChangeShapeType="1"/>
          </p:cNvSpPr>
          <p:nvPr/>
        </p:nvSpPr>
        <p:spPr bwMode="auto">
          <a:xfrm>
            <a:off x="4648200" y="175260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6335" name="Line 15"/>
          <p:cNvSpPr>
            <a:spLocks noChangeShapeType="1"/>
          </p:cNvSpPr>
          <p:nvPr/>
        </p:nvSpPr>
        <p:spPr bwMode="auto">
          <a:xfrm flipH="1">
            <a:off x="1371600" y="281940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6336" name="Line 16"/>
          <p:cNvSpPr>
            <a:spLocks noChangeShapeType="1"/>
          </p:cNvSpPr>
          <p:nvPr/>
        </p:nvSpPr>
        <p:spPr bwMode="auto">
          <a:xfrm>
            <a:off x="2438400" y="2819400"/>
            <a:ext cx="533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6337" name="Line 17"/>
          <p:cNvSpPr>
            <a:spLocks noChangeShapeType="1"/>
          </p:cNvSpPr>
          <p:nvPr/>
        </p:nvSpPr>
        <p:spPr bwMode="auto">
          <a:xfrm flipH="1">
            <a:off x="5562600" y="2895600"/>
            <a:ext cx="914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6338" name="Line 18"/>
          <p:cNvSpPr>
            <a:spLocks noChangeShapeType="1"/>
          </p:cNvSpPr>
          <p:nvPr/>
        </p:nvSpPr>
        <p:spPr bwMode="auto">
          <a:xfrm>
            <a:off x="6781800" y="2819400"/>
            <a:ext cx="838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6339" name="Line 19"/>
          <p:cNvSpPr>
            <a:spLocks noChangeShapeType="1"/>
          </p:cNvSpPr>
          <p:nvPr/>
        </p:nvSpPr>
        <p:spPr bwMode="auto">
          <a:xfrm flipH="1">
            <a:off x="762000" y="365760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6340" name="Line 20"/>
          <p:cNvSpPr>
            <a:spLocks noChangeShapeType="1"/>
          </p:cNvSpPr>
          <p:nvPr/>
        </p:nvSpPr>
        <p:spPr bwMode="auto">
          <a:xfrm>
            <a:off x="1447800" y="365760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6341" name="Rectangle 21"/>
          <p:cNvSpPr>
            <a:spLocks noChangeArrowheads="1"/>
          </p:cNvSpPr>
          <p:nvPr/>
        </p:nvSpPr>
        <p:spPr bwMode="auto">
          <a:xfrm>
            <a:off x="34893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56342" name="Rectangle 22"/>
          <p:cNvSpPr>
            <a:spLocks noChangeArrowheads="1"/>
          </p:cNvSpPr>
          <p:nvPr/>
        </p:nvSpPr>
        <p:spPr bwMode="auto">
          <a:xfrm>
            <a:off x="1127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56343" name="Rectangle 23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56344" name="Rectangle 24"/>
          <p:cNvSpPr>
            <a:spLocks noChangeArrowheads="1"/>
          </p:cNvSpPr>
          <p:nvPr/>
        </p:nvSpPr>
        <p:spPr bwMode="auto">
          <a:xfrm>
            <a:off x="52419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56345" name="Rectangle 25"/>
          <p:cNvSpPr>
            <a:spLocks noChangeArrowheads="1"/>
          </p:cNvSpPr>
          <p:nvPr/>
        </p:nvSpPr>
        <p:spPr bwMode="auto">
          <a:xfrm>
            <a:off x="7604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56346" name="Rectangle 26"/>
          <p:cNvSpPr>
            <a:spLocks noChangeArrowheads="1"/>
          </p:cNvSpPr>
          <p:nvPr/>
        </p:nvSpPr>
        <p:spPr bwMode="auto">
          <a:xfrm>
            <a:off x="517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56347" name="Rectangle 27"/>
          <p:cNvSpPr>
            <a:spLocks noChangeArrowheads="1"/>
          </p:cNvSpPr>
          <p:nvPr/>
        </p:nvSpPr>
        <p:spPr bwMode="auto">
          <a:xfrm>
            <a:off x="1660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56348" name="Rectangle 28"/>
          <p:cNvSpPr>
            <a:spLocks noChangeArrowheads="1"/>
          </p:cNvSpPr>
          <p:nvPr/>
        </p:nvSpPr>
        <p:spPr bwMode="auto">
          <a:xfrm>
            <a:off x="64611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56349" name="Rectangle 29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56350" name="Oval 30"/>
          <p:cNvSpPr>
            <a:spLocks noChangeArrowheads="1"/>
          </p:cNvSpPr>
          <p:nvPr/>
        </p:nvSpPr>
        <p:spPr bwMode="auto">
          <a:xfrm>
            <a:off x="24447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6351" name="Line 31"/>
          <p:cNvSpPr>
            <a:spLocks noChangeShapeType="1"/>
          </p:cNvSpPr>
          <p:nvPr/>
        </p:nvSpPr>
        <p:spPr bwMode="auto">
          <a:xfrm flipH="1">
            <a:off x="2743200" y="3733800"/>
            <a:ext cx="2286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6352" name="Rectangle 32"/>
          <p:cNvSpPr>
            <a:spLocks noChangeArrowheads="1"/>
          </p:cNvSpPr>
          <p:nvPr/>
        </p:nvSpPr>
        <p:spPr bwMode="auto">
          <a:xfrm>
            <a:off x="2514600" y="4419600"/>
            <a:ext cx="228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56353" name="Oval 33"/>
          <p:cNvSpPr>
            <a:spLocks noChangeArrowheads="1"/>
          </p:cNvSpPr>
          <p:nvPr/>
        </p:nvSpPr>
        <p:spPr bwMode="auto">
          <a:xfrm>
            <a:off x="3435350" y="4349750"/>
            <a:ext cx="444500" cy="444500"/>
          </a:xfrm>
          <a:prstGeom prst="ellipse">
            <a:avLst/>
          </a:prstGeom>
          <a:solidFill>
            <a:srgbClr val="F0F36F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56354" name="Rectangle 34"/>
          <p:cNvSpPr>
            <a:spLocks noChangeArrowheads="1"/>
          </p:cNvSpPr>
          <p:nvPr/>
        </p:nvSpPr>
        <p:spPr bwMode="auto">
          <a:xfrm>
            <a:off x="28797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9</a:t>
            </a:r>
          </a:p>
        </p:txBody>
      </p:sp>
      <p:sp>
        <p:nvSpPr>
          <p:cNvPr id="56355" name="Rectangle 35"/>
          <p:cNvSpPr>
            <a:spLocks noChangeArrowheads="1"/>
          </p:cNvSpPr>
          <p:nvPr/>
        </p:nvSpPr>
        <p:spPr bwMode="auto">
          <a:xfrm>
            <a:off x="2057400" y="25146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15</a:t>
            </a:r>
          </a:p>
        </p:txBody>
      </p:sp>
      <p:sp>
        <p:nvSpPr>
          <p:cNvPr id="56356" name="Rectangle 36"/>
          <p:cNvSpPr>
            <a:spLocks noChangeArrowheads="1"/>
          </p:cNvSpPr>
          <p:nvPr/>
        </p:nvSpPr>
        <p:spPr bwMode="auto">
          <a:xfrm>
            <a:off x="1447800" y="6019800"/>
            <a:ext cx="6400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>
                <a:solidFill>
                  <a:schemeClr val="bg2"/>
                </a:solidFill>
              </a:rPr>
              <a:t>Reinsert </a:t>
            </a:r>
            <a:r>
              <a:rPr lang="en-US" altLang="en-US" sz="3200">
                <a:solidFill>
                  <a:schemeClr val="hlink"/>
                </a:solidFill>
              </a:rPr>
              <a:t>8 </a:t>
            </a:r>
            <a:r>
              <a:rPr lang="en-US" altLang="en-US" sz="3200">
                <a:solidFill>
                  <a:schemeClr val="bg2"/>
                </a:solidFill>
              </a:rPr>
              <a:t>into the heap.</a:t>
            </a:r>
          </a:p>
        </p:txBody>
      </p:sp>
    </p:spTree>
    <p:extLst>
      <p:ext uri="{BB962C8B-B14F-4D97-AF65-F5344CB8AC3E}">
        <p14:creationId xmlns:p14="http://schemas.microsoft.com/office/powerpoint/2010/main" val="1453440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56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400"/>
              <a:t>Removing The Max Element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5410200"/>
            <a:ext cx="6400800" cy="228600"/>
          </a:xfrm>
          <a:noFill/>
          <a:ln/>
        </p:spPr>
        <p:txBody>
          <a:bodyPr/>
          <a:lstStyle/>
          <a:p>
            <a:pPr marL="342900" indent="-342900" algn="l"/>
            <a:r>
              <a:rPr lang="en-US" altLang="en-US" sz="3200">
                <a:solidFill>
                  <a:schemeClr val="bg2"/>
                </a:solidFill>
              </a:rPr>
              <a:t>Reinsert </a:t>
            </a:r>
            <a:r>
              <a:rPr lang="en-US" altLang="en-US" sz="3200">
                <a:solidFill>
                  <a:schemeClr val="hlink"/>
                </a:solidFill>
              </a:rPr>
              <a:t>8 </a:t>
            </a:r>
            <a:r>
              <a:rPr lang="en-US" altLang="en-US" sz="3200">
                <a:solidFill>
                  <a:schemeClr val="bg2"/>
                </a:solidFill>
              </a:rPr>
              <a:t>into the heap.</a:t>
            </a:r>
          </a:p>
        </p:txBody>
      </p:sp>
      <p:sp>
        <p:nvSpPr>
          <p:cNvPr id="57348" name="Oval 4"/>
          <p:cNvSpPr>
            <a:spLocks noChangeArrowheads="1"/>
          </p:cNvSpPr>
          <p:nvPr/>
        </p:nvSpPr>
        <p:spPr bwMode="auto">
          <a:xfrm>
            <a:off x="4197350" y="1454150"/>
            <a:ext cx="444500" cy="4445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49" name="Oval 5"/>
          <p:cNvSpPr>
            <a:spLocks noChangeArrowheads="1"/>
          </p:cNvSpPr>
          <p:nvPr/>
        </p:nvSpPr>
        <p:spPr bwMode="auto">
          <a:xfrm>
            <a:off x="20637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50" name="Oval 6"/>
          <p:cNvSpPr>
            <a:spLocks noChangeArrowheads="1"/>
          </p:cNvSpPr>
          <p:nvPr/>
        </p:nvSpPr>
        <p:spPr bwMode="auto">
          <a:xfrm>
            <a:off x="64071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51" name="Oval 7"/>
          <p:cNvSpPr>
            <a:spLocks noChangeArrowheads="1"/>
          </p:cNvSpPr>
          <p:nvPr/>
        </p:nvSpPr>
        <p:spPr bwMode="auto">
          <a:xfrm>
            <a:off x="1073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52" name="Oval 8"/>
          <p:cNvSpPr>
            <a:spLocks noChangeArrowheads="1"/>
          </p:cNvSpPr>
          <p:nvPr/>
        </p:nvSpPr>
        <p:spPr bwMode="auto">
          <a:xfrm>
            <a:off x="28257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53" name="Oval 9"/>
          <p:cNvSpPr>
            <a:spLocks noChangeArrowheads="1"/>
          </p:cNvSpPr>
          <p:nvPr/>
        </p:nvSpPr>
        <p:spPr bwMode="auto">
          <a:xfrm>
            <a:off x="51879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54" name="Oval 10"/>
          <p:cNvSpPr>
            <a:spLocks noChangeArrowheads="1"/>
          </p:cNvSpPr>
          <p:nvPr/>
        </p:nvSpPr>
        <p:spPr bwMode="auto">
          <a:xfrm>
            <a:off x="7550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55" name="Oval 11"/>
          <p:cNvSpPr>
            <a:spLocks noChangeArrowheads="1"/>
          </p:cNvSpPr>
          <p:nvPr/>
        </p:nvSpPr>
        <p:spPr bwMode="auto">
          <a:xfrm>
            <a:off x="463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56" name="Oval 12"/>
          <p:cNvSpPr>
            <a:spLocks noChangeArrowheads="1"/>
          </p:cNvSpPr>
          <p:nvPr/>
        </p:nvSpPr>
        <p:spPr bwMode="auto">
          <a:xfrm>
            <a:off x="1606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57" name="Line 13"/>
          <p:cNvSpPr>
            <a:spLocks noChangeShapeType="1"/>
          </p:cNvSpPr>
          <p:nvPr/>
        </p:nvSpPr>
        <p:spPr bwMode="auto">
          <a:xfrm flipH="1">
            <a:off x="2514600" y="1752600"/>
            <a:ext cx="1676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7358" name="Line 14"/>
          <p:cNvSpPr>
            <a:spLocks noChangeShapeType="1"/>
          </p:cNvSpPr>
          <p:nvPr/>
        </p:nvSpPr>
        <p:spPr bwMode="auto">
          <a:xfrm>
            <a:off x="4648200" y="175260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7359" name="Line 15"/>
          <p:cNvSpPr>
            <a:spLocks noChangeShapeType="1"/>
          </p:cNvSpPr>
          <p:nvPr/>
        </p:nvSpPr>
        <p:spPr bwMode="auto">
          <a:xfrm flipH="1">
            <a:off x="1371600" y="281940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7360" name="Line 16"/>
          <p:cNvSpPr>
            <a:spLocks noChangeShapeType="1"/>
          </p:cNvSpPr>
          <p:nvPr/>
        </p:nvSpPr>
        <p:spPr bwMode="auto">
          <a:xfrm>
            <a:off x="2438400" y="2819400"/>
            <a:ext cx="533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7361" name="Line 17"/>
          <p:cNvSpPr>
            <a:spLocks noChangeShapeType="1"/>
          </p:cNvSpPr>
          <p:nvPr/>
        </p:nvSpPr>
        <p:spPr bwMode="auto">
          <a:xfrm flipH="1">
            <a:off x="5562600" y="2895600"/>
            <a:ext cx="914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7362" name="Line 18"/>
          <p:cNvSpPr>
            <a:spLocks noChangeShapeType="1"/>
          </p:cNvSpPr>
          <p:nvPr/>
        </p:nvSpPr>
        <p:spPr bwMode="auto">
          <a:xfrm>
            <a:off x="6781800" y="2819400"/>
            <a:ext cx="838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7363" name="Line 19"/>
          <p:cNvSpPr>
            <a:spLocks noChangeShapeType="1"/>
          </p:cNvSpPr>
          <p:nvPr/>
        </p:nvSpPr>
        <p:spPr bwMode="auto">
          <a:xfrm flipH="1">
            <a:off x="762000" y="365760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7364" name="Line 20"/>
          <p:cNvSpPr>
            <a:spLocks noChangeShapeType="1"/>
          </p:cNvSpPr>
          <p:nvPr/>
        </p:nvSpPr>
        <p:spPr bwMode="auto">
          <a:xfrm>
            <a:off x="1447800" y="365760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7365" name="Rectangle 21"/>
          <p:cNvSpPr>
            <a:spLocks noChangeArrowheads="1"/>
          </p:cNvSpPr>
          <p:nvPr/>
        </p:nvSpPr>
        <p:spPr bwMode="auto">
          <a:xfrm>
            <a:off x="1127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57366" name="Rectangle 22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57367" name="Rectangle 23"/>
          <p:cNvSpPr>
            <a:spLocks noChangeArrowheads="1"/>
          </p:cNvSpPr>
          <p:nvPr/>
        </p:nvSpPr>
        <p:spPr bwMode="auto">
          <a:xfrm>
            <a:off x="52419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57368" name="Rectangle 24"/>
          <p:cNvSpPr>
            <a:spLocks noChangeArrowheads="1"/>
          </p:cNvSpPr>
          <p:nvPr/>
        </p:nvSpPr>
        <p:spPr bwMode="auto">
          <a:xfrm>
            <a:off x="7604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57369" name="Rectangle 25"/>
          <p:cNvSpPr>
            <a:spLocks noChangeArrowheads="1"/>
          </p:cNvSpPr>
          <p:nvPr/>
        </p:nvSpPr>
        <p:spPr bwMode="auto">
          <a:xfrm>
            <a:off x="517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57370" name="Rectangle 26"/>
          <p:cNvSpPr>
            <a:spLocks noChangeArrowheads="1"/>
          </p:cNvSpPr>
          <p:nvPr/>
        </p:nvSpPr>
        <p:spPr bwMode="auto">
          <a:xfrm>
            <a:off x="1660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57371" name="Rectangle 27"/>
          <p:cNvSpPr>
            <a:spLocks noChangeArrowheads="1"/>
          </p:cNvSpPr>
          <p:nvPr/>
        </p:nvSpPr>
        <p:spPr bwMode="auto">
          <a:xfrm>
            <a:off x="64611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57372" name="Rectangle 28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57373" name="Oval 29"/>
          <p:cNvSpPr>
            <a:spLocks noChangeArrowheads="1"/>
          </p:cNvSpPr>
          <p:nvPr/>
        </p:nvSpPr>
        <p:spPr bwMode="auto">
          <a:xfrm>
            <a:off x="24447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74" name="Line 30"/>
          <p:cNvSpPr>
            <a:spLocks noChangeShapeType="1"/>
          </p:cNvSpPr>
          <p:nvPr/>
        </p:nvSpPr>
        <p:spPr bwMode="auto">
          <a:xfrm flipH="1">
            <a:off x="2743200" y="3733800"/>
            <a:ext cx="2286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7375" name="Rectangle 31"/>
          <p:cNvSpPr>
            <a:spLocks noChangeArrowheads="1"/>
          </p:cNvSpPr>
          <p:nvPr/>
        </p:nvSpPr>
        <p:spPr bwMode="auto">
          <a:xfrm>
            <a:off x="2514600" y="4419600"/>
            <a:ext cx="228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57376" name="Rectangle 32"/>
          <p:cNvSpPr>
            <a:spLocks noChangeArrowheads="1"/>
          </p:cNvSpPr>
          <p:nvPr/>
        </p:nvSpPr>
        <p:spPr bwMode="auto">
          <a:xfrm>
            <a:off x="28797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9</a:t>
            </a:r>
          </a:p>
        </p:txBody>
      </p:sp>
      <p:sp>
        <p:nvSpPr>
          <p:cNvPr id="57377" name="Rectangle 33"/>
          <p:cNvSpPr>
            <a:spLocks noChangeArrowheads="1"/>
          </p:cNvSpPr>
          <p:nvPr/>
        </p:nvSpPr>
        <p:spPr bwMode="auto">
          <a:xfrm>
            <a:off x="2057400" y="25146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955294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400"/>
              <a:t>Removing The Max Element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5410200"/>
            <a:ext cx="6400800" cy="228600"/>
          </a:xfrm>
          <a:noFill/>
          <a:ln/>
        </p:spPr>
        <p:txBody>
          <a:bodyPr/>
          <a:lstStyle/>
          <a:p>
            <a:pPr marL="342900" indent="-342900" algn="l"/>
            <a:r>
              <a:rPr lang="en-US" altLang="en-US" sz="3200">
                <a:solidFill>
                  <a:schemeClr val="bg2"/>
                </a:solidFill>
              </a:rPr>
              <a:t>Reinsert </a:t>
            </a:r>
            <a:r>
              <a:rPr lang="en-US" altLang="en-US" sz="3200">
                <a:solidFill>
                  <a:schemeClr val="hlink"/>
                </a:solidFill>
              </a:rPr>
              <a:t>8 </a:t>
            </a:r>
            <a:r>
              <a:rPr lang="en-US" altLang="en-US" sz="3200">
                <a:solidFill>
                  <a:schemeClr val="bg2"/>
                </a:solidFill>
              </a:rPr>
              <a:t>into the heap.</a:t>
            </a:r>
          </a:p>
        </p:txBody>
      </p:sp>
      <p:sp>
        <p:nvSpPr>
          <p:cNvPr id="58372" name="Oval 4"/>
          <p:cNvSpPr>
            <a:spLocks noChangeArrowheads="1"/>
          </p:cNvSpPr>
          <p:nvPr/>
        </p:nvSpPr>
        <p:spPr bwMode="auto">
          <a:xfrm>
            <a:off x="4197350" y="14541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73" name="Oval 5"/>
          <p:cNvSpPr>
            <a:spLocks noChangeArrowheads="1"/>
          </p:cNvSpPr>
          <p:nvPr/>
        </p:nvSpPr>
        <p:spPr bwMode="auto">
          <a:xfrm>
            <a:off x="2063750" y="2444750"/>
            <a:ext cx="444500" cy="4445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74" name="Oval 6"/>
          <p:cNvSpPr>
            <a:spLocks noChangeArrowheads="1"/>
          </p:cNvSpPr>
          <p:nvPr/>
        </p:nvSpPr>
        <p:spPr bwMode="auto">
          <a:xfrm>
            <a:off x="64071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75" name="Oval 7"/>
          <p:cNvSpPr>
            <a:spLocks noChangeArrowheads="1"/>
          </p:cNvSpPr>
          <p:nvPr/>
        </p:nvSpPr>
        <p:spPr bwMode="auto">
          <a:xfrm>
            <a:off x="1073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76" name="Oval 8"/>
          <p:cNvSpPr>
            <a:spLocks noChangeArrowheads="1"/>
          </p:cNvSpPr>
          <p:nvPr/>
        </p:nvSpPr>
        <p:spPr bwMode="auto">
          <a:xfrm>
            <a:off x="28257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77" name="Oval 9"/>
          <p:cNvSpPr>
            <a:spLocks noChangeArrowheads="1"/>
          </p:cNvSpPr>
          <p:nvPr/>
        </p:nvSpPr>
        <p:spPr bwMode="auto">
          <a:xfrm>
            <a:off x="51879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78" name="Oval 10"/>
          <p:cNvSpPr>
            <a:spLocks noChangeArrowheads="1"/>
          </p:cNvSpPr>
          <p:nvPr/>
        </p:nvSpPr>
        <p:spPr bwMode="auto">
          <a:xfrm>
            <a:off x="7550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79" name="Oval 11"/>
          <p:cNvSpPr>
            <a:spLocks noChangeArrowheads="1"/>
          </p:cNvSpPr>
          <p:nvPr/>
        </p:nvSpPr>
        <p:spPr bwMode="auto">
          <a:xfrm>
            <a:off x="463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80" name="Oval 12"/>
          <p:cNvSpPr>
            <a:spLocks noChangeArrowheads="1"/>
          </p:cNvSpPr>
          <p:nvPr/>
        </p:nvSpPr>
        <p:spPr bwMode="auto">
          <a:xfrm>
            <a:off x="1606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81" name="Line 13"/>
          <p:cNvSpPr>
            <a:spLocks noChangeShapeType="1"/>
          </p:cNvSpPr>
          <p:nvPr/>
        </p:nvSpPr>
        <p:spPr bwMode="auto">
          <a:xfrm flipH="1">
            <a:off x="2514600" y="1752600"/>
            <a:ext cx="1676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8382" name="Line 14"/>
          <p:cNvSpPr>
            <a:spLocks noChangeShapeType="1"/>
          </p:cNvSpPr>
          <p:nvPr/>
        </p:nvSpPr>
        <p:spPr bwMode="auto">
          <a:xfrm>
            <a:off x="4648200" y="175260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8383" name="Line 15"/>
          <p:cNvSpPr>
            <a:spLocks noChangeShapeType="1"/>
          </p:cNvSpPr>
          <p:nvPr/>
        </p:nvSpPr>
        <p:spPr bwMode="auto">
          <a:xfrm flipH="1">
            <a:off x="1371600" y="281940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8384" name="Line 16"/>
          <p:cNvSpPr>
            <a:spLocks noChangeShapeType="1"/>
          </p:cNvSpPr>
          <p:nvPr/>
        </p:nvSpPr>
        <p:spPr bwMode="auto">
          <a:xfrm>
            <a:off x="2438400" y="2819400"/>
            <a:ext cx="533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8385" name="Line 17"/>
          <p:cNvSpPr>
            <a:spLocks noChangeShapeType="1"/>
          </p:cNvSpPr>
          <p:nvPr/>
        </p:nvSpPr>
        <p:spPr bwMode="auto">
          <a:xfrm flipH="1">
            <a:off x="5562600" y="2895600"/>
            <a:ext cx="914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8386" name="Line 18"/>
          <p:cNvSpPr>
            <a:spLocks noChangeShapeType="1"/>
          </p:cNvSpPr>
          <p:nvPr/>
        </p:nvSpPr>
        <p:spPr bwMode="auto">
          <a:xfrm>
            <a:off x="6781800" y="2819400"/>
            <a:ext cx="838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8387" name="Line 19"/>
          <p:cNvSpPr>
            <a:spLocks noChangeShapeType="1"/>
          </p:cNvSpPr>
          <p:nvPr/>
        </p:nvSpPr>
        <p:spPr bwMode="auto">
          <a:xfrm flipH="1">
            <a:off x="762000" y="365760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8388" name="Line 20"/>
          <p:cNvSpPr>
            <a:spLocks noChangeShapeType="1"/>
          </p:cNvSpPr>
          <p:nvPr/>
        </p:nvSpPr>
        <p:spPr bwMode="auto">
          <a:xfrm>
            <a:off x="1447800" y="365760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8389" name="Rectangle 21"/>
          <p:cNvSpPr>
            <a:spLocks noChangeArrowheads="1"/>
          </p:cNvSpPr>
          <p:nvPr/>
        </p:nvSpPr>
        <p:spPr bwMode="auto">
          <a:xfrm>
            <a:off x="1127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58390" name="Rectangle 22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58391" name="Rectangle 23"/>
          <p:cNvSpPr>
            <a:spLocks noChangeArrowheads="1"/>
          </p:cNvSpPr>
          <p:nvPr/>
        </p:nvSpPr>
        <p:spPr bwMode="auto">
          <a:xfrm>
            <a:off x="52419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58392" name="Rectangle 24"/>
          <p:cNvSpPr>
            <a:spLocks noChangeArrowheads="1"/>
          </p:cNvSpPr>
          <p:nvPr/>
        </p:nvSpPr>
        <p:spPr bwMode="auto">
          <a:xfrm>
            <a:off x="7604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58393" name="Rectangle 25"/>
          <p:cNvSpPr>
            <a:spLocks noChangeArrowheads="1"/>
          </p:cNvSpPr>
          <p:nvPr/>
        </p:nvSpPr>
        <p:spPr bwMode="auto">
          <a:xfrm>
            <a:off x="517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58394" name="Rectangle 26"/>
          <p:cNvSpPr>
            <a:spLocks noChangeArrowheads="1"/>
          </p:cNvSpPr>
          <p:nvPr/>
        </p:nvSpPr>
        <p:spPr bwMode="auto">
          <a:xfrm>
            <a:off x="1660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58395" name="Rectangle 27"/>
          <p:cNvSpPr>
            <a:spLocks noChangeArrowheads="1"/>
          </p:cNvSpPr>
          <p:nvPr/>
        </p:nvSpPr>
        <p:spPr bwMode="auto">
          <a:xfrm>
            <a:off x="64611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58396" name="Rectangle 28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58397" name="Oval 29"/>
          <p:cNvSpPr>
            <a:spLocks noChangeArrowheads="1"/>
          </p:cNvSpPr>
          <p:nvPr/>
        </p:nvSpPr>
        <p:spPr bwMode="auto">
          <a:xfrm>
            <a:off x="24447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98" name="Line 30"/>
          <p:cNvSpPr>
            <a:spLocks noChangeShapeType="1"/>
          </p:cNvSpPr>
          <p:nvPr/>
        </p:nvSpPr>
        <p:spPr bwMode="auto">
          <a:xfrm flipH="1">
            <a:off x="2743200" y="3733800"/>
            <a:ext cx="2286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8399" name="Rectangle 31"/>
          <p:cNvSpPr>
            <a:spLocks noChangeArrowheads="1"/>
          </p:cNvSpPr>
          <p:nvPr/>
        </p:nvSpPr>
        <p:spPr bwMode="auto">
          <a:xfrm>
            <a:off x="2514600" y="4419600"/>
            <a:ext cx="228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58400" name="Rectangle 32"/>
          <p:cNvSpPr>
            <a:spLocks noChangeArrowheads="1"/>
          </p:cNvSpPr>
          <p:nvPr/>
        </p:nvSpPr>
        <p:spPr bwMode="auto">
          <a:xfrm>
            <a:off x="28797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9</a:t>
            </a:r>
          </a:p>
        </p:txBody>
      </p:sp>
      <p:sp>
        <p:nvSpPr>
          <p:cNvPr id="58401" name="Rectangle 33"/>
          <p:cNvSpPr>
            <a:spLocks noChangeArrowheads="1"/>
          </p:cNvSpPr>
          <p:nvPr/>
        </p:nvSpPr>
        <p:spPr bwMode="auto">
          <a:xfrm>
            <a:off x="4191000" y="1447800"/>
            <a:ext cx="914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111143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400"/>
              <a:t>Removing The Max Element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5410200"/>
            <a:ext cx="6400800" cy="228600"/>
          </a:xfrm>
          <a:noFill/>
          <a:ln/>
        </p:spPr>
        <p:txBody>
          <a:bodyPr/>
          <a:lstStyle/>
          <a:p>
            <a:pPr marL="342900" indent="-342900" algn="l"/>
            <a:r>
              <a:rPr lang="en-US" altLang="en-US" sz="3200">
                <a:solidFill>
                  <a:schemeClr val="bg2"/>
                </a:solidFill>
              </a:rPr>
              <a:t>Reinsert </a:t>
            </a:r>
            <a:r>
              <a:rPr lang="en-US" altLang="en-US" sz="3200">
                <a:solidFill>
                  <a:schemeClr val="hlink"/>
                </a:solidFill>
              </a:rPr>
              <a:t>8 </a:t>
            </a:r>
            <a:r>
              <a:rPr lang="en-US" altLang="en-US" sz="3200">
                <a:solidFill>
                  <a:schemeClr val="bg2"/>
                </a:solidFill>
              </a:rPr>
              <a:t>into the heap.</a:t>
            </a:r>
          </a:p>
        </p:txBody>
      </p:sp>
      <p:sp>
        <p:nvSpPr>
          <p:cNvPr id="59396" name="Oval 4"/>
          <p:cNvSpPr>
            <a:spLocks noChangeArrowheads="1"/>
          </p:cNvSpPr>
          <p:nvPr/>
        </p:nvSpPr>
        <p:spPr bwMode="auto">
          <a:xfrm>
            <a:off x="4197350" y="14541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9397" name="Oval 5"/>
          <p:cNvSpPr>
            <a:spLocks noChangeArrowheads="1"/>
          </p:cNvSpPr>
          <p:nvPr/>
        </p:nvSpPr>
        <p:spPr bwMode="auto">
          <a:xfrm>
            <a:off x="20637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9398" name="Oval 6"/>
          <p:cNvSpPr>
            <a:spLocks noChangeArrowheads="1"/>
          </p:cNvSpPr>
          <p:nvPr/>
        </p:nvSpPr>
        <p:spPr bwMode="auto">
          <a:xfrm>
            <a:off x="64071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9399" name="Oval 7"/>
          <p:cNvSpPr>
            <a:spLocks noChangeArrowheads="1"/>
          </p:cNvSpPr>
          <p:nvPr/>
        </p:nvSpPr>
        <p:spPr bwMode="auto">
          <a:xfrm>
            <a:off x="1073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9400" name="Oval 8"/>
          <p:cNvSpPr>
            <a:spLocks noChangeArrowheads="1"/>
          </p:cNvSpPr>
          <p:nvPr/>
        </p:nvSpPr>
        <p:spPr bwMode="auto">
          <a:xfrm>
            <a:off x="2825750" y="3282950"/>
            <a:ext cx="444500" cy="4445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9401" name="Oval 9"/>
          <p:cNvSpPr>
            <a:spLocks noChangeArrowheads="1"/>
          </p:cNvSpPr>
          <p:nvPr/>
        </p:nvSpPr>
        <p:spPr bwMode="auto">
          <a:xfrm>
            <a:off x="51879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9402" name="Oval 10"/>
          <p:cNvSpPr>
            <a:spLocks noChangeArrowheads="1"/>
          </p:cNvSpPr>
          <p:nvPr/>
        </p:nvSpPr>
        <p:spPr bwMode="auto">
          <a:xfrm>
            <a:off x="7550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9403" name="Oval 11"/>
          <p:cNvSpPr>
            <a:spLocks noChangeArrowheads="1"/>
          </p:cNvSpPr>
          <p:nvPr/>
        </p:nvSpPr>
        <p:spPr bwMode="auto">
          <a:xfrm>
            <a:off x="463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9404" name="Oval 12"/>
          <p:cNvSpPr>
            <a:spLocks noChangeArrowheads="1"/>
          </p:cNvSpPr>
          <p:nvPr/>
        </p:nvSpPr>
        <p:spPr bwMode="auto">
          <a:xfrm>
            <a:off x="1606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9405" name="Line 13"/>
          <p:cNvSpPr>
            <a:spLocks noChangeShapeType="1"/>
          </p:cNvSpPr>
          <p:nvPr/>
        </p:nvSpPr>
        <p:spPr bwMode="auto">
          <a:xfrm flipH="1">
            <a:off x="2514600" y="1752600"/>
            <a:ext cx="1676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9406" name="Line 14"/>
          <p:cNvSpPr>
            <a:spLocks noChangeShapeType="1"/>
          </p:cNvSpPr>
          <p:nvPr/>
        </p:nvSpPr>
        <p:spPr bwMode="auto">
          <a:xfrm>
            <a:off x="4648200" y="175260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9407" name="Line 15"/>
          <p:cNvSpPr>
            <a:spLocks noChangeShapeType="1"/>
          </p:cNvSpPr>
          <p:nvPr/>
        </p:nvSpPr>
        <p:spPr bwMode="auto">
          <a:xfrm flipH="1">
            <a:off x="1371600" y="281940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9408" name="Line 16"/>
          <p:cNvSpPr>
            <a:spLocks noChangeShapeType="1"/>
          </p:cNvSpPr>
          <p:nvPr/>
        </p:nvSpPr>
        <p:spPr bwMode="auto">
          <a:xfrm>
            <a:off x="2438400" y="2819400"/>
            <a:ext cx="533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9409" name="Line 17"/>
          <p:cNvSpPr>
            <a:spLocks noChangeShapeType="1"/>
          </p:cNvSpPr>
          <p:nvPr/>
        </p:nvSpPr>
        <p:spPr bwMode="auto">
          <a:xfrm flipH="1">
            <a:off x="5562600" y="2895600"/>
            <a:ext cx="914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9410" name="Line 18"/>
          <p:cNvSpPr>
            <a:spLocks noChangeShapeType="1"/>
          </p:cNvSpPr>
          <p:nvPr/>
        </p:nvSpPr>
        <p:spPr bwMode="auto">
          <a:xfrm>
            <a:off x="6781800" y="2819400"/>
            <a:ext cx="838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9411" name="Line 19"/>
          <p:cNvSpPr>
            <a:spLocks noChangeShapeType="1"/>
          </p:cNvSpPr>
          <p:nvPr/>
        </p:nvSpPr>
        <p:spPr bwMode="auto">
          <a:xfrm flipH="1">
            <a:off x="762000" y="365760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9412" name="Line 20"/>
          <p:cNvSpPr>
            <a:spLocks noChangeShapeType="1"/>
          </p:cNvSpPr>
          <p:nvPr/>
        </p:nvSpPr>
        <p:spPr bwMode="auto">
          <a:xfrm>
            <a:off x="1447800" y="365760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9413" name="Rectangle 21"/>
          <p:cNvSpPr>
            <a:spLocks noChangeArrowheads="1"/>
          </p:cNvSpPr>
          <p:nvPr/>
        </p:nvSpPr>
        <p:spPr bwMode="auto">
          <a:xfrm>
            <a:off x="1127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59414" name="Rectangle 22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59415" name="Rectangle 23"/>
          <p:cNvSpPr>
            <a:spLocks noChangeArrowheads="1"/>
          </p:cNvSpPr>
          <p:nvPr/>
        </p:nvSpPr>
        <p:spPr bwMode="auto">
          <a:xfrm>
            <a:off x="52419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59416" name="Rectangle 24"/>
          <p:cNvSpPr>
            <a:spLocks noChangeArrowheads="1"/>
          </p:cNvSpPr>
          <p:nvPr/>
        </p:nvSpPr>
        <p:spPr bwMode="auto">
          <a:xfrm>
            <a:off x="7604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59417" name="Rectangle 25"/>
          <p:cNvSpPr>
            <a:spLocks noChangeArrowheads="1"/>
          </p:cNvSpPr>
          <p:nvPr/>
        </p:nvSpPr>
        <p:spPr bwMode="auto">
          <a:xfrm>
            <a:off x="517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59418" name="Rectangle 26"/>
          <p:cNvSpPr>
            <a:spLocks noChangeArrowheads="1"/>
          </p:cNvSpPr>
          <p:nvPr/>
        </p:nvSpPr>
        <p:spPr bwMode="auto">
          <a:xfrm>
            <a:off x="1660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59419" name="Rectangle 27"/>
          <p:cNvSpPr>
            <a:spLocks noChangeArrowheads="1"/>
          </p:cNvSpPr>
          <p:nvPr/>
        </p:nvSpPr>
        <p:spPr bwMode="auto">
          <a:xfrm>
            <a:off x="64611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59420" name="Rectangle 28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59421" name="Oval 29"/>
          <p:cNvSpPr>
            <a:spLocks noChangeArrowheads="1"/>
          </p:cNvSpPr>
          <p:nvPr/>
        </p:nvSpPr>
        <p:spPr bwMode="auto">
          <a:xfrm>
            <a:off x="24447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9422" name="Line 30"/>
          <p:cNvSpPr>
            <a:spLocks noChangeShapeType="1"/>
          </p:cNvSpPr>
          <p:nvPr/>
        </p:nvSpPr>
        <p:spPr bwMode="auto">
          <a:xfrm flipH="1">
            <a:off x="2743200" y="3733800"/>
            <a:ext cx="2286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9423" name="Rectangle 31"/>
          <p:cNvSpPr>
            <a:spLocks noChangeArrowheads="1"/>
          </p:cNvSpPr>
          <p:nvPr/>
        </p:nvSpPr>
        <p:spPr bwMode="auto">
          <a:xfrm>
            <a:off x="2514600" y="4419600"/>
            <a:ext cx="228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59424" name="Rectangle 32"/>
          <p:cNvSpPr>
            <a:spLocks noChangeArrowheads="1"/>
          </p:cNvSpPr>
          <p:nvPr/>
        </p:nvSpPr>
        <p:spPr bwMode="auto">
          <a:xfrm>
            <a:off x="21177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9</a:t>
            </a:r>
          </a:p>
        </p:txBody>
      </p:sp>
      <p:sp>
        <p:nvSpPr>
          <p:cNvPr id="59425" name="Rectangle 33"/>
          <p:cNvSpPr>
            <a:spLocks noChangeArrowheads="1"/>
          </p:cNvSpPr>
          <p:nvPr/>
        </p:nvSpPr>
        <p:spPr bwMode="auto">
          <a:xfrm>
            <a:off x="4191000" y="1447800"/>
            <a:ext cx="914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15</a:t>
            </a:r>
          </a:p>
        </p:txBody>
      </p:sp>
      <p:sp>
        <p:nvSpPr>
          <p:cNvPr id="59426" name="Rectangle 34"/>
          <p:cNvSpPr>
            <a:spLocks noChangeArrowheads="1"/>
          </p:cNvSpPr>
          <p:nvPr/>
        </p:nvSpPr>
        <p:spPr bwMode="auto">
          <a:xfrm>
            <a:off x="2895600" y="33528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372451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26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400"/>
              <a:t>Removing The Max Element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5410200"/>
            <a:ext cx="6400800" cy="228600"/>
          </a:xfrm>
          <a:noFill/>
          <a:ln/>
        </p:spPr>
        <p:txBody>
          <a:bodyPr/>
          <a:lstStyle/>
          <a:p>
            <a:pPr marL="342900" indent="-342900" algn="l"/>
            <a:r>
              <a:rPr lang="en-US" altLang="en-US" sz="3200">
                <a:solidFill>
                  <a:schemeClr val="bg2"/>
                </a:solidFill>
              </a:rPr>
              <a:t>Max element is </a:t>
            </a:r>
            <a:r>
              <a:rPr lang="en-US" altLang="en-US" sz="3200">
                <a:solidFill>
                  <a:schemeClr val="hlink"/>
                </a:solidFill>
              </a:rPr>
              <a:t>15</a:t>
            </a:r>
            <a:r>
              <a:rPr lang="en-US" altLang="en-US" sz="3200">
                <a:solidFill>
                  <a:schemeClr val="bg2"/>
                </a:solidFill>
              </a:rPr>
              <a:t>.</a:t>
            </a:r>
          </a:p>
        </p:txBody>
      </p:sp>
      <p:sp>
        <p:nvSpPr>
          <p:cNvPr id="60420" name="Oval 4"/>
          <p:cNvSpPr>
            <a:spLocks noChangeArrowheads="1"/>
          </p:cNvSpPr>
          <p:nvPr/>
        </p:nvSpPr>
        <p:spPr bwMode="auto">
          <a:xfrm>
            <a:off x="4197350" y="14541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0421" name="Oval 5"/>
          <p:cNvSpPr>
            <a:spLocks noChangeArrowheads="1"/>
          </p:cNvSpPr>
          <p:nvPr/>
        </p:nvSpPr>
        <p:spPr bwMode="auto">
          <a:xfrm>
            <a:off x="20637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0422" name="Oval 6"/>
          <p:cNvSpPr>
            <a:spLocks noChangeArrowheads="1"/>
          </p:cNvSpPr>
          <p:nvPr/>
        </p:nvSpPr>
        <p:spPr bwMode="auto">
          <a:xfrm>
            <a:off x="64071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0423" name="Oval 7"/>
          <p:cNvSpPr>
            <a:spLocks noChangeArrowheads="1"/>
          </p:cNvSpPr>
          <p:nvPr/>
        </p:nvSpPr>
        <p:spPr bwMode="auto">
          <a:xfrm>
            <a:off x="1073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0424" name="Oval 8"/>
          <p:cNvSpPr>
            <a:spLocks noChangeArrowheads="1"/>
          </p:cNvSpPr>
          <p:nvPr/>
        </p:nvSpPr>
        <p:spPr bwMode="auto">
          <a:xfrm>
            <a:off x="28257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0425" name="Oval 9"/>
          <p:cNvSpPr>
            <a:spLocks noChangeArrowheads="1"/>
          </p:cNvSpPr>
          <p:nvPr/>
        </p:nvSpPr>
        <p:spPr bwMode="auto">
          <a:xfrm>
            <a:off x="51879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0426" name="Oval 10"/>
          <p:cNvSpPr>
            <a:spLocks noChangeArrowheads="1"/>
          </p:cNvSpPr>
          <p:nvPr/>
        </p:nvSpPr>
        <p:spPr bwMode="auto">
          <a:xfrm>
            <a:off x="7550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0427" name="Oval 11"/>
          <p:cNvSpPr>
            <a:spLocks noChangeArrowheads="1"/>
          </p:cNvSpPr>
          <p:nvPr/>
        </p:nvSpPr>
        <p:spPr bwMode="auto">
          <a:xfrm>
            <a:off x="463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0428" name="Oval 12"/>
          <p:cNvSpPr>
            <a:spLocks noChangeArrowheads="1"/>
          </p:cNvSpPr>
          <p:nvPr/>
        </p:nvSpPr>
        <p:spPr bwMode="auto">
          <a:xfrm>
            <a:off x="1606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0429" name="Line 13"/>
          <p:cNvSpPr>
            <a:spLocks noChangeShapeType="1"/>
          </p:cNvSpPr>
          <p:nvPr/>
        </p:nvSpPr>
        <p:spPr bwMode="auto">
          <a:xfrm flipH="1">
            <a:off x="2514600" y="1752600"/>
            <a:ext cx="1676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0430" name="Line 14"/>
          <p:cNvSpPr>
            <a:spLocks noChangeShapeType="1"/>
          </p:cNvSpPr>
          <p:nvPr/>
        </p:nvSpPr>
        <p:spPr bwMode="auto">
          <a:xfrm>
            <a:off x="4648200" y="175260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0431" name="Line 15"/>
          <p:cNvSpPr>
            <a:spLocks noChangeShapeType="1"/>
          </p:cNvSpPr>
          <p:nvPr/>
        </p:nvSpPr>
        <p:spPr bwMode="auto">
          <a:xfrm flipH="1">
            <a:off x="1371600" y="281940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0432" name="Line 16"/>
          <p:cNvSpPr>
            <a:spLocks noChangeShapeType="1"/>
          </p:cNvSpPr>
          <p:nvPr/>
        </p:nvSpPr>
        <p:spPr bwMode="auto">
          <a:xfrm>
            <a:off x="2438400" y="2819400"/>
            <a:ext cx="533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0433" name="Line 17"/>
          <p:cNvSpPr>
            <a:spLocks noChangeShapeType="1"/>
          </p:cNvSpPr>
          <p:nvPr/>
        </p:nvSpPr>
        <p:spPr bwMode="auto">
          <a:xfrm flipH="1">
            <a:off x="5562600" y="2895600"/>
            <a:ext cx="914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0434" name="Line 18"/>
          <p:cNvSpPr>
            <a:spLocks noChangeShapeType="1"/>
          </p:cNvSpPr>
          <p:nvPr/>
        </p:nvSpPr>
        <p:spPr bwMode="auto">
          <a:xfrm>
            <a:off x="6781800" y="2819400"/>
            <a:ext cx="838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0435" name="Line 19"/>
          <p:cNvSpPr>
            <a:spLocks noChangeShapeType="1"/>
          </p:cNvSpPr>
          <p:nvPr/>
        </p:nvSpPr>
        <p:spPr bwMode="auto">
          <a:xfrm flipH="1">
            <a:off x="762000" y="365760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0436" name="Line 20"/>
          <p:cNvSpPr>
            <a:spLocks noChangeShapeType="1"/>
          </p:cNvSpPr>
          <p:nvPr/>
        </p:nvSpPr>
        <p:spPr bwMode="auto">
          <a:xfrm>
            <a:off x="1447800" y="365760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0437" name="Rectangle 21"/>
          <p:cNvSpPr>
            <a:spLocks noChangeArrowheads="1"/>
          </p:cNvSpPr>
          <p:nvPr/>
        </p:nvSpPr>
        <p:spPr bwMode="auto">
          <a:xfrm>
            <a:off x="1127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60438" name="Rectangle 22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60439" name="Rectangle 23"/>
          <p:cNvSpPr>
            <a:spLocks noChangeArrowheads="1"/>
          </p:cNvSpPr>
          <p:nvPr/>
        </p:nvSpPr>
        <p:spPr bwMode="auto">
          <a:xfrm>
            <a:off x="52419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60440" name="Rectangle 24"/>
          <p:cNvSpPr>
            <a:spLocks noChangeArrowheads="1"/>
          </p:cNvSpPr>
          <p:nvPr/>
        </p:nvSpPr>
        <p:spPr bwMode="auto">
          <a:xfrm>
            <a:off x="7604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60441" name="Rectangle 25"/>
          <p:cNvSpPr>
            <a:spLocks noChangeArrowheads="1"/>
          </p:cNvSpPr>
          <p:nvPr/>
        </p:nvSpPr>
        <p:spPr bwMode="auto">
          <a:xfrm>
            <a:off x="517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60442" name="Rectangle 26"/>
          <p:cNvSpPr>
            <a:spLocks noChangeArrowheads="1"/>
          </p:cNvSpPr>
          <p:nvPr/>
        </p:nvSpPr>
        <p:spPr bwMode="auto">
          <a:xfrm>
            <a:off x="1660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60443" name="Rectangle 27"/>
          <p:cNvSpPr>
            <a:spLocks noChangeArrowheads="1"/>
          </p:cNvSpPr>
          <p:nvPr/>
        </p:nvSpPr>
        <p:spPr bwMode="auto">
          <a:xfrm>
            <a:off x="64611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60444" name="Rectangle 28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60445" name="Oval 29"/>
          <p:cNvSpPr>
            <a:spLocks noChangeArrowheads="1"/>
          </p:cNvSpPr>
          <p:nvPr/>
        </p:nvSpPr>
        <p:spPr bwMode="auto">
          <a:xfrm>
            <a:off x="24447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0446" name="Line 30"/>
          <p:cNvSpPr>
            <a:spLocks noChangeShapeType="1"/>
          </p:cNvSpPr>
          <p:nvPr/>
        </p:nvSpPr>
        <p:spPr bwMode="auto">
          <a:xfrm flipH="1">
            <a:off x="2743200" y="3733800"/>
            <a:ext cx="2286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0447" name="Rectangle 31"/>
          <p:cNvSpPr>
            <a:spLocks noChangeArrowheads="1"/>
          </p:cNvSpPr>
          <p:nvPr/>
        </p:nvSpPr>
        <p:spPr bwMode="auto">
          <a:xfrm>
            <a:off x="2514600" y="4419600"/>
            <a:ext cx="228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60448" name="Rectangle 32"/>
          <p:cNvSpPr>
            <a:spLocks noChangeArrowheads="1"/>
          </p:cNvSpPr>
          <p:nvPr/>
        </p:nvSpPr>
        <p:spPr bwMode="auto">
          <a:xfrm>
            <a:off x="21177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9</a:t>
            </a:r>
          </a:p>
        </p:txBody>
      </p:sp>
      <p:sp>
        <p:nvSpPr>
          <p:cNvPr id="60449" name="Rectangle 33"/>
          <p:cNvSpPr>
            <a:spLocks noChangeArrowheads="1"/>
          </p:cNvSpPr>
          <p:nvPr/>
        </p:nvSpPr>
        <p:spPr bwMode="auto">
          <a:xfrm>
            <a:off x="4191000" y="1447800"/>
            <a:ext cx="914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15</a:t>
            </a:r>
          </a:p>
        </p:txBody>
      </p:sp>
      <p:sp>
        <p:nvSpPr>
          <p:cNvPr id="60450" name="Rectangle 34"/>
          <p:cNvSpPr>
            <a:spLocks noChangeArrowheads="1"/>
          </p:cNvSpPr>
          <p:nvPr/>
        </p:nvSpPr>
        <p:spPr bwMode="auto">
          <a:xfrm>
            <a:off x="2895600" y="33528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525721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400"/>
              <a:t>Removing The Max Element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5410200"/>
            <a:ext cx="6400800" cy="228600"/>
          </a:xfrm>
          <a:noFill/>
          <a:ln/>
        </p:spPr>
        <p:txBody>
          <a:bodyPr/>
          <a:lstStyle/>
          <a:p>
            <a:pPr marL="342900" indent="-342900" algn="l"/>
            <a:r>
              <a:rPr lang="en-US" altLang="en-US" sz="3200">
                <a:solidFill>
                  <a:schemeClr val="bg2"/>
                </a:solidFill>
              </a:rPr>
              <a:t>After max element is removed.</a:t>
            </a:r>
          </a:p>
        </p:txBody>
      </p:sp>
      <p:sp>
        <p:nvSpPr>
          <p:cNvPr id="61444" name="Oval 4"/>
          <p:cNvSpPr>
            <a:spLocks noChangeArrowheads="1"/>
          </p:cNvSpPr>
          <p:nvPr/>
        </p:nvSpPr>
        <p:spPr bwMode="auto">
          <a:xfrm>
            <a:off x="4197350" y="1454150"/>
            <a:ext cx="444500" cy="4445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5" name="Oval 5"/>
          <p:cNvSpPr>
            <a:spLocks noChangeArrowheads="1"/>
          </p:cNvSpPr>
          <p:nvPr/>
        </p:nvSpPr>
        <p:spPr bwMode="auto">
          <a:xfrm>
            <a:off x="20637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6" name="Oval 6"/>
          <p:cNvSpPr>
            <a:spLocks noChangeArrowheads="1"/>
          </p:cNvSpPr>
          <p:nvPr/>
        </p:nvSpPr>
        <p:spPr bwMode="auto">
          <a:xfrm>
            <a:off x="64071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7" name="Oval 7"/>
          <p:cNvSpPr>
            <a:spLocks noChangeArrowheads="1"/>
          </p:cNvSpPr>
          <p:nvPr/>
        </p:nvSpPr>
        <p:spPr bwMode="auto">
          <a:xfrm>
            <a:off x="1073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8" name="Oval 8"/>
          <p:cNvSpPr>
            <a:spLocks noChangeArrowheads="1"/>
          </p:cNvSpPr>
          <p:nvPr/>
        </p:nvSpPr>
        <p:spPr bwMode="auto">
          <a:xfrm>
            <a:off x="28257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9" name="Oval 9"/>
          <p:cNvSpPr>
            <a:spLocks noChangeArrowheads="1"/>
          </p:cNvSpPr>
          <p:nvPr/>
        </p:nvSpPr>
        <p:spPr bwMode="auto">
          <a:xfrm>
            <a:off x="51879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50" name="Oval 10"/>
          <p:cNvSpPr>
            <a:spLocks noChangeArrowheads="1"/>
          </p:cNvSpPr>
          <p:nvPr/>
        </p:nvSpPr>
        <p:spPr bwMode="auto">
          <a:xfrm>
            <a:off x="7550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51" name="Oval 11"/>
          <p:cNvSpPr>
            <a:spLocks noChangeArrowheads="1"/>
          </p:cNvSpPr>
          <p:nvPr/>
        </p:nvSpPr>
        <p:spPr bwMode="auto">
          <a:xfrm>
            <a:off x="463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52" name="Oval 12"/>
          <p:cNvSpPr>
            <a:spLocks noChangeArrowheads="1"/>
          </p:cNvSpPr>
          <p:nvPr/>
        </p:nvSpPr>
        <p:spPr bwMode="auto">
          <a:xfrm>
            <a:off x="1606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53" name="Line 13"/>
          <p:cNvSpPr>
            <a:spLocks noChangeShapeType="1"/>
          </p:cNvSpPr>
          <p:nvPr/>
        </p:nvSpPr>
        <p:spPr bwMode="auto">
          <a:xfrm flipH="1">
            <a:off x="2514600" y="1752600"/>
            <a:ext cx="1676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454" name="Line 14"/>
          <p:cNvSpPr>
            <a:spLocks noChangeShapeType="1"/>
          </p:cNvSpPr>
          <p:nvPr/>
        </p:nvSpPr>
        <p:spPr bwMode="auto">
          <a:xfrm>
            <a:off x="4648200" y="175260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455" name="Line 15"/>
          <p:cNvSpPr>
            <a:spLocks noChangeShapeType="1"/>
          </p:cNvSpPr>
          <p:nvPr/>
        </p:nvSpPr>
        <p:spPr bwMode="auto">
          <a:xfrm flipH="1">
            <a:off x="1371600" y="281940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456" name="Line 16"/>
          <p:cNvSpPr>
            <a:spLocks noChangeShapeType="1"/>
          </p:cNvSpPr>
          <p:nvPr/>
        </p:nvSpPr>
        <p:spPr bwMode="auto">
          <a:xfrm>
            <a:off x="2438400" y="2819400"/>
            <a:ext cx="533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457" name="Line 17"/>
          <p:cNvSpPr>
            <a:spLocks noChangeShapeType="1"/>
          </p:cNvSpPr>
          <p:nvPr/>
        </p:nvSpPr>
        <p:spPr bwMode="auto">
          <a:xfrm flipH="1">
            <a:off x="5562600" y="2895600"/>
            <a:ext cx="914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458" name="Line 18"/>
          <p:cNvSpPr>
            <a:spLocks noChangeShapeType="1"/>
          </p:cNvSpPr>
          <p:nvPr/>
        </p:nvSpPr>
        <p:spPr bwMode="auto">
          <a:xfrm>
            <a:off x="6781800" y="2819400"/>
            <a:ext cx="838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459" name="Line 19"/>
          <p:cNvSpPr>
            <a:spLocks noChangeShapeType="1"/>
          </p:cNvSpPr>
          <p:nvPr/>
        </p:nvSpPr>
        <p:spPr bwMode="auto">
          <a:xfrm flipH="1">
            <a:off x="762000" y="365760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460" name="Line 20"/>
          <p:cNvSpPr>
            <a:spLocks noChangeShapeType="1"/>
          </p:cNvSpPr>
          <p:nvPr/>
        </p:nvSpPr>
        <p:spPr bwMode="auto">
          <a:xfrm>
            <a:off x="1447800" y="365760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461" name="Rectangle 21"/>
          <p:cNvSpPr>
            <a:spLocks noChangeArrowheads="1"/>
          </p:cNvSpPr>
          <p:nvPr/>
        </p:nvSpPr>
        <p:spPr bwMode="auto">
          <a:xfrm>
            <a:off x="1127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61462" name="Rectangle 22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61463" name="Rectangle 23"/>
          <p:cNvSpPr>
            <a:spLocks noChangeArrowheads="1"/>
          </p:cNvSpPr>
          <p:nvPr/>
        </p:nvSpPr>
        <p:spPr bwMode="auto">
          <a:xfrm>
            <a:off x="52419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61464" name="Rectangle 24"/>
          <p:cNvSpPr>
            <a:spLocks noChangeArrowheads="1"/>
          </p:cNvSpPr>
          <p:nvPr/>
        </p:nvSpPr>
        <p:spPr bwMode="auto">
          <a:xfrm>
            <a:off x="7604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61465" name="Rectangle 25"/>
          <p:cNvSpPr>
            <a:spLocks noChangeArrowheads="1"/>
          </p:cNvSpPr>
          <p:nvPr/>
        </p:nvSpPr>
        <p:spPr bwMode="auto">
          <a:xfrm>
            <a:off x="517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61466" name="Rectangle 26"/>
          <p:cNvSpPr>
            <a:spLocks noChangeArrowheads="1"/>
          </p:cNvSpPr>
          <p:nvPr/>
        </p:nvSpPr>
        <p:spPr bwMode="auto">
          <a:xfrm>
            <a:off x="1660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61467" name="Rectangle 27"/>
          <p:cNvSpPr>
            <a:spLocks noChangeArrowheads="1"/>
          </p:cNvSpPr>
          <p:nvPr/>
        </p:nvSpPr>
        <p:spPr bwMode="auto">
          <a:xfrm>
            <a:off x="64611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61468" name="Rectangle 28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61469" name="Oval 29"/>
          <p:cNvSpPr>
            <a:spLocks noChangeArrowheads="1"/>
          </p:cNvSpPr>
          <p:nvPr/>
        </p:nvSpPr>
        <p:spPr bwMode="auto">
          <a:xfrm>
            <a:off x="24447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70" name="Line 30"/>
          <p:cNvSpPr>
            <a:spLocks noChangeShapeType="1"/>
          </p:cNvSpPr>
          <p:nvPr/>
        </p:nvSpPr>
        <p:spPr bwMode="auto">
          <a:xfrm flipH="1">
            <a:off x="2743200" y="3733800"/>
            <a:ext cx="2286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471" name="Rectangle 31"/>
          <p:cNvSpPr>
            <a:spLocks noChangeArrowheads="1"/>
          </p:cNvSpPr>
          <p:nvPr/>
        </p:nvSpPr>
        <p:spPr bwMode="auto">
          <a:xfrm>
            <a:off x="2514600" y="4419600"/>
            <a:ext cx="228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61472" name="Rectangle 32"/>
          <p:cNvSpPr>
            <a:spLocks noChangeArrowheads="1"/>
          </p:cNvSpPr>
          <p:nvPr/>
        </p:nvSpPr>
        <p:spPr bwMode="auto">
          <a:xfrm>
            <a:off x="21177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9</a:t>
            </a:r>
          </a:p>
        </p:txBody>
      </p:sp>
      <p:sp>
        <p:nvSpPr>
          <p:cNvPr id="61473" name="Rectangle 33"/>
          <p:cNvSpPr>
            <a:spLocks noChangeArrowheads="1"/>
          </p:cNvSpPr>
          <p:nvPr/>
        </p:nvSpPr>
        <p:spPr bwMode="auto">
          <a:xfrm>
            <a:off x="4191000" y="1447800"/>
            <a:ext cx="914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74" name="Rectangle 34"/>
          <p:cNvSpPr>
            <a:spLocks noChangeArrowheads="1"/>
          </p:cNvSpPr>
          <p:nvPr/>
        </p:nvSpPr>
        <p:spPr bwMode="auto">
          <a:xfrm>
            <a:off x="2895600" y="33528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64373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HeapSort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5696" y="2060848"/>
            <a:ext cx="4378027" cy="427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1804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5400000">
            <a:off x="1170191" y="-742281"/>
            <a:ext cx="6789419" cy="848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5656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 rot="5400000">
            <a:off x="1340182" y="-539981"/>
            <a:ext cx="6160617" cy="819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425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457200"/>
            <a:ext cx="7772400" cy="1143000"/>
          </a:xfrm>
          <a:noFill/>
          <a:ln/>
        </p:spPr>
        <p:txBody>
          <a:bodyPr anchor="ctr"/>
          <a:lstStyle/>
          <a:p>
            <a:r>
              <a:rPr lang="en-US" altLang="en-US" sz="4400"/>
              <a:t>Complexity Of Sorting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2057400"/>
            <a:ext cx="7696200" cy="3505200"/>
          </a:xfrm>
          <a:noFill/>
          <a:ln/>
        </p:spPr>
        <p:txBody>
          <a:bodyPr/>
          <a:lstStyle/>
          <a:p>
            <a:pPr marL="342900" indent="-342900" algn="l"/>
            <a:r>
              <a:rPr lang="en-US" altLang="en-US" sz="3200" dirty="0"/>
              <a:t>Sort </a:t>
            </a:r>
            <a:r>
              <a:rPr lang="en-US" altLang="en-US" sz="3200" dirty="0">
                <a:solidFill>
                  <a:schemeClr val="hlink"/>
                </a:solidFill>
              </a:rPr>
              <a:t>n </a:t>
            </a:r>
            <a:r>
              <a:rPr lang="en-US" altLang="en-US" sz="3200" dirty="0">
                <a:solidFill>
                  <a:schemeClr val="bg2"/>
                </a:solidFill>
              </a:rPr>
              <a:t>elements.</a:t>
            </a:r>
          </a:p>
          <a:p>
            <a:pPr marL="742950" lvl="1" indent="-285750" algn="l"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chemeClr val="hlink"/>
                </a:solidFill>
              </a:rPr>
              <a:t>n </a:t>
            </a:r>
            <a:r>
              <a:rPr lang="en-US" altLang="en-US" sz="2800" dirty="0">
                <a:solidFill>
                  <a:schemeClr val="bg2"/>
                </a:solidFill>
              </a:rPr>
              <a:t>insert operations </a:t>
            </a:r>
            <a:r>
              <a:rPr lang="en-US" altLang="en-US" sz="2800" dirty="0">
                <a:solidFill>
                  <a:schemeClr val="hlink"/>
                </a:solidFill>
              </a:rPr>
              <a:t>=&gt; O(n log n) </a:t>
            </a:r>
            <a:r>
              <a:rPr lang="en-US" altLang="en-US" sz="2800" dirty="0">
                <a:solidFill>
                  <a:schemeClr val="bg2"/>
                </a:solidFill>
              </a:rPr>
              <a:t>time.</a:t>
            </a:r>
          </a:p>
          <a:p>
            <a:pPr marL="742950" lvl="1" indent="-285750" algn="l"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chemeClr val="hlink"/>
                </a:solidFill>
              </a:rPr>
              <a:t>n</a:t>
            </a:r>
            <a:r>
              <a:rPr lang="en-US" altLang="en-US" sz="2800" dirty="0">
                <a:solidFill>
                  <a:schemeClr val="bg2"/>
                </a:solidFill>
              </a:rPr>
              <a:t> remove max operations </a:t>
            </a:r>
            <a:r>
              <a:rPr lang="en-US" altLang="en-US" sz="2800" dirty="0">
                <a:solidFill>
                  <a:schemeClr val="hlink"/>
                </a:solidFill>
              </a:rPr>
              <a:t>=&gt; O(n log n)</a:t>
            </a:r>
            <a:r>
              <a:rPr lang="en-US" altLang="en-US" sz="2800" dirty="0">
                <a:solidFill>
                  <a:schemeClr val="bg2"/>
                </a:solidFill>
              </a:rPr>
              <a:t> time.</a:t>
            </a:r>
          </a:p>
          <a:p>
            <a:pPr marL="742950" lvl="1" indent="-285750" algn="l"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chemeClr val="bg2"/>
                </a:solidFill>
              </a:rPr>
              <a:t>total time is </a:t>
            </a:r>
            <a:r>
              <a:rPr lang="en-US" altLang="en-US" sz="2800" dirty="0">
                <a:solidFill>
                  <a:schemeClr val="hlink"/>
                </a:solidFill>
              </a:rPr>
              <a:t>O(n log n)</a:t>
            </a:r>
            <a:r>
              <a:rPr lang="en-US" altLang="en-US" sz="2800" dirty="0">
                <a:solidFill>
                  <a:schemeClr val="bg2"/>
                </a:solidFill>
              </a:rPr>
              <a:t>.</a:t>
            </a:r>
          </a:p>
          <a:p>
            <a:pPr lvl="1" algn="l">
              <a:buClr>
                <a:schemeClr val="hlink"/>
              </a:buClr>
            </a:pPr>
            <a:endParaRPr lang="en-US" altLang="en-US" sz="2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830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 bldLvl="3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381000"/>
            <a:ext cx="7772400" cy="1143000"/>
          </a:xfrm>
          <a:noFill/>
          <a:ln/>
        </p:spPr>
        <p:txBody>
          <a:bodyPr anchor="ctr"/>
          <a:lstStyle/>
          <a:p>
            <a:r>
              <a:rPr lang="en-US" altLang="en-US" sz="4400"/>
              <a:t>Heap Sort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4800" y="2057400"/>
            <a:ext cx="8153400" cy="3429000"/>
          </a:xfrm>
          <a:noFill/>
          <a:ln/>
        </p:spPr>
        <p:txBody>
          <a:bodyPr/>
          <a:lstStyle/>
          <a:p>
            <a:pPr marL="342900" indent="-342900" algn="l"/>
            <a:r>
              <a:rPr lang="en-US" altLang="en-US" sz="3200" dirty="0"/>
              <a:t>Uses a max priority queue that is implemented as a heap.</a:t>
            </a:r>
          </a:p>
          <a:p>
            <a:pPr marL="342900" indent="-342900" algn="l"/>
            <a:endParaRPr lang="en-US" altLang="en-US" sz="3200" dirty="0"/>
          </a:p>
          <a:p>
            <a:pPr marL="342900" indent="-342900" algn="l"/>
            <a:r>
              <a:rPr lang="en-US" altLang="en-US" sz="3200" dirty="0"/>
              <a:t>Initial insert operations are replaced by a heap initialization step that takes </a:t>
            </a:r>
            <a:r>
              <a:rPr lang="en-US" altLang="en-US" sz="3200" dirty="0">
                <a:solidFill>
                  <a:schemeClr val="hlink"/>
                </a:solidFill>
              </a:rPr>
              <a:t>less</a:t>
            </a:r>
            <a:r>
              <a:rPr lang="en-US" altLang="en-US" sz="3200" dirty="0"/>
              <a:t> time.</a:t>
            </a:r>
          </a:p>
        </p:txBody>
      </p:sp>
    </p:spTree>
    <p:extLst>
      <p:ext uri="{BB962C8B-B14F-4D97-AF65-F5344CB8AC3E}">
        <p14:creationId xmlns:p14="http://schemas.microsoft.com/office/powerpoint/2010/main" val="925716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400"/>
              <a:t>Initializing A Max Heap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4800" y="5334000"/>
            <a:ext cx="8458200" cy="381000"/>
          </a:xfrm>
          <a:noFill/>
          <a:ln/>
        </p:spPr>
        <p:txBody>
          <a:bodyPr/>
          <a:lstStyle/>
          <a:p>
            <a:pPr marL="342900" indent="-342900"/>
            <a:r>
              <a:rPr lang="en-US" altLang="en-US" sz="3200">
                <a:solidFill>
                  <a:schemeClr val="bg2"/>
                </a:solidFill>
              </a:rPr>
              <a:t>input array = </a:t>
            </a:r>
            <a:r>
              <a:rPr lang="en-US" altLang="en-US" sz="3200">
                <a:solidFill>
                  <a:schemeClr val="hlink"/>
                </a:solidFill>
              </a:rPr>
              <a:t>[-, 1, 2, 3, 4, 5, 6, 7, 8, 9, 10, 11]</a:t>
            </a:r>
          </a:p>
        </p:txBody>
      </p:sp>
      <p:grpSp>
        <p:nvGrpSpPr>
          <p:cNvPr id="4134" name="Group 38"/>
          <p:cNvGrpSpPr>
            <a:grpSpLocks/>
          </p:cNvGrpSpPr>
          <p:nvPr/>
        </p:nvGrpSpPr>
        <p:grpSpPr bwMode="auto">
          <a:xfrm>
            <a:off x="463550" y="1454150"/>
            <a:ext cx="7531100" cy="3362325"/>
            <a:chOff x="292" y="916"/>
            <a:chExt cx="4744" cy="2118"/>
          </a:xfrm>
        </p:grpSpPr>
        <p:sp>
          <p:nvSpPr>
            <p:cNvPr id="4100" name="Oval 4"/>
            <p:cNvSpPr>
              <a:spLocks noChangeArrowheads="1"/>
            </p:cNvSpPr>
            <p:nvPr/>
          </p:nvSpPr>
          <p:spPr bwMode="auto">
            <a:xfrm>
              <a:off x="2644" y="91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01" name="Oval 5"/>
            <p:cNvSpPr>
              <a:spLocks noChangeArrowheads="1"/>
            </p:cNvSpPr>
            <p:nvPr/>
          </p:nvSpPr>
          <p:spPr bwMode="auto">
            <a:xfrm>
              <a:off x="1300" y="15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02" name="Oval 6"/>
            <p:cNvSpPr>
              <a:spLocks noChangeArrowheads="1"/>
            </p:cNvSpPr>
            <p:nvPr/>
          </p:nvSpPr>
          <p:spPr bwMode="auto">
            <a:xfrm>
              <a:off x="4036" y="15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03" name="Oval 7"/>
            <p:cNvSpPr>
              <a:spLocks noChangeArrowheads="1"/>
            </p:cNvSpPr>
            <p:nvPr/>
          </p:nvSpPr>
          <p:spPr bwMode="auto">
            <a:xfrm>
              <a:off x="676" y="206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04" name="Oval 8"/>
            <p:cNvSpPr>
              <a:spLocks noChangeArrowheads="1"/>
            </p:cNvSpPr>
            <p:nvPr/>
          </p:nvSpPr>
          <p:spPr bwMode="auto">
            <a:xfrm>
              <a:off x="1780" y="206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05" name="Oval 9"/>
            <p:cNvSpPr>
              <a:spLocks noChangeArrowheads="1"/>
            </p:cNvSpPr>
            <p:nvPr/>
          </p:nvSpPr>
          <p:spPr bwMode="auto">
            <a:xfrm>
              <a:off x="3268" y="206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06" name="Oval 10"/>
            <p:cNvSpPr>
              <a:spLocks noChangeArrowheads="1"/>
            </p:cNvSpPr>
            <p:nvPr/>
          </p:nvSpPr>
          <p:spPr bwMode="auto">
            <a:xfrm>
              <a:off x="4756" y="206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07" name="Oval 11"/>
            <p:cNvSpPr>
              <a:spLocks noChangeArrowheads="1"/>
            </p:cNvSpPr>
            <p:nvPr/>
          </p:nvSpPr>
          <p:spPr bwMode="auto">
            <a:xfrm>
              <a:off x="292" y="27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08" name="Oval 12"/>
            <p:cNvSpPr>
              <a:spLocks noChangeArrowheads="1"/>
            </p:cNvSpPr>
            <p:nvPr/>
          </p:nvSpPr>
          <p:spPr bwMode="auto">
            <a:xfrm>
              <a:off x="1012" y="27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09" name="Line 13"/>
            <p:cNvSpPr>
              <a:spLocks noChangeShapeType="1"/>
            </p:cNvSpPr>
            <p:nvPr/>
          </p:nvSpPr>
          <p:spPr bwMode="auto">
            <a:xfrm flipH="1">
              <a:off x="1584" y="1104"/>
              <a:ext cx="1056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10" name="Line 14"/>
            <p:cNvSpPr>
              <a:spLocks noChangeShapeType="1"/>
            </p:cNvSpPr>
            <p:nvPr/>
          </p:nvSpPr>
          <p:spPr bwMode="auto">
            <a:xfrm>
              <a:off x="2928" y="1104"/>
              <a:ext cx="1152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11" name="Line 15"/>
            <p:cNvSpPr>
              <a:spLocks noChangeShapeType="1"/>
            </p:cNvSpPr>
            <p:nvPr/>
          </p:nvSpPr>
          <p:spPr bwMode="auto">
            <a:xfrm flipH="1">
              <a:off x="864" y="1776"/>
              <a:ext cx="48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12" name="Line 16"/>
            <p:cNvSpPr>
              <a:spLocks noChangeShapeType="1"/>
            </p:cNvSpPr>
            <p:nvPr/>
          </p:nvSpPr>
          <p:spPr bwMode="auto">
            <a:xfrm>
              <a:off x="1536" y="1776"/>
              <a:ext cx="336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13" name="Line 17"/>
            <p:cNvSpPr>
              <a:spLocks noChangeShapeType="1"/>
            </p:cNvSpPr>
            <p:nvPr/>
          </p:nvSpPr>
          <p:spPr bwMode="auto">
            <a:xfrm flipH="1">
              <a:off x="3504" y="1824"/>
              <a:ext cx="576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14" name="Line 18"/>
            <p:cNvSpPr>
              <a:spLocks noChangeShapeType="1"/>
            </p:cNvSpPr>
            <p:nvPr/>
          </p:nvSpPr>
          <p:spPr bwMode="auto">
            <a:xfrm>
              <a:off x="4272" y="1776"/>
              <a:ext cx="528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15" name="Line 19"/>
            <p:cNvSpPr>
              <a:spLocks noChangeShapeType="1"/>
            </p:cNvSpPr>
            <p:nvPr/>
          </p:nvSpPr>
          <p:spPr bwMode="auto">
            <a:xfrm flipH="1">
              <a:off x="480" y="2304"/>
              <a:ext cx="24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16" name="Line 20"/>
            <p:cNvSpPr>
              <a:spLocks noChangeShapeType="1"/>
            </p:cNvSpPr>
            <p:nvPr/>
          </p:nvSpPr>
          <p:spPr bwMode="auto">
            <a:xfrm>
              <a:off x="912" y="2304"/>
              <a:ext cx="19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17" name="Rectangle 21"/>
            <p:cNvSpPr>
              <a:spLocks noChangeArrowheads="1"/>
            </p:cNvSpPr>
            <p:nvPr/>
          </p:nvSpPr>
          <p:spPr bwMode="auto">
            <a:xfrm>
              <a:off x="2198" y="275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8</a:t>
              </a:r>
            </a:p>
          </p:txBody>
        </p:sp>
        <p:sp>
          <p:nvSpPr>
            <p:cNvPr id="4118" name="Rectangle 22"/>
            <p:cNvSpPr>
              <a:spLocks noChangeArrowheads="1"/>
            </p:cNvSpPr>
            <p:nvPr/>
          </p:nvSpPr>
          <p:spPr bwMode="auto">
            <a:xfrm>
              <a:off x="710" y="208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4</a:t>
              </a:r>
            </a:p>
          </p:txBody>
        </p:sp>
        <p:sp>
          <p:nvSpPr>
            <p:cNvPr id="4119" name="Rectangle 23"/>
            <p:cNvSpPr>
              <a:spLocks noChangeArrowheads="1"/>
            </p:cNvSpPr>
            <p:nvPr/>
          </p:nvSpPr>
          <p:spPr bwMode="auto">
            <a:xfrm>
              <a:off x="1574" y="275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7</a:t>
              </a:r>
            </a:p>
          </p:txBody>
        </p:sp>
        <p:sp>
          <p:nvSpPr>
            <p:cNvPr id="4120" name="Rectangle 24"/>
            <p:cNvSpPr>
              <a:spLocks noChangeArrowheads="1"/>
            </p:cNvSpPr>
            <p:nvPr/>
          </p:nvSpPr>
          <p:spPr bwMode="auto">
            <a:xfrm>
              <a:off x="3302" y="208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6</a:t>
              </a:r>
            </a:p>
          </p:txBody>
        </p:sp>
        <p:sp>
          <p:nvSpPr>
            <p:cNvPr id="4121" name="Rectangle 25"/>
            <p:cNvSpPr>
              <a:spLocks noChangeArrowheads="1"/>
            </p:cNvSpPr>
            <p:nvPr/>
          </p:nvSpPr>
          <p:spPr bwMode="auto">
            <a:xfrm>
              <a:off x="4790" y="208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7</a:t>
              </a:r>
            </a:p>
          </p:txBody>
        </p:sp>
        <p:sp>
          <p:nvSpPr>
            <p:cNvPr id="4122" name="Rectangle 26"/>
            <p:cNvSpPr>
              <a:spLocks noChangeArrowheads="1"/>
            </p:cNvSpPr>
            <p:nvPr/>
          </p:nvSpPr>
          <p:spPr bwMode="auto">
            <a:xfrm>
              <a:off x="326" y="275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8</a:t>
              </a:r>
            </a:p>
          </p:txBody>
        </p:sp>
        <p:sp>
          <p:nvSpPr>
            <p:cNvPr id="4123" name="Rectangle 27"/>
            <p:cNvSpPr>
              <a:spLocks noChangeArrowheads="1"/>
            </p:cNvSpPr>
            <p:nvPr/>
          </p:nvSpPr>
          <p:spPr bwMode="auto">
            <a:xfrm>
              <a:off x="1046" y="275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9</a:t>
              </a:r>
            </a:p>
          </p:txBody>
        </p:sp>
        <p:sp>
          <p:nvSpPr>
            <p:cNvPr id="4124" name="Rectangle 28"/>
            <p:cNvSpPr>
              <a:spLocks noChangeArrowheads="1"/>
            </p:cNvSpPr>
            <p:nvPr/>
          </p:nvSpPr>
          <p:spPr bwMode="auto">
            <a:xfrm>
              <a:off x="4070" y="155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3</a:t>
              </a:r>
            </a:p>
          </p:txBody>
        </p:sp>
        <p:sp>
          <p:nvSpPr>
            <p:cNvPr id="4125" name="Rectangle 29"/>
            <p:cNvSpPr>
              <a:spLocks noChangeArrowheads="1"/>
            </p:cNvSpPr>
            <p:nvPr/>
          </p:nvSpPr>
          <p:spPr bwMode="auto">
            <a:xfrm>
              <a:off x="1574" y="275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7</a:t>
              </a:r>
            </a:p>
          </p:txBody>
        </p:sp>
        <p:sp>
          <p:nvSpPr>
            <p:cNvPr id="4126" name="Oval 30"/>
            <p:cNvSpPr>
              <a:spLocks noChangeArrowheads="1"/>
            </p:cNvSpPr>
            <p:nvPr/>
          </p:nvSpPr>
          <p:spPr bwMode="auto">
            <a:xfrm>
              <a:off x="1540" y="27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27" name="Line 31"/>
            <p:cNvSpPr>
              <a:spLocks noChangeShapeType="1"/>
            </p:cNvSpPr>
            <p:nvPr/>
          </p:nvSpPr>
          <p:spPr bwMode="auto">
            <a:xfrm flipH="1">
              <a:off x="1728" y="2352"/>
              <a:ext cx="144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28" name="Rectangle 32"/>
            <p:cNvSpPr>
              <a:spLocks noChangeArrowheads="1"/>
            </p:cNvSpPr>
            <p:nvPr/>
          </p:nvSpPr>
          <p:spPr bwMode="auto">
            <a:xfrm>
              <a:off x="1536" y="2784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bg2"/>
                  </a:solidFill>
                </a:rPr>
                <a:t>10</a:t>
              </a:r>
            </a:p>
          </p:txBody>
        </p:sp>
        <p:sp>
          <p:nvSpPr>
            <p:cNvPr id="4129" name="Rectangle 33"/>
            <p:cNvSpPr>
              <a:spLocks noChangeArrowheads="1"/>
            </p:cNvSpPr>
            <p:nvPr/>
          </p:nvSpPr>
          <p:spPr bwMode="auto">
            <a:xfrm>
              <a:off x="2688" y="960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bg2"/>
                  </a:solidFill>
                </a:rPr>
                <a:t>1</a:t>
              </a:r>
            </a:p>
          </p:txBody>
        </p:sp>
        <p:sp>
          <p:nvSpPr>
            <p:cNvPr id="4130" name="Oval 34"/>
            <p:cNvSpPr>
              <a:spLocks noChangeArrowheads="1"/>
            </p:cNvSpPr>
            <p:nvPr/>
          </p:nvSpPr>
          <p:spPr bwMode="auto">
            <a:xfrm>
              <a:off x="2164" y="27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>
                  <a:solidFill>
                    <a:schemeClr val="bg2"/>
                  </a:solidFill>
                </a:rPr>
                <a:t>11</a:t>
              </a:r>
            </a:p>
          </p:txBody>
        </p:sp>
        <p:sp>
          <p:nvSpPr>
            <p:cNvPr id="4131" name="Line 35"/>
            <p:cNvSpPr>
              <a:spLocks noChangeShapeType="1"/>
            </p:cNvSpPr>
            <p:nvPr/>
          </p:nvSpPr>
          <p:spPr bwMode="auto">
            <a:xfrm>
              <a:off x="2016" y="2304"/>
              <a:ext cx="288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32" name="Rectangle 36"/>
            <p:cNvSpPr>
              <a:spLocks noChangeArrowheads="1"/>
            </p:cNvSpPr>
            <p:nvPr/>
          </p:nvSpPr>
          <p:spPr bwMode="auto">
            <a:xfrm>
              <a:off x="1814" y="208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chemeClr val="bg2"/>
                  </a:solidFill>
                </a:rPr>
                <a:t>5</a:t>
              </a:r>
            </a:p>
          </p:txBody>
        </p:sp>
        <p:sp>
          <p:nvSpPr>
            <p:cNvPr id="4133" name="Rectangle 37"/>
            <p:cNvSpPr>
              <a:spLocks noChangeArrowheads="1"/>
            </p:cNvSpPr>
            <p:nvPr/>
          </p:nvSpPr>
          <p:spPr bwMode="auto">
            <a:xfrm>
              <a:off x="1344" y="1584"/>
              <a:ext cx="48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bg2"/>
                  </a:solidFill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695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400"/>
              <a:t>Initializing A Max Heap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4800" y="5334000"/>
            <a:ext cx="8458200" cy="609600"/>
          </a:xfrm>
          <a:noFill/>
          <a:ln/>
        </p:spPr>
        <p:txBody>
          <a:bodyPr/>
          <a:lstStyle/>
          <a:p>
            <a:pPr marL="342900" indent="-342900" algn="l"/>
            <a:r>
              <a:rPr lang="en-US" altLang="en-US" sz="3200">
                <a:solidFill>
                  <a:schemeClr val="bg2"/>
                </a:solidFill>
              </a:rPr>
              <a:t>Start at rightmost array position that has a child.</a:t>
            </a:r>
          </a:p>
        </p:txBody>
      </p:sp>
      <p:sp>
        <p:nvSpPr>
          <p:cNvPr id="6148" name="Oval 4"/>
          <p:cNvSpPr>
            <a:spLocks noChangeArrowheads="1"/>
          </p:cNvSpPr>
          <p:nvPr/>
        </p:nvSpPr>
        <p:spPr bwMode="auto">
          <a:xfrm>
            <a:off x="4197350" y="14541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9" name="Oval 5"/>
          <p:cNvSpPr>
            <a:spLocks noChangeArrowheads="1"/>
          </p:cNvSpPr>
          <p:nvPr/>
        </p:nvSpPr>
        <p:spPr bwMode="auto">
          <a:xfrm>
            <a:off x="20637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0" name="Oval 6"/>
          <p:cNvSpPr>
            <a:spLocks noChangeArrowheads="1"/>
          </p:cNvSpPr>
          <p:nvPr/>
        </p:nvSpPr>
        <p:spPr bwMode="auto">
          <a:xfrm>
            <a:off x="64071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1" name="Oval 7"/>
          <p:cNvSpPr>
            <a:spLocks noChangeArrowheads="1"/>
          </p:cNvSpPr>
          <p:nvPr/>
        </p:nvSpPr>
        <p:spPr bwMode="auto">
          <a:xfrm>
            <a:off x="1073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2" name="Oval 8"/>
          <p:cNvSpPr>
            <a:spLocks noChangeArrowheads="1"/>
          </p:cNvSpPr>
          <p:nvPr/>
        </p:nvSpPr>
        <p:spPr bwMode="auto">
          <a:xfrm>
            <a:off x="2825750" y="3282950"/>
            <a:ext cx="444500" cy="4445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3" name="Oval 9"/>
          <p:cNvSpPr>
            <a:spLocks noChangeArrowheads="1"/>
          </p:cNvSpPr>
          <p:nvPr/>
        </p:nvSpPr>
        <p:spPr bwMode="auto">
          <a:xfrm>
            <a:off x="51879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4" name="Oval 10"/>
          <p:cNvSpPr>
            <a:spLocks noChangeArrowheads="1"/>
          </p:cNvSpPr>
          <p:nvPr/>
        </p:nvSpPr>
        <p:spPr bwMode="auto">
          <a:xfrm>
            <a:off x="7550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5" name="Oval 11"/>
          <p:cNvSpPr>
            <a:spLocks noChangeArrowheads="1"/>
          </p:cNvSpPr>
          <p:nvPr/>
        </p:nvSpPr>
        <p:spPr bwMode="auto">
          <a:xfrm>
            <a:off x="463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6" name="Oval 12"/>
          <p:cNvSpPr>
            <a:spLocks noChangeArrowheads="1"/>
          </p:cNvSpPr>
          <p:nvPr/>
        </p:nvSpPr>
        <p:spPr bwMode="auto">
          <a:xfrm>
            <a:off x="1606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7" name="Line 13"/>
          <p:cNvSpPr>
            <a:spLocks noChangeShapeType="1"/>
          </p:cNvSpPr>
          <p:nvPr/>
        </p:nvSpPr>
        <p:spPr bwMode="auto">
          <a:xfrm flipH="1">
            <a:off x="2514600" y="1752600"/>
            <a:ext cx="1676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58" name="Line 14"/>
          <p:cNvSpPr>
            <a:spLocks noChangeShapeType="1"/>
          </p:cNvSpPr>
          <p:nvPr/>
        </p:nvSpPr>
        <p:spPr bwMode="auto">
          <a:xfrm>
            <a:off x="4648200" y="175260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59" name="Line 15"/>
          <p:cNvSpPr>
            <a:spLocks noChangeShapeType="1"/>
          </p:cNvSpPr>
          <p:nvPr/>
        </p:nvSpPr>
        <p:spPr bwMode="auto">
          <a:xfrm flipH="1">
            <a:off x="1371600" y="281940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60" name="Line 16"/>
          <p:cNvSpPr>
            <a:spLocks noChangeShapeType="1"/>
          </p:cNvSpPr>
          <p:nvPr/>
        </p:nvSpPr>
        <p:spPr bwMode="auto">
          <a:xfrm>
            <a:off x="2438400" y="2819400"/>
            <a:ext cx="533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61" name="Line 17"/>
          <p:cNvSpPr>
            <a:spLocks noChangeShapeType="1"/>
          </p:cNvSpPr>
          <p:nvPr/>
        </p:nvSpPr>
        <p:spPr bwMode="auto">
          <a:xfrm flipH="1">
            <a:off x="5562600" y="2895600"/>
            <a:ext cx="914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62" name="Line 18"/>
          <p:cNvSpPr>
            <a:spLocks noChangeShapeType="1"/>
          </p:cNvSpPr>
          <p:nvPr/>
        </p:nvSpPr>
        <p:spPr bwMode="auto">
          <a:xfrm>
            <a:off x="6781800" y="2819400"/>
            <a:ext cx="838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63" name="Line 19"/>
          <p:cNvSpPr>
            <a:spLocks noChangeShapeType="1"/>
          </p:cNvSpPr>
          <p:nvPr/>
        </p:nvSpPr>
        <p:spPr bwMode="auto">
          <a:xfrm flipH="1">
            <a:off x="762000" y="365760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64" name="Line 20"/>
          <p:cNvSpPr>
            <a:spLocks noChangeShapeType="1"/>
          </p:cNvSpPr>
          <p:nvPr/>
        </p:nvSpPr>
        <p:spPr bwMode="auto">
          <a:xfrm>
            <a:off x="1447800" y="365760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65" name="Rectangle 21"/>
          <p:cNvSpPr>
            <a:spLocks noChangeArrowheads="1"/>
          </p:cNvSpPr>
          <p:nvPr/>
        </p:nvSpPr>
        <p:spPr bwMode="auto">
          <a:xfrm>
            <a:off x="34893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6166" name="Rectangle 22"/>
          <p:cNvSpPr>
            <a:spLocks noChangeArrowheads="1"/>
          </p:cNvSpPr>
          <p:nvPr/>
        </p:nvSpPr>
        <p:spPr bwMode="auto">
          <a:xfrm>
            <a:off x="1127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6167" name="Rectangle 23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6168" name="Rectangle 24"/>
          <p:cNvSpPr>
            <a:spLocks noChangeArrowheads="1"/>
          </p:cNvSpPr>
          <p:nvPr/>
        </p:nvSpPr>
        <p:spPr bwMode="auto">
          <a:xfrm>
            <a:off x="52419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6169" name="Rectangle 25"/>
          <p:cNvSpPr>
            <a:spLocks noChangeArrowheads="1"/>
          </p:cNvSpPr>
          <p:nvPr/>
        </p:nvSpPr>
        <p:spPr bwMode="auto">
          <a:xfrm>
            <a:off x="7604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6170" name="Rectangle 26"/>
          <p:cNvSpPr>
            <a:spLocks noChangeArrowheads="1"/>
          </p:cNvSpPr>
          <p:nvPr/>
        </p:nvSpPr>
        <p:spPr bwMode="auto">
          <a:xfrm>
            <a:off x="517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6171" name="Rectangle 27"/>
          <p:cNvSpPr>
            <a:spLocks noChangeArrowheads="1"/>
          </p:cNvSpPr>
          <p:nvPr/>
        </p:nvSpPr>
        <p:spPr bwMode="auto">
          <a:xfrm>
            <a:off x="1660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9</a:t>
            </a:r>
          </a:p>
        </p:txBody>
      </p:sp>
      <p:sp>
        <p:nvSpPr>
          <p:cNvPr id="6172" name="Rectangle 28"/>
          <p:cNvSpPr>
            <a:spLocks noChangeArrowheads="1"/>
          </p:cNvSpPr>
          <p:nvPr/>
        </p:nvSpPr>
        <p:spPr bwMode="auto">
          <a:xfrm>
            <a:off x="64611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6173" name="Rectangle 29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6174" name="Oval 30"/>
          <p:cNvSpPr>
            <a:spLocks noChangeArrowheads="1"/>
          </p:cNvSpPr>
          <p:nvPr/>
        </p:nvSpPr>
        <p:spPr bwMode="auto">
          <a:xfrm>
            <a:off x="24447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75" name="Line 31"/>
          <p:cNvSpPr>
            <a:spLocks noChangeShapeType="1"/>
          </p:cNvSpPr>
          <p:nvPr/>
        </p:nvSpPr>
        <p:spPr bwMode="auto">
          <a:xfrm flipH="1">
            <a:off x="2743200" y="3733800"/>
            <a:ext cx="2286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76" name="Rectangle 32"/>
          <p:cNvSpPr>
            <a:spLocks noChangeArrowheads="1"/>
          </p:cNvSpPr>
          <p:nvPr/>
        </p:nvSpPr>
        <p:spPr bwMode="auto">
          <a:xfrm>
            <a:off x="2438400" y="441960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10</a:t>
            </a:r>
          </a:p>
        </p:txBody>
      </p:sp>
      <p:sp>
        <p:nvSpPr>
          <p:cNvPr id="6177" name="Rectangle 33"/>
          <p:cNvSpPr>
            <a:spLocks noChangeArrowheads="1"/>
          </p:cNvSpPr>
          <p:nvPr/>
        </p:nvSpPr>
        <p:spPr bwMode="auto">
          <a:xfrm>
            <a:off x="4267200" y="1524000"/>
            <a:ext cx="838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6178" name="Oval 34"/>
          <p:cNvSpPr>
            <a:spLocks noChangeArrowheads="1"/>
          </p:cNvSpPr>
          <p:nvPr/>
        </p:nvSpPr>
        <p:spPr bwMode="auto">
          <a:xfrm>
            <a:off x="34353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chemeClr val="bg2"/>
                </a:solidFill>
              </a:rPr>
              <a:t>11</a:t>
            </a:r>
          </a:p>
        </p:txBody>
      </p:sp>
      <p:sp>
        <p:nvSpPr>
          <p:cNvPr id="6179" name="Line 35"/>
          <p:cNvSpPr>
            <a:spLocks noChangeShapeType="1"/>
          </p:cNvSpPr>
          <p:nvPr/>
        </p:nvSpPr>
        <p:spPr bwMode="auto">
          <a:xfrm>
            <a:off x="3200400" y="3657600"/>
            <a:ext cx="4572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80" name="Rectangle 36"/>
          <p:cNvSpPr>
            <a:spLocks noChangeArrowheads="1"/>
          </p:cNvSpPr>
          <p:nvPr/>
        </p:nvSpPr>
        <p:spPr bwMode="auto">
          <a:xfrm>
            <a:off x="28797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6181" name="Rectangle 37"/>
          <p:cNvSpPr>
            <a:spLocks noChangeArrowheads="1"/>
          </p:cNvSpPr>
          <p:nvPr/>
        </p:nvSpPr>
        <p:spPr bwMode="auto">
          <a:xfrm>
            <a:off x="2133600" y="25146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6182" name="Rectangle 38"/>
          <p:cNvSpPr>
            <a:spLocks noChangeArrowheads="1"/>
          </p:cNvSpPr>
          <p:nvPr/>
        </p:nvSpPr>
        <p:spPr bwMode="auto">
          <a:xfrm>
            <a:off x="304800" y="5943600"/>
            <a:ext cx="7696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>
                <a:solidFill>
                  <a:schemeClr val="bg2"/>
                </a:solidFill>
              </a:rPr>
              <a:t>Index is </a:t>
            </a:r>
            <a:r>
              <a:rPr lang="en-US" altLang="en-US" sz="3200">
                <a:solidFill>
                  <a:schemeClr val="hlink"/>
                </a:solidFill>
              </a:rPr>
              <a:t>n/2</a:t>
            </a:r>
            <a:r>
              <a:rPr lang="en-US" altLang="en-US" sz="3200">
                <a:solidFill>
                  <a:schemeClr val="bg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4295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82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400"/>
              <a:t>Initializing A Max Heap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4800" y="5334000"/>
            <a:ext cx="8458200" cy="1219200"/>
          </a:xfrm>
          <a:noFill/>
          <a:ln/>
        </p:spPr>
        <p:txBody>
          <a:bodyPr/>
          <a:lstStyle/>
          <a:p>
            <a:pPr marL="342900" indent="-342900" algn="l"/>
            <a:r>
              <a:rPr lang="en-US" altLang="en-US" sz="3200">
                <a:solidFill>
                  <a:schemeClr val="bg2"/>
                </a:solidFill>
              </a:rPr>
              <a:t>Move to next lower array position.</a:t>
            </a:r>
          </a:p>
        </p:txBody>
      </p:sp>
      <p:sp>
        <p:nvSpPr>
          <p:cNvPr id="8196" name="Oval 4"/>
          <p:cNvSpPr>
            <a:spLocks noChangeArrowheads="1"/>
          </p:cNvSpPr>
          <p:nvPr/>
        </p:nvSpPr>
        <p:spPr bwMode="auto">
          <a:xfrm>
            <a:off x="4197350" y="14541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197" name="Oval 5"/>
          <p:cNvSpPr>
            <a:spLocks noChangeArrowheads="1"/>
          </p:cNvSpPr>
          <p:nvPr/>
        </p:nvSpPr>
        <p:spPr bwMode="auto">
          <a:xfrm>
            <a:off x="20637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198" name="Oval 6"/>
          <p:cNvSpPr>
            <a:spLocks noChangeArrowheads="1"/>
          </p:cNvSpPr>
          <p:nvPr/>
        </p:nvSpPr>
        <p:spPr bwMode="auto">
          <a:xfrm>
            <a:off x="64071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199" name="Oval 7"/>
          <p:cNvSpPr>
            <a:spLocks noChangeArrowheads="1"/>
          </p:cNvSpPr>
          <p:nvPr/>
        </p:nvSpPr>
        <p:spPr bwMode="auto">
          <a:xfrm>
            <a:off x="1073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200" name="Oval 8"/>
          <p:cNvSpPr>
            <a:spLocks noChangeArrowheads="1"/>
          </p:cNvSpPr>
          <p:nvPr/>
        </p:nvSpPr>
        <p:spPr bwMode="auto">
          <a:xfrm>
            <a:off x="2825750" y="3282950"/>
            <a:ext cx="444500" cy="4445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201" name="Oval 9"/>
          <p:cNvSpPr>
            <a:spLocks noChangeArrowheads="1"/>
          </p:cNvSpPr>
          <p:nvPr/>
        </p:nvSpPr>
        <p:spPr bwMode="auto">
          <a:xfrm>
            <a:off x="51879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202" name="Oval 10"/>
          <p:cNvSpPr>
            <a:spLocks noChangeArrowheads="1"/>
          </p:cNvSpPr>
          <p:nvPr/>
        </p:nvSpPr>
        <p:spPr bwMode="auto">
          <a:xfrm>
            <a:off x="7550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203" name="Oval 11"/>
          <p:cNvSpPr>
            <a:spLocks noChangeArrowheads="1"/>
          </p:cNvSpPr>
          <p:nvPr/>
        </p:nvSpPr>
        <p:spPr bwMode="auto">
          <a:xfrm>
            <a:off x="463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204" name="Oval 12"/>
          <p:cNvSpPr>
            <a:spLocks noChangeArrowheads="1"/>
          </p:cNvSpPr>
          <p:nvPr/>
        </p:nvSpPr>
        <p:spPr bwMode="auto">
          <a:xfrm>
            <a:off x="1606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205" name="Line 13"/>
          <p:cNvSpPr>
            <a:spLocks noChangeShapeType="1"/>
          </p:cNvSpPr>
          <p:nvPr/>
        </p:nvSpPr>
        <p:spPr bwMode="auto">
          <a:xfrm flipH="1">
            <a:off x="2514600" y="1752600"/>
            <a:ext cx="1676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06" name="Line 14"/>
          <p:cNvSpPr>
            <a:spLocks noChangeShapeType="1"/>
          </p:cNvSpPr>
          <p:nvPr/>
        </p:nvSpPr>
        <p:spPr bwMode="auto">
          <a:xfrm>
            <a:off x="4648200" y="175260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07" name="Line 15"/>
          <p:cNvSpPr>
            <a:spLocks noChangeShapeType="1"/>
          </p:cNvSpPr>
          <p:nvPr/>
        </p:nvSpPr>
        <p:spPr bwMode="auto">
          <a:xfrm flipH="1">
            <a:off x="1371600" y="281940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08" name="Line 16"/>
          <p:cNvSpPr>
            <a:spLocks noChangeShapeType="1"/>
          </p:cNvSpPr>
          <p:nvPr/>
        </p:nvSpPr>
        <p:spPr bwMode="auto">
          <a:xfrm>
            <a:off x="2438400" y="2819400"/>
            <a:ext cx="533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09" name="Line 17"/>
          <p:cNvSpPr>
            <a:spLocks noChangeShapeType="1"/>
          </p:cNvSpPr>
          <p:nvPr/>
        </p:nvSpPr>
        <p:spPr bwMode="auto">
          <a:xfrm flipH="1">
            <a:off x="5562600" y="2895600"/>
            <a:ext cx="914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10" name="Line 18"/>
          <p:cNvSpPr>
            <a:spLocks noChangeShapeType="1"/>
          </p:cNvSpPr>
          <p:nvPr/>
        </p:nvSpPr>
        <p:spPr bwMode="auto">
          <a:xfrm>
            <a:off x="6781800" y="2819400"/>
            <a:ext cx="838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11" name="Line 19"/>
          <p:cNvSpPr>
            <a:spLocks noChangeShapeType="1"/>
          </p:cNvSpPr>
          <p:nvPr/>
        </p:nvSpPr>
        <p:spPr bwMode="auto">
          <a:xfrm flipH="1">
            <a:off x="762000" y="365760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12" name="Line 20"/>
          <p:cNvSpPr>
            <a:spLocks noChangeShapeType="1"/>
          </p:cNvSpPr>
          <p:nvPr/>
        </p:nvSpPr>
        <p:spPr bwMode="auto">
          <a:xfrm>
            <a:off x="1447800" y="365760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13" name="Rectangle 21"/>
          <p:cNvSpPr>
            <a:spLocks noChangeArrowheads="1"/>
          </p:cNvSpPr>
          <p:nvPr/>
        </p:nvSpPr>
        <p:spPr bwMode="auto">
          <a:xfrm>
            <a:off x="34893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8214" name="Rectangle 22"/>
          <p:cNvSpPr>
            <a:spLocks noChangeArrowheads="1"/>
          </p:cNvSpPr>
          <p:nvPr/>
        </p:nvSpPr>
        <p:spPr bwMode="auto">
          <a:xfrm>
            <a:off x="1127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8215" name="Rectangle 23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8216" name="Rectangle 24"/>
          <p:cNvSpPr>
            <a:spLocks noChangeArrowheads="1"/>
          </p:cNvSpPr>
          <p:nvPr/>
        </p:nvSpPr>
        <p:spPr bwMode="auto">
          <a:xfrm>
            <a:off x="52419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8217" name="Rectangle 25"/>
          <p:cNvSpPr>
            <a:spLocks noChangeArrowheads="1"/>
          </p:cNvSpPr>
          <p:nvPr/>
        </p:nvSpPr>
        <p:spPr bwMode="auto">
          <a:xfrm>
            <a:off x="7604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8218" name="Rectangle 26"/>
          <p:cNvSpPr>
            <a:spLocks noChangeArrowheads="1"/>
          </p:cNvSpPr>
          <p:nvPr/>
        </p:nvSpPr>
        <p:spPr bwMode="auto">
          <a:xfrm>
            <a:off x="517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8219" name="Rectangle 27"/>
          <p:cNvSpPr>
            <a:spLocks noChangeArrowheads="1"/>
          </p:cNvSpPr>
          <p:nvPr/>
        </p:nvSpPr>
        <p:spPr bwMode="auto">
          <a:xfrm>
            <a:off x="1660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9</a:t>
            </a:r>
          </a:p>
        </p:txBody>
      </p:sp>
      <p:sp>
        <p:nvSpPr>
          <p:cNvPr id="8220" name="Rectangle 28"/>
          <p:cNvSpPr>
            <a:spLocks noChangeArrowheads="1"/>
          </p:cNvSpPr>
          <p:nvPr/>
        </p:nvSpPr>
        <p:spPr bwMode="auto">
          <a:xfrm>
            <a:off x="64611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8221" name="Rectangle 29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8222" name="Oval 30"/>
          <p:cNvSpPr>
            <a:spLocks noChangeArrowheads="1"/>
          </p:cNvSpPr>
          <p:nvPr/>
        </p:nvSpPr>
        <p:spPr bwMode="auto">
          <a:xfrm>
            <a:off x="24447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223" name="Line 31"/>
          <p:cNvSpPr>
            <a:spLocks noChangeShapeType="1"/>
          </p:cNvSpPr>
          <p:nvPr/>
        </p:nvSpPr>
        <p:spPr bwMode="auto">
          <a:xfrm flipH="1">
            <a:off x="2743200" y="3733800"/>
            <a:ext cx="2286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24" name="Rectangle 32"/>
          <p:cNvSpPr>
            <a:spLocks noChangeArrowheads="1"/>
          </p:cNvSpPr>
          <p:nvPr/>
        </p:nvSpPr>
        <p:spPr bwMode="auto">
          <a:xfrm>
            <a:off x="2438400" y="441960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10</a:t>
            </a:r>
          </a:p>
        </p:txBody>
      </p:sp>
      <p:sp>
        <p:nvSpPr>
          <p:cNvPr id="8225" name="Rectangle 33"/>
          <p:cNvSpPr>
            <a:spLocks noChangeArrowheads="1"/>
          </p:cNvSpPr>
          <p:nvPr/>
        </p:nvSpPr>
        <p:spPr bwMode="auto">
          <a:xfrm>
            <a:off x="4267200" y="1524000"/>
            <a:ext cx="838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8226" name="Oval 34"/>
          <p:cNvSpPr>
            <a:spLocks noChangeArrowheads="1"/>
          </p:cNvSpPr>
          <p:nvPr/>
        </p:nvSpPr>
        <p:spPr bwMode="auto">
          <a:xfrm>
            <a:off x="34353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8227" name="Line 35"/>
          <p:cNvSpPr>
            <a:spLocks noChangeShapeType="1"/>
          </p:cNvSpPr>
          <p:nvPr/>
        </p:nvSpPr>
        <p:spPr bwMode="auto">
          <a:xfrm>
            <a:off x="3200400" y="3657600"/>
            <a:ext cx="4572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28" name="Rectangle 36"/>
          <p:cNvSpPr>
            <a:spLocks noChangeArrowheads="1"/>
          </p:cNvSpPr>
          <p:nvPr/>
        </p:nvSpPr>
        <p:spPr bwMode="auto">
          <a:xfrm>
            <a:off x="2879725" y="3306763"/>
            <a:ext cx="6254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11</a:t>
            </a:r>
          </a:p>
        </p:txBody>
      </p:sp>
      <p:sp>
        <p:nvSpPr>
          <p:cNvPr id="8229" name="Rectangle 37"/>
          <p:cNvSpPr>
            <a:spLocks noChangeArrowheads="1"/>
          </p:cNvSpPr>
          <p:nvPr/>
        </p:nvSpPr>
        <p:spPr bwMode="auto">
          <a:xfrm>
            <a:off x="2133600" y="25146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00545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400"/>
              <a:t>Initializing A Max Heap</a:t>
            </a:r>
          </a:p>
        </p:txBody>
      </p:sp>
      <p:sp>
        <p:nvSpPr>
          <p:cNvPr id="10243" name="Oval 3"/>
          <p:cNvSpPr>
            <a:spLocks noChangeArrowheads="1"/>
          </p:cNvSpPr>
          <p:nvPr/>
        </p:nvSpPr>
        <p:spPr bwMode="auto">
          <a:xfrm>
            <a:off x="4197350" y="14541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244" name="Oval 4"/>
          <p:cNvSpPr>
            <a:spLocks noChangeArrowheads="1"/>
          </p:cNvSpPr>
          <p:nvPr/>
        </p:nvSpPr>
        <p:spPr bwMode="auto">
          <a:xfrm>
            <a:off x="20637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245" name="Oval 5"/>
          <p:cNvSpPr>
            <a:spLocks noChangeArrowheads="1"/>
          </p:cNvSpPr>
          <p:nvPr/>
        </p:nvSpPr>
        <p:spPr bwMode="auto">
          <a:xfrm>
            <a:off x="64071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246" name="Oval 6"/>
          <p:cNvSpPr>
            <a:spLocks noChangeArrowheads="1"/>
          </p:cNvSpPr>
          <p:nvPr/>
        </p:nvSpPr>
        <p:spPr bwMode="auto">
          <a:xfrm>
            <a:off x="1073150" y="3282950"/>
            <a:ext cx="444500" cy="4445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247" name="Oval 7"/>
          <p:cNvSpPr>
            <a:spLocks noChangeArrowheads="1"/>
          </p:cNvSpPr>
          <p:nvPr/>
        </p:nvSpPr>
        <p:spPr bwMode="auto">
          <a:xfrm>
            <a:off x="28257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248" name="Oval 8"/>
          <p:cNvSpPr>
            <a:spLocks noChangeArrowheads="1"/>
          </p:cNvSpPr>
          <p:nvPr/>
        </p:nvSpPr>
        <p:spPr bwMode="auto">
          <a:xfrm>
            <a:off x="51879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249" name="Oval 9"/>
          <p:cNvSpPr>
            <a:spLocks noChangeArrowheads="1"/>
          </p:cNvSpPr>
          <p:nvPr/>
        </p:nvSpPr>
        <p:spPr bwMode="auto">
          <a:xfrm>
            <a:off x="7550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250" name="Oval 10"/>
          <p:cNvSpPr>
            <a:spLocks noChangeArrowheads="1"/>
          </p:cNvSpPr>
          <p:nvPr/>
        </p:nvSpPr>
        <p:spPr bwMode="auto">
          <a:xfrm>
            <a:off x="463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251" name="Oval 11"/>
          <p:cNvSpPr>
            <a:spLocks noChangeArrowheads="1"/>
          </p:cNvSpPr>
          <p:nvPr/>
        </p:nvSpPr>
        <p:spPr bwMode="auto">
          <a:xfrm>
            <a:off x="1606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252" name="Line 12"/>
          <p:cNvSpPr>
            <a:spLocks noChangeShapeType="1"/>
          </p:cNvSpPr>
          <p:nvPr/>
        </p:nvSpPr>
        <p:spPr bwMode="auto">
          <a:xfrm flipH="1">
            <a:off x="2514600" y="1752600"/>
            <a:ext cx="1676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53" name="Line 13"/>
          <p:cNvSpPr>
            <a:spLocks noChangeShapeType="1"/>
          </p:cNvSpPr>
          <p:nvPr/>
        </p:nvSpPr>
        <p:spPr bwMode="auto">
          <a:xfrm>
            <a:off x="4648200" y="175260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54" name="Line 14"/>
          <p:cNvSpPr>
            <a:spLocks noChangeShapeType="1"/>
          </p:cNvSpPr>
          <p:nvPr/>
        </p:nvSpPr>
        <p:spPr bwMode="auto">
          <a:xfrm flipH="1">
            <a:off x="1371600" y="281940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55" name="Line 15"/>
          <p:cNvSpPr>
            <a:spLocks noChangeShapeType="1"/>
          </p:cNvSpPr>
          <p:nvPr/>
        </p:nvSpPr>
        <p:spPr bwMode="auto">
          <a:xfrm>
            <a:off x="2438400" y="2819400"/>
            <a:ext cx="533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56" name="Line 16"/>
          <p:cNvSpPr>
            <a:spLocks noChangeShapeType="1"/>
          </p:cNvSpPr>
          <p:nvPr/>
        </p:nvSpPr>
        <p:spPr bwMode="auto">
          <a:xfrm flipH="1">
            <a:off x="5562600" y="2895600"/>
            <a:ext cx="914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57" name="Line 17"/>
          <p:cNvSpPr>
            <a:spLocks noChangeShapeType="1"/>
          </p:cNvSpPr>
          <p:nvPr/>
        </p:nvSpPr>
        <p:spPr bwMode="auto">
          <a:xfrm>
            <a:off x="6781800" y="2819400"/>
            <a:ext cx="838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58" name="Line 18"/>
          <p:cNvSpPr>
            <a:spLocks noChangeShapeType="1"/>
          </p:cNvSpPr>
          <p:nvPr/>
        </p:nvSpPr>
        <p:spPr bwMode="auto">
          <a:xfrm flipH="1">
            <a:off x="762000" y="365760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59" name="Line 19"/>
          <p:cNvSpPr>
            <a:spLocks noChangeShapeType="1"/>
          </p:cNvSpPr>
          <p:nvPr/>
        </p:nvSpPr>
        <p:spPr bwMode="auto">
          <a:xfrm>
            <a:off x="1447800" y="365760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60" name="Rectangle 20"/>
          <p:cNvSpPr>
            <a:spLocks noChangeArrowheads="1"/>
          </p:cNvSpPr>
          <p:nvPr/>
        </p:nvSpPr>
        <p:spPr bwMode="auto">
          <a:xfrm>
            <a:off x="34893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10261" name="Rectangle 21"/>
          <p:cNvSpPr>
            <a:spLocks noChangeArrowheads="1"/>
          </p:cNvSpPr>
          <p:nvPr/>
        </p:nvSpPr>
        <p:spPr bwMode="auto">
          <a:xfrm>
            <a:off x="1127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10262" name="Rectangle 22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10263" name="Rectangle 23"/>
          <p:cNvSpPr>
            <a:spLocks noChangeArrowheads="1"/>
          </p:cNvSpPr>
          <p:nvPr/>
        </p:nvSpPr>
        <p:spPr bwMode="auto">
          <a:xfrm>
            <a:off x="52419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10264" name="Rectangle 24"/>
          <p:cNvSpPr>
            <a:spLocks noChangeArrowheads="1"/>
          </p:cNvSpPr>
          <p:nvPr/>
        </p:nvSpPr>
        <p:spPr bwMode="auto">
          <a:xfrm>
            <a:off x="7604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10265" name="Rectangle 25"/>
          <p:cNvSpPr>
            <a:spLocks noChangeArrowheads="1"/>
          </p:cNvSpPr>
          <p:nvPr/>
        </p:nvSpPr>
        <p:spPr bwMode="auto">
          <a:xfrm>
            <a:off x="517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10266" name="Rectangle 26"/>
          <p:cNvSpPr>
            <a:spLocks noChangeArrowheads="1"/>
          </p:cNvSpPr>
          <p:nvPr/>
        </p:nvSpPr>
        <p:spPr bwMode="auto">
          <a:xfrm>
            <a:off x="1660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9</a:t>
            </a:r>
          </a:p>
        </p:txBody>
      </p:sp>
      <p:sp>
        <p:nvSpPr>
          <p:cNvPr id="10267" name="Rectangle 27"/>
          <p:cNvSpPr>
            <a:spLocks noChangeArrowheads="1"/>
          </p:cNvSpPr>
          <p:nvPr/>
        </p:nvSpPr>
        <p:spPr bwMode="auto">
          <a:xfrm>
            <a:off x="64611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10268" name="Rectangle 28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10269" name="Oval 29"/>
          <p:cNvSpPr>
            <a:spLocks noChangeArrowheads="1"/>
          </p:cNvSpPr>
          <p:nvPr/>
        </p:nvSpPr>
        <p:spPr bwMode="auto">
          <a:xfrm>
            <a:off x="24447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270" name="Line 30"/>
          <p:cNvSpPr>
            <a:spLocks noChangeShapeType="1"/>
          </p:cNvSpPr>
          <p:nvPr/>
        </p:nvSpPr>
        <p:spPr bwMode="auto">
          <a:xfrm flipH="1">
            <a:off x="2743200" y="3733800"/>
            <a:ext cx="2286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71" name="Rectangle 31"/>
          <p:cNvSpPr>
            <a:spLocks noChangeArrowheads="1"/>
          </p:cNvSpPr>
          <p:nvPr/>
        </p:nvSpPr>
        <p:spPr bwMode="auto">
          <a:xfrm>
            <a:off x="2438400" y="441960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10</a:t>
            </a:r>
          </a:p>
        </p:txBody>
      </p:sp>
      <p:sp>
        <p:nvSpPr>
          <p:cNvPr id="10272" name="Rectangle 32"/>
          <p:cNvSpPr>
            <a:spLocks noChangeArrowheads="1"/>
          </p:cNvSpPr>
          <p:nvPr/>
        </p:nvSpPr>
        <p:spPr bwMode="auto">
          <a:xfrm>
            <a:off x="4267200" y="1524000"/>
            <a:ext cx="838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10273" name="Oval 33"/>
          <p:cNvSpPr>
            <a:spLocks noChangeArrowheads="1"/>
          </p:cNvSpPr>
          <p:nvPr/>
        </p:nvSpPr>
        <p:spPr bwMode="auto">
          <a:xfrm>
            <a:off x="34353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10274" name="Line 34"/>
          <p:cNvSpPr>
            <a:spLocks noChangeShapeType="1"/>
          </p:cNvSpPr>
          <p:nvPr/>
        </p:nvSpPr>
        <p:spPr bwMode="auto">
          <a:xfrm>
            <a:off x="3200400" y="3657600"/>
            <a:ext cx="4572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75" name="Rectangle 35"/>
          <p:cNvSpPr>
            <a:spLocks noChangeArrowheads="1"/>
          </p:cNvSpPr>
          <p:nvPr/>
        </p:nvSpPr>
        <p:spPr bwMode="auto">
          <a:xfrm>
            <a:off x="2879725" y="3306763"/>
            <a:ext cx="6254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11</a:t>
            </a:r>
          </a:p>
        </p:txBody>
      </p:sp>
      <p:sp>
        <p:nvSpPr>
          <p:cNvPr id="10276" name="Rectangle 36"/>
          <p:cNvSpPr>
            <a:spLocks noChangeArrowheads="1"/>
          </p:cNvSpPr>
          <p:nvPr/>
        </p:nvSpPr>
        <p:spPr bwMode="auto">
          <a:xfrm>
            <a:off x="2133600" y="25146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757369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400"/>
              <a:t>Initializing A Max Heap</a:t>
            </a:r>
          </a:p>
        </p:txBody>
      </p:sp>
      <p:sp>
        <p:nvSpPr>
          <p:cNvPr id="12291" name="Oval 3"/>
          <p:cNvSpPr>
            <a:spLocks noChangeArrowheads="1"/>
          </p:cNvSpPr>
          <p:nvPr/>
        </p:nvSpPr>
        <p:spPr bwMode="auto">
          <a:xfrm>
            <a:off x="4197350" y="14541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292" name="Oval 4"/>
          <p:cNvSpPr>
            <a:spLocks noChangeArrowheads="1"/>
          </p:cNvSpPr>
          <p:nvPr/>
        </p:nvSpPr>
        <p:spPr bwMode="auto">
          <a:xfrm>
            <a:off x="20637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293" name="Oval 5"/>
          <p:cNvSpPr>
            <a:spLocks noChangeArrowheads="1"/>
          </p:cNvSpPr>
          <p:nvPr/>
        </p:nvSpPr>
        <p:spPr bwMode="auto">
          <a:xfrm>
            <a:off x="64071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294" name="Oval 6"/>
          <p:cNvSpPr>
            <a:spLocks noChangeArrowheads="1"/>
          </p:cNvSpPr>
          <p:nvPr/>
        </p:nvSpPr>
        <p:spPr bwMode="auto">
          <a:xfrm>
            <a:off x="1073150" y="3282950"/>
            <a:ext cx="444500" cy="4445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295" name="Oval 7"/>
          <p:cNvSpPr>
            <a:spLocks noChangeArrowheads="1"/>
          </p:cNvSpPr>
          <p:nvPr/>
        </p:nvSpPr>
        <p:spPr bwMode="auto">
          <a:xfrm>
            <a:off x="28257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51879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297" name="Oval 9"/>
          <p:cNvSpPr>
            <a:spLocks noChangeArrowheads="1"/>
          </p:cNvSpPr>
          <p:nvPr/>
        </p:nvSpPr>
        <p:spPr bwMode="auto">
          <a:xfrm>
            <a:off x="7550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298" name="Oval 10"/>
          <p:cNvSpPr>
            <a:spLocks noChangeArrowheads="1"/>
          </p:cNvSpPr>
          <p:nvPr/>
        </p:nvSpPr>
        <p:spPr bwMode="auto">
          <a:xfrm>
            <a:off x="463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299" name="Oval 11"/>
          <p:cNvSpPr>
            <a:spLocks noChangeArrowheads="1"/>
          </p:cNvSpPr>
          <p:nvPr/>
        </p:nvSpPr>
        <p:spPr bwMode="auto">
          <a:xfrm>
            <a:off x="1606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300" name="Line 12"/>
          <p:cNvSpPr>
            <a:spLocks noChangeShapeType="1"/>
          </p:cNvSpPr>
          <p:nvPr/>
        </p:nvSpPr>
        <p:spPr bwMode="auto">
          <a:xfrm flipH="1">
            <a:off x="2514600" y="1752600"/>
            <a:ext cx="1676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2301" name="Line 13"/>
          <p:cNvSpPr>
            <a:spLocks noChangeShapeType="1"/>
          </p:cNvSpPr>
          <p:nvPr/>
        </p:nvSpPr>
        <p:spPr bwMode="auto">
          <a:xfrm>
            <a:off x="4648200" y="175260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2302" name="Line 14"/>
          <p:cNvSpPr>
            <a:spLocks noChangeShapeType="1"/>
          </p:cNvSpPr>
          <p:nvPr/>
        </p:nvSpPr>
        <p:spPr bwMode="auto">
          <a:xfrm flipH="1">
            <a:off x="1371600" y="281940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2303" name="Line 15"/>
          <p:cNvSpPr>
            <a:spLocks noChangeShapeType="1"/>
          </p:cNvSpPr>
          <p:nvPr/>
        </p:nvSpPr>
        <p:spPr bwMode="auto">
          <a:xfrm>
            <a:off x="2438400" y="2819400"/>
            <a:ext cx="533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2304" name="Line 16"/>
          <p:cNvSpPr>
            <a:spLocks noChangeShapeType="1"/>
          </p:cNvSpPr>
          <p:nvPr/>
        </p:nvSpPr>
        <p:spPr bwMode="auto">
          <a:xfrm flipH="1">
            <a:off x="5562600" y="2895600"/>
            <a:ext cx="914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2305" name="Line 17"/>
          <p:cNvSpPr>
            <a:spLocks noChangeShapeType="1"/>
          </p:cNvSpPr>
          <p:nvPr/>
        </p:nvSpPr>
        <p:spPr bwMode="auto">
          <a:xfrm>
            <a:off x="6781800" y="2819400"/>
            <a:ext cx="838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2306" name="Line 18"/>
          <p:cNvSpPr>
            <a:spLocks noChangeShapeType="1"/>
          </p:cNvSpPr>
          <p:nvPr/>
        </p:nvSpPr>
        <p:spPr bwMode="auto">
          <a:xfrm flipH="1">
            <a:off x="762000" y="365760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2307" name="Line 19"/>
          <p:cNvSpPr>
            <a:spLocks noChangeShapeType="1"/>
          </p:cNvSpPr>
          <p:nvPr/>
        </p:nvSpPr>
        <p:spPr bwMode="auto">
          <a:xfrm>
            <a:off x="1447800" y="365760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2308" name="Rectangle 20"/>
          <p:cNvSpPr>
            <a:spLocks noChangeArrowheads="1"/>
          </p:cNvSpPr>
          <p:nvPr/>
        </p:nvSpPr>
        <p:spPr bwMode="auto">
          <a:xfrm>
            <a:off x="34893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12309" name="Rectangle 21"/>
          <p:cNvSpPr>
            <a:spLocks noChangeArrowheads="1"/>
          </p:cNvSpPr>
          <p:nvPr/>
        </p:nvSpPr>
        <p:spPr bwMode="auto">
          <a:xfrm>
            <a:off x="1127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9</a:t>
            </a:r>
          </a:p>
        </p:txBody>
      </p:sp>
      <p:sp>
        <p:nvSpPr>
          <p:cNvPr id="12310" name="Rectangle 22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12311" name="Rectangle 23"/>
          <p:cNvSpPr>
            <a:spLocks noChangeArrowheads="1"/>
          </p:cNvSpPr>
          <p:nvPr/>
        </p:nvSpPr>
        <p:spPr bwMode="auto">
          <a:xfrm>
            <a:off x="52419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12312" name="Rectangle 24"/>
          <p:cNvSpPr>
            <a:spLocks noChangeArrowheads="1"/>
          </p:cNvSpPr>
          <p:nvPr/>
        </p:nvSpPr>
        <p:spPr bwMode="auto">
          <a:xfrm>
            <a:off x="7604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12313" name="Rectangle 25"/>
          <p:cNvSpPr>
            <a:spLocks noChangeArrowheads="1"/>
          </p:cNvSpPr>
          <p:nvPr/>
        </p:nvSpPr>
        <p:spPr bwMode="auto">
          <a:xfrm>
            <a:off x="517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12314" name="Rectangle 26"/>
          <p:cNvSpPr>
            <a:spLocks noChangeArrowheads="1"/>
          </p:cNvSpPr>
          <p:nvPr/>
        </p:nvSpPr>
        <p:spPr bwMode="auto">
          <a:xfrm>
            <a:off x="1660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12315" name="Rectangle 27"/>
          <p:cNvSpPr>
            <a:spLocks noChangeArrowheads="1"/>
          </p:cNvSpPr>
          <p:nvPr/>
        </p:nvSpPr>
        <p:spPr bwMode="auto">
          <a:xfrm>
            <a:off x="64611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12316" name="Rectangle 28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12317" name="Oval 29"/>
          <p:cNvSpPr>
            <a:spLocks noChangeArrowheads="1"/>
          </p:cNvSpPr>
          <p:nvPr/>
        </p:nvSpPr>
        <p:spPr bwMode="auto">
          <a:xfrm>
            <a:off x="24447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318" name="Line 30"/>
          <p:cNvSpPr>
            <a:spLocks noChangeShapeType="1"/>
          </p:cNvSpPr>
          <p:nvPr/>
        </p:nvSpPr>
        <p:spPr bwMode="auto">
          <a:xfrm flipH="1">
            <a:off x="2743200" y="3733800"/>
            <a:ext cx="2286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2319" name="Rectangle 31"/>
          <p:cNvSpPr>
            <a:spLocks noChangeArrowheads="1"/>
          </p:cNvSpPr>
          <p:nvPr/>
        </p:nvSpPr>
        <p:spPr bwMode="auto">
          <a:xfrm>
            <a:off x="2438400" y="441960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10</a:t>
            </a:r>
          </a:p>
        </p:txBody>
      </p:sp>
      <p:sp>
        <p:nvSpPr>
          <p:cNvPr id="12320" name="Rectangle 32"/>
          <p:cNvSpPr>
            <a:spLocks noChangeArrowheads="1"/>
          </p:cNvSpPr>
          <p:nvPr/>
        </p:nvSpPr>
        <p:spPr bwMode="auto">
          <a:xfrm>
            <a:off x="4267200" y="1524000"/>
            <a:ext cx="838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12321" name="Oval 33"/>
          <p:cNvSpPr>
            <a:spLocks noChangeArrowheads="1"/>
          </p:cNvSpPr>
          <p:nvPr/>
        </p:nvSpPr>
        <p:spPr bwMode="auto">
          <a:xfrm>
            <a:off x="34353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12322" name="Line 34"/>
          <p:cNvSpPr>
            <a:spLocks noChangeShapeType="1"/>
          </p:cNvSpPr>
          <p:nvPr/>
        </p:nvSpPr>
        <p:spPr bwMode="auto">
          <a:xfrm>
            <a:off x="3200400" y="3657600"/>
            <a:ext cx="4572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2323" name="Rectangle 35"/>
          <p:cNvSpPr>
            <a:spLocks noChangeArrowheads="1"/>
          </p:cNvSpPr>
          <p:nvPr/>
        </p:nvSpPr>
        <p:spPr bwMode="auto">
          <a:xfrm>
            <a:off x="2879725" y="3306763"/>
            <a:ext cx="6254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11</a:t>
            </a:r>
          </a:p>
        </p:txBody>
      </p:sp>
      <p:sp>
        <p:nvSpPr>
          <p:cNvPr id="12324" name="Rectangle 36"/>
          <p:cNvSpPr>
            <a:spLocks noChangeArrowheads="1"/>
          </p:cNvSpPr>
          <p:nvPr/>
        </p:nvSpPr>
        <p:spPr bwMode="auto">
          <a:xfrm>
            <a:off x="2133600" y="25146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986048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400"/>
              <a:t>Initializing A Max Heap</a:t>
            </a:r>
          </a:p>
        </p:txBody>
      </p:sp>
      <p:sp>
        <p:nvSpPr>
          <p:cNvPr id="14339" name="Oval 3"/>
          <p:cNvSpPr>
            <a:spLocks noChangeArrowheads="1"/>
          </p:cNvSpPr>
          <p:nvPr/>
        </p:nvSpPr>
        <p:spPr bwMode="auto">
          <a:xfrm>
            <a:off x="4197350" y="14541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40" name="Oval 4"/>
          <p:cNvSpPr>
            <a:spLocks noChangeArrowheads="1"/>
          </p:cNvSpPr>
          <p:nvPr/>
        </p:nvSpPr>
        <p:spPr bwMode="auto">
          <a:xfrm>
            <a:off x="20637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41" name="Oval 5"/>
          <p:cNvSpPr>
            <a:spLocks noChangeArrowheads="1"/>
          </p:cNvSpPr>
          <p:nvPr/>
        </p:nvSpPr>
        <p:spPr bwMode="auto">
          <a:xfrm>
            <a:off x="6407150" y="2444750"/>
            <a:ext cx="444500" cy="4445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42" name="Oval 6"/>
          <p:cNvSpPr>
            <a:spLocks noChangeArrowheads="1"/>
          </p:cNvSpPr>
          <p:nvPr/>
        </p:nvSpPr>
        <p:spPr bwMode="auto">
          <a:xfrm>
            <a:off x="1073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43" name="Oval 7"/>
          <p:cNvSpPr>
            <a:spLocks noChangeArrowheads="1"/>
          </p:cNvSpPr>
          <p:nvPr/>
        </p:nvSpPr>
        <p:spPr bwMode="auto">
          <a:xfrm>
            <a:off x="28257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44" name="Oval 8"/>
          <p:cNvSpPr>
            <a:spLocks noChangeArrowheads="1"/>
          </p:cNvSpPr>
          <p:nvPr/>
        </p:nvSpPr>
        <p:spPr bwMode="auto">
          <a:xfrm>
            <a:off x="51879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45" name="Oval 9"/>
          <p:cNvSpPr>
            <a:spLocks noChangeArrowheads="1"/>
          </p:cNvSpPr>
          <p:nvPr/>
        </p:nvSpPr>
        <p:spPr bwMode="auto">
          <a:xfrm>
            <a:off x="7550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46" name="Oval 10"/>
          <p:cNvSpPr>
            <a:spLocks noChangeArrowheads="1"/>
          </p:cNvSpPr>
          <p:nvPr/>
        </p:nvSpPr>
        <p:spPr bwMode="auto">
          <a:xfrm>
            <a:off x="463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47" name="Oval 11"/>
          <p:cNvSpPr>
            <a:spLocks noChangeArrowheads="1"/>
          </p:cNvSpPr>
          <p:nvPr/>
        </p:nvSpPr>
        <p:spPr bwMode="auto">
          <a:xfrm>
            <a:off x="1606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48" name="Line 12"/>
          <p:cNvSpPr>
            <a:spLocks noChangeShapeType="1"/>
          </p:cNvSpPr>
          <p:nvPr/>
        </p:nvSpPr>
        <p:spPr bwMode="auto">
          <a:xfrm flipH="1">
            <a:off x="2514600" y="1752600"/>
            <a:ext cx="1676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49" name="Line 13"/>
          <p:cNvSpPr>
            <a:spLocks noChangeShapeType="1"/>
          </p:cNvSpPr>
          <p:nvPr/>
        </p:nvSpPr>
        <p:spPr bwMode="auto">
          <a:xfrm>
            <a:off x="4648200" y="175260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50" name="Line 14"/>
          <p:cNvSpPr>
            <a:spLocks noChangeShapeType="1"/>
          </p:cNvSpPr>
          <p:nvPr/>
        </p:nvSpPr>
        <p:spPr bwMode="auto">
          <a:xfrm flipH="1">
            <a:off x="1371600" y="281940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51" name="Line 15"/>
          <p:cNvSpPr>
            <a:spLocks noChangeShapeType="1"/>
          </p:cNvSpPr>
          <p:nvPr/>
        </p:nvSpPr>
        <p:spPr bwMode="auto">
          <a:xfrm>
            <a:off x="2438400" y="2819400"/>
            <a:ext cx="533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52" name="Line 16"/>
          <p:cNvSpPr>
            <a:spLocks noChangeShapeType="1"/>
          </p:cNvSpPr>
          <p:nvPr/>
        </p:nvSpPr>
        <p:spPr bwMode="auto">
          <a:xfrm flipH="1">
            <a:off x="5562600" y="2895600"/>
            <a:ext cx="914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53" name="Line 17"/>
          <p:cNvSpPr>
            <a:spLocks noChangeShapeType="1"/>
          </p:cNvSpPr>
          <p:nvPr/>
        </p:nvSpPr>
        <p:spPr bwMode="auto">
          <a:xfrm>
            <a:off x="6781800" y="2819400"/>
            <a:ext cx="838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 flipH="1">
            <a:off x="762000" y="365760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55" name="Line 19"/>
          <p:cNvSpPr>
            <a:spLocks noChangeShapeType="1"/>
          </p:cNvSpPr>
          <p:nvPr/>
        </p:nvSpPr>
        <p:spPr bwMode="auto">
          <a:xfrm>
            <a:off x="1447800" y="365760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56" name="Rectangle 20"/>
          <p:cNvSpPr>
            <a:spLocks noChangeArrowheads="1"/>
          </p:cNvSpPr>
          <p:nvPr/>
        </p:nvSpPr>
        <p:spPr bwMode="auto">
          <a:xfrm>
            <a:off x="34893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14357" name="Rectangle 21"/>
          <p:cNvSpPr>
            <a:spLocks noChangeArrowheads="1"/>
          </p:cNvSpPr>
          <p:nvPr/>
        </p:nvSpPr>
        <p:spPr bwMode="auto">
          <a:xfrm>
            <a:off x="1127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9</a:t>
            </a:r>
          </a:p>
        </p:txBody>
      </p:sp>
      <p:sp>
        <p:nvSpPr>
          <p:cNvPr id="14358" name="Rectangle 22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14359" name="Rectangle 23"/>
          <p:cNvSpPr>
            <a:spLocks noChangeArrowheads="1"/>
          </p:cNvSpPr>
          <p:nvPr/>
        </p:nvSpPr>
        <p:spPr bwMode="auto">
          <a:xfrm>
            <a:off x="52419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14360" name="Rectangle 24"/>
          <p:cNvSpPr>
            <a:spLocks noChangeArrowheads="1"/>
          </p:cNvSpPr>
          <p:nvPr/>
        </p:nvSpPr>
        <p:spPr bwMode="auto">
          <a:xfrm>
            <a:off x="7604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14361" name="Rectangle 25"/>
          <p:cNvSpPr>
            <a:spLocks noChangeArrowheads="1"/>
          </p:cNvSpPr>
          <p:nvPr/>
        </p:nvSpPr>
        <p:spPr bwMode="auto">
          <a:xfrm>
            <a:off x="517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14362" name="Rectangle 26"/>
          <p:cNvSpPr>
            <a:spLocks noChangeArrowheads="1"/>
          </p:cNvSpPr>
          <p:nvPr/>
        </p:nvSpPr>
        <p:spPr bwMode="auto">
          <a:xfrm>
            <a:off x="1660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14363" name="Rectangle 27"/>
          <p:cNvSpPr>
            <a:spLocks noChangeArrowheads="1"/>
          </p:cNvSpPr>
          <p:nvPr/>
        </p:nvSpPr>
        <p:spPr bwMode="auto">
          <a:xfrm>
            <a:off x="64611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14364" name="Rectangle 28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14365" name="Oval 29"/>
          <p:cNvSpPr>
            <a:spLocks noChangeArrowheads="1"/>
          </p:cNvSpPr>
          <p:nvPr/>
        </p:nvSpPr>
        <p:spPr bwMode="auto">
          <a:xfrm>
            <a:off x="24447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66" name="Line 30"/>
          <p:cNvSpPr>
            <a:spLocks noChangeShapeType="1"/>
          </p:cNvSpPr>
          <p:nvPr/>
        </p:nvSpPr>
        <p:spPr bwMode="auto">
          <a:xfrm flipH="1">
            <a:off x="2743200" y="3733800"/>
            <a:ext cx="2286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67" name="Rectangle 31"/>
          <p:cNvSpPr>
            <a:spLocks noChangeArrowheads="1"/>
          </p:cNvSpPr>
          <p:nvPr/>
        </p:nvSpPr>
        <p:spPr bwMode="auto">
          <a:xfrm>
            <a:off x="2438400" y="441960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10</a:t>
            </a:r>
          </a:p>
        </p:txBody>
      </p:sp>
      <p:sp>
        <p:nvSpPr>
          <p:cNvPr id="14368" name="Rectangle 32"/>
          <p:cNvSpPr>
            <a:spLocks noChangeArrowheads="1"/>
          </p:cNvSpPr>
          <p:nvPr/>
        </p:nvSpPr>
        <p:spPr bwMode="auto">
          <a:xfrm>
            <a:off x="4267200" y="1524000"/>
            <a:ext cx="838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14369" name="Oval 33"/>
          <p:cNvSpPr>
            <a:spLocks noChangeArrowheads="1"/>
          </p:cNvSpPr>
          <p:nvPr/>
        </p:nvSpPr>
        <p:spPr bwMode="auto">
          <a:xfrm>
            <a:off x="34353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14370" name="Line 34"/>
          <p:cNvSpPr>
            <a:spLocks noChangeShapeType="1"/>
          </p:cNvSpPr>
          <p:nvPr/>
        </p:nvSpPr>
        <p:spPr bwMode="auto">
          <a:xfrm>
            <a:off x="3200400" y="3657600"/>
            <a:ext cx="4572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71" name="Rectangle 35"/>
          <p:cNvSpPr>
            <a:spLocks noChangeArrowheads="1"/>
          </p:cNvSpPr>
          <p:nvPr/>
        </p:nvSpPr>
        <p:spPr bwMode="auto">
          <a:xfrm>
            <a:off x="2879725" y="3306763"/>
            <a:ext cx="6254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11</a:t>
            </a:r>
          </a:p>
        </p:txBody>
      </p:sp>
      <p:sp>
        <p:nvSpPr>
          <p:cNvPr id="14372" name="Rectangle 36"/>
          <p:cNvSpPr>
            <a:spLocks noChangeArrowheads="1"/>
          </p:cNvSpPr>
          <p:nvPr/>
        </p:nvSpPr>
        <p:spPr bwMode="auto">
          <a:xfrm>
            <a:off x="2133600" y="25146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69807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400"/>
              <a:t>Initializing A Max Heap</a:t>
            </a:r>
          </a:p>
        </p:txBody>
      </p:sp>
      <p:sp>
        <p:nvSpPr>
          <p:cNvPr id="16387" name="Oval 3"/>
          <p:cNvSpPr>
            <a:spLocks noChangeArrowheads="1"/>
          </p:cNvSpPr>
          <p:nvPr/>
        </p:nvSpPr>
        <p:spPr bwMode="auto">
          <a:xfrm>
            <a:off x="4197350" y="14541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388" name="Oval 4"/>
          <p:cNvSpPr>
            <a:spLocks noChangeArrowheads="1"/>
          </p:cNvSpPr>
          <p:nvPr/>
        </p:nvSpPr>
        <p:spPr bwMode="auto">
          <a:xfrm>
            <a:off x="20637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389" name="Oval 5"/>
          <p:cNvSpPr>
            <a:spLocks noChangeArrowheads="1"/>
          </p:cNvSpPr>
          <p:nvPr/>
        </p:nvSpPr>
        <p:spPr bwMode="auto">
          <a:xfrm>
            <a:off x="6407150" y="2444750"/>
            <a:ext cx="444500" cy="4445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390" name="Oval 6"/>
          <p:cNvSpPr>
            <a:spLocks noChangeArrowheads="1"/>
          </p:cNvSpPr>
          <p:nvPr/>
        </p:nvSpPr>
        <p:spPr bwMode="auto">
          <a:xfrm>
            <a:off x="1073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391" name="Oval 7"/>
          <p:cNvSpPr>
            <a:spLocks noChangeArrowheads="1"/>
          </p:cNvSpPr>
          <p:nvPr/>
        </p:nvSpPr>
        <p:spPr bwMode="auto">
          <a:xfrm>
            <a:off x="28257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392" name="Oval 8"/>
          <p:cNvSpPr>
            <a:spLocks noChangeArrowheads="1"/>
          </p:cNvSpPr>
          <p:nvPr/>
        </p:nvSpPr>
        <p:spPr bwMode="auto">
          <a:xfrm>
            <a:off x="51879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393" name="Oval 9"/>
          <p:cNvSpPr>
            <a:spLocks noChangeArrowheads="1"/>
          </p:cNvSpPr>
          <p:nvPr/>
        </p:nvSpPr>
        <p:spPr bwMode="auto">
          <a:xfrm>
            <a:off x="7550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394" name="Oval 10"/>
          <p:cNvSpPr>
            <a:spLocks noChangeArrowheads="1"/>
          </p:cNvSpPr>
          <p:nvPr/>
        </p:nvSpPr>
        <p:spPr bwMode="auto">
          <a:xfrm>
            <a:off x="463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395" name="Oval 11"/>
          <p:cNvSpPr>
            <a:spLocks noChangeArrowheads="1"/>
          </p:cNvSpPr>
          <p:nvPr/>
        </p:nvSpPr>
        <p:spPr bwMode="auto">
          <a:xfrm>
            <a:off x="1606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396" name="Line 12"/>
          <p:cNvSpPr>
            <a:spLocks noChangeShapeType="1"/>
          </p:cNvSpPr>
          <p:nvPr/>
        </p:nvSpPr>
        <p:spPr bwMode="auto">
          <a:xfrm flipH="1">
            <a:off x="2514600" y="1752600"/>
            <a:ext cx="1676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397" name="Line 13"/>
          <p:cNvSpPr>
            <a:spLocks noChangeShapeType="1"/>
          </p:cNvSpPr>
          <p:nvPr/>
        </p:nvSpPr>
        <p:spPr bwMode="auto">
          <a:xfrm>
            <a:off x="4648200" y="175260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398" name="Line 14"/>
          <p:cNvSpPr>
            <a:spLocks noChangeShapeType="1"/>
          </p:cNvSpPr>
          <p:nvPr/>
        </p:nvSpPr>
        <p:spPr bwMode="auto">
          <a:xfrm flipH="1">
            <a:off x="1371600" y="281940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399" name="Line 15"/>
          <p:cNvSpPr>
            <a:spLocks noChangeShapeType="1"/>
          </p:cNvSpPr>
          <p:nvPr/>
        </p:nvSpPr>
        <p:spPr bwMode="auto">
          <a:xfrm>
            <a:off x="2438400" y="2819400"/>
            <a:ext cx="533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400" name="Line 16"/>
          <p:cNvSpPr>
            <a:spLocks noChangeShapeType="1"/>
          </p:cNvSpPr>
          <p:nvPr/>
        </p:nvSpPr>
        <p:spPr bwMode="auto">
          <a:xfrm flipH="1">
            <a:off x="5562600" y="2895600"/>
            <a:ext cx="914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401" name="Line 17"/>
          <p:cNvSpPr>
            <a:spLocks noChangeShapeType="1"/>
          </p:cNvSpPr>
          <p:nvPr/>
        </p:nvSpPr>
        <p:spPr bwMode="auto">
          <a:xfrm>
            <a:off x="6781800" y="2819400"/>
            <a:ext cx="838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402" name="Line 18"/>
          <p:cNvSpPr>
            <a:spLocks noChangeShapeType="1"/>
          </p:cNvSpPr>
          <p:nvPr/>
        </p:nvSpPr>
        <p:spPr bwMode="auto">
          <a:xfrm flipH="1">
            <a:off x="762000" y="365760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403" name="Line 19"/>
          <p:cNvSpPr>
            <a:spLocks noChangeShapeType="1"/>
          </p:cNvSpPr>
          <p:nvPr/>
        </p:nvSpPr>
        <p:spPr bwMode="auto">
          <a:xfrm>
            <a:off x="1447800" y="365760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404" name="Rectangle 20"/>
          <p:cNvSpPr>
            <a:spLocks noChangeArrowheads="1"/>
          </p:cNvSpPr>
          <p:nvPr/>
        </p:nvSpPr>
        <p:spPr bwMode="auto">
          <a:xfrm>
            <a:off x="34893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16405" name="Rectangle 21"/>
          <p:cNvSpPr>
            <a:spLocks noChangeArrowheads="1"/>
          </p:cNvSpPr>
          <p:nvPr/>
        </p:nvSpPr>
        <p:spPr bwMode="auto">
          <a:xfrm>
            <a:off x="1127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9</a:t>
            </a:r>
          </a:p>
        </p:txBody>
      </p:sp>
      <p:sp>
        <p:nvSpPr>
          <p:cNvPr id="16406" name="Rectangle 22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16407" name="Rectangle 23"/>
          <p:cNvSpPr>
            <a:spLocks noChangeArrowheads="1"/>
          </p:cNvSpPr>
          <p:nvPr/>
        </p:nvSpPr>
        <p:spPr bwMode="auto">
          <a:xfrm>
            <a:off x="52419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16408" name="Rectangle 24"/>
          <p:cNvSpPr>
            <a:spLocks noChangeArrowheads="1"/>
          </p:cNvSpPr>
          <p:nvPr/>
        </p:nvSpPr>
        <p:spPr bwMode="auto">
          <a:xfrm>
            <a:off x="7604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16409" name="Rectangle 25"/>
          <p:cNvSpPr>
            <a:spLocks noChangeArrowheads="1"/>
          </p:cNvSpPr>
          <p:nvPr/>
        </p:nvSpPr>
        <p:spPr bwMode="auto">
          <a:xfrm>
            <a:off x="517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16410" name="Rectangle 26"/>
          <p:cNvSpPr>
            <a:spLocks noChangeArrowheads="1"/>
          </p:cNvSpPr>
          <p:nvPr/>
        </p:nvSpPr>
        <p:spPr bwMode="auto">
          <a:xfrm>
            <a:off x="1660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16411" name="Rectangle 27"/>
          <p:cNvSpPr>
            <a:spLocks noChangeArrowheads="1"/>
          </p:cNvSpPr>
          <p:nvPr/>
        </p:nvSpPr>
        <p:spPr bwMode="auto">
          <a:xfrm>
            <a:off x="64611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16412" name="Rectangle 28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16413" name="Oval 29"/>
          <p:cNvSpPr>
            <a:spLocks noChangeArrowheads="1"/>
          </p:cNvSpPr>
          <p:nvPr/>
        </p:nvSpPr>
        <p:spPr bwMode="auto">
          <a:xfrm>
            <a:off x="24447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414" name="Line 30"/>
          <p:cNvSpPr>
            <a:spLocks noChangeShapeType="1"/>
          </p:cNvSpPr>
          <p:nvPr/>
        </p:nvSpPr>
        <p:spPr bwMode="auto">
          <a:xfrm flipH="1">
            <a:off x="2743200" y="3733800"/>
            <a:ext cx="2286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415" name="Rectangle 31"/>
          <p:cNvSpPr>
            <a:spLocks noChangeArrowheads="1"/>
          </p:cNvSpPr>
          <p:nvPr/>
        </p:nvSpPr>
        <p:spPr bwMode="auto">
          <a:xfrm>
            <a:off x="2438400" y="441960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10</a:t>
            </a:r>
          </a:p>
        </p:txBody>
      </p:sp>
      <p:sp>
        <p:nvSpPr>
          <p:cNvPr id="16416" name="Rectangle 32"/>
          <p:cNvSpPr>
            <a:spLocks noChangeArrowheads="1"/>
          </p:cNvSpPr>
          <p:nvPr/>
        </p:nvSpPr>
        <p:spPr bwMode="auto">
          <a:xfrm>
            <a:off x="4267200" y="1524000"/>
            <a:ext cx="838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16417" name="Oval 33"/>
          <p:cNvSpPr>
            <a:spLocks noChangeArrowheads="1"/>
          </p:cNvSpPr>
          <p:nvPr/>
        </p:nvSpPr>
        <p:spPr bwMode="auto">
          <a:xfrm>
            <a:off x="34353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16418" name="Line 34"/>
          <p:cNvSpPr>
            <a:spLocks noChangeShapeType="1"/>
          </p:cNvSpPr>
          <p:nvPr/>
        </p:nvSpPr>
        <p:spPr bwMode="auto">
          <a:xfrm>
            <a:off x="3200400" y="3657600"/>
            <a:ext cx="4572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419" name="Rectangle 35"/>
          <p:cNvSpPr>
            <a:spLocks noChangeArrowheads="1"/>
          </p:cNvSpPr>
          <p:nvPr/>
        </p:nvSpPr>
        <p:spPr bwMode="auto">
          <a:xfrm>
            <a:off x="2879725" y="3306763"/>
            <a:ext cx="6254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11</a:t>
            </a:r>
          </a:p>
        </p:txBody>
      </p:sp>
      <p:sp>
        <p:nvSpPr>
          <p:cNvPr id="16420" name="Rectangle 36"/>
          <p:cNvSpPr>
            <a:spLocks noChangeArrowheads="1"/>
          </p:cNvSpPr>
          <p:nvPr/>
        </p:nvSpPr>
        <p:spPr bwMode="auto">
          <a:xfrm>
            <a:off x="2133600" y="25146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911768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400"/>
              <a:t>Initializing A Max Heap</a:t>
            </a:r>
          </a:p>
        </p:txBody>
      </p:sp>
      <p:sp>
        <p:nvSpPr>
          <p:cNvPr id="18435" name="Oval 3"/>
          <p:cNvSpPr>
            <a:spLocks noChangeArrowheads="1"/>
          </p:cNvSpPr>
          <p:nvPr/>
        </p:nvSpPr>
        <p:spPr bwMode="auto">
          <a:xfrm>
            <a:off x="4197350" y="14541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36" name="Oval 4"/>
          <p:cNvSpPr>
            <a:spLocks noChangeArrowheads="1"/>
          </p:cNvSpPr>
          <p:nvPr/>
        </p:nvSpPr>
        <p:spPr bwMode="auto">
          <a:xfrm>
            <a:off x="2063750" y="2444750"/>
            <a:ext cx="444500" cy="4445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37" name="Oval 5"/>
          <p:cNvSpPr>
            <a:spLocks noChangeArrowheads="1"/>
          </p:cNvSpPr>
          <p:nvPr/>
        </p:nvSpPr>
        <p:spPr bwMode="auto">
          <a:xfrm>
            <a:off x="64071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38" name="Oval 6"/>
          <p:cNvSpPr>
            <a:spLocks noChangeArrowheads="1"/>
          </p:cNvSpPr>
          <p:nvPr/>
        </p:nvSpPr>
        <p:spPr bwMode="auto">
          <a:xfrm>
            <a:off x="1073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39" name="Oval 7"/>
          <p:cNvSpPr>
            <a:spLocks noChangeArrowheads="1"/>
          </p:cNvSpPr>
          <p:nvPr/>
        </p:nvSpPr>
        <p:spPr bwMode="auto">
          <a:xfrm>
            <a:off x="28257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40" name="Oval 8"/>
          <p:cNvSpPr>
            <a:spLocks noChangeArrowheads="1"/>
          </p:cNvSpPr>
          <p:nvPr/>
        </p:nvSpPr>
        <p:spPr bwMode="auto">
          <a:xfrm>
            <a:off x="51879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41" name="Oval 9"/>
          <p:cNvSpPr>
            <a:spLocks noChangeArrowheads="1"/>
          </p:cNvSpPr>
          <p:nvPr/>
        </p:nvSpPr>
        <p:spPr bwMode="auto">
          <a:xfrm>
            <a:off x="7550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42" name="Oval 10"/>
          <p:cNvSpPr>
            <a:spLocks noChangeArrowheads="1"/>
          </p:cNvSpPr>
          <p:nvPr/>
        </p:nvSpPr>
        <p:spPr bwMode="auto">
          <a:xfrm>
            <a:off x="463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43" name="Oval 11"/>
          <p:cNvSpPr>
            <a:spLocks noChangeArrowheads="1"/>
          </p:cNvSpPr>
          <p:nvPr/>
        </p:nvSpPr>
        <p:spPr bwMode="auto">
          <a:xfrm>
            <a:off x="1606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44" name="Line 12"/>
          <p:cNvSpPr>
            <a:spLocks noChangeShapeType="1"/>
          </p:cNvSpPr>
          <p:nvPr/>
        </p:nvSpPr>
        <p:spPr bwMode="auto">
          <a:xfrm flipH="1">
            <a:off x="2514600" y="1752600"/>
            <a:ext cx="1676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8445" name="Line 13"/>
          <p:cNvSpPr>
            <a:spLocks noChangeShapeType="1"/>
          </p:cNvSpPr>
          <p:nvPr/>
        </p:nvSpPr>
        <p:spPr bwMode="auto">
          <a:xfrm>
            <a:off x="4648200" y="175260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8446" name="Line 14"/>
          <p:cNvSpPr>
            <a:spLocks noChangeShapeType="1"/>
          </p:cNvSpPr>
          <p:nvPr/>
        </p:nvSpPr>
        <p:spPr bwMode="auto">
          <a:xfrm flipH="1">
            <a:off x="1371600" y="281940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8447" name="Line 15"/>
          <p:cNvSpPr>
            <a:spLocks noChangeShapeType="1"/>
          </p:cNvSpPr>
          <p:nvPr/>
        </p:nvSpPr>
        <p:spPr bwMode="auto">
          <a:xfrm>
            <a:off x="2438400" y="2819400"/>
            <a:ext cx="533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8448" name="Line 16"/>
          <p:cNvSpPr>
            <a:spLocks noChangeShapeType="1"/>
          </p:cNvSpPr>
          <p:nvPr/>
        </p:nvSpPr>
        <p:spPr bwMode="auto">
          <a:xfrm flipH="1">
            <a:off x="5562600" y="2895600"/>
            <a:ext cx="914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8449" name="Line 17"/>
          <p:cNvSpPr>
            <a:spLocks noChangeShapeType="1"/>
          </p:cNvSpPr>
          <p:nvPr/>
        </p:nvSpPr>
        <p:spPr bwMode="auto">
          <a:xfrm>
            <a:off x="6781800" y="2819400"/>
            <a:ext cx="838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8450" name="Line 18"/>
          <p:cNvSpPr>
            <a:spLocks noChangeShapeType="1"/>
          </p:cNvSpPr>
          <p:nvPr/>
        </p:nvSpPr>
        <p:spPr bwMode="auto">
          <a:xfrm flipH="1">
            <a:off x="762000" y="365760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8451" name="Line 19"/>
          <p:cNvSpPr>
            <a:spLocks noChangeShapeType="1"/>
          </p:cNvSpPr>
          <p:nvPr/>
        </p:nvSpPr>
        <p:spPr bwMode="auto">
          <a:xfrm>
            <a:off x="1447800" y="365760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8452" name="Rectangle 20"/>
          <p:cNvSpPr>
            <a:spLocks noChangeArrowheads="1"/>
          </p:cNvSpPr>
          <p:nvPr/>
        </p:nvSpPr>
        <p:spPr bwMode="auto">
          <a:xfrm>
            <a:off x="34893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18453" name="Rectangle 21"/>
          <p:cNvSpPr>
            <a:spLocks noChangeArrowheads="1"/>
          </p:cNvSpPr>
          <p:nvPr/>
        </p:nvSpPr>
        <p:spPr bwMode="auto">
          <a:xfrm>
            <a:off x="1127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9</a:t>
            </a:r>
          </a:p>
        </p:txBody>
      </p:sp>
      <p:sp>
        <p:nvSpPr>
          <p:cNvPr id="18454" name="Rectangle 22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18455" name="Rectangle 23"/>
          <p:cNvSpPr>
            <a:spLocks noChangeArrowheads="1"/>
          </p:cNvSpPr>
          <p:nvPr/>
        </p:nvSpPr>
        <p:spPr bwMode="auto">
          <a:xfrm>
            <a:off x="52419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18456" name="Rectangle 24"/>
          <p:cNvSpPr>
            <a:spLocks noChangeArrowheads="1"/>
          </p:cNvSpPr>
          <p:nvPr/>
        </p:nvSpPr>
        <p:spPr bwMode="auto">
          <a:xfrm>
            <a:off x="7604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18457" name="Rectangle 25"/>
          <p:cNvSpPr>
            <a:spLocks noChangeArrowheads="1"/>
          </p:cNvSpPr>
          <p:nvPr/>
        </p:nvSpPr>
        <p:spPr bwMode="auto">
          <a:xfrm>
            <a:off x="517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18458" name="Rectangle 26"/>
          <p:cNvSpPr>
            <a:spLocks noChangeArrowheads="1"/>
          </p:cNvSpPr>
          <p:nvPr/>
        </p:nvSpPr>
        <p:spPr bwMode="auto">
          <a:xfrm>
            <a:off x="1660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18459" name="Rectangle 27"/>
          <p:cNvSpPr>
            <a:spLocks noChangeArrowheads="1"/>
          </p:cNvSpPr>
          <p:nvPr/>
        </p:nvSpPr>
        <p:spPr bwMode="auto">
          <a:xfrm>
            <a:off x="64611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18460" name="Rectangle 28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18461" name="Oval 29"/>
          <p:cNvSpPr>
            <a:spLocks noChangeArrowheads="1"/>
          </p:cNvSpPr>
          <p:nvPr/>
        </p:nvSpPr>
        <p:spPr bwMode="auto">
          <a:xfrm>
            <a:off x="24447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62" name="Line 30"/>
          <p:cNvSpPr>
            <a:spLocks noChangeShapeType="1"/>
          </p:cNvSpPr>
          <p:nvPr/>
        </p:nvSpPr>
        <p:spPr bwMode="auto">
          <a:xfrm flipH="1">
            <a:off x="2743200" y="3733800"/>
            <a:ext cx="2286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8463" name="Rectangle 31"/>
          <p:cNvSpPr>
            <a:spLocks noChangeArrowheads="1"/>
          </p:cNvSpPr>
          <p:nvPr/>
        </p:nvSpPr>
        <p:spPr bwMode="auto">
          <a:xfrm>
            <a:off x="2438400" y="441960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10</a:t>
            </a:r>
          </a:p>
        </p:txBody>
      </p:sp>
      <p:sp>
        <p:nvSpPr>
          <p:cNvPr id="18464" name="Rectangle 32"/>
          <p:cNvSpPr>
            <a:spLocks noChangeArrowheads="1"/>
          </p:cNvSpPr>
          <p:nvPr/>
        </p:nvSpPr>
        <p:spPr bwMode="auto">
          <a:xfrm>
            <a:off x="4267200" y="1524000"/>
            <a:ext cx="838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18465" name="Oval 33"/>
          <p:cNvSpPr>
            <a:spLocks noChangeArrowheads="1"/>
          </p:cNvSpPr>
          <p:nvPr/>
        </p:nvSpPr>
        <p:spPr bwMode="auto">
          <a:xfrm>
            <a:off x="34353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18466" name="Line 34"/>
          <p:cNvSpPr>
            <a:spLocks noChangeShapeType="1"/>
          </p:cNvSpPr>
          <p:nvPr/>
        </p:nvSpPr>
        <p:spPr bwMode="auto">
          <a:xfrm>
            <a:off x="3200400" y="3657600"/>
            <a:ext cx="4572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8467" name="Rectangle 35"/>
          <p:cNvSpPr>
            <a:spLocks noChangeArrowheads="1"/>
          </p:cNvSpPr>
          <p:nvPr/>
        </p:nvSpPr>
        <p:spPr bwMode="auto">
          <a:xfrm>
            <a:off x="2879725" y="3306763"/>
            <a:ext cx="6254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11</a:t>
            </a:r>
          </a:p>
        </p:txBody>
      </p:sp>
      <p:sp>
        <p:nvSpPr>
          <p:cNvPr id="18468" name="Rectangle 36"/>
          <p:cNvSpPr>
            <a:spLocks noChangeArrowheads="1"/>
          </p:cNvSpPr>
          <p:nvPr/>
        </p:nvSpPr>
        <p:spPr bwMode="auto">
          <a:xfrm>
            <a:off x="2133600" y="25146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161223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400"/>
              <a:t>Initializing A Max Heap</a:t>
            </a:r>
          </a:p>
        </p:txBody>
      </p:sp>
      <p:sp>
        <p:nvSpPr>
          <p:cNvPr id="20483" name="Oval 3"/>
          <p:cNvSpPr>
            <a:spLocks noChangeArrowheads="1"/>
          </p:cNvSpPr>
          <p:nvPr/>
        </p:nvSpPr>
        <p:spPr bwMode="auto">
          <a:xfrm>
            <a:off x="4197350" y="14541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0484" name="Oval 4"/>
          <p:cNvSpPr>
            <a:spLocks noChangeArrowheads="1"/>
          </p:cNvSpPr>
          <p:nvPr/>
        </p:nvSpPr>
        <p:spPr bwMode="auto">
          <a:xfrm>
            <a:off x="2063750" y="2444750"/>
            <a:ext cx="444500" cy="4445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0485" name="Oval 5"/>
          <p:cNvSpPr>
            <a:spLocks noChangeArrowheads="1"/>
          </p:cNvSpPr>
          <p:nvPr/>
        </p:nvSpPr>
        <p:spPr bwMode="auto">
          <a:xfrm>
            <a:off x="64071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0486" name="Oval 6"/>
          <p:cNvSpPr>
            <a:spLocks noChangeArrowheads="1"/>
          </p:cNvSpPr>
          <p:nvPr/>
        </p:nvSpPr>
        <p:spPr bwMode="auto">
          <a:xfrm>
            <a:off x="1073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0487" name="Oval 7"/>
          <p:cNvSpPr>
            <a:spLocks noChangeArrowheads="1"/>
          </p:cNvSpPr>
          <p:nvPr/>
        </p:nvSpPr>
        <p:spPr bwMode="auto">
          <a:xfrm>
            <a:off x="2825750" y="32829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0488" name="Oval 8"/>
          <p:cNvSpPr>
            <a:spLocks noChangeArrowheads="1"/>
          </p:cNvSpPr>
          <p:nvPr/>
        </p:nvSpPr>
        <p:spPr bwMode="auto">
          <a:xfrm>
            <a:off x="51879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0489" name="Oval 9"/>
          <p:cNvSpPr>
            <a:spLocks noChangeArrowheads="1"/>
          </p:cNvSpPr>
          <p:nvPr/>
        </p:nvSpPr>
        <p:spPr bwMode="auto">
          <a:xfrm>
            <a:off x="7550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0490" name="Oval 10"/>
          <p:cNvSpPr>
            <a:spLocks noChangeArrowheads="1"/>
          </p:cNvSpPr>
          <p:nvPr/>
        </p:nvSpPr>
        <p:spPr bwMode="auto">
          <a:xfrm>
            <a:off x="463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0491" name="Oval 11"/>
          <p:cNvSpPr>
            <a:spLocks noChangeArrowheads="1"/>
          </p:cNvSpPr>
          <p:nvPr/>
        </p:nvSpPr>
        <p:spPr bwMode="auto">
          <a:xfrm>
            <a:off x="1606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0492" name="Line 12"/>
          <p:cNvSpPr>
            <a:spLocks noChangeShapeType="1"/>
          </p:cNvSpPr>
          <p:nvPr/>
        </p:nvSpPr>
        <p:spPr bwMode="auto">
          <a:xfrm flipH="1">
            <a:off x="2514600" y="1752600"/>
            <a:ext cx="1676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0493" name="Line 13"/>
          <p:cNvSpPr>
            <a:spLocks noChangeShapeType="1"/>
          </p:cNvSpPr>
          <p:nvPr/>
        </p:nvSpPr>
        <p:spPr bwMode="auto">
          <a:xfrm>
            <a:off x="4648200" y="175260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0494" name="Line 14"/>
          <p:cNvSpPr>
            <a:spLocks noChangeShapeType="1"/>
          </p:cNvSpPr>
          <p:nvPr/>
        </p:nvSpPr>
        <p:spPr bwMode="auto">
          <a:xfrm flipH="1">
            <a:off x="1371600" y="281940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0495" name="Line 15"/>
          <p:cNvSpPr>
            <a:spLocks noChangeShapeType="1"/>
          </p:cNvSpPr>
          <p:nvPr/>
        </p:nvSpPr>
        <p:spPr bwMode="auto">
          <a:xfrm>
            <a:off x="2438400" y="2819400"/>
            <a:ext cx="533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0496" name="Line 16"/>
          <p:cNvSpPr>
            <a:spLocks noChangeShapeType="1"/>
          </p:cNvSpPr>
          <p:nvPr/>
        </p:nvSpPr>
        <p:spPr bwMode="auto">
          <a:xfrm flipH="1">
            <a:off x="5562600" y="2895600"/>
            <a:ext cx="914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0497" name="Line 17"/>
          <p:cNvSpPr>
            <a:spLocks noChangeShapeType="1"/>
          </p:cNvSpPr>
          <p:nvPr/>
        </p:nvSpPr>
        <p:spPr bwMode="auto">
          <a:xfrm>
            <a:off x="6781800" y="2819400"/>
            <a:ext cx="838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0498" name="Line 18"/>
          <p:cNvSpPr>
            <a:spLocks noChangeShapeType="1"/>
          </p:cNvSpPr>
          <p:nvPr/>
        </p:nvSpPr>
        <p:spPr bwMode="auto">
          <a:xfrm flipH="1">
            <a:off x="762000" y="365760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0499" name="Line 19"/>
          <p:cNvSpPr>
            <a:spLocks noChangeShapeType="1"/>
          </p:cNvSpPr>
          <p:nvPr/>
        </p:nvSpPr>
        <p:spPr bwMode="auto">
          <a:xfrm>
            <a:off x="1447800" y="365760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0500" name="Rectangle 20"/>
          <p:cNvSpPr>
            <a:spLocks noChangeArrowheads="1"/>
          </p:cNvSpPr>
          <p:nvPr/>
        </p:nvSpPr>
        <p:spPr bwMode="auto">
          <a:xfrm>
            <a:off x="34893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20501" name="Rectangle 21"/>
          <p:cNvSpPr>
            <a:spLocks noChangeArrowheads="1"/>
          </p:cNvSpPr>
          <p:nvPr/>
        </p:nvSpPr>
        <p:spPr bwMode="auto">
          <a:xfrm>
            <a:off x="1127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9</a:t>
            </a:r>
          </a:p>
        </p:txBody>
      </p:sp>
      <p:sp>
        <p:nvSpPr>
          <p:cNvPr id="20502" name="Rectangle 22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20503" name="Rectangle 23"/>
          <p:cNvSpPr>
            <a:spLocks noChangeArrowheads="1"/>
          </p:cNvSpPr>
          <p:nvPr/>
        </p:nvSpPr>
        <p:spPr bwMode="auto">
          <a:xfrm>
            <a:off x="52419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20504" name="Rectangle 24"/>
          <p:cNvSpPr>
            <a:spLocks noChangeArrowheads="1"/>
          </p:cNvSpPr>
          <p:nvPr/>
        </p:nvSpPr>
        <p:spPr bwMode="auto">
          <a:xfrm>
            <a:off x="7604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20505" name="Rectangle 25"/>
          <p:cNvSpPr>
            <a:spLocks noChangeArrowheads="1"/>
          </p:cNvSpPr>
          <p:nvPr/>
        </p:nvSpPr>
        <p:spPr bwMode="auto">
          <a:xfrm>
            <a:off x="517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20506" name="Rectangle 26"/>
          <p:cNvSpPr>
            <a:spLocks noChangeArrowheads="1"/>
          </p:cNvSpPr>
          <p:nvPr/>
        </p:nvSpPr>
        <p:spPr bwMode="auto">
          <a:xfrm>
            <a:off x="1660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20507" name="Rectangle 27"/>
          <p:cNvSpPr>
            <a:spLocks noChangeArrowheads="1"/>
          </p:cNvSpPr>
          <p:nvPr/>
        </p:nvSpPr>
        <p:spPr bwMode="auto">
          <a:xfrm>
            <a:off x="64611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20508" name="Rectangle 28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20509" name="Oval 29"/>
          <p:cNvSpPr>
            <a:spLocks noChangeArrowheads="1"/>
          </p:cNvSpPr>
          <p:nvPr/>
        </p:nvSpPr>
        <p:spPr bwMode="auto">
          <a:xfrm>
            <a:off x="24447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0510" name="Line 30"/>
          <p:cNvSpPr>
            <a:spLocks noChangeShapeType="1"/>
          </p:cNvSpPr>
          <p:nvPr/>
        </p:nvSpPr>
        <p:spPr bwMode="auto">
          <a:xfrm flipH="1">
            <a:off x="2743200" y="3733800"/>
            <a:ext cx="2286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0511" name="Rectangle 31"/>
          <p:cNvSpPr>
            <a:spLocks noChangeArrowheads="1"/>
          </p:cNvSpPr>
          <p:nvPr/>
        </p:nvSpPr>
        <p:spPr bwMode="auto">
          <a:xfrm>
            <a:off x="2438400" y="441960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10</a:t>
            </a:r>
          </a:p>
        </p:txBody>
      </p:sp>
      <p:sp>
        <p:nvSpPr>
          <p:cNvPr id="20512" name="Rectangle 32"/>
          <p:cNvSpPr>
            <a:spLocks noChangeArrowheads="1"/>
          </p:cNvSpPr>
          <p:nvPr/>
        </p:nvSpPr>
        <p:spPr bwMode="auto">
          <a:xfrm>
            <a:off x="4267200" y="1524000"/>
            <a:ext cx="838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20513" name="Oval 33"/>
          <p:cNvSpPr>
            <a:spLocks noChangeArrowheads="1"/>
          </p:cNvSpPr>
          <p:nvPr/>
        </p:nvSpPr>
        <p:spPr bwMode="auto">
          <a:xfrm>
            <a:off x="34353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20514" name="Line 34"/>
          <p:cNvSpPr>
            <a:spLocks noChangeShapeType="1"/>
          </p:cNvSpPr>
          <p:nvPr/>
        </p:nvSpPr>
        <p:spPr bwMode="auto">
          <a:xfrm>
            <a:off x="3200400" y="3657600"/>
            <a:ext cx="4572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0515" name="Rectangle 35"/>
          <p:cNvSpPr>
            <a:spLocks noChangeArrowheads="1"/>
          </p:cNvSpPr>
          <p:nvPr/>
        </p:nvSpPr>
        <p:spPr bwMode="auto">
          <a:xfrm>
            <a:off x="2057400" y="25146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11</a:t>
            </a:r>
          </a:p>
        </p:txBody>
      </p:sp>
      <p:sp>
        <p:nvSpPr>
          <p:cNvPr id="20516" name="Rectangle 36"/>
          <p:cNvSpPr>
            <a:spLocks noChangeArrowheads="1"/>
          </p:cNvSpPr>
          <p:nvPr/>
        </p:nvSpPr>
        <p:spPr bwMode="auto">
          <a:xfrm>
            <a:off x="1676400" y="5638800"/>
            <a:ext cx="5791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>
                <a:solidFill>
                  <a:schemeClr val="bg2"/>
                </a:solidFill>
              </a:rPr>
              <a:t>Find a home for </a:t>
            </a:r>
            <a:r>
              <a:rPr lang="en-US" altLang="en-US" sz="3200">
                <a:solidFill>
                  <a:schemeClr val="hlink"/>
                </a:solidFill>
              </a:rPr>
              <a:t>2</a:t>
            </a:r>
            <a:r>
              <a:rPr lang="en-US" altLang="en-US" sz="3200">
                <a:solidFill>
                  <a:schemeClr val="bg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0056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400"/>
              <a:t>Initializing A Max Heap</a:t>
            </a:r>
          </a:p>
        </p:txBody>
      </p:sp>
      <p:sp>
        <p:nvSpPr>
          <p:cNvPr id="22531" name="Oval 3"/>
          <p:cNvSpPr>
            <a:spLocks noChangeArrowheads="1"/>
          </p:cNvSpPr>
          <p:nvPr/>
        </p:nvSpPr>
        <p:spPr bwMode="auto">
          <a:xfrm>
            <a:off x="4197350" y="14541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532" name="Oval 4"/>
          <p:cNvSpPr>
            <a:spLocks noChangeArrowheads="1"/>
          </p:cNvSpPr>
          <p:nvPr/>
        </p:nvSpPr>
        <p:spPr bwMode="auto">
          <a:xfrm>
            <a:off x="2063750" y="2444750"/>
            <a:ext cx="444500" cy="4445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533" name="Oval 5"/>
          <p:cNvSpPr>
            <a:spLocks noChangeArrowheads="1"/>
          </p:cNvSpPr>
          <p:nvPr/>
        </p:nvSpPr>
        <p:spPr bwMode="auto">
          <a:xfrm>
            <a:off x="64071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534" name="Oval 6"/>
          <p:cNvSpPr>
            <a:spLocks noChangeArrowheads="1"/>
          </p:cNvSpPr>
          <p:nvPr/>
        </p:nvSpPr>
        <p:spPr bwMode="auto">
          <a:xfrm>
            <a:off x="1073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535" name="Oval 7"/>
          <p:cNvSpPr>
            <a:spLocks noChangeArrowheads="1"/>
          </p:cNvSpPr>
          <p:nvPr/>
        </p:nvSpPr>
        <p:spPr bwMode="auto">
          <a:xfrm>
            <a:off x="28257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536" name="Oval 8"/>
          <p:cNvSpPr>
            <a:spLocks noChangeArrowheads="1"/>
          </p:cNvSpPr>
          <p:nvPr/>
        </p:nvSpPr>
        <p:spPr bwMode="auto">
          <a:xfrm>
            <a:off x="51879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537" name="Oval 9"/>
          <p:cNvSpPr>
            <a:spLocks noChangeArrowheads="1"/>
          </p:cNvSpPr>
          <p:nvPr/>
        </p:nvSpPr>
        <p:spPr bwMode="auto">
          <a:xfrm>
            <a:off x="7550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538" name="Oval 10"/>
          <p:cNvSpPr>
            <a:spLocks noChangeArrowheads="1"/>
          </p:cNvSpPr>
          <p:nvPr/>
        </p:nvSpPr>
        <p:spPr bwMode="auto">
          <a:xfrm>
            <a:off x="463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539" name="Oval 11"/>
          <p:cNvSpPr>
            <a:spLocks noChangeArrowheads="1"/>
          </p:cNvSpPr>
          <p:nvPr/>
        </p:nvSpPr>
        <p:spPr bwMode="auto">
          <a:xfrm>
            <a:off x="1606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540" name="Line 12"/>
          <p:cNvSpPr>
            <a:spLocks noChangeShapeType="1"/>
          </p:cNvSpPr>
          <p:nvPr/>
        </p:nvSpPr>
        <p:spPr bwMode="auto">
          <a:xfrm flipH="1">
            <a:off x="2514600" y="1752600"/>
            <a:ext cx="1676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541" name="Line 13"/>
          <p:cNvSpPr>
            <a:spLocks noChangeShapeType="1"/>
          </p:cNvSpPr>
          <p:nvPr/>
        </p:nvSpPr>
        <p:spPr bwMode="auto">
          <a:xfrm>
            <a:off x="4648200" y="175260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542" name="Line 14"/>
          <p:cNvSpPr>
            <a:spLocks noChangeShapeType="1"/>
          </p:cNvSpPr>
          <p:nvPr/>
        </p:nvSpPr>
        <p:spPr bwMode="auto">
          <a:xfrm flipH="1">
            <a:off x="1371600" y="281940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543" name="Line 15"/>
          <p:cNvSpPr>
            <a:spLocks noChangeShapeType="1"/>
          </p:cNvSpPr>
          <p:nvPr/>
        </p:nvSpPr>
        <p:spPr bwMode="auto">
          <a:xfrm>
            <a:off x="2438400" y="2819400"/>
            <a:ext cx="533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544" name="Line 16"/>
          <p:cNvSpPr>
            <a:spLocks noChangeShapeType="1"/>
          </p:cNvSpPr>
          <p:nvPr/>
        </p:nvSpPr>
        <p:spPr bwMode="auto">
          <a:xfrm flipH="1">
            <a:off x="5562600" y="2895600"/>
            <a:ext cx="914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545" name="Line 17"/>
          <p:cNvSpPr>
            <a:spLocks noChangeShapeType="1"/>
          </p:cNvSpPr>
          <p:nvPr/>
        </p:nvSpPr>
        <p:spPr bwMode="auto">
          <a:xfrm>
            <a:off x="6781800" y="2819400"/>
            <a:ext cx="838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546" name="Line 18"/>
          <p:cNvSpPr>
            <a:spLocks noChangeShapeType="1"/>
          </p:cNvSpPr>
          <p:nvPr/>
        </p:nvSpPr>
        <p:spPr bwMode="auto">
          <a:xfrm flipH="1">
            <a:off x="762000" y="365760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547" name="Line 19"/>
          <p:cNvSpPr>
            <a:spLocks noChangeShapeType="1"/>
          </p:cNvSpPr>
          <p:nvPr/>
        </p:nvSpPr>
        <p:spPr bwMode="auto">
          <a:xfrm>
            <a:off x="1447800" y="365760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548" name="Rectangle 20"/>
          <p:cNvSpPr>
            <a:spLocks noChangeArrowheads="1"/>
          </p:cNvSpPr>
          <p:nvPr/>
        </p:nvSpPr>
        <p:spPr bwMode="auto">
          <a:xfrm>
            <a:off x="25749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22549" name="Rectangle 21"/>
          <p:cNvSpPr>
            <a:spLocks noChangeArrowheads="1"/>
          </p:cNvSpPr>
          <p:nvPr/>
        </p:nvSpPr>
        <p:spPr bwMode="auto">
          <a:xfrm>
            <a:off x="1127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9</a:t>
            </a:r>
          </a:p>
        </p:txBody>
      </p:sp>
      <p:sp>
        <p:nvSpPr>
          <p:cNvPr id="22550" name="Rectangle 22"/>
          <p:cNvSpPr>
            <a:spLocks noChangeArrowheads="1"/>
          </p:cNvSpPr>
          <p:nvPr/>
        </p:nvSpPr>
        <p:spPr bwMode="auto">
          <a:xfrm>
            <a:off x="34893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22551" name="Rectangle 23"/>
          <p:cNvSpPr>
            <a:spLocks noChangeArrowheads="1"/>
          </p:cNvSpPr>
          <p:nvPr/>
        </p:nvSpPr>
        <p:spPr bwMode="auto">
          <a:xfrm>
            <a:off x="52419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22552" name="Rectangle 24"/>
          <p:cNvSpPr>
            <a:spLocks noChangeArrowheads="1"/>
          </p:cNvSpPr>
          <p:nvPr/>
        </p:nvSpPr>
        <p:spPr bwMode="auto">
          <a:xfrm>
            <a:off x="7604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22553" name="Rectangle 25"/>
          <p:cNvSpPr>
            <a:spLocks noChangeArrowheads="1"/>
          </p:cNvSpPr>
          <p:nvPr/>
        </p:nvSpPr>
        <p:spPr bwMode="auto">
          <a:xfrm>
            <a:off x="517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22554" name="Rectangle 26"/>
          <p:cNvSpPr>
            <a:spLocks noChangeArrowheads="1"/>
          </p:cNvSpPr>
          <p:nvPr/>
        </p:nvSpPr>
        <p:spPr bwMode="auto">
          <a:xfrm>
            <a:off x="1660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22555" name="Rectangle 27"/>
          <p:cNvSpPr>
            <a:spLocks noChangeArrowheads="1"/>
          </p:cNvSpPr>
          <p:nvPr/>
        </p:nvSpPr>
        <p:spPr bwMode="auto">
          <a:xfrm>
            <a:off x="64611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22556" name="Rectangle 28"/>
          <p:cNvSpPr>
            <a:spLocks noChangeArrowheads="1"/>
          </p:cNvSpPr>
          <p:nvPr/>
        </p:nvSpPr>
        <p:spPr bwMode="auto">
          <a:xfrm>
            <a:off x="34893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22557" name="Oval 29"/>
          <p:cNvSpPr>
            <a:spLocks noChangeArrowheads="1"/>
          </p:cNvSpPr>
          <p:nvPr/>
        </p:nvSpPr>
        <p:spPr bwMode="auto">
          <a:xfrm>
            <a:off x="34353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558" name="Line 30"/>
          <p:cNvSpPr>
            <a:spLocks noChangeShapeType="1"/>
          </p:cNvSpPr>
          <p:nvPr/>
        </p:nvSpPr>
        <p:spPr bwMode="auto">
          <a:xfrm flipH="1">
            <a:off x="2743200" y="3733800"/>
            <a:ext cx="2286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559" name="Rectangle 31"/>
          <p:cNvSpPr>
            <a:spLocks noChangeArrowheads="1"/>
          </p:cNvSpPr>
          <p:nvPr/>
        </p:nvSpPr>
        <p:spPr bwMode="auto">
          <a:xfrm>
            <a:off x="3505200" y="441960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22560" name="Rectangle 32"/>
          <p:cNvSpPr>
            <a:spLocks noChangeArrowheads="1"/>
          </p:cNvSpPr>
          <p:nvPr/>
        </p:nvSpPr>
        <p:spPr bwMode="auto">
          <a:xfrm>
            <a:off x="4267200" y="1524000"/>
            <a:ext cx="838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22561" name="Oval 33"/>
          <p:cNvSpPr>
            <a:spLocks noChangeArrowheads="1"/>
          </p:cNvSpPr>
          <p:nvPr/>
        </p:nvSpPr>
        <p:spPr bwMode="auto">
          <a:xfrm>
            <a:off x="2520950" y="43497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562" name="Line 34"/>
          <p:cNvSpPr>
            <a:spLocks noChangeShapeType="1"/>
          </p:cNvSpPr>
          <p:nvPr/>
        </p:nvSpPr>
        <p:spPr bwMode="auto">
          <a:xfrm>
            <a:off x="3200400" y="3657600"/>
            <a:ext cx="4572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563" name="Rectangle 35"/>
          <p:cNvSpPr>
            <a:spLocks noChangeArrowheads="1"/>
          </p:cNvSpPr>
          <p:nvPr/>
        </p:nvSpPr>
        <p:spPr bwMode="auto">
          <a:xfrm>
            <a:off x="2057400" y="25146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11</a:t>
            </a:r>
          </a:p>
        </p:txBody>
      </p:sp>
      <p:sp>
        <p:nvSpPr>
          <p:cNvPr id="22564" name="Rectangle 36"/>
          <p:cNvSpPr>
            <a:spLocks noChangeArrowheads="1"/>
          </p:cNvSpPr>
          <p:nvPr/>
        </p:nvSpPr>
        <p:spPr bwMode="auto">
          <a:xfrm>
            <a:off x="1676400" y="5638800"/>
            <a:ext cx="5791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>
                <a:solidFill>
                  <a:schemeClr val="bg2"/>
                </a:solidFill>
              </a:rPr>
              <a:t>Find a home for </a:t>
            </a:r>
            <a:r>
              <a:rPr lang="en-US" altLang="en-US" sz="3200">
                <a:solidFill>
                  <a:schemeClr val="hlink"/>
                </a:solidFill>
              </a:rPr>
              <a:t>2</a:t>
            </a:r>
            <a:r>
              <a:rPr lang="en-US" altLang="en-US" sz="3200">
                <a:solidFill>
                  <a:schemeClr val="bg2"/>
                </a:solidFill>
              </a:rPr>
              <a:t>.</a:t>
            </a:r>
          </a:p>
        </p:txBody>
      </p:sp>
      <p:sp>
        <p:nvSpPr>
          <p:cNvPr id="22565" name="Rectangle 37"/>
          <p:cNvSpPr>
            <a:spLocks noChangeArrowheads="1"/>
          </p:cNvSpPr>
          <p:nvPr/>
        </p:nvSpPr>
        <p:spPr bwMode="auto">
          <a:xfrm>
            <a:off x="2803525" y="3306763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823451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400"/>
              <a:t>Initializing A Max Heap</a:t>
            </a:r>
          </a:p>
        </p:txBody>
      </p:sp>
      <p:sp>
        <p:nvSpPr>
          <p:cNvPr id="24579" name="Oval 3"/>
          <p:cNvSpPr>
            <a:spLocks noChangeArrowheads="1"/>
          </p:cNvSpPr>
          <p:nvPr/>
        </p:nvSpPr>
        <p:spPr bwMode="auto">
          <a:xfrm>
            <a:off x="4197350" y="14541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580" name="Oval 4"/>
          <p:cNvSpPr>
            <a:spLocks noChangeArrowheads="1"/>
          </p:cNvSpPr>
          <p:nvPr/>
        </p:nvSpPr>
        <p:spPr bwMode="auto">
          <a:xfrm>
            <a:off x="2063750" y="2444750"/>
            <a:ext cx="444500" cy="4445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581" name="Oval 5"/>
          <p:cNvSpPr>
            <a:spLocks noChangeArrowheads="1"/>
          </p:cNvSpPr>
          <p:nvPr/>
        </p:nvSpPr>
        <p:spPr bwMode="auto">
          <a:xfrm>
            <a:off x="64071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582" name="Oval 6"/>
          <p:cNvSpPr>
            <a:spLocks noChangeArrowheads="1"/>
          </p:cNvSpPr>
          <p:nvPr/>
        </p:nvSpPr>
        <p:spPr bwMode="auto">
          <a:xfrm>
            <a:off x="1073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583" name="Oval 7"/>
          <p:cNvSpPr>
            <a:spLocks noChangeArrowheads="1"/>
          </p:cNvSpPr>
          <p:nvPr/>
        </p:nvSpPr>
        <p:spPr bwMode="auto">
          <a:xfrm>
            <a:off x="28257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584" name="Oval 8"/>
          <p:cNvSpPr>
            <a:spLocks noChangeArrowheads="1"/>
          </p:cNvSpPr>
          <p:nvPr/>
        </p:nvSpPr>
        <p:spPr bwMode="auto">
          <a:xfrm>
            <a:off x="51879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585" name="Oval 9"/>
          <p:cNvSpPr>
            <a:spLocks noChangeArrowheads="1"/>
          </p:cNvSpPr>
          <p:nvPr/>
        </p:nvSpPr>
        <p:spPr bwMode="auto">
          <a:xfrm>
            <a:off x="7550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586" name="Oval 10"/>
          <p:cNvSpPr>
            <a:spLocks noChangeArrowheads="1"/>
          </p:cNvSpPr>
          <p:nvPr/>
        </p:nvSpPr>
        <p:spPr bwMode="auto">
          <a:xfrm>
            <a:off x="463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587" name="Oval 11"/>
          <p:cNvSpPr>
            <a:spLocks noChangeArrowheads="1"/>
          </p:cNvSpPr>
          <p:nvPr/>
        </p:nvSpPr>
        <p:spPr bwMode="auto">
          <a:xfrm>
            <a:off x="1606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588" name="Line 12"/>
          <p:cNvSpPr>
            <a:spLocks noChangeShapeType="1"/>
          </p:cNvSpPr>
          <p:nvPr/>
        </p:nvSpPr>
        <p:spPr bwMode="auto">
          <a:xfrm flipH="1">
            <a:off x="2514600" y="1752600"/>
            <a:ext cx="1676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589" name="Line 13"/>
          <p:cNvSpPr>
            <a:spLocks noChangeShapeType="1"/>
          </p:cNvSpPr>
          <p:nvPr/>
        </p:nvSpPr>
        <p:spPr bwMode="auto">
          <a:xfrm>
            <a:off x="4648200" y="175260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590" name="Line 14"/>
          <p:cNvSpPr>
            <a:spLocks noChangeShapeType="1"/>
          </p:cNvSpPr>
          <p:nvPr/>
        </p:nvSpPr>
        <p:spPr bwMode="auto">
          <a:xfrm flipH="1">
            <a:off x="1371600" y="281940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591" name="Line 15"/>
          <p:cNvSpPr>
            <a:spLocks noChangeShapeType="1"/>
          </p:cNvSpPr>
          <p:nvPr/>
        </p:nvSpPr>
        <p:spPr bwMode="auto">
          <a:xfrm>
            <a:off x="2438400" y="2819400"/>
            <a:ext cx="533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592" name="Line 16"/>
          <p:cNvSpPr>
            <a:spLocks noChangeShapeType="1"/>
          </p:cNvSpPr>
          <p:nvPr/>
        </p:nvSpPr>
        <p:spPr bwMode="auto">
          <a:xfrm flipH="1">
            <a:off x="5562600" y="2895600"/>
            <a:ext cx="914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593" name="Line 17"/>
          <p:cNvSpPr>
            <a:spLocks noChangeShapeType="1"/>
          </p:cNvSpPr>
          <p:nvPr/>
        </p:nvSpPr>
        <p:spPr bwMode="auto">
          <a:xfrm>
            <a:off x="6781800" y="2819400"/>
            <a:ext cx="838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594" name="Line 18"/>
          <p:cNvSpPr>
            <a:spLocks noChangeShapeType="1"/>
          </p:cNvSpPr>
          <p:nvPr/>
        </p:nvSpPr>
        <p:spPr bwMode="auto">
          <a:xfrm flipH="1">
            <a:off x="762000" y="365760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595" name="Line 19"/>
          <p:cNvSpPr>
            <a:spLocks noChangeShapeType="1"/>
          </p:cNvSpPr>
          <p:nvPr/>
        </p:nvSpPr>
        <p:spPr bwMode="auto">
          <a:xfrm>
            <a:off x="1447800" y="365760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596" name="Rectangle 20"/>
          <p:cNvSpPr>
            <a:spLocks noChangeArrowheads="1"/>
          </p:cNvSpPr>
          <p:nvPr/>
        </p:nvSpPr>
        <p:spPr bwMode="auto">
          <a:xfrm>
            <a:off x="34893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24597" name="Rectangle 21"/>
          <p:cNvSpPr>
            <a:spLocks noChangeArrowheads="1"/>
          </p:cNvSpPr>
          <p:nvPr/>
        </p:nvSpPr>
        <p:spPr bwMode="auto">
          <a:xfrm>
            <a:off x="1127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9</a:t>
            </a:r>
          </a:p>
        </p:txBody>
      </p:sp>
      <p:sp>
        <p:nvSpPr>
          <p:cNvPr id="24598" name="Rectangle 22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24599" name="Rectangle 23"/>
          <p:cNvSpPr>
            <a:spLocks noChangeArrowheads="1"/>
          </p:cNvSpPr>
          <p:nvPr/>
        </p:nvSpPr>
        <p:spPr bwMode="auto">
          <a:xfrm>
            <a:off x="52419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24600" name="Rectangle 24"/>
          <p:cNvSpPr>
            <a:spLocks noChangeArrowheads="1"/>
          </p:cNvSpPr>
          <p:nvPr/>
        </p:nvSpPr>
        <p:spPr bwMode="auto">
          <a:xfrm>
            <a:off x="7604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24601" name="Rectangle 25"/>
          <p:cNvSpPr>
            <a:spLocks noChangeArrowheads="1"/>
          </p:cNvSpPr>
          <p:nvPr/>
        </p:nvSpPr>
        <p:spPr bwMode="auto">
          <a:xfrm>
            <a:off x="517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24602" name="Rectangle 26"/>
          <p:cNvSpPr>
            <a:spLocks noChangeArrowheads="1"/>
          </p:cNvSpPr>
          <p:nvPr/>
        </p:nvSpPr>
        <p:spPr bwMode="auto">
          <a:xfrm>
            <a:off x="1660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24603" name="Rectangle 27"/>
          <p:cNvSpPr>
            <a:spLocks noChangeArrowheads="1"/>
          </p:cNvSpPr>
          <p:nvPr/>
        </p:nvSpPr>
        <p:spPr bwMode="auto">
          <a:xfrm>
            <a:off x="64611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24604" name="Rectangle 28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24605" name="Oval 29"/>
          <p:cNvSpPr>
            <a:spLocks noChangeArrowheads="1"/>
          </p:cNvSpPr>
          <p:nvPr/>
        </p:nvSpPr>
        <p:spPr bwMode="auto">
          <a:xfrm>
            <a:off x="24447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606" name="Line 30"/>
          <p:cNvSpPr>
            <a:spLocks noChangeShapeType="1"/>
          </p:cNvSpPr>
          <p:nvPr/>
        </p:nvSpPr>
        <p:spPr bwMode="auto">
          <a:xfrm flipH="1">
            <a:off x="2743200" y="3733800"/>
            <a:ext cx="2286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07" name="Rectangle 31"/>
          <p:cNvSpPr>
            <a:spLocks noChangeArrowheads="1"/>
          </p:cNvSpPr>
          <p:nvPr/>
        </p:nvSpPr>
        <p:spPr bwMode="auto">
          <a:xfrm>
            <a:off x="2514600" y="441960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24608" name="Rectangle 32"/>
          <p:cNvSpPr>
            <a:spLocks noChangeArrowheads="1"/>
          </p:cNvSpPr>
          <p:nvPr/>
        </p:nvSpPr>
        <p:spPr bwMode="auto">
          <a:xfrm>
            <a:off x="4267200" y="1524000"/>
            <a:ext cx="838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24609" name="Oval 33"/>
          <p:cNvSpPr>
            <a:spLocks noChangeArrowheads="1"/>
          </p:cNvSpPr>
          <p:nvPr/>
        </p:nvSpPr>
        <p:spPr bwMode="auto">
          <a:xfrm>
            <a:off x="34353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610" name="Line 34"/>
          <p:cNvSpPr>
            <a:spLocks noChangeShapeType="1"/>
          </p:cNvSpPr>
          <p:nvPr/>
        </p:nvSpPr>
        <p:spPr bwMode="auto">
          <a:xfrm>
            <a:off x="3200400" y="3657600"/>
            <a:ext cx="4572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11" name="Rectangle 35"/>
          <p:cNvSpPr>
            <a:spLocks noChangeArrowheads="1"/>
          </p:cNvSpPr>
          <p:nvPr/>
        </p:nvSpPr>
        <p:spPr bwMode="auto">
          <a:xfrm>
            <a:off x="2057400" y="25146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11</a:t>
            </a:r>
          </a:p>
        </p:txBody>
      </p:sp>
      <p:sp>
        <p:nvSpPr>
          <p:cNvPr id="24612" name="Rectangle 36"/>
          <p:cNvSpPr>
            <a:spLocks noChangeArrowheads="1"/>
          </p:cNvSpPr>
          <p:nvPr/>
        </p:nvSpPr>
        <p:spPr bwMode="auto">
          <a:xfrm>
            <a:off x="304800" y="5638800"/>
            <a:ext cx="8610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3200">
                <a:solidFill>
                  <a:schemeClr val="bg2"/>
                </a:solidFill>
              </a:rPr>
              <a:t>Done, move to next lower array position.</a:t>
            </a:r>
          </a:p>
        </p:txBody>
      </p:sp>
      <p:sp>
        <p:nvSpPr>
          <p:cNvPr id="24613" name="Rectangle 37"/>
          <p:cNvSpPr>
            <a:spLocks noChangeArrowheads="1"/>
          </p:cNvSpPr>
          <p:nvPr/>
        </p:nvSpPr>
        <p:spPr bwMode="auto">
          <a:xfrm>
            <a:off x="2879725" y="3306763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10</a:t>
            </a:r>
          </a:p>
        </p:txBody>
      </p:sp>
      <p:sp>
        <p:nvSpPr>
          <p:cNvPr id="24614" name="Rectangle 38"/>
          <p:cNvSpPr>
            <a:spLocks noChangeArrowheads="1"/>
          </p:cNvSpPr>
          <p:nvPr/>
        </p:nvSpPr>
        <p:spPr bwMode="auto">
          <a:xfrm>
            <a:off x="34893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989360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400"/>
              <a:t>Initializing A Max Heap</a:t>
            </a:r>
          </a:p>
        </p:txBody>
      </p:sp>
      <p:sp>
        <p:nvSpPr>
          <p:cNvPr id="26627" name="Oval 3"/>
          <p:cNvSpPr>
            <a:spLocks noChangeArrowheads="1"/>
          </p:cNvSpPr>
          <p:nvPr/>
        </p:nvSpPr>
        <p:spPr bwMode="auto">
          <a:xfrm>
            <a:off x="4197350" y="1454150"/>
            <a:ext cx="444500" cy="4445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28" name="Oval 4"/>
          <p:cNvSpPr>
            <a:spLocks noChangeArrowheads="1"/>
          </p:cNvSpPr>
          <p:nvPr/>
        </p:nvSpPr>
        <p:spPr bwMode="auto">
          <a:xfrm>
            <a:off x="20637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29" name="Oval 5"/>
          <p:cNvSpPr>
            <a:spLocks noChangeArrowheads="1"/>
          </p:cNvSpPr>
          <p:nvPr/>
        </p:nvSpPr>
        <p:spPr bwMode="auto">
          <a:xfrm>
            <a:off x="64071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30" name="Oval 6"/>
          <p:cNvSpPr>
            <a:spLocks noChangeArrowheads="1"/>
          </p:cNvSpPr>
          <p:nvPr/>
        </p:nvSpPr>
        <p:spPr bwMode="auto">
          <a:xfrm>
            <a:off x="1073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31" name="Oval 7"/>
          <p:cNvSpPr>
            <a:spLocks noChangeArrowheads="1"/>
          </p:cNvSpPr>
          <p:nvPr/>
        </p:nvSpPr>
        <p:spPr bwMode="auto">
          <a:xfrm>
            <a:off x="28257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32" name="Oval 8"/>
          <p:cNvSpPr>
            <a:spLocks noChangeArrowheads="1"/>
          </p:cNvSpPr>
          <p:nvPr/>
        </p:nvSpPr>
        <p:spPr bwMode="auto">
          <a:xfrm>
            <a:off x="51879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33" name="Oval 9"/>
          <p:cNvSpPr>
            <a:spLocks noChangeArrowheads="1"/>
          </p:cNvSpPr>
          <p:nvPr/>
        </p:nvSpPr>
        <p:spPr bwMode="auto">
          <a:xfrm>
            <a:off x="7550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34" name="Oval 10"/>
          <p:cNvSpPr>
            <a:spLocks noChangeArrowheads="1"/>
          </p:cNvSpPr>
          <p:nvPr/>
        </p:nvSpPr>
        <p:spPr bwMode="auto">
          <a:xfrm>
            <a:off x="463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35" name="Oval 11"/>
          <p:cNvSpPr>
            <a:spLocks noChangeArrowheads="1"/>
          </p:cNvSpPr>
          <p:nvPr/>
        </p:nvSpPr>
        <p:spPr bwMode="auto">
          <a:xfrm>
            <a:off x="1606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36" name="Line 12"/>
          <p:cNvSpPr>
            <a:spLocks noChangeShapeType="1"/>
          </p:cNvSpPr>
          <p:nvPr/>
        </p:nvSpPr>
        <p:spPr bwMode="auto">
          <a:xfrm flipH="1">
            <a:off x="2514600" y="1752600"/>
            <a:ext cx="1676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37" name="Line 13"/>
          <p:cNvSpPr>
            <a:spLocks noChangeShapeType="1"/>
          </p:cNvSpPr>
          <p:nvPr/>
        </p:nvSpPr>
        <p:spPr bwMode="auto">
          <a:xfrm>
            <a:off x="4648200" y="175260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38" name="Line 14"/>
          <p:cNvSpPr>
            <a:spLocks noChangeShapeType="1"/>
          </p:cNvSpPr>
          <p:nvPr/>
        </p:nvSpPr>
        <p:spPr bwMode="auto">
          <a:xfrm flipH="1">
            <a:off x="1371600" y="281940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39" name="Line 15"/>
          <p:cNvSpPr>
            <a:spLocks noChangeShapeType="1"/>
          </p:cNvSpPr>
          <p:nvPr/>
        </p:nvSpPr>
        <p:spPr bwMode="auto">
          <a:xfrm>
            <a:off x="2438400" y="2819400"/>
            <a:ext cx="533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40" name="Line 16"/>
          <p:cNvSpPr>
            <a:spLocks noChangeShapeType="1"/>
          </p:cNvSpPr>
          <p:nvPr/>
        </p:nvSpPr>
        <p:spPr bwMode="auto">
          <a:xfrm flipH="1">
            <a:off x="5562600" y="2895600"/>
            <a:ext cx="914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41" name="Line 17"/>
          <p:cNvSpPr>
            <a:spLocks noChangeShapeType="1"/>
          </p:cNvSpPr>
          <p:nvPr/>
        </p:nvSpPr>
        <p:spPr bwMode="auto">
          <a:xfrm>
            <a:off x="6781800" y="2819400"/>
            <a:ext cx="838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42" name="Line 18"/>
          <p:cNvSpPr>
            <a:spLocks noChangeShapeType="1"/>
          </p:cNvSpPr>
          <p:nvPr/>
        </p:nvSpPr>
        <p:spPr bwMode="auto">
          <a:xfrm flipH="1">
            <a:off x="762000" y="365760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43" name="Line 19"/>
          <p:cNvSpPr>
            <a:spLocks noChangeShapeType="1"/>
          </p:cNvSpPr>
          <p:nvPr/>
        </p:nvSpPr>
        <p:spPr bwMode="auto">
          <a:xfrm>
            <a:off x="1447800" y="365760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44" name="Rectangle 20"/>
          <p:cNvSpPr>
            <a:spLocks noChangeArrowheads="1"/>
          </p:cNvSpPr>
          <p:nvPr/>
        </p:nvSpPr>
        <p:spPr bwMode="auto">
          <a:xfrm>
            <a:off x="34893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26645" name="Rectangle 21"/>
          <p:cNvSpPr>
            <a:spLocks noChangeArrowheads="1"/>
          </p:cNvSpPr>
          <p:nvPr/>
        </p:nvSpPr>
        <p:spPr bwMode="auto">
          <a:xfrm>
            <a:off x="1127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9</a:t>
            </a:r>
          </a:p>
        </p:txBody>
      </p:sp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26647" name="Rectangle 23"/>
          <p:cNvSpPr>
            <a:spLocks noChangeArrowheads="1"/>
          </p:cNvSpPr>
          <p:nvPr/>
        </p:nvSpPr>
        <p:spPr bwMode="auto">
          <a:xfrm>
            <a:off x="52419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26648" name="Rectangle 24"/>
          <p:cNvSpPr>
            <a:spLocks noChangeArrowheads="1"/>
          </p:cNvSpPr>
          <p:nvPr/>
        </p:nvSpPr>
        <p:spPr bwMode="auto">
          <a:xfrm>
            <a:off x="7604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26649" name="Rectangle 25"/>
          <p:cNvSpPr>
            <a:spLocks noChangeArrowheads="1"/>
          </p:cNvSpPr>
          <p:nvPr/>
        </p:nvSpPr>
        <p:spPr bwMode="auto">
          <a:xfrm>
            <a:off x="517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26650" name="Rectangle 26"/>
          <p:cNvSpPr>
            <a:spLocks noChangeArrowheads="1"/>
          </p:cNvSpPr>
          <p:nvPr/>
        </p:nvSpPr>
        <p:spPr bwMode="auto">
          <a:xfrm>
            <a:off x="1660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26651" name="Rectangle 27"/>
          <p:cNvSpPr>
            <a:spLocks noChangeArrowheads="1"/>
          </p:cNvSpPr>
          <p:nvPr/>
        </p:nvSpPr>
        <p:spPr bwMode="auto">
          <a:xfrm>
            <a:off x="64611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26652" name="Rectangle 28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26653" name="Oval 29"/>
          <p:cNvSpPr>
            <a:spLocks noChangeArrowheads="1"/>
          </p:cNvSpPr>
          <p:nvPr/>
        </p:nvSpPr>
        <p:spPr bwMode="auto">
          <a:xfrm>
            <a:off x="24447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54" name="Line 30"/>
          <p:cNvSpPr>
            <a:spLocks noChangeShapeType="1"/>
          </p:cNvSpPr>
          <p:nvPr/>
        </p:nvSpPr>
        <p:spPr bwMode="auto">
          <a:xfrm flipH="1">
            <a:off x="2743200" y="3733800"/>
            <a:ext cx="2286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55" name="Rectangle 31"/>
          <p:cNvSpPr>
            <a:spLocks noChangeArrowheads="1"/>
          </p:cNvSpPr>
          <p:nvPr/>
        </p:nvSpPr>
        <p:spPr bwMode="auto">
          <a:xfrm>
            <a:off x="2514600" y="434340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26656" name="Rectangle 32"/>
          <p:cNvSpPr>
            <a:spLocks noChangeArrowheads="1"/>
          </p:cNvSpPr>
          <p:nvPr/>
        </p:nvSpPr>
        <p:spPr bwMode="auto">
          <a:xfrm>
            <a:off x="4267200" y="1524000"/>
            <a:ext cx="838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26657" name="Oval 33"/>
          <p:cNvSpPr>
            <a:spLocks noChangeArrowheads="1"/>
          </p:cNvSpPr>
          <p:nvPr/>
        </p:nvSpPr>
        <p:spPr bwMode="auto">
          <a:xfrm>
            <a:off x="34353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58" name="Line 34"/>
          <p:cNvSpPr>
            <a:spLocks noChangeShapeType="1"/>
          </p:cNvSpPr>
          <p:nvPr/>
        </p:nvSpPr>
        <p:spPr bwMode="auto">
          <a:xfrm>
            <a:off x="3200400" y="3657600"/>
            <a:ext cx="4572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59" name="Rectangle 35"/>
          <p:cNvSpPr>
            <a:spLocks noChangeArrowheads="1"/>
          </p:cNvSpPr>
          <p:nvPr/>
        </p:nvSpPr>
        <p:spPr bwMode="auto">
          <a:xfrm>
            <a:off x="2057400" y="25146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11</a:t>
            </a:r>
          </a:p>
        </p:txBody>
      </p:sp>
      <p:sp>
        <p:nvSpPr>
          <p:cNvPr id="26660" name="Rectangle 36"/>
          <p:cNvSpPr>
            <a:spLocks noChangeArrowheads="1"/>
          </p:cNvSpPr>
          <p:nvPr/>
        </p:nvSpPr>
        <p:spPr bwMode="auto">
          <a:xfrm>
            <a:off x="2803525" y="3306763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10</a:t>
            </a:r>
          </a:p>
        </p:txBody>
      </p:sp>
      <p:sp>
        <p:nvSpPr>
          <p:cNvPr id="26661" name="Rectangle 37"/>
          <p:cNvSpPr>
            <a:spLocks noChangeArrowheads="1"/>
          </p:cNvSpPr>
          <p:nvPr/>
        </p:nvSpPr>
        <p:spPr bwMode="auto">
          <a:xfrm>
            <a:off x="34893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26662" name="Rectangle 38"/>
          <p:cNvSpPr>
            <a:spLocks noChangeArrowheads="1"/>
          </p:cNvSpPr>
          <p:nvPr/>
        </p:nvSpPr>
        <p:spPr bwMode="auto">
          <a:xfrm>
            <a:off x="1143000" y="5638800"/>
            <a:ext cx="6629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>
                <a:solidFill>
                  <a:schemeClr val="bg2"/>
                </a:solidFill>
              </a:rPr>
              <a:t>Find home for </a:t>
            </a:r>
            <a:r>
              <a:rPr lang="en-US" altLang="en-US" sz="3200">
                <a:solidFill>
                  <a:schemeClr val="hlink"/>
                </a:solidFill>
              </a:rPr>
              <a:t>1</a:t>
            </a:r>
            <a:r>
              <a:rPr lang="en-US" altLang="en-US" sz="3200">
                <a:solidFill>
                  <a:schemeClr val="bg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39582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Oval 3"/>
          <p:cNvSpPr>
            <a:spLocks noChangeArrowheads="1"/>
          </p:cNvSpPr>
          <p:nvPr/>
        </p:nvSpPr>
        <p:spPr bwMode="auto">
          <a:xfrm>
            <a:off x="4197350" y="1454150"/>
            <a:ext cx="444500" cy="4445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704" name="Rectangle 32"/>
          <p:cNvSpPr>
            <a:spLocks noChangeArrowheads="1"/>
          </p:cNvSpPr>
          <p:nvPr/>
        </p:nvSpPr>
        <p:spPr bwMode="auto">
          <a:xfrm>
            <a:off x="4191000" y="1524000"/>
            <a:ext cx="838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11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400"/>
              <a:t>Initializing A Max Heap</a:t>
            </a:r>
          </a:p>
        </p:txBody>
      </p:sp>
      <p:sp>
        <p:nvSpPr>
          <p:cNvPr id="28676" name="Oval 4"/>
          <p:cNvSpPr>
            <a:spLocks noChangeArrowheads="1"/>
          </p:cNvSpPr>
          <p:nvPr/>
        </p:nvSpPr>
        <p:spPr bwMode="auto">
          <a:xfrm>
            <a:off x="2063750" y="24447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677" name="Oval 5"/>
          <p:cNvSpPr>
            <a:spLocks noChangeArrowheads="1"/>
          </p:cNvSpPr>
          <p:nvPr/>
        </p:nvSpPr>
        <p:spPr bwMode="auto">
          <a:xfrm>
            <a:off x="64071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678" name="Oval 6"/>
          <p:cNvSpPr>
            <a:spLocks noChangeArrowheads="1"/>
          </p:cNvSpPr>
          <p:nvPr/>
        </p:nvSpPr>
        <p:spPr bwMode="auto">
          <a:xfrm>
            <a:off x="1073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679" name="Oval 7"/>
          <p:cNvSpPr>
            <a:spLocks noChangeArrowheads="1"/>
          </p:cNvSpPr>
          <p:nvPr/>
        </p:nvSpPr>
        <p:spPr bwMode="auto">
          <a:xfrm>
            <a:off x="28257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680" name="Oval 8"/>
          <p:cNvSpPr>
            <a:spLocks noChangeArrowheads="1"/>
          </p:cNvSpPr>
          <p:nvPr/>
        </p:nvSpPr>
        <p:spPr bwMode="auto">
          <a:xfrm>
            <a:off x="51879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681" name="Oval 9"/>
          <p:cNvSpPr>
            <a:spLocks noChangeArrowheads="1"/>
          </p:cNvSpPr>
          <p:nvPr/>
        </p:nvSpPr>
        <p:spPr bwMode="auto">
          <a:xfrm>
            <a:off x="7550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682" name="Oval 10"/>
          <p:cNvSpPr>
            <a:spLocks noChangeArrowheads="1"/>
          </p:cNvSpPr>
          <p:nvPr/>
        </p:nvSpPr>
        <p:spPr bwMode="auto">
          <a:xfrm>
            <a:off x="463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683" name="Oval 11"/>
          <p:cNvSpPr>
            <a:spLocks noChangeArrowheads="1"/>
          </p:cNvSpPr>
          <p:nvPr/>
        </p:nvSpPr>
        <p:spPr bwMode="auto">
          <a:xfrm>
            <a:off x="1606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684" name="Line 12"/>
          <p:cNvSpPr>
            <a:spLocks noChangeShapeType="1"/>
          </p:cNvSpPr>
          <p:nvPr/>
        </p:nvSpPr>
        <p:spPr bwMode="auto">
          <a:xfrm flipH="1">
            <a:off x="2514600" y="1752600"/>
            <a:ext cx="1676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8685" name="Line 13"/>
          <p:cNvSpPr>
            <a:spLocks noChangeShapeType="1"/>
          </p:cNvSpPr>
          <p:nvPr/>
        </p:nvSpPr>
        <p:spPr bwMode="auto">
          <a:xfrm>
            <a:off x="4648200" y="175260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8686" name="Line 14"/>
          <p:cNvSpPr>
            <a:spLocks noChangeShapeType="1"/>
          </p:cNvSpPr>
          <p:nvPr/>
        </p:nvSpPr>
        <p:spPr bwMode="auto">
          <a:xfrm flipH="1">
            <a:off x="1371600" y="281940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8687" name="Line 15"/>
          <p:cNvSpPr>
            <a:spLocks noChangeShapeType="1"/>
          </p:cNvSpPr>
          <p:nvPr/>
        </p:nvSpPr>
        <p:spPr bwMode="auto">
          <a:xfrm>
            <a:off x="2438400" y="2819400"/>
            <a:ext cx="533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8688" name="Line 16"/>
          <p:cNvSpPr>
            <a:spLocks noChangeShapeType="1"/>
          </p:cNvSpPr>
          <p:nvPr/>
        </p:nvSpPr>
        <p:spPr bwMode="auto">
          <a:xfrm flipH="1">
            <a:off x="5562600" y="2895600"/>
            <a:ext cx="914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8689" name="Line 17"/>
          <p:cNvSpPr>
            <a:spLocks noChangeShapeType="1"/>
          </p:cNvSpPr>
          <p:nvPr/>
        </p:nvSpPr>
        <p:spPr bwMode="auto">
          <a:xfrm>
            <a:off x="6781800" y="2819400"/>
            <a:ext cx="838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8690" name="Line 18"/>
          <p:cNvSpPr>
            <a:spLocks noChangeShapeType="1"/>
          </p:cNvSpPr>
          <p:nvPr/>
        </p:nvSpPr>
        <p:spPr bwMode="auto">
          <a:xfrm flipH="1">
            <a:off x="762000" y="365760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8691" name="Line 19"/>
          <p:cNvSpPr>
            <a:spLocks noChangeShapeType="1"/>
          </p:cNvSpPr>
          <p:nvPr/>
        </p:nvSpPr>
        <p:spPr bwMode="auto">
          <a:xfrm>
            <a:off x="1447800" y="365760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8692" name="Rectangle 20"/>
          <p:cNvSpPr>
            <a:spLocks noChangeArrowheads="1"/>
          </p:cNvSpPr>
          <p:nvPr/>
        </p:nvSpPr>
        <p:spPr bwMode="auto">
          <a:xfrm>
            <a:off x="34893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28693" name="Rectangle 21"/>
          <p:cNvSpPr>
            <a:spLocks noChangeArrowheads="1"/>
          </p:cNvSpPr>
          <p:nvPr/>
        </p:nvSpPr>
        <p:spPr bwMode="auto">
          <a:xfrm>
            <a:off x="1127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9</a:t>
            </a:r>
          </a:p>
        </p:txBody>
      </p:sp>
      <p:sp>
        <p:nvSpPr>
          <p:cNvPr id="28694" name="Rectangle 22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28695" name="Rectangle 23"/>
          <p:cNvSpPr>
            <a:spLocks noChangeArrowheads="1"/>
          </p:cNvSpPr>
          <p:nvPr/>
        </p:nvSpPr>
        <p:spPr bwMode="auto">
          <a:xfrm>
            <a:off x="52419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28696" name="Rectangle 24"/>
          <p:cNvSpPr>
            <a:spLocks noChangeArrowheads="1"/>
          </p:cNvSpPr>
          <p:nvPr/>
        </p:nvSpPr>
        <p:spPr bwMode="auto">
          <a:xfrm>
            <a:off x="7604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28697" name="Rectangle 25"/>
          <p:cNvSpPr>
            <a:spLocks noChangeArrowheads="1"/>
          </p:cNvSpPr>
          <p:nvPr/>
        </p:nvSpPr>
        <p:spPr bwMode="auto">
          <a:xfrm>
            <a:off x="517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28698" name="Rectangle 26"/>
          <p:cNvSpPr>
            <a:spLocks noChangeArrowheads="1"/>
          </p:cNvSpPr>
          <p:nvPr/>
        </p:nvSpPr>
        <p:spPr bwMode="auto">
          <a:xfrm>
            <a:off x="1660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28699" name="Rectangle 27"/>
          <p:cNvSpPr>
            <a:spLocks noChangeArrowheads="1"/>
          </p:cNvSpPr>
          <p:nvPr/>
        </p:nvSpPr>
        <p:spPr bwMode="auto">
          <a:xfrm>
            <a:off x="64611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28700" name="Rectangle 28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28701" name="Oval 29"/>
          <p:cNvSpPr>
            <a:spLocks noChangeArrowheads="1"/>
          </p:cNvSpPr>
          <p:nvPr/>
        </p:nvSpPr>
        <p:spPr bwMode="auto">
          <a:xfrm>
            <a:off x="24447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702" name="Line 30"/>
          <p:cNvSpPr>
            <a:spLocks noChangeShapeType="1"/>
          </p:cNvSpPr>
          <p:nvPr/>
        </p:nvSpPr>
        <p:spPr bwMode="auto">
          <a:xfrm flipH="1">
            <a:off x="2743200" y="3733800"/>
            <a:ext cx="2286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8703" name="Rectangle 31"/>
          <p:cNvSpPr>
            <a:spLocks noChangeArrowheads="1"/>
          </p:cNvSpPr>
          <p:nvPr/>
        </p:nvSpPr>
        <p:spPr bwMode="auto">
          <a:xfrm>
            <a:off x="2514600" y="434340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28705" name="Oval 33"/>
          <p:cNvSpPr>
            <a:spLocks noChangeArrowheads="1"/>
          </p:cNvSpPr>
          <p:nvPr/>
        </p:nvSpPr>
        <p:spPr bwMode="auto">
          <a:xfrm>
            <a:off x="34353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706" name="Line 34"/>
          <p:cNvSpPr>
            <a:spLocks noChangeShapeType="1"/>
          </p:cNvSpPr>
          <p:nvPr/>
        </p:nvSpPr>
        <p:spPr bwMode="auto">
          <a:xfrm>
            <a:off x="3200400" y="3657600"/>
            <a:ext cx="4572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8707" name="Rectangle 35"/>
          <p:cNvSpPr>
            <a:spLocks noChangeArrowheads="1"/>
          </p:cNvSpPr>
          <p:nvPr/>
        </p:nvSpPr>
        <p:spPr bwMode="auto">
          <a:xfrm>
            <a:off x="2803525" y="3306763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10</a:t>
            </a:r>
          </a:p>
        </p:txBody>
      </p:sp>
      <p:sp>
        <p:nvSpPr>
          <p:cNvPr id="28708" name="Rectangle 36"/>
          <p:cNvSpPr>
            <a:spLocks noChangeArrowheads="1"/>
          </p:cNvSpPr>
          <p:nvPr/>
        </p:nvSpPr>
        <p:spPr bwMode="auto">
          <a:xfrm>
            <a:off x="34893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28709" name="Rectangle 37"/>
          <p:cNvSpPr>
            <a:spLocks noChangeArrowheads="1"/>
          </p:cNvSpPr>
          <p:nvPr/>
        </p:nvSpPr>
        <p:spPr bwMode="auto">
          <a:xfrm>
            <a:off x="1143000" y="5638800"/>
            <a:ext cx="6629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>
                <a:solidFill>
                  <a:schemeClr val="bg2"/>
                </a:solidFill>
              </a:rPr>
              <a:t>Find home for </a:t>
            </a:r>
            <a:r>
              <a:rPr lang="en-US" altLang="en-US" sz="3200">
                <a:solidFill>
                  <a:schemeClr val="hlink"/>
                </a:solidFill>
              </a:rPr>
              <a:t>1</a:t>
            </a:r>
            <a:r>
              <a:rPr lang="en-US" altLang="en-US" sz="3200">
                <a:solidFill>
                  <a:schemeClr val="bg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32597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400"/>
              <a:t>Initializing A Max Heap</a:t>
            </a:r>
          </a:p>
        </p:txBody>
      </p:sp>
      <p:sp>
        <p:nvSpPr>
          <p:cNvPr id="30723" name="Oval 3"/>
          <p:cNvSpPr>
            <a:spLocks noChangeArrowheads="1"/>
          </p:cNvSpPr>
          <p:nvPr/>
        </p:nvSpPr>
        <p:spPr bwMode="auto">
          <a:xfrm>
            <a:off x="4197350" y="1454150"/>
            <a:ext cx="444500" cy="4445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24" name="Oval 4"/>
          <p:cNvSpPr>
            <a:spLocks noChangeArrowheads="1"/>
          </p:cNvSpPr>
          <p:nvPr/>
        </p:nvSpPr>
        <p:spPr bwMode="auto">
          <a:xfrm>
            <a:off x="20637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25" name="Oval 5"/>
          <p:cNvSpPr>
            <a:spLocks noChangeArrowheads="1"/>
          </p:cNvSpPr>
          <p:nvPr/>
        </p:nvSpPr>
        <p:spPr bwMode="auto">
          <a:xfrm>
            <a:off x="64071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26" name="Oval 6"/>
          <p:cNvSpPr>
            <a:spLocks noChangeArrowheads="1"/>
          </p:cNvSpPr>
          <p:nvPr/>
        </p:nvSpPr>
        <p:spPr bwMode="auto">
          <a:xfrm>
            <a:off x="1073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27" name="Oval 7"/>
          <p:cNvSpPr>
            <a:spLocks noChangeArrowheads="1"/>
          </p:cNvSpPr>
          <p:nvPr/>
        </p:nvSpPr>
        <p:spPr bwMode="auto">
          <a:xfrm>
            <a:off x="2825750" y="32829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28" name="Oval 8"/>
          <p:cNvSpPr>
            <a:spLocks noChangeArrowheads="1"/>
          </p:cNvSpPr>
          <p:nvPr/>
        </p:nvSpPr>
        <p:spPr bwMode="auto">
          <a:xfrm>
            <a:off x="51879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29" name="Oval 9"/>
          <p:cNvSpPr>
            <a:spLocks noChangeArrowheads="1"/>
          </p:cNvSpPr>
          <p:nvPr/>
        </p:nvSpPr>
        <p:spPr bwMode="auto">
          <a:xfrm>
            <a:off x="7550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30" name="Oval 10"/>
          <p:cNvSpPr>
            <a:spLocks noChangeArrowheads="1"/>
          </p:cNvSpPr>
          <p:nvPr/>
        </p:nvSpPr>
        <p:spPr bwMode="auto">
          <a:xfrm>
            <a:off x="463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31" name="Oval 11"/>
          <p:cNvSpPr>
            <a:spLocks noChangeArrowheads="1"/>
          </p:cNvSpPr>
          <p:nvPr/>
        </p:nvSpPr>
        <p:spPr bwMode="auto">
          <a:xfrm>
            <a:off x="1606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32" name="Line 12"/>
          <p:cNvSpPr>
            <a:spLocks noChangeShapeType="1"/>
          </p:cNvSpPr>
          <p:nvPr/>
        </p:nvSpPr>
        <p:spPr bwMode="auto">
          <a:xfrm flipH="1">
            <a:off x="2514600" y="1752600"/>
            <a:ext cx="1676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33" name="Line 13"/>
          <p:cNvSpPr>
            <a:spLocks noChangeShapeType="1"/>
          </p:cNvSpPr>
          <p:nvPr/>
        </p:nvSpPr>
        <p:spPr bwMode="auto">
          <a:xfrm>
            <a:off x="4648200" y="175260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34" name="Line 14"/>
          <p:cNvSpPr>
            <a:spLocks noChangeShapeType="1"/>
          </p:cNvSpPr>
          <p:nvPr/>
        </p:nvSpPr>
        <p:spPr bwMode="auto">
          <a:xfrm flipH="1">
            <a:off x="1371600" y="281940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35" name="Line 15"/>
          <p:cNvSpPr>
            <a:spLocks noChangeShapeType="1"/>
          </p:cNvSpPr>
          <p:nvPr/>
        </p:nvSpPr>
        <p:spPr bwMode="auto">
          <a:xfrm>
            <a:off x="2438400" y="2819400"/>
            <a:ext cx="533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36" name="Line 16"/>
          <p:cNvSpPr>
            <a:spLocks noChangeShapeType="1"/>
          </p:cNvSpPr>
          <p:nvPr/>
        </p:nvSpPr>
        <p:spPr bwMode="auto">
          <a:xfrm flipH="1">
            <a:off x="5562600" y="2895600"/>
            <a:ext cx="914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37" name="Line 17"/>
          <p:cNvSpPr>
            <a:spLocks noChangeShapeType="1"/>
          </p:cNvSpPr>
          <p:nvPr/>
        </p:nvSpPr>
        <p:spPr bwMode="auto">
          <a:xfrm>
            <a:off x="6781800" y="2819400"/>
            <a:ext cx="838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38" name="Line 18"/>
          <p:cNvSpPr>
            <a:spLocks noChangeShapeType="1"/>
          </p:cNvSpPr>
          <p:nvPr/>
        </p:nvSpPr>
        <p:spPr bwMode="auto">
          <a:xfrm flipH="1">
            <a:off x="762000" y="365760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39" name="Line 19"/>
          <p:cNvSpPr>
            <a:spLocks noChangeShapeType="1"/>
          </p:cNvSpPr>
          <p:nvPr/>
        </p:nvSpPr>
        <p:spPr bwMode="auto">
          <a:xfrm>
            <a:off x="1447800" y="365760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40" name="Rectangle 20"/>
          <p:cNvSpPr>
            <a:spLocks noChangeArrowheads="1"/>
          </p:cNvSpPr>
          <p:nvPr/>
        </p:nvSpPr>
        <p:spPr bwMode="auto">
          <a:xfrm>
            <a:off x="34893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30741" name="Rectangle 21"/>
          <p:cNvSpPr>
            <a:spLocks noChangeArrowheads="1"/>
          </p:cNvSpPr>
          <p:nvPr/>
        </p:nvSpPr>
        <p:spPr bwMode="auto">
          <a:xfrm>
            <a:off x="1127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9</a:t>
            </a:r>
          </a:p>
        </p:txBody>
      </p:sp>
      <p:sp>
        <p:nvSpPr>
          <p:cNvPr id="30742" name="Rectangle 22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30743" name="Rectangle 23"/>
          <p:cNvSpPr>
            <a:spLocks noChangeArrowheads="1"/>
          </p:cNvSpPr>
          <p:nvPr/>
        </p:nvSpPr>
        <p:spPr bwMode="auto">
          <a:xfrm>
            <a:off x="52419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30744" name="Rectangle 24"/>
          <p:cNvSpPr>
            <a:spLocks noChangeArrowheads="1"/>
          </p:cNvSpPr>
          <p:nvPr/>
        </p:nvSpPr>
        <p:spPr bwMode="auto">
          <a:xfrm>
            <a:off x="7604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30745" name="Rectangle 25"/>
          <p:cNvSpPr>
            <a:spLocks noChangeArrowheads="1"/>
          </p:cNvSpPr>
          <p:nvPr/>
        </p:nvSpPr>
        <p:spPr bwMode="auto">
          <a:xfrm>
            <a:off x="517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30746" name="Rectangle 26"/>
          <p:cNvSpPr>
            <a:spLocks noChangeArrowheads="1"/>
          </p:cNvSpPr>
          <p:nvPr/>
        </p:nvSpPr>
        <p:spPr bwMode="auto">
          <a:xfrm>
            <a:off x="1660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30747" name="Rectangle 27"/>
          <p:cNvSpPr>
            <a:spLocks noChangeArrowheads="1"/>
          </p:cNvSpPr>
          <p:nvPr/>
        </p:nvSpPr>
        <p:spPr bwMode="auto">
          <a:xfrm>
            <a:off x="64611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30748" name="Rectangle 28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30749" name="Oval 29"/>
          <p:cNvSpPr>
            <a:spLocks noChangeArrowheads="1"/>
          </p:cNvSpPr>
          <p:nvPr/>
        </p:nvSpPr>
        <p:spPr bwMode="auto">
          <a:xfrm>
            <a:off x="24447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50" name="Line 30"/>
          <p:cNvSpPr>
            <a:spLocks noChangeShapeType="1"/>
          </p:cNvSpPr>
          <p:nvPr/>
        </p:nvSpPr>
        <p:spPr bwMode="auto">
          <a:xfrm flipH="1">
            <a:off x="2743200" y="3733800"/>
            <a:ext cx="2286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51" name="Rectangle 31"/>
          <p:cNvSpPr>
            <a:spLocks noChangeArrowheads="1"/>
          </p:cNvSpPr>
          <p:nvPr/>
        </p:nvSpPr>
        <p:spPr bwMode="auto">
          <a:xfrm>
            <a:off x="2514600" y="434340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30752" name="Rectangle 32"/>
          <p:cNvSpPr>
            <a:spLocks noChangeArrowheads="1"/>
          </p:cNvSpPr>
          <p:nvPr/>
        </p:nvSpPr>
        <p:spPr bwMode="auto">
          <a:xfrm>
            <a:off x="4191000" y="1524000"/>
            <a:ext cx="838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11</a:t>
            </a:r>
          </a:p>
        </p:txBody>
      </p:sp>
      <p:sp>
        <p:nvSpPr>
          <p:cNvPr id="30753" name="Oval 33"/>
          <p:cNvSpPr>
            <a:spLocks noChangeArrowheads="1"/>
          </p:cNvSpPr>
          <p:nvPr/>
        </p:nvSpPr>
        <p:spPr bwMode="auto">
          <a:xfrm>
            <a:off x="34353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54" name="Line 34"/>
          <p:cNvSpPr>
            <a:spLocks noChangeShapeType="1"/>
          </p:cNvSpPr>
          <p:nvPr/>
        </p:nvSpPr>
        <p:spPr bwMode="auto">
          <a:xfrm>
            <a:off x="3200400" y="3657600"/>
            <a:ext cx="4572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55" name="Rectangle 35"/>
          <p:cNvSpPr>
            <a:spLocks noChangeArrowheads="1"/>
          </p:cNvSpPr>
          <p:nvPr/>
        </p:nvSpPr>
        <p:spPr bwMode="auto">
          <a:xfrm>
            <a:off x="2041525" y="2468563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10</a:t>
            </a:r>
          </a:p>
        </p:txBody>
      </p:sp>
      <p:sp>
        <p:nvSpPr>
          <p:cNvPr id="30756" name="Rectangle 36"/>
          <p:cNvSpPr>
            <a:spLocks noChangeArrowheads="1"/>
          </p:cNvSpPr>
          <p:nvPr/>
        </p:nvSpPr>
        <p:spPr bwMode="auto">
          <a:xfrm>
            <a:off x="34893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30757" name="Rectangle 37"/>
          <p:cNvSpPr>
            <a:spLocks noChangeArrowheads="1"/>
          </p:cNvSpPr>
          <p:nvPr/>
        </p:nvSpPr>
        <p:spPr bwMode="auto">
          <a:xfrm>
            <a:off x="1143000" y="5638800"/>
            <a:ext cx="6629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>
                <a:solidFill>
                  <a:schemeClr val="bg2"/>
                </a:solidFill>
              </a:rPr>
              <a:t>Find home for </a:t>
            </a:r>
            <a:r>
              <a:rPr lang="en-US" altLang="en-US" sz="3200">
                <a:solidFill>
                  <a:schemeClr val="hlink"/>
                </a:solidFill>
              </a:rPr>
              <a:t>1</a:t>
            </a:r>
            <a:r>
              <a:rPr lang="en-US" altLang="en-US" sz="3200">
                <a:solidFill>
                  <a:schemeClr val="bg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95026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400"/>
              <a:t>Initializing A Max Heap</a:t>
            </a:r>
          </a:p>
        </p:txBody>
      </p:sp>
      <p:sp>
        <p:nvSpPr>
          <p:cNvPr id="32771" name="Oval 3"/>
          <p:cNvSpPr>
            <a:spLocks noChangeArrowheads="1"/>
          </p:cNvSpPr>
          <p:nvPr/>
        </p:nvSpPr>
        <p:spPr bwMode="auto">
          <a:xfrm>
            <a:off x="4197350" y="1454150"/>
            <a:ext cx="444500" cy="4445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772" name="Oval 4"/>
          <p:cNvSpPr>
            <a:spLocks noChangeArrowheads="1"/>
          </p:cNvSpPr>
          <p:nvPr/>
        </p:nvSpPr>
        <p:spPr bwMode="auto">
          <a:xfrm>
            <a:off x="20637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773" name="Oval 5"/>
          <p:cNvSpPr>
            <a:spLocks noChangeArrowheads="1"/>
          </p:cNvSpPr>
          <p:nvPr/>
        </p:nvSpPr>
        <p:spPr bwMode="auto">
          <a:xfrm>
            <a:off x="64071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774" name="Oval 6"/>
          <p:cNvSpPr>
            <a:spLocks noChangeArrowheads="1"/>
          </p:cNvSpPr>
          <p:nvPr/>
        </p:nvSpPr>
        <p:spPr bwMode="auto">
          <a:xfrm>
            <a:off x="1073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775" name="Oval 7"/>
          <p:cNvSpPr>
            <a:spLocks noChangeArrowheads="1"/>
          </p:cNvSpPr>
          <p:nvPr/>
        </p:nvSpPr>
        <p:spPr bwMode="auto">
          <a:xfrm>
            <a:off x="28257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776" name="Oval 8"/>
          <p:cNvSpPr>
            <a:spLocks noChangeArrowheads="1"/>
          </p:cNvSpPr>
          <p:nvPr/>
        </p:nvSpPr>
        <p:spPr bwMode="auto">
          <a:xfrm>
            <a:off x="51879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777" name="Oval 9"/>
          <p:cNvSpPr>
            <a:spLocks noChangeArrowheads="1"/>
          </p:cNvSpPr>
          <p:nvPr/>
        </p:nvSpPr>
        <p:spPr bwMode="auto">
          <a:xfrm>
            <a:off x="7550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778" name="Oval 10"/>
          <p:cNvSpPr>
            <a:spLocks noChangeArrowheads="1"/>
          </p:cNvSpPr>
          <p:nvPr/>
        </p:nvSpPr>
        <p:spPr bwMode="auto">
          <a:xfrm>
            <a:off x="463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779" name="Oval 11"/>
          <p:cNvSpPr>
            <a:spLocks noChangeArrowheads="1"/>
          </p:cNvSpPr>
          <p:nvPr/>
        </p:nvSpPr>
        <p:spPr bwMode="auto">
          <a:xfrm>
            <a:off x="1606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780" name="Line 12"/>
          <p:cNvSpPr>
            <a:spLocks noChangeShapeType="1"/>
          </p:cNvSpPr>
          <p:nvPr/>
        </p:nvSpPr>
        <p:spPr bwMode="auto">
          <a:xfrm flipH="1">
            <a:off x="2514600" y="1752600"/>
            <a:ext cx="1676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81" name="Line 13"/>
          <p:cNvSpPr>
            <a:spLocks noChangeShapeType="1"/>
          </p:cNvSpPr>
          <p:nvPr/>
        </p:nvSpPr>
        <p:spPr bwMode="auto">
          <a:xfrm>
            <a:off x="4648200" y="175260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82" name="Line 14"/>
          <p:cNvSpPr>
            <a:spLocks noChangeShapeType="1"/>
          </p:cNvSpPr>
          <p:nvPr/>
        </p:nvSpPr>
        <p:spPr bwMode="auto">
          <a:xfrm flipH="1">
            <a:off x="1371600" y="281940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83" name="Line 15"/>
          <p:cNvSpPr>
            <a:spLocks noChangeShapeType="1"/>
          </p:cNvSpPr>
          <p:nvPr/>
        </p:nvSpPr>
        <p:spPr bwMode="auto">
          <a:xfrm>
            <a:off x="2438400" y="2819400"/>
            <a:ext cx="533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84" name="Line 16"/>
          <p:cNvSpPr>
            <a:spLocks noChangeShapeType="1"/>
          </p:cNvSpPr>
          <p:nvPr/>
        </p:nvSpPr>
        <p:spPr bwMode="auto">
          <a:xfrm flipH="1">
            <a:off x="5562600" y="2895600"/>
            <a:ext cx="914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85" name="Line 17"/>
          <p:cNvSpPr>
            <a:spLocks noChangeShapeType="1"/>
          </p:cNvSpPr>
          <p:nvPr/>
        </p:nvSpPr>
        <p:spPr bwMode="auto">
          <a:xfrm>
            <a:off x="6781800" y="2819400"/>
            <a:ext cx="838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86" name="Line 18"/>
          <p:cNvSpPr>
            <a:spLocks noChangeShapeType="1"/>
          </p:cNvSpPr>
          <p:nvPr/>
        </p:nvSpPr>
        <p:spPr bwMode="auto">
          <a:xfrm flipH="1">
            <a:off x="762000" y="365760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87" name="Line 19"/>
          <p:cNvSpPr>
            <a:spLocks noChangeShapeType="1"/>
          </p:cNvSpPr>
          <p:nvPr/>
        </p:nvSpPr>
        <p:spPr bwMode="auto">
          <a:xfrm>
            <a:off x="1447800" y="365760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88" name="Rectangle 20"/>
          <p:cNvSpPr>
            <a:spLocks noChangeArrowheads="1"/>
          </p:cNvSpPr>
          <p:nvPr/>
        </p:nvSpPr>
        <p:spPr bwMode="auto">
          <a:xfrm>
            <a:off x="34893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32789" name="Rectangle 21"/>
          <p:cNvSpPr>
            <a:spLocks noChangeArrowheads="1"/>
          </p:cNvSpPr>
          <p:nvPr/>
        </p:nvSpPr>
        <p:spPr bwMode="auto">
          <a:xfrm>
            <a:off x="1127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9</a:t>
            </a:r>
          </a:p>
        </p:txBody>
      </p:sp>
      <p:sp>
        <p:nvSpPr>
          <p:cNvPr id="32790" name="Rectangle 22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32791" name="Rectangle 23"/>
          <p:cNvSpPr>
            <a:spLocks noChangeArrowheads="1"/>
          </p:cNvSpPr>
          <p:nvPr/>
        </p:nvSpPr>
        <p:spPr bwMode="auto">
          <a:xfrm>
            <a:off x="52419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32792" name="Rectangle 24"/>
          <p:cNvSpPr>
            <a:spLocks noChangeArrowheads="1"/>
          </p:cNvSpPr>
          <p:nvPr/>
        </p:nvSpPr>
        <p:spPr bwMode="auto">
          <a:xfrm>
            <a:off x="7604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32793" name="Rectangle 25"/>
          <p:cNvSpPr>
            <a:spLocks noChangeArrowheads="1"/>
          </p:cNvSpPr>
          <p:nvPr/>
        </p:nvSpPr>
        <p:spPr bwMode="auto">
          <a:xfrm>
            <a:off x="517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32794" name="Rectangle 26"/>
          <p:cNvSpPr>
            <a:spLocks noChangeArrowheads="1"/>
          </p:cNvSpPr>
          <p:nvPr/>
        </p:nvSpPr>
        <p:spPr bwMode="auto">
          <a:xfrm>
            <a:off x="1660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32795" name="Rectangle 27"/>
          <p:cNvSpPr>
            <a:spLocks noChangeArrowheads="1"/>
          </p:cNvSpPr>
          <p:nvPr/>
        </p:nvSpPr>
        <p:spPr bwMode="auto">
          <a:xfrm>
            <a:off x="64611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32796" name="Rectangle 28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32797" name="Oval 29"/>
          <p:cNvSpPr>
            <a:spLocks noChangeArrowheads="1"/>
          </p:cNvSpPr>
          <p:nvPr/>
        </p:nvSpPr>
        <p:spPr bwMode="auto">
          <a:xfrm>
            <a:off x="24447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798" name="Line 30"/>
          <p:cNvSpPr>
            <a:spLocks noChangeShapeType="1"/>
          </p:cNvSpPr>
          <p:nvPr/>
        </p:nvSpPr>
        <p:spPr bwMode="auto">
          <a:xfrm flipH="1">
            <a:off x="2743200" y="3733800"/>
            <a:ext cx="2286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99" name="Rectangle 31"/>
          <p:cNvSpPr>
            <a:spLocks noChangeArrowheads="1"/>
          </p:cNvSpPr>
          <p:nvPr/>
        </p:nvSpPr>
        <p:spPr bwMode="auto">
          <a:xfrm>
            <a:off x="2514600" y="434340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32800" name="Rectangle 32"/>
          <p:cNvSpPr>
            <a:spLocks noChangeArrowheads="1"/>
          </p:cNvSpPr>
          <p:nvPr/>
        </p:nvSpPr>
        <p:spPr bwMode="auto">
          <a:xfrm>
            <a:off x="4191000" y="1524000"/>
            <a:ext cx="838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11</a:t>
            </a:r>
          </a:p>
        </p:txBody>
      </p:sp>
      <p:sp>
        <p:nvSpPr>
          <p:cNvPr id="32801" name="Oval 33"/>
          <p:cNvSpPr>
            <a:spLocks noChangeArrowheads="1"/>
          </p:cNvSpPr>
          <p:nvPr/>
        </p:nvSpPr>
        <p:spPr bwMode="auto">
          <a:xfrm>
            <a:off x="3435350" y="43497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802" name="Line 34"/>
          <p:cNvSpPr>
            <a:spLocks noChangeShapeType="1"/>
          </p:cNvSpPr>
          <p:nvPr/>
        </p:nvSpPr>
        <p:spPr bwMode="auto">
          <a:xfrm>
            <a:off x="3200400" y="3657600"/>
            <a:ext cx="4572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803" name="Rectangle 35"/>
          <p:cNvSpPr>
            <a:spLocks noChangeArrowheads="1"/>
          </p:cNvSpPr>
          <p:nvPr/>
        </p:nvSpPr>
        <p:spPr bwMode="auto">
          <a:xfrm>
            <a:off x="2041525" y="2468563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10</a:t>
            </a:r>
          </a:p>
        </p:txBody>
      </p:sp>
      <p:sp>
        <p:nvSpPr>
          <p:cNvPr id="32804" name="Rectangle 36"/>
          <p:cNvSpPr>
            <a:spLocks noChangeArrowheads="1"/>
          </p:cNvSpPr>
          <p:nvPr/>
        </p:nvSpPr>
        <p:spPr bwMode="auto">
          <a:xfrm>
            <a:off x="28797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32805" name="Rectangle 37"/>
          <p:cNvSpPr>
            <a:spLocks noChangeArrowheads="1"/>
          </p:cNvSpPr>
          <p:nvPr/>
        </p:nvSpPr>
        <p:spPr bwMode="auto">
          <a:xfrm>
            <a:off x="1143000" y="5638800"/>
            <a:ext cx="6629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>
                <a:solidFill>
                  <a:schemeClr val="bg2"/>
                </a:solidFill>
              </a:rPr>
              <a:t>Find home for </a:t>
            </a:r>
            <a:r>
              <a:rPr lang="en-US" altLang="en-US" sz="3200">
                <a:solidFill>
                  <a:schemeClr val="hlink"/>
                </a:solidFill>
              </a:rPr>
              <a:t>1</a:t>
            </a:r>
            <a:r>
              <a:rPr lang="en-US" altLang="en-US" sz="3200">
                <a:solidFill>
                  <a:schemeClr val="bg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27749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400"/>
              <a:t>Initializing A Max Heap</a:t>
            </a:r>
          </a:p>
        </p:txBody>
      </p:sp>
      <p:sp>
        <p:nvSpPr>
          <p:cNvPr id="34819" name="Oval 3"/>
          <p:cNvSpPr>
            <a:spLocks noChangeArrowheads="1"/>
          </p:cNvSpPr>
          <p:nvPr/>
        </p:nvSpPr>
        <p:spPr bwMode="auto">
          <a:xfrm>
            <a:off x="4197350" y="14541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4820" name="Oval 4"/>
          <p:cNvSpPr>
            <a:spLocks noChangeArrowheads="1"/>
          </p:cNvSpPr>
          <p:nvPr/>
        </p:nvSpPr>
        <p:spPr bwMode="auto">
          <a:xfrm>
            <a:off x="20637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4821" name="Oval 5"/>
          <p:cNvSpPr>
            <a:spLocks noChangeArrowheads="1"/>
          </p:cNvSpPr>
          <p:nvPr/>
        </p:nvSpPr>
        <p:spPr bwMode="auto">
          <a:xfrm>
            <a:off x="64071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4822" name="Oval 6"/>
          <p:cNvSpPr>
            <a:spLocks noChangeArrowheads="1"/>
          </p:cNvSpPr>
          <p:nvPr/>
        </p:nvSpPr>
        <p:spPr bwMode="auto">
          <a:xfrm>
            <a:off x="1073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4823" name="Oval 7"/>
          <p:cNvSpPr>
            <a:spLocks noChangeArrowheads="1"/>
          </p:cNvSpPr>
          <p:nvPr/>
        </p:nvSpPr>
        <p:spPr bwMode="auto">
          <a:xfrm>
            <a:off x="28257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4824" name="Oval 8"/>
          <p:cNvSpPr>
            <a:spLocks noChangeArrowheads="1"/>
          </p:cNvSpPr>
          <p:nvPr/>
        </p:nvSpPr>
        <p:spPr bwMode="auto">
          <a:xfrm>
            <a:off x="51879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4825" name="Oval 9"/>
          <p:cNvSpPr>
            <a:spLocks noChangeArrowheads="1"/>
          </p:cNvSpPr>
          <p:nvPr/>
        </p:nvSpPr>
        <p:spPr bwMode="auto">
          <a:xfrm>
            <a:off x="7550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4826" name="Oval 10"/>
          <p:cNvSpPr>
            <a:spLocks noChangeArrowheads="1"/>
          </p:cNvSpPr>
          <p:nvPr/>
        </p:nvSpPr>
        <p:spPr bwMode="auto">
          <a:xfrm>
            <a:off x="463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4827" name="Oval 11"/>
          <p:cNvSpPr>
            <a:spLocks noChangeArrowheads="1"/>
          </p:cNvSpPr>
          <p:nvPr/>
        </p:nvSpPr>
        <p:spPr bwMode="auto">
          <a:xfrm>
            <a:off x="1606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4828" name="Line 12"/>
          <p:cNvSpPr>
            <a:spLocks noChangeShapeType="1"/>
          </p:cNvSpPr>
          <p:nvPr/>
        </p:nvSpPr>
        <p:spPr bwMode="auto">
          <a:xfrm flipH="1">
            <a:off x="2514600" y="1752600"/>
            <a:ext cx="1676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4829" name="Line 13"/>
          <p:cNvSpPr>
            <a:spLocks noChangeShapeType="1"/>
          </p:cNvSpPr>
          <p:nvPr/>
        </p:nvSpPr>
        <p:spPr bwMode="auto">
          <a:xfrm>
            <a:off x="4648200" y="175260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4830" name="Line 14"/>
          <p:cNvSpPr>
            <a:spLocks noChangeShapeType="1"/>
          </p:cNvSpPr>
          <p:nvPr/>
        </p:nvSpPr>
        <p:spPr bwMode="auto">
          <a:xfrm flipH="1">
            <a:off x="1371600" y="281940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4831" name="Line 15"/>
          <p:cNvSpPr>
            <a:spLocks noChangeShapeType="1"/>
          </p:cNvSpPr>
          <p:nvPr/>
        </p:nvSpPr>
        <p:spPr bwMode="auto">
          <a:xfrm>
            <a:off x="2438400" y="2819400"/>
            <a:ext cx="533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4832" name="Line 16"/>
          <p:cNvSpPr>
            <a:spLocks noChangeShapeType="1"/>
          </p:cNvSpPr>
          <p:nvPr/>
        </p:nvSpPr>
        <p:spPr bwMode="auto">
          <a:xfrm flipH="1">
            <a:off x="5562600" y="2895600"/>
            <a:ext cx="914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4833" name="Line 17"/>
          <p:cNvSpPr>
            <a:spLocks noChangeShapeType="1"/>
          </p:cNvSpPr>
          <p:nvPr/>
        </p:nvSpPr>
        <p:spPr bwMode="auto">
          <a:xfrm>
            <a:off x="6781800" y="2819400"/>
            <a:ext cx="838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4834" name="Line 18"/>
          <p:cNvSpPr>
            <a:spLocks noChangeShapeType="1"/>
          </p:cNvSpPr>
          <p:nvPr/>
        </p:nvSpPr>
        <p:spPr bwMode="auto">
          <a:xfrm flipH="1">
            <a:off x="762000" y="365760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4835" name="Line 19"/>
          <p:cNvSpPr>
            <a:spLocks noChangeShapeType="1"/>
          </p:cNvSpPr>
          <p:nvPr/>
        </p:nvSpPr>
        <p:spPr bwMode="auto">
          <a:xfrm>
            <a:off x="1447800" y="365760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4836" name="Rectangle 20"/>
          <p:cNvSpPr>
            <a:spLocks noChangeArrowheads="1"/>
          </p:cNvSpPr>
          <p:nvPr/>
        </p:nvSpPr>
        <p:spPr bwMode="auto">
          <a:xfrm>
            <a:off x="34893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34837" name="Rectangle 21"/>
          <p:cNvSpPr>
            <a:spLocks noChangeArrowheads="1"/>
          </p:cNvSpPr>
          <p:nvPr/>
        </p:nvSpPr>
        <p:spPr bwMode="auto">
          <a:xfrm>
            <a:off x="1127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9</a:t>
            </a:r>
          </a:p>
        </p:txBody>
      </p:sp>
      <p:sp>
        <p:nvSpPr>
          <p:cNvPr id="34838" name="Rectangle 22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34839" name="Rectangle 23"/>
          <p:cNvSpPr>
            <a:spLocks noChangeArrowheads="1"/>
          </p:cNvSpPr>
          <p:nvPr/>
        </p:nvSpPr>
        <p:spPr bwMode="auto">
          <a:xfrm>
            <a:off x="52419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34840" name="Rectangle 24"/>
          <p:cNvSpPr>
            <a:spLocks noChangeArrowheads="1"/>
          </p:cNvSpPr>
          <p:nvPr/>
        </p:nvSpPr>
        <p:spPr bwMode="auto">
          <a:xfrm>
            <a:off x="7604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34841" name="Rectangle 25"/>
          <p:cNvSpPr>
            <a:spLocks noChangeArrowheads="1"/>
          </p:cNvSpPr>
          <p:nvPr/>
        </p:nvSpPr>
        <p:spPr bwMode="auto">
          <a:xfrm>
            <a:off x="517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34842" name="Rectangle 26"/>
          <p:cNvSpPr>
            <a:spLocks noChangeArrowheads="1"/>
          </p:cNvSpPr>
          <p:nvPr/>
        </p:nvSpPr>
        <p:spPr bwMode="auto">
          <a:xfrm>
            <a:off x="1660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34843" name="Rectangle 27"/>
          <p:cNvSpPr>
            <a:spLocks noChangeArrowheads="1"/>
          </p:cNvSpPr>
          <p:nvPr/>
        </p:nvSpPr>
        <p:spPr bwMode="auto">
          <a:xfrm>
            <a:off x="64611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34844" name="Rectangle 28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34845" name="Oval 29"/>
          <p:cNvSpPr>
            <a:spLocks noChangeArrowheads="1"/>
          </p:cNvSpPr>
          <p:nvPr/>
        </p:nvSpPr>
        <p:spPr bwMode="auto">
          <a:xfrm>
            <a:off x="24447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4846" name="Line 30"/>
          <p:cNvSpPr>
            <a:spLocks noChangeShapeType="1"/>
          </p:cNvSpPr>
          <p:nvPr/>
        </p:nvSpPr>
        <p:spPr bwMode="auto">
          <a:xfrm flipH="1">
            <a:off x="2743200" y="3733800"/>
            <a:ext cx="2286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4847" name="Rectangle 31"/>
          <p:cNvSpPr>
            <a:spLocks noChangeArrowheads="1"/>
          </p:cNvSpPr>
          <p:nvPr/>
        </p:nvSpPr>
        <p:spPr bwMode="auto">
          <a:xfrm>
            <a:off x="2514600" y="434340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34848" name="Rectangle 32"/>
          <p:cNvSpPr>
            <a:spLocks noChangeArrowheads="1"/>
          </p:cNvSpPr>
          <p:nvPr/>
        </p:nvSpPr>
        <p:spPr bwMode="auto">
          <a:xfrm>
            <a:off x="4191000" y="1524000"/>
            <a:ext cx="838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11</a:t>
            </a:r>
          </a:p>
        </p:txBody>
      </p:sp>
      <p:sp>
        <p:nvSpPr>
          <p:cNvPr id="34849" name="Oval 33"/>
          <p:cNvSpPr>
            <a:spLocks noChangeArrowheads="1"/>
          </p:cNvSpPr>
          <p:nvPr/>
        </p:nvSpPr>
        <p:spPr bwMode="auto">
          <a:xfrm>
            <a:off x="34353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4850" name="Line 34"/>
          <p:cNvSpPr>
            <a:spLocks noChangeShapeType="1"/>
          </p:cNvSpPr>
          <p:nvPr/>
        </p:nvSpPr>
        <p:spPr bwMode="auto">
          <a:xfrm>
            <a:off x="3200400" y="3657600"/>
            <a:ext cx="4572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4851" name="Rectangle 35"/>
          <p:cNvSpPr>
            <a:spLocks noChangeArrowheads="1"/>
          </p:cNvSpPr>
          <p:nvPr/>
        </p:nvSpPr>
        <p:spPr bwMode="auto">
          <a:xfrm>
            <a:off x="2041525" y="2468563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10</a:t>
            </a:r>
          </a:p>
        </p:txBody>
      </p:sp>
      <p:sp>
        <p:nvSpPr>
          <p:cNvPr id="34852" name="Rectangle 36"/>
          <p:cNvSpPr>
            <a:spLocks noChangeArrowheads="1"/>
          </p:cNvSpPr>
          <p:nvPr/>
        </p:nvSpPr>
        <p:spPr bwMode="auto">
          <a:xfrm>
            <a:off x="28797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34853" name="Rectangle 37"/>
          <p:cNvSpPr>
            <a:spLocks noChangeArrowheads="1"/>
          </p:cNvSpPr>
          <p:nvPr/>
        </p:nvSpPr>
        <p:spPr bwMode="auto">
          <a:xfrm>
            <a:off x="1143000" y="5638800"/>
            <a:ext cx="6629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>
                <a:solidFill>
                  <a:schemeClr val="bg2"/>
                </a:solidFill>
              </a:rPr>
              <a:t>Done.</a:t>
            </a:r>
          </a:p>
        </p:txBody>
      </p:sp>
      <p:sp>
        <p:nvSpPr>
          <p:cNvPr id="34854" name="Rectangle 38"/>
          <p:cNvSpPr>
            <a:spLocks noChangeArrowheads="1"/>
          </p:cNvSpPr>
          <p:nvPr/>
        </p:nvSpPr>
        <p:spPr bwMode="auto">
          <a:xfrm>
            <a:off x="34893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898332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400" dirty="0"/>
              <a:t>Time Complexity</a:t>
            </a:r>
          </a:p>
        </p:txBody>
      </p:sp>
      <p:sp>
        <p:nvSpPr>
          <p:cNvPr id="36867" name="Oval 3"/>
          <p:cNvSpPr>
            <a:spLocks noChangeArrowheads="1"/>
          </p:cNvSpPr>
          <p:nvPr/>
        </p:nvSpPr>
        <p:spPr bwMode="auto">
          <a:xfrm>
            <a:off x="4197350" y="14541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868" name="Oval 4"/>
          <p:cNvSpPr>
            <a:spLocks noChangeArrowheads="1"/>
          </p:cNvSpPr>
          <p:nvPr/>
        </p:nvSpPr>
        <p:spPr bwMode="auto">
          <a:xfrm>
            <a:off x="20637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869" name="Oval 5"/>
          <p:cNvSpPr>
            <a:spLocks noChangeArrowheads="1"/>
          </p:cNvSpPr>
          <p:nvPr/>
        </p:nvSpPr>
        <p:spPr bwMode="auto">
          <a:xfrm>
            <a:off x="64071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870" name="Oval 6"/>
          <p:cNvSpPr>
            <a:spLocks noChangeArrowheads="1"/>
          </p:cNvSpPr>
          <p:nvPr/>
        </p:nvSpPr>
        <p:spPr bwMode="auto">
          <a:xfrm>
            <a:off x="1073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871" name="Oval 7"/>
          <p:cNvSpPr>
            <a:spLocks noChangeArrowheads="1"/>
          </p:cNvSpPr>
          <p:nvPr/>
        </p:nvSpPr>
        <p:spPr bwMode="auto">
          <a:xfrm>
            <a:off x="28257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872" name="Oval 8"/>
          <p:cNvSpPr>
            <a:spLocks noChangeArrowheads="1"/>
          </p:cNvSpPr>
          <p:nvPr/>
        </p:nvSpPr>
        <p:spPr bwMode="auto">
          <a:xfrm>
            <a:off x="51879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873" name="Oval 9"/>
          <p:cNvSpPr>
            <a:spLocks noChangeArrowheads="1"/>
          </p:cNvSpPr>
          <p:nvPr/>
        </p:nvSpPr>
        <p:spPr bwMode="auto">
          <a:xfrm>
            <a:off x="7550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874" name="Oval 10"/>
          <p:cNvSpPr>
            <a:spLocks noChangeArrowheads="1"/>
          </p:cNvSpPr>
          <p:nvPr/>
        </p:nvSpPr>
        <p:spPr bwMode="auto">
          <a:xfrm>
            <a:off x="463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875" name="Oval 11"/>
          <p:cNvSpPr>
            <a:spLocks noChangeArrowheads="1"/>
          </p:cNvSpPr>
          <p:nvPr/>
        </p:nvSpPr>
        <p:spPr bwMode="auto">
          <a:xfrm>
            <a:off x="1606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876" name="Line 12"/>
          <p:cNvSpPr>
            <a:spLocks noChangeShapeType="1"/>
          </p:cNvSpPr>
          <p:nvPr/>
        </p:nvSpPr>
        <p:spPr bwMode="auto">
          <a:xfrm flipH="1">
            <a:off x="2514600" y="1752600"/>
            <a:ext cx="1676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77" name="Line 13"/>
          <p:cNvSpPr>
            <a:spLocks noChangeShapeType="1"/>
          </p:cNvSpPr>
          <p:nvPr/>
        </p:nvSpPr>
        <p:spPr bwMode="auto">
          <a:xfrm>
            <a:off x="4648200" y="175260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78" name="Line 14"/>
          <p:cNvSpPr>
            <a:spLocks noChangeShapeType="1"/>
          </p:cNvSpPr>
          <p:nvPr/>
        </p:nvSpPr>
        <p:spPr bwMode="auto">
          <a:xfrm flipH="1">
            <a:off x="1371600" y="281940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79" name="Line 15"/>
          <p:cNvSpPr>
            <a:spLocks noChangeShapeType="1"/>
          </p:cNvSpPr>
          <p:nvPr/>
        </p:nvSpPr>
        <p:spPr bwMode="auto">
          <a:xfrm>
            <a:off x="2438400" y="2819400"/>
            <a:ext cx="533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80" name="Line 16"/>
          <p:cNvSpPr>
            <a:spLocks noChangeShapeType="1"/>
          </p:cNvSpPr>
          <p:nvPr/>
        </p:nvSpPr>
        <p:spPr bwMode="auto">
          <a:xfrm flipH="1">
            <a:off x="5562600" y="2895600"/>
            <a:ext cx="914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81" name="Line 17"/>
          <p:cNvSpPr>
            <a:spLocks noChangeShapeType="1"/>
          </p:cNvSpPr>
          <p:nvPr/>
        </p:nvSpPr>
        <p:spPr bwMode="auto">
          <a:xfrm>
            <a:off x="6781800" y="2819400"/>
            <a:ext cx="838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82" name="Line 18"/>
          <p:cNvSpPr>
            <a:spLocks noChangeShapeType="1"/>
          </p:cNvSpPr>
          <p:nvPr/>
        </p:nvSpPr>
        <p:spPr bwMode="auto">
          <a:xfrm flipH="1">
            <a:off x="762000" y="365760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83" name="Line 19"/>
          <p:cNvSpPr>
            <a:spLocks noChangeShapeType="1"/>
          </p:cNvSpPr>
          <p:nvPr/>
        </p:nvSpPr>
        <p:spPr bwMode="auto">
          <a:xfrm>
            <a:off x="1447800" y="365760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84" name="Rectangle 20"/>
          <p:cNvSpPr>
            <a:spLocks noChangeArrowheads="1"/>
          </p:cNvSpPr>
          <p:nvPr/>
        </p:nvSpPr>
        <p:spPr bwMode="auto">
          <a:xfrm>
            <a:off x="34893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36885" name="Rectangle 21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36886" name="Rectangle 22"/>
          <p:cNvSpPr>
            <a:spLocks noChangeArrowheads="1"/>
          </p:cNvSpPr>
          <p:nvPr/>
        </p:nvSpPr>
        <p:spPr bwMode="auto">
          <a:xfrm>
            <a:off x="52419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36887" name="Rectangle 23"/>
          <p:cNvSpPr>
            <a:spLocks noChangeArrowheads="1"/>
          </p:cNvSpPr>
          <p:nvPr/>
        </p:nvSpPr>
        <p:spPr bwMode="auto">
          <a:xfrm>
            <a:off x="7604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36888" name="Rectangle 24"/>
          <p:cNvSpPr>
            <a:spLocks noChangeArrowheads="1"/>
          </p:cNvSpPr>
          <p:nvPr/>
        </p:nvSpPr>
        <p:spPr bwMode="auto">
          <a:xfrm>
            <a:off x="1660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36889" name="Rectangle 25"/>
          <p:cNvSpPr>
            <a:spLocks noChangeArrowheads="1"/>
          </p:cNvSpPr>
          <p:nvPr/>
        </p:nvSpPr>
        <p:spPr bwMode="auto">
          <a:xfrm>
            <a:off x="64611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36890" name="Rectangle 26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36891" name="Oval 27"/>
          <p:cNvSpPr>
            <a:spLocks noChangeArrowheads="1"/>
          </p:cNvSpPr>
          <p:nvPr/>
        </p:nvSpPr>
        <p:spPr bwMode="auto">
          <a:xfrm>
            <a:off x="24447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892" name="Line 28"/>
          <p:cNvSpPr>
            <a:spLocks noChangeShapeType="1"/>
          </p:cNvSpPr>
          <p:nvPr/>
        </p:nvSpPr>
        <p:spPr bwMode="auto">
          <a:xfrm flipH="1">
            <a:off x="2743200" y="3733800"/>
            <a:ext cx="2286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93" name="Rectangle 29"/>
          <p:cNvSpPr>
            <a:spLocks noChangeArrowheads="1"/>
          </p:cNvSpPr>
          <p:nvPr/>
        </p:nvSpPr>
        <p:spPr bwMode="auto">
          <a:xfrm>
            <a:off x="2438400" y="441960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10</a:t>
            </a:r>
          </a:p>
        </p:txBody>
      </p:sp>
      <p:sp>
        <p:nvSpPr>
          <p:cNvPr id="36894" name="Rectangle 30"/>
          <p:cNvSpPr>
            <a:spLocks noChangeArrowheads="1"/>
          </p:cNvSpPr>
          <p:nvPr/>
        </p:nvSpPr>
        <p:spPr bwMode="auto">
          <a:xfrm>
            <a:off x="4191000" y="1524000"/>
            <a:ext cx="838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11</a:t>
            </a:r>
          </a:p>
        </p:txBody>
      </p:sp>
      <p:sp>
        <p:nvSpPr>
          <p:cNvPr id="36895" name="Oval 31"/>
          <p:cNvSpPr>
            <a:spLocks noChangeArrowheads="1"/>
          </p:cNvSpPr>
          <p:nvPr/>
        </p:nvSpPr>
        <p:spPr bwMode="auto">
          <a:xfrm>
            <a:off x="34353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896" name="Line 32"/>
          <p:cNvSpPr>
            <a:spLocks noChangeShapeType="1"/>
          </p:cNvSpPr>
          <p:nvPr/>
        </p:nvSpPr>
        <p:spPr bwMode="auto">
          <a:xfrm>
            <a:off x="3200400" y="3657600"/>
            <a:ext cx="4572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97" name="Rectangle 33"/>
          <p:cNvSpPr>
            <a:spLocks noChangeArrowheads="1"/>
          </p:cNvSpPr>
          <p:nvPr/>
        </p:nvSpPr>
        <p:spPr bwMode="auto">
          <a:xfrm>
            <a:off x="28797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36898" name="Rectangle 34"/>
          <p:cNvSpPr>
            <a:spLocks noChangeArrowheads="1"/>
          </p:cNvSpPr>
          <p:nvPr/>
        </p:nvSpPr>
        <p:spPr bwMode="auto">
          <a:xfrm>
            <a:off x="34893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36899" name="Rectangle 35"/>
          <p:cNvSpPr>
            <a:spLocks noChangeArrowheads="1"/>
          </p:cNvSpPr>
          <p:nvPr/>
        </p:nvSpPr>
        <p:spPr bwMode="auto">
          <a:xfrm>
            <a:off x="2117725" y="2514600"/>
            <a:ext cx="18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9</a:t>
            </a:r>
          </a:p>
        </p:txBody>
      </p:sp>
      <p:sp>
        <p:nvSpPr>
          <p:cNvPr id="36900" name="Rectangle 36"/>
          <p:cNvSpPr>
            <a:spLocks noChangeArrowheads="1"/>
          </p:cNvSpPr>
          <p:nvPr/>
        </p:nvSpPr>
        <p:spPr bwMode="auto">
          <a:xfrm>
            <a:off x="1127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36901" name="Rectangle 37"/>
          <p:cNvSpPr>
            <a:spLocks noChangeArrowheads="1"/>
          </p:cNvSpPr>
          <p:nvPr/>
        </p:nvSpPr>
        <p:spPr bwMode="auto">
          <a:xfrm>
            <a:off x="517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36902" name="Rectangle 38"/>
          <p:cNvSpPr>
            <a:spLocks noChangeArrowheads="1"/>
          </p:cNvSpPr>
          <p:nvPr/>
        </p:nvSpPr>
        <p:spPr bwMode="auto">
          <a:xfrm>
            <a:off x="395536" y="5013176"/>
            <a:ext cx="8458200" cy="1570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dirty="0">
                <a:solidFill>
                  <a:schemeClr val="bg2"/>
                </a:solidFill>
              </a:rPr>
              <a:t>Height of heap </a:t>
            </a:r>
            <a:r>
              <a:rPr lang="en-US" altLang="en-US" sz="2400" dirty="0">
                <a:solidFill>
                  <a:schemeClr val="hlink"/>
                </a:solidFill>
              </a:rPr>
              <a:t>= h</a:t>
            </a:r>
            <a:r>
              <a:rPr lang="en-US" altLang="en-US" sz="2400" dirty="0">
                <a:solidFill>
                  <a:schemeClr val="bg2"/>
                </a:solidFill>
              </a:rPr>
              <a:t>, Number of nodes at level j is </a:t>
            </a:r>
            <a:r>
              <a:rPr lang="en-US" altLang="en-US" sz="2400" dirty="0"/>
              <a:t>2 </a:t>
            </a:r>
            <a:r>
              <a:rPr lang="en-US" altLang="en-US" sz="2400" baseline="30000" dirty="0"/>
              <a:t>j-1</a:t>
            </a:r>
            <a:endParaRPr lang="en-US" altLang="en-US" sz="2400" dirty="0">
              <a:solidFill>
                <a:schemeClr val="hlink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en-US" sz="2400" dirty="0">
                <a:solidFill>
                  <a:schemeClr val="bg2"/>
                </a:solidFill>
              </a:rPr>
              <a:t>Number of </a:t>
            </a:r>
            <a:r>
              <a:rPr lang="en-US" altLang="en-US" sz="2400" dirty="0" err="1">
                <a:solidFill>
                  <a:schemeClr val="bg2"/>
                </a:solidFill>
              </a:rPr>
              <a:t>subtrees</a:t>
            </a:r>
            <a:r>
              <a:rPr lang="en-US" altLang="en-US" sz="2400" dirty="0">
                <a:solidFill>
                  <a:schemeClr val="bg2"/>
                </a:solidFill>
              </a:rPr>
              <a:t> with root at level </a:t>
            </a:r>
            <a:r>
              <a:rPr lang="en-US" altLang="en-US" sz="2400" dirty="0">
                <a:solidFill>
                  <a:schemeClr val="hlink"/>
                </a:solidFill>
              </a:rPr>
              <a:t>j</a:t>
            </a:r>
            <a:r>
              <a:rPr lang="en-US" altLang="en-US" sz="2400" dirty="0">
                <a:solidFill>
                  <a:schemeClr val="bg2"/>
                </a:solidFill>
              </a:rPr>
              <a:t> is </a:t>
            </a:r>
            <a:r>
              <a:rPr lang="en-US" altLang="en-US" sz="2400" dirty="0">
                <a:solidFill>
                  <a:schemeClr val="hlink"/>
                </a:solidFill>
              </a:rPr>
              <a:t>&lt;= 2 </a:t>
            </a:r>
            <a:r>
              <a:rPr lang="en-US" altLang="en-US" sz="2400" baseline="30000" dirty="0">
                <a:solidFill>
                  <a:schemeClr val="hlink"/>
                </a:solidFill>
              </a:rPr>
              <a:t>j-1</a:t>
            </a:r>
            <a:r>
              <a:rPr lang="en-US" altLang="en-US" sz="2400" dirty="0">
                <a:solidFill>
                  <a:schemeClr val="bg2"/>
                </a:solidFill>
              </a:rPr>
              <a:t>.</a:t>
            </a:r>
            <a:endParaRPr lang="en-US" altLang="en-US" sz="2400" dirty="0">
              <a:solidFill>
                <a:schemeClr val="hlink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en-US" sz="2400" dirty="0">
                <a:solidFill>
                  <a:schemeClr val="bg2"/>
                </a:solidFill>
              </a:rPr>
              <a:t>Time for each </a:t>
            </a:r>
            <a:r>
              <a:rPr lang="en-US" altLang="en-US" sz="2400" dirty="0" err="1">
                <a:solidFill>
                  <a:schemeClr val="bg2"/>
                </a:solidFill>
              </a:rPr>
              <a:t>subtree</a:t>
            </a:r>
            <a:r>
              <a:rPr lang="en-US" altLang="en-US" sz="2400" dirty="0">
                <a:solidFill>
                  <a:schemeClr val="bg2"/>
                </a:solidFill>
              </a:rPr>
              <a:t> is</a:t>
            </a:r>
            <a:r>
              <a:rPr lang="en-US" altLang="en-US" sz="2400" dirty="0">
                <a:solidFill>
                  <a:schemeClr val="hlink"/>
                </a:solidFill>
              </a:rPr>
              <a:t> O(h-j)</a:t>
            </a:r>
            <a:r>
              <a:rPr lang="en-US" altLang="en-US" sz="2400" dirty="0">
                <a:solidFill>
                  <a:schemeClr val="bg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148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02" grpId="0" build="p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400"/>
              <a:t>Complexity</a:t>
            </a:r>
          </a:p>
        </p:txBody>
      </p:sp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304800" y="1524000"/>
            <a:ext cx="8458200" cy="3109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dirty="0">
                <a:solidFill>
                  <a:schemeClr val="bg2"/>
                </a:solidFill>
              </a:rPr>
              <a:t>Time for level </a:t>
            </a:r>
            <a:r>
              <a:rPr lang="en-US" altLang="en-US" sz="2800" dirty="0">
                <a:solidFill>
                  <a:schemeClr val="hlink"/>
                </a:solidFill>
              </a:rPr>
              <a:t>j</a:t>
            </a:r>
            <a:r>
              <a:rPr lang="en-US" altLang="en-US" sz="2800" dirty="0">
                <a:solidFill>
                  <a:schemeClr val="bg2"/>
                </a:solidFill>
              </a:rPr>
              <a:t> </a:t>
            </a:r>
            <a:r>
              <a:rPr lang="en-US" altLang="en-US" sz="2800" dirty="0" err="1">
                <a:solidFill>
                  <a:schemeClr val="bg2"/>
                </a:solidFill>
              </a:rPr>
              <a:t>subtrees</a:t>
            </a:r>
            <a:r>
              <a:rPr lang="en-US" altLang="en-US" sz="2800" dirty="0">
                <a:solidFill>
                  <a:schemeClr val="bg2"/>
                </a:solidFill>
              </a:rPr>
              <a:t> is </a:t>
            </a:r>
            <a:r>
              <a:rPr lang="en-US" altLang="en-US" sz="2800" dirty="0">
                <a:solidFill>
                  <a:schemeClr val="hlink"/>
                </a:solidFill>
              </a:rPr>
              <a:t>&lt;= 2</a:t>
            </a:r>
            <a:r>
              <a:rPr lang="en-US" altLang="en-US" sz="2800" baseline="30000" dirty="0">
                <a:solidFill>
                  <a:schemeClr val="hlink"/>
                </a:solidFill>
              </a:rPr>
              <a:t>j-1</a:t>
            </a:r>
            <a:r>
              <a:rPr lang="en-US" altLang="en-US" sz="2800" dirty="0">
                <a:solidFill>
                  <a:schemeClr val="hlink"/>
                </a:solidFill>
              </a:rPr>
              <a:t>(h-j)</a:t>
            </a:r>
          </a:p>
          <a:p>
            <a:pPr>
              <a:spcBef>
                <a:spcPct val="50000"/>
              </a:spcBef>
            </a:pPr>
            <a:endParaRPr lang="en-US" altLang="en-US" sz="2800" dirty="0">
              <a:solidFill>
                <a:schemeClr val="bg2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en-US" sz="2800" dirty="0">
                <a:solidFill>
                  <a:schemeClr val="bg2"/>
                </a:solidFill>
              </a:rPr>
              <a:t>Total time required is  1</a:t>
            </a:r>
            <a:r>
              <a:rPr lang="en-US" altLang="en-US" sz="2800" dirty="0">
                <a:solidFill>
                  <a:schemeClr val="bg2"/>
                </a:solidFill>
                <a:sym typeface="Symbol" panose="05050102010706020507" pitchFamily="18" charset="2"/>
              </a:rPr>
              <a:t> j &lt;h</a:t>
            </a:r>
            <a:endParaRPr lang="en-US" altLang="en-US" sz="2800" dirty="0">
              <a:solidFill>
                <a:schemeClr val="bg2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en-US" sz="2800" dirty="0">
                <a:solidFill>
                  <a:schemeClr val="bg2"/>
                </a:solidFill>
              </a:rPr>
              <a:t>∑</a:t>
            </a:r>
            <a:r>
              <a:rPr lang="en-US" altLang="en-US" sz="2800" dirty="0"/>
              <a:t> 2</a:t>
            </a:r>
            <a:r>
              <a:rPr lang="en-US" altLang="en-US" sz="2800" baseline="30000" dirty="0"/>
              <a:t>j-1</a:t>
            </a:r>
            <a:r>
              <a:rPr lang="en-US" altLang="en-US" sz="2800" dirty="0"/>
              <a:t>(h-j)   = </a:t>
            </a:r>
            <a:r>
              <a:rPr lang="en-US" altLang="en-US" sz="2800" dirty="0">
                <a:solidFill>
                  <a:schemeClr val="bg2"/>
                </a:solidFill>
              </a:rPr>
              <a:t>∑</a:t>
            </a:r>
            <a:r>
              <a:rPr lang="en-US" altLang="en-US" sz="2800" dirty="0"/>
              <a:t> 2</a:t>
            </a:r>
            <a:r>
              <a:rPr lang="en-US" altLang="en-US" sz="2800" baseline="30000" dirty="0"/>
              <a:t>h-j-1</a:t>
            </a:r>
            <a:r>
              <a:rPr lang="en-US" altLang="en-US" sz="2800" dirty="0"/>
              <a:t> (j)  ≤  n</a:t>
            </a:r>
            <a:r>
              <a:rPr lang="en-US" altLang="en-US" sz="2800" dirty="0">
                <a:solidFill>
                  <a:schemeClr val="bg2"/>
                </a:solidFill>
              </a:rPr>
              <a:t> ∑</a:t>
            </a:r>
            <a:r>
              <a:rPr lang="en-US" altLang="en-US" sz="2800" dirty="0"/>
              <a:t> 2</a:t>
            </a:r>
            <a:r>
              <a:rPr lang="en-US" altLang="en-US" sz="2800" baseline="30000" dirty="0"/>
              <a:t>-j</a:t>
            </a:r>
            <a:r>
              <a:rPr lang="en-US" altLang="en-US" sz="2800" dirty="0"/>
              <a:t> (j) </a:t>
            </a:r>
            <a:r>
              <a:rPr lang="en-US" altLang="en-US" sz="2800" dirty="0">
                <a:solidFill>
                  <a:schemeClr val="bg2"/>
                </a:solidFill>
                <a:sym typeface="Symbol" panose="05050102010706020507" pitchFamily="18" charset="2"/>
              </a:rPr>
              <a:t>≤  2n   = O(n)</a:t>
            </a:r>
            <a:endParaRPr lang="en-US" altLang="en-US" sz="2800" dirty="0">
              <a:solidFill>
                <a:schemeClr val="bg2"/>
              </a:solidFill>
            </a:endParaRPr>
          </a:p>
          <a:p>
            <a:pPr>
              <a:spcBef>
                <a:spcPct val="50000"/>
              </a:spcBef>
            </a:pPr>
            <a:endParaRPr lang="en-US" altLang="en-US" sz="2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608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HeapSort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5696" y="2060848"/>
            <a:ext cx="4378027" cy="427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0253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5400000">
            <a:off x="1170191" y="-742281"/>
            <a:ext cx="6789419" cy="848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9645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 rot="5400000">
            <a:off x="1340182" y="-539981"/>
            <a:ext cx="6160617" cy="819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4135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400" dirty="0"/>
              <a:t>Time Complexity</a:t>
            </a:r>
          </a:p>
        </p:txBody>
      </p:sp>
      <p:sp>
        <p:nvSpPr>
          <p:cNvPr id="36867" name="Oval 3"/>
          <p:cNvSpPr>
            <a:spLocks noChangeArrowheads="1"/>
          </p:cNvSpPr>
          <p:nvPr/>
        </p:nvSpPr>
        <p:spPr bwMode="auto">
          <a:xfrm>
            <a:off x="4197350" y="14541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868" name="Oval 4"/>
          <p:cNvSpPr>
            <a:spLocks noChangeArrowheads="1"/>
          </p:cNvSpPr>
          <p:nvPr/>
        </p:nvSpPr>
        <p:spPr bwMode="auto">
          <a:xfrm>
            <a:off x="20637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869" name="Oval 5"/>
          <p:cNvSpPr>
            <a:spLocks noChangeArrowheads="1"/>
          </p:cNvSpPr>
          <p:nvPr/>
        </p:nvSpPr>
        <p:spPr bwMode="auto">
          <a:xfrm>
            <a:off x="6407150" y="2444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870" name="Oval 6"/>
          <p:cNvSpPr>
            <a:spLocks noChangeArrowheads="1"/>
          </p:cNvSpPr>
          <p:nvPr/>
        </p:nvSpPr>
        <p:spPr bwMode="auto">
          <a:xfrm>
            <a:off x="1073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871" name="Oval 7"/>
          <p:cNvSpPr>
            <a:spLocks noChangeArrowheads="1"/>
          </p:cNvSpPr>
          <p:nvPr/>
        </p:nvSpPr>
        <p:spPr bwMode="auto">
          <a:xfrm>
            <a:off x="28257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872" name="Oval 8"/>
          <p:cNvSpPr>
            <a:spLocks noChangeArrowheads="1"/>
          </p:cNvSpPr>
          <p:nvPr/>
        </p:nvSpPr>
        <p:spPr bwMode="auto">
          <a:xfrm>
            <a:off x="51879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873" name="Oval 9"/>
          <p:cNvSpPr>
            <a:spLocks noChangeArrowheads="1"/>
          </p:cNvSpPr>
          <p:nvPr/>
        </p:nvSpPr>
        <p:spPr bwMode="auto">
          <a:xfrm>
            <a:off x="7550150" y="32829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874" name="Oval 10"/>
          <p:cNvSpPr>
            <a:spLocks noChangeArrowheads="1"/>
          </p:cNvSpPr>
          <p:nvPr/>
        </p:nvSpPr>
        <p:spPr bwMode="auto">
          <a:xfrm>
            <a:off x="463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875" name="Oval 11"/>
          <p:cNvSpPr>
            <a:spLocks noChangeArrowheads="1"/>
          </p:cNvSpPr>
          <p:nvPr/>
        </p:nvSpPr>
        <p:spPr bwMode="auto">
          <a:xfrm>
            <a:off x="16065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876" name="Line 12"/>
          <p:cNvSpPr>
            <a:spLocks noChangeShapeType="1"/>
          </p:cNvSpPr>
          <p:nvPr/>
        </p:nvSpPr>
        <p:spPr bwMode="auto">
          <a:xfrm flipH="1">
            <a:off x="2514600" y="1752600"/>
            <a:ext cx="1676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77" name="Line 13"/>
          <p:cNvSpPr>
            <a:spLocks noChangeShapeType="1"/>
          </p:cNvSpPr>
          <p:nvPr/>
        </p:nvSpPr>
        <p:spPr bwMode="auto">
          <a:xfrm>
            <a:off x="4648200" y="175260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78" name="Line 14"/>
          <p:cNvSpPr>
            <a:spLocks noChangeShapeType="1"/>
          </p:cNvSpPr>
          <p:nvPr/>
        </p:nvSpPr>
        <p:spPr bwMode="auto">
          <a:xfrm flipH="1">
            <a:off x="1371600" y="281940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79" name="Line 15"/>
          <p:cNvSpPr>
            <a:spLocks noChangeShapeType="1"/>
          </p:cNvSpPr>
          <p:nvPr/>
        </p:nvSpPr>
        <p:spPr bwMode="auto">
          <a:xfrm>
            <a:off x="2438400" y="2819400"/>
            <a:ext cx="533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80" name="Line 16"/>
          <p:cNvSpPr>
            <a:spLocks noChangeShapeType="1"/>
          </p:cNvSpPr>
          <p:nvPr/>
        </p:nvSpPr>
        <p:spPr bwMode="auto">
          <a:xfrm flipH="1">
            <a:off x="5562600" y="2895600"/>
            <a:ext cx="914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81" name="Line 17"/>
          <p:cNvSpPr>
            <a:spLocks noChangeShapeType="1"/>
          </p:cNvSpPr>
          <p:nvPr/>
        </p:nvSpPr>
        <p:spPr bwMode="auto">
          <a:xfrm>
            <a:off x="6781800" y="2819400"/>
            <a:ext cx="838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82" name="Line 18"/>
          <p:cNvSpPr>
            <a:spLocks noChangeShapeType="1"/>
          </p:cNvSpPr>
          <p:nvPr/>
        </p:nvSpPr>
        <p:spPr bwMode="auto">
          <a:xfrm flipH="1">
            <a:off x="762000" y="365760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83" name="Line 19"/>
          <p:cNvSpPr>
            <a:spLocks noChangeShapeType="1"/>
          </p:cNvSpPr>
          <p:nvPr/>
        </p:nvSpPr>
        <p:spPr bwMode="auto">
          <a:xfrm>
            <a:off x="1447800" y="365760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84" name="Rectangle 20"/>
          <p:cNvSpPr>
            <a:spLocks noChangeArrowheads="1"/>
          </p:cNvSpPr>
          <p:nvPr/>
        </p:nvSpPr>
        <p:spPr bwMode="auto">
          <a:xfrm>
            <a:off x="34893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36885" name="Rectangle 21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36886" name="Rectangle 22"/>
          <p:cNvSpPr>
            <a:spLocks noChangeArrowheads="1"/>
          </p:cNvSpPr>
          <p:nvPr/>
        </p:nvSpPr>
        <p:spPr bwMode="auto">
          <a:xfrm>
            <a:off x="52419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36887" name="Rectangle 23"/>
          <p:cNvSpPr>
            <a:spLocks noChangeArrowheads="1"/>
          </p:cNvSpPr>
          <p:nvPr/>
        </p:nvSpPr>
        <p:spPr bwMode="auto">
          <a:xfrm>
            <a:off x="7604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36888" name="Rectangle 24"/>
          <p:cNvSpPr>
            <a:spLocks noChangeArrowheads="1"/>
          </p:cNvSpPr>
          <p:nvPr/>
        </p:nvSpPr>
        <p:spPr bwMode="auto">
          <a:xfrm>
            <a:off x="1660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36889" name="Rectangle 25"/>
          <p:cNvSpPr>
            <a:spLocks noChangeArrowheads="1"/>
          </p:cNvSpPr>
          <p:nvPr/>
        </p:nvSpPr>
        <p:spPr bwMode="auto">
          <a:xfrm>
            <a:off x="6461125" y="2468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36890" name="Rectangle 26"/>
          <p:cNvSpPr>
            <a:spLocks noChangeArrowheads="1"/>
          </p:cNvSpPr>
          <p:nvPr/>
        </p:nvSpPr>
        <p:spPr bwMode="auto">
          <a:xfrm>
            <a:off x="24987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36891" name="Oval 27"/>
          <p:cNvSpPr>
            <a:spLocks noChangeArrowheads="1"/>
          </p:cNvSpPr>
          <p:nvPr/>
        </p:nvSpPr>
        <p:spPr bwMode="auto">
          <a:xfrm>
            <a:off x="24447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892" name="Line 28"/>
          <p:cNvSpPr>
            <a:spLocks noChangeShapeType="1"/>
          </p:cNvSpPr>
          <p:nvPr/>
        </p:nvSpPr>
        <p:spPr bwMode="auto">
          <a:xfrm flipH="1">
            <a:off x="2743200" y="3733800"/>
            <a:ext cx="2286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93" name="Rectangle 29"/>
          <p:cNvSpPr>
            <a:spLocks noChangeArrowheads="1"/>
          </p:cNvSpPr>
          <p:nvPr/>
        </p:nvSpPr>
        <p:spPr bwMode="auto">
          <a:xfrm>
            <a:off x="2438400" y="441960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10</a:t>
            </a:r>
          </a:p>
        </p:txBody>
      </p:sp>
      <p:sp>
        <p:nvSpPr>
          <p:cNvPr id="36894" name="Rectangle 30"/>
          <p:cNvSpPr>
            <a:spLocks noChangeArrowheads="1"/>
          </p:cNvSpPr>
          <p:nvPr/>
        </p:nvSpPr>
        <p:spPr bwMode="auto">
          <a:xfrm>
            <a:off x="4191000" y="1524000"/>
            <a:ext cx="838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11</a:t>
            </a:r>
          </a:p>
        </p:txBody>
      </p:sp>
      <p:sp>
        <p:nvSpPr>
          <p:cNvPr id="36895" name="Oval 31"/>
          <p:cNvSpPr>
            <a:spLocks noChangeArrowheads="1"/>
          </p:cNvSpPr>
          <p:nvPr/>
        </p:nvSpPr>
        <p:spPr bwMode="auto">
          <a:xfrm>
            <a:off x="343535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896" name="Line 32"/>
          <p:cNvSpPr>
            <a:spLocks noChangeShapeType="1"/>
          </p:cNvSpPr>
          <p:nvPr/>
        </p:nvSpPr>
        <p:spPr bwMode="auto">
          <a:xfrm>
            <a:off x="3200400" y="3657600"/>
            <a:ext cx="4572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97" name="Rectangle 33"/>
          <p:cNvSpPr>
            <a:spLocks noChangeArrowheads="1"/>
          </p:cNvSpPr>
          <p:nvPr/>
        </p:nvSpPr>
        <p:spPr bwMode="auto">
          <a:xfrm>
            <a:off x="28797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36898" name="Rectangle 34"/>
          <p:cNvSpPr>
            <a:spLocks noChangeArrowheads="1"/>
          </p:cNvSpPr>
          <p:nvPr/>
        </p:nvSpPr>
        <p:spPr bwMode="auto">
          <a:xfrm>
            <a:off x="34893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36899" name="Rectangle 35"/>
          <p:cNvSpPr>
            <a:spLocks noChangeArrowheads="1"/>
          </p:cNvSpPr>
          <p:nvPr/>
        </p:nvSpPr>
        <p:spPr bwMode="auto">
          <a:xfrm>
            <a:off x="2117725" y="2514600"/>
            <a:ext cx="18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9</a:t>
            </a:r>
          </a:p>
        </p:txBody>
      </p:sp>
      <p:sp>
        <p:nvSpPr>
          <p:cNvPr id="36900" name="Rectangle 36"/>
          <p:cNvSpPr>
            <a:spLocks noChangeArrowheads="1"/>
          </p:cNvSpPr>
          <p:nvPr/>
        </p:nvSpPr>
        <p:spPr bwMode="auto">
          <a:xfrm>
            <a:off x="1127125" y="33067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36901" name="Rectangle 37"/>
          <p:cNvSpPr>
            <a:spLocks noChangeArrowheads="1"/>
          </p:cNvSpPr>
          <p:nvPr/>
        </p:nvSpPr>
        <p:spPr bwMode="auto">
          <a:xfrm>
            <a:off x="517525" y="4373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36902" name="Rectangle 38"/>
          <p:cNvSpPr>
            <a:spLocks noChangeArrowheads="1"/>
          </p:cNvSpPr>
          <p:nvPr/>
        </p:nvSpPr>
        <p:spPr bwMode="auto">
          <a:xfrm>
            <a:off x="395536" y="5013176"/>
            <a:ext cx="8458200" cy="1016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dirty="0">
                <a:solidFill>
                  <a:schemeClr val="bg2"/>
                </a:solidFill>
              </a:rPr>
              <a:t>Height of heap </a:t>
            </a:r>
            <a:r>
              <a:rPr lang="en-US" altLang="en-US" sz="2400" dirty="0">
                <a:solidFill>
                  <a:schemeClr val="hlink"/>
                </a:solidFill>
              </a:rPr>
              <a:t>= h, h-1, h-2…1</a:t>
            </a:r>
            <a:r>
              <a:rPr lang="en-US" altLang="en-US" sz="2400" dirty="0">
                <a:solidFill>
                  <a:schemeClr val="bg2"/>
                </a:solidFill>
              </a:rPr>
              <a:t>, Number of nodes at level j is </a:t>
            </a:r>
            <a:r>
              <a:rPr lang="en-US" altLang="en-US" sz="2400" dirty="0"/>
              <a:t>2 </a:t>
            </a:r>
            <a:r>
              <a:rPr lang="en-US" altLang="en-US" sz="2400" baseline="30000" dirty="0"/>
              <a:t>j-1</a:t>
            </a:r>
            <a:endParaRPr lang="en-US" altLang="en-US" sz="2400" dirty="0">
              <a:solidFill>
                <a:schemeClr val="hlink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en-US" sz="2400" dirty="0">
                <a:solidFill>
                  <a:schemeClr val="bg2"/>
                </a:solidFill>
              </a:rPr>
              <a:t>Time for each deletion is</a:t>
            </a:r>
            <a:r>
              <a:rPr lang="en-US" altLang="en-US" sz="2400" dirty="0">
                <a:solidFill>
                  <a:schemeClr val="hlink"/>
                </a:solidFill>
              </a:rPr>
              <a:t> O(j) for a tree of height j</a:t>
            </a:r>
            <a:r>
              <a:rPr lang="en-US" altLang="en-US" sz="2400" dirty="0">
                <a:solidFill>
                  <a:schemeClr val="bg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953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02" grpId="0" build="p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228600"/>
            <a:ext cx="8915400" cy="1143000"/>
          </a:xfrm>
          <a:noFill/>
          <a:ln/>
        </p:spPr>
        <p:txBody>
          <a:bodyPr anchor="ctr"/>
          <a:lstStyle/>
          <a:p>
            <a:r>
              <a:rPr lang="en-US" altLang="en-US" sz="4400"/>
              <a:t>Complexity</a:t>
            </a:r>
          </a:p>
        </p:txBody>
      </p:sp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304800" y="1524000"/>
            <a:ext cx="8458200" cy="3755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dirty="0">
                <a:solidFill>
                  <a:schemeClr val="bg2"/>
                </a:solidFill>
              </a:rPr>
              <a:t>Time for level </a:t>
            </a:r>
            <a:r>
              <a:rPr lang="en-US" altLang="en-US" sz="2800" dirty="0">
                <a:solidFill>
                  <a:schemeClr val="hlink"/>
                </a:solidFill>
              </a:rPr>
              <a:t>j</a:t>
            </a:r>
            <a:r>
              <a:rPr lang="en-US" altLang="en-US" sz="2800" dirty="0">
                <a:solidFill>
                  <a:schemeClr val="bg2"/>
                </a:solidFill>
              </a:rPr>
              <a:t> deletions is </a:t>
            </a:r>
            <a:r>
              <a:rPr lang="en-US" altLang="en-US" sz="2800" dirty="0">
                <a:solidFill>
                  <a:schemeClr val="hlink"/>
                </a:solidFill>
              </a:rPr>
              <a:t>&lt;= 2</a:t>
            </a:r>
            <a:r>
              <a:rPr lang="en-US" altLang="en-US" sz="2800" baseline="30000" dirty="0">
                <a:solidFill>
                  <a:schemeClr val="hlink"/>
                </a:solidFill>
              </a:rPr>
              <a:t>j-1</a:t>
            </a:r>
            <a:r>
              <a:rPr lang="en-US" altLang="en-US" sz="2800" dirty="0">
                <a:solidFill>
                  <a:schemeClr val="hlink"/>
                </a:solidFill>
              </a:rPr>
              <a:t>(j)</a:t>
            </a:r>
          </a:p>
          <a:p>
            <a:pPr>
              <a:spcBef>
                <a:spcPct val="50000"/>
              </a:spcBef>
            </a:pPr>
            <a:endParaRPr lang="en-US" altLang="en-US" sz="2800" dirty="0">
              <a:solidFill>
                <a:schemeClr val="bg2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en-US" sz="2800" dirty="0">
                <a:solidFill>
                  <a:schemeClr val="bg2"/>
                </a:solidFill>
              </a:rPr>
              <a:t>Total time required is  1</a:t>
            </a:r>
            <a:r>
              <a:rPr lang="en-US" altLang="en-US" sz="2800" dirty="0">
                <a:solidFill>
                  <a:schemeClr val="bg2"/>
                </a:solidFill>
                <a:sym typeface="Symbol" panose="05050102010706020507" pitchFamily="18" charset="2"/>
              </a:rPr>
              <a:t> j ≤ h</a:t>
            </a:r>
            <a:endParaRPr lang="en-US" altLang="en-US" sz="2800" dirty="0">
              <a:solidFill>
                <a:schemeClr val="bg2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en-US" sz="2800" dirty="0">
                <a:solidFill>
                  <a:schemeClr val="bg2"/>
                </a:solidFill>
              </a:rPr>
              <a:t>∑</a:t>
            </a:r>
            <a:r>
              <a:rPr lang="en-US" altLang="en-US" sz="2800" dirty="0"/>
              <a:t> 2</a:t>
            </a:r>
            <a:r>
              <a:rPr lang="en-US" altLang="en-US" sz="2800" baseline="30000" dirty="0"/>
              <a:t>j-1</a:t>
            </a:r>
            <a:r>
              <a:rPr lang="en-US" altLang="en-US" sz="2800" dirty="0"/>
              <a:t>(j ) = </a:t>
            </a:r>
            <a:endParaRPr lang="en-US" altLang="en-US" sz="2800" dirty="0">
              <a:solidFill>
                <a:schemeClr val="bg2"/>
              </a:solidFill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</a:pPr>
            <a:r>
              <a:rPr lang="en-US" altLang="en-US" sz="2800" dirty="0">
                <a:solidFill>
                  <a:schemeClr val="bg2"/>
                </a:solidFill>
                <a:sym typeface="Symbol" panose="05050102010706020507" pitchFamily="18" charset="2"/>
              </a:rPr>
              <a:t>O(</a:t>
            </a:r>
            <a:r>
              <a:rPr lang="en-US" altLang="en-US" sz="2800" dirty="0" err="1">
                <a:solidFill>
                  <a:schemeClr val="bg2"/>
                </a:solidFill>
                <a:sym typeface="Symbol" panose="05050102010706020507" pitchFamily="18" charset="2"/>
              </a:rPr>
              <a:t>nlogn</a:t>
            </a:r>
            <a:r>
              <a:rPr lang="en-US" altLang="en-US" sz="2800" dirty="0">
                <a:solidFill>
                  <a:schemeClr val="bg2"/>
                </a:solidFill>
                <a:sym typeface="Symbol" panose="05050102010706020507" pitchFamily="18" charset="2"/>
              </a:rPr>
              <a:t>)</a:t>
            </a:r>
            <a:endParaRPr lang="en-US" altLang="en-US" sz="2800" dirty="0">
              <a:solidFill>
                <a:schemeClr val="bg2"/>
              </a:solidFill>
            </a:endParaRPr>
          </a:p>
          <a:p>
            <a:pPr>
              <a:spcBef>
                <a:spcPct val="50000"/>
              </a:spcBef>
            </a:pPr>
            <a:endParaRPr lang="en-US" altLang="en-US" sz="2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274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Merge Sort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686800" cy="5334000"/>
          </a:xfrm>
          <a:noFill/>
          <a:ln/>
        </p:spPr>
        <p:txBody>
          <a:bodyPr/>
          <a:lstStyle/>
          <a:p>
            <a:pPr>
              <a:buClr>
                <a:schemeClr val="tx2"/>
              </a:buClr>
            </a:pPr>
            <a:r>
              <a:rPr lang="en-US" altLang="en-US" sz="2800" dirty="0"/>
              <a:t>Partition the</a:t>
            </a:r>
            <a:r>
              <a:rPr lang="en-US" altLang="en-US" sz="2800" dirty="0">
                <a:solidFill>
                  <a:schemeClr val="hlink"/>
                </a:solidFill>
              </a:rPr>
              <a:t> n &gt; 1 </a:t>
            </a:r>
            <a:r>
              <a:rPr lang="en-US" altLang="en-US" sz="2800" dirty="0"/>
              <a:t>elements into two smaller instances.</a:t>
            </a:r>
          </a:p>
          <a:p>
            <a:pPr marL="0" indent="0">
              <a:buClr>
                <a:schemeClr val="tx2"/>
              </a:buClr>
              <a:buNone/>
            </a:pPr>
            <a:r>
              <a:rPr lang="en-US" altLang="en-US" sz="2800" dirty="0">
                <a:solidFill>
                  <a:schemeClr val="bg2"/>
                </a:solidFill>
              </a:rPr>
              <a:t>.</a:t>
            </a:r>
          </a:p>
          <a:p>
            <a:pPr>
              <a:buClr>
                <a:schemeClr val="tx2"/>
              </a:buClr>
            </a:pPr>
            <a:r>
              <a:rPr lang="en-US" altLang="en-US" sz="2800" dirty="0">
                <a:solidFill>
                  <a:schemeClr val="bg2"/>
                </a:solidFill>
              </a:rPr>
              <a:t>Each of the two smaller instances is sorted recursively.</a:t>
            </a:r>
          </a:p>
          <a:p>
            <a:pPr marL="0" indent="0">
              <a:buClr>
                <a:schemeClr val="tx2"/>
              </a:buClr>
              <a:buNone/>
            </a:pPr>
            <a:endParaRPr lang="en-US" altLang="en-US" sz="2800" dirty="0">
              <a:solidFill>
                <a:schemeClr val="bg2"/>
              </a:solidFill>
            </a:endParaRPr>
          </a:p>
          <a:p>
            <a:pPr>
              <a:buClr>
                <a:schemeClr val="tx2"/>
              </a:buClr>
            </a:pPr>
            <a:r>
              <a:rPr lang="en-US" altLang="en-US" sz="2800" dirty="0">
                <a:solidFill>
                  <a:schemeClr val="bg2"/>
                </a:solidFill>
              </a:rPr>
              <a:t>The sorted smaller instances are combined using a process called </a:t>
            </a:r>
            <a:r>
              <a:rPr lang="en-US" altLang="en-US" sz="2800" dirty="0">
                <a:solidFill>
                  <a:schemeClr val="tx2"/>
                </a:solidFill>
              </a:rPr>
              <a:t>merge</a:t>
            </a:r>
            <a:r>
              <a:rPr lang="en-US" altLang="en-US" sz="2800" dirty="0">
                <a:solidFill>
                  <a:schemeClr val="bg2"/>
                </a:solidFill>
              </a:rPr>
              <a:t>.</a:t>
            </a:r>
          </a:p>
          <a:p>
            <a:pPr>
              <a:buClr>
                <a:schemeClr val="tx2"/>
              </a:buClr>
            </a:pPr>
            <a:r>
              <a:rPr lang="en-US" altLang="en-US" sz="2800" dirty="0">
                <a:solidFill>
                  <a:schemeClr val="bg2"/>
                </a:solidFill>
              </a:rPr>
              <a:t>Complexity is </a:t>
            </a:r>
            <a:r>
              <a:rPr lang="en-US" altLang="en-US" sz="2800" dirty="0">
                <a:solidFill>
                  <a:schemeClr val="hlink"/>
                </a:solidFill>
              </a:rPr>
              <a:t>O(n</a:t>
            </a:r>
            <a:r>
              <a:rPr lang="en-US" altLang="en-US" sz="2800" baseline="30000" dirty="0">
                <a:solidFill>
                  <a:schemeClr val="hlink"/>
                </a:solidFill>
              </a:rPr>
              <a:t> </a:t>
            </a:r>
            <a:r>
              <a:rPr lang="en-US" altLang="en-US" sz="2800" dirty="0">
                <a:solidFill>
                  <a:schemeClr val="hlink"/>
                </a:solidFill>
              </a:rPr>
              <a:t>log n)</a:t>
            </a:r>
            <a:r>
              <a:rPr lang="en-US" altLang="en-US" sz="2800" dirty="0">
                <a:solidFill>
                  <a:schemeClr val="bg2"/>
                </a:solidFill>
              </a:rPr>
              <a:t>.</a:t>
            </a:r>
          </a:p>
          <a:p>
            <a:pPr>
              <a:buClr>
                <a:schemeClr val="tx2"/>
              </a:buClr>
            </a:pPr>
            <a:r>
              <a:rPr lang="en-US" altLang="en-US" sz="2800" dirty="0">
                <a:solidFill>
                  <a:schemeClr val="bg2"/>
                </a:solidFill>
              </a:rPr>
              <a:t>Usually implemented </a:t>
            </a:r>
            <a:r>
              <a:rPr lang="en-US" altLang="en-US" sz="2800" dirty="0" err="1">
                <a:solidFill>
                  <a:schemeClr val="bg2"/>
                </a:solidFill>
              </a:rPr>
              <a:t>nonrecursively</a:t>
            </a:r>
            <a:r>
              <a:rPr lang="en-US" altLang="en-US" sz="2800" dirty="0">
                <a:solidFill>
                  <a:schemeClr val="bg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107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 bldLvl="2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Merge Sort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0"/>
            <a:ext cx="7772400" cy="457200"/>
          </a:xfrm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1600200" y="2133600"/>
            <a:ext cx="6400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[8, 3, 13, 6, 2, 14, 5, 9, 10, 1, 7, 12, 4]</a:t>
            </a:r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304800" y="3048000"/>
            <a:ext cx="3657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[8, 3, 13, 6, 2, 14, 5]</a:t>
            </a:r>
          </a:p>
        </p:txBody>
      </p:sp>
      <p:sp>
        <p:nvSpPr>
          <p:cNvPr id="13318" name="Line 6"/>
          <p:cNvSpPr>
            <a:spLocks noChangeShapeType="1"/>
          </p:cNvSpPr>
          <p:nvPr/>
        </p:nvSpPr>
        <p:spPr bwMode="auto">
          <a:xfrm flipH="1">
            <a:off x="1752600" y="2590800"/>
            <a:ext cx="25908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5103813" y="3048000"/>
            <a:ext cx="33543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[9, 10, 1, 7, 12, 4]</a:t>
            </a:r>
          </a:p>
        </p:txBody>
      </p:sp>
      <p:sp>
        <p:nvSpPr>
          <p:cNvPr id="13320" name="Line 8"/>
          <p:cNvSpPr>
            <a:spLocks noChangeShapeType="1"/>
          </p:cNvSpPr>
          <p:nvPr/>
        </p:nvSpPr>
        <p:spPr bwMode="auto">
          <a:xfrm>
            <a:off x="4648200" y="2590800"/>
            <a:ext cx="25908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21" name="Rectangle 9"/>
          <p:cNvSpPr>
            <a:spLocks noChangeArrowheads="1"/>
          </p:cNvSpPr>
          <p:nvPr/>
        </p:nvSpPr>
        <p:spPr bwMode="auto">
          <a:xfrm>
            <a:off x="304800" y="3962400"/>
            <a:ext cx="2133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[8, 3, 13, 6]</a:t>
            </a:r>
          </a:p>
        </p:txBody>
      </p:sp>
      <p:sp>
        <p:nvSpPr>
          <p:cNvPr id="13322" name="Line 10"/>
          <p:cNvSpPr>
            <a:spLocks noChangeShapeType="1"/>
          </p:cNvSpPr>
          <p:nvPr/>
        </p:nvSpPr>
        <p:spPr bwMode="auto">
          <a:xfrm flipH="1">
            <a:off x="1295400" y="3505200"/>
            <a:ext cx="6858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23" name="Rectangle 11"/>
          <p:cNvSpPr>
            <a:spLocks noChangeArrowheads="1"/>
          </p:cNvSpPr>
          <p:nvPr/>
        </p:nvSpPr>
        <p:spPr bwMode="auto">
          <a:xfrm>
            <a:off x="2514600" y="3962400"/>
            <a:ext cx="1828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[2, 14, 5]</a:t>
            </a:r>
          </a:p>
        </p:txBody>
      </p:sp>
      <p:sp>
        <p:nvSpPr>
          <p:cNvPr id="13324" name="Line 12"/>
          <p:cNvSpPr>
            <a:spLocks noChangeShapeType="1"/>
          </p:cNvSpPr>
          <p:nvPr/>
        </p:nvSpPr>
        <p:spPr bwMode="auto">
          <a:xfrm>
            <a:off x="2286000" y="3505200"/>
            <a:ext cx="9144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25" name="Rectangle 13"/>
          <p:cNvSpPr>
            <a:spLocks noChangeArrowheads="1"/>
          </p:cNvSpPr>
          <p:nvPr/>
        </p:nvSpPr>
        <p:spPr bwMode="auto">
          <a:xfrm>
            <a:off x="152400" y="4800600"/>
            <a:ext cx="1066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[8, 3]</a:t>
            </a:r>
          </a:p>
        </p:txBody>
      </p:sp>
      <p:sp>
        <p:nvSpPr>
          <p:cNvPr id="13326" name="Line 14"/>
          <p:cNvSpPr>
            <a:spLocks noChangeShapeType="1"/>
          </p:cNvSpPr>
          <p:nvPr/>
        </p:nvSpPr>
        <p:spPr bwMode="auto">
          <a:xfrm flipH="1">
            <a:off x="762000" y="4419600"/>
            <a:ext cx="457200" cy="457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27" name="Rectangle 15"/>
          <p:cNvSpPr>
            <a:spLocks noChangeArrowheads="1"/>
          </p:cNvSpPr>
          <p:nvPr/>
        </p:nvSpPr>
        <p:spPr bwMode="auto">
          <a:xfrm>
            <a:off x="1143000" y="4800600"/>
            <a:ext cx="1371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[13, 6]</a:t>
            </a:r>
          </a:p>
        </p:txBody>
      </p:sp>
      <p:sp>
        <p:nvSpPr>
          <p:cNvPr id="13328" name="Line 16"/>
          <p:cNvSpPr>
            <a:spLocks noChangeShapeType="1"/>
          </p:cNvSpPr>
          <p:nvPr/>
        </p:nvSpPr>
        <p:spPr bwMode="auto">
          <a:xfrm>
            <a:off x="1524000" y="4419600"/>
            <a:ext cx="304800" cy="457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29" name="Rectangle 17"/>
          <p:cNvSpPr>
            <a:spLocks noChangeArrowheads="1"/>
          </p:cNvSpPr>
          <p:nvPr/>
        </p:nvSpPr>
        <p:spPr bwMode="auto">
          <a:xfrm>
            <a:off x="0" y="5562600"/>
            <a:ext cx="685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[8]</a:t>
            </a:r>
          </a:p>
        </p:txBody>
      </p:sp>
      <p:sp>
        <p:nvSpPr>
          <p:cNvPr id="13330" name="Line 18"/>
          <p:cNvSpPr>
            <a:spLocks noChangeShapeType="1"/>
          </p:cNvSpPr>
          <p:nvPr/>
        </p:nvSpPr>
        <p:spPr bwMode="auto">
          <a:xfrm flipH="1">
            <a:off x="381000" y="5257800"/>
            <a:ext cx="304800" cy="381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31" name="Rectangle 19"/>
          <p:cNvSpPr>
            <a:spLocks noChangeArrowheads="1"/>
          </p:cNvSpPr>
          <p:nvPr/>
        </p:nvSpPr>
        <p:spPr bwMode="auto">
          <a:xfrm>
            <a:off x="609600" y="5562600"/>
            <a:ext cx="762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[3]</a:t>
            </a:r>
          </a:p>
        </p:txBody>
      </p:sp>
      <p:sp>
        <p:nvSpPr>
          <p:cNvPr id="13332" name="Line 20"/>
          <p:cNvSpPr>
            <a:spLocks noChangeShapeType="1"/>
          </p:cNvSpPr>
          <p:nvPr/>
        </p:nvSpPr>
        <p:spPr bwMode="auto">
          <a:xfrm>
            <a:off x="762000" y="5334000"/>
            <a:ext cx="228600" cy="304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33" name="Rectangle 21"/>
          <p:cNvSpPr>
            <a:spLocks noChangeArrowheads="1"/>
          </p:cNvSpPr>
          <p:nvPr/>
        </p:nvSpPr>
        <p:spPr bwMode="auto">
          <a:xfrm>
            <a:off x="1143000" y="5562600"/>
            <a:ext cx="914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[13]</a:t>
            </a:r>
          </a:p>
        </p:txBody>
      </p:sp>
      <p:sp>
        <p:nvSpPr>
          <p:cNvPr id="13334" name="Line 22"/>
          <p:cNvSpPr>
            <a:spLocks noChangeShapeType="1"/>
          </p:cNvSpPr>
          <p:nvPr/>
        </p:nvSpPr>
        <p:spPr bwMode="auto">
          <a:xfrm flipH="1">
            <a:off x="1524000" y="5257800"/>
            <a:ext cx="381000" cy="381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35" name="Rectangle 23"/>
          <p:cNvSpPr>
            <a:spLocks noChangeArrowheads="1"/>
          </p:cNvSpPr>
          <p:nvPr/>
        </p:nvSpPr>
        <p:spPr bwMode="auto">
          <a:xfrm>
            <a:off x="1905000" y="5562600"/>
            <a:ext cx="762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[6]</a:t>
            </a:r>
          </a:p>
        </p:txBody>
      </p:sp>
      <p:sp>
        <p:nvSpPr>
          <p:cNvPr id="13336" name="Line 24"/>
          <p:cNvSpPr>
            <a:spLocks noChangeShapeType="1"/>
          </p:cNvSpPr>
          <p:nvPr/>
        </p:nvSpPr>
        <p:spPr bwMode="auto">
          <a:xfrm>
            <a:off x="1981200" y="5334000"/>
            <a:ext cx="304800" cy="304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37" name="Rectangle 25"/>
          <p:cNvSpPr>
            <a:spLocks noChangeArrowheads="1"/>
          </p:cNvSpPr>
          <p:nvPr/>
        </p:nvSpPr>
        <p:spPr bwMode="auto">
          <a:xfrm>
            <a:off x="2438400" y="4800600"/>
            <a:ext cx="1295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[2, 14]</a:t>
            </a:r>
          </a:p>
        </p:txBody>
      </p:sp>
      <p:sp>
        <p:nvSpPr>
          <p:cNvPr id="13338" name="Line 26"/>
          <p:cNvSpPr>
            <a:spLocks noChangeShapeType="1"/>
          </p:cNvSpPr>
          <p:nvPr/>
        </p:nvSpPr>
        <p:spPr bwMode="auto">
          <a:xfrm flipH="1">
            <a:off x="2971800" y="4419600"/>
            <a:ext cx="3810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39" name="Rectangle 27"/>
          <p:cNvSpPr>
            <a:spLocks noChangeArrowheads="1"/>
          </p:cNvSpPr>
          <p:nvPr/>
        </p:nvSpPr>
        <p:spPr bwMode="auto">
          <a:xfrm>
            <a:off x="3657600" y="4800600"/>
            <a:ext cx="685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[5]</a:t>
            </a:r>
          </a:p>
        </p:txBody>
      </p:sp>
      <p:sp>
        <p:nvSpPr>
          <p:cNvPr id="13340" name="Line 28"/>
          <p:cNvSpPr>
            <a:spLocks noChangeShapeType="1"/>
          </p:cNvSpPr>
          <p:nvPr/>
        </p:nvSpPr>
        <p:spPr bwMode="auto">
          <a:xfrm>
            <a:off x="3581400" y="4419600"/>
            <a:ext cx="381000" cy="457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41" name="Rectangle 29"/>
          <p:cNvSpPr>
            <a:spLocks noChangeArrowheads="1"/>
          </p:cNvSpPr>
          <p:nvPr/>
        </p:nvSpPr>
        <p:spPr bwMode="auto">
          <a:xfrm>
            <a:off x="2514600" y="5562600"/>
            <a:ext cx="762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[2]</a:t>
            </a:r>
          </a:p>
        </p:txBody>
      </p:sp>
      <p:sp>
        <p:nvSpPr>
          <p:cNvPr id="13342" name="Line 30"/>
          <p:cNvSpPr>
            <a:spLocks noChangeShapeType="1"/>
          </p:cNvSpPr>
          <p:nvPr/>
        </p:nvSpPr>
        <p:spPr bwMode="auto">
          <a:xfrm flipH="1">
            <a:off x="2819400" y="5257800"/>
            <a:ext cx="304800" cy="381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43" name="Rectangle 31"/>
          <p:cNvSpPr>
            <a:spLocks noChangeArrowheads="1"/>
          </p:cNvSpPr>
          <p:nvPr/>
        </p:nvSpPr>
        <p:spPr bwMode="auto">
          <a:xfrm>
            <a:off x="3124200" y="5562600"/>
            <a:ext cx="990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[14]</a:t>
            </a:r>
          </a:p>
        </p:txBody>
      </p:sp>
      <p:sp>
        <p:nvSpPr>
          <p:cNvPr id="13344" name="Line 32"/>
          <p:cNvSpPr>
            <a:spLocks noChangeShapeType="1"/>
          </p:cNvSpPr>
          <p:nvPr/>
        </p:nvSpPr>
        <p:spPr bwMode="auto">
          <a:xfrm>
            <a:off x="3276600" y="5334000"/>
            <a:ext cx="304800" cy="304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45" name="Rectangle 33"/>
          <p:cNvSpPr>
            <a:spLocks noChangeArrowheads="1"/>
          </p:cNvSpPr>
          <p:nvPr/>
        </p:nvSpPr>
        <p:spPr bwMode="auto">
          <a:xfrm>
            <a:off x="4570413" y="3962400"/>
            <a:ext cx="16779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[9, 10, 1]</a:t>
            </a:r>
          </a:p>
        </p:txBody>
      </p:sp>
      <p:sp>
        <p:nvSpPr>
          <p:cNvPr id="13346" name="Line 34"/>
          <p:cNvSpPr>
            <a:spLocks noChangeShapeType="1"/>
          </p:cNvSpPr>
          <p:nvPr/>
        </p:nvSpPr>
        <p:spPr bwMode="auto">
          <a:xfrm flipH="1">
            <a:off x="5562600" y="3505200"/>
            <a:ext cx="9906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47" name="Rectangle 35"/>
          <p:cNvSpPr>
            <a:spLocks noChangeArrowheads="1"/>
          </p:cNvSpPr>
          <p:nvPr/>
        </p:nvSpPr>
        <p:spPr bwMode="auto">
          <a:xfrm>
            <a:off x="7007225" y="3962400"/>
            <a:ext cx="17557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[7, 12, 4]</a:t>
            </a:r>
          </a:p>
        </p:txBody>
      </p:sp>
      <p:sp>
        <p:nvSpPr>
          <p:cNvPr id="13348" name="Line 36"/>
          <p:cNvSpPr>
            <a:spLocks noChangeShapeType="1"/>
          </p:cNvSpPr>
          <p:nvPr/>
        </p:nvSpPr>
        <p:spPr bwMode="auto">
          <a:xfrm>
            <a:off x="6781800" y="3505200"/>
            <a:ext cx="9906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49" name="Rectangle 37"/>
          <p:cNvSpPr>
            <a:spLocks noChangeArrowheads="1"/>
          </p:cNvSpPr>
          <p:nvPr/>
        </p:nvSpPr>
        <p:spPr bwMode="auto">
          <a:xfrm>
            <a:off x="4418013" y="4800600"/>
            <a:ext cx="12969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[9, 10]</a:t>
            </a:r>
          </a:p>
        </p:txBody>
      </p:sp>
      <p:sp>
        <p:nvSpPr>
          <p:cNvPr id="13350" name="Line 38"/>
          <p:cNvSpPr>
            <a:spLocks noChangeShapeType="1"/>
          </p:cNvSpPr>
          <p:nvPr/>
        </p:nvSpPr>
        <p:spPr bwMode="auto">
          <a:xfrm flipH="1">
            <a:off x="4953000" y="4419600"/>
            <a:ext cx="457200" cy="457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51" name="Rectangle 39"/>
          <p:cNvSpPr>
            <a:spLocks noChangeArrowheads="1"/>
          </p:cNvSpPr>
          <p:nvPr/>
        </p:nvSpPr>
        <p:spPr bwMode="auto">
          <a:xfrm>
            <a:off x="5713413" y="4800600"/>
            <a:ext cx="7635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[1]</a:t>
            </a:r>
          </a:p>
        </p:txBody>
      </p:sp>
      <p:sp>
        <p:nvSpPr>
          <p:cNvPr id="13352" name="Line 40"/>
          <p:cNvSpPr>
            <a:spLocks noChangeShapeType="1"/>
          </p:cNvSpPr>
          <p:nvPr/>
        </p:nvSpPr>
        <p:spPr bwMode="auto">
          <a:xfrm>
            <a:off x="5638800" y="4495800"/>
            <a:ext cx="304800" cy="381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53" name="Rectangle 41"/>
          <p:cNvSpPr>
            <a:spLocks noChangeArrowheads="1"/>
          </p:cNvSpPr>
          <p:nvPr/>
        </p:nvSpPr>
        <p:spPr bwMode="auto">
          <a:xfrm>
            <a:off x="4189413" y="5562600"/>
            <a:ext cx="7635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[9]</a:t>
            </a:r>
          </a:p>
        </p:txBody>
      </p:sp>
      <p:sp>
        <p:nvSpPr>
          <p:cNvPr id="13354" name="Line 42"/>
          <p:cNvSpPr>
            <a:spLocks noChangeShapeType="1"/>
          </p:cNvSpPr>
          <p:nvPr/>
        </p:nvSpPr>
        <p:spPr bwMode="auto">
          <a:xfrm flipH="1">
            <a:off x="4572000" y="5257800"/>
            <a:ext cx="457200" cy="381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55" name="Rectangle 43"/>
          <p:cNvSpPr>
            <a:spLocks noChangeArrowheads="1"/>
          </p:cNvSpPr>
          <p:nvPr/>
        </p:nvSpPr>
        <p:spPr bwMode="auto">
          <a:xfrm>
            <a:off x="4875213" y="5562600"/>
            <a:ext cx="9159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[10]</a:t>
            </a:r>
          </a:p>
        </p:txBody>
      </p:sp>
      <p:sp>
        <p:nvSpPr>
          <p:cNvPr id="13356" name="Line 44"/>
          <p:cNvSpPr>
            <a:spLocks noChangeShapeType="1"/>
          </p:cNvSpPr>
          <p:nvPr/>
        </p:nvSpPr>
        <p:spPr bwMode="auto">
          <a:xfrm>
            <a:off x="5181600" y="5334000"/>
            <a:ext cx="304800" cy="304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57" name="Rectangle 45"/>
          <p:cNvSpPr>
            <a:spLocks noChangeArrowheads="1"/>
          </p:cNvSpPr>
          <p:nvPr/>
        </p:nvSpPr>
        <p:spPr bwMode="auto">
          <a:xfrm>
            <a:off x="6626225" y="4800600"/>
            <a:ext cx="14509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[7, 12]</a:t>
            </a:r>
          </a:p>
        </p:txBody>
      </p:sp>
      <p:sp>
        <p:nvSpPr>
          <p:cNvPr id="13358" name="Line 46"/>
          <p:cNvSpPr>
            <a:spLocks noChangeShapeType="1"/>
          </p:cNvSpPr>
          <p:nvPr/>
        </p:nvSpPr>
        <p:spPr bwMode="auto">
          <a:xfrm flipH="1">
            <a:off x="7315200" y="4419600"/>
            <a:ext cx="533400" cy="457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59" name="Rectangle 47"/>
          <p:cNvSpPr>
            <a:spLocks noChangeArrowheads="1"/>
          </p:cNvSpPr>
          <p:nvPr/>
        </p:nvSpPr>
        <p:spPr bwMode="auto">
          <a:xfrm>
            <a:off x="8074025" y="4800600"/>
            <a:ext cx="8413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[4]</a:t>
            </a:r>
          </a:p>
        </p:txBody>
      </p:sp>
      <p:sp>
        <p:nvSpPr>
          <p:cNvPr id="13360" name="Line 48"/>
          <p:cNvSpPr>
            <a:spLocks noChangeShapeType="1"/>
          </p:cNvSpPr>
          <p:nvPr/>
        </p:nvSpPr>
        <p:spPr bwMode="auto">
          <a:xfrm>
            <a:off x="8001000" y="4495800"/>
            <a:ext cx="457200" cy="381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61" name="Rectangle 49"/>
          <p:cNvSpPr>
            <a:spLocks noChangeArrowheads="1"/>
          </p:cNvSpPr>
          <p:nvPr/>
        </p:nvSpPr>
        <p:spPr bwMode="auto">
          <a:xfrm>
            <a:off x="6397625" y="5562600"/>
            <a:ext cx="6889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[7]</a:t>
            </a:r>
          </a:p>
        </p:txBody>
      </p:sp>
      <p:sp>
        <p:nvSpPr>
          <p:cNvPr id="13362" name="Line 50"/>
          <p:cNvSpPr>
            <a:spLocks noChangeShapeType="1"/>
          </p:cNvSpPr>
          <p:nvPr/>
        </p:nvSpPr>
        <p:spPr bwMode="auto">
          <a:xfrm flipH="1">
            <a:off x="6781800" y="5257800"/>
            <a:ext cx="381000" cy="381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63" name="Rectangle 51"/>
          <p:cNvSpPr>
            <a:spLocks noChangeArrowheads="1"/>
          </p:cNvSpPr>
          <p:nvPr/>
        </p:nvSpPr>
        <p:spPr bwMode="auto">
          <a:xfrm>
            <a:off x="7235825" y="5562600"/>
            <a:ext cx="9175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[12]</a:t>
            </a:r>
          </a:p>
        </p:txBody>
      </p:sp>
      <p:sp>
        <p:nvSpPr>
          <p:cNvPr id="13364" name="Line 52"/>
          <p:cNvSpPr>
            <a:spLocks noChangeShapeType="1"/>
          </p:cNvSpPr>
          <p:nvPr/>
        </p:nvSpPr>
        <p:spPr bwMode="auto">
          <a:xfrm>
            <a:off x="7239000" y="5334000"/>
            <a:ext cx="381000" cy="304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02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 build="p" autoUpdateAnimBg="0"/>
      <p:bldP spid="13317" grpId="0" build="p" autoUpdateAnimBg="0"/>
      <p:bldP spid="13318" grpId="0" animBg="1"/>
      <p:bldP spid="13319" grpId="0" build="p" autoUpdateAnimBg="0"/>
      <p:bldP spid="13320" grpId="0" animBg="1"/>
      <p:bldP spid="13321" grpId="0" build="p" autoUpdateAnimBg="0"/>
      <p:bldP spid="13322" grpId="0" animBg="1"/>
      <p:bldP spid="13323" grpId="0" build="p" autoUpdateAnimBg="0"/>
      <p:bldP spid="13324" grpId="0" animBg="1"/>
      <p:bldP spid="13325" grpId="0" build="p" autoUpdateAnimBg="0"/>
      <p:bldP spid="13326" grpId="0" animBg="1"/>
      <p:bldP spid="13327" grpId="0" build="p" autoUpdateAnimBg="0"/>
      <p:bldP spid="13328" grpId="0" animBg="1"/>
      <p:bldP spid="13329" grpId="0" build="p" autoUpdateAnimBg="0"/>
      <p:bldP spid="13330" grpId="0" animBg="1"/>
      <p:bldP spid="13331" grpId="0" build="p" autoUpdateAnimBg="0"/>
      <p:bldP spid="13332" grpId="0" animBg="1"/>
      <p:bldP spid="13333" grpId="0" build="p" autoUpdateAnimBg="0"/>
      <p:bldP spid="13334" grpId="0" animBg="1"/>
      <p:bldP spid="13335" grpId="0" build="p" autoUpdateAnimBg="0"/>
      <p:bldP spid="13336" grpId="0" animBg="1"/>
      <p:bldP spid="13337" grpId="0" build="p" autoUpdateAnimBg="0"/>
      <p:bldP spid="13338" grpId="0" animBg="1"/>
      <p:bldP spid="13339" grpId="0" build="p" autoUpdateAnimBg="0"/>
      <p:bldP spid="13340" grpId="0" animBg="1"/>
      <p:bldP spid="13341" grpId="0" build="p" autoUpdateAnimBg="0"/>
      <p:bldP spid="13342" grpId="0" animBg="1"/>
      <p:bldP spid="13343" grpId="0" build="p" autoUpdateAnimBg="0"/>
      <p:bldP spid="13344" grpId="0" animBg="1"/>
      <p:bldP spid="13345" grpId="0" build="p" autoUpdateAnimBg="0"/>
      <p:bldP spid="13346" grpId="0" animBg="1"/>
      <p:bldP spid="13347" grpId="0" build="p" autoUpdateAnimBg="0"/>
      <p:bldP spid="13348" grpId="0" animBg="1"/>
      <p:bldP spid="13349" grpId="0" build="p" autoUpdateAnimBg="0"/>
      <p:bldP spid="13350" grpId="0" animBg="1"/>
      <p:bldP spid="13351" grpId="0" build="p" autoUpdateAnimBg="0"/>
      <p:bldP spid="13352" grpId="0" animBg="1"/>
      <p:bldP spid="13353" grpId="0" build="p" autoUpdateAnimBg="0"/>
      <p:bldP spid="13354" grpId="0" animBg="1"/>
      <p:bldP spid="13355" grpId="0" build="p" autoUpdateAnimBg="0"/>
      <p:bldP spid="13356" grpId="0" animBg="1"/>
      <p:bldP spid="13357" grpId="0" build="p" autoUpdateAnimBg="0"/>
      <p:bldP spid="13358" grpId="0" animBg="1"/>
      <p:bldP spid="13359" grpId="0" build="p" autoUpdateAnimBg="0"/>
      <p:bldP spid="13360" grpId="0" animBg="1"/>
      <p:bldP spid="13361" grpId="0" build="p" autoUpdateAnimBg="0"/>
      <p:bldP spid="13362" grpId="0" animBg="1"/>
      <p:bldP spid="13363" grpId="0" build="p" autoUpdateAnimBg="0"/>
      <p:bldP spid="1336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Merge Sort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0"/>
            <a:ext cx="7772400" cy="457200"/>
          </a:xfrm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14340" name="Line 4"/>
          <p:cNvSpPr>
            <a:spLocks noChangeShapeType="1"/>
          </p:cNvSpPr>
          <p:nvPr/>
        </p:nvSpPr>
        <p:spPr bwMode="auto">
          <a:xfrm flipH="1">
            <a:off x="1752600" y="2590800"/>
            <a:ext cx="25908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>
            <a:off x="4648200" y="2590800"/>
            <a:ext cx="25908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42" name="Line 6"/>
          <p:cNvSpPr>
            <a:spLocks noChangeShapeType="1"/>
          </p:cNvSpPr>
          <p:nvPr/>
        </p:nvSpPr>
        <p:spPr bwMode="auto">
          <a:xfrm flipH="1">
            <a:off x="1295400" y="3505200"/>
            <a:ext cx="6858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43" name="Line 7"/>
          <p:cNvSpPr>
            <a:spLocks noChangeShapeType="1"/>
          </p:cNvSpPr>
          <p:nvPr/>
        </p:nvSpPr>
        <p:spPr bwMode="auto">
          <a:xfrm>
            <a:off x="2286000" y="3505200"/>
            <a:ext cx="9144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152400" y="4800600"/>
            <a:ext cx="1066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[3, 8]</a:t>
            </a:r>
          </a:p>
        </p:txBody>
      </p:sp>
      <p:sp>
        <p:nvSpPr>
          <p:cNvPr id="14345" name="Line 9"/>
          <p:cNvSpPr>
            <a:spLocks noChangeShapeType="1"/>
          </p:cNvSpPr>
          <p:nvPr/>
        </p:nvSpPr>
        <p:spPr bwMode="auto">
          <a:xfrm flipH="1">
            <a:off x="762000" y="4419600"/>
            <a:ext cx="457200" cy="457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1143000" y="4800600"/>
            <a:ext cx="1371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[6, 13]</a:t>
            </a:r>
          </a:p>
        </p:txBody>
      </p:sp>
      <p:sp>
        <p:nvSpPr>
          <p:cNvPr id="14347" name="Rectangle 11"/>
          <p:cNvSpPr>
            <a:spLocks noChangeArrowheads="1"/>
          </p:cNvSpPr>
          <p:nvPr/>
        </p:nvSpPr>
        <p:spPr bwMode="auto">
          <a:xfrm>
            <a:off x="304800" y="3962400"/>
            <a:ext cx="2133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[3, 6, 8, 13]</a:t>
            </a:r>
          </a:p>
        </p:txBody>
      </p:sp>
      <p:sp>
        <p:nvSpPr>
          <p:cNvPr id="14348" name="Line 12"/>
          <p:cNvSpPr>
            <a:spLocks noChangeShapeType="1"/>
          </p:cNvSpPr>
          <p:nvPr/>
        </p:nvSpPr>
        <p:spPr bwMode="auto">
          <a:xfrm>
            <a:off x="1524000" y="4419600"/>
            <a:ext cx="304800" cy="457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0" y="5562600"/>
            <a:ext cx="685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[8]</a:t>
            </a:r>
          </a:p>
        </p:txBody>
      </p:sp>
      <p:sp>
        <p:nvSpPr>
          <p:cNvPr id="14350" name="Line 14"/>
          <p:cNvSpPr>
            <a:spLocks noChangeShapeType="1"/>
          </p:cNvSpPr>
          <p:nvPr/>
        </p:nvSpPr>
        <p:spPr bwMode="auto">
          <a:xfrm flipH="1">
            <a:off x="381000" y="5257800"/>
            <a:ext cx="304800" cy="381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51" name="Rectangle 15"/>
          <p:cNvSpPr>
            <a:spLocks noChangeArrowheads="1"/>
          </p:cNvSpPr>
          <p:nvPr/>
        </p:nvSpPr>
        <p:spPr bwMode="auto">
          <a:xfrm>
            <a:off x="609600" y="5562600"/>
            <a:ext cx="762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[3]</a:t>
            </a:r>
          </a:p>
        </p:txBody>
      </p:sp>
      <p:sp>
        <p:nvSpPr>
          <p:cNvPr id="14352" name="Line 16"/>
          <p:cNvSpPr>
            <a:spLocks noChangeShapeType="1"/>
          </p:cNvSpPr>
          <p:nvPr/>
        </p:nvSpPr>
        <p:spPr bwMode="auto">
          <a:xfrm>
            <a:off x="762000" y="5334000"/>
            <a:ext cx="228600" cy="304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53" name="Rectangle 17"/>
          <p:cNvSpPr>
            <a:spLocks noChangeArrowheads="1"/>
          </p:cNvSpPr>
          <p:nvPr/>
        </p:nvSpPr>
        <p:spPr bwMode="auto">
          <a:xfrm>
            <a:off x="1143000" y="5562600"/>
            <a:ext cx="914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[13]</a:t>
            </a:r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 flipH="1">
            <a:off x="1524000" y="5257800"/>
            <a:ext cx="381000" cy="381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55" name="Rectangle 19"/>
          <p:cNvSpPr>
            <a:spLocks noChangeArrowheads="1"/>
          </p:cNvSpPr>
          <p:nvPr/>
        </p:nvSpPr>
        <p:spPr bwMode="auto">
          <a:xfrm>
            <a:off x="1905000" y="5562600"/>
            <a:ext cx="762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[6]</a:t>
            </a:r>
          </a:p>
        </p:txBody>
      </p:sp>
      <p:sp>
        <p:nvSpPr>
          <p:cNvPr id="14356" name="Line 20"/>
          <p:cNvSpPr>
            <a:spLocks noChangeShapeType="1"/>
          </p:cNvSpPr>
          <p:nvPr/>
        </p:nvSpPr>
        <p:spPr bwMode="auto">
          <a:xfrm>
            <a:off x="1981200" y="5334000"/>
            <a:ext cx="304800" cy="304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57" name="Rectangle 21"/>
          <p:cNvSpPr>
            <a:spLocks noChangeArrowheads="1"/>
          </p:cNvSpPr>
          <p:nvPr/>
        </p:nvSpPr>
        <p:spPr bwMode="auto">
          <a:xfrm>
            <a:off x="2438400" y="4800600"/>
            <a:ext cx="1295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[2, 14]</a:t>
            </a:r>
          </a:p>
        </p:txBody>
      </p:sp>
      <p:sp>
        <p:nvSpPr>
          <p:cNvPr id="14358" name="Rectangle 22"/>
          <p:cNvSpPr>
            <a:spLocks noChangeArrowheads="1"/>
          </p:cNvSpPr>
          <p:nvPr/>
        </p:nvSpPr>
        <p:spPr bwMode="auto">
          <a:xfrm>
            <a:off x="2514600" y="3962400"/>
            <a:ext cx="1828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[2, 5, 14]</a:t>
            </a:r>
          </a:p>
        </p:txBody>
      </p:sp>
      <p:sp>
        <p:nvSpPr>
          <p:cNvPr id="14359" name="Rectangle 23"/>
          <p:cNvSpPr>
            <a:spLocks noChangeArrowheads="1"/>
          </p:cNvSpPr>
          <p:nvPr/>
        </p:nvSpPr>
        <p:spPr bwMode="auto">
          <a:xfrm>
            <a:off x="304800" y="3048000"/>
            <a:ext cx="3657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[2, 3, 5, 6, 8, 13, 14]</a:t>
            </a:r>
          </a:p>
        </p:txBody>
      </p:sp>
      <p:sp>
        <p:nvSpPr>
          <p:cNvPr id="14360" name="Line 24"/>
          <p:cNvSpPr>
            <a:spLocks noChangeShapeType="1"/>
          </p:cNvSpPr>
          <p:nvPr/>
        </p:nvSpPr>
        <p:spPr bwMode="auto">
          <a:xfrm flipH="1">
            <a:off x="2971800" y="4419600"/>
            <a:ext cx="3810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61" name="Rectangle 25"/>
          <p:cNvSpPr>
            <a:spLocks noChangeArrowheads="1"/>
          </p:cNvSpPr>
          <p:nvPr/>
        </p:nvSpPr>
        <p:spPr bwMode="auto">
          <a:xfrm>
            <a:off x="3657600" y="4800600"/>
            <a:ext cx="685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[5]</a:t>
            </a:r>
          </a:p>
        </p:txBody>
      </p:sp>
      <p:sp>
        <p:nvSpPr>
          <p:cNvPr id="14362" name="Line 26"/>
          <p:cNvSpPr>
            <a:spLocks noChangeShapeType="1"/>
          </p:cNvSpPr>
          <p:nvPr/>
        </p:nvSpPr>
        <p:spPr bwMode="auto">
          <a:xfrm>
            <a:off x="3581400" y="4419600"/>
            <a:ext cx="381000" cy="457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63" name="Rectangle 27"/>
          <p:cNvSpPr>
            <a:spLocks noChangeArrowheads="1"/>
          </p:cNvSpPr>
          <p:nvPr/>
        </p:nvSpPr>
        <p:spPr bwMode="auto">
          <a:xfrm>
            <a:off x="2514600" y="5562600"/>
            <a:ext cx="762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[2]</a:t>
            </a:r>
          </a:p>
        </p:txBody>
      </p:sp>
      <p:sp>
        <p:nvSpPr>
          <p:cNvPr id="14364" name="Line 28"/>
          <p:cNvSpPr>
            <a:spLocks noChangeShapeType="1"/>
          </p:cNvSpPr>
          <p:nvPr/>
        </p:nvSpPr>
        <p:spPr bwMode="auto">
          <a:xfrm flipH="1">
            <a:off x="2819400" y="5257800"/>
            <a:ext cx="304800" cy="381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65" name="Rectangle 29"/>
          <p:cNvSpPr>
            <a:spLocks noChangeArrowheads="1"/>
          </p:cNvSpPr>
          <p:nvPr/>
        </p:nvSpPr>
        <p:spPr bwMode="auto">
          <a:xfrm>
            <a:off x="3124200" y="5562600"/>
            <a:ext cx="990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[14]</a:t>
            </a:r>
          </a:p>
        </p:txBody>
      </p:sp>
      <p:sp>
        <p:nvSpPr>
          <p:cNvPr id="14366" name="Line 30"/>
          <p:cNvSpPr>
            <a:spLocks noChangeShapeType="1"/>
          </p:cNvSpPr>
          <p:nvPr/>
        </p:nvSpPr>
        <p:spPr bwMode="auto">
          <a:xfrm>
            <a:off x="3276600" y="5334000"/>
            <a:ext cx="304800" cy="304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67" name="Line 31"/>
          <p:cNvSpPr>
            <a:spLocks noChangeShapeType="1"/>
          </p:cNvSpPr>
          <p:nvPr/>
        </p:nvSpPr>
        <p:spPr bwMode="auto">
          <a:xfrm flipH="1">
            <a:off x="5562600" y="3505200"/>
            <a:ext cx="9906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68" name="Line 32"/>
          <p:cNvSpPr>
            <a:spLocks noChangeShapeType="1"/>
          </p:cNvSpPr>
          <p:nvPr/>
        </p:nvSpPr>
        <p:spPr bwMode="auto">
          <a:xfrm>
            <a:off x="6781800" y="3505200"/>
            <a:ext cx="9906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69" name="Rectangle 33"/>
          <p:cNvSpPr>
            <a:spLocks noChangeArrowheads="1"/>
          </p:cNvSpPr>
          <p:nvPr/>
        </p:nvSpPr>
        <p:spPr bwMode="auto">
          <a:xfrm>
            <a:off x="4418013" y="4800600"/>
            <a:ext cx="12969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[9, 10]</a:t>
            </a:r>
          </a:p>
        </p:txBody>
      </p:sp>
      <p:sp>
        <p:nvSpPr>
          <p:cNvPr id="14370" name="Rectangle 34"/>
          <p:cNvSpPr>
            <a:spLocks noChangeArrowheads="1"/>
          </p:cNvSpPr>
          <p:nvPr/>
        </p:nvSpPr>
        <p:spPr bwMode="auto">
          <a:xfrm>
            <a:off x="4570413" y="3962400"/>
            <a:ext cx="16779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[1, 9, 10]</a:t>
            </a:r>
          </a:p>
        </p:txBody>
      </p:sp>
      <p:sp>
        <p:nvSpPr>
          <p:cNvPr id="14371" name="Line 35"/>
          <p:cNvSpPr>
            <a:spLocks noChangeShapeType="1"/>
          </p:cNvSpPr>
          <p:nvPr/>
        </p:nvSpPr>
        <p:spPr bwMode="auto">
          <a:xfrm flipH="1">
            <a:off x="4953000" y="4419600"/>
            <a:ext cx="457200" cy="457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72" name="Rectangle 36"/>
          <p:cNvSpPr>
            <a:spLocks noChangeArrowheads="1"/>
          </p:cNvSpPr>
          <p:nvPr/>
        </p:nvSpPr>
        <p:spPr bwMode="auto">
          <a:xfrm>
            <a:off x="5713413" y="4800600"/>
            <a:ext cx="7635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[1]</a:t>
            </a:r>
          </a:p>
        </p:txBody>
      </p:sp>
      <p:sp>
        <p:nvSpPr>
          <p:cNvPr id="14373" name="Line 37"/>
          <p:cNvSpPr>
            <a:spLocks noChangeShapeType="1"/>
          </p:cNvSpPr>
          <p:nvPr/>
        </p:nvSpPr>
        <p:spPr bwMode="auto">
          <a:xfrm>
            <a:off x="5638800" y="4495800"/>
            <a:ext cx="304800" cy="381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74" name="Rectangle 38"/>
          <p:cNvSpPr>
            <a:spLocks noChangeArrowheads="1"/>
          </p:cNvSpPr>
          <p:nvPr/>
        </p:nvSpPr>
        <p:spPr bwMode="auto">
          <a:xfrm>
            <a:off x="4189413" y="5562600"/>
            <a:ext cx="7635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[9]</a:t>
            </a:r>
          </a:p>
        </p:txBody>
      </p:sp>
      <p:sp>
        <p:nvSpPr>
          <p:cNvPr id="14375" name="Line 39"/>
          <p:cNvSpPr>
            <a:spLocks noChangeShapeType="1"/>
          </p:cNvSpPr>
          <p:nvPr/>
        </p:nvSpPr>
        <p:spPr bwMode="auto">
          <a:xfrm flipH="1">
            <a:off x="4572000" y="5257800"/>
            <a:ext cx="457200" cy="381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76" name="Rectangle 40"/>
          <p:cNvSpPr>
            <a:spLocks noChangeArrowheads="1"/>
          </p:cNvSpPr>
          <p:nvPr/>
        </p:nvSpPr>
        <p:spPr bwMode="auto">
          <a:xfrm>
            <a:off x="4875213" y="5562600"/>
            <a:ext cx="9159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[10]</a:t>
            </a:r>
          </a:p>
        </p:txBody>
      </p:sp>
      <p:sp>
        <p:nvSpPr>
          <p:cNvPr id="14377" name="Line 41"/>
          <p:cNvSpPr>
            <a:spLocks noChangeShapeType="1"/>
          </p:cNvSpPr>
          <p:nvPr/>
        </p:nvSpPr>
        <p:spPr bwMode="auto">
          <a:xfrm>
            <a:off x="5181600" y="5334000"/>
            <a:ext cx="304800" cy="304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78" name="Rectangle 42"/>
          <p:cNvSpPr>
            <a:spLocks noChangeArrowheads="1"/>
          </p:cNvSpPr>
          <p:nvPr/>
        </p:nvSpPr>
        <p:spPr bwMode="auto">
          <a:xfrm>
            <a:off x="6626225" y="4800600"/>
            <a:ext cx="14509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[7, 12]</a:t>
            </a:r>
          </a:p>
        </p:txBody>
      </p:sp>
      <p:sp>
        <p:nvSpPr>
          <p:cNvPr id="14379" name="Rectangle 43"/>
          <p:cNvSpPr>
            <a:spLocks noChangeArrowheads="1"/>
          </p:cNvSpPr>
          <p:nvPr/>
        </p:nvSpPr>
        <p:spPr bwMode="auto">
          <a:xfrm>
            <a:off x="7007225" y="3962400"/>
            <a:ext cx="17557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[4, 7, 12]</a:t>
            </a:r>
          </a:p>
        </p:txBody>
      </p:sp>
      <p:sp>
        <p:nvSpPr>
          <p:cNvPr id="14380" name="Rectangle 44"/>
          <p:cNvSpPr>
            <a:spLocks noChangeArrowheads="1"/>
          </p:cNvSpPr>
          <p:nvPr/>
        </p:nvSpPr>
        <p:spPr bwMode="auto">
          <a:xfrm>
            <a:off x="5103813" y="3048000"/>
            <a:ext cx="33543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[1, 4, 7, 9, 10,12]</a:t>
            </a:r>
          </a:p>
        </p:txBody>
      </p:sp>
      <p:sp>
        <p:nvSpPr>
          <p:cNvPr id="14381" name="Rectangle 45"/>
          <p:cNvSpPr>
            <a:spLocks noChangeArrowheads="1"/>
          </p:cNvSpPr>
          <p:nvPr/>
        </p:nvSpPr>
        <p:spPr bwMode="auto">
          <a:xfrm>
            <a:off x="1600200" y="2133600"/>
            <a:ext cx="6400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[1, 2, 3, 4, 5, 6, 7, 8, 9, 10, 12, 13,14]</a:t>
            </a:r>
          </a:p>
        </p:txBody>
      </p:sp>
      <p:sp>
        <p:nvSpPr>
          <p:cNvPr id="14382" name="Line 46"/>
          <p:cNvSpPr>
            <a:spLocks noChangeShapeType="1"/>
          </p:cNvSpPr>
          <p:nvPr/>
        </p:nvSpPr>
        <p:spPr bwMode="auto">
          <a:xfrm flipH="1">
            <a:off x="7315200" y="4419600"/>
            <a:ext cx="533400" cy="457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83" name="Rectangle 47"/>
          <p:cNvSpPr>
            <a:spLocks noChangeArrowheads="1"/>
          </p:cNvSpPr>
          <p:nvPr/>
        </p:nvSpPr>
        <p:spPr bwMode="auto">
          <a:xfrm>
            <a:off x="8074025" y="4800600"/>
            <a:ext cx="8413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[4]</a:t>
            </a:r>
          </a:p>
        </p:txBody>
      </p:sp>
      <p:sp>
        <p:nvSpPr>
          <p:cNvPr id="14384" name="Line 48"/>
          <p:cNvSpPr>
            <a:spLocks noChangeShapeType="1"/>
          </p:cNvSpPr>
          <p:nvPr/>
        </p:nvSpPr>
        <p:spPr bwMode="auto">
          <a:xfrm>
            <a:off x="8001000" y="4495800"/>
            <a:ext cx="457200" cy="381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85" name="Rectangle 49"/>
          <p:cNvSpPr>
            <a:spLocks noChangeArrowheads="1"/>
          </p:cNvSpPr>
          <p:nvPr/>
        </p:nvSpPr>
        <p:spPr bwMode="auto">
          <a:xfrm>
            <a:off x="6397625" y="5562600"/>
            <a:ext cx="6889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[7]</a:t>
            </a:r>
          </a:p>
        </p:txBody>
      </p:sp>
      <p:sp>
        <p:nvSpPr>
          <p:cNvPr id="14386" name="Line 50"/>
          <p:cNvSpPr>
            <a:spLocks noChangeShapeType="1"/>
          </p:cNvSpPr>
          <p:nvPr/>
        </p:nvSpPr>
        <p:spPr bwMode="auto">
          <a:xfrm flipH="1">
            <a:off x="6781800" y="5257800"/>
            <a:ext cx="381000" cy="381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87" name="Rectangle 51"/>
          <p:cNvSpPr>
            <a:spLocks noChangeArrowheads="1"/>
          </p:cNvSpPr>
          <p:nvPr/>
        </p:nvSpPr>
        <p:spPr bwMode="auto">
          <a:xfrm>
            <a:off x="7235825" y="5562600"/>
            <a:ext cx="9175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effectLst/>
              </a:rPr>
              <a:t>[12]</a:t>
            </a:r>
          </a:p>
        </p:txBody>
      </p:sp>
      <p:sp>
        <p:nvSpPr>
          <p:cNvPr id="14388" name="Line 52"/>
          <p:cNvSpPr>
            <a:spLocks noChangeShapeType="1"/>
          </p:cNvSpPr>
          <p:nvPr/>
        </p:nvSpPr>
        <p:spPr bwMode="auto">
          <a:xfrm>
            <a:off x="7239000" y="5334000"/>
            <a:ext cx="381000" cy="304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33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4" grpId="0" build="p" autoUpdateAnimBg="0"/>
      <p:bldP spid="14346" grpId="0" build="p" autoUpdateAnimBg="0"/>
      <p:bldP spid="14347" grpId="0" build="p" autoUpdateAnimBg="0"/>
      <p:bldP spid="14357" grpId="0" build="p" autoUpdateAnimBg="0"/>
      <p:bldP spid="14358" grpId="0" build="p" autoUpdateAnimBg="0"/>
      <p:bldP spid="14359" grpId="0" build="p" autoUpdateAnimBg="0"/>
      <p:bldP spid="14369" grpId="0" build="p" autoUpdateAnimBg="0"/>
      <p:bldP spid="14370" grpId="0" build="p" autoUpdateAnimBg="0"/>
      <p:bldP spid="14378" grpId="0" build="p" autoUpdateAnimBg="0"/>
      <p:bldP spid="14379" grpId="0" build="p" autoUpdateAnimBg="0"/>
      <p:bldP spid="14380" grpId="0" build="p" autoUpdateAnimBg="0"/>
      <p:bldP spid="14381" grpId="0" build="p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Merge Two Sorted Lists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534400" cy="4648200"/>
          </a:xfrm>
          <a:noFill/>
          <a:ln/>
        </p:spPr>
        <p:txBody>
          <a:bodyPr/>
          <a:lstStyle/>
          <a:p>
            <a:pPr>
              <a:buClr>
                <a:schemeClr val="tx2"/>
              </a:buClr>
            </a:pPr>
            <a:r>
              <a:rPr lang="en-US" altLang="en-US">
                <a:solidFill>
                  <a:schemeClr val="hlink"/>
                </a:solidFill>
              </a:rPr>
              <a:t>A = (2, 5, 6)</a:t>
            </a:r>
          </a:p>
          <a:p>
            <a:pPr>
              <a:buFontTx/>
              <a:buNone/>
            </a:pPr>
            <a:r>
              <a:rPr lang="en-US" altLang="en-US">
                <a:solidFill>
                  <a:schemeClr val="hlink"/>
                </a:solidFill>
              </a:rPr>
              <a:t>    B = (1, 3, 8, 9, 10)</a:t>
            </a:r>
          </a:p>
          <a:p>
            <a:pPr>
              <a:buFontTx/>
              <a:buNone/>
            </a:pPr>
            <a:r>
              <a:rPr lang="en-US" altLang="en-US">
                <a:solidFill>
                  <a:schemeClr val="hlink"/>
                </a:solidFill>
              </a:rPr>
              <a:t>    C = ()</a:t>
            </a:r>
          </a:p>
          <a:p>
            <a:pPr>
              <a:buClr>
                <a:schemeClr val="tx2"/>
              </a:buClr>
            </a:pPr>
            <a:r>
              <a:rPr lang="en-US" altLang="en-US">
                <a:solidFill>
                  <a:schemeClr val="bg2"/>
                </a:solidFill>
              </a:rPr>
              <a:t>Compare smallest elements of</a:t>
            </a:r>
            <a:r>
              <a:rPr lang="en-US" altLang="en-US">
                <a:solidFill>
                  <a:schemeClr val="hlink"/>
                </a:solidFill>
              </a:rPr>
              <a:t> A </a:t>
            </a:r>
            <a:r>
              <a:rPr lang="en-US" altLang="en-US">
                <a:solidFill>
                  <a:schemeClr val="bg2"/>
                </a:solidFill>
              </a:rPr>
              <a:t>and</a:t>
            </a:r>
            <a:r>
              <a:rPr lang="en-US" altLang="en-US">
                <a:solidFill>
                  <a:schemeClr val="hlink"/>
                </a:solidFill>
              </a:rPr>
              <a:t> B </a:t>
            </a:r>
            <a:r>
              <a:rPr lang="en-US" altLang="en-US">
                <a:solidFill>
                  <a:schemeClr val="bg2"/>
                </a:solidFill>
              </a:rPr>
              <a:t>and</a:t>
            </a:r>
            <a:r>
              <a:rPr lang="en-US" altLang="en-US">
                <a:solidFill>
                  <a:schemeClr val="hlink"/>
                </a:solidFill>
              </a:rPr>
              <a:t> </a:t>
            </a:r>
            <a:r>
              <a:rPr lang="en-US" altLang="en-US">
                <a:solidFill>
                  <a:schemeClr val="bg2"/>
                </a:solidFill>
              </a:rPr>
              <a:t>merge smaller into</a:t>
            </a:r>
            <a:r>
              <a:rPr lang="en-US" altLang="en-US">
                <a:solidFill>
                  <a:schemeClr val="hlink"/>
                </a:solidFill>
              </a:rPr>
              <a:t> C.</a:t>
            </a:r>
          </a:p>
          <a:p>
            <a:pPr>
              <a:buClr>
                <a:schemeClr val="tx2"/>
              </a:buClr>
            </a:pPr>
            <a:r>
              <a:rPr lang="en-US" altLang="en-US">
                <a:solidFill>
                  <a:schemeClr val="hlink"/>
                </a:solidFill>
              </a:rPr>
              <a:t>A = (2, 5, 6)</a:t>
            </a:r>
          </a:p>
          <a:p>
            <a:pPr>
              <a:buFontTx/>
              <a:buNone/>
            </a:pPr>
            <a:r>
              <a:rPr lang="en-US" altLang="en-US">
                <a:solidFill>
                  <a:schemeClr val="hlink"/>
                </a:solidFill>
              </a:rPr>
              <a:t>    B = (3, 8, 9, 10)</a:t>
            </a:r>
          </a:p>
          <a:p>
            <a:pPr>
              <a:buFontTx/>
              <a:buNone/>
            </a:pPr>
            <a:r>
              <a:rPr lang="en-US" altLang="en-US">
                <a:solidFill>
                  <a:schemeClr val="hlink"/>
                </a:solidFill>
              </a:rPr>
              <a:t>    C = (1)</a:t>
            </a:r>
          </a:p>
        </p:txBody>
      </p:sp>
    </p:spTree>
    <p:extLst>
      <p:ext uri="{BB962C8B-B14F-4D97-AF65-F5344CB8AC3E}">
        <p14:creationId xmlns:p14="http://schemas.microsoft.com/office/powerpoint/2010/main" val="1434567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Merge Two Sorted Lists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534400" cy="4648200"/>
          </a:xfrm>
          <a:noFill/>
          <a:ln/>
        </p:spPr>
        <p:txBody>
          <a:bodyPr/>
          <a:lstStyle/>
          <a:p>
            <a:pPr>
              <a:buClr>
                <a:schemeClr val="tx2"/>
              </a:buClr>
            </a:pPr>
            <a:r>
              <a:rPr lang="en-US" altLang="en-US">
                <a:solidFill>
                  <a:schemeClr val="hlink"/>
                </a:solidFill>
              </a:rPr>
              <a:t>A = (5, 6)</a:t>
            </a:r>
          </a:p>
          <a:p>
            <a:pPr>
              <a:buFontTx/>
              <a:buNone/>
            </a:pPr>
            <a:r>
              <a:rPr lang="en-US" altLang="en-US">
                <a:solidFill>
                  <a:schemeClr val="hlink"/>
                </a:solidFill>
              </a:rPr>
              <a:t>    B = (3, 8, 9, 10)</a:t>
            </a:r>
          </a:p>
          <a:p>
            <a:pPr>
              <a:buFontTx/>
              <a:buNone/>
            </a:pPr>
            <a:r>
              <a:rPr lang="en-US" altLang="en-US">
                <a:solidFill>
                  <a:schemeClr val="hlink"/>
                </a:solidFill>
              </a:rPr>
              <a:t>    C = (1, 2)</a:t>
            </a:r>
          </a:p>
          <a:p>
            <a:pPr>
              <a:buClr>
                <a:schemeClr val="tx2"/>
              </a:buClr>
            </a:pPr>
            <a:r>
              <a:rPr lang="en-US" altLang="en-US">
                <a:solidFill>
                  <a:schemeClr val="tx2"/>
                </a:solidFill>
              </a:rPr>
              <a:t>A = (5, 6)</a:t>
            </a:r>
          </a:p>
          <a:p>
            <a:pPr>
              <a:buFontTx/>
              <a:buNone/>
            </a:pPr>
            <a:r>
              <a:rPr lang="en-US" altLang="en-US">
                <a:solidFill>
                  <a:schemeClr val="tx2"/>
                </a:solidFill>
              </a:rPr>
              <a:t>    B = (8, 9, 10)</a:t>
            </a:r>
          </a:p>
          <a:p>
            <a:pPr>
              <a:buFontTx/>
              <a:buNone/>
            </a:pPr>
            <a:r>
              <a:rPr lang="en-US" altLang="en-US">
                <a:solidFill>
                  <a:schemeClr val="tx2"/>
                </a:solidFill>
              </a:rPr>
              <a:t>    C = (1, 2, 3)</a:t>
            </a:r>
          </a:p>
          <a:p>
            <a:pPr>
              <a:buClr>
                <a:schemeClr val="tx2"/>
              </a:buClr>
            </a:pPr>
            <a:r>
              <a:rPr lang="en-US" altLang="en-US">
                <a:solidFill>
                  <a:schemeClr val="hlink"/>
                </a:solidFill>
              </a:rPr>
              <a:t>A = (6)</a:t>
            </a:r>
          </a:p>
          <a:p>
            <a:pPr>
              <a:buFontTx/>
              <a:buNone/>
            </a:pPr>
            <a:r>
              <a:rPr lang="en-US" altLang="en-US">
                <a:solidFill>
                  <a:schemeClr val="hlink"/>
                </a:solidFill>
              </a:rPr>
              <a:t>    B = (8, 9, 10)</a:t>
            </a:r>
          </a:p>
          <a:p>
            <a:pPr>
              <a:buFontTx/>
              <a:buNone/>
            </a:pPr>
            <a:r>
              <a:rPr lang="en-US" altLang="en-US">
                <a:solidFill>
                  <a:schemeClr val="hlink"/>
                </a:solidFill>
              </a:rPr>
              <a:t>    C = (1, 2, 3, 5)</a:t>
            </a:r>
          </a:p>
        </p:txBody>
      </p:sp>
    </p:spTree>
    <p:extLst>
      <p:ext uri="{BB962C8B-B14F-4D97-AF65-F5344CB8AC3E}">
        <p14:creationId xmlns:p14="http://schemas.microsoft.com/office/powerpoint/2010/main" val="76760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Merge Two Sorted Lists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534400" cy="4648200"/>
          </a:xfrm>
          <a:noFill/>
          <a:ln/>
        </p:spPr>
        <p:txBody>
          <a:bodyPr/>
          <a:lstStyle/>
          <a:p>
            <a:pPr>
              <a:buClr>
                <a:schemeClr val="tx2"/>
              </a:buClr>
            </a:pPr>
            <a:r>
              <a:rPr lang="en-US" altLang="en-US" dirty="0">
                <a:solidFill>
                  <a:schemeClr val="hlink"/>
                </a:solidFill>
              </a:rPr>
              <a:t>A = ()</a:t>
            </a:r>
          </a:p>
          <a:p>
            <a:pPr>
              <a:buFontTx/>
              <a:buNone/>
            </a:pPr>
            <a:r>
              <a:rPr lang="en-US" altLang="en-US" dirty="0">
                <a:solidFill>
                  <a:schemeClr val="hlink"/>
                </a:solidFill>
              </a:rPr>
              <a:t>    B = (8, 9, 10)</a:t>
            </a:r>
          </a:p>
          <a:p>
            <a:pPr>
              <a:buFontTx/>
              <a:buNone/>
            </a:pPr>
            <a:r>
              <a:rPr lang="en-US" altLang="en-US" dirty="0">
                <a:solidFill>
                  <a:schemeClr val="hlink"/>
                </a:solidFill>
              </a:rPr>
              <a:t>    C = (1, 2, 3, 5, 6)</a:t>
            </a:r>
          </a:p>
          <a:p>
            <a:pPr>
              <a:buClr>
                <a:schemeClr val="tx2"/>
              </a:buClr>
            </a:pPr>
            <a:r>
              <a:rPr lang="en-US" altLang="en-US" dirty="0">
                <a:solidFill>
                  <a:schemeClr val="bg2"/>
                </a:solidFill>
              </a:rPr>
              <a:t>When one of</a:t>
            </a:r>
            <a:r>
              <a:rPr lang="en-US" altLang="en-US" dirty="0">
                <a:solidFill>
                  <a:schemeClr val="hlink"/>
                </a:solidFill>
              </a:rPr>
              <a:t>  A </a:t>
            </a:r>
            <a:r>
              <a:rPr lang="en-US" altLang="en-US" dirty="0">
                <a:solidFill>
                  <a:schemeClr val="bg2"/>
                </a:solidFill>
              </a:rPr>
              <a:t>and</a:t>
            </a:r>
            <a:r>
              <a:rPr lang="en-US" altLang="en-US" dirty="0">
                <a:solidFill>
                  <a:schemeClr val="hlink"/>
                </a:solidFill>
              </a:rPr>
              <a:t> B </a:t>
            </a:r>
            <a:r>
              <a:rPr lang="en-US" altLang="en-US" dirty="0">
                <a:solidFill>
                  <a:schemeClr val="bg2"/>
                </a:solidFill>
              </a:rPr>
              <a:t>becomes empty, append</a:t>
            </a:r>
            <a:r>
              <a:rPr lang="en-US" altLang="en-US" dirty="0">
                <a:solidFill>
                  <a:schemeClr val="hlink"/>
                </a:solidFill>
              </a:rPr>
              <a:t> </a:t>
            </a:r>
            <a:r>
              <a:rPr lang="en-US" altLang="en-US" dirty="0">
                <a:solidFill>
                  <a:schemeClr val="bg2"/>
                </a:solidFill>
              </a:rPr>
              <a:t>the other list to</a:t>
            </a:r>
            <a:r>
              <a:rPr lang="en-US" altLang="en-US" dirty="0">
                <a:solidFill>
                  <a:schemeClr val="hlink"/>
                </a:solidFill>
              </a:rPr>
              <a:t> C.</a:t>
            </a:r>
          </a:p>
          <a:p>
            <a:pPr>
              <a:buClr>
                <a:schemeClr val="tx2"/>
              </a:buClr>
            </a:pPr>
            <a:r>
              <a:rPr lang="en-US" altLang="en-US" dirty="0">
                <a:solidFill>
                  <a:schemeClr val="hlink"/>
                </a:solidFill>
              </a:rPr>
              <a:t>O(1) </a:t>
            </a:r>
            <a:r>
              <a:rPr lang="en-US" altLang="en-US" dirty="0">
                <a:solidFill>
                  <a:schemeClr val="bg2"/>
                </a:solidFill>
              </a:rPr>
              <a:t>time needed to move an element into </a:t>
            </a:r>
            <a:r>
              <a:rPr lang="en-US" altLang="en-US" dirty="0">
                <a:solidFill>
                  <a:schemeClr val="hlink"/>
                </a:solidFill>
              </a:rPr>
              <a:t>C</a:t>
            </a:r>
            <a:r>
              <a:rPr lang="en-US" altLang="en-US" dirty="0">
                <a:solidFill>
                  <a:schemeClr val="bg2"/>
                </a:solidFill>
              </a:rPr>
              <a:t>.</a:t>
            </a:r>
          </a:p>
          <a:p>
            <a:pPr>
              <a:buClr>
                <a:schemeClr val="tx2"/>
              </a:buClr>
            </a:pPr>
            <a:r>
              <a:rPr lang="en-US" altLang="en-US" dirty="0">
                <a:solidFill>
                  <a:schemeClr val="bg2"/>
                </a:solidFill>
              </a:rPr>
              <a:t>Total time is ?</a:t>
            </a:r>
            <a:r>
              <a:rPr lang="en-US" altLang="en-US" dirty="0">
                <a:solidFill>
                  <a:schemeClr val="hlink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12010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Merge Sort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Clr>
                <a:schemeClr val="tx2"/>
              </a:buClr>
            </a:pPr>
            <a:r>
              <a:rPr lang="en-US" altLang="en-US"/>
              <a:t>Downward pass over the recursion tree.</a:t>
            </a:r>
          </a:p>
          <a:p>
            <a:pPr lvl="1"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n-US" altLang="en-US"/>
              <a:t>Divide large instances into small ones.</a:t>
            </a:r>
          </a:p>
          <a:p>
            <a:pPr>
              <a:buClr>
                <a:schemeClr val="tx2"/>
              </a:buClr>
            </a:pPr>
            <a:r>
              <a:rPr lang="en-US" altLang="en-US"/>
              <a:t>Upward pass over the recursion tree.</a:t>
            </a:r>
          </a:p>
          <a:p>
            <a:pPr lvl="1"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n-US" altLang="en-US"/>
              <a:t>Merge pairs of sorted lists.</a:t>
            </a:r>
          </a:p>
          <a:p>
            <a:pPr>
              <a:buClr>
                <a:schemeClr val="tx2"/>
              </a:buClr>
            </a:pPr>
            <a:r>
              <a:rPr lang="en-US" altLang="en-US"/>
              <a:t>Number of leaf nodes is </a:t>
            </a:r>
            <a:r>
              <a:rPr lang="en-US" altLang="en-US">
                <a:solidFill>
                  <a:schemeClr val="hlink"/>
                </a:solidFill>
              </a:rPr>
              <a:t>n</a:t>
            </a:r>
            <a:r>
              <a:rPr lang="en-US" altLang="en-US">
                <a:solidFill>
                  <a:schemeClr val="bg2"/>
                </a:solidFill>
              </a:rPr>
              <a:t>.</a:t>
            </a:r>
          </a:p>
          <a:p>
            <a:pPr>
              <a:buClr>
                <a:schemeClr val="tx2"/>
              </a:buClr>
            </a:pPr>
            <a:r>
              <a:rPr lang="en-US" altLang="en-US">
                <a:solidFill>
                  <a:schemeClr val="bg2"/>
                </a:solidFill>
              </a:rPr>
              <a:t>Number of nonleaf nodes is </a:t>
            </a:r>
            <a:r>
              <a:rPr lang="en-US" altLang="en-US">
                <a:solidFill>
                  <a:schemeClr val="hlink"/>
                </a:solidFill>
              </a:rPr>
              <a:t>n-1</a:t>
            </a:r>
            <a:r>
              <a:rPr lang="en-US" altLang="en-US">
                <a:solidFill>
                  <a:schemeClr val="bg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31896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 bldLvl="2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Time Complexity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90000"/>
              </a:lnSpc>
              <a:buClr>
                <a:schemeClr val="tx2"/>
              </a:buClr>
            </a:pPr>
            <a:r>
              <a:rPr lang="en-US" altLang="en-US"/>
              <a:t>Downward pass.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>
                <a:solidFill>
                  <a:schemeClr val="hlink"/>
                </a:solidFill>
              </a:rPr>
              <a:t>O(1) </a:t>
            </a:r>
            <a:r>
              <a:rPr lang="en-US" altLang="en-US">
                <a:solidFill>
                  <a:schemeClr val="bg2"/>
                </a:solidFill>
              </a:rPr>
              <a:t>time at each node.</a:t>
            </a:r>
          </a:p>
          <a:p>
            <a:pPr lvl="1"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n-US" altLang="en-US">
                <a:solidFill>
                  <a:schemeClr val="hlink"/>
                </a:solidFill>
              </a:rPr>
              <a:t>O(n)</a:t>
            </a:r>
            <a:r>
              <a:rPr lang="en-US" altLang="en-US">
                <a:solidFill>
                  <a:schemeClr val="bg2"/>
                </a:solidFill>
              </a:rPr>
              <a:t> total time at all nodes.</a:t>
            </a:r>
          </a:p>
          <a:p>
            <a:pPr>
              <a:lnSpc>
                <a:spcPct val="90000"/>
              </a:lnSpc>
              <a:buClr>
                <a:schemeClr val="tx2"/>
              </a:buClr>
            </a:pPr>
            <a:r>
              <a:rPr lang="en-US" altLang="en-US"/>
              <a:t>Upward pass.</a:t>
            </a:r>
          </a:p>
          <a:p>
            <a:pPr lvl="1"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n-US" altLang="en-US">
                <a:solidFill>
                  <a:schemeClr val="hlink"/>
                </a:solidFill>
              </a:rPr>
              <a:t>O(n)</a:t>
            </a:r>
            <a:r>
              <a:rPr lang="en-US" altLang="en-US"/>
              <a:t> time merging at each level that has a nonleaf node.</a:t>
            </a:r>
          </a:p>
          <a:p>
            <a:pPr lvl="1"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n-US" altLang="en-US"/>
              <a:t>Number of levels is </a:t>
            </a:r>
            <a:r>
              <a:rPr lang="en-US" altLang="en-US">
                <a:solidFill>
                  <a:schemeClr val="hlink"/>
                </a:solidFill>
              </a:rPr>
              <a:t>O(log n)</a:t>
            </a:r>
            <a:r>
              <a:rPr lang="en-US" altLang="en-US">
                <a:solidFill>
                  <a:schemeClr val="bg2"/>
                </a:solidFill>
              </a:rPr>
              <a:t>.</a:t>
            </a:r>
          </a:p>
          <a:p>
            <a:pPr lvl="1"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n-US" altLang="en-US">
                <a:solidFill>
                  <a:schemeClr val="bg2"/>
                </a:solidFill>
              </a:rPr>
              <a:t>Total time is </a:t>
            </a:r>
            <a:r>
              <a:rPr lang="en-US" altLang="en-US">
                <a:solidFill>
                  <a:schemeClr val="hlink"/>
                </a:solidFill>
              </a:rPr>
              <a:t>O(n log n)</a:t>
            </a:r>
            <a:r>
              <a:rPr lang="en-US" altLang="en-US">
                <a:solidFill>
                  <a:schemeClr val="bg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60862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 bldLvl="2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Natural Merge Sort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534400" cy="4953000"/>
          </a:xfrm>
          <a:noFill/>
          <a:ln/>
        </p:spPr>
        <p:txBody>
          <a:bodyPr/>
          <a:lstStyle/>
          <a:p>
            <a:pPr>
              <a:buClr>
                <a:schemeClr val="tx2"/>
              </a:buClr>
            </a:pPr>
            <a:r>
              <a:rPr lang="en-US" altLang="en-US"/>
              <a:t>Initial sorted segments are the naturally ocurring sorted segments in the input.</a:t>
            </a:r>
          </a:p>
          <a:p>
            <a:pPr>
              <a:buClr>
                <a:schemeClr val="tx2"/>
              </a:buClr>
            </a:pPr>
            <a:r>
              <a:rPr lang="en-US" altLang="en-US"/>
              <a:t>Input </a:t>
            </a:r>
            <a:r>
              <a:rPr lang="en-US" altLang="en-US">
                <a:solidFill>
                  <a:schemeClr val="hlink"/>
                </a:solidFill>
              </a:rPr>
              <a:t>= [8, 9, 10, 2, 5, 7, 9, 11, 13, 15, 6, 12, 14]</a:t>
            </a:r>
            <a:r>
              <a:rPr lang="en-US" altLang="en-US">
                <a:solidFill>
                  <a:schemeClr val="bg2"/>
                </a:solidFill>
              </a:rPr>
              <a:t>.</a:t>
            </a:r>
          </a:p>
          <a:p>
            <a:pPr>
              <a:buClr>
                <a:schemeClr val="tx2"/>
              </a:buClr>
            </a:pPr>
            <a:r>
              <a:rPr lang="en-US" altLang="en-US">
                <a:solidFill>
                  <a:schemeClr val="bg2"/>
                </a:solidFill>
              </a:rPr>
              <a:t>Initial segments are:</a:t>
            </a:r>
          </a:p>
          <a:p>
            <a:pPr lvl="1">
              <a:buFontTx/>
              <a:buNone/>
            </a:pPr>
            <a:r>
              <a:rPr lang="en-US" altLang="en-US" sz="3200">
                <a:solidFill>
                  <a:schemeClr val="hlink"/>
                </a:solidFill>
              </a:rPr>
              <a:t>[8, 9, 10] [2, 5, 7, 9, 11, 13, 15] [6, 12, 14]</a:t>
            </a:r>
          </a:p>
          <a:p>
            <a:pPr>
              <a:buClr>
                <a:schemeClr val="tx2"/>
              </a:buClr>
            </a:pPr>
            <a:r>
              <a:rPr lang="en-US" altLang="en-US">
                <a:solidFill>
                  <a:schemeClr val="hlink"/>
                </a:solidFill>
              </a:rPr>
              <a:t>2 </a:t>
            </a:r>
            <a:r>
              <a:rPr lang="en-US" altLang="en-US">
                <a:solidFill>
                  <a:schemeClr val="bg2"/>
                </a:solidFill>
              </a:rPr>
              <a:t>(instead of </a:t>
            </a:r>
            <a:r>
              <a:rPr lang="en-US" altLang="en-US">
                <a:solidFill>
                  <a:schemeClr val="hlink"/>
                </a:solidFill>
              </a:rPr>
              <a:t>4</a:t>
            </a:r>
            <a:r>
              <a:rPr lang="en-US" altLang="en-US">
                <a:solidFill>
                  <a:schemeClr val="bg2"/>
                </a:solidFill>
              </a:rPr>
              <a:t>) merge passes suffice.</a:t>
            </a:r>
          </a:p>
          <a:p>
            <a:pPr>
              <a:buClr>
                <a:schemeClr val="tx2"/>
              </a:buClr>
            </a:pPr>
            <a:r>
              <a:rPr lang="en-US" altLang="en-US">
                <a:solidFill>
                  <a:schemeClr val="bg2"/>
                </a:solidFill>
              </a:rPr>
              <a:t>Segment boundaries have </a:t>
            </a:r>
            <a:r>
              <a:rPr lang="en-US" altLang="en-US">
                <a:solidFill>
                  <a:schemeClr val="hlink"/>
                </a:solidFill>
              </a:rPr>
              <a:t>a[i] &gt; a[i+1]</a:t>
            </a:r>
            <a:r>
              <a:rPr lang="en-US" altLang="en-US">
                <a:solidFill>
                  <a:schemeClr val="bg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04514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External Sorting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02152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build="p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External Merge Sort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981200"/>
            <a:ext cx="8610600" cy="2819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Sort </a:t>
            </a:r>
            <a:r>
              <a:rPr lang="en-US" altLang="en-US" sz="2800">
                <a:solidFill>
                  <a:schemeClr val="hlink"/>
                </a:solidFill>
              </a:rPr>
              <a:t>10,000</a:t>
            </a:r>
            <a:r>
              <a:rPr lang="en-US" altLang="en-US" sz="2800"/>
              <a:t> records.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Enough memory for </a:t>
            </a:r>
            <a:r>
              <a:rPr lang="en-US" altLang="en-US" sz="2800">
                <a:solidFill>
                  <a:schemeClr val="hlink"/>
                </a:solidFill>
              </a:rPr>
              <a:t>500</a:t>
            </a:r>
            <a:r>
              <a:rPr lang="en-US" altLang="en-US" sz="2800"/>
              <a:t> records.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Block size is </a:t>
            </a:r>
            <a:r>
              <a:rPr lang="en-US" altLang="en-US" sz="2800">
                <a:solidFill>
                  <a:schemeClr val="hlink"/>
                </a:solidFill>
              </a:rPr>
              <a:t>100</a:t>
            </a:r>
            <a:r>
              <a:rPr lang="en-US" altLang="en-US" sz="2800"/>
              <a:t> records.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solidFill>
                  <a:schemeClr val="hlink"/>
                </a:solidFill>
              </a:rPr>
              <a:t>t</a:t>
            </a:r>
            <a:r>
              <a:rPr lang="en-US" altLang="en-US" sz="2800" baseline="-25000">
                <a:solidFill>
                  <a:schemeClr val="hlink"/>
                </a:solidFill>
              </a:rPr>
              <a:t>IO</a:t>
            </a:r>
            <a:r>
              <a:rPr lang="en-US" altLang="en-US" sz="2800">
                <a:solidFill>
                  <a:schemeClr val="hlink"/>
                </a:solidFill>
              </a:rPr>
              <a:t> =</a:t>
            </a:r>
            <a:r>
              <a:rPr lang="en-US" altLang="en-US" sz="2800"/>
              <a:t> time to input/output </a:t>
            </a:r>
            <a:r>
              <a:rPr lang="en-US" altLang="en-US" sz="2800">
                <a:solidFill>
                  <a:schemeClr val="hlink"/>
                </a:solidFill>
              </a:rPr>
              <a:t>1</a:t>
            </a:r>
            <a:r>
              <a:rPr lang="en-US" altLang="en-US" sz="2800"/>
              <a:t> block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/>
              <a:t>(includes seek, latency, and transmission times)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solidFill>
                  <a:schemeClr val="hlink"/>
                </a:solidFill>
              </a:rPr>
              <a:t>t</a:t>
            </a:r>
            <a:r>
              <a:rPr lang="en-US" altLang="en-US" sz="2800" baseline="-25000">
                <a:solidFill>
                  <a:schemeClr val="hlink"/>
                </a:solidFill>
              </a:rPr>
              <a:t>IS</a:t>
            </a:r>
            <a:r>
              <a:rPr lang="en-US" altLang="en-US" sz="2800">
                <a:solidFill>
                  <a:schemeClr val="hlink"/>
                </a:solidFill>
              </a:rPr>
              <a:t> =</a:t>
            </a:r>
            <a:r>
              <a:rPr lang="en-US" altLang="en-US" sz="2800"/>
              <a:t> time to internally sort </a:t>
            </a:r>
            <a:r>
              <a:rPr lang="en-US" altLang="en-US" sz="2800">
                <a:solidFill>
                  <a:schemeClr val="hlink"/>
                </a:solidFill>
              </a:rPr>
              <a:t>1</a:t>
            </a:r>
            <a:r>
              <a:rPr lang="en-US" altLang="en-US" sz="2800"/>
              <a:t> memory load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solidFill>
                  <a:schemeClr val="hlink"/>
                </a:solidFill>
              </a:rPr>
              <a:t>t</a:t>
            </a:r>
            <a:r>
              <a:rPr lang="en-US" altLang="en-US" sz="2800" baseline="-25000">
                <a:solidFill>
                  <a:schemeClr val="hlink"/>
                </a:solidFill>
              </a:rPr>
              <a:t>IM</a:t>
            </a:r>
            <a:r>
              <a:rPr lang="en-US" altLang="en-US" sz="2800">
                <a:solidFill>
                  <a:schemeClr val="hlink"/>
                </a:solidFill>
              </a:rPr>
              <a:t> =</a:t>
            </a:r>
            <a:r>
              <a:rPr lang="en-US" altLang="en-US" sz="2800"/>
              <a:t> time to internally merge </a:t>
            </a:r>
            <a:r>
              <a:rPr lang="en-US" altLang="en-US" sz="2800">
                <a:solidFill>
                  <a:schemeClr val="hlink"/>
                </a:solidFill>
              </a:rPr>
              <a:t>1</a:t>
            </a:r>
            <a:r>
              <a:rPr lang="en-US" altLang="en-US" sz="2800"/>
              <a:t> block load</a:t>
            </a:r>
          </a:p>
          <a:p>
            <a:pPr>
              <a:lnSpc>
                <a:spcPct val="90000"/>
              </a:lnSpc>
            </a:pPr>
            <a:endParaRPr lang="en-US" altLang="en-US" sz="2800"/>
          </a:p>
        </p:txBody>
      </p:sp>
    </p:spTree>
    <p:extLst>
      <p:ext uri="{BB962C8B-B14F-4D97-AF65-F5344CB8AC3E}">
        <p14:creationId xmlns:p14="http://schemas.microsoft.com/office/powerpoint/2010/main" val="1456503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 build="p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External Merge Sort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981200"/>
            <a:ext cx="8610600" cy="2819400"/>
          </a:xfrm>
        </p:spPr>
        <p:txBody>
          <a:bodyPr/>
          <a:lstStyle/>
          <a:p>
            <a:r>
              <a:rPr lang="en-US" altLang="en-US" sz="3600"/>
              <a:t>Two phases.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3200"/>
              <a:t>Run generation.</a:t>
            </a:r>
          </a:p>
          <a:p>
            <a:pPr lvl="2">
              <a:buClr>
                <a:srgbClr val="FF66FF"/>
              </a:buClr>
              <a:buFont typeface="Wingdings" panose="05000000000000000000" pitchFamily="2" charset="2"/>
              <a:buChar char="Ø"/>
            </a:pPr>
            <a:r>
              <a:rPr lang="en-US" altLang="en-US" sz="2800"/>
              <a:t>A run is a sorted sequence of records.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3200"/>
              <a:t>Run merging.</a:t>
            </a:r>
          </a:p>
        </p:txBody>
      </p:sp>
    </p:spTree>
    <p:extLst>
      <p:ext uri="{BB962C8B-B14F-4D97-AF65-F5344CB8AC3E}">
        <p14:creationId xmlns:p14="http://schemas.microsoft.com/office/powerpoint/2010/main" val="2723813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 bldLvl="3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Run Generation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4648200"/>
            <a:ext cx="3810000" cy="2209800"/>
          </a:xfrm>
        </p:spPr>
        <p:txBody>
          <a:bodyPr/>
          <a:lstStyle/>
          <a:p>
            <a:r>
              <a:rPr lang="en-US" altLang="en-US" sz="2800"/>
              <a:t>Input 5 blocks.</a:t>
            </a:r>
          </a:p>
          <a:p>
            <a:r>
              <a:rPr lang="en-US" altLang="en-US" sz="2800"/>
              <a:t>Sort.</a:t>
            </a:r>
          </a:p>
          <a:p>
            <a:r>
              <a:rPr lang="en-US" altLang="en-US" sz="2800"/>
              <a:t>Output as a run.</a:t>
            </a:r>
          </a:p>
          <a:p>
            <a:r>
              <a:rPr lang="en-US" altLang="en-US" sz="2800"/>
              <a:t>Do 20 times.</a:t>
            </a:r>
          </a:p>
        </p:txBody>
      </p:sp>
      <p:sp>
        <p:nvSpPr>
          <p:cNvPr id="7066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876800" y="4800600"/>
            <a:ext cx="3810000" cy="2057400"/>
          </a:xfrm>
        </p:spPr>
        <p:txBody>
          <a:bodyPr/>
          <a:lstStyle/>
          <a:p>
            <a:pPr>
              <a:buClr>
                <a:schemeClr val="hlink"/>
              </a:buClr>
            </a:pPr>
            <a:r>
              <a:rPr lang="en-US" altLang="en-US" sz="2800">
                <a:solidFill>
                  <a:schemeClr val="hlink"/>
                </a:solidFill>
              </a:rPr>
              <a:t>5t</a:t>
            </a:r>
            <a:r>
              <a:rPr lang="en-US" altLang="en-US" sz="2800" baseline="-25000">
                <a:solidFill>
                  <a:schemeClr val="hlink"/>
                </a:solidFill>
              </a:rPr>
              <a:t>IO</a:t>
            </a:r>
            <a:endParaRPr lang="en-US" altLang="en-US" sz="2800"/>
          </a:p>
          <a:p>
            <a:pPr>
              <a:buClr>
                <a:schemeClr val="hlink"/>
              </a:buClr>
            </a:pPr>
            <a:r>
              <a:rPr lang="en-US" altLang="en-US" sz="2800">
                <a:solidFill>
                  <a:schemeClr val="hlink"/>
                </a:solidFill>
              </a:rPr>
              <a:t>t</a:t>
            </a:r>
            <a:r>
              <a:rPr lang="en-US" altLang="en-US" sz="2800" baseline="-25000">
                <a:solidFill>
                  <a:schemeClr val="hlink"/>
                </a:solidFill>
              </a:rPr>
              <a:t>IS</a:t>
            </a:r>
          </a:p>
          <a:p>
            <a:pPr>
              <a:buClr>
                <a:schemeClr val="hlink"/>
              </a:buClr>
            </a:pPr>
            <a:r>
              <a:rPr lang="en-US" altLang="en-US" sz="2800">
                <a:solidFill>
                  <a:schemeClr val="hlink"/>
                </a:solidFill>
              </a:rPr>
              <a:t>5t</a:t>
            </a:r>
            <a:r>
              <a:rPr lang="en-US" altLang="en-US" sz="2800" baseline="-25000">
                <a:solidFill>
                  <a:schemeClr val="hlink"/>
                </a:solidFill>
              </a:rPr>
              <a:t>IO</a:t>
            </a:r>
            <a:endParaRPr lang="en-US" altLang="en-US" sz="2800"/>
          </a:p>
          <a:p>
            <a:pPr>
              <a:buClr>
                <a:schemeClr val="hlink"/>
              </a:buClr>
            </a:pPr>
            <a:r>
              <a:rPr lang="en-US" altLang="en-US" sz="2800">
                <a:solidFill>
                  <a:schemeClr val="hlink"/>
                </a:solidFill>
              </a:rPr>
              <a:t>200t</a:t>
            </a:r>
            <a:r>
              <a:rPr lang="en-US" altLang="en-US" sz="2800" baseline="-25000">
                <a:solidFill>
                  <a:schemeClr val="hlink"/>
                </a:solidFill>
              </a:rPr>
              <a:t>IO </a:t>
            </a:r>
            <a:r>
              <a:rPr lang="en-US" altLang="en-US" sz="2800">
                <a:solidFill>
                  <a:schemeClr val="hlink"/>
                </a:solidFill>
              </a:rPr>
              <a:t>+ 20t</a:t>
            </a:r>
            <a:r>
              <a:rPr lang="en-US" altLang="en-US" sz="2800" baseline="-25000">
                <a:solidFill>
                  <a:schemeClr val="hlink"/>
                </a:solidFill>
              </a:rPr>
              <a:t>IS</a:t>
            </a:r>
            <a:endParaRPr lang="en-US" altLang="en-US" sz="2800"/>
          </a:p>
        </p:txBody>
      </p:sp>
      <p:grpSp>
        <p:nvGrpSpPr>
          <p:cNvPr id="70661" name="Group 5"/>
          <p:cNvGrpSpPr>
            <a:grpSpLocks/>
          </p:cNvGrpSpPr>
          <p:nvPr/>
        </p:nvGrpSpPr>
        <p:grpSpPr bwMode="auto">
          <a:xfrm>
            <a:off x="1447800" y="1219200"/>
            <a:ext cx="6400800" cy="3276600"/>
            <a:chOff x="1536" y="768"/>
            <a:chExt cx="4032" cy="2064"/>
          </a:xfrm>
        </p:grpSpPr>
        <p:sp>
          <p:nvSpPr>
            <p:cNvPr id="70662" name="Rectangle 6"/>
            <p:cNvSpPr>
              <a:spLocks noChangeArrowheads="1"/>
            </p:cNvSpPr>
            <p:nvPr/>
          </p:nvSpPr>
          <p:spPr bwMode="auto">
            <a:xfrm>
              <a:off x="1536" y="768"/>
              <a:ext cx="2016" cy="2016"/>
            </a:xfrm>
            <a:prstGeom prst="rect">
              <a:avLst/>
            </a:prstGeom>
            <a:solidFill>
              <a:srgbClr val="99FF33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0663" name="Oval 7"/>
            <p:cNvSpPr>
              <a:spLocks noChangeArrowheads="1"/>
            </p:cNvSpPr>
            <p:nvPr/>
          </p:nvSpPr>
          <p:spPr bwMode="auto">
            <a:xfrm>
              <a:off x="4608" y="1968"/>
              <a:ext cx="912" cy="86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0664" name="Text Box 8"/>
            <p:cNvSpPr txBox="1">
              <a:spLocks noChangeArrowheads="1"/>
            </p:cNvSpPr>
            <p:nvPr/>
          </p:nvSpPr>
          <p:spPr bwMode="auto">
            <a:xfrm>
              <a:off x="4800" y="2256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chemeClr val="tx2"/>
                  </a:solidFill>
                  <a:effectLst/>
                </a:rPr>
                <a:t>DISK</a:t>
              </a:r>
            </a:p>
          </p:txBody>
        </p:sp>
        <p:sp>
          <p:nvSpPr>
            <p:cNvPr id="70665" name="Line 9"/>
            <p:cNvSpPr>
              <a:spLocks noChangeShapeType="1"/>
            </p:cNvSpPr>
            <p:nvPr/>
          </p:nvSpPr>
          <p:spPr bwMode="auto">
            <a:xfrm>
              <a:off x="3552" y="2496"/>
              <a:ext cx="105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0666" name="Text Box 10"/>
            <p:cNvSpPr txBox="1">
              <a:spLocks noChangeArrowheads="1"/>
            </p:cNvSpPr>
            <p:nvPr/>
          </p:nvSpPr>
          <p:spPr bwMode="auto">
            <a:xfrm>
              <a:off x="2112" y="1680"/>
              <a:ext cx="10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chemeClr val="tx2"/>
                  </a:solidFill>
                  <a:effectLst/>
                </a:rPr>
                <a:t>MEMORY</a:t>
              </a:r>
            </a:p>
          </p:txBody>
        </p:sp>
      </p:grpSp>
      <p:sp>
        <p:nvSpPr>
          <p:cNvPr id="70667" name="Text Box 11"/>
          <p:cNvSpPr txBox="1">
            <a:spLocks noChangeArrowheads="1"/>
          </p:cNvSpPr>
          <p:nvPr/>
        </p:nvSpPr>
        <p:spPr bwMode="auto">
          <a:xfrm>
            <a:off x="2133600" y="3048000"/>
            <a:ext cx="2286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2"/>
                </a:solidFill>
                <a:effectLst/>
              </a:rPr>
              <a:t>500 records</a:t>
            </a:r>
          </a:p>
        </p:txBody>
      </p:sp>
      <p:sp>
        <p:nvSpPr>
          <p:cNvPr id="70668" name="Text Box 12"/>
          <p:cNvSpPr txBox="1">
            <a:spLocks noChangeArrowheads="1"/>
          </p:cNvSpPr>
          <p:nvPr/>
        </p:nvSpPr>
        <p:spPr bwMode="auto">
          <a:xfrm>
            <a:off x="6019800" y="1828800"/>
            <a:ext cx="3124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2"/>
                </a:solidFill>
                <a:effectLst/>
              </a:rPr>
              <a:t>10,000 records</a:t>
            </a:r>
          </a:p>
        </p:txBody>
      </p:sp>
      <p:sp>
        <p:nvSpPr>
          <p:cNvPr id="70669" name="Text Box 13"/>
          <p:cNvSpPr txBox="1">
            <a:spLocks noChangeArrowheads="1"/>
          </p:cNvSpPr>
          <p:nvPr/>
        </p:nvSpPr>
        <p:spPr bwMode="auto">
          <a:xfrm>
            <a:off x="2209800" y="3581400"/>
            <a:ext cx="1752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2"/>
                </a:solidFill>
                <a:effectLst/>
              </a:rPr>
              <a:t>5 blocks</a:t>
            </a:r>
          </a:p>
        </p:txBody>
      </p:sp>
      <p:sp>
        <p:nvSpPr>
          <p:cNvPr id="70670" name="Text Box 14"/>
          <p:cNvSpPr txBox="1">
            <a:spLocks noChangeArrowheads="1"/>
          </p:cNvSpPr>
          <p:nvPr/>
        </p:nvSpPr>
        <p:spPr bwMode="auto">
          <a:xfrm>
            <a:off x="6324600" y="2438400"/>
            <a:ext cx="2133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2"/>
                </a:solidFill>
                <a:effectLst/>
              </a:rPr>
              <a:t>100 blocks</a:t>
            </a:r>
          </a:p>
        </p:txBody>
      </p:sp>
    </p:spTree>
    <p:extLst>
      <p:ext uri="{BB962C8B-B14F-4D97-AF65-F5344CB8AC3E}">
        <p14:creationId xmlns:p14="http://schemas.microsoft.com/office/powerpoint/2010/main" val="86082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0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0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06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06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0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0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0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0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06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06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06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06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06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06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06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06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build="p" bldLvl="2" autoUpdateAnimBg="0"/>
      <p:bldP spid="70660" grpId="0" build="p" bldLvl="3" autoUpdateAnimBg="0"/>
      <p:bldP spid="70667" grpId="0" autoUpdateAnimBg="0"/>
      <p:bldP spid="70668" grpId="0" autoUpdateAnimBg="0"/>
      <p:bldP spid="70669" grpId="0" autoUpdateAnimBg="0"/>
      <p:bldP spid="70670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Merge 20 Runs</a:t>
            </a:r>
          </a:p>
        </p:txBody>
      </p:sp>
      <p:grpSp>
        <p:nvGrpSpPr>
          <p:cNvPr id="72707" name="Group 3"/>
          <p:cNvGrpSpPr>
            <a:grpSpLocks/>
          </p:cNvGrpSpPr>
          <p:nvPr/>
        </p:nvGrpSpPr>
        <p:grpSpPr bwMode="auto">
          <a:xfrm>
            <a:off x="0" y="1447800"/>
            <a:ext cx="9220200" cy="396875"/>
            <a:chOff x="0" y="912"/>
            <a:chExt cx="5808" cy="250"/>
          </a:xfrm>
        </p:grpSpPr>
        <p:sp>
          <p:nvSpPr>
            <p:cNvPr id="72708" name="Text Box 4"/>
            <p:cNvSpPr txBox="1">
              <a:spLocks noChangeArrowheads="1"/>
            </p:cNvSpPr>
            <p:nvPr/>
          </p:nvSpPr>
          <p:spPr bwMode="auto">
            <a:xfrm>
              <a:off x="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R1</a:t>
              </a:r>
            </a:p>
          </p:txBody>
        </p:sp>
        <p:sp>
          <p:nvSpPr>
            <p:cNvPr id="72709" name="Text Box 5"/>
            <p:cNvSpPr txBox="1">
              <a:spLocks noChangeArrowheads="1"/>
            </p:cNvSpPr>
            <p:nvPr/>
          </p:nvSpPr>
          <p:spPr bwMode="auto">
            <a:xfrm>
              <a:off x="24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R2</a:t>
              </a:r>
            </a:p>
          </p:txBody>
        </p:sp>
        <p:sp>
          <p:nvSpPr>
            <p:cNvPr id="72710" name="Text Box 6"/>
            <p:cNvSpPr txBox="1">
              <a:spLocks noChangeArrowheads="1"/>
            </p:cNvSpPr>
            <p:nvPr/>
          </p:nvSpPr>
          <p:spPr bwMode="auto">
            <a:xfrm>
              <a:off x="48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R3</a:t>
              </a:r>
            </a:p>
          </p:txBody>
        </p:sp>
        <p:sp>
          <p:nvSpPr>
            <p:cNvPr id="72711" name="Text Box 7"/>
            <p:cNvSpPr txBox="1">
              <a:spLocks noChangeArrowheads="1"/>
            </p:cNvSpPr>
            <p:nvPr/>
          </p:nvSpPr>
          <p:spPr bwMode="auto">
            <a:xfrm>
              <a:off x="72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R4</a:t>
              </a:r>
            </a:p>
          </p:txBody>
        </p:sp>
        <p:sp>
          <p:nvSpPr>
            <p:cNvPr id="72712" name="Text Box 8"/>
            <p:cNvSpPr txBox="1">
              <a:spLocks noChangeArrowheads="1"/>
            </p:cNvSpPr>
            <p:nvPr/>
          </p:nvSpPr>
          <p:spPr bwMode="auto">
            <a:xfrm>
              <a:off x="96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R5</a:t>
              </a:r>
            </a:p>
          </p:txBody>
        </p:sp>
        <p:sp>
          <p:nvSpPr>
            <p:cNvPr id="72713" name="Text Box 9"/>
            <p:cNvSpPr txBox="1">
              <a:spLocks noChangeArrowheads="1"/>
            </p:cNvSpPr>
            <p:nvPr/>
          </p:nvSpPr>
          <p:spPr bwMode="auto">
            <a:xfrm>
              <a:off x="120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R6</a:t>
              </a:r>
            </a:p>
          </p:txBody>
        </p:sp>
        <p:sp>
          <p:nvSpPr>
            <p:cNvPr id="72714" name="Text Box 10"/>
            <p:cNvSpPr txBox="1">
              <a:spLocks noChangeArrowheads="1"/>
            </p:cNvSpPr>
            <p:nvPr/>
          </p:nvSpPr>
          <p:spPr bwMode="auto">
            <a:xfrm>
              <a:off x="144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R7</a:t>
              </a:r>
            </a:p>
          </p:txBody>
        </p:sp>
        <p:sp>
          <p:nvSpPr>
            <p:cNvPr id="72715" name="Text Box 11"/>
            <p:cNvSpPr txBox="1">
              <a:spLocks noChangeArrowheads="1"/>
            </p:cNvSpPr>
            <p:nvPr/>
          </p:nvSpPr>
          <p:spPr bwMode="auto">
            <a:xfrm>
              <a:off x="168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R8</a:t>
              </a:r>
            </a:p>
          </p:txBody>
        </p:sp>
        <p:sp>
          <p:nvSpPr>
            <p:cNvPr id="72716" name="Text Box 12"/>
            <p:cNvSpPr txBox="1">
              <a:spLocks noChangeArrowheads="1"/>
            </p:cNvSpPr>
            <p:nvPr/>
          </p:nvSpPr>
          <p:spPr bwMode="auto">
            <a:xfrm>
              <a:off x="192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R9</a:t>
              </a:r>
            </a:p>
          </p:txBody>
        </p:sp>
        <p:sp>
          <p:nvSpPr>
            <p:cNvPr id="72717" name="Text Box 13"/>
            <p:cNvSpPr txBox="1">
              <a:spLocks noChangeArrowheads="1"/>
            </p:cNvSpPr>
            <p:nvPr/>
          </p:nvSpPr>
          <p:spPr bwMode="auto">
            <a:xfrm>
              <a:off x="216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R10</a:t>
              </a:r>
            </a:p>
          </p:txBody>
        </p:sp>
        <p:sp>
          <p:nvSpPr>
            <p:cNvPr id="72718" name="Text Box 14"/>
            <p:cNvSpPr txBox="1">
              <a:spLocks noChangeArrowheads="1"/>
            </p:cNvSpPr>
            <p:nvPr/>
          </p:nvSpPr>
          <p:spPr bwMode="auto">
            <a:xfrm>
              <a:off x="2448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R11</a:t>
              </a:r>
            </a:p>
          </p:txBody>
        </p:sp>
        <p:sp>
          <p:nvSpPr>
            <p:cNvPr id="72719" name="Text Box 15"/>
            <p:cNvSpPr txBox="1">
              <a:spLocks noChangeArrowheads="1"/>
            </p:cNvSpPr>
            <p:nvPr/>
          </p:nvSpPr>
          <p:spPr bwMode="auto">
            <a:xfrm>
              <a:off x="2784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R12</a:t>
              </a:r>
            </a:p>
          </p:txBody>
        </p:sp>
        <p:sp>
          <p:nvSpPr>
            <p:cNvPr id="72720" name="Text Box 16"/>
            <p:cNvSpPr txBox="1">
              <a:spLocks noChangeArrowheads="1"/>
            </p:cNvSpPr>
            <p:nvPr/>
          </p:nvSpPr>
          <p:spPr bwMode="auto">
            <a:xfrm>
              <a:off x="3168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R13</a:t>
              </a:r>
            </a:p>
          </p:txBody>
        </p:sp>
        <p:sp>
          <p:nvSpPr>
            <p:cNvPr id="72721" name="Text Box 17"/>
            <p:cNvSpPr txBox="1">
              <a:spLocks noChangeArrowheads="1"/>
            </p:cNvSpPr>
            <p:nvPr/>
          </p:nvSpPr>
          <p:spPr bwMode="auto">
            <a:xfrm>
              <a:off x="3456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R14</a:t>
              </a:r>
            </a:p>
          </p:txBody>
        </p:sp>
        <p:sp>
          <p:nvSpPr>
            <p:cNvPr id="72722" name="Text Box 18"/>
            <p:cNvSpPr txBox="1">
              <a:spLocks noChangeArrowheads="1"/>
            </p:cNvSpPr>
            <p:nvPr/>
          </p:nvSpPr>
          <p:spPr bwMode="auto">
            <a:xfrm>
              <a:off x="384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R15</a:t>
              </a:r>
            </a:p>
          </p:txBody>
        </p:sp>
        <p:sp>
          <p:nvSpPr>
            <p:cNvPr id="72723" name="Text Box 19"/>
            <p:cNvSpPr txBox="1">
              <a:spLocks noChangeArrowheads="1"/>
            </p:cNvSpPr>
            <p:nvPr/>
          </p:nvSpPr>
          <p:spPr bwMode="auto">
            <a:xfrm>
              <a:off x="4224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R16</a:t>
              </a:r>
            </a:p>
          </p:txBody>
        </p:sp>
        <p:sp>
          <p:nvSpPr>
            <p:cNvPr id="72724" name="Text Box 20"/>
            <p:cNvSpPr txBox="1">
              <a:spLocks noChangeArrowheads="1"/>
            </p:cNvSpPr>
            <p:nvPr/>
          </p:nvSpPr>
          <p:spPr bwMode="auto">
            <a:xfrm>
              <a:off x="4512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R17</a:t>
              </a:r>
            </a:p>
          </p:txBody>
        </p:sp>
        <p:sp>
          <p:nvSpPr>
            <p:cNvPr id="72725" name="Text Box 21"/>
            <p:cNvSpPr txBox="1">
              <a:spLocks noChangeArrowheads="1"/>
            </p:cNvSpPr>
            <p:nvPr/>
          </p:nvSpPr>
          <p:spPr bwMode="auto">
            <a:xfrm>
              <a:off x="480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R18</a:t>
              </a:r>
            </a:p>
          </p:txBody>
        </p:sp>
        <p:sp>
          <p:nvSpPr>
            <p:cNvPr id="72726" name="Text Box 22"/>
            <p:cNvSpPr txBox="1">
              <a:spLocks noChangeArrowheads="1"/>
            </p:cNvSpPr>
            <p:nvPr/>
          </p:nvSpPr>
          <p:spPr bwMode="auto">
            <a:xfrm>
              <a:off x="5088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R19</a:t>
              </a:r>
            </a:p>
          </p:txBody>
        </p:sp>
        <p:sp>
          <p:nvSpPr>
            <p:cNvPr id="72727" name="Text Box 23"/>
            <p:cNvSpPr txBox="1">
              <a:spLocks noChangeArrowheads="1"/>
            </p:cNvSpPr>
            <p:nvPr/>
          </p:nvSpPr>
          <p:spPr bwMode="auto">
            <a:xfrm>
              <a:off x="5424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R20</a:t>
              </a:r>
            </a:p>
          </p:txBody>
        </p:sp>
      </p:grpSp>
      <p:grpSp>
        <p:nvGrpSpPr>
          <p:cNvPr id="72728" name="Group 24"/>
          <p:cNvGrpSpPr>
            <a:grpSpLocks/>
          </p:cNvGrpSpPr>
          <p:nvPr/>
        </p:nvGrpSpPr>
        <p:grpSpPr bwMode="auto">
          <a:xfrm>
            <a:off x="152400" y="2133600"/>
            <a:ext cx="8991600" cy="533400"/>
            <a:chOff x="96" y="1296"/>
            <a:chExt cx="5664" cy="336"/>
          </a:xfrm>
        </p:grpSpPr>
        <p:sp>
          <p:nvSpPr>
            <p:cNvPr id="72729" name="Text Box 25"/>
            <p:cNvSpPr txBox="1">
              <a:spLocks noChangeArrowheads="1"/>
            </p:cNvSpPr>
            <p:nvPr/>
          </p:nvSpPr>
          <p:spPr bwMode="auto">
            <a:xfrm>
              <a:off x="96" y="13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effectLst/>
                </a:rPr>
                <a:t>S1</a:t>
              </a:r>
            </a:p>
          </p:txBody>
        </p:sp>
        <p:sp>
          <p:nvSpPr>
            <p:cNvPr id="72730" name="Text Box 26"/>
            <p:cNvSpPr txBox="1">
              <a:spLocks noChangeArrowheads="1"/>
            </p:cNvSpPr>
            <p:nvPr/>
          </p:nvSpPr>
          <p:spPr bwMode="auto">
            <a:xfrm>
              <a:off x="576" y="13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effectLst/>
                </a:rPr>
                <a:t>S2</a:t>
              </a:r>
            </a:p>
          </p:txBody>
        </p:sp>
        <p:sp>
          <p:nvSpPr>
            <p:cNvPr id="72731" name="Text Box 27"/>
            <p:cNvSpPr txBox="1">
              <a:spLocks noChangeArrowheads="1"/>
            </p:cNvSpPr>
            <p:nvPr/>
          </p:nvSpPr>
          <p:spPr bwMode="auto">
            <a:xfrm>
              <a:off x="1056" y="13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effectLst/>
                </a:rPr>
                <a:t>S3</a:t>
              </a:r>
            </a:p>
          </p:txBody>
        </p:sp>
        <p:sp>
          <p:nvSpPr>
            <p:cNvPr id="72732" name="Text Box 28"/>
            <p:cNvSpPr txBox="1">
              <a:spLocks noChangeArrowheads="1"/>
            </p:cNvSpPr>
            <p:nvPr/>
          </p:nvSpPr>
          <p:spPr bwMode="auto">
            <a:xfrm>
              <a:off x="1536" y="13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effectLst/>
                </a:rPr>
                <a:t>S4</a:t>
              </a:r>
            </a:p>
          </p:txBody>
        </p:sp>
        <p:sp>
          <p:nvSpPr>
            <p:cNvPr id="72733" name="Text Box 29"/>
            <p:cNvSpPr txBox="1">
              <a:spLocks noChangeArrowheads="1"/>
            </p:cNvSpPr>
            <p:nvPr/>
          </p:nvSpPr>
          <p:spPr bwMode="auto">
            <a:xfrm>
              <a:off x="2016" y="13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effectLst/>
                </a:rPr>
                <a:t>S5</a:t>
              </a:r>
            </a:p>
          </p:txBody>
        </p:sp>
        <p:sp>
          <p:nvSpPr>
            <p:cNvPr id="72734" name="Text Box 30"/>
            <p:cNvSpPr txBox="1">
              <a:spLocks noChangeArrowheads="1"/>
            </p:cNvSpPr>
            <p:nvPr/>
          </p:nvSpPr>
          <p:spPr bwMode="auto">
            <a:xfrm>
              <a:off x="2640" y="13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effectLst/>
                </a:rPr>
                <a:t>S6</a:t>
              </a:r>
            </a:p>
          </p:txBody>
        </p:sp>
        <p:sp>
          <p:nvSpPr>
            <p:cNvPr id="72735" name="Text Box 31"/>
            <p:cNvSpPr txBox="1">
              <a:spLocks noChangeArrowheads="1"/>
            </p:cNvSpPr>
            <p:nvPr/>
          </p:nvSpPr>
          <p:spPr bwMode="auto">
            <a:xfrm>
              <a:off x="3312" y="13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effectLst/>
                </a:rPr>
                <a:t>S7</a:t>
              </a:r>
            </a:p>
          </p:txBody>
        </p:sp>
        <p:sp>
          <p:nvSpPr>
            <p:cNvPr id="72736" name="Text Box 32"/>
            <p:cNvSpPr txBox="1">
              <a:spLocks noChangeArrowheads="1"/>
            </p:cNvSpPr>
            <p:nvPr/>
          </p:nvSpPr>
          <p:spPr bwMode="auto">
            <a:xfrm>
              <a:off x="4080" y="13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effectLst/>
                </a:rPr>
                <a:t>S8</a:t>
              </a:r>
            </a:p>
          </p:txBody>
        </p:sp>
        <p:sp>
          <p:nvSpPr>
            <p:cNvPr id="72737" name="Text Box 33"/>
            <p:cNvSpPr txBox="1">
              <a:spLocks noChangeArrowheads="1"/>
            </p:cNvSpPr>
            <p:nvPr/>
          </p:nvSpPr>
          <p:spPr bwMode="auto">
            <a:xfrm>
              <a:off x="4704" y="13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effectLst/>
                </a:rPr>
                <a:t>S9</a:t>
              </a:r>
            </a:p>
          </p:txBody>
        </p:sp>
        <p:sp>
          <p:nvSpPr>
            <p:cNvPr id="72738" name="Text Box 34"/>
            <p:cNvSpPr txBox="1">
              <a:spLocks noChangeArrowheads="1"/>
            </p:cNvSpPr>
            <p:nvPr/>
          </p:nvSpPr>
          <p:spPr bwMode="auto">
            <a:xfrm>
              <a:off x="5280" y="1296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effectLst/>
                </a:rPr>
                <a:t>S10</a:t>
              </a:r>
            </a:p>
          </p:txBody>
        </p:sp>
      </p:grpSp>
      <p:grpSp>
        <p:nvGrpSpPr>
          <p:cNvPr id="72739" name="Group 35"/>
          <p:cNvGrpSpPr>
            <a:grpSpLocks/>
          </p:cNvGrpSpPr>
          <p:nvPr/>
        </p:nvGrpSpPr>
        <p:grpSpPr bwMode="auto">
          <a:xfrm>
            <a:off x="228600" y="1752600"/>
            <a:ext cx="8686800" cy="533400"/>
            <a:chOff x="144" y="1104"/>
            <a:chExt cx="5472" cy="336"/>
          </a:xfrm>
        </p:grpSpPr>
        <p:sp>
          <p:nvSpPr>
            <p:cNvPr id="72740" name="Line 36"/>
            <p:cNvSpPr>
              <a:spLocks noChangeShapeType="1"/>
            </p:cNvSpPr>
            <p:nvPr/>
          </p:nvSpPr>
          <p:spPr bwMode="auto">
            <a:xfrm>
              <a:off x="144" y="1104"/>
              <a:ext cx="96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41" name="Line 37"/>
            <p:cNvSpPr>
              <a:spLocks noChangeShapeType="1"/>
            </p:cNvSpPr>
            <p:nvPr/>
          </p:nvSpPr>
          <p:spPr bwMode="auto">
            <a:xfrm>
              <a:off x="672" y="1104"/>
              <a:ext cx="96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42" name="Line 38"/>
            <p:cNvSpPr>
              <a:spLocks noChangeShapeType="1"/>
            </p:cNvSpPr>
            <p:nvPr/>
          </p:nvSpPr>
          <p:spPr bwMode="auto">
            <a:xfrm>
              <a:off x="1104" y="1104"/>
              <a:ext cx="96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43" name="Line 39"/>
            <p:cNvSpPr>
              <a:spLocks noChangeShapeType="1"/>
            </p:cNvSpPr>
            <p:nvPr/>
          </p:nvSpPr>
          <p:spPr bwMode="auto">
            <a:xfrm>
              <a:off x="1584" y="1104"/>
              <a:ext cx="96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44" name="Line 40"/>
            <p:cNvSpPr>
              <a:spLocks noChangeShapeType="1"/>
            </p:cNvSpPr>
            <p:nvPr/>
          </p:nvSpPr>
          <p:spPr bwMode="auto">
            <a:xfrm>
              <a:off x="2064" y="1104"/>
              <a:ext cx="96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45" name="Line 41"/>
            <p:cNvSpPr>
              <a:spLocks noChangeShapeType="1"/>
            </p:cNvSpPr>
            <p:nvPr/>
          </p:nvSpPr>
          <p:spPr bwMode="auto">
            <a:xfrm>
              <a:off x="2688" y="1104"/>
              <a:ext cx="96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46" name="Line 42"/>
            <p:cNvSpPr>
              <a:spLocks noChangeShapeType="1"/>
            </p:cNvSpPr>
            <p:nvPr/>
          </p:nvSpPr>
          <p:spPr bwMode="auto">
            <a:xfrm>
              <a:off x="3312" y="1104"/>
              <a:ext cx="96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47" name="Line 43"/>
            <p:cNvSpPr>
              <a:spLocks noChangeShapeType="1"/>
            </p:cNvSpPr>
            <p:nvPr/>
          </p:nvSpPr>
          <p:spPr bwMode="auto">
            <a:xfrm>
              <a:off x="4080" y="1104"/>
              <a:ext cx="96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48" name="Line 44"/>
            <p:cNvSpPr>
              <a:spLocks noChangeShapeType="1"/>
            </p:cNvSpPr>
            <p:nvPr/>
          </p:nvSpPr>
          <p:spPr bwMode="auto">
            <a:xfrm>
              <a:off x="4800" y="1104"/>
              <a:ext cx="96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49" name="Line 45"/>
            <p:cNvSpPr>
              <a:spLocks noChangeShapeType="1"/>
            </p:cNvSpPr>
            <p:nvPr/>
          </p:nvSpPr>
          <p:spPr bwMode="auto">
            <a:xfrm>
              <a:off x="5328" y="1104"/>
              <a:ext cx="96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50" name="Line 46"/>
            <p:cNvSpPr>
              <a:spLocks noChangeShapeType="1"/>
            </p:cNvSpPr>
            <p:nvPr/>
          </p:nvSpPr>
          <p:spPr bwMode="auto">
            <a:xfrm flipH="1">
              <a:off x="288" y="1104"/>
              <a:ext cx="144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51" name="Line 47"/>
            <p:cNvSpPr>
              <a:spLocks noChangeShapeType="1"/>
            </p:cNvSpPr>
            <p:nvPr/>
          </p:nvSpPr>
          <p:spPr bwMode="auto">
            <a:xfrm flipH="1">
              <a:off x="768" y="1104"/>
              <a:ext cx="144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52" name="Line 48"/>
            <p:cNvSpPr>
              <a:spLocks noChangeShapeType="1"/>
            </p:cNvSpPr>
            <p:nvPr/>
          </p:nvSpPr>
          <p:spPr bwMode="auto">
            <a:xfrm flipH="1">
              <a:off x="1200" y="1104"/>
              <a:ext cx="192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53" name="Line 49"/>
            <p:cNvSpPr>
              <a:spLocks noChangeShapeType="1"/>
            </p:cNvSpPr>
            <p:nvPr/>
          </p:nvSpPr>
          <p:spPr bwMode="auto">
            <a:xfrm flipH="1">
              <a:off x="1680" y="1104"/>
              <a:ext cx="192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54" name="Line 50"/>
            <p:cNvSpPr>
              <a:spLocks noChangeShapeType="1"/>
            </p:cNvSpPr>
            <p:nvPr/>
          </p:nvSpPr>
          <p:spPr bwMode="auto">
            <a:xfrm flipH="1">
              <a:off x="2160" y="1104"/>
              <a:ext cx="192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55" name="Line 51"/>
            <p:cNvSpPr>
              <a:spLocks noChangeShapeType="1"/>
            </p:cNvSpPr>
            <p:nvPr/>
          </p:nvSpPr>
          <p:spPr bwMode="auto">
            <a:xfrm flipH="1">
              <a:off x="2784" y="1104"/>
              <a:ext cx="192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56" name="Line 52"/>
            <p:cNvSpPr>
              <a:spLocks noChangeShapeType="1"/>
            </p:cNvSpPr>
            <p:nvPr/>
          </p:nvSpPr>
          <p:spPr bwMode="auto">
            <a:xfrm flipH="1">
              <a:off x="3408" y="1104"/>
              <a:ext cx="192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57" name="Line 53"/>
            <p:cNvSpPr>
              <a:spLocks noChangeShapeType="1"/>
            </p:cNvSpPr>
            <p:nvPr/>
          </p:nvSpPr>
          <p:spPr bwMode="auto">
            <a:xfrm flipH="1">
              <a:off x="4176" y="1104"/>
              <a:ext cx="192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58" name="Line 54"/>
            <p:cNvSpPr>
              <a:spLocks noChangeShapeType="1"/>
            </p:cNvSpPr>
            <p:nvPr/>
          </p:nvSpPr>
          <p:spPr bwMode="auto">
            <a:xfrm flipH="1">
              <a:off x="4896" y="1104"/>
              <a:ext cx="192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59" name="Line 55"/>
            <p:cNvSpPr>
              <a:spLocks noChangeShapeType="1"/>
            </p:cNvSpPr>
            <p:nvPr/>
          </p:nvSpPr>
          <p:spPr bwMode="auto">
            <a:xfrm flipH="1">
              <a:off x="5424" y="1104"/>
              <a:ext cx="192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2760" name="Group 56"/>
          <p:cNvGrpSpPr>
            <a:grpSpLocks/>
          </p:cNvGrpSpPr>
          <p:nvPr/>
        </p:nvGrpSpPr>
        <p:grpSpPr bwMode="auto">
          <a:xfrm>
            <a:off x="457200" y="3048000"/>
            <a:ext cx="8001000" cy="533400"/>
            <a:chOff x="288" y="1920"/>
            <a:chExt cx="5040" cy="336"/>
          </a:xfrm>
        </p:grpSpPr>
        <p:sp>
          <p:nvSpPr>
            <p:cNvPr id="72761" name="Text Box 57"/>
            <p:cNvSpPr txBox="1">
              <a:spLocks noChangeArrowheads="1"/>
            </p:cNvSpPr>
            <p:nvPr/>
          </p:nvSpPr>
          <p:spPr bwMode="auto">
            <a:xfrm>
              <a:off x="288" y="196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chemeClr val="bg1"/>
                  </a:solidFill>
                  <a:effectLst/>
                </a:rPr>
                <a:t>T1</a:t>
              </a:r>
            </a:p>
          </p:txBody>
        </p:sp>
        <p:sp>
          <p:nvSpPr>
            <p:cNvPr id="72762" name="Text Box 58"/>
            <p:cNvSpPr txBox="1">
              <a:spLocks noChangeArrowheads="1"/>
            </p:cNvSpPr>
            <p:nvPr/>
          </p:nvSpPr>
          <p:spPr bwMode="auto">
            <a:xfrm>
              <a:off x="1296" y="196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chemeClr val="bg1"/>
                  </a:solidFill>
                  <a:effectLst/>
                </a:rPr>
                <a:t>T2</a:t>
              </a:r>
            </a:p>
          </p:txBody>
        </p:sp>
        <p:sp>
          <p:nvSpPr>
            <p:cNvPr id="72763" name="Text Box 59"/>
            <p:cNvSpPr txBox="1">
              <a:spLocks noChangeArrowheads="1"/>
            </p:cNvSpPr>
            <p:nvPr/>
          </p:nvSpPr>
          <p:spPr bwMode="auto">
            <a:xfrm>
              <a:off x="2304" y="196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chemeClr val="bg1"/>
                  </a:solidFill>
                  <a:effectLst/>
                </a:rPr>
                <a:t>T3</a:t>
              </a:r>
            </a:p>
          </p:txBody>
        </p:sp>
        <p:sp>
          <p:nvSpPr>
            <p:cNvPr id="72764" name="Text Box 60"/>
            <p:cNvSpPr txBox="1">
              <a:spLocks noChangeArrowheads="1"/>
            </p:cNvSpPr>
            <p:nvPr/>
          </p:nvSpPr>
          <p:spPr bwMode="auto">
            <a:xfrm>
              <a:off x="3648" y="1920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chemeClr val="bg1"/>
                  </a:solidFill>
                  <a:effectLst/>
                </a:rPr>
                <a:t>T4</a:t>
              </a:r>
            </a:p>
          </p:txBody>
        </p:sp>
        <p:sp>
          <p:nvSpPr>
            <p:cNvPr id="72765" name="Text Box 61"/>
            <p:cNvSpPr txBox="1">
              <a:spLocks noChangeArrowheads="1"/>
            </p:cNvSpPr>
            <p:nvPr/>
          </p:nvSpPr>
          <p:spPr bwMode="auto">
            <a:xfrm>
              <a:off x="4944" y="1920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chemeClr val="bg1"/>
                  </a:solidFill>
                  <a:effectLst/>
                </a:rPr>
                <a:t>T5</a:t>
              </a:r>
            </a:p>
          </p:txBody>
        </p:sp>
      </p:grpSp>
      <p:grpSp>
        <p:nvGrpSpPr>
          <p:cNvPr id="72766" name="Group 62"/>
          <p:cNvGrpSpPr>
            <a:grpSpLocks/>
          </p:cNvGrpSpPr>
          <p:nvPr/>
        </p:nvGrpSpPr>
        <p:grpSpPr bwMode="auto">
          <a:xfrm>
            <a:off x="381000" y="2514600"/>
            <a:ext cx="8305800" cy="685800"/>
            <a:chOff x="240" y="1584"/>
            <a:chExt cx="5232" cy="432"/>
          </a:xfrm>
        </p:grpSpPr>
        <p:sp>
          <p:nvSpPr>
            <p:cNvPr id="72767" name="Line 63"/>
            <p:cNvSpPr>
              <a:spLocks noChangeShapeType="1"/>
            </p:cNvSpPr>
            <p:nvPr/>
          </p:nvSpPr>
          <p:spPr bwMode="auto">
            <a:xfrm>
              <a:off x="240" y="1632"/>
              <a:ext cx="192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68" name="Line 64"/>
            <p:cNvSpPr>
              <a:spLocks noChangeShapeType="1"/>
            </p:cNvSpPr>
            <p:nvPr/>
          </p:nvSpPr>
          <p:spPr bwMode="auto">
            <a:xfrm>
              <a:off x="1248" y="1632"/>
              <a:ext cx="192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69" name="Line 65"/>
            <p:cNvSpPr>
              <a:spLocks noChangeShapeType="1"/>
            </p:cNvSpPr>
            <p:nvPr/>
          </p:nvSpPr>
          <p:spPr bwMode="auto">
            <a:xfrm>
              <a:off x="2256" y="1632"/>
              <a:ext cx="192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70" name="Line 66"/>
            <p:cNvSpPr>
              <a:spLocks noChangeShapeType="1"/>
            </p:cNvSpPr>
            <p:nvPr/>
          </p:nvSpPr>
          <p:spPr bwMode="auto">
            <a:xfrm>
              <a:off x="3552" y="1584"/>
              <a:ext cx="192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71" name="Line 67"/>
            <p:cNvSpPr>
              <a:spLocks noChangeShapeType="1"/>
            </p:cNvSpPr>
            <p:nvPr/>
          </p:nvSpPr>
          <p:spPr bwMode="auto">
            <a:xfrm>
              <a:off x="4896" y="1584"/>
              <a:ext cx="192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72" name="Line 68"/>
            <p:cNvSpPr>
              <a:spLocks noChangeShapeType="1"/>
            </p:cNvSpPr>
            <p:nvPr/>
          </p:nvSpPr>
          <p:spPr bwMode="auto">
            <a:xfrm flipH="1">
              <a:off x="432" y="1632"/>
              <a:ext cx="336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73" name="Line 69"/>
            <p:cNvSpPr>
              <a:spLocks noChangeShapeType="1"/>
            </p:cNvSpPr>
            <p:nvPr/>
          </p:nvSpPr>
          <p:spPr bwMode="auto">
            <a:xfrm flipH="1">
              <a:off x="1440" y="1632"/>
              <a:ext cx="336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74" name="Line 70"/>
            <p:cNvSpPr>
              <a:spLocks noChangeShapeType="1"/>
            </p:cNvSpPr>
            <p:nvPr/>
          </p:nvSpPr>
          <p:spPr bwMode="auto">
            <a:xfrm flipH="1">
              <a:off x="2448" y="1632"/>
              <a:ext cx="336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75" name="Line 71"/>
            <p:cNvSpPr>
              <a:spLocks noChangeShapeType="1"/>
            </p:cNvSpPr>
            <p:nvPr/>
          </p:nvSpPr>
          <p:spPr bwMode="auto">
            <a:xfrm flipH="1">
              <a:off x="3840" y="1584"/>
              <a:ext cx="336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76" name="Line 72"/>
            <p:cNvSpPr>
              <a:spLocks noChangeShapeType="1"/>
            </p:cNvSpPr>
            <p:nvPr/>
          </p:nvSpPr>
          <p:spPr bwMode="auto">
            <a:xfrm flipH="1">
              <a:off x="5136" y="1584"/>
              <a:ext cx="336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2777" name="Group 73"/>
          <p:cNvGrpSpPr>
            <a:grpSpLocks/>
          </p:cNvGrpSpPr>
          <p:nvPr/>
        </p:nvGrpSpPr>
        <p:grpSpPr bwMode="auto">
          <a:xfrm>
            <a:off x="1219200" y="4038600"/>
            <a:ext cx="7315200" cy="609600"/>
            <a:chOff x="768" y="2544"/>
            <a:chExt cx="4608" cy="384"/>
          </a:xfrm>
        </p:grpSpPr>
        <p:sp>
          <p:nvSpPr>
            <p:cNvPr id="72778" name="Text Box 74"/>
            <p:cNvSpPr txBox="1">
              <a:spLocks noChangeArrowheads="1"/>
            </p:cNvSpPr>
            <p:nvPr/>
          </p:nvSpPr>
          <p:spPr bwMode="auto">
            <a:xfrm>
              <a:off x="768" y="2640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effectLst/>
                </a:rPr>
                <a:t>U1</a:t>
              </a:r>
            </a:p>
          </p:txBody>
        </p:sp>
        <p:sp>
          <p:nvSpPr>
            <p:cNvPr id="72779" name="Text Box 75"/>
            <p:cNvSpPr txBox="1">
              <a:spLocks noChangeArrowheads="1"/>
            </p:cNvSpPr>
            <p:nvPr/>
          </p:nvSpPr>
          <p:spPr bwMode="auto">
            <a:xfrm>
              <a:off x="3024" y="2592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effectLst/>
                </a:rPr>
                <a:t>U2</a:t>
              </a:r>
            </a:p>
          </p:txBody>
        </p:sp>
        <p:sp>
          <p:nvSpPr>
            <p:cNvPr id="72780" name="Text Box 76"/>
            <p:cNvSpPr txBox="1">
              <a:spLocks noChangeArrowheads="1"/>
            </p:cNvSpPr>
            <p:nvPr/>
          </p:nvSpPr>
          <p:spPr bwMode="auto">
            <a:xfrm>
              <a:off x="4992" y="25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effectLst/>
                </a:rPr>
                <a:t>U3</a:t>
              </a:r>
            </a:p>
          </p:txBody>
        </p:sp>
      </p:grpSp>
      <p:grpSp>
        <p:nvGrpSpPr>
          <p:cNvPr id="72781" name="Group 77"/>
          <p:cNvGrpSpPr>
            <a:grpSpLocks/>
          </p:cNvGrpSpPr>
          <p:nvPr/>
        </p:nvGrpSpPr>
        <p:grpSpPr bwMode="auto">
          <a:xfrm>
            <a:off x="762000" y="3352800"/>
            <a:ext cx="7391400" cy="914400"/>
            <a:chOff x="480" y="2112"/>
            <a:chExt cx="4656" cy="576"/>
          </a:xfrm>
        </p:grpSpPr>
        <p:sp>
          <p:nvSpPr>
            <p:cNvPr id="72782" name="Line 78"/>
            <p:cNvSpPr>
              <a:spLocks noChangeShapeType="1"/>
            </p:cNvSpPr>
            <p:nvPr/>
          </p:nvSpPr>
          <p:spPr bwMode="auto">
            <a:xfrm>
              <a:off x="480" y="2208"/>
              <a:ext cx="384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83" name="Line 79"/>
            <p:cNvSpPr>
              <a:spLocks noChangeShapeType="1"/>
            </p:cNvSpPr>
            <p:nvPr/>
          </p:nvSpPr>
          <p:spPr bwMode="auto">
            <a:xfrm>
              <a:off x="2544" y="2208"/>
              <a:ext cx="528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84" name="Line 80"/>
            <p:cNvSpPr>
              <a:spLocks noChangeShapeType="1"/>
            </p:cNvSpPr>
            <p:nvPr/>
          </p:nvSpPr>
          <p:spPr bwMode="auto">
            <a:xfrm flipH="1">
              <a:off x="864" y="2208"/>
              <a:ext cx="576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85" name="Line 81"/>
            <p:cNvSpPr>
              <a:spLocks noChangeShapeType="1"/>
            </p:cNvSpPr>
            <p:nvPr/>
          </p:nvSpPr>
          <p:spPr bwMode="auto">
            <a:xfrm flipH="1">
              <a:off x="3168" y="2112"/>
              <a:ext cx="624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86" name="Line 82"/>
            <p:cNvSpPr>
              <a:spLocks noChangeShapeType="1"/>
            </p:cNvSpPr>
            <p:nvPr/>
          </p:nvSpPr>
          <p:spPr bwMode="auto">
            <a:xfrm>
              <a:off x="5136" y="2160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2787" name="Group 83"/>
          <p:cNvGrpSpPr>
            <a:grpSpLocks/>
          </p:cNvGrpSpPr>
          <p:nvPr/>
        </p:nvGrpSpPr>
        <p:grpSpPr bwMode="auto">
          <a:xfrm>
            <a:off x="2819400" y="5029200"/>
            <a:ext cx="5791200" cy="533400"/>
            <a:chOff x="1776" y="3168"/>
            <a:chExt cx="3648" cy="336"/>
          </a:xfrm>
        </p:grpSpPr>
        <p:sp>
          <p:nvSpPr>
            <p:cNvPr id="72788" name="Text Box 84"/>
            <p:cNvSpPr txBox="1">
              <a:spLocks noChangeArrowheads="1"/>
            </p:cNvSpPr>
            <p:nvPr/>
          </p:nvSpPr>
          <p:spPr bwMode="auto">
            <a:xfrm>
              <a:off x="1776" y="321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chemeClr val="bg1"/>
                  </a:solidFill>
                  <a:effectLst/>
                </a:rPr>
                <a:t>V1</a:t>
              </a:r>
            </a:p>
          </p:txBody>
        </p:sp>
        <p:sp>
          <p:nvSpPr>
            <p:cNvPr id="72789" name="Text Box 85"/>
            <p:cNvSpPr txBox="1">
              <a:spLocks noChangeArrowheads="1"/>
            </p:cNvSpPr>
            <p:nvPr/>
          </p:nvSpPr>
          <p:spPr bwMode="auto">
            <a:xfrm>
              <a:off x="4992" y="3168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chemeClr val="bg1"/>
                  </a:solidFill>
                  <a:effectLst/>
                </a:rPr>
                <a:t>V2</a:t>
              </a:r>
            </a:p>
          </p:txBody>
        </p:sp>
      </p:grpSp>
      <p:sp>
        <p:nvSpPr>
          <p:cNvPr id="72790" name="Text Box 86"/>
          <p:cNvSpPr txBox="1">
            <a:spLocks noChangeArrowheads="1"/>
          </p:cNvSpPr>
          <p:nvPr/>
        </p:nvSpPr>
        <p:spPr bwMode="auto">
          <a:xfrm>
            <a:off x="5257800" y="62484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>
                <a:effectLst/>
              </a:rPr>
              <a:t>W1</a:t>
            </a:r>
          </a:p>
        </p:txBody>
      </p:sp>
      <p:grpSp>
        <p:nvGrpSpPr>
          <p:cNvPr id="72791" name="Group 87"/>
          <p:cNvGrpSpPr>
            <a:grpSpLocks/>
          </p:cNvGrpSpPr>
          <p:nvPr/>
        </p:nvGrpSpPr>
        <p:grpSpPr bwMode="auto">
          <a:xfrm>
            <a:off x="1676400" y="4419600"/>
            <a:ext cx="6477000" cy="762000"/>
            <a:chOff x="1056" y="2784"/>
            <a:chExt cx="4080" cy="480"/>
          </a:xfrm>
        </p:grpSpPr>
        <p:sp>
          <p:nvSpPr>
            <p:cNvPr id="72792" name="Line 88"/>
            <p:cNvSpPr>
              <a:spLocks noChangeShapeType="1"/>
            </p:cNvSpPr>
            <p:nvPr/>
          </p:nvSpPr>
          <p:spPr bwMode="auto">
            <a:xfrm>
              <a:off x="1056" y="2880"/>
              <a:ext cx="864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93" name="Line 89"/>
            <p:cNvSpPr>
              <a:spLocks noChangeShapeType="1"/>
            </p:cNvSpPr>
            <p:nvPr/>
          </p:nvSpPr>
          <p:spPr bwMode="auto">
            <a:xfrm flipH="1">
              <a:off x="1968" y="2832"/>
              <a:ext cx="1248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94" name="Line 90"/>
            <p:cNvSpPr>
              <a:spLocks noChangeShapeType="1"/>
            </p:cNvSpPr>
            <p:nvPr/>
          </p:nvSpPr>
          <p:spPr bwMode="auto">
            <a:xfrm>
              <a:off x="5136" y="2784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2795" name="Group 91"/>
          <p:cNvGrpSpPr>
            <a:grpSpLocks/>
          </p:cNvGrpSpPr>
          <p:nvPr/>
        </p:nvGrpSpPr>
        <p:grpSpPr bwMode="auto">
          <a:xfrm>
            <a:off x="3276600" y="5410200"/>
            <a:ext cx="4876800" cy="838200"/>
            <a:chOff x="2064" y="3408"/>
            <a:chExt cx="3072" cy="528"/>
          </a:xfrm>
        </p:grpSpPr>
        <p:sp>
          <p:nvSpPr>
            <p:cNvPr id="72796" name="Line 92"/>
            <p:cNvSpPr>
              <a:spLocks noChangeShapeType="1"/>
            </p:cNvSpPr>
            <p:nvPr/>
          </p:nvSpPr>
          <p:spPr bwMode="auto">
            <a:xfrm>
              <a:off x="2064" y="3504"/>
              <a:ext cx="1344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97" name="Line 93"/>
            <p:cNvSpPr>
              <a:spLocks noChangeShapeType="1"/>
            </p:cNvSpPr>
            <p:nvPr/>
          </p:nvSpPr>
          <p:spPr bwMode="auto">
            <a:xfrm flipH="1">
              <a:off x="3456" y="3408"/>
              <a:ext cx="1680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32003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90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Run Merging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Merge Pass.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/>
              <a:t>Pairwise merge the </a:t>
            </a:r>
            <a:r>
              <a:rPr lang="en-US" altLang="en-US">
                <a:solidFill>
                  <a:schemeClr val="hlink"/>
                </a:solidFill>
              </a:rPr>
              <a:t>20</a:t>
            </a:r>
            <a:r>
              <a:rPr lang="en-US" altLang="en-US"/>
              <a:t> runs into </a:t>
            </a:r>
            <a:r>
              <a:rPr lang="en-US" altLang="en-US">
                <a:solidFill>
                  <a:schemeClr val="hlink"/>
                </a:solidFill>
              </a:rPr>
              <a:t>10</a:t>
            </a:r>
            <a:r>
              <a:rPr lang="en-US" altLang="en-US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/>
              <a:t>In a </a:t>
            </a:r>
            <a:r>
              <a:rPr lang="en-US" altLang="en-US">
                <a:solidFill>
                  <a:schemeClr val="bg1"/>
                </a:solidFill>
              </a:rPr>
              <a:t>merge pass </a:t>
            </a:r>
            <a:r>
              <a:rPr lang="en-US" altLang="en-US"/>
              <a:t>all runs (except possibly one) are pairwise merged.</a:t>
            </a:r>
          </a:p>
          <a:p>
            <a:r>
              <a:rPr lang="en-US" altLang="en-US"/>
              <a:t>Perform </a:t>
            </a:r>
            <a:r>
              <a:rPr lang="en-US" altLang="en-US">
                <a:solidFill>
                  <a:schemeClr val="hlink"/>
                </a:solidFill>
              </a:rPr>
              <a:t>4</a:t>
            </a:r>
            <a:r>
              <a:rPr lang="en-US" altLang="en-US"/>
              <a:t> more merge passes, reducing the number of runs to </a:t>
            </a:r>
            <a:r>
              <a:rPr lang="en-US" altLang="en-US">
                <a:solidFill>
                  <a:schemeClr val="hlink"/>
                </a:solidFill>
              </a:rPr>
              <a:t>1</a:t>
            </a:r>
            <a:r>
              <a:rPr lang="en-US" alt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5789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build="p" bldLvl="3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Merge R1 and R2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4648200"/>
            <a:ext cx="8153400" cy="2209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Fill </a:t>
            </a:r>
            <a:r>
              <a:rPr lang="en-US" altLang="en-US">
                <a:solidFill>
                  <a:schemeClr val="hlink"/>
                </a:solidFill>
              </a:rPr>
              <a:t>I0</a:t>
            </a:r>
            <a:r>
              <a:rPr lang="en-US" altLang="en-US"/>
              <a:t> (Input 0) from </a:t>
            </a:r>
            <a:r>
              <a:rPr lang="en-US" altLang="en-US">
                <a:solidFill>
                  <a:schemeClr val="hlink"/>
                </a:solidFill>
              </a:rPr>
              <a:t>R1</a:t>
            </a:r>
            <a:r>
              <a:rPr lang="en-US" altLang="en-US"/>
              <a:t> and </a:t>
            </a:r>
            <a:r>
              <a:rPr lang="en-US" altLang="en-US">
                <a:solidFill>
                  <a:schemeClr val="hlink"/>
                </a:solidFill>
              </a:rPr>
              <a:t>I1</a:t>
            </a:r>
            <a:r>
              <a:rPr lang="en-US" altLang="en-US"/>
              <a:t> from </a:t>
            </a:r>
            <a:r>
              <a:rPr lang="en-US" altLang="en-US">
                <a:solidFill>
                  <a:schemeClr val="hlink"/>
                </a:solidFill>
              </a:rPr>
              <a:t>R2</a:t>
            </a:r>
            <a:r>
              <a:rPr lang="en-US" altLang="en-US"/>
              <a:t>.</a:t>
            </a:r>
          </a:p>
          <a:p>
            <a:pPr>
              <a:lnSpc>
                <a:spcPct val="90000"/>
              </a:lnSpc>
            </a:pPr>
            <a:r>
              <a:rPr lang="en-US" altLang="en-US"/>
              <a:t>Merge from </a:t>
            </a:r>
            <a:r>
              <a:rPr lang="en-US" altLang="en-US">
                <a:solidFill>
                  <a:schemeClr val="hlink"/>
                </a:solidFill>
              </a:rPr>
              <a:t>I0 </a:t>
            </a:r>
            <a:r>
              <a:rPr lang="en-US" altLang="en-US"/>
              <a:t>and </a:t>
            </a:r>
            <a:r>
              <a:rPr lang="en-US" altLang="en-US">
                <a:solidFill>
                  <a:schemeClr val="hlink"/>
                </a:solidFill>
              </a:rPr>
              <a:t>I1</a:t>
            </a:r>
            <a:r>
              <a:rPr lang="en-US" altLang="en-US"/>
              <a:t> to output buffer.</a:t>
            </a:r>
          </a:p>
          <a:p>
            <a:pPr>
              <a:lnSpc>
                <a:spcPct val="90000"/>
              </a:lnSpc>
            </a:pPr>
            <a:r>
              <a:rPr lang="en-US" altLang="en-US"/>
              <a:t>Write whenever output buffer full.</a:t>
            </a:r>
          </a:p>
          <a:p>
            <a:pPr>
              <a:lnSpc>
                <a:spcPct val="90000"/>
              </a:lnSpc>
            </a:pPr>
            <a:r>
              <a:rPr lang="en-US" altLang="en-US"/>
              <a:t>Read whenever input buffer empty.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/>
          </a:p>
        </p:txBody>
      </p:sp>
      <p:grpSp>
        <p:nvGrpSpPr>
          <p:cNvPr id="73732" name="Group 4"/>
          <p:cNvGrpSpPr>
            <a:grpSpLocks/>
          </p:cNvGrpSpPr>
          <p:nvPr/>
        </p:nvGrpSpPr>
        <p:grpSpPr bwMode="auto">
          <a:xfrm>
            <a:off x="1447800" y="1219200"/>
            <a:ext cx="6400800" cy="3276600"/>
            <a:chOff x="912" y="768"/>
            <a:chExt cx="4032" cy="2064"/>
          </a:xfrm>
        </p:grpSpPr>
        <p:sp>
          <p:nvSpPr>
            <p:cNvPr id="73733" name="Rectangle 5"/>
            <p:cNvSpPr>
              <a:spLocks noChangeArrowheads="1"/>
            </p:cNvSpPr>
            <p:nvPr/>
          </p:nvSpPr>
          <p:spPr bwMode="auto">
            <a:xfrm>
              <a:off x="912" y="768"/>
              <a:ext cx="2016" cy="2016"/>
            </a:xfrm>
            <a:prstGeom prst="rect">
              <a:avLst/>
            </a:prstGeom>
            <a:solidFill>
              <a:srgbClr val="99FF33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3734" name="Oval 6"/>
            <p:cNvSpPr>
              <a:spLocks noChangeArrowheads="1"/>
            </p:cNvSpPr>
            <p:nvPr/>
          </p:nvSpPr>
          <p:spPr bwMode="auto">
            <a:xfrm>
              <a:off x="3984" y="1968"/>
              <a:ext cx="912" cy="86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3735" name="Text Box 7"/>
            <p:cNvSpPr txBox="1">
              <a:spLocks noChangeArrowheads="1"/>
            </p:cNvSpPr>
            <p:nvPr/>
          </p:nvSpPr>
          <p:spPr bwMode="auto">
            <a:xfrm>
              <a:off x="4176" y="2256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chemeClr val="tx2"/>
                  </a:solidFill>
                  <a:effectLst/>
                </a:rPr>
                <a:t>DISK</a:t>
              </a:r>
            </a:p>
          </p:txBody>
        </p:sp>
        <p:sp>
          <p:nvSpPr>
            <p:cNvPr id="73736" name="Line 8"/>
            <p:cNvSpPr>
              <a:spLocks noChangeShapeType="1"/>
            </p:cNvSpPr>
            <p:nvPr/>
          </p:nvSpPr>
          <p:spPr bwMode="auto">
            <a:xfrm>
              <a:off x="2928" y="2496"/>
              <a:ext cx="105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3737" name="Group 9"/>
          <p:cNvGrpSpPr>
            <a:grpSpLocks/>
          </p:cNvGrpSpPr>
          <p:nvPr/>
        </p:nvGrpSpPr>
        <p:grpSpPr bwMode="auto">
          <a:xfrm>
            <a:off x="1447800" y="3048000"/>
            <a:ext cx="1600200" cy="1371600"/>
            <a:chOff x="912" y="1536"/>
            <a:chExt cx="1008" cy="1248"/>
          </a:xfrm>
        </p:grpSpPr>
        <p:sp>
          <p:nvSpPr>
            <p:cNvPr id="73738" name="Rectangle 10"/>
            <p:cNvSpPr>
              <a:spLocks noChangeArrowheads="1"/>
            </p:cNvSpPr>
            <p:nvPr/>
          </p:nvSpPr>
          <p:spPr bwMode="auto">
            <a:xfrm>
              <a:off x="912" y="1536"/>
              <a:ext cx="1008" cy="1248"/>
            </a:xfrm>
            <a:prstGeom prst="rect">
              <a:avLst/>
            </a:prstGeom>
            <a:solidFill>
              <a:srgbClr val="FF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3739" name="Text Box 11"/>
            <p:cNvSpPr txBox="1">
              <a:spLocks noChangeArrowheads="1"/>
            </p:cNvSpPr>
            <p:nvPr/>
          </p:nvSpPr>
          <p:spPr bwMode="auto">
            <a:xfrm>
              <a:off x="1056" y="1926"/>
              <a:ext cx="864" cy="4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rgbClr val="FFFFFF"/>
                  </a:solidFill>
                  <a:effectLst/>
                </a:rPr>
                <a:t>Input 0</a:t>
              </a:r>
            </a:p>
          </p:txBody>
        </p:sp>
      </p:grpSp>
      <p:grpSp>
        <p:nvGrpSpPr>
          <p:cNvPr id="73740" name="Group 12"/>
          <p:cNvGrpSpPr>
            <a:grpSpLocks/>
          </p:cNvGrpSpPr>
          <p:nvPr/>
        </p:nvGrpSpPr>
        <p:grpSpPr bwMode="auto">
          <a:xfrm>
            <a:off x="3048000" y="3048000"/>
            <a:ext cx="1600200" cy="1371600"/>
            <a:chOff x="1920" y="1536"/>
            <a:chExt cx="1008" cy="1248"/>
          </a:xfrm>
        </p:grpSpPr>
        <p:sp>
          <p:nvSpPr>
            <p:cNvPr id="73741" name="Rectangle 13"/>
            <p:cNvSpPr>
              <a:spLocks noChangeArrowheads="1"/>
            </p:cNvSpPr>
            <p:nvPr/>
          </p:nvSpPr>
          <p:spPr bwMode="auto">
            <a:xfrm>
              <a:off x="1920" y="1536"/>
              <a:ext cx="1008" cy="1248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3742" name="Text Box 14"/>
            <p:cNvSpPr txBox="1">
              <a:spLocks noChangeArrowheads="1"/>
            </p:cNvSpPr>
            <p:nvPr/>
          </p:nvSpPr>
          <p:spPr bwMode="auto">
            <a:xfrm>
              <a:off x="2064" y="1926"/>
              <a:ext cx="864" cy="416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CC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rgbClr val="FFFFFF"/>
                  </a:solidFill>
                  <a:effectLst/>
                </a:rPr>
                <a:t>Input 1</a:t>
              </a:r>
            </a:p>
          </p:txBody>
        </p:sp>
      </p:grpSp>
      <p:grpSp>
        <p:nvGrpSpPr>
          <p:cNvPr id="73743" name="Group 15"/>
          <p:cNvGrpSpPr>
            <a:grpSpLocks/>
          </p:cNvGrpSpPr>
          <p:nvPr/>
        </p:nvGrpSpPr>
        <p:grpSpPr bwMode="auto">
          <a:xfrm>
            <a:off x="1447800" y="2209800"/>
            <a:ext cx="3200400" cy="838200"/>
            <a:chOff x="912" y="768"/>
            <a:chExt cx="2016" cy="768"/>
          </a:xfrm>
        </p:grpSpPr>
        <p:sp>
          <p:nvSpPr>
            <p:cNvPr id="73744" name="Rectangle 16"/>
            <p:cNvSpPr>
              <a:spLocks noChangeArrowheads="1"/>
            </p:cNvSpPr>
            <p:nvPr/>
          </p:nvSpPr>
          <p:spPr bwMode="auto">
            <a:xfrm>
              <a:off x="912" y="768"/>
              <a:ext cx="2016" cy="76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3745" name="Text Box 17"/>
            <p:cNvSpPr txBox="1">
              <a:spLocks noChangeArrowheads="1"/>
            </p:cNvSpPr>
            <p:nvPr/>
          </p:nvSpPr>
          <p:spPr bwMode="auto">
            <a:xfrm>
              <a:off x="1536" y="1008"/>
              <a:ext cx="864" cy="4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rgbClr val="FFFFFF"/>
                  </a:solidFill>
                  <a:effectLst/>
                </a:rPr>
                <a:t>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52451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3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3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build="p" bldLvl="2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Merge 20 Runs</a:t>
            </a:r>
          </a:p>
        </p:txBody>
      </p:sp>
      <p:grpSp>
        <p:nvGrpSpPr>
          <p:cNvPr id="72707" name="Group 3"/>
          <p:cNvGrpSpPr>
            <a:grpSpLocks/>
          </p:cNvGrpSpPr>
          <p:nvPr/>
        </p:nvGrpSpPr>
        <p:grpSpPr bwMode="auto">
          <a:xfrm>
            <a:off x="0" y="1447800"/>
            <a:ext cx="9220200" cy="396875"/>
            <a:chOff x="0" y="912"/>
            <a:chExt cx="5808" cy="250"/>
          </a:xfrm>
        </p:grpSpPr>
        <p:sp>
          <p:nvSpPr>
            <p:cNvPr id="72708" name="Text Box 4"/>
            <p:cNvSpPr txBox="1">
              <a:spLocks noChangeArrowheads="1"/>
            </p:cNvSpPr>
            <p:nvPr/>
          </p:nvSpPr>
          <p:spPr bwMode="auto">
            <a:xfrm>
              <a:off x="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R1</a:t>
              </a:r>
            </a:p>
          </p:txBody>
        </p:sp>
        <p:sp>
          <p:nvSpPr>
            <p:cNvPr id="72709" name="Text Box 5"/>
            <p:cNvSpPr txBox="1">
              <a:spLocks noChangeArrowheads="1"/>
            </p:cNvSpPr>
            <p:nvPr/>
          </p:nvSpPr>
          <p:spPr bwMode="auto">
            <a:xfrm>
              <a:off x="24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R2</a:t>
              </a:r>
            </a:p>
          </p:txBody>
        </p:sp>
        <p:sp>
          <p:nvSpPr>
            <p:cNvPr id="72710" name="Text Box 6"/>
            <p:cNvSpPr txBox="1">
              <a:spLocks noChangeArrowheads="1"/>
            </p:cNvSpPr>
            <p:nvPr/>
          </p:nvSpPr>
          <p:spPr bwMode="auto">
            <a:xfrm>
              <a:off x="48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R3</a:t>
              </a:r>
            </a:p>
          </p:txBody>
        </p:sp>
        <p:sp>
          <p:nvSpPr>
            <p:cNvPr id="72711" name="Text Box 7"/>
            <p:cNvSpPr txBox="1">
              <a:spLocks noChangeArrowheads="1"/>
            </p:cNvSpPr>
            <p:nvPr/>
          </p:nvSpPr>
          <p:spPr bwMode="auto">
            <a:xfrm>
              <a:off x="72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R4</a:t>
              </a:r>
            </a:p>
          </p:txBody>
        </p:sp>
        <p:sp>
          <p:nvSpPr>
            <p:cNvPr id="72712" name="Text Box 8"/>
            <p:cNvSpPr txBox="1">
              <a:spLocks noChangeArrowheads="1"/>
            </p:cNvSpPr>
            <p:nvPr/>
          </p:nvSpPr>
          <p:spPr bwMode="auto">
            <a:xfrm>
              <a:off x="96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R5</a:t>
              </a:r>
            </a:p>
          </p:txBody>
        </p:sp>
        <p:sp>
          <p:nvSpPr>
            <p:cNvPr id="72713" name="Text Box 9"/>
            <p:cNvSpPr txBox="1">
              <a:spLocks noChangeArrowheads="1"/>
            </p:cNvSpPr>
            <p:nvPr/>
          </p:nvSpPr>
          <p:spPr bwMode="auto">
            <a:xfrm>
              <a:off x="120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R6</a:t>
              </a:r>
            </a:p>
          </p:txBody>
        </p:sp>
        <p:sp>
          <p:nvSpPr>
            <p:cNvPr id="72714" name="Text Box 10"/>
            <p:cNvSpPr txBox="1">
              <a:spLocks noChangeArrowheads="1"/>
            </p:cNvSpPr>
            <p:nvPr/>
          </p:nvSpPr>
          <p:spPr bwMode="auto">
            <a:xfrm>
              <a:off x="144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R7</a:t>
              </a:r>
            </a:p>
          </p:txBody>
        </p:sp>
        <p:sp>
          <p:nvSpPr>
            <p:cNvPr id="72715" name="Text Box 11"/>
            <p:cNvSpPr txBox="1">
              <a:spLocks noChangeArrowheads="1"/>
            </p:cNvSpPr>
            <p:nvPr/>
          </p:nvSpPr>
          <p:spPr bwMode="auto">
            <a:xfrm>
              <a:off x="168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R8</a:t>
              </a:r>
            </a:p>
          </p:txBody>
        </p:sp>
        <p:sp>
          <p:nvSpPr>
            <p:cNvPr id="72716" name="Text Box 12"/>
            <p:cNvSpPr txBox="1">
              <a:spLocks noChangeArrowheads="1"/>
            </p:cNvSpPr>
            <p:nvPr/>
          </p:nvSpPr>
          <p:spPr bwMode="auto">
            <a:xfrm>
              <a:off x="192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R9</a:t>
              </a:r>
            </a:p>
          </p:txBody>
        </p:sp>
        <p:sp>
          <p:nvSpPr>
            <p:cNvPr id="72717" name="Text Box 13"/>
            <p:cNvSpPr txBox="1">
              <a:spLocks noChangeArrowheads="1"/>
            </p:cNvSpPr>
            <p:nvPr/>
          </p:nvSpPr>
          <p:spPr bwMode="auto">
            <a:xfrm>
              <a:off x="216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R10</a:t>
              </a:r>
            </a:p>
          </p:txBody>
        </p:sp>
        <p:sp>
          <p:nvSpPr>
            <p:cNvPr id="72718" name="Text Box 14"/>
            <p:cNvSpPr txBox="1">
              <a:spLocks noChangeArrowheads="1"/>
            </p:cNvSpPr>
            <p:nvPr/>
          </p:nvSpPr>
          <p:spPr bwMode="auto">
            <a:xfrm>
              <a:off x="2448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R11</a:t>
              </a:r>
            </a:p>
          </p:txBody>
        </p:sp>
        <p:sp>
          <p:nvSpPr>
            <p:cNvPr id="72719" name="Text Box 15"/>
            <p:cNvSpPr txBox="1">
              <a:spLocks noChangeArrowheads="1"/>
            </p:cNvSpPr>
            <p:nvPr/>
          </p:nvSpPr>
          <p:spPr bwMode="auto">
            <a:xfrm>
              <a:off x="2784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R12</a:t>
              </a:r>
            </a:p>
          </p:txBody>
        </p:sp>
        <p:sp>
          <p:nvSpPr>
            <p:cNvPr id="72720" name="Text Box 16"/>
            <p:cNvSpPr txBox="1">
              <a:spLocks noChangeArrowheads="1"/>
            </p:cNvSpPr>
            <p:nvPr/>
          </p:nvSpPr>
          <p:spPr bwMode="auto">
            <a:xfrm>
              <a:off x="3168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R13</a:t>
              </a:r>
            </a:p>
          </p:txBody>
        </p:sp>
        <p:sp>
          <p:nvSpPr>
            <p:cNvPr id="72721" name="Text Box 17"/>
            <p:cNvSpPr txBox="1">
              <a:spLocks noChangeArrowheads="1"/>
            </p:cNvSpPr>
            <p:nvPr/>
          </p:nvSpPr>
          <p:spPr bwMode="auto">
            <a:xfrm>
              <a:off x="3456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R14</a:t>
              </a:r>
            </a:p>
          </p:txBody>
        </p:sp>
        <p:sp>
          <p:nvSpPr>
            <p:cNvPr id="72722" name="Text Box 18"/>
            <p:cNvSpPr txBox="1">
              <a:spLocks noChangeArrowheads="1"/>
            </p:cNvSpPr>
            <p:nvPr/>
          </p:nvSpPr>
          <p:spPr bwMode="auto">
            <a:xfrm>
              <a:off x="384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R15</a:t>
              </a:r>
            </a:p>
          </p:txBody>
        </p:sp>
        <p:sp>
          <p:nvSpPr>
            <p:cNvPr id="72723" name="Text Box 19"/>
            <p:cNvSpPr txBox="1">
              <a:spLocks noChangeArrowheads="1"/>
            </p:cNvSpPr>
            <p:nvPr/>
          </p:nvSpPr>
          <p:spPr bwMode="auto">
            <a:xfrm>
              <a:off x="4224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R16</a:t>
              </a:r>
            </a:p>
          </p:txBody>
        </p:sp>
        <p:sp>
          <p:nvSpPr>
            <p:cNvPr id="72724" name="Text Box 20"/>
            <p:cNvSpPr txBox="1">
              <a:spLocks noChangeArrowheads="1"/>
            </p:cNvSpPr>
            <p:nvPr/>
          </p:nvSpPr>
          <p:spPr bwMode="auto">
            <a:xfrm>
              <a:off x="4512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R17</a:t>
              </a:r>
            </a:p>
          </p:txBody>
        </p:sp>
        <p:sp>
          <p:nvSpPr>
            <p:cNvPr id="72725" name="Text Box 21"/>
            <p:cNvSpPr txBox="1">
              <a:spLocks noChangeArrowheads="1"/>
            </p:cNvSpPr>
            <p:nvPr/>
          </p:nvSpPr>
          <p:spPr bwMode="auto">
            <a:xfrm>
              <a:off x="480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R18</a:t>
              </a:r>
            </a:p>
          </p:txBody>
        </p:sp>
        <p:sp>
          <p:nvSpPr>
            <p:cNvPr id="72726" name="Text Box 22"/>
            <p:cNvSpPr txBox="1">
              <a:spLocks noChangeArrowheads="1"/>
            </p:cNvSpPr>
            <p:nvPr/>
          </p:nvSpPr>
          <p:spPr bwMode="auto">
            <a:xfrm>
              <a:off x="5088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R19</a:t>
              </a:r>
            </a:p>
          </p:txBody>
        </p:sp>
        <p:sp>
          <p:nvSpPr>
            <p:cNvPr id="72727" name="Text Box 23"/>
            <p:cNvSpPr txBox="1">
              <a:spLocks noChangeArrowheads="1"/>
            </p:cNvSpPr>
            <p:nvPr/>
          </p:nvSpPr>
          <p:spPr bwMode="auto">
            <a:xfrm>
              <a:off x="5424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R20</a:t>
              </a:r>
            </a:p>
          </p:txBody>
        </p:sp>
      </p:grpSp>
      <p:grpSp>
        <p:nvGrpSpPr>
          <p:cNvPr id="72728" name="Group 24"/>
          <p:cNvGrpSpPr>
            <a:grpSpLocks/>
          </p:cNvGrpSpPr>
          <p:nvPr/>
        </p:nvGrpSpPr>
        <p:grpSpPr bwMode="auto">
          <a:xfrm>
            <a:off x="152400" y="2133600"/>
            <a:ext cx="8991600" cy="533400"/>
            <a:chOff x="96" y="1296"/>
            <a:chExt cx="5664" cy="336"/>
          </a:xfrm>
        </p:grpSpPr>
        <p:sp>
          <p:nvSpPr>
            <p:cNvPr id="72729" name="Text Box 25"/>
            <p:cNvSpPr txBox="1">
              <a:spLocks noChangeArrowheads="1"/>
            </p:cNvSpPr>
            <p:nvPr/>
          </p:nvSpPr>
          <p:spPr bwMode="auto">
            <a:xfrm>
              <a:off x="96" y="13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effectLst/>
                </a:rPr>
                <a:t>S1</a:t>
              </a:r>
            </a:p>
          </p:txBody>
        </p:sp>
        <p:sp>
          <p:nvSpPr>
            <p:cNvPr id="72730" name="Text Box 26"/>
            <p:cNvSpPr txBox="1">
              <a:spLocks noChangeArrowheads="1"/>
            </p:cNvSpPr>
            <p:nvPr/>
          </p:nvSpPr>
          <p:spPr bwMode="auto">
            <a:xfrm>
              <a:off x="576" y="13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effectLst/>
                </a:rPr>
                <a:t>S2</a:t>
              </a:r>
            </a:p>
          </p:txBody>
        </p:sp>
        <p:sp>
          <p:nvSpPr>
            <p:cNvPr id="72731" name="Text Box 27"/>
            <p:cNvSpPr txBox="1">
              <a:spLocks noChangeArrowheads="1"/>
            </p:cNvSpPr>
            <p:nvPr/>
          </p:nvSpPr>
          <p:spPr bwMode="auto">
            <a:xfrm>
              <a:off x="1056" y="13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effectLst/>
                </a:rPr>
                <a:t>S3</a:t>
              </a:r>
            </a:p>
          </p:txBody>
        </p:sp>
        <p:sp>
          <p:nvSpPr>
            <p:cNvPr id="72732" name="Text Box 28"/>
            <p:cNvSpPr txBox="1">
              <a:spLocks noChangeArrowheads="1"/>
            </p:cNvSpPr>
            <p:nvPr/>
          </p:nvSpPr>
          <p:spPr bwMode="auto">
            <a:xfrm>
              <a:off x="1536" y="13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effectLst/>
                </a:rPr>
                <a:t>S4</a:t>
              </a:r>
            </a:p>
          </p:txBody>
        </p:sp>
        <p:sp>
          <p:nvSpPr>
            <p:cNvPr id="72733" name="Text Box 29"/>
            <p:cNvSpPr txBox="1">
              <a:spLocks noChangeArrowheads="1"/>
            </p:cNvSpPr>
            <p:nvPr/>
          </p:nvSpPr>
          <p:spPr bwMode="auto">
            <a:xfrm>
              <a:off x="2016" y="13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effectLst/>
                </a:rPr>
                <a:t>S5</a:t>
              </a:r>
            </a:p>
          </p:txBody>
        </p:sp>
        <p:sp>
          <p:nvSpPr>
            <p:cNvPr id="72734" name="Text Box 30"/>
            <p:cNvSpPr txBox="1">
              <a:spLocks noChangeArrowheads="1"/>
            </p:cNvSpPr>
            <p:nvPr/>
          </p:nvSpPr>
          <p:spPr bwMode="auto">
            <a:xfrm>
              <a:off x="2640" y="13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effectLst/>
                </a:rPr>
                <a:t>S6</a:t>
              </a:r>
            </a:p>
          </p:txBody>
        </p:sp>
        <p:sp>
          <p:nvSpPr>
            <p:cNvPr id="72735" name="Text Box 31"/>
            <p:cNvSpPr txBox="1">
              <a:spLocks noChangeArrowheads="1"/>
            </p:cNvSpPr>
            <p:nvPr/>
          </p:nvSpPr>
          <p:spPr bwMode="auto">
            <a:xfrm>
              <a:off x="3312" y="13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effectLst/>
                </a:rPr>
                <a:t>S7</a:t>
              </a:r>
            </a:p>
          </p:txBody>
        </p:sp>
        <p:sp>
          <p:nvSpPr>
            <p:cNvPr id="72736" name="Text Box 32"/>
            <p:cNvSpPr txBox="1">
              <a:spLocks noChangeArrowheads="1"/>
            </p:cNvSpPr>
            <p:nvPr/>
          </p:nvSpPr>
          <p:spPr bwMode="auto">
            <a:xfrm>
              <a:off x="4080" y="13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effectLst/>
                </a:rPr>
                <a:t>S8</a:t>
              </a:r>
            </a:p>
          </p:txBody>
        </p:sp>
        <p:sp>
          <p:nvSpPr>
            <p:cNvPr id="72737" name="Text Box 33"/>
            <p:cNvSpPr txBox="1">
              <a:spLocks noChangeArrowheads="1"/>
            </p:cNvSpPr>
            <p:nvPr/>
          </p:nvSpPr>
          <p:spPr bwMode="auto">
            <a:xfrm>
              <a:off x="4704" y="13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effectLst/>
                </a:rPr>
                <a:t>S9</a:t>
              </a:r>
            </a:p>
          </p:txBody>
        </p:sp>
        <p:sp>
          <p:nvSpPr>
            <p:cNvPr id="72738" name="Text Box 34"/>
            <p:cNvSpPr txBox="1">
              <a:spLocks noChangeArrowheads="1"/>
            </p:cNvSpPr>
            <p:nvPr/>
          </p:nvSpPr>
          <p:spPr bwMode="auto">
            <a:xfrm>
              <a:off x="5280" y="1296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effectLst/>
                </a:rPr>
                <a:t>S10</a:t>
              </a:r>
            </a:p>
          </p:txBody>
        </p:sp>
      </p:grpSp>
      <p:grpSp>
        <p:nvGrpSpPr>
          <p:cNvPr id="72739" name="Group 35"/>
          <p:cNvGrpSpPr>
            <a:grpSpLocks/>
          </p:cNvGrpSpPr>
          <p:nvPr/>
        </p:nvGrpSpPr>
        <p:grpSpPr bwMode="auto">
          <a:xfrm>
            <a:off x="228600" y="1752600"/>
            <a:ext cx="8686800" cy="533400"/>
            <a:chOff x="144" y="1104"/>
            <a:chExt cx="5472" cy="336"/>
          </a:xfrm>
        </p:grpSpPr>
        <p:sp>
          <p:nvSpPr>
            <p:cNvPr id="72740" name="Line 36"/>
            <p:cNvSpPr>
              <a:spLocks noChangeShapeType="1"/>
            </p:cNvSpPr>
            <p:nvPr/>
          </p:nvSpPr>
          <p:spPr bwMode="auto">
            <a:xfrm>
              <a:off x="144" y="1104"/>
              <a:ext cx="96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41" name="Line 37"/>
            <p:cNvSpPr>
              <a:spLocks noChangeShapeType="1"/>
            </p:cNvSpPr>
            <p:nvPr/>
          </p:nvSpPr>
          <p:spPr bwMode="auto">
            <a:xfrm>
              <a:off x="672" y="1104"/>
              <a:ext cx="96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42" name="Line 38"/>
            <p:cNvSpPr>
              <a:spLocks noChangeShapeType="1"/>
            </p:cNvSpPr>
            <p:nvPr/>
          </p:nvSpPr>
          <p:spPr bwMode="auto">
            <a:xfrm>
              <a:off x="1104" y="1104"/>
              <a:ext cx="96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43" name="Line 39"/>
            <p:cNvSpPr>
              <a:spLocks noChangeShapeType="1"/>
            </p:cNvSpPr>
            <p:nvPr/>
          </p:nvSpPr>
          <p:spPr bwMode="auto">
            <a:xfrm>
              <a:off x="1584" y="1104"/>
              <a:ext cx="96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44" name="Line 40"/>
            <p:cNvSpPr>
              <a:spLocks noChangeShapeType="1"/>
            </p:cNvSpPr>
            <p:nvPr/>
          </p:nvSpPr>
          <p:spPr bwMode="auto">
            <a:xfrm>
              <a:off x="2064" y="1104"/>
              <a:ext cx="96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45" name="Line 41"/>
            <p:cNvSpPr>
              <a:spLocks noChangeShapeType="1"/>
            </p:cNvSpPr>
            <p:nvPr/>
          </p:nvSpPr>
          <p:spPr bwMode="auto">
            <a:xfrm>
              <a:off x="2688" y="1104"/>
              <a:ext cx="96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46" name="Line 42"/>
            <p:cNvSpPr>
              <a:spLocks noChangeShapeType="1"/>
            </p:cNvSpPr>
            <p:nvPr/>
          </p:nvSpPr>
          <p:spPr bwMode="auto">
            <a:xfrm>
              <a:off x="3312" y="1104"/>
              <a:ext cx="96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47" name="Line 43"/>
            <p:cNvSpPr>
              <a:spLocks noChangeShapeType="1"/>
            </p:cNvSpPr>
            <p:nvPr/>
          </p:nvSpPr>
          <p:spPr bwMode="auto">
            <a:xfrm>
              <a:off x="4080" y="1104"/>
              <a:ext cx="96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48" name="Line 44"/>
            <p:cNvSpPr>
              <a:spLocks noChangeShapeType="1"/>
            </p:cNvSpPr>
            <p:nvPr/>
          </p:nvSpPr>
          <p:spPr bwMode="auto">
            <a:xfrm>
              <a:off x="4800" y="1104"/>
              <a:ext cx="96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49" name="Line 45"/>
            <p:cNvSpPr>
              <a:spLocks noChangeShapeType="1"/>
            </p:cNvSpPr>
            <p:nvPr/>
          </p:nvSpPr>
          <p:spPr bwMode="auto">
            <a:xfrm>
              <a:off x="5328" y="1104"/>
              <a:ext cx="96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50" name="Line 46"/>
            <p:cNvSpPr>
              <a:spLocks noChangeShapeType="1"/>
            </p:cNvSpPr>
            <p:nvPr/>
          </p:nvSpPr>
          <p:spPr bwMode="auto">
            <a:xfrm flipH="1">
              <a:off x="288" y="1104"/>
              <a:ext cx="144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51" name="Line 47"/>
            <p:cNvSpPr>
              <a:spLocks noChangeShapeType="1"/>
            </p:cNvSpPr>
            <p:nvPr/>
          </p:nvSpPr>
          <p:spPr bwMode="auto">
            <a:xfrm flipH="1">
              <a:off x="768" y="1104"/>
              <a:ext cx="144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52" name="Line 48"/>
            <p:cNvSpPr>
              <a:spLocks noChangeShapeType="1"/>
            </p:cNvSpPr>
            <p:nvPr/>
          </p:nvSpPr>
          <p:spPr bwMode="auto">
            <a:xfrm flipH="1">
              <a:off x="1200" y="1104"/>
              <a:ext cx="192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53" name="Line 49"/>
            <p:cNvSpPr>
              <a:spLocks noChangeShapeType="1"/>
            </p:cNvSpPr>
            <p:nvPr/>
          </p:nvSpPr>
          <p:spPr bwMode="auto">
            <a:xfrm flipH="1">
              <a:off x="1680" y="1104"/>
              <a:ext cx="192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54" name="Line 50"/>
            <p:cNvSpPr>
              <a:spLocks noChangeShapeType="1"/>
            </p:cNvSpPr>
            <p:nvPr/>
          </p:nvSpPr>
          <p:spPr bwMode="auto">
            <a:xfrm flipH="1">
              <a:off x="2160" y="1104"/>
              <a:ext cx="192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55" name="Line 51"/>
            <p:cNvSpPr>
              <a:spLocks noChangeShapeType="1"/>
            </p:cNvSpPr>
            <p:nvPr/>
          </p:nvSpPr>
          <p:spPr bwMode="auto">
            <a:xfrm flipH="1">
              <a:off x="2784" y="1104"/>
              <a:ext cx="192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56" name="Line 52"/>
            <p:cNvSpPr>
              <a:spLocks noChangeShapeType="1"/>
            </p:cNvSpPr>
            <p:nvPr/>
          </p:nvSpPr>
          <p:spPr bwMode="auto">
            <a:xfrm flipH="1">
              <a:off x="3408" y="1104"/>
              <a:ext cx="192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57" name="Line 53"/>
            <p:cNvSpPr>
              <a:spLocks noChangeShapeType="1"/>
            </p:cNvSpPr>
            <p:nvPr/>
          </p:nvSpPr>
          <p:spPr bwMode="auto">
            <a:xfrm flipH="1">
              <a:off x="4176" y="1104"/>
              <a:ext cx="192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58" name="Line 54"/>
            <p:cNvSpPr>
              <a:spLocks noChangeShapeType="1"/>
            </p:cNvSpPr>
            <p:nvPr/>
          </p:nvSpPr>
          <p:spPr bwMode="auto">
            <a:xfrm flipH="1">
              <a:off x="4896" y="1104"/>
              <a:ext cx="192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59" name="Line 55"/>
            <p:cNvSpPr>
              <a:spLocks noChangeShapeType="1"/>
            </p:cNvSpPr>
            <p:nvPr/>
          </p:nvSpPr>
          <p:spPr bwMode="auto">
            <a:xfrm flipH="1">
              <a:off x="5424" y="1104"/>
              <a:ext cx="192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2760" name="Group 56"/>
          <p:cNvGrpSpPr>
            <a:grpSpLocks/>
          </p:cNvGrpSpPr>
          <p:nvPr/>
        </p:nvGrpSpPr>
        <p:grpSpPr bwMode="auto">
          <a:xfrm>
            <a:off x="457200" y="3048000"/>
            <a:ext cx="8001000" cy="533400"/>
            <a:chOff x="288" y="1920"/>
            <a:chExt cx="5040" cy="336"/>
          </a:xfrm>
        </p:grpSpPr>
        <p:sp>
          <p:nvSpPr>
            <p:cNvPr id="72761" name="Text Box 57"/>
            <p:cNvSpPr txBox="1">
              <a:spLocks noChangeArrowheads="1"/>
            </p:cNvSpPr>
            <p:nvPr/>
          </p:nvSpPr>
          <p:spPr bwMode="auto">
            <a:xfrm>
              <a:off x="288" y="196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chemeClr val="bg1"/>
                  </a:solidFill>
                  <a:effectLst/>
                </a:rPr>
                <a:t>T1</a:t>
              </a:r>
            </a:p>
          </p:txBody>
        </p:sp>
        <p:sp>
          <p:nvSpPr>
            <p:cNvPr id="72762" name="Text Box 58"/>
            <p:cNvSpPr txBox="1">
              <a:spLocks noChangeArrowheads="1"/>
            </p:cNvSpPr>
            <p:nvPr/>
          </p:nvSpPr>
          <p:spPr bwMode="auto">
            <a:xfrm>
              <a:off x="1296" y="196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chemeClr val="bg1"/>
                  </a:solidFill>
                  <a:effectLst/>
                </a:rPr>
                <a:t>T2</a:t>
              </a:r>
            </a:p>
          </p:txBody>
        </p:sp>
        <p:sp>
          <p:nvSpPr>
            <p:cNvPr id="72763" name="Text Box 59"/>
            <p:cNvSpPr txBox="1">
              <a:spLocks noChangeArrowheads="1"/>
            </p:cNvSpPr>
            <p:nvPr/>
          </p:nvSpPr>
          <p:spPr bwMode="auto">
            <a:xfrm>
              <a:off x="2304" y="196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chemeClr val="bg1"/>
                  </a:solidFill>
                  <a:effectLst/>
                </a:rPr>
                <a:t>T3</a:t>
              </a:r>
            </a:p>
          </p:txBody>
        </p:sp>
        <p:sp>
          <p:nvSpPr>
            <p:cNvPr id="72764" name="Text Box 60"/>
            <p:cNvSpPr txBox="1">
              <a:spLocks noChangeArrowheads="1"/>
            </p:cNvSpPr>
            <p:nvPr/>
          </p:nvSpPr>
          <p:spPr bwMode="auto">
            <a:xfrm>
              <a:off x="3648" y="1920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chemeClr val="bg1"/>
                  </a:solidFill>
                  <a:effectLst/>
                </a:rPr>
                <a:t>T4</a:t>
              </a:r>
            </a:p>
          </p:txBody>
        </p:sp>
        <p:sp>
          <p:nvSpPr>
            <p:cNvPr id="72765" name="Text Box 61"/>
            <p:cNvSpPr txBox="1">
              <a:spLocks noChangeArrowheads="1"/>
            </p:cNvSpPr>
            <p:nvPr/>
          </p:nvSpPr>
          <p:spPr bwMode="auto">
            <a:xfrm>
              <a:off x="4944" y="1920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chemeClr val="bg1"/>
                  </a:solidFill>
                  <a:effectLst/>
                </a:rPr>
                <a:t>T5</a:t>
              </a:r>
            </a:p>
          </p:txBody>
        </p:sp>
      </p:grpSp>
      <p:grpSp>
        <p:nvGrpSpPr>
          <p:cNvPr id="72766" name="Group 62"/>
          <p:cNvGrpSpPr>
            <a:grpSpLocks/>
          </p:cNvGrpSpPr>
          <p:nvPr/>
        </p:nvGrpSpPr>
        <p:grpSpPr bwMode="auto">
          <a:xfrm>
            <a:off x="381000" y="2514600"/>
            <a:ext cx="8305800" cy="685800"/>
            <a:chOff x="240" y="1584"/>
            <a:chExt cx="5232" cy="432"/>
          </a:xfrm>
        </p:grpSpPr>
        <p:sp>
          <p:nvSpPr>
            <p:cNvPr id="72767" name="Line 63"/>
            <p:cNvSpPr>
              <a:spLocks noChangeShapeType="1"/>
            </p:cNvSpPr>
            <p:nvPr/>
          </p:nvSpPr>
          <p:spPr bwMode="auto">
            <a:xfrm>
              <a:off x="240" y="1632"/>
              <a:ext cx="192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68" name="Line 64"/>
            <p:cNvSpPr>
              <a:spLocks noChangeShapeType="1"/>
            </p:cNvSpPr>
            <p:nvPr/>
          </p:nvSpPr>
          <p:spPr bwMode="auto">
            <a:xfrm>
              <a:off x="1248" y="1632"/>
              <a:ext cx="192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69" name="Line 65"/>
            <p:cNvSpPr>
              <a:spLocks noChangeShapeType="1"/>
            </p:cNvSpPr>
            <p:nvPr/>
          </p:nvSpPr>
          <p:spPr bwMode="auto">
            <a:xfrm>
              <a:off x="2256" y="1632"/>
              <a:ext cx="192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70" name="Line 66"/>
            <p:cNvSpPr>
              <a:spLocks noChangeShapeType="1"/>
            </p:cNvSpPr>
            <p:nvPr/>
          </p:nvSpPr>
          <p:spPr bwMode="auto">
            <a:xfrm>
              <a:off x="3552" y="1584"/>
              <a:ext cx="192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71" name="Line 67"/>
            <p:cNvSpPr>
              <a:spLocks noChangeShapeType="1"/>
            </p:cNvSpPr>
            <p:nvPr/>
          </p:nvSpPr>
          <p:spPr bwMode="auto">
            <a:xfrm>
              <a:off x="4896" y="1584"/>
              <a:ext cx="192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72" name="Line 68"/>
            <p:cNvSpPr>
              <a:spLocks noChangeShapeType="1"/>
            </p:cNvSpPr>
            <p:nvPr/>
          </p:nvSpPr>
          <p:spPr bwMode="auto">
            <a:xfrm flipH="1">
              <a:off x="432" y="1632"/>
              <a:ext cx="336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73" name="Line 69"/>
            <p:cNvSpPr>
              <a:spLocks noChangeShapeType="1"/>
            </p:cNvSpPr>
            <p:nvPr/>
          </p:nvSpPr>
          <p:spPr bwMode="auto">
            <a:xfrm flipH="1">
              <a:off x="1440" y="1632"/>
              <a:ext cx="336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74" name="Line 70"/>
            <p:cNvSpPr>
              <a:spLocks noChangeShapeType="1"/>
            </p:cNvSpPr>
            <p:nvPr/>
          </p:nvSpPr>
          <p:spPr bwMode="auto">
            <a:xfrm flipH="1">
              <a:off x="2448" y="1632"/>
              <a:ext cx="336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75" name="Line 71"/>
            <p:cNvSpPr>
              <a:spLocks noChangeShapeType="1"/>
            </p:cNvSpPr>
            <p:nvPr/>
          </p:nvSpPr>
          <p:spPr bwMode="auto">
            <a:xfrm flipH="1">
              <a:off x="3840" y="1584"/>
              <a:ext cx="336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76" name="Line 72"/>
            <p:cNvSpPr>
              <a:spLocks noChangeShapeType="1"/>
            </p:cNvSpPr>
            <p:nvPr/>
          </p:nvSpPr>
          <p:spPr bwMode="auto">
            <a:xfrm flipH="1">
              <a:off x="5136" y="1584"/>
              <a:ext cx="336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2777" name="Group 73"/>
          <p:cNvGrpSpPr>
            <a:grpSpLocks/>
          </p:cNvGrpSpPr>
          <p:nvPr/>
        </p:nvGrpSpPr>
        <p:grpSpPr bwMode="auto">
          <a:xfrm>
            <a:off x="1219200" y="4038600"/>
            <a:ext cx="7315200" cy="609600"/>
            <a:chOff x="768" y="2544"/>
            <a:chExt cx="4608" cy="384"/>
          </a:xfrm>
        </p:grpSpPr>
        <p:sp>
          <p:nvSpPr>
            <p:cNvPr id="72778" name="Text Box 74"/>
            <p:cNvSpPr txBox="1">
              <a:spLocks noChangeArrowheads="1"/>
            </p:cNvSpPr>
            <p:nvPr/>
          </p:nvSpPr>
          <p:spPr bwMode="auto">
            <a:xfrm>
              <a:off x="768" y="2640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effectLst/>
                </a:rPr>
                <a:t>U1</a:t>
              </a:r>
            </a:p>
          </p:txBody>
        </p:sp>
        <p:sp>
          <p:nvSpPr>
            <p:cNvPr id="72779" name="Text Box 75"/>
            <p:cNvSpPr txBox="1">
              <a:spLocks noChangeArrowheads="1"/>
            </p:cNvSpPr>
            <p:nvPr/>
          </p:nvSpPr>
          <p:spPr bwMode="auto">
            <a:xfrm>
              <a:off x="3024" y="2592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effectLst/>
                </a:rPr>
                <a:t>U2</a:t>
              </a:r>
            </a:p>
          </p:txBody>
        </p:sp>
        <p:sp>
          <p:nvSpPr>
            <p:cNvPr id="72780" name="Text Box 76"/>
            <p:cNvSpPr txBox="1">
              <a:spLocks noChangeArrowheads="1"/>
            </p:cNvSpPr>
            <p:nvPr/>
          </p:nvSpPr>
          <p:spPr bwMode="auto">
            <a:xfrm>
              <a:off x="4992" y="25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effectLst/>
                </a:rPr>
                <a:t>U3</a:t>
              </a:r>
            </a:p>
          </p:txBody>
        </p:sp>
      </p:grpSp>
      <p:grpSp>
        <p:nvGrpSpPr>
          <p:cNvPr id="72781" name="Group 77"/>
          <p:cNvGrpSpPr>
            <a:grpSpLocks/>
          </p:cNvGrpSpPr>
          <p:nvPr/>
        </p:nvGrpSpPr>
        <p:grpSpPr bwMode="auto">
          <a:xfrm>
            <a:off x="762000" y="3352800"/>
            <a:ext cx="7391400" cy="914400"/>
            <a:chOff x="480" y="2112"/>
            <a:chExt cx="4656" cy="576"/>
          </a:xfrm>
        </p:grpSpPr>
        <p:sp>
          <p:nvSpPr>
            <p:cNvPr id="72782" name="Line 78"/>
            <p:cNvSpPr>
              <a:spLocks noChangeShapeType="1"/>
            </p:cNvSpPr>
            <p:nvPr/>
          </p:nvSpPr>
          <p:spPr bwMode="auto">
            <a:xfrm>
              <a:off x="480" y="2208"/>
              <a:ext cx="384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83" name="Line 79"/>
            <p:cNvSpPr>
              <a:spLocks noChangeShapeType="1"/>
            </p:cNvSpPr>
            <p:nvPr/>
          </p:nvSpPr>
          <p:spPr bwMode="auto">
            <a:xfrm>
              <a:off x="2544" y="2208"/>
              <a:ext cx="528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84" name="Line 80"/>
            <p:cNvSpPr>
              <a:spLocks noChangeShapeType="1"/>
            </p:cNvSpPr>
            <p:nvPr/>
          </p:nvSpPr>
          <p:spPr bwMode="auto">
            <a:xfrm flipH="1">
              <a:off x="864" y="2208"/>
              <a:ext cx="576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85" name="Line 81"/>
            <p:cNvSpPr>
              <a:spLocks noChangeShapeType="1"/>
            </p:cNvSpPr>
            <p:nvPr/>
          </p:nvSpPr>
          <p:spPr bwMode="auto">
            <a:xfrm flipH="1">
              <a:off x="3168" y="2112"/>
              <a:ext cx="624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86" name="Line 82"/>
            <p:cNvSpPr>
              <a:spLocks noChangeShapeType="1"/>
            </p:cNvSpPr>
            <p:nvPr/>
          </p:nvSpPr>
          <p:spPr bwMode="auto">
            <a:xfrm>
              <a:off x="5136" y="2160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2787" name="Group 83"/>
          <p:cNvGrpSpPr>
            <a:grpSpLocks/>
          </p:cNvGrpSpPr>
          <p:nvPr/>
        </p:nvGrpSpPr>
        <p:grpSpPr bwMode="auto">
          <a:xfrm>
            <a:off x="2819400" y="5029200"/>
            <a:ext cx="5791200" cy="533400"/>
            <a:chOff x="1776" y="3168"/>
            <a:chExt cx="3648" cy="336"/>
          </a:xfrm>
        </p:grpSpPr>
        <p:sp>
          <p:nvSpPr>
            <p:cNvPr id="72788" name="Text Box 84"/>
            <p:cNvSpPr txBox="1">
              <a:spLocks noChangeArrowheads="1"/>
            </p:cNvSpPr>
            <p:nvPr/>
          </p:nvSpPr>
          <p:spPr bwMode="auto">
            <a:xfrm>
              <a:off x="1776" y="321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chemeClr val="bg1"/>
                  </a:solidFill>
                  <a:effectLst/>
                </a:rPr>
                <a:t>V1</a:t>
              </a:r>
            </a:p>
          </p:txBody>
        </p:sp>
        <p:sp>
          <p:nvSpPr>
            <p:cNvPr id="72789" name="Text Box 85"/>
            <p:cNvSpPr txBox="1">
              <a:spLocks noChangeArrowheads="1"/>
            </p:cNvSpPr>
            <p:nvPr/>
          </p:nvSpPr>
          <p:spPr bwMode="auto">
            <a:xfrm>
              <a:off x="4992" y="3168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chemeClr val="bg1"/>
                  </a:solidFill>
                  <a:effectLst/>
                </a:rPr>
                <a:t>V2</a:t>
              </a:r>
            </a:p>
          </p:txBody>
        </p:sp>
      </p:grpSp>
      <p:sp>
        <p:nvSpPr>
          <p:cNvPr id="72790" name="Text Box 86"/>
          <p:cNvSpPr txBox="1">
            <a:spLocks noChangeArrowheads="1"/>
          </p:cNvSpPr>
          <p:nvPr/>
        </p:nvSpPr>
        <p:spPr bwMode="auto">
          <a:xfrm>
            <a:off x="5257800" y="62484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>
                <a:effectLst/>
              </a:rPr>
              <a:t>W1</a:t>
            </a:r>
          </a:p>
        </p:txBody>
      </p:sp>
      <p:grpSp>
        <p:nvGrpSpPr>
          <p:cNvPr id="72791" name="Group 87"/>
          <p:cNvGrpSpPr>
            <a:grpSpLocks/>
          </p:cNvGrpSpPr>
          <p:nvPr/>
        </p:nvGrpSpPr>
        <p:grpSpPr bwMode="auto">
          <a:xfrm>
            <a:off x="1676400" y="4419600"/>
            <a:ext cx="6477000" cy="762000"/>
            <a:chOff x="1056" y="2784"/>
            <a:chExt cx="4080" cy="480"/>
          </a:xfrm>
        </p:grpSpPr>
        <p:sp>
          <p:nvSpPr>
            <p:cNvPr id="72792" name="Line 88"/>
            <p:cNvSpPr>
              <a:spLocks noChangeShapeType="1"/>
            </p:cNvSpPr>
            <p:nvPr/>
          </p:nvSpPr>
          <p:spPr bwMode="auto">
            <a:xfrm>
              <a:off x="1056" y="2880"/>
              <a:ext cx="864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93" name="Line 89"/>
            <p:cNvSpPr>
              <a:spLocks noChangeShapeType="1"/>
            </p:cNvSpPr>
            <p:nvPr/>
          </p:nvSpPr>
          <p:spPr bwMode="auto">
            <a:xfrm flipH="1">
              <a:off x="1968" y="2832"/>
              <a:ext cx="1248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94" name="Line 90"/>
            <p:cNvSpPr>
              <a:spLocks noChangeShapeType="1"/>
            </p:cNvSpPr>
            <p:nvPr/>
          </p:nvSpPr>
          <p:spPr bwMode="auto">
            <a:xfrm>
              <a:off x="5136" y="2784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2795" name="Group 91"/>
          <p:cNvGrpSpPr>
            <a:grpSpLocks/>
          </p:cNvGrpSpPr>
          <p:nvPr/>
        </p:nvGrpSpPr>
        <p:grpSpPr bwMode="auto">
          <a:xfrm>
            <a:off x="3276600" y="5410200"/>
            <a:ext cx="4876800" cy="838200"/>
            <a:chOff x="2064" y="3408"/>
            <a:chExt cx="3072" cy="528"/>
          </a:xfrm>
        </p:grpSpPr>
        <p:sp>
          <p:nvSpPr>
            <p:cNvPr id="72796" name="Line 92"/>
            <p:cNvSpPr>
              <a:spLocks noChangeShapeType="1"/>
            </p:cNvSpPr>
            <p:nvPr/>
          </p:nvSpPr>
          <p:spPr bwMode="auto">
            <a:xfrm>
              <a:off x="2064" y="3504"/>
              <a:ext cx="1344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797" name="Line 93"/>
            <p:cNvSpPr>
              <a:spLocks noChangeShapeType="1"/>
            </p:cNvSpPr>
            <p:nvPr/>
          </p:nvSpPr>
          <p:spPr bwMode="auto">
            <a:xfrm flipH="1">
              <a:off x="3456" y="3408"/>
              <a:ext cx="1680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795327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90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Time To Merge R1 and R2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Each is </a:t>
            </a:r>
            <a:r>
              <a:rPr lang="en-US" altLang="en-US">
                <a:solidFill>
                  <a:schemeClr val="hlink"/>
                </a:solidFill>
              </a:rPr>
              <a:t>5</a:t>
            </a:r>
            <a:r>
              <a:rPr lang="en-US" altLang="en-US"/>
              <a:t> blocks long.</a:t>
            </a:r>
          </a:p>
          <a:p>
            <a:r>
              <a:rPr lang="en-US" altLang="en-US"/>
              <a:t>Input time </a:t>
            </a:r>
            <a:r>
              <a:rPr lang="en-US" altLang="en-US">
                <a:solidFill>
                  <a:schemeClr val="hlink"/>
                </a:solidFill>
              </a:rPr>
              <a:t>=</a:t>
            </a:r>
            <a:r>
              <a:rPr lang="en-US" altLang="en-US"/>
              <a:t> </a:t>
            </a:r>
            <a:r>
              <a:rPr lang="en-US" altLang="en-US">
                <a:solidFill>
                  <a:schemeClr val="hlink"/>
                </a:solidFill>
              </a:rPr>
              <a:t>10t</a:t>
            </a:r>
            <a:r>
              <a:rPr lang="en-US" altLang="en-US" baseline="-25000">
                <a:solidFill>
                  <a:schemeClr val="hlink"/>
                </a:solidFill>
              </a:rPr>
              <a:t>IO</a:t>
            </a:r>
            <a:r>
              <a:rPr lang="en-US" altLang="en-US"/>
              <a:t>.</a:t>
            </a:r>
          </a:p>
          <a:p>
            <a:r>
              <a:rPr lang="en-US" altLang="en-US"/>
              <a:t>Write/output time </a:t>
            </a:r>
            <a:r>
              <a:rPr lang="en-US" altLang="en-US">
                <a:solidFill>
                  <a:schemeClr val="hlink"/>
                </a:solidFill>
              </a:rPr>
              <a:t>=</a:t>
            </a:r>
            <a:r>
              <a:rPr lang="en-US" altLang="en-US"/>
              <a:t> </a:t>
            </a:r>
            <a:r>
              <a:rPr lang="en-US" altLang="en-US">
                <a:solidFill>
                  <a:schemeClr val="hlink"/>
                </a:solidFill>
              </a:rPr>
              <a:t>10t</a:t>
            </a:r>
            <a:r>
              <a:rPr lang="en-US" altLang="en-US" baseline="-25000">
                <a:solidFill>
                  <a:schemeClr val="hlink"/>
                </a:solidFill>
              </a:rPr>
              <a:t>IO</a:t>
            </a:r>
            <a:r>
              <a:rPr lang="en-US" altLang="en-US"/>
              <a:t>.</a:t>
            </a:r>
          </a:p>
          <a:p>
            <a:r>
              <a:rPr lang="en-US" altLang="en-US"/>
              <a:t>Merge time </a:t>
            </a:r>
            <a:r>
              <a:rPr lang="en-US" altLang="en-US">
                <a:solidFill>
                  <a:schemeClr val="hlink"/>
                </a:solidFill>
              </a:rPr>
              <a:t>=</a:t>
            </a:r>
            <a:r>
              <a:rPr lang="en-US" altLang="en-US"/>
              <a:t> </a:t>
            </a:r>
            <a:r>
              <a:rPr lang="en-US" altLang="en-US">
                <a:solidFill>
                  <a:schemeClr val="hlink"/>
                </a:solidFill>
              </a:rPr>
              <a:t>10t</a:t>
            </a:r>
            <a:r>
              <a:rPr lang="en-US" altLang="en-US" baseline="-25000">
                <a:solidFill>
                  <a:schemeClr val="hlink"/>
                </a:solidFill>
              </a:rPr>
              <a:t>IM</a:t>
            </a:r>
            <a:r>
              <a:rPr lang="en-US" altLang="en-US"/>
              <a:t>.</a:t>
            </a:r>
          </a:p>
          <a:p>
            <a:r>
              <a:rPr lang="en-US" altLang="en-US"/>
              <a:t>Total time </a:t>
            </a:r>
            <a:r>
              <a:rPr lang="en-US" altLang="en-US">
                <a:solidFill>
                  <a:schemeClr val="hlink"/>
                </a:solidFill>
              </a:rPr>
              <a:t>=</a:t>
            </a:r>
            <a:r>
              <a:rPr lang="en-US" altLang="en-US"/>
              <a:t> </a:t>
            </a:r>
            <a:r>
              <a:rPr lang="en-US" altLang="en-US">
                <a:solidFill>
                  <a:schemeClr val="hlink"/>
                </a:solidFill>
              </a:rPr>
              <a:t>20t</a:t>
            </a:r>
            <a:r>
              <a:rPr lang="en-US" altLang="en-US" baseline="-25000">
                <a:solidFill>
                  <a:schemeClr val="hlink"/>
                </a:solidFill>
              </a:rPr>
              <a:t>IO </a:t>
            </a:r>
            <a:r>
              <a:rPr lang="en-US" altLang="en-US">
                <a:solidFill>
                  <a:schemeClr val="hlink"/>
                </a:solidFill>
              </a:rPr>
              <a:t>+ 10t</a:t>
            </a:r>
            <a:r>
              <a:rPr lang="en-US" altLang="en-US" baseline="-25000">
                <a:solidFill>
                  <a:schemeClr val="hlink"/>
                </a:solidFill>
              </a:rPr>
              <a:t>IM </a:t>
            </a:r>
            <a:r>
              <a:rPr lang="en-US" altLang="en-US"/>
              <a:t>.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5868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p" bldLvl="2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Time For Pass 1 (R    S)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2514600"/>
          </a:xfrm>
        </p:spPr>
        <p:txBody>
          <a:bodyPr/>
          <a:lstStyle/>
          <a:p>
            <a:r>
              <a:rPr lang="en-US" altLang="en-US"/>
              <a:t>Time to merge one pair of runs                    </a:t>
            </a:r>
            <a:r>
              <a:rPr lang="en-US" altLang="en-US">
                <a:solidFill>
                  <a:schemeClr val="hlink"/>
                </a:solidFill>
              </a:rPr>
              <a:t>=</a:t>
            </a:r>
            <a:r>
              <a:rPr lang="en-US" altLang="en-US"/>
              <a:t> </a:t>
            </a:r>
            <a:r>
              <a:rPr lang="en-US" altLang="en-US">
                <a:solidFill>
                  <a:schemeClr val="hlink"/>
                </a:solidFill>
              </a:rPr>
              <a:t>20t</a:t>
            </a:r>
            <a:r>
              <a:rPr lang="en-US" altLang="en-US" baseline="-25000">
                <a:solidFill>
                  <a:schemeClr val="hlink"/>
                </a:solidFill>
              </a:rPr>
              <a:t>IO </a:t>
            </a:r>
            <a:r>
              <a:rPr lang="en-US" altLang="en-US">
                <a:solidFill>
                  <a:schemeClr val="hlink"/>
                </a:solidFill>
              </a:rPr>
              <a:t>+ 10t</a:t>
            </a:r>
            <a:r>
              <a:rPr lang="en-US" altLang="en-US" baseline="-25000">
                <a:solidFill>
                  <a:schemeClr val="hlink"/>
                </a:solidFill>
              </a:rPr>
              <a:t>IM </a:t>
            </a:r>
            <a:r>
              <a:rPr lang="en-US" altLang="en-US"/>
              <a:t>.</a:t>
            </a:r>
          </a:p>
          <a:p>
            <a:r>
              <a:rPr lang="en-US" altLang="en-US"/>
              <a:t>Time to merge all </a:t>
            </a:r>
            <a:r>
              <a:rPr lang="en-US" altLang="en-US">
                <a:solidFill>
                  <a:schemeClr val="hlink"/>
                </a:solidFill>
              </a:rPr>
              <a:t>10</a:t>
            </a:r>
            <a:r>
              <a:rPr lang="en-US" altLang="en-US"/>
              <a:t> pairs of runs                    </a:t>
            </a:r>
            <a:r>
              <a:rPr lang="en-US" altLang="en-US">
                <a:solidFill>
                  <a:schemeClr val="hlink"/>
                </a:solidFill>
              </a:rPr>
              <a:t>=</a:t>
            </a:r>
            <a:r>
              <a:rPr lang="en-US" altLang="en-US"/>
              <a:t> </a:t>
            </a:r>
            <a:r>
              <a:rPr lang="en-US" altLang="en-US">
                <a:solidFill>
                  <a:schemeClr val="hlink"/>
                </a:solidFill>
              </a:rPr>
              <a:t>200t</a:t>
            </a:r>
            <a:r>
              <a:rPr lang="en-US" altLang="en-US" baseline="-25000">
                <a:solidFill>
                  <a:schemeClr val="hlink"/>
                </a:solidFill>
              </a:rPr>
              <a:t>IO </a:t>
            </a:r>
            <a:r>
              <a:rPr lang="en-US" altLang="en-US">
                <a:solidFill>
                  <a:schemeClr val="hlink"/>
                </a:solidFill>
              </a:rPr>
              <a:t>+ 100t</a:t>
            </a:r>
            <a:r>
              <a:rPr lang="en-US" altLang="en-US" baseline="-25000">
                <a:solidFill>
                  <a:schemeClr val="hlink"/>
                </a:solidFill>
              </a:rPr>
              <a:t>IM </a:t>
            </a:r>
            <a:r>
              <a:rPr lang="en-US" altLang="en-US"/>
              <a:t>.</a:t>
            </a:r>
          </a:p>
        </p:txBody>
      </p:sp>
      <p:sp>
        <p:nvSpPr>
          <p:cNvPr id="75780" name="Line 4"/>
          <p:cNvSpPr>
            <a:spLocks noChangeShapeType="1"/>
          </p:cNvSpPr>
          <p:nvPr/>
        </p:nvSpPr>
        <p:spPr bwMode="auto">
          <a:xfrm>
            <a:off x="6248400" y="762000"/>
            <a:ext cx="4572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428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build="p" bldLvl="2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Time To Merge S1 and S2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Each is </a:t>
            </a:r>
            <a:r>
              <a:rPr lang="en-US" altLang="en-US">
                <a:solidFill>
                  <a:schemeClr val="hlink"/>
                </a:solidFill>
              </a:rPr>
              <a:t>10</a:t>
            </a:r>
            <a:r>
              <a:rPr lang="en-US" altLang="en-US"/>
              <a:t> blocks long.</a:t>
            </a:r>
          </a:p>
          <a:p>
            <a:r>
              <a:rPr lang="en-US" altLang="en-US"/>
              <a:t>Input time </a:t>
            </a:r>
            <a:r>
              <a:rPr lang="en-US" altLang="en-US">
                <a:solidFill>
                  <a:schemeClr val="hlink"/>
                </a:solidFill>
              </a:rPr>
              <a:t>=</a:t>
            </a:r>
            <a:r>
              <a:rPr lang="en-US" altLang="en-US"/>
              <a:t> </a:t>
            </a:r>
            <a:r>
              <a:rPr lang="en-US" altLang="en-US">
                <a:solidFill>
                  <a:schemeClr val="hlink"/>
                </a:solidFill>
              </a:rPr>
              <a:t>20t</a:t>
            </a:r>
            <a:r>
              <a:rPr lang="en-US" altLang="en-US" baseline="-25000">
                <a:solidFill>
                  <a:schemeClr val="hlink"/>
                </a:solidFill>
              </a:rPr>
              <a:t>IO</a:t>
            </a:r>
            <a:r>
              <a:rPr lang="en-US" altLang="en-US"/>
              <a:t>.</a:t>
            </a:r>
          </a:p>
          <a:p>
            <a:r>
              <a:rPr lang="en-US" altLang="en-US"/>
              <a:t>Write/output time </a:t>
            </a:r>
            <a:r>
              <a:rPr lang="en-US" altLang="en-US">
                <a:solidFill>
                  <a:schemeClr val="hlink"/>
                </a:solidFill>
              </a:rPr>
              <a:t>=</a:t>
            </a:r>
            <a:r>
              <a:rPr lang="en-US" altLang="en-US"/>
              <a:t> </a:t>
            </a:r>
            <a:r>
              <a:rPr lang="en-US" altLang="en-US">
                <a:solidFill>
                  <a:schemeClr val="hlink"/>
                </a:solidFill>
              </a:rPr>
              <a:t>20t</a:t>
            </a:r>
            <a:r>
              <a:rPr lang="en-US" altLang="en-US" baseline="-25000">
                <a:solidFill>
                  <a:schemeClr val="hlink"/>
                </a:solidFill>
              </a:rPr>
              <a:t>IO</a:t>
            </a:r>
            <a:r>
              <a:rPr lang="en-US" altLang="en-US"/>
              <a:t>.</a:t>
            </a:r>
          </a:p>
          <a:p>
            <a:r>
              <a:rPr lang="en-US" altLang="en-US"/>
              <a:t>Merge time </a:t>
            </a:r>
            <a:r>
              <a:rPr lang="en-US" altLang="en-US">
                <a:solidFill>
                  <a:schemeClr val="hlink"/>
                </a:solidFill>
              </a:rPr>
              <a:t>=</a:t>
            </a:r>
            <a:r>
              <a:rPr lang="en-US" altLang="en-US"/>
              <a:t> </a:t>
            </a:r>
            <a:r>
              <a:rPr lang="en-US" altLang="en-US">
                <a:solidFill>
                  <a:schemeClr val="hlink"/>
                </a:solidFill>
              </a:rPr>
              <a:t>20t</a:t>
            </a:r>
            <a:r>
              <a:rPr lang="en-US" altLang="en-US" baseline="-25000">
                <a:solidFill>
                  <a:schemeClr val="hlink"/>
                </a:solidFill>
              </a:rPr>
              <a:t>IM</a:t>
            </a:r>
            <a:r>
              <a:rPr lang="en-US" altLang="en-US"/>
              <a:t>.</a:t>
            </a:r>
          </a:p>
          <a:p>
            <a:r>
              <a:rPr lang="en-US" altLang="en-US"/>
              <a:t>Total time </a:t>
            </a:r>
            <a:r>
              <a:rPr lang="en-US" altLang="en-US">
                <a:solidFill>
                  <a:schemeClr val="hlink"/>
                </a:solidFill>
              </a:rPr>
              <a:t>=</a:t>
            </a:r>
            <a:r>
              <a:rPr lang="en-US" altLang="en-US"/>
              <a:t> </a:t>
            </a:r>
            <a:r>
              <a:rPr lang="en-US" altLang="en-US">
                <a:solidFill>
                  <a:schemeClr val="hlink"/>
                </a:solidFill>
              </a:rPr>
              <a:t>40t</a:t>
            </a:r>
            <a:r>
              <a:rPr lang="en-US" altLang="en-US" baseline="-25000">
                <a:solidFill>
                  <a:schemeClr val="hlink"/>
                </a:solidFill>
              </a:rPr>
              <a:t>IO </a:t>
            </a:r>
            <a:r>
              <a:rPr lang="en-US" altLang="en-US">
                <a:solidFill>
                  <a:schemeClr val="hlink"/>
                </a:solidFill>
              </a:rPr>
              <a:t>+ 20t</a:t>
            </a:r>
            <a:r>
              <a:rPr lang="en-US" altLang="en-US" baseline="-25000">
                <a:solidFill>
                  <a:schemeClr val="hlink"/>
                </a:solidFill>
              </a:rPr>
              <a:t>IM </a:t>
            </a:r>
            <a:r>
              <a:rPr lang="en-US" altLang="en-US"/>
              <a:t>.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6432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3" grpId="0" build="p" bldLvl="2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Time For Pass 2 (S    T)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2514600"/>
          </a:xfrm>
        </p:spPr>
        <p:txBody>
          <a:bodyPr/>
          <a:lstStyle/>
          <a:p>
            <a:r>
              <a:rPr lang="en-US" altLang="en-US"/>
              <a:t>Time to merge one pair of runs                    </a:t>
            </a:r>
            <a:r>
              <a:rPr lang="en-US" altLang="en-US">
                <a:solidFill>
                  <a:schemeClr val="hlink"/>
                </a:solidFill>
              </a:rPr>
              <a:t>=</a:t>
            </a:r>
            <a:r>
              <a:rPr lang="en-US" altLang="en-US"/>
              <a:t> </a:t>
            </a:r>
            <a:r>
              <a:rPr lang="en-US" altLang="en-US">
                <a:solidFill>
                  <a:schemeClr val="hlink"/>
                </a:solidFill>
              </a:rPr>
              <a:t>40t</a:t>
            </a:r>
            <a:r>
              <a:rPr lang="en-US" altLang="en-US" baseline="-25000">
                <a:solidFill>
                  <a:schemeClr val="hlink"/>
                </a:solidFill>
              </a:rPr>
              <a:t>IO </a:t>
            </a:r>
            <a:r>
              <a:rPr lang="en-US" altLang="en-US">
                <a:solidFill>
                  <a:schemeClr val="hlink"/>
                </a:solidFill>
              </a:rPr>
              <a:t>+ 20t</a:t>
            </a:r>
            <a:r>
              <a:rPr lang="en-US" altLang="en-US" baseline="-25000">
                <a:solidFill>
                  <a:schemeClr val="hlink"/>
                </a:solidFill>
              </a:rPr>
              <a:t>IM </a:t>
            </a:r>
            <a:r>
              <a:rPr lang="en-US" altLang="en-US"/>
              <a:t>.</a:t>
            </a:r>
          </a:p>
          <a:p>
            <a:r>
              <a:rPr lang="en-US" altLang="en-US"/>
              <a:t>Time to merge all </a:t>
            </a:r>
            <a:r>
              <a:rPr lang="en-US" altLang="en-US">
                <a:solidFill>
                  <a:schemeClr val="hlink"/>
                </a:solidFill>
              </a:rPr>
              <a:t>5</a:t>
            </a:r>
            <a:r>
              <a:rPr lang="en-US" altLang="en-US"/>
              <a:t> pairs of runs                    </a:t>
            </a:r>
            <a:r>
              <a:rPr lang="en-US" altLang="en-US">
                <a:solidFill>
                  <a:schemeClr val="hlink"/>
                </a:solidFill>
              </a:rPr>
              <a:t>=</a:t>
            </a:r>
            <a:r>
              <a:rPr lang="en-US" altLang="en-US"/>
              <a:t> </a:t>
            </a:r>
            <a:r>
              <a:rPr lang="en-US" altLang="en-US">
                <a:solidFill>
                  <a:schemeClr val="hlink"/>
                </a:solidFill>
              </a:rPr>
              <a:t>200t</a:t>
            </a:r>
            <a:r>
              <a:rPr lang="en-US" altLang="en-US" baseline="-25000">
                <a:solidFill>
                  <a:schemeClr val="hlink"/>
                </a:solidFill>
              </a:rPr>
              <a:t>IO </a:t>
            </a:r>
            <a:r>
              <a:rPr lang="en-US" altLang="en-US">
                <a:solidFill>
                  <a:schemeClr val="hlink"/>
                </a:solidFill>
              </a:rPr>
              <a:t>+ 100t</a:t>
            </a:r>
            <a:r>
              <a:rPr lang="en-US" altLang="en-US" baseline="-25000">
                <a:solidFill>
                  <a:schemeClr val="hlink"/>
                </a:solidFill>
              </a:rPr>
              <a:t>IM </a:t>
            </a:r>
            <a:r>
              <a:rPr lang="en-US" altLang="en-US"/>
              <a:t>.</a:t>
            </a:r>
          </a:p>
        </p:txBody>
      </p:sp>
      <p:sp>
        <p:nvSpPr>
          <p:cNvPr id="77828" name="Line 4"/>
          <p:cNvSpPr>
            <a:spLocks noChangeShapeType="1"/>
          </p:cNvSpPr>
          <p:nvPr/>
        </p:nvSpPr>
        <p:spPr bwMode="auto">
          <a:xfrm>
            <a:off x="6248400" y="762000"/>
            <a:ext cx="4572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437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build="p" bldLvl="2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Time For One Merge Pass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077200" cy="2514600"/>
          </a:xfrm>
        </p:spPr>
        <p:txBody>
          <a:bodyPr/>
          <a:lstStyle/>
          <a:p>
            <a:r>
              <a:rPr lang="en-US" altLang="en-US"/>
              <a:t>Time to input all blocks </a:t>
            </a:r>
            <a:r>
              <a:rPr lang="en-US" altLang="en-US">
                <a:solidFill>
                  <a:schemeClr val="hlink"/>
                </a:solidFill>
              </a:rPr>
              <a:t>=</a:t>
            </a:r>
            <a:r>
              <a:rPr lang="en-US" altLang="en-US"/>
              <a:t> </a:t>
            </a:r>
            <a:r>
              <a:rPr lang="en-US" altLang="en-US">
                <a:solidFill>
                  <a:schemeClr val="hlink"/>
                </a:solidFill>
              </a:rPr>
              <a:t>100t</a:t>
            </a:r>
            <a:r>
              <a:rPr lang="en-US" altLang="en-US" baseline="-25000">
                <a:solidFill>
                  <a:schemeClr val="hlink"/>
                </a:solidFill>
              </a:rPr>
              <a:t>IO</a:t>
            </a:r>
            <a:r>
              <a:rPr lang="en-US" altLang="en-US"/>
              <a:t>.</a:t>
            </a:r>
          </a:p>
          <a:p>
            <a:r>
              <a:rPr lang="en-US" altLang="en-US"/>
              <a:t>Time to output all blocks </a:t>
            </a:r>
            <a:r>
              <a:rPr lang="en-US" altLang="en-US">
                <a:solidFill>
                  <a:schemeClr val="hlink"/>
                </a:solidFill>
              </a:rPr>
              <a:t>=</a:t>
            </a:r>
            <a:r>
              <a:rPr lang="en-US" altLang="en-US"/>
              <a:t> </a:t>
            </a:r>
            <a:r>
              <a:rPr lang="en-US" altLang="en-US">
                <a:solidFill>
                  <a:schemeClr val="hlink"/>
                </a:solidFill>
              </a:rPr>
              <a:t>100t</a:t>
            </a:r>
            <a:r>
              <a:rPr lang="en-US" altLang="en-US" baseline="-25000">
                <a:solidFill>
                  <a:schemeClr val="hlink"/>
                </a:solidFill>
              </a:rPr>
              <a:t>IO</a:t>
            </a:r>
            <a:r>
              <a:rPr lang="en-US" altLang="en-US"/>
              <a:t>.</a:t>
            </a:r>
          </a:p>
          <a:p>
            <a:r>
              <a:rPr lang="en-US" altLang="en-US"/>
              <a:t>Time to merge all blocks </a:t>
            </a:r>
            <a:r>
              <a:rPr lang="en-US" altLang="en-US">
                <a:solidFill>
                  <a:schemeClr val="hlink"/>
                </a:solidFill>
              </a:rPr>
              <a:t>=</a:t>
            </a:r>
            <a:r>
              <a:rPr lang="en-US" altLang="en-US"/>
              <a:t> </a:t>
            </a:r>
            <a:r>
              <a:rPr lang="en-US" altLang="en-US">
                <a:solidFill>
                  <a:schemeClr val="hlink"/>
                </a:solidFill>
              </a:rPr>
              <a:t>100t</a:t>
            </a:r>
            <a:r>
              <a:rPr lang="en-US" altLang="en-US" baseline="-25000">
                <a:solidFill>
                  <a:schemeClr val="hlink"/>
                </a:solidFill>
              </a:rPr>
              <a:t>IM </a:t>
            </a:r>
            <a:r>
              <a:rPr lang="en-US" altLang="en-US"/>
              <a:t>.</a:t>
            </a:r>
          </a:p>
          <a:p>
            <a:r>
              <a:rPr lang="en-US" altLang="en-US"/>
              <a:t>Total time for a merge pass </a:t>
            </a:r>
            <a:r>
              <a:rPr lang="en-US" altLang="en-US">
                <a:solidFill>
                  <a:schemeClr val="hlink"/>
                </a:solidFill>
              </a:rPr>
              <a:t>=</a:t>
            </a:r>
            <a:r>
              <a:rPr lang="en-US" altLang="en-US"/>
              <a:t> </a:t>
            </a:r>
            <a:r>
              <a:rPr lang="en-US" altLang="en-US">
                <a:solidFill>
                  <a:schemeClr val="hlink"/>
                </a:solidFill>
              </a:rPr>
              <a:t>200t</a:t>
            </a:r>
            <a:r>
              <a:rPr lang="en-US" altLang="en-US" baseline="-25000">
                <a:solidFill>
                  <a:schemeClr val="hlink"/>
                </a:solidFill>
              </a:rPr>
              <a:t>IO </a:t>
            </a:r>
            <a:r>
              <a:rPr lang="en-US" altLang="en-US">
                <a:solidFill>
                  <a:schemeClr val="hlink"/>
                </a:solidFill>
              </a:rPr>
              <a:t>+ 100t</a:t>
            </a:r>
            <a:r>
              <a:rPr lang="en-US" altLang="en-US" baseline="-25000">
                <a:solidFill>
                  <a:schemeClr val="hlink"/>
                </a:solidFill>
              </a:rPr>
              <a:t>IM </a:t>
            </a:r>
            <a:r>
              <a:rPr lang="en-US" alt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4824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build="p" bldLvl="2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Total Run-Merging Time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981200"/>
            <a:ext cx="8610600" cy="4114800"/>
          </a:xfrm>
        </p:spPr>
        <p:txBody>
          <a:bodyPr/>
          <a:lstStyle/>
          <a:p>
            <a:r>
              <a:rPr lang="en-US" altLang="en-US">
                <a:solidFill>
                  <a:schemeClr val="hlink"/>
                </a:solidFill>
              </a:rPr>
              <a:t>(time for one merge pass) * (number of passes)</a:t>
            </a:r>
          </a:p>
          <a:p>
            <a:pPr>
              <a:buFontTx/>
              <a:buNone/>
            </a:pPr>
            <a:r>
              <a:rPr lang="en-US" altLang="en-US">
                <a:solidFill>
                  <a:schemeClr val="hlink"/>
                </a:solidFill>
              </a:rPr>
              <a:t>    = (time for one merge pass) </a:t>
            </a:r>
          </a:p>
          <a:p>
            <a:pPr lvl="1">
              <a:buFontTx/>
              <a:buNone/>
            </a:pPr>
            <a:r>
              <a:rPr lang="en-US" altLang="en-US">
                <a:solidFill>
                  <a:schemeClr val="hlink"/>
                </a:solidFill>
              </a:rPr>
              <a:t>    </a:t>
            </a:r>
            <a:r>
              <a:rPr lang="en-US" altLang="en-US" sz="3200">
                <a:solidFill>
                  <a:schemeClr val="hlink"/>
                </a:solidFill>
              </a:rPr>
              <a:t>* ceil(log</a:t>
            </a:r>
            <a:r>
              <a:rPr lang="en-US" altLang="en-US" sz="3200" baseline="-25000">
                <a:solidFill>
                  <a:schemeClr val="hlink"/>
                </a:solidFill>
              </a:rPr>
              <a:t>2</a:t>
            </a:r>
            <a:r>
              <a:rPr lang="en-US" altLang="en-US" sz="3200">
                <a:solidFill>
                  <a:schemeClr val="hlink"/>
                </a:solidFill>
              </a:rPr>
              <a:t>(number of initial runs))</a:t>
            </a:r>
          </a:p>
          <a:p>
            <a:pPr>
              <a:buFontTx/>
              <a:buNone/>
            </a:pPr>
            <a:r>
              <a:rPr lang="en-US" altLang="en-US">
                <a:solidFill>
                  <a:schemeClr val="hlink"/>
                </a:solidFill>
              </a:rPr>
              <a:t>    = (200t</a:t>
            </a:r>
            <a:r>
              <a:rPr lang="en-US" altLang="en-US" baseline="-25000">
                <a:solidFill>
                  <a:schemeClr val="hlink"/>
                </a:solidFill>
              </a:rPr>
              <a:t>IO </a:t>
            </a:r>
            <a:r>
              <a:rPr lang="en-US" altLang="en-US">
                <a:solidFill>
                  <a:schemeClr val="hlink"/>
                </a:solidFill>
              </a:rPr>
              <a:t>+ 100t</a:t>
            </a:r>
            <a:r>
              <a:rPr lang="en-US" altLang="en-US" baseline="-25000">
                <a:solidFill>
                  <a:schemeClr val="hlink"/>
                </a:solidFill>
              </a:rPr>
              <a:t>IM</a:t>
            </a:r>
            <a:r>
              <a:rPr lang="en-US" altLang="en-US">
                <a:solidFill>
                  <a:schemeClr val="hlink"/>
                </a:solidFill>
              </a:rPr>
              <a:t>) * ceil(log</a:t>
            </a:r>
            <a:r>
              <a:rPr lang="en-US" altLang="en-US" baseline="-25000">
                <a:solidFill>
                  <a:schemeClr val="hlink"/>
                </a:solidFill>
              </a:rPr>
              <a:t>2</a:t>
            </a:r>
            <a:r>
              <a:rPr lang="en-US" altLang="en-US">
                <a:solidFill>
                  <a:schemeClr val="hlink"/>
                </a:solidFill>
              </a:rPr>
              <a:t>(20))</a:t>
            </a:r>
          </a:p>
          <a:p>
            <a:pPr>
              <a:buFontTx/>
              <a:buNone/>
            </a:pPr>
            <a:r>
              <a:rPr lang="en-US" altLang="en-US">
                <a:solidFill>
                  <a:schemeClr val="hlink"/>
                </a:solidFill>
              </a:rPr>
              <a:t>    = (200t</a:t>
            </a:r>
            <a:r>
              <a:rPr lang="en-US" altLang="en-US" baseline="-25000">
                <a:solidFill>
                  <a:schemeClr val="hlink"/>
                </a:solidFill>
              </a:rPr>
              <a:t>IO </a:t>
            </a:r>
            <a:r>
              <a:rPr lang="en-US" altLang="en-US">
                <a:solidFill>
                  <a:schemeClr val="hlink"/>
                </a:solidFill>
              </a:rPr>
              <a:t>+ 100t</a:t>
            </a:r>
            <a:r>
              <a:rPr lang="en-US" altLang="en-US" baseline="-25000">
                <a:solidFill>
                  <a:schemeClr val="hlink"/>
                </a:solidFill>
              </a:rPr>
              <a:t>IM</a:t>
            </a:r>
            <a:r>
              <a:rPr lang="en-US" altLang="en-US">
                <a:solidFill>
                  <a:schemeClr val="hlink"/>
                </a:solidFill>
              </a:rPr>
              <a:t>) * 5</a:t>
            </a:r>
          </a:p>
        </p:txBody>
      </p:sp>
    </p:spTree>
    <p:extLst>
      <p:ext uri="{BB962C8B-B14F-4D97-AF65-F5344CB8AC3E}">
        <p14:creationId xmlns:p14="http://schemas.microsoft.com/office/powerpoint/2010/main" val="2419661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" grpId="0" build="p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Factors In Overall Run Time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447800"/>
            <a:ext cx="7772400" cy="5181600"/>
          </a:xfrm>
        </p:spPr>
        <p:txBody>
          <a:bodyPr/>
          <a:lstStyle/>
          <a:p>
            <a:r>
              <a:rPr lang="en-US" altLang="en-US"/>
              <a:t>Run generation. </a:t>
            </a:r>
            <a:r>
              <a:rPr lang="en-US" altLang="en-US">
                <a:solidFill>
                  <a:schemeClr val="hlink"/>
                </a:solidFill>
              </a:rPr>
              <a:t>200t</a:t>
            </a:r>
            <a:r>
              <a:rPr lang="en-US" altLang="en-US" baseline="-25000">
                <a:solidFill>
                  <a:schemeClr val="hlink"/>
                </a:solidFill>
              </a:rPr>
              <a:t>IO </a:t>
            </a:r>
            <a:r>
              <a:rPr lang="en-US" altLang="en-US">
                <a:solidFill>
                  <a:schemeClr val="hlink"/>
                </a:solidFill>
              </a:rPr>
              <a:t>+ 20t</a:t>
            </a:r>
            <a:r>
              <a:rPr lang="en-US" altLang="en-US" baseline="-25000">
                <a:solidFill>
                  <a:schemeClr val="hlink"/>
                </a:solidFill>
              </a:rPr>
              <a:t>IS</a:t>
            </a:r>
            <a:endParaRPr lang="en-US" altLang="en-US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/>
              <a:t>Internal sort time.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/>
              <a:t>Input and output time.</a:t>
            </a:r>
          </a:p>
          <a:p>
            <a:r>
              <a:rPr lang="en-US" altLang="en-US"/>
              <a:t>Run merging. </a:t>
            </a:r>
            <a:r>
              <a:rPr lang="en-US" altLang="en-US" sz="2800">
                <a:solidFill>
                  <a:schemeClr val="hlink"/>
                </a:solidFill>
              </a:rPr>
              <a:t>(200t</a:t>
            </a:r>
            <a:r>
              <a:rPr lang="en-US" altLang="en-US" sz="2800" baseline="-25000">
                <a:solidFill>
                  <a:schemeClr val="hlink"/>
                </a:solidFill>
              </a:rPr>
              <a:t>IO </a:t>
            </a:r>
            <a:r>
              <a:rPr lang="en-US" altLang="en-US" sz="2800">
                <a:solidFill>
                  <a:schemeClr val="hlink"/>
                </a:solidFill>
              </a:rPr>
              <a:t>+ 100t</a:t>
            </a:r>
            <a:r>
              <a:rPr lang="en-US" altLang="en-US" sz="2800" baseline="-25000">
                <a:solidFill>
                  <a:schemeClr val="hlink"/>
                </a:solidFill>
              </a:rPr>
              <a:t>IM</a:t>
            </a:r>
            <a:r>
              <a:rPr lang="en-US" altLang="en-US" sz="2800">
                <a:solidFill>
                  <a:schemeClr val="hlink"/>
                </a:solidFill>
              </a:rPr>
              <a:t>) * ceil(log</a:t>
            </a:r>
            <a:r>
              <a:rPr lang="en-US" altLang="en-US" sz="2800" baseline="-25000">
                <a:solidFill>
                  <a:schemeClr val="hlink"/>
                </a:solidFill>
              </a:rPr>
              <a:t>2</a:t>
            </a:r>
            <a:r>
              <a:rPr lang="en-US" altLang="en-US" sz="2800">
                <a:solidFill>
                  <a:schemeClr val="hlink"/>
                </a:solidFill>
              </a:rPr>
              <a:t>(20))</a:t>
            </a:r>
            <a:endParaRPr lang="en-US" altLang="en-US" sz="280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/>
              <a:t>Internal merge time.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/>
              <a:t>Input and output time.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/>
              <a:t>Number of initial runs.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/>
              <a:t>Merge order (number of merge passes is determined by number of runs and merge order)</a:t>
            </a:r>
          </a:p>
        </p:txBody>
      </p:sp>
    </p:spTree>
    <p:extLst>
      <p:ext uri="{BB962C8B-B14F-4D97-AF65-F5344CB8AC3E}">
        <p14:creationId xmlns:p14="http://schemas.microsoft.com/office/powerpoint/2010/main" val="65051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0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0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0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0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build="p" bldLvl="3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Improve Run Generation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7772400" cy="609600"/>
          </a:xfrm>
        </p:spPr>
        <p:txBody>
          <a:bodyPr/>
          <a:lstStyle/>
          <a:p>
            <a:pPr lvl="1">
              <a:buClr>
                <a:schemeClr val="tx2"/>
              </a:buClr>
              <a:buFontTx/>
              <a:buChar char="•"/>
            </a:pPr>
            <a:r>
              <a:rPr lang="en-US" altLang="en-US"/>
              <a:t>Overlap input, output, and internal sorting.</a:t>
            </a:r>
          </a:p>
        </p:txBody>
      </p:sp>
      <p:grpSp>
        <p:nvGrpSpPr>
          <p:cNvPr id="81924" name="Group 4"/>
          <p:cNvGrpSpPr>
            <a:grpSpLocks/>
          </p:cNvGrpSpPr>
          <p:nvPr/>
        </p:nvGrpSpPr>
        <p:grpSpPr bwMode="auto">
          <a:xfrm>
            <a:off x="990600" y="2514600"/>
            <a:ext cx="6400800" cy="3352800"/>
            <a:chOff x="672" y="1584"/>
            <a:chExt cx="4032" cy="2112"/>
          </a:xfrm>
        </p:grpSpPr>
        <p:sp>
          <p:nvSpPr>
            <p:cNvPr id="81925" name="Rectangle 5"/>
            <p:cNvSpPr>
              <a:spLocks noChangeArrowheads="1"/>
            </p:cNvSpPr>
            <p:nvPr/>
          </p:nvSpPr>
          <p:spPr bwMode="auto">
            <a:xfrm>
              <a:off x="672" y="1632"/>
              <a:ext cx="2016" cy="2016"/>
            </a:xfrm>
            <a:prstGeom prst="rect">
              <a:avLst/>
            </a:prstGeom>
            <a:solidFill>
              <a:srgbClr val="99FF33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1926" name="Oval 6"/>
            <p:cNvSpPr>
              <a:spLocks noChangeArrowheads="1"/>
            </p:cNvSpPr>
            <p:nvPr/>
          </p:nvSpPr>
          <p:spPr bwMode="auto">
            <a:xfrm>
              <a:off x="3744" y="2832"/>
              <a:ext cx="912" cy="86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1927" name="Text Box 7"/>
            <p:cNvSpPr txBox="1">
              <a:spLocks noChangeArrowheads="1"/>
            </p:cNvSpPr>
            <p:nvPr/>
          </p:nvSpPr>
          <p:spPr bwMode="auto">
            <a:xfrm>
              <a:off x="3936" y="3120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chemeClr val="tx2"/>
                  </a:solidFill>
                  <a:effectLst/>
                </a:rPr>
                <a:t>DISK</a:t>
              </a:r>
            </a:p>
          </p:txBody>
        </p:sp>
        <p:sp>
          <p:nvSpPr>
            <p:cNvPr id="81928" name="Line 8"/>
            <p:cNvSpPr>
              <a:spLocks noChangeShapeType="1"/>
            </p:cNvSpPr>
            <p:nvPr/>
          </p:nvSpPr>
          <p:spPr bwMode="auto">
            <a:xfrm>
              <a:off x="2688" y="3360"/>
              <a:ext cx="1056" cy="0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1929" name="Text Box 9"/>
            <p:cNvSpPr txBox="1">
              <a:spLocks noChangeArrowheads="1"/>
            </p:cNvSpPr>
            <p:nvPr/>
          </p:nvSpPr>
          <p:spPr bwMode="auto">
            <a:xfrm>
              <a:off x="1248" y="2544"/>
              <a:ext cx="10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chemeClr val="tx2"/>
                  </a:solidFill>
                  <a:effectLst/>
                </a:rPr>
                <a:t>MEMORY</a:t>
              </a:r>
            </a:p>
          </p:txBody>
        </p:sp>
        <p:sp>
          <p:nvSpPr>
            <p:cNvPr id="81930" name="Oval 10"/>
            <p:cNvSpPr>
              <a:spLocks noChangeArrowheads="1"/>
            </p:cNvSpPr>
            <p:nvPr/>
          </p:nvSpPr>
          <p:spPr bwMode="auto">
            <a:xfrm>
              <a:off x="3744" y="1584"/>
              <a:ext cx="912" cy="86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1931" name="Text Box 11"/>
            <p:cNvSpPr txBox="1">
              <a:spLocks noChangeArrowheads="1"/>
            </p:cNvSpPr>
            <p:nvPr/>
          </p:nvSpPr>
          <p:spPr bwMode="auto">
            <a:xfrm>
              <a:off x="3936" y="1872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chemeClr val="tx2"/>
                  </a:solidFill>
                  <a:effectLst/>
                </a:rPr>
                <a:t>DISK</a:t>
              </a:r>
            </a:p>
          </p:txBody>
        </p:sp>
        <p:sp>
          <p:nvSpPr>
            <p:cNvPr id="81932" name="Line 12"/>
            <p:cNvSpPr>
              <a:spLocks noChangeShapeType="1"/>
            </p:cNvSpPr>
            <p:nvPr/>
          </p:nvSpPr>
          <p:spPr bwMode="auto">
            <a:xfrm>
              <a:off x="2688" y="2112"/>
              <a:ext cx="1056" cy="0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561545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build="p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Improve Run Generation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Generate runs whose length (on average) exceeds memory size.</a:t>
            </a:r>
          </a:p>
          <a:p>
            <a:r>
              <a:rPr lang="en-US" altLang="en-US"/>
              <a:t>Equivalent to reducing number of runs generated.</a:t>
            </a:r>
          </a:p>
        </p:txBody>
      </p:sp>
    </p:spTree>
    <p:extLst>
      <p:ext uri="{BB962C8B-B14F-4D97-AF65-F5344CB8AC3E}">
        <p14:creationId xmlns:p14="http://schemas.microsoft.com/office/powerpoint/2010/main" val="2511276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 build="p" bldLvl="2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Improve Run Merging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7772400" cy="609600"/>
          </a:xfrm>
        </p:spPr>
        <p:txBody>
          <a:bodyPr/>
          <a:lstStyle/>
          <a:p>
            <a:pPr lvl="1">
              <a:buClr>
                <a:schemeClr val="tx2"/>
              </a:buClr>
              <a:buFontTx/>
              <a:buChar char="•"/>
            </a:pPr>
            <a:r>
              <a:rPr lang="en-US" altLang="en-US"/>
              <a:t>Overlap input, output, and internal merging.</a:t>
            </a:r>
          </a:p>
        </p:txBody>
      </p:sp>
      <p:grpSp>
        <p:nvGrpSpPr>
          <p:cNvPr id="83972" name="Group 4"/>
          <p:cNvGrpSpPr>
            <a:grpSpLocks/>
          </p:cNvGrpSpPr>
          <p:nvPr/>
        </p:nvGrpSpPr>
        <p:grpSpPr bwMode="auto">
          <a:xfrm>
            <a:off x="990600" y="2514600"/>
            <a:ext cx="6400800" cy="3352800"/>
            <a:chOff x="672" y="1584"/>
            <a:chExt cx="4032" cy="2112"/>
          </a:xfrm>
        </p:grpSpPr>
        <p:sp>
          <p:nvSpPr>
            <p:cNvPr id="83973" name="Rectangle 5"/>
            <p:cNvSpPr>
              <a:spLocks noChangeArrowheads="1"/>
            </p:cNvSpPr>
            <p:nvPr/>
          </p:nvSpPr>
          <p:spPr bwMode="auto">
            <a:xfrm>
              <a:off x="672" y="1632"/>
              <a:ext cx="2016" cy="2016"/>
            </a:xfrm>
            <a:prstGeom prst="rect">
              <a:avLst/>
            </a:prstGeom>
            <a:solidFill>
              <a:srgbClr val="99FF33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3974" name="Oval 6"/>
            <p:cNvSpPr>
              <a:spLocks noChangeArrowheads="1"/>
            </p:cNvSpPr>
            <p:nvPr/>
          </p:nvSpPr>
          <p:spPr bwMode="auto">
            <a:xfrm>
              <a:off x="3744" y="2832"/>
              <a:ext cx="912" cy="86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3975" name="Text Box 7"/>
            <p:cNvSpPr txBox="1">
              <a:spLocks noChangeArrowheads="1"/>
            </p:cNvSpPr>
            <p:nvPr/>
          </p:nvSpPr>
          <p:spPr bwMode="auto">
            <a:xfrm>
              <a:off x="3936" y="3120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chemeClr val="tx2"/>
                  </a:solidFill>
                  <a:effectLst/>
                </a:rPr>
                <a:t>DISK</a:t>
              </a:r>
            </a:p>
          </p:txBody>
        </p:sp>
        <p:sp>
          <p:nvSpPr>
            <p:cNvPr id="83976" name="Line 8"/>
            <p:cNvSpPr>
              <a:spLocks noChangeShapeType="1"/>
            </p:cNvSpPr>
            <p:nvPr/>
          </p:nvSpPr>
          <p:spPr bwMode="auto">
            <a:xfrm>
              <a:off x="2688" y="3360"/>
              <a:ext cx="1056" cy="0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3977" name="Text Box 9"/>
            <p:cNvSpPr txBox="1">
              <a:spLocks noChangeArrowheads="1"/>
            </p:cNvSpPr>
            <p:nvPr/>
          </p:nvSpPr>
          <p:spPr bwMode="auto">
            <a:xfrm>
              <a:off x="1248" y="2544"/>
              <a:ext cx="10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chemeClr val="tx2"/>
                  </a:solidFill>
                  <a:effectLst/>
                </a:rPr>
                <a:t>MEMORY</a:t>
              </a:r>
            </a:p>
          </p:txBody>
        </p:sp>
        <p:sp>
          <p:nvSpPr>
            <p:cNvPr id="83978" name="Oval 10"/>
            <p:cNvSpPr>
              <a:spLocks noChangeArrowheads="1"/>
            </p:cNvSpPr>
            <p:nvPr/>
          </p:nvSpPr>
          <p:spPr bwMode="auto">
            <a:xfrm>
              <a:off x="3744" y="1584"/>
              <a:ext cx="912" cy="86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3979" name="Text Box 11"/>
            <p:cNvSpPr txBox="1">
              <a:spLocks noChangeArrowheads="1"/>
            </p:cNvSpPr>
            <p:nvPr/>
          </p:nvSpPr>
          <p:spPr bwMode="auto">
            <a:xfrm>
              <a:off x="3936" y="1872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chemeClr val="tx2"/>
                  </a:solidFill>
                  <a:effectLst/>
                </a:rPr>
                <a:t>DISK</a:t>
              </a:r>
            </a:p>
          </p:txBody>
        </p:sp>
        <p:sp>
          <p:nvSpPr>
            <p:cNvPr id="83980" name="Line 12"/>
            <p:cNvSpPr>
              <a:spLocks noChangeShapeType="1"/>
            </p:cNvSpPr>
            <p:nvPr/>
          </p:nvSpPr>
          <p:spPr bwMode="auto">
            <a:xfrm>
              <a:off x="2688" y="2112"/>
              <a:ext cx="1056" cy="0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631481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3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3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 build="p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Improve Run Merging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Reduce number of merge passes.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/>
              <a:t>Use higher-order merge.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/>
              <a:t>Number of passes                                               </a:t>
            </a:r>
            <a:r>
              <a:rPr lang="en-US" altLang="en-US">
                <a:solidFill>
                  <a:schemeClr val="hlink"/>
                </a:solidFill>
              </a:rPr>
              <a:t>=</a:t>
            </a:r>
            <a:r>
              <a:rPr lang="en-US" altLang="en-US"/>
              <a:t> </a:t>
            </a:r>
            <a:r>
              <a:rPr lang="en-US" altLang="en-US">
                <a:solidFill>
                  <a:schemeClr val="hlink"/>
                </a:solidFill>
              </a:rPr>
              <a:t>ceil(log</a:t>
            </a:r>
            <a:r>
              <a:rPr lang="en-US" altLang="en-US" baseline="-25000">
                <a:solidFill>
                  <a:schemeClr val="hlink"/>
                </a:solidFill>
              </a:rPr>
              <a:t>k</a:t>
            </a:r>
            <a:r>
              <a:rPr lang="en-US" altLang="en-US">
                <a:solidFill>
                  <a:schemeClr val="hlink"/>
                </a:solidFill>
              </a:rPr>
              <a:t>(number of initial runs))             </a:t>
            </a:r>
            <a:r>
              <a:rPr lang="en-US" altLang="en-US">
                <a:solidFill>
                  <a:schemeClr val="bg2"/>
                </a:solidFill>
              </a:rPr>
              <a:t>where </a:t>
            </a:r>
            <a:r>
              <a:rPr lang="en-US" altLang="en-US">
                <a:solidFill>
                  <a:schemeClr val="hlink"/>
                </a:solidFill>
              </a:rPr>
              <a:t>k</a:t>
            </a:r>
            <a:r>
              <a:rPr lang="en-US" altLang="en-US">
                <a:solidFill>
                  <a:schemeClr val="bg2"/>
                </a:solidFill>
              </a:rPr>
              <a:t> is the merge order.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1907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" grpId="0" build="p" bldLvl="3" autoUpdateAnimBg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/>
          <a:lstStyle/>
          <a:p>
            <a:r>
              <a:rPr lang="en-US" altLang="en-US"/>
              <a:t>Merge 20 Runs Using 5-Way Merging</a:t>
            </a:r>
          </a:p>
        </p:txBody>
      </p:sp>
      <p:grpSp>
        <p:nvGrpSpPr>
          <p:cNvPr id="86019" name="Group 3"/>
          <p:cNvGrpSpPr>
            <a:grpSpLocks/>
          </p:cNvGrpSpPr>
          <p:nvPr/>
        </p:nvGrpSpPr>
        <p:grpSpPr bwMode="auto">
          <a:xfrm>
            <a:off x="0" y="1447800"/>
            <a:ext cx="9220200" cy="396875"/>
            <a:chOff x="0" y="912"/>
            <a:chExt cx="5808" cy="250"/>
          </a:xfrm>
        </p:grpSpPr>
        <p:sp>
          <p:nvSpPr>
            <p:cNvPr id="86020" name="Text Box 4"/>
            <p:cNvSpPr txBox="1">
              <a:spLocks noChangeArrowheads="1"/>
            </p:cNvSpPr>
            <p:nvPr/>
          </p:nvSpPr>
          <p:spPr bwMode="auto">
            <a:xfrm>
              <a:off x="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R1</a:t>
              </a:r>
            </a:p>
          </p:txBody>
        </p:sp>
        <p:sp>
          <p:nvSpPr>
            <p:cNvPr id="86021" name="Text Box 5"/>
            <p:cNvSpPr txBox="1">
              <a:spLocks noChangeArrowheads="1"/>
            </p:cNvSpPr>
            <p:nvPr/>
          </p:nvSpPr>
          <p:spPr bwMode="auto">
            <a:xfrm>
              <a:off x="24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R2</a:t>
              </a:r>
            </a:p>
          </p:txBody>
        </p:sp>
        <p:sp>
          <p:nvSpPr>
            <p:cNvPr id="86022" name="Text Box 6"/>
            <p:cNvSpPr txBox="1">
              <a:spLocks noChangeArrowheads="1"/>
            </p:cNvSpPr>
            <p:nvPr/>
          </p:nvSpPr>
          <p:spPr bwMode="auto">
            <a:xfrm>
              <a:off x="48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R3</a:t>
              </a:r>
            </a:p>
          </p:txBody>
        </p:sp>
        <p:sp>
          <p:nvSpPr>
            <p:cNvPr id="86023" name="Text Box 7"/>
            <p:cNvSpPr txBox="1">
              <a:spLocks noChangeArrowheads="1"/>
            </p:cNvSpPr>
            <p:nvPr/>
          </p:nvSpPr>
          <p:spPr bwMode="auto">
            <a:xfrm>
              <a:off x="72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R4</a:t>
              </a:r>
            </a:p>
          </p:txBody>
        </p:sp>
        <p:sp>
          <p:nvSpPr>
            <p:cNvPr id="86024" name="Text Box 8"/>
            <p:cNvSpPr txBox="1">
              <a:spLocks noChangeArrowheads="1"/>
            </p:cNvSpPr>
            <p:nvPr/>
          </p:nvSpPr>
          <p:spPr bwMode="auto">
            <a:xfrm>
              <a:off x="96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R5</a:t>
              </a:r>
            </a:p>
          </p:txBody>
        </p:sp>
        <p:sp>
          <p:nvSpPr>
            <p:cNvPr id="86025" name="Text Box 9"/>
            <p:cNvSpPr txBox="1">
              <a:spLocks noChangeArrowheads="1"/>
            </p:cNvSpPr>
            <p:nvPr/>
          </p:nvSpPr>
          <p:spPr bwMode="auto">
            <a:xfrm>
              <a:off x="120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R6</a:t>
              </a:r>
            </a:p>
          </p:txBody>
        </p:sp>
        <p:sp>
          <p:nvSpPr>
            <p:cNvPr id="86026" name="Text Box 10"/>
            <p:cNvSpPr txBox="1">
              <a:spLocks noChangeArrowheads="1"/>
            </p:cNvSpPr>
            <p:nvPr/>
          </p:nvSpPr>
          <p:spPr bwMode="auto">
            <a:xfrm>
              <a:off x="144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R7</a:t>
              </a:r>
            </a:p>
          </p:txBody>
        </p:sp>
        <p:sp>
          <p:nvSpPr>
            <p:cNvPr id="86027" name="Text Box 11"/>
            <p:cNvSpPr txBox="1">
              <a:spLocks noChangeArrowheads="1"/>
            </p:cNvSpPr>
            <p:nvPr/>
          </p:nvSpPr>
          <p:spPr bwMode="auto">
            <a:xfrm>
              <a:off x="168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R8</a:t>
              </a:r>
            </a:p>
          </p:txBody>
        </p:sp>
        <p:sp>
          <p:nvSpPr>
            <p:cNvPr id="86028" name="Text Box 12"/>
            <p:cNvSpPr txBox="1">
              <a:spLocks noChangeArrowheads="1"/>
            </p:cNvSpPr>
            <p:nvPr/>
          </p:nvSpPr>
          <p:spPr bwMode="auto">
            <a:xfrm>
              <a:off x="192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R9</a:t>
              </a:r>
            </a:p>
          </p:txBody>
        </p:sp>
        <p:sp>
          <p:nvSpPr>
            <p:cNvPr id="86029" name="Text Box 13"/>
            <p:cNvSpPr txBox="1">
              <a:spLocks noChangeArrowheads="1"/>
            </p:cNvSpPr>
            <p:nvPr/>
          </p:nvSpPr>
          <p:spPr bwMode="auto">
            <a:xfrm>
              <a:off x="216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R10</a:t>
              </a:r>
            </a:p>
          </p:txBody>
        </p:sp>
        <p:sp>
          <p:nvSpPr>
            <p:cNvPr id="86030" name="Text Box 14"/>
            <p:cNvSpPr txBox="1">
              <a:spLocks noChangeArrowheads="1"/>
            </p:cNvSpPr>
            <p:nvPr/>
          </p:nvSpPr>
          <p:spPr bwMode="auto">
            <a:xfrm>
              <a:off x="2448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R11</a:t>
              </a:r>
            </a:p>
          </p:txBody>
        </p:sp>
        <p:sp>
          <p:nvSpPr>
            <p:cNvPr id="86031" name="Text Box 15"/>
            <p:cNvSpPr txBox="1">
              <a:spLocks noChangeArrowheads="1"/>
            </p:cNvSpPr>
            <p:nvPr/>
          </p:nvSpPr>
          <p:spPr bwMode="auto">
            <a:xfrm>
              <a:off x="2784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R12</a:t>
              </a:r>
            </a:p>
          </p:txBody>
        </p:sp>
        <p:sp>
          <p:nvSpPr>
            <p:cNvPr id="86032" name="Text Box 16"/>
            <p:cNvSpPr txBox="1">
              <a:spLocks noChangeArrowheads="1"/>
            </p:cNvSpPr>
            <p:nvPr/>
          </p:nvSpPr>
          <p:spPr bwMode="auto">
            <a:xfrm>
              <a:off x="3168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R13</a:t>
              </a:r>
            </a:p>
          </p:txBody>
        </p:sp>
        <p:sp>
          <p:nvSpPr>
            <p:cNvPr id="86033" name="Text Box 17"/>
            <p:cNvSpPr txBox="1">
              <a:spLocks noChangeArrowheads="1"/>
            </p:cNvSpPr>
            <p:nvPr/>
          </p:nvSpPr>
          <p:spPr bwMode="auto">
            <a:xfrm>
              <a:off x="3456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R14</a:t>
              </a:r>
            </a:p>
          </p:txBody>
        </p:sp>
        <p:sp>
          <p:nvSpPr>
            <p:cNvPr id="86034" name="Text Box 18"/>
            <p:cNvSpPr txBox="1">
              <a:spLocks noChangeArrowheads="1"/>
            </p:cNvSpPr>
            <p:nvPr/>
          </p:nvSpPr>
          <p:spPr bwMode="auto">
            <a:xfrm>
              <a:off x="384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R15</a:t>
              </a:r>
            </a:p>
          </p:txBody>
        </p:sp>
        <p:sp>
          <p:nvSpPr>
            <p:cNvPr id="86035" name="Text Box 19"/>
            <p:cNvSpPr txBox="1">
              <a:spLocks noChangeArrowheads="1"/>
            </p:cNvSpPr>
            <p:nvPr/>
          </p:nvSpPr>
          <p:spPr bwMode="auto">
            <a:xfrm>
              <a:off x="4224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R16</a:t>
              </a:r>
            </a:p>
          </p:txBody>
        </p:sp>
        <p:sp>
          <p:nvSpPr>
            <p:cNvPr id="86036" name="Text Box 20"/>
            <p:cNvSpPr txBox="1">
              <a:spLocks noChangeArrowheads="1"/>
            </p:cNvSpPr>
            <p:nvPr/>
          </p:nvSpPr>
          <p:spPr bwMode="auto">
            <a:xfrm>
              <a:off x="4512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R17</a:t>
              </a:r>
            </a:p>
          </p:txBody>
        </p:sp>
        <p:sp>
          <p:nvSpPr>
            <p:cNvPr id="86037" name="Text Box 21"/>
            <p:cNvSpPr txBox="1">
              <a:spLocks noChangeArrowheads="1"/>
            </p:cNvSpPr>
            <p:nvPr/>
          </p:nvSpPr>
          <p:spPr bwMode="auto">
            <a:xfrm>
              <a:off x="480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R18</a:t>
              </a:r>
            </a:p>
          </p:txBody>
        </p:sp>
        <p:sp>
          <p:nvSpPr>
            <p:cNvPr id="86038" name="Text Box 22"/>
            <p:cNvSpPr txBox="1">
              <a:spLocks noChangeArrowheads="1"/>
            </p:cNvSpPr>
            <p:nvPr/>
          </p:nvSpPr>
          <p:spPr bwMode="auto">
            <a:xfrm>
              <a:off x="5088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R19</a:t>
              </a:r>
            </a:p>
          </p:txBody>
        </p:sp>
        <p:sp>
          <p:nvSpPr>
            <p:cNvPr id="86039" name="Text Box 23"/>
            <p:cNvSpPr txBox="1">
              <a:spLocks noChangeArrowheads="1"/>
            </p:cNvSpPr>
            <p:nvPr/>
          </p:nvSpPr>
          <p:spPr bwMode="auto">
            <a:xfrm>
              <a:off x="5424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bg1"/>
                  </a:solidFill>
                  <a:effectLst/>
                </a:rPr>
                <a:t>R20</a:t>
              </a:r>
            </a:p>
          </p:txBody>
        </p:sp>
      </p:grpSp>
      <p:sp>
        <p:nvSpPr>
          <p:cNvPr id="86040" name="Text Box 24"/>
          <p:cNvSpPr txBox="1">
            <a:spLocks noChangeArrowheads="1"/>
          </p:cNvSpPr>
          <p:nvPr/>
        </p:nvSpPr>
        <p:spPr bwMode="auto">
          <a:xfrm>
            <a:off x="3962400" y="4038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chemeClr val="bg1"/>
                </a:solidFill>
                <a:effectLst/>
              </a:rPr>
              <a:t>T1</a:t>
            </a:r>
          </a:p>
        </p:txBody>
      </p:sp>
      <p:grpSp>
        <p:nvGrpSpPr>
          <p:cNvPr id="86041" name="Group 25"/>
          <p:cNvGrpSpPr>
            <a:grpSpLocks/>
          </p:cNvGrpSpPr>
          <p:nvPr/>
        </p:nvGrpSpPr>
        <p:grpSpPr bwMode="auto">
          <a:xfrm>
            <a:off x="762000" y="2514600"/>
            <a:ext cx="7620000" cy="457200"/>
            <a:chOff x="480" y="1536"/>
            <a:chExt cx="4800" cy="288"/>
          </a:xfrm>
        </p:grpSpPr>
        <p:sp>
          <p:nvSpPr>
            <p:cNvPr id="86042" name="Text Box 26"/>
            <p:cNvSpPr txBox="1">
              <a:spLocks noChangeArrowheads="1"/>
            </p:cNvSpPr>
            <p:nvPr/>
          </p:nvSpPr>
          <p:spPr bwMode="auto">
            <a:xfrm>
              <a:off x="480" y="153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effectLst/>
                </a:rPr>
                <a:t>S1</a:t>
              </a:r>
            </a:p>
          </p:txBody>
        </p:sp>
        <p:sp>
          <p:nvSpPr>
            <p:cNvPr id="86043" name="Text Box 27"/>
            <p:cNvSpPr txBox="1">
              <a:spLocks noChangeArrowheads="1"/>
            </p:cNvSpPr>
            <p:nvPr/>
          </p:nvSpPr>
          <p:spPr bwMode="auto">
            <a:xfrm>
              <a:off x="1632" y="153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effectLst/>
                </a:rPr>
                <a:t>S2</a:t>
              </a:r>
            </a:p>
          </p:txBody>
        </p:sp>
        <p:sp>
          <p:nvSpPr>
            <p:cNvPr id="86044" name="Text Box 28"/>
            <p:cNvSpPr txBox="1">
              <a:spLocks noChangeArrowheads="1"/>
            </p:cNvSpPr>
            <p:nvPr/>
          </p:nvSpPr>
          <p:spPr bwMode="auto">
            <a:xfrm>
              <a:off x="3168" y="153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effectLst/>
                </a:rPr>
                <a:t>S3</a:t>
              </a:r>
            </a:p>
          </p:txBody>
        </p:sp>
        <p:sp>
          <p:nvSpPr>
            <p:cNvPr id="86045" name="Text Box 29"/>
            <p:cNvSpPr txBox="1">
              <a:spLocks noChangeArrowheads="1"/>
            </p:cNvSpPr>
            <p:nvPr/>
          </p:nvSpPr>
          <p:spPr bwMode="auto">
            <a:xfrm>
              <a:off x="4896" y="153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effectLst/>
                </a:rPr>
                <a:t>S4</a:t>
              </a:r>
            </a:p>
          </p:txBody>
        </p:sp>
      </p:grpSp>
      <p:grpSp>
        <p:nvGrpSpPr>
          <p:cNvPr id="86046" name="Group 30"/>
          <p:cNvGrpSpPr>
            <a:grpSpLocks/>
          </p:cNvGrpSpPr>
          <p:nvPr/>
        </p:nvGrpSpPr>
        <p:grpSpPr bwMode="auto">
          <a:xfrm>
            <a:off x="304800" y="1752600"/>
            <a:ext cx="8839200" cy="838200"/>
            <a:chOff x="192" y="1104"/>
            <a:chExt cx="5568" cy="528"/>
          </a:xfrm>
        </p:grpSpPr>
        <p:sp>
          <p:nvSpPr>
            <p:cNvPr id="86047" name="Line 31"/>
            <p:cNvSpPr>
              <a:spLocks noChangeShapeType="1"/>
            </p:cNvSpPr>
            <p:nvPr/>
          </p:nvSpPr>
          <p:spPr bwMode="auto">
            <a:xfrm>
              <a:off x="192" y="1152"/>
              <a:ext cx="384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048" name="Line 32"/>
            <p:cNvSpPr>
              <a:spLocks noChangeShapeType="1"/>
            </p:cNvSpPr>
            <p:nvPr/>
          </p:nvSpPr>
          <p:spPr bwMode="auto">
            <a:xfrm>
              <a:off x="432" y="1104"/>
              <a:ext cx="144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049" name="Line 33"/>
            <p:cNvSpPr>
              <a:spLocks noChangeShapeType="1"/>
            </p:cNvSpPr>
            <p:nvPr/>
          </p:nvSpPr>
          <p:spPr bwMode="auto">
            <a:xfrm>
              <a:off x="624" y="1152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050" name="Line 34"/>
            <p:cNvSpPr>
              <a:spLocks noChangeShapeType="1"/>
            </p:cNvSpPr>
            <p:nvPr/>
          </p:nvSpPr>
          <p:spPr bwMode="auto">
            <a:xfrm flipH="1">
              <a:off x="624" y="1152"/>
              <a:ext cx="24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051" name="Line 35"/>
            <p:cNvSpPr>
              <a:spLocks noChangeShapeType="1"/>
            </p:cNvSpPr>
            <p:nvPr/>
          </p:nvSpPr>
          <p:spPr bwMode="auto">
            <a:xfrm flipH="1">
              <a:off x="672" y="1104"/>
              <a:ext cx="43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052" name="Line 36"/>
            <p:cNvSpPr>
              <a:spLocks noChangeShapeType="1"/>
            </p:cNvSpPr>
            <p:nvPr/>
          </p:nvSpPr>
          <p:spPr bwMode="auto">
            <a:xfrm>
              <a:off x="1392" y="1104"/>
              <a:ext cx="336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053" name="Line 37"/>
            <p:cNvSpPr>
              <a:spLocks noChangeShapeType="1"/>
            </p:cNvSpPr>
            <p:nvPr/>
          </p:nvSpPr>
          <p:spPr bwMode="auto">
            <a:xfrm>
              <a:off x="1680" y="1104"/>
              <a:ext cx="48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054" name="Line 38"/>
            <p:cNvSpPr>
              <a:spLocks noChangeShapeType="1"/>
            </p:cNvSpPr>
            <p:nvPr/>
          </p:nvSpPr>
          <p:spPr bwMode="auto">
            <a:xfrm flipH="1">
              <a:off x="1776" y="1104"/>
              <a:ext cx="24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055" name="Line 39"/>
            <p:cNvSpPr>
              <a:spLocks noChangeShapeType="1"/>
            </p:cNvSpPr>
            <p:nvPr/>
          </p:nvSpPr>
          <p:spPr bwMode="auto">
            <a:xfrm flipH="1">
              <a:off x="1776" y="1104"/>
              <a:ext cx="96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056" name="Line 40"/>
            <p:cNvSpPr>
              <a:spLocks noChangeShapeType="1"/>
            </p:cNvSpPr>
            <p:nvPr/>
          </p:nvSpPr>
          <p:spPr bwMode="auto">
            <a:xfrm flipH="1">
              <a:off x="1824" y="1104"/>
              <a:ext cx="576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057" name="Line 41"/>
            <p:cNvSpPr>
              <a:spLocks noChangeShapeType="1"/>
            </p:cNvSpPr>
            <p:nvPr/>
          </p:nvSpPr>
          <p:spPr bwMode="auto">
            <a:xfrm>
              <a:off x="2688" y="1104"/>
              <a:ext cx="576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058" name="Line 42"/>
            <p:cNvSpPr>
              <a:spLocks noChangeShapeType="1"/>
            </p:cNvSpPr>
            <p:nvPr/>
          </p:nvSpPr>
          <p:spPr bwMode="auto">
            <a:xfrm>
              <a:off x="3024" y="1104"/>
              <a:ext cx="240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059" name="Line 43"/>
            <p:cNvSpPr>
              <a:spLocks noChangeShapeType="1"/>
            </p:cNvSpPr>
            <p:nvPr/>
          </p:nvSpPr>
          <p:spPr bwMode="auto">
            <a:xfrm flipH="1">
              <a:off x="3264" y="1104"/>
              <a:ext cx="144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060" name="Line 44"/>
            <p:cNvSpPr>
              <a:spLocks noChangeShapeType="1"/>
            </p:cNvSpPr>
            <p:nvPr/>
          </p:nvSpPr>
          <p:spPr bwMode="auto">
            <a:xfrm flipH="1">
              <a:off x="3264" y="1104"/>
              <a:ext cx="384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061" name="Line 45"/>
            <p:cNvSpPr>
              <a:spLocks noChangeShapeType="1"/>
            </p:cNvSpPr>
            <p:nvPr/>
          </p:nvSpPr>
          <p:spPr bwMode="auto">
            <a:xfrm flipH="1">
              <a:off x="3312" y="1104"/>
              <a:ext cx="768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062" name="Line 46"/>
            <p:cNvSpPr>
              <a:spLocks noChangeShapeType="1"/>
            </p:cNvSpPr>
            <p:nvPr/>
          </p:nvSpPr>
          <p:spPr bwMode="auto">
            <a:xfrm>
              <a:off x="4416" y="1104"/>
              <a:ext cx="576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063" name="Line 47"/>
            <p:cNvSpPr>
              <a:spLocks noChangeShapeType="1"/>
            </p:cNvSpPr>
            <p:nvPr/>
          </p:nvSpPr>
          <p:spPr bwMode="auto">
            <a:xfrm>
              <a:off x="4800" y="1104"/>
              <a:ext cx="240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064" name="Line 48"/>
            <p:cNvSpPr>
              <a:spLocks noChangeShapeType="1"/>
            </p:cNvSpPr>
            <p:nvPr/>
          </p:nvSpPr>
          <p:spPr bwMode="auto">
            <a:xfrm>
              <a:off x="5040" y="1104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065" name="Line 49"/>
            <p:cNvSpPr>
              <a:spLocks noChangeShapeType="1"/>
            </p:cNvSpPr>
            <p:nvPr/>
          </p:nvSpPr>
          <p:spPr bwMode="auto">
            <a:xfrm flipH="1">
              <a:off x="5040" y="1104"/>
              <a:ext cx="240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066" name="Line 50"/>
            <p:cNvSpPr>
              <a:spLocks noChangeShapeType="1"/>
            </p:cNvSpPr>
            <p:nvPr/>
          </p:nvSpPr>
          <p:spPr bwMode="auto">
            <a:xfrm flipH="1">
              <a:off x="5088" y="1104"/>
              <a:ext cx="67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6067" name="Group 51"/>
          <p:cNvGrpSpPr>
            <a:grpSpLocks/>
          </p:cNvGrpSpPr>
          <p:nvPr/>
        </p:nvGrpSpPr>
        <p:grpSpPr bwMode="auto">
          <a:xfrm>
            <a:off x="990600" y="2895600"/>
            <a:ext cx="6858000" cy="1143000"/>
            <a:chOff x="624" y="1824"/>
            <a:chExt cx="4320" cy="720"/>
          </a:xfrm>
        </p:grpSpPr>
        <p:sp>
          <p:nvSpPr>
            <p:cNvPr id="86068" name="Line 52"/>
            <p:cNvSpPr>
              <a:spLocks noChangeShapeType="1"/>
            </p:cNvSpPr>
            <p:nvPr/>
          </p:nvSpPr>
          <p:spPr bwMode="auto">
            <a:xfrm>
              <a:off x="624" y="1872"/>
              <a:ext cx="1968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069" name="Line 53"/>
            <p:cNvSpPr>
              <a:spLocks noChangeShapeType="1"/>
            </p:cNvSpPr>
            <p:nvPr/>
          </p:nvSpPr>
          <p:spPr bwMode="auto">
            <a:xfrm flipH="1">
              <a:off x="2640" y="1824"/>
              <a:ext cx="2304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070" name="Line 54"/>
            <p:cNvSpPr>
              <a:spLocks noChangeShapeType="1"/>
            </p:cNvSpPr>
            <p:nvPr/>
          </p:nvSpPr>
          <p:spPr bwMode="auto">
            <a:xfrm>
              <a:off x="1872" y="1824"/>
              <a:ext cx="768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071" name="Line 55"/>
            <p:cNvSpPr>
              <a:spLocks noChangeShapeType="1"/>
            </p:cNvSpPr>
            <p:nvPr/>
          </p:nvSpPr>
          <p:spPr bwMode="auto">
            <a:xfrm flipH="1">
              <a:off x="2640" y="1824"/>
              <a:ext cx="672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6072" name="Text Box 56"/>
          <p:cNvSpPr txBox="1">
            <a:spLocks noChangeArrowheads="1"/>
          </p:cNvSpPr>
          <p:nvPr/>
        </p:nvSpPr>
        <p:spPr bwMode="auto">
          <a:xfrm>
            <a:off x="1905000" y="5638800"/>
            <a:ext cx="6019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1"/>
                </a:solidFill>
                <a:effectLst/>
              </a:rPr>
              <a:t>Number of passes</a:t>
            </a:r>
            <a:r>
              <a:rPr lang="en-US" altLang="en-US">
                <a:solidFill>
                  <a:srgbClr val="FFFF00"/>
                </a:solidFill>
                <a:effectLst/>
              </a:rPr>
              <a:t> </a:t>
            </a:r>
            <a:r>
              <a:rPr lang="en-US" altLang="en-US">
                <a:effectLst/>
              </a:rPr>
              <a:t>= 2</a:t>
            </a:r>
          </a:p>
        </p:txBody>
      </p:sp>
    </p:spTree>
    <p:extLst>
      <p:ext uri="{BB962C8B-B14F-4D97-AF65-F5344CB8AC3E}">
        <p14:creationId xmlns:p14="http://schemas.microsoft.com/office/powerpoint/2010/main" val="3273806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6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6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40" grpId="0" autoUpdateAnimBg="0"/>
      <p:bldP spid="86072" grpId="0" autoUpdateAnimBg="0"/>
    </p:bldLst>
  </p:timing>
</p:sld>
</file>

<file path=ppt/theme/theme1.xml><?xml version="1.0" encoding="utf-8"?>
<a:theme xmlns:a="http://schemas.openxmlformats.org/drawingml/2006/main" name="Blank Presentation">
  <a:themeElements>
    <a:clrScheme name="">
      <a:dk1>
        <a:srgbClr val="000000"/>
      </a:dk1>
      <a:lt1>
        <a:srgbClr val="0000FF"/>
      </a:lt1>
      <a:dk2>
        <a:srgbClr val="000099"/>
      </a:dk2>
      <a:lt2>
        <a:srgbClr val="000000"/>
      </a:lt2>
      <a:accent1>
        <a:srgbClr val="FF9900"/>
      </a:accent1>
      <a:accent2>
        <a:srgbClr val="00FFFF"/>
      </a:accent2>
      <a:accent3>
        <a:srgbClr val="AAAAFF"/>
      </a:accent3>
      <a:accent4>
        <a:srgbClr val="000000"/>
      </a:accent4>
      <a:accent5>
        <a:srgbClr val="FFCAAA"/>
      </a:accent5>
      <a:accent6>
        <a:srgbClr val="00E7E7"/>
      </a:accent6>
      <a:hlink>
        <a:srgbClr val="FF0033"/>
      </a:hlink>
      <a:folHlink>
        <a:srgbClr val="969696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C:\MSOffice\Templates\Blank Presentation.pot</Template>
  <TotalTime>6013</TotalTime>
  <Words>2532</Words>
  <Application>Microsoft Office PowerPoint</Application>
  <PresentationFormat>On-screen Show (4:3)</PresentationFormat>
  <Paragraphs>874</Paragraphs>
  <Slides>73</Slides>
  <Notes>24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4" baseType="lpstr">
      <vt:lpstr>Blank Presentation</vt:lpstr>
      <vt:lpstr>SORTING  Heap Sort &amp; Mergesort</vt:lpstr>
      <vt:lpstr>A Heap Is Efficiently Represented As An Array</vt:lpstr>
      <vt:lpstr>Inserting An Element Into A Max Heap</vt:lpstr>
      <vt:lpstr>Inserting An Element Into A Max Heap</vt:lpstr>
      <vt:lpstr>Inserting An Element Into A Max Heap</vt:lpstr>
      <vt:lpstr>Inserting An Element Into A Max Heap</vt:lpstr>
      <vt:lpstr>Inserting An Element Into A Max Heap</vt:lpstr>
      <vt:lpstr>Complexity Of Insert</vt:lpstr>
      <vt:lpstr>Removing The Max Element</vt:lpstr>
      <vt:lpstr>Removing The Max Element</vt:lpstr>
      <vt:lpstr>Removing The Max Element</vt:lpstr>
      <vt:lpstr>Removing The Max Element</vt:lpstr>
      <vt:lpstr>Removing The Max Element</vt:lpstr>
      <vt:lpstr>Removing The Max Element</vt:lpstr>
      <vt:lpstr>Removing The Max Element</vt:lpstr>
      <vt:lpstr>Removing The Max Element</vt:lpstr>
      <vt:lpstr>HeapSort</vt:lpstr>
      <vt:lpstr>PowerPoint Presentation</vt:lpstr>
      <vt:lpstr>PowerPoint Presentation</vt:lpstr>
      <vt:lpstr>Complexity Of Sorting</vt:lpstr>
      <vt:lpstr>Heap Sort</vt:lpstr>
      <vt:lpstr>Initializing A Max Heap</vt:lpstr>
      <vt:lpstr>Initializing A Max Heap</vt:lpstr>
      <vt:lpstr>Initializing A Max Heap</vt:lpstr>
      <vt:lpstr>Initializing A Max Heap</vt:lpstr>
      <vt:lpstr>Initializing A Max Heap</vt:lpstr>
      <vt:lpstr>Initializing A Max Heap</vt:lpstr>
      <vt:lpstr>Initializing A Max Heap</vt:lpstr>
      <vt:lpstr>Initializing A Max Heap</vt:lpstr>
      <vt:lpstr>Initializing A Max Heap</vt:lpstr>
      <vt:lpstr>Initializing A Max Heap</vt:lpstr>
      <vt:lpstr>Initializing A Max Heap</vt:lpstr>
      <vt:lpstr>Initializing A Max Heap</vt:lpstr>
      <vt:lpstr>Initializing A Max Heap</vt:lpstr>
      <vt:lpstr>Initializing A Max Heap</vt:lpstr>
      <vt:lpstr>Initializing A Max Heap</vt:lpstr>
      <vt:lpstr>Initializing A Max Heap</vt:lpstr>
      <vt:lpstr>Time Complexity</vt:lpstr>
      <vt:lpstr>Complexity</vt:lpstr>
      <vt:lpstr>HeapSort</vt:lpstr>
      <vt:lpstr>PowerPoint Presentation</vt:lpstr>
      <vt:lpstr>PowerPoint Presentation</vt:lpstr>
      <vt:lpstr>Time Complexity</vt:lpstr>
      <vt:lpstr>Complexity</vt:lpstr>
      <vt:lpstr>Merge Sort</vt:lpstr>
      <vt:lpstr>Merge Sort</vt:lpstr>
      <vt:lpstr>Merge Sort</vt:lpstr>
      <vt:lpstr>Merge Two Sorted Lists</vt:lpstr>
      <vt:lpstr>Merge Two Sorted Lists</vt:lpstr>
      <vt:lpstr>Merge Two Sorted Lists</vt:lpstr>
      <vt:lpstr>Merge Sort</vt:lpstr>
      <vt:lpstr>Time Complexity</vt:lpstr>
      <vt:lpstr>Natural Merge Sort</vt:lpstr>
      <vt:lpstr>External Sorting</vt:lpstr>
      <vt:lpstr>External Merge Sort</vt:lpstr>
      <vt:lpstr>External Merge Sort</vt:lpstr>
      <vt:lpstr>Run Generation</vt:lpstr>
      <vt:lpstr>Merge 20 Runs</vt:lpstr>
      <vt:lpstr>Run Merging</vt:lpstr>
      <vt:lpstr>Merge R1 and R2</vt:lpstr>
      <vt:lpstr>Merge 20 Runs</vt:lpstr>
      <vt:lpstr>Time To Merge R1 and R2</vt:lpstr>
      <vt:lpstr>Time For Pass 1 (R    S)</vt:lpstr>
      <vt:lpstr>Time To Merge S1 and S2</vt:lpstr>
      <vt:lpstr>Time For Pass 2 (S    T)</vt:lpstr>
      <vt:lpstr>Time For One Merge Pass</vt:lpstr>
      <vt:lpstr>Total Run-Merging Time</vt:lpstr>
      <vt:lpstr>Factors In Overall Run Time</vt:lpstr>
      <vt:lpstr>Improve Run Generation</vt:lpstr>
      <vt:lpstr>Improve Run Generation</vt:lpstr>
      <vt:lpstr>Improve Run Merging</vt:lpstr>
      <vt:lpstr>Improve Run Merging</vt:lpstr>
      <vt:lpstr>Merge 20 Runs Using 5-Way Merging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Representation Methods</dc:title>
  <dc:creator>Preferred Customer</dc:creator>
  <cp:lastModifiedBy>tejeswara rao kutikuppla</cp:lastModifiedBy>
  <cp:revision>242</cp:revision>
  <dcterms:created xsi:type="dcterms:W3CDTF">1995-06-17T23:31:02Z</dcterms:created>
  <dcterms:modified xsi:type="dcterms:W3CDTF">2023-02-11T02:20:01Z</dcterms:modified>
</cp:coreProperties>
</file>