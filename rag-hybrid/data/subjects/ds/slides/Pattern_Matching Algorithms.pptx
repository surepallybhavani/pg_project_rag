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84" r:id="rId2"/>
    <p:sldId id="540" r:id="rId3"/>
    <p:sldId id="553" r:id="rId4"/>
    <p:sldId id="554" r:id="rId5"/>
    <p:sldId id="555" r:id="rId6"/>
    <p:sldId id="556" r:id="rId7"/>
    <p:sldId id="557" r:id="rId8"/>
    <p:sldId id="579" r:id="rId9"/>
    <p:sldId id="560" r:id="rId10"/>
    <p:sldId id="561" r:id="rId11"/>
    <p:sldId id="562" r:id="rId12"/>
    <p:sldId id="563" r:id="rId13"/>
    <p:sldId id="564" r:id="rId14"/>
    <p:sldId id="574" r:id="rId15"/>
    <p:sldId id="575" r:id="rId16"/>
    <p:sldId id="543" r:id="rId17"/>
    <p:sldId id="544" r:id="rId18"/>
    <p:sldId id="545" r:id="rId19"/>
    <p:sldId id="546" r:id="rId20"/>
    <p:sldId id="547" r:id="rId21"/>
    <p:sldId id="548" r:id="rId22"/>
    <p:sldId id="580" r:id="rId23"/>
    <p:sldId id="581" r:id="rId24"/>
    <p:sldId id="582" r:id="rId25"/>
    <p:sldId id="583" r:id="rId26"/>
    <p:sldId id="584" r:id="rId27"/>
    <p:sldId id="585" r:id="rId28"/>
    <p:sldId id="586" r:id="rId29"/>
    <p:sldId id="587" r:id="rId30"/>
    <p:sldId id="588" r:id="rId31"/>
    <p:sldId id="589" r:id="rId32"/>
    <p:sldId id="590" r:id="rId33"/>
    <p:sldId id="549" r:id="rId34"/>
    <p:sldId id="550" r:id="rId35"/>
    <p:sldId id="551" r:id="rId36"/>
    <p:sldId id="552" r:id="rId37"/>
  </p:sldIdLst>
  <p:sldSz cx="9144000" cy="6858000" type="screen4x3"/>
  <p:notesSz cx="6985000" cy="92821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3">
          <p15:clr>
            <a:srgbClr val="A4A3A4"/>
          </p15:clr>
        </p15:guide>
        <p15:guide id="2" pos="29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CC00"/>
    <a:srgbClr val="3366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427" autoAdjust="0"/>
    <p:restoredTop sz="79533" autoAdjust="0"/>
  </p:normalViewPr>
  <p:slideViewPr>
    <p:cSldViewPr>
      <p:cViewPr varScale="1">
        <p:scale>
          <a:sx n="64" d="100"/>
          <a:sy n="64" d="100"/>
        </p:scale>
        <p:origin x="142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9" d="100"/>
          <a:sy n="39" d="100"/>
        </p:scale>
        <p:origin x="-1222" y="-95"/>
      </p:cViewPr>
      <p:guideLst>
        <p:guide orient="horz" pos="2203"/>
        <p:guide pos="292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1.xml"/><Relationship Id="rId3" Type="http://schemas.openxmlformats.org/officeDocument/2006/relationships/slide" Target="slides/slide14.xml"/><Relationship Id="rId7" Type="http://schemas.openxmlformats.org/officeDocument/2006/relationships/slide" Target="slides/slide19.xml"/><Relationship Id="rId2" Type="http://schemas.openxmlformats.org/officeDocument/2006/relationships/slide" Target="slides/slide8.xml"/><Relationship Id="rId1" Type="http://schemas.openxmlformats.org/officeDocument/2006/relationships/slide" Target="slides/slide2.xml"/><Relationship Id="rId6" Type="http://schemas.openxmlformats.org/officeDocument/2006/relationships/slide" Target="slides/slide18.xml"/><Relationship Id="rId11" Type="http://schemas.openxmlformats.org/officeDocument/2006/relationships/slide" Target="slides/slide36.xml"/><Relationship Id="rId5" Type="http://schemas.openxmlformats.org/officeDocument/2006/relationships/slide" Target="slides/slide17.xml"/><Relationship Id="rId10" Type="http://schemas.openxmlformats.org/officeDocument/2006/relationships/slide" Target="slides/slide34.xml"/><Relationship Id="rId4" Type="http://schemas.openxmlformats.org/officeDocument/2006/relationships/slide" Target="slides/slide16.xml"/><Relationship Id="rId9" Type="http://schemas.openxmlformats.org/officeDocument/2006/relationships/slide" Target="slides/slide3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2" units="1/cm"/>
          <inkml:channelProperty channel="Y" name="resolution" value="32" units="1/cm"/>
        </inkml:channelProperties>
      </inkml:inkSource>
      <inkml:timestamp xml:id="ts0" timeString="2006-03-27T01:55:28.3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0,'0'0</inkml:trace>
  <inkml:trace contextRef="#ctx0" brushRef="#br0" timeOffset="328">196 0,'25'0,"24"0,0 0,1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2" units="1/cm"/>
          <inkml:channelProperty channel="Y" name="resolution" value="32" units="1/cm"/>
        </inkml:channelProperties>
      </inkml:inkSource>
      <inkml:timestamp xml:id="ts0" timeString="2006-03-27T01:55:39.4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5B79875-C2D9-5FD4-3A79-DBB7731720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t" anchorCtr="0" compatLnSpc="1">
            <a:prstTxWarp prst="textNoShape">
              <a:avLst/>
            </a:prstTxWarp>
          </a:bodyPr>
          <a:lstStyle>
            <a:lvl1pPr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0FFB216-7E58-AB19-53B5-C8C93E2F556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t" anchorCtr="0" compatLnSpc="1">
            <a:prstTxWarp prst="textNoShape">
              <a:avLst/>
            </a:prstTxWarp>
          </a:bodyPr>
          <a:lstStyle>
            <a:lvl1pPr algn="r"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EFF5D3C-5B76-22CE-4403-7B8812DA32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703263"/>
            <a:ext cx="4622800" cy="3467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BB766874-0C6A-2B66-9BA1-8F1A19B4C9C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8488"/>
            <a:ext cx="5121275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94" tIns="46798" rIns="93594" bIns="467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41AAC36C-7F9F-8B28-3931-C048EC5D79E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b" anchorCtr="0" compatLnSpc="1">
            <a:prstTxWarp prst="textNoShape">
              <a:avLst/>
            </a:prstTxWarp>
          </a:bodyPr>
          <a:lstStyle>
            <a:lvl1pPr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ADD52727-4098-EF65-DCD9-9507FE5711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18563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000" i="1">
                <a:solidFill>
                  <a:schemeClr val="tx1"/>
                </a:solidFill>
              </a:defRPr>
            </a:lvl1pPr>
          </a:lstStyle>
          <a:p>
            <a:fld id="{3DAA9FD7-D489-45EC-A8AE-EBE34F4225C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9D259EC2-A8F7-7401-27F6-8FA22C2C1E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43FC8C4C-FB60-468B-B73F-415A8BC6B2A1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9FB157E7-BBE8-8469-7759-95B1B7E8DD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87D2263D-9848-18ED-87FA-2E2E25B5C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32B6CF18-B4C9-2554-CB83-349394D8AC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5DB31C31-576E-4CF2-A328-2CD8A648B937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74ECD909-F254-F1F0-07DA-29C6F65B6E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3475" y="687388"/>
            <a:ext cx="4672013" cy="3503612"/>
          </a:xfrm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288F4E52-8BE6-30B0-7145-1A6FA4A6F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16442D4D-9828-B11F-9CF9-01341F7C42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58DBE326-2B89-48A1-96F8-49D1B3B10FFE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48AAE21-36CD-6C77-0055-918D161483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3475" y="687388"/>
            <a:ext cx="4672013" cy="3503612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11638B6-13D1-8463-DECF-6CE0215E51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EC0E35AA-4A11-CCBF-3FC0-06726BA5F0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0956CDCF-68E8-47C4-A3A6-9FEA54FBF0A6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EE0B2AE7-0A7B-018F-79CF-3B8DDCA753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3475" y="687388"/>
            <a:ext cx="4672013" cy="3503612"/>
          </a:xfrm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216B31B4-A965-417B-C730-1C871A3FD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85585CDF-FA75-8D59-08C4-9DBD50DF69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891064AD-F0C7-4388-BE10-BFB3C490CE7C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F8B9D64-3F80-3C13-3BEA-BD1734EA2A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CC2056A2-98CA-E72A-38BE-EA69B1599F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C5576688-8A3A-42B1-7398-CEC07FB524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C698DFEB-B65A-247B-FC70-6059C20C2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40DBA94C-2D9F-48D8-7795-A5E5A8EFC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D8CC2D16-0B7E-48E9-A206-B16C8F55068D}" type="slidenum">
              <a:rPr lang="en-US" altLang="en-US" sz="1000">
                <a:solidFill>
                  <a:schemeClr val="tx1"/>
                </a:solidFill>
              </a:rPr>
              <a:pPr/>
              <a:t>8</a:t>
            </a:fld>
            <a:endParaRPr lang="en-US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29BF92E7-D519-704C-4B98-3179181DFC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9C45DBD0-9A09-4F16-AD34-854EF201588C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3F9F957A-20E6-0128-CEB5-2ABB7010C0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3475" y="687388"/>
            <a:ext cx="4672013" cy="3503612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9B8316EF-9781-A265-F5CD-6DF65F9E57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853EC3C1-FE72-E033-3936-D3013E8A77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E9BFD0BF-8259-469C-99FE-667CE7A11709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5FCA2216-A573-8A05-0796-57681C50B7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3475" y="687388"/>
            <a:ext cx="4672013" cy="3503612"/>
          </a:xfrm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1E0A5D4F-26B1-3242-29F2-69346EE4F9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2CBF681F-80C4-15F4-99B5-DFA0C37507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8934D798-2D7A-41D0-A08A-30A1437FD730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EEE60503-DC8D-D94C-49EE-3B75D856D1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3475" y="687388"/>
            <a:ext cx="4672013" cy="3503612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6EE7C895-1B78-96AF-D74A-0098FA1D6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11963C01-60E0-0605-5D6B-8587B0683A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4857FF64-16DA-4784-8F62-A66ABFBB39DD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0285362-069C-1717-64CC-8D79281971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3475" y="687388"/>
            <a:ext cx="4672013" cy="3503612"/>
          </a:xfrm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9AA73C91-DFF2-099D-4C0D-DFE6687E8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FE35E0B3-1442-5F44-76D1-9C9E6EAD5A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E515F0E0-1755-42F8-9D29-FA6ABCE75E40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4C3B70E-78FA-DDDC-EBDD-587EBB82C9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3475" y="687388"/>
            <a:ext cx="4672013" cy="3503612"/>
          </a:xfrm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3648490F-1CE4-7B35-6E9D-BE51C8E1ED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52D13D90-2F57-0D27-AB77-772B75F8FD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65A9BB26-37AD-4D0C-8E87-65B5EF6CBDD2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FDDBAC63-0197-4B0D-16B3-C39EA2D81F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3475" y="687388"/>
            <a:ext cx="4672013" cy="3503612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EB0AE5F2-2FEF-2D15-891A-30EB9CEDE8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46646772-2161-11BB-BD8B-26459817FC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704F8282-7A15-482A-821E-1F3F40E8688F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E662FE4-F891-E6F7-1462-154DB60903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3475" y="687388"/>
            <a:ext cx="4672013" cy="3503612"/>
          </a:xfrm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61686CB5-B537-175D-8297-B9A503A8A9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421188"/>
            <a:ext cx="5105400" cy="41910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FC6F8307-89C6-98F5-BE46-7F59183666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D6B0D0B6-DF48-8A75-5F47-8AC5375B1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D42D30EE-A4EA-5744-B875-A42A32780B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077D289D-7A86-4791-BA61-AB037C558324}" type="slidenum">
              <a:rPr lang="en-US" altLang="en-US" sz="1000">
                <a:solidFill>
                  <a:schemeClr val="tx1"/>
                </a:solidFill>
              </a:rPr>
              <a:pPr/>
              <a:t>18</a:t>
            </a:fld>
            <a:endParaRPr lang="en-US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C8BDB340-01E9-F872-900F-DCD044E114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EF92129D-3C82-4AE8-C6B3-E163EE228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8777D621-137A-B02C-5210-CADA54701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D2AB1237-E8CF-43A4-B187-DB9EAD8C8398}" type="slidenum">
              <a:rPr lang="en-US" altLang="en-US" sz="1000">
                <a:solidFill>
                  <a:schemeClr val="tx1"/>
                </a:solidFill>
              </a:rPr>
              <a:pPr/>
              <a:t>23</a:t>
            </a:fld>
            <a:endParaRPr lang="en-US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D6D6D19C-9681-B8C1-48C0-6FF0354B09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69EC53DD-6B97-D74F-65E3-10C63766F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13F02544-EC0C-0359-A5A3-8D94CD9C92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77DBA522-C5EC-497E-ACCB-0B0B3BC5979E}" type="slidenum">
              <a:rPr lang="en-US" altLang="en-US" sz="1000">
                <a:solidFill>
                  <a:schemeClr val="tx1"/>
                </a:solidFill>
              </a:rPr>
              <a:pPr/>
              <a:t>24</a:t>
            </a:fld>
            <a:endParaRPr lang="en-US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7D4E4802-4425-E92E-BF94-12AFFC1122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E55E29E3-8034-5CA4-62E7-A7E5B7C37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95A61E40-2C0D-D6C7-550B-6EAA3F6AD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18772CC9-46EF-4762-93FF-9E07676B5C72}" type="slidenum">
              <a:rPr lang="en-US" altLang="en-US" sz="1000">
                <a:solidFill>
                  <a:schemeClr val="tx1"/>
                </a:solidFill>
              </a:rPr>
              <a:pPr/>
              <a:t>25</a:t>
            </a:fld>
            <a:endParaRPr lang="en-US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D191FB5D-A3B1-AC98-53D4-6B1ED51C37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EDF12B7A-4F6E-31D1-A677-24BE8BBE1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FABA5396-534E-1375-3F77-E9908951C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1D936AED-BD93-4A6A-B53E-E2ABA16186A6}" type="slidenum">
              <a:rPr lang="en-US" altLang="en-US" sz="1000">
                <a:solidFill>
                  <a:schemeClr val="tx1"/>
                </a:solidFill>
              </a:rPr>
              <a:pPr/>
              <a:t>26</a:t>
            </a:fld>
            <a:endParaRPr lang="en-US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D1554EB0-EEF6-AABC-C04E-85E28D049B0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1F155FD9-1B82-2454-FA5D-B90944654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9CE0C6AB-DB43-EF86-1D3F-F77C8E89A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0110F727-CD26-45C1-A5AE-BAF14E8D7B15}" type="slidenum">
              <a:rPr lang="en-US" altLang="en-US" sz="1000">
                <a:solidFill>
                  <a:schemeClr val="tx1"/>
                </a:solidFill>
              </a:rPr>
              <a:pPr/>
              <a:t>27</a:t>
            </a:fld>
            <a:endParaRPr lang="en-US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1D13E543-6663-6DAD-B309-F5A675F744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99907272-E41C-2EF4-8875-E0BC03F67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FB1FD2B3-89B7-5F0D-AD0A-2233F94DE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A6E8F96C-45C7-4B1A-A516-EFD79949F54B}" type="slidenum">
              <a:rPr lang="en-US" altLang="en-US" sz="1000">
                <a:solidFill>
                  <a:schemeClr val="tx1"/>
                </a:solidFill>
              </a:rPr>
              <a:pPr/>
              <a:t>28</a:t>
            </a:fld>
            <a:endParaRPr lang="en-US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FC8D9919-1D5B-6BC1-67F7-F48438AC75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0F7E2B05-D63A-5552-FCD1-F90268E5A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8A43C39A-0074-F298-8E2C-03EE80244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549F26FC-03A4-4C91-A501-210C5192413B}" type="slidenum">
              <a:rPr lang="en-US" altLang="en-US" sz="1000">
                <a:solidFill>
                  <a:schemeClr val="tx1"/>
                </a:solidFill>
              </a:rPr>
              <a:pPr/>
              <a:t>29</a:t>
            </a:fld>
            <a:endParaRPr lang="en-US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9919E3E9-DD84-07B4-13D2-1264982253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B2372331-3E04-5C29-C8EB-C7FDD42CA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1728407B-0A05-585D-8E9F-3543C5886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B70BA3F5-1AA7-4026-A428-86E1658F8B58}" type="slidenum">
              <a:rPr lang="en-US" altLang="en-US" sz="1000">
                <a:solidFill>
                  <a:schemeClr val="tx1"/>
                </a:solidFill>
              </a:rPr>
              <a:pPr/>
              <a:t>30</a:t>
            </a:fld>
            <a:endParaRPr lang="en-US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B9BFB376-619B-63C8-2DCC-FEE2EE68E7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B6CAC9B0-EC52-A0D9-B4DF-A9CEC78F8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938B5174-1963-031A-3B93-0382FB03A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BE02E010-EB78-4BCA-BE60-400AB78E750D}" type="slidenum">
              <a:rPr lang="en-US" altLang="en-US" sz="1000">
                <a:solidFill>
                  <a:schemeClr val="tx1"/>
                </a:solidFill>
              </a:rPr>
              <a:pPr/>
              <a:t>31</a:t>
            </a:fld>
            <a:endParaRPr lang="en-US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9FF79193-F117-6C05-EBD3-08FB921AC6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3F6C83E9-02F5-2200-85F2-268846938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5466DE5A-25FD-F8D0-CB14-05059C5D7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E6A9A594-8890-4919-A0BB-D846979BC76B}" type="slidenum">
              <a:rPr lang="en-US" altLang="en-US" sz="1000">
                <a:solidFill>
                  <a:schemeClr val="tx1"/>
                </a:solidFill>
              </a:rPr>
              <a:pPr/>
              <a:t>32</a:t>
            </a:fld>
            <a:endParaRPr lang="en-US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B4D5F4-71A1-D1ED-6739-2B31A9E6E7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527F085-AA91-965E-7530-D60CC7188F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9AEB71-686A-D9B4-D30A-605B797021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2FDC03-5618-4935-8934-179C97B6BB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1175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F02A66F-1BC8-429F-D282-3141E4452F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C3C32A-34FC-CFA6-F7A2-456D8A6FFE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65661C-B5DF-983C-2252-5BEB18DEE6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0FAD47-E067-4CE9-8620-0969154902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628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4E8273-BA40-5E59-EFE0-A782C7373A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AF5381-A063-696E-7E2F-CB1E99227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A010FF-ADF6-BC21-AA29-35AE4305F6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EE4D8C-D75D-496A-90BC-3D3E6C64FF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32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448735-01AC-C7B1-B9BC-347BDC3613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49CD49-A0DD-2BD5-C01C-2F968FFBF1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D8F9F4-5677-67DC-5BDE-E002E65286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0094F5-7AC6-4B97-89FD-F0570C07B6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129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0DE6F81-BDA3-2C38-2978-A2ABF76DA3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BDF66A9-902F-0990-7EBF-17A7505CE5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76D91D5-B92F-5A2D-2A4F-299EA3FE9D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6E6B88-12A6-4D6C-9537-7A414D5940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717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62D6306-CF71-0CD7-6451-89452136AB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3D865B2-F37F-472F-443D-164ED8A784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E5BA8D5-91AE-DA15-7493-D2FE6DBFAF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BD19F7-9DD3-4140-985B-A42F19DECC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0917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4E35989-3955-2530-283A-F4F93F6295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824BE95-540A-2904-2FD6-FA8A53162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5AD905C-92DA-F15E-CEBA-B3DDD9AADB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4AB2EE-BAA9-4A54-BF51-49F3F79D60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5659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C373BF-93BD-0B16-1F8A-7593C7FA70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A96D38-42D5-89E3-C1EB-1312C9D3B0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CD767B-1DA6-510F-CFDE-29532A0E6D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8E1ECC-E05E-4CFE-AB02-7688E9881F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721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32B71D-3DE4-6A6E-E2B6-587575CF92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AACC6-0177-AD38-7887-B681AD2E5B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8BE1B5-94EE-69B1-54C7-41D98927B2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E2A3E-5915-4197-A753-9969E095C8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410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2B453A-C190-D6B6-C13E-47F5E2A145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53E33F-CF6E-603F-AFE9-4982B57367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31171E-62BD-80FC-D111-721AF57EAB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D409D6-2F2B-408E-B803-0700EBD187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392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B94136-1B64-B560-9AC9-6A3988173D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D86AA0-D135-5832-0EB6-57F08C8478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3B2D29-BB67-873E-ACA6-06E05DC1B6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4C54BF-7585-4D30-AFAB-6ABB98C1A8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06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7DBEA75-BF5F-8A33-09EF-0C5EE6E05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4D7D03-0E69-8FBF-DED5-632BA8A5E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4625B57-14FA-B8C1-BB67-7E4BDF9423E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638DF30-F181-BDCC-26A6-503426FC3E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D0FD9BE-07C5-339F-48B7-A957A933D88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5486E691-EA96-458E-B719-5CDB61D6497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7B8E-372B-DAB7-E02A-9CAAF9E50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476250"/>
            <a:ext cx="77724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altLang="en-US" dirty="0"/>
            </a:br>
            <a:r>
              <a:rPr lang="en-US" altLang="en-US" sz="5300" dirty="0">
                <a:solidFill>
                  <a:schemeClr val="bg1">
                    <a:lumMod val="75000"/>
                  </a:schemeClr>
                </a:solidFill>
                <a:cs typeface="Times New Roman" panose="02020603050405020304" pitchFamily="18" charset="0"/>
              </a:rPr>
              <a:t>Pattern Matching Algorithms</a:t>
            </a:r>
            <a:br>
              <a:rPr lang="en-US" altLang="en-US" sz="5300" dirty="0">
                <a:solidFill>
                  <a:schemeClr val="bg1">
                    <a:lumMod val="75000"/>
                  </a:schemeClr>
                </a:solidFill>
                <a:cs typeface="Times New Roman" panose="02020603050405020304" pitchFamily="18" charset="0"/>
              </a:rPr>
            </a:br>
            <a:r>
              <a:rPr lang="en-US" altLang="en-US" sz="3600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endParaRPr lang="en-IN" sz="36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19519C55-6FBB-4DA4-ADED-ADF886E56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4876800"/>
            <a:ext cx="7772400" cy="1219200"/>
          </a:xfrm>
        </p:spPr>
        <p:txBody>
          <a:bodyPr/>
          <a:lstStyle/>
          <a:p>
            <a:pPr marL="0" indent="0" algn="ctr">
              <a:buFontTx/>
              <a:buNone/>
            </a:pPr>
            <a:endParaRPr lang="en-IN" altLang="en-US" sz="280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A2578D1-31B1-A1BF-B15B-F8E95DE527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Outline</a:t>
            </a:r>
          </a:p>
        </p:txBody>
      </p:sp>
      <p:sp>
        <p:nvSpPr>
          <p:cNvPr id="409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0679C55-9F7A-5297-5AE0-FE8C127231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4267200"/>
          </a:xfrm>
        </p:spPr>
        <p:txBody>
          <a:bodyPr/>
          <a:lstStyle/>
          <a:p>
            <a:pPr eaLnBrk="1" hangingPunct="1"/>
            <a:r>
              <a:rPr lang="en-US" altLang="en-US"/>
              <a:t>Strings</a:t>
            </a:r>
          </a:p>
          <a:p>
            <a:pPr eaLnBrk="1" hangingPunct="1"/>
            <a:r>
              <a:rPr lang="en-US" altLang="en-US"/>
              <a:t>Pattern matching algorithms</a:t>
            </a:r>
          </a:p>
          <a:p>
            <a:pPr lvl="1" eaLnBrk="1" hangingPunct="1"/>
            <a:r>
              <a:rPr lang="en-US" altLang="en-US"/>
              <a:t>Brute-force algorithm</a:t>
            </a:r>
          </a:p>
          <a:p>
            <a:pPr lvl="1" eaLnBrk="1" hangingPunct="1"/>
            <a:r>
              <a:rPr lang="en-US" altLang="en-US"/>
              <a:t>Boyer-Moore algorithm</a:t>
            </a:r>
          </a:p>
          <a:p>
            <a:pPr lvl="1" eaLnBrk="1" hangingPunct="1"/>
            <a:r>
              <a:rPr lang="en-US" altLang="en-US"/>
              <a:t>Knuth-Morris-Pratt algorithm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3435BEE-7054-7C97-F725-48ADDE0128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The Problem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3794820-AB5C-F485-2ACF-CEAD3327E5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Given a </a:t>
            </a:r>
            <a:r>
              <a:rPr lang="en-US" altLang="en-US">
                <a:solidFill>
                  <a:srgbClr val="FF0066"/>
                </a:solidFill>
              </a:rPr>
              <a:t>text T</a:t>
            </a:r>
            <a:r>
              <a:rPr lang="en-US" altLang="en-US"/>
              <a:t> and a </a:t>
            </a:r>
            <a:r>
              <a:rPr lang="en-US" altLang="en-US">
                <a:solidFill>
                  <a:srgbClr val="FF0066"/>
                </a:solidFill>
              </a:rPr>
              <a:t>pattern P</a:t>
            </a:r>
            <a:r>
              <a:rPr lang="en-US" altLang="en-US"/>
              <a:t>, check whether P occurs in T</a:t>
            </a:r>
          </a:p>
          <a:p>
            <a:pPr lvl="1" eaLnBrk="1" hangingPunct="1"/>
            <a:r>
              <a:rPr lang="en-US" altLang="en-US"/>
              <a:t>eg: T = {aabbcbbcabbbcbccccabbabbccc}</a:t>
            </a:r>
          </a:p>
          <a:p>
            <a:pPr lvl="1" eaLnBrk="1" hangingPunct="1"/>
            <a:r>
              <a:rPr lang="en-US" altLang="en-US"/>
              <a:t>Find all occurrences of pattern P = bbc</a:t>
            </a:r>
          </a:p>
          <a:p>
            <a:pPr eaLnBrk="1" hangingPunct="1"/>
            <a:r>
              <a:rPr lang="en-US" altLang="en-US"/>
              <a:t>There are </a:t>
            </a:r>
            <a:r>
              <a:rPr lang="en-US" altLang="en-US" b="1" i="1">
                <a:solidFill>
                  <a:srgbClr val="0000FF"/>
                </a:solidFill>
              </a:rPr>
              <a:t>variations</a:t>
            </a:r>
            <a:r>
              <a:rPr lang="en-US" altLang="en-US"/>
              <a:t> of pattern matching</a:t>
            </a:r>
          </a:p>
          <a:p>
            <a:pPr lvl="1" eaLnBrk="1" hangingPunct="1"/>
            <a:r>
              <a:rPr lang="en-US" altLang="en-US"/>
              <a:t>Finding “approximate” matchings</a:t>
            </a:r>
          </a:p>
          <a:p>
            <a:pPr lvl="1" eaLnBrk="1" hangingPunct="1"/>
            <a:r>
              <a:rPr lang="en-US" altLang="en-US"/>
              <a:t>Finding multiple patterns etc..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9D037DD-F865-0678-95BA-9CE05C6EB4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Why String Matching?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2F0F439-1E7D-6011-CBF6-F5836B9480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b="1">
                <a:solidFill>
                  <a:srgbClr val="FF0066"/>
                </a:solidFill>
              </a:rPr>
              <a:t>Applications in Computational Biology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DNA sequence is a long word (or text) over a 4-letter alphabet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GTTTGAGTGGTCAGTCTTTTCGTTTCGACGGAGCCCCCAATTAATAAACTCATAAGCAGACCTCAGTTCGCTTAGAGCAGCCGAAA…..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Find a Specific pattern W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b="1">
                <a:solidFill>
                  <a:srgbClr val="FF0066"/>
                </a:solidFill>
              </a:rPr>
              <a:t>Finding patterns in documents formed using a large alphabet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Word processing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Web searching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Desktop search (Google, MSN)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b="1">
                <a:solidFill>
                  <a:srgbClr val="FF0066"/>
                </a:solidFill>
              </a:rPr>
              <a:t>Matching strings of bytes containing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Graphical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Machine code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b="1">
                <a:solidFill>
                  <a:srgbClr val="FF0066"/>
                </a:solidFill>
              </a:rPr>
              <a:t>grep in unix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/>
              <a:t>grep searches for lines matching a pattern.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7038F8F-5C6F-38DE-128C-6963CC8D5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String Matching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9CCA01C-E03B-0230-1133-F7CFCB4FB8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Text string </a:t>
            </a:r>
            <a:r>
              <a:rPr lang="en-US" altLang="en-US" sz="2800">
                <a:solidFill>
                  <a:srgbClr val="3333CC"/>
                </a:solidFill>
              </a:rPr>
              <a:t>T[0..N-1]</a:t>
            </a:r>
            <a:br>
              <a:rPr lang="en-US" altLang="en-US" sz="2800"/>
            </a:br>
            <a:r>
              <a:rPr lang="en-US" altLang="en-US" sz="2800"/>
              <a:t>	T = “</a:t>
            </a:r>
            <a:r>
              <a:rPr lang="en-US" altLang="en-US" sz="2800" b="1">
                <a:latin typeface="Courier New" panose="02070309020205020404" pitchFamily="49" charset="0"/>
              </a:rPr>
              <a:t>abacaabacc</a:t>
            </a:r>
            <a:r>
              <a:rPr lang="en-US" altLang="en-US" sz="2800" b="1">
                <a:solidFill>
                  <a:srgbClr val="FF0000"/>
                </a:solidFill>
                <a:latin typeface="Courier New" panose="02070309020205020404" pitchFamily="49" charset="0"/>
              </a:rPr>
              <a:t>abacab</a:t>
            </a:r>
            <a:r>
              <a:rPr lang="en-US" altLang="en-US" sz="2800" b="1">
                <a:latin typeface="Courier New" panose="02070309020205020404" pitchFamily="49" charset="0"/>
              </a:rPr>
              <a:t>aabb</a:t>
            </a:r>
            <a:r>
              <a:rPr lang="en-US" altLang="en-US" sz="2800"/>
              <a:t>”</a:t>
            </a:r>
          </a:p>
          <a:p>
            <a:pPr eaLnBrk="1" hangingPunct="1"/>
            <a:r>
              <a:rPr lang="en-US" altLang="en-US" sz="2800"/>
              <a:t>Pattern string  </a:t>
            </a:r>
            <a:r>
              <a:rPr lang="en-US" altLang="en-US" sz="2800">
                <a:solidFill>
                  <a:srgbClr val="3333CC"/>
                </a:solidFill>
              </a:rPr>
              <a:t>P[0..M-1]</a:t>
            </a:r>
            <a:br>
              <a:rPr lang="en-US" altLang="en-US" sz="2800"/>
            </a:br>
            <a:r>
              <a:rPr lang="en-US" altLang="en-US" sz="2800"/>
              <a:t>	P = “</a:t>
            </a:r>
            <a:r>
              <a:rPr lang="en-US" altLang="en-US" sz="2800" b="1">
                <a:solidFill>
                  <a:srgbClr val="FF0000"/>
                </a:solidFill>
                <a:latin typeface="Courier New" panose="02070309020205020404" pitchFamily="49" charset="0"/>
              </a:rPr>
              <a:t>abacab</a:t>
            </a:r>
            <a:r>
              <a:rPr lang="en-US" altLang="en-US" sz="2800"/>
              <a:t>”</a:t>
            </a:r>
          </a:p>
          <a:p>
            <a:pPr eaLnBrk="1" hangingPunct="1"/>
            <a:r>
              <a:rPr lang="en-US" altLang="en-US" sz="2800"/>
              <a:t>Where is the </a:t>
            </a:r>
            <a:r>
              <a:rPr lang="en-US" altLang="en-US" sz="2800" i="1"/>
              <a:t>first</a:t>
            </a:r>
            <a:r>
              <a:rPr lang="en-US" altLang="en-US" sz="2800"/>
              <a:t> instance of P in </a:t>
            </a:r>
            <a:r>
              <a:rPr lang="en-US" altLang="en-US" sz="2800">
                <a:solidFill>
                  <a:srgbClr val="3333CC"/>
                </a:solidFill>
              </a:rPr>
              <a:t>T</a:t>
            </a:r>
            <a:r>
              <a:rPr lang="en-US" altLang="en-US" sz="2800"/>
              <a:t>?</a:t>
            </a:r>
            <a:br>
              <a:rPr lang="en-US" altLang="en-US" sz="2800"/>
            </a:br>
            <a:r>
              <a:rPr lang="en-US" altLang="en-US" sz="2800"/>
              <a:t>	</a:t>
            </a:r>
            <a:r>
              <a:rPr lang="en-US" altLang="en-US" sz="2800">
                <a:solidFill>
                  <a:srgbClr val="3333CC"/>
                </a:solidFill>
              </a:rPr>
              <a:t>T[</a:t>
            </a:r>
            <a:r>
              <a:rPr lang="en-US" altLang="en-US" sz="2800" b="1">
                <a:solidFill>
                  <a:srgbClr val="FF0000"/>
                </a:solidFill>
              </a:rPr>
              <a:t>10</a:t>
            </a:r>
            <a:r>
              <a:rPr lang="en-US" altLang="en-US" sz="2800" b="1">
                <a:solidFill>
                  <a:srgbClr val="3333CC"/>
                </a:solidFill>
              </a:rPr>
              <a:t>..</a:t>
            </a:r>
            <a:r>
              <a:rPr lang="en-US" altLang="en-US" sz="2800" b="1">
                <a:solidFill>
                  <a:srgbClr val="FF0000"/>
                </a:solidFill>
              </a:rPr>
              <a:t>15</a:t>
            </a:r>
            <a:r>
              <a:rPr lang="en-US" altLang="en-US" sz="2800">
                <a:solidFill>
                  <a:srgbClr val="3333CC"/>
                </a:solidFill>
              </a:rPr>
              <a:t>] = P[0..5]</a:t>
            </a:r>
          </a:p>
          <a:p>
            <a:pPr eaLnBrk="1" hangingPunct="1"/>
            <a:r>
              <a:rPr lang="en-US" altLang="en-US" sz="2800"/>
              <a:t>Typically N &gt;&gt;&gt; 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73F0DCE-4ABE-A78B-7F56-DD58818AF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String Matching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30502AA-403B-1C25-C237-BE1198CF934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114800" cy="4800600"/>
          </a:xfrm>
          <a:solidFill>
            <a:srgbClr val="DDDDDD"/>
          </a:solidFill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abacaabacc</a:t>
            </a:r>
            <a:r>
              <a:rPr lang="en-US" altLang="en-US" sz="2400" b="1">
                <a:solidFill>
                  <a:srgbClr val="FF0000"/>
                </a:solidFill>
                <a:latin typeface="Courier New" panose="02070309020205020404" pitchFamily="49" charset="0"/>
              </a:rPr>
              <a:t>abacab</a:t>
            </a:r>
            <a:r>
              <a:rPr lang="en-US" altLang="en-US" sz="2400" b="1">
                <a:latin typeface="Courier New" panose="02070309020205020404" pitchFamily="49" charset="0"/>
              </a:rPr>
              <a:t>aabb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00FF"/>
                </a:solidFill>
                <a:latin typeface="Courier New" panose="02070309020205020404" pitchFamily="49" charset="0"/>
              </a:rPr>
              <a:t>abaca</a:t>
            </a:r>
            <a:r>
              <a:rPr lang="en-US" altLang="en-US" sz="2400" b="1">
                <a:solidFill>
                  <a:srgbClr val="CC00CC"/>
                </a:solidFill>
                <a:latin typeface="Courier New" panose="02070309020205020404" pitchFamily="49" charset="0"/>
              </a:rPr>
              <a:t>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CC00CC"/>
                </a:solidFill>
                <a:latin typeface="Courier New" panose="02070309020205020404" pitchFamily="49" charset="0"/>
              </a:rPr>
              <a:t> a</a:t>
            </a:r>
            <a:r>
              <a:rPr lang="en-US" altLang="en-US" sz="2400" b="1">
                <a:latin typeface="Courier New" panose="02070309020205020404" pitchFamily="49" charset="0"/>
              </a:rPr>
              <a:t>bacab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</a:t>
            </a:r>
            <a:r>
              <a:rPr lang="en-US" altLang="en-US" sz="2400" b="1">
                <a:solidFill>
                  <a:srgbClr val="0000FF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 sz="2400" b="1">
                <a:solidFill>
                  <a:srgbClr val="CC00CC"/>
                </a:solidFill>
                <a:latin typeface="Courier New" panose="02070309020205020404" pitchFamily="49" charset="0"/>
              </a:rPr>
              <a:t>b</a:t>
            </a:r>
            <a:r>
              <a:rPr lang="en-US" altLang="en-US" sz="2400" b="1">
                <a:latin typeface="Courier New" panose="02070309020205020404" pitchFamily="49" charset="0"/>
              </a:rPr>
              <a:t>acab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</a:t>
            </a:r>
            <a:r>
              <a:rPr lang="en-US" altLang="en-US" sz="2400" b="1">
                <a:solidFill>
                  <a:srgbClr val="CC00CC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 sz="2400" b="1">
                <a:latin typeface="Courier New" panose="02070309020205020404" pitchFamily="49" charset="0"/>
              </a:rPr>
              <a:t>bacab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</a:t>
            </a:r>
            <a:r>
              <a:rPr lang="en-US" altLang="en-US" sz="2400" b="1">
                <a:solidFill>
                  <a:srgbClr val="0000FF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 sz="2400" b="1">
                <a:solidFill>
                  <a:srgbClr val="CC00CC"/>
                </a:solidFill>
                <a:latin typeface="Courier New" panose="02070309020205020404" pitchFamily="49" charset="0"/>
              </a:rPr>
              <a:t>b</a:t>
            </a:r>
            <a:r>
              <a:rPr lang="en-US" altLang="en-US" sz="2400" b="1">
                <a:latin typeface="Courier New" panose="02070309020205020404" pitchFamily="49" charset="0"/>
              </a:rPr>
              <a:t>acab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</a:t>
            </a:r>
            <a:r>
              <a:rPr lang="en-US" altLang="en-US" sz="2400" b="1">
                <a:solidFill>
                  <a:srgbClr val="0000FF"/>
                </a:solidFill>
                <a:latin typeface="Courier New" panose="02070309020205020404" pitchFamily="49" charset="0"/>
              </a:rPr>
              <a:t>abac</a:t>
            </a:r>
            <a:r>
              <a:rPr lang="en-US" altLang="en-US" sz="2400" b="1">
                <a:solidFill>
                  <a:srgbClr val="CC00CC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 sz="2400" b="1">
                <a:latin typeface="Courier New" panose="02070309020205020404" pitchFamily="49" charset="0"/>
              </a:rPr>
              <a:t>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</a:t>
            </a:r>
            <a:r>
              <a:rPr lang="en-US" altLang="en-US" sz="2400" b="1">
                <a:solidFill>
                  <a:srgbClr val="CC00CC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 sz="2400" b="1">
                <a:latin typeface="Courier New" panose="02070309020205020404" pitchFamily="49" charset="0"/>
              </a:rPr>
              <a:t>bacab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</a:t>
            </a:r>
            <a:r>
              <a:rPr lang="en-US" altLang="en-US" sz="2400" b="1">
                <a:solidFill>
                  <a:srgbClr val="0000FF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 sz="2400" b="1">
                <a:solidFill>
                  <a:srgbClr val="CC00CC"/>
                </a:solidFill>
                <a:latin typeface="Courier New" panose="02070309020205020404" pitchFamily="49" charset="0"/>
              </a:rPr>
              <a:t>b</a:t>
            </a:r>
            <a:r>
              <a:rPr lang="en-US" altLang="en-US" sz="2400" b="1">
                <a:latin typeface="Courier New" panose="02070309020205020404" pitchFamily="49" charset="0"/>
              </a:rPr>
              <a:t>acab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 </a:t>
            </a:r>
            <a:r>
              <a:rPr lang="en-US" altLang="en-US" sz="2400" b="1">
                <a:solidFill>
                  <a:srgbClr val="CC00CC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 sz="2400" b="1">
                <a:latin typeface="Courier New" panose="02070309020205020404" pitchFamily="49" charset="0"/>
              </a:rPr>
              <a:t>bacab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  </a:t>
            </a:r>
            <a:r>
              <a:rPr lang="en-US" altLang="en-US" sz="2400" b="1">
                <a:solidFill>
                  <a:srgbClr val="CC00CC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 sz="2400" b="1">
                <a:latin typeface="Courier New" panose="02070309020205020404" pitchFamily="49" charset="0"/>
              </a:rPr>
              <a:t>bacab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   </a:t>
            </a:r>
            <a:r>
              <a:rPr lang="en-US" altLang="en-US" sz="2400" b="1">
                <a:solidFill>
                  <a:srgbClr val="0000FF"/>
                </a:solidFill>
                <a:latin typeface="Courier New" panose="02070309020205020404" pitchFamily="49" charset="0"/>
              </a:rPr>
              <a:t>abacab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AF38EFA8-90D6-AA9C-7F5D-EC362E9772E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903788" y="1600200"/>
            <a:ext cx="3783012" cy="1508125"/>
          </a:xfrm>
          <a:solidFill>
            <a:srgbClr val="CCFFCC"/>
          </a:solidFill>
        </p:spPr>
        <p:txBody>
          <a:bodyPr/>
          <a:lstStyle/>
          <a:p>
            <a:pPr eaLnBrk="1" hangingPunct="1"/>
            <a:r>
              <a:rPr lang="en-US" altLang="en-US" sz="2000" b="1"/>
              <a:t>The brute force algorithm</a:t>
            </a:r>
          </a:p>
          <a:p>
            <a:pPr eaLnBrk="1" hangingPunct="1"/>
            <a:r>
              <a:rPr lang="en-US" altLang="en-US" sz="2000" b="1"/>
              <a:t>22+6=</a:t>
            </a:r>
            <a:r>
              <a:rPr lang="en-US" altLang="en-US" sz="2400" b="1"/>
              <a:t>28</a:t>
            </a:r>
            <a:r>
              <a:rPr lang="en-US" altLang="en-US" sz="2000" b="1"/>
              <a:t> </a:t>
            </a:r>
            <a:r>
              <a:rPr lang="en-US" altLang="en-US" sz="2000"/>
              <a:t>comparisons.</a:t>
            </a:r>
            <a:br>
              <a:rPr lang="en-US" altLang="en-US" sz="2000"/>
            </a:br>
            <a:endParaRPr lang="en-US" altLang="en-US" sz="2000"/>
          </a:p>
        </p:txBody>
      </p:sp>
      <p:sp>
        <p:nvSpPr>
          <p:cNvPr id="11269" name="Line 5">
            <a:extLst>
              <a:ext uri="{FF2B5EF4-FFF2-40B4-BE49-F238E27FC236}">
                <a16:creationId xmlns:a16="http://schemas.microsoft.com/office/drawing/2014/main" id="{91FCD1FC-7487-5462-66FF-D0E69CB0F0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74900" y="1447800"/>
            <a:ext cx="0" cy="3810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0" name="Line 6">
            <a:extLst>
              <a:ext uri="{FF2B5EF4-FFF2-40B4-BE49-F238E27FC236}">
                <a16:creationId xmlns:a16="http://schemas.microsoft.com/office/drawing/2014/main" id="{5B663C64-A22E-DEAA-236A-1012C0D0AF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9800" y="1447800"/>
            <a:ext cx="0" cy="3810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03D1080-8D03-CFCD-8494-9C0BB5592C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solidFill>
                  <a:srgbClr val="0000FF"/>
                </a:solidFill>
              </a:rPr>
              <a:t> </a:t>
            </a:r>
            <a:r>
              <a:rPr lang="en-US" altLang="en-US" sz="3200">
                <a:solidFill>
                  <a:srgbClr val="0000FF"/>
                </a:solidFill>
              </a:rPr>
              <a:t> Brute Force Algorithm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A45F292-9718-16F6-7C23-7F41E2B78F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Assume |T| = n and |P| = m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2000"/>
              <a:t>Compare until a match is found. If so return the index where match occurs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2000"/>
              <a:t>else return -1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/>
              <a:t>      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E5BD79B5-69B4-A020-9B69-6F89C7E2C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057400"/>
            <a:ext cx="7391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Text T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D2D6D195-F9B3-37A0-B0B6-BDFAD8550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438400"/>
            <a:ext cx="1828800" cy="304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Pattern P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30536D2D-D4B1-C8B1-F037-144F438C5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819400"/>
            <a:ext cx="1828800" cy="304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Pattern P</a:t>
            </a:r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E2533053-D00E-2888-0AA9-5966AE0AE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200400"/>
            <a:ext cx="1828800" cy="304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Pattern 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id="{A1FF5700-4F56-604C-7CDB-2F229ABD3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Brute-Force Algorithm</a:t>
            </a:r>
          </a:p>
        </p:txBody>
      </p:sp>
      <p:sp>
        <p:nvSpPr>
          <p:cNvPr id="15363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36E80BB-D9A1-8CB7-7311-735517701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38862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brute-force pattern matching algorithm compares the pattern </a:t>
            </a:r>
            <a:r>
              <a:rPr lang="en-US" altLang="en-US" sz="2000" b="1" i="1"/>
              <a:t>P</a:t>
            </a:r>
            <a:r>
              <a:rPr lang="en-US" altLang="en-US" sz="2000"/>
              <a:t> with the text </a:t>
            </a:r>
            <a:r>
              <a:rPr lang="en-US" altLang="en-US" sz="2000" b="1" i="1"/>
              <a:t>T</a:t>
            </a:r>
            <a:r>
              <a:rPr lang="en-US" altLang="en-US" sz="2000"/>
              <a:t> for each possible shift of </a:t>
            </a:r>
            <a:r>
              <a:rPr lang="en-US" altLang="en-US" sz="2000" b="1" i="1"/>
              <a:t>P</a:t>
            </a:r>
            <a:r>
              <a:rPr lang="en-US" altLang="en-US" sz="2000"/>
              <a:t> relative to </a:t>
            </a:r>
            <a:r>
              <a:rPr lang="en-US" altLang="en-US" sz="2000" b="1" i="1"/>
              <a:t>T</a:t>
            </a:r>
            <a:r>
              <a:rPr lang="en-US" altLang="en-US" sz="2000"/>
              <a:t>, until either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match is found, 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all placements of the pattern have been tried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Brute-force pattern matching runs in time </a:t>
            </a:r>
            <a:r>
              <a:rPr lang="en-US" altLang="en-US" sz="2000" b="1" i="1"/>
              <a:t>O</a:t>
            </a:r>
            <a:r>
              <a:rPr lang="en-US" altLang="en-US" sz="2000"/>
              <a:t>(</a:t>
            </a:r>
            <a:r>
              <a:rPr lang="en-US" altLang="en-US" sz="2000" b="1" i="1"/>
              <a:t>nm</a:t>
            </a:r>
            <a:r>
              <a:rPr lang="en-US" altLang="en-US" sz="2000"/>
              <a:t>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 of worst case: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/>
              <a:t>T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 b="1" i="1"/>
              <a:t> aaa … ah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/>
              <a:t>P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 b="1" i="1"/>
              <a:t> aaah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may occur in images and DNA sequences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unlikely in English text</a:t>
            </a:r>
          </a:p>
        </p:txBody>
      </p:sp>
      <p:sp>
        <p:nvSpPr>
          <p:cNvPr id="9222" name="Text Box 1028">
            <a:extLst>
              <a:ext uri="{FF2B5EF4-FFF2-40B4-BE49-F238E27FC236}">
                <a16:creationId xmlns:a16="http://schemas.microsoft.com/office/drawing/2014/main" id="{836A992F-9B9E-1C83-3FE9-667FE4D2E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460500"/>
            <a:ext cx="4419600" cy="5340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62865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BruteForceMatch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T, P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text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T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of size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and pattern </a:t>
            </a:r>
            <a:b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of size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m</a:t>
            </a:r>
            <a:endParaRPr lang="en-US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starting index of a </a:t>
            </a:r>
            <a:b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		substring of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equal to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or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		if no such substring exists 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0 </a:t>
            </a:r>
            <a:r>
              <a:rPr lang="en-US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to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m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i="1" dirty="0">
                <a:latin typeface="Times New Roman" panose="02020603050405020304" pitchFamily="18" charset="0"/>
              </a:rPr>
              <a:t>	</a:t>
            </a:r>
            <a:r>
              <a:rPr lang="en-US" altLang="en-US" sz="2000" dirty="0">
                <a:latin typeface="Times New Roman" panose="02020603050405020304" pitchFamily="18" charset="0"/>
              </a:rPr>
              <a:t>{ test shift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of the pattern }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latin typeface="Times New Roman" panose="02020603050405020304" pitchFamily="18" charset="0"/>
              </a:rPr>
              <a:t>	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0</a:t>
            </a:r>
            <a:endParaRPr lang="en-US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latin typeface="Times New Roman" panose="02020603050405020304" pitchFamily="18" charset="0"/>
              </a:rPr>
              <a:t>	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&lt;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m </a:t>
            </a:r>
            <a:r>
              <a:rPr lang="en-US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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         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T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+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j</a:t>
            </a:r>
            <a:r>
              <a:rPr lang="en-US" altLang="en-US" sz="2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=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P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]</a:t>
            </a:r>
            <a:endParaRPr lang="en-US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if 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=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m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{match at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}</a:t>
            </a:r>
            <a:endParaRPr lang="en-US" altLang="en-US" sz="2000" b="1" i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break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while loop </a:t>
            </a:r>
            <a:r>
              <a:rPr lang="en-US" altLang="en-US" sz="2000" dirty="0">
                <a:latin typeface="Times New Roman" panose="02020603050405020304" pitchFamily="18" charset="0"/>
              </a:rPr>
              <a:t>{mismatch}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-1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{no match anywhere}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21B403E-883D-C6FB-60E3-7D15882B3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A bad case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B769685-A70E-7475-41A3-B25B28B6F48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4013200" cy="5181600"/>
          </a:xfrm>
          <a:solidFill>
            <a:srgbClr val="DDDDDD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000000000000</a:t>
            </a:r>
            <a:r>
              <a:rPr lang="en-US" altLang="en-US" sz="2800" b="1">
                <a:solidFill>
                  <a:srgbClr val="FF0000"/>
                </a:solidFill>
                <a:latin typeface="Courier New" panose="02070309020205020404" pitchFamily="49" charset="0"/>
              </a:rPr>
              <a:t>00001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 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  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       </a:t>
            </a:r>
            <a:r>
              <a:rPr lang="en-US" altLang="en-US" sz="2800" b="1">
                <a:solidFill>
                  <a:srgbClr val="FF0000"/>
                </a:solidFill>
                <a:latin typeface="Courier New" panose="02070309020205020404" pitchFamily="49" charset="0"/>
              </a:rPr>
              <a:t>00001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96C41744-2E0C-F194-1035-77950691F15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981575" y="1600200"/>
            <a:ext cx="3705225" cy="2332038"/>
          </a:xfrm>
          <a:solidFill>
            <a:srgbClr val="CCFFCC"/>
          </a:solidFill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60+5 = </a:t>
            </a:r>
            <a:r>
              <a:rPr lang="en-US" altLang="en-US" sz="2800" b="1"/>
              <a:t>65</a:t>
            </a:r>
            <a:r>
              <a:rPr lang="en-US" altLang="en-US" sz="2800"/>
              <a:t> comparisons are needed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>
                <a:solidFill>
                  <a:srgbClr val="CCFFCC"/>
                </a:solidFill>
              </a:rPr>
              <a:t>How many of them could be avoided?</a:t>
            </a:r>
          </a:p>
        </p:txBody>
      </p:sp>
      <p:sp>
        <p:nvSpPr>
          <p:cNvPr id="17413" name="Line 5">
            <a:extLst>
              <a:ext uri="{FF2B5EF4-FFF2-40B4-BE49-F238E27FC236}">
                <a16:creationId xmlns:a16="http://schemas.microsoft.com/office/drawing/2014/main" id="{A71B11A7-6A75-B076-FCE9-2A72DDD96E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95625" y="1371600"/>
            <a:ext cx="0" cy="5181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Line 6">
            <a:extLst>
              <a:ext uri="{FF2B5EF4-FFF2-40B4-BE49-F238E27FC236}">
                <a16:creationId xmlns:a16="http://schemas.microsoft.com/office/drawing/2014/main" id="{7D64F622-999D-23E1-762A-F3C2983330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1950" y="1371600"/>
            <a:ext cx="0" cy="5181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D315227-268C-EB5D-8AA6-503F40562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A bad case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83A3208-7214-B465-D1B5-D5599E503B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4013200" cy="5181600"/>
          </a:xfrm>
          <a:solidFill>
            <a:srgbClr val="DDDDDD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000000000000</a:t>
            </a:r>
            <a:r>
              <a:rPr lang="en-US" altLang="en-US" sz="2800" b="1">
                <a:solidFill>
                  <a:srgbClr val="FF0000"/>
                </a:solidFill>
                <a:latin typeface="Courier New" panose="02070309020205020404" pitchFamily="49" charset="0"/>
              </a:rPr>
              <a:t>00001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 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      0000-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        </a:t>
            </a:r>
            <a:r>
              <a:rPr lang="en-US" altLang="en-US" sz="2800" b="1">
                <a:solidFill>
                  <a:srgbClr val="FF0000"/>
                </a:solidFill>
                <a:latin typeface="Courier New" panose="02070309020205020404" pitchFamily="49" charset="0"/>
              </a:rPr>
              <a:t>00001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375479F1-7E12-5062-402F-552F49D83DC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981575" y="1600200"/>
            <a:ext cx="3705225" cy="2332038"/>
          </a:xfrm>
          <a:solidFill>
            <a:srgbClr val="CCFFCC"/>
          </a:solidFill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60+5 = </a:t>
            </a:r>
            <a:r>
              <a:rPr lang="en-US" altLang="en-US" sz="2800" b="1"/>
              <a:t>65</a:t>
            </a:r>
            <a:r>
              <a:rPr lang="en-US" altLang="en-US" sz="2800"/>
              <a:t> comparisons are needed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>
                <a:solidFill>
                  <a:srgbClr val="FF0000"/>
                </a:solidFill>
              </a:rPr>
              <a:t>How many of them could be avoided?</a:t>
            </a:r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97ADAC3C-3E11-05DD-62C5-7B3FD19061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95625" y="1371600"/>
            <a:ext cx="0" cy="5181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Line 6">
            <a:extLst>
              <a:ext uri="{FF2B5EF4-FFF2-40B4-BE49-F238E27FC236}">
                <a16:creationId xmlns:a16="http://schemas.microsoft.com/office/drawing/2014/main" id="{C2939D0A-C523-40C9-6E8E-07B2550F7C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1950" y="1371600"/>
            <a:ext cx="0" cy="5181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173AF88-808E-878A-0CC0-FC1BC3BB07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Typical text matching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3F592F5-3F31-38F6-B615-A870A854ED1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4876800" cy="5181600"/>
          </a:xfrm>
          <a:solidFill>
            <a:srgbClr val="DDDDDD"/>
          </a:solidFill>
        </p:spPr>
        <p:txBody>
          <a:bodyPr/>
          <a:lstStyle/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This is a sample </a:t>
            </a:r>
            <a:r>
              <a:rPr lang="en-US" altLang="en-US" sz="2400" b="1">
                <a:solidFill>
                  <a:srgbClr val="FF0000"/>
                </a:solidFill>
                <a:latin typeface="Courier New" panose="02070309020205020404" pitchFamily="49" charset="0"/>
              </a:rPr>
              <a:t>sente</a:t>
            </a:r>
            <a:r>
              <a:rPr lang="en-US" altLang="en-US" sz="2400" b="1">
                <a:latin typeface="Courier New" panose="02070309020205020404" pitchFamily="49" charset="0"/>
              </a:rPr>
              <a:t>nce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endParaRPr lang="en-US" altLang="en-U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s-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s-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 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  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   s-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    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     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      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       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        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         -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          sente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53A17693-662C-3202-A1A9-FD95C3CDEA5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486400" y="2133600"/>
            <a:ext cx="3505200" cy="2819400"/>
          </a:xfrm>
          <a:solidFill>
            <a:srgbClr val="CCFFCC"/>
          </a:solidFill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20+5=</a:t>
            </a:r>
            <a:r>
              <a:rPr lang="en-US" altLang="en-US" sz="2800" b="1"/>
              <a:t>25</a:t>
            </a:r>
            <a:r>
              <a:rPr lang="en-US" altLang="en-US" sz="2800"/>
              <a:t> comparisons are needed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800"/>
              <a:t> 	</a:t>
            </a:r>
            <a:r>
              <a:rPr lang="en-US" altLang="en-US" sz="1800"/>
              <a:t>(The match is near the same point in the target string as the previous example.)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In practice, 0</a:t>
            </a:r>
            <a:r>
              <a:rPr lang="en-US" altLang="en-US" sz="2400" b="1">
                <a:sym typeface="Symbol" panose="05050102010706020507" pitchFamily="18" charset="2"/>
              </a:rPr>
              <a:t></a:t>
            </a:r>
            <a:r>
              <a:rPr lang="en-US" altLang="en-US" sz="2400"/>
              <a:t>j</a:t>
            </a:r>
            <a:r>
              <a:rPr lang="en-US" altLang="en-US" sz="2400" b="1">
                <a:sym typeface="Symbol" panose="05050102010706020507" pitchFamily="18" charset="2"/>
              </a:rPr>
              <a:t></a:t>
            </a:r>
            <a:r>
              <a:rPr lang="en-US" altLang="en-US" sz="2400"/>
              <a:t>2</a:t>
            </a:r>
            <a:endParaRPr lang="en-US" altLang="en-US" sz="1800"/>
          </a:p>
        </p:txBody>
      </p:sp>
      <p:sp>
        <p:nvSpPr>
          <p:cNvPr id="21509" name="Line 5">
            <a:extLst>
              <a:ext uri="{FF2B5EF4-FFF2-40B4-BE49-F238E27FC236}">
                <a16:creationId xmlns:a16="http://schemas.microsoft.com/office/drawing/2014/main" id="{4D989564-D39E-07F9-B01E-00EC30846C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1371600"/>
            <a:ext cx="0" cy="5181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Line 6">
            <a:extLst>
              <a:ext uri="{FF2B5EF4-FFF2-40B4-BE49-F238E27FC236}">
                <a16:creationId xmlns:a16="http://schemas.microsoft.com/office/drawing/2014/main" id="{5C2E06C6-95E0-543D-FD57-2BB432F863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1371600"/>
            <a:ext cx="0" cy="5181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33FF56B-E1BA-9DE1-091D-EB481EC52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String Matching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F2A58693-06AB-8AB4-7C0F-80C5EE9F98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28000" cy="4525963"/>
          </a:xfrm>
        </p:spPr>
        <p:txBody>
          <a:bodyPr/>
          <a:lstStyle/>
          <a:p>
            <a:pPr eaLnBrk="1" hangingPunct="1"/>
            <a:r>
              <a:rPr lang="en-US" altLang="en-US"/>
              <a:t>Brute force worst case</a:t>
            </a:r>
          </a:p>
          <a:p>
            <a:pPr lvl="1" eaLnBrk="1" hangingPunct="1"/>
            <a:r>
              <a:rPr lang="en-US" altLang="en-US" b="1" i="1"/>
              <a:t>O</a:t>
            </a:r>
            <a:r>
              <a:rPr lang="en-US" altLang="en-US" b="1"/>
              <a:t>(MN)</a:t>
            </a:r>
          </a:p>
          <a:p>
            <a:pPr lvl="1" eaLnBrk="1" hangingPunct="1"/>
            <a:r>
              <a:rPr lang="en-US" altLang="en-US"/>
              <a:t>Expensive for long patterns in repetitive text</a:t>
            </a:r>
          </a:p>
          <a:p>
            <a:pPr eaLnBrk="1" hangingPunct="1"/>
            <a:r>
              <a:rPr lang="en-US" altLang="en-US"/>
              <a:t>How to improve on this?</a:t>
            </a:r>
          </a:p>
          <a:p>
            <a:pPr eaLnBrk="1" hangingPunct="1"/>
            <a:r>
              <a:rPr lang="en-US" altLang="en-US"/>
              <a:t>Intuition:</a:t>
            </a:r>
          </a:p>
          <a:p>
            <a:pPr lvl="1" eaLnBrk="1" hangingPunct="1"/>
            <a:r>
              <a:rPr lang="en-US" altLang="en-US" i="1">
                <a:solidFill>
                  <a:srgbClr val="FF0000"/>
                </a:solidFill>
              </a:rPr>
              <a:t>Remember what is learned from previous matches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bldLvl="2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3286806-F5B5-C5B3-57D2-1A6721CB6F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KMP – The Big Idea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1A5E7440-FB04-2FBF-8E16-15145E6D2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86800" cy="5334000"/>
          </a:xfrm>
        </p:spPr>
        <p:txBody>
          <a:bodyPr/>
          <a:lstStyle/>
          <a:p>
            <a:pPr eaLnBrk="1" hangingPunct="1"/>
            <a:r>
              <a:rPr lang="en-US" altLang="en-US" sz="2400"/>
              <a:t>Retain information from prior attempts.</a:t>
            </a:r>
          </a:p>
          <a:p>
            <a:pPr eaLnBrk="1" hangingPunct="1"/>
            <a:r>
              <a:rPr lang="en-US" altLang="en-US" sz="2400" b="1"/>
              <a:t>Compute in advance how far to jump in P when a match fails.</a:t>
            </a:r>
          </a:p>
          <a:p>
            <a:pPr lvl="1" eaLnBrk="1" hangingPunct="1"/>
            <a:r>
              <a:rPr lang="en-US" altLang="en-US" sz="2000"/>
              <a:t>Suppose the match fails at  </a:t>
            </a:r>
            <a:r>
              <a:rPr lang="en-US" altLang="en-US" sz="2000" b="1">
                <a:solidFill>
                  <a:srgbClr val="3333CC"/>
                </a:solidFill>
              </a:rPr>
              <a:t>P[j] </a:t>
            </a:r>
            <a:r>
              <a:rPr lang="en-US" altLang="en-US" b="1">
                <a:solidFill>
                  <a:srgbClr val="3333CC"/>
                </a:solidFill>
                <a:sym typeface="Symbol" panose="05050102010706020507" pitchFamily="18" charset="2"/>
              </a:rPr>
              <a:t></a:t>
            </a:r>
            <a:r>
              <a:rPr lang="en-US" altLang="en-US" sz="2000" b="1">
                <a:solidFill>
                  <a:srgbClr val="3333CC"/>
                </a:solidFill>
              </a:rPr>
              <a:t> T[i+j]</a:t>
            </a:r>
            <a:r>
              <a:rPr lang="en-US" altLang="en-US" sz="2000">
                <a:solidFill>
                  <a:srgbClr val="3333CC"/>
                </a:solidFill>
              </a:rPr>
              <a:t>.</a:t>
            </a:r>
            <a:r>
              <a:rPr lang="en-US" altLang="en-US" sz="2000"/>
              <a:t> </a:t>
            </a:r>
          </a:p>
          <a:p>
            <a:pPr lvl="1" eaLnBrk="1" hangingPunct="1"/>
            <a:r>
              <a:rPr lang="en-US" altLang="en-US" sz="2000"/>
              <a:t>Then we know  </a:t>
            </a:r>
            <a:r>
              <a:rPr lang="en-US" altLang="en-US" sz="2000" b="1">
                <a:solidFill>
                  <a:srgbClr val="3333CC"/>
                </a:solidFill>
              </a:rPr>
              <a:t>P[0 .. j-1]</a:t>
            </a:r>
            <a:r>
              <a:rPr lang="en-US" altLang="en-US" sz="2000">
                <a:solidFill>
                  <a:srgbClr val="3333CC"/>
                </a:solidFill>
              </a:rPr>
              <a:t> </a:t>
            </a:r>
            <a:r>
              <a:rPr lang="en-US" altLang="en-US" sz="2000" b="1">
                <a:solidFill>
                  <a:srgbClr val="3333CC"/>
                </a:solidFill>
              </a:rPr>
              <a:t>= T[i .. i+j-1]</a:t>
            </a:r>
            <a:r>
              <a:rPr lang="en-US" altLang="en-US" sz="2000">
                <a:solidFill>
                  <a:srgbClr val="3333CC"/>
                </a:solidFill>
              </a:rPr>
              <a:t>.</a:t>
            </a:r>
          </a:p>
          <a:p>
            <a:pPr eaLnBrk="1" hangingPunct="1"/>
            <a:r>
              <a:rPr lang="en-US" altLang="en-US" sz="2400"/>
              <a:t>We must next try  </a:t>
            </a:r>
            <a:r>
              <a:rPr lang="en-US" altLang="en-US" sz="2400" b="1">
                <a:solidFill>
                  <a:srgbClr val="FF0000"/>
                </a:solidFill>
              </a:rPr>
              <a:t>P[0] ? T[i+1]</a:t>
            </a:r>
            <a:r>
              <a:rPr lang="en-US" altLang="en-US" sz="2400"/>
              <a:t>.</a:t>
            </a:r>
          </a:p>
          <a:p>
            <a:pPr lvl="1" eaLnBrk="1" hangingPunct="1"/>
            <a:r>
              <a:rPr lang="en-US" altLang="en-US" sz="2000"/>
              <a:t>But we know  </a:t>
            </a:r>
            <a:r>
              <a:rPr lang="en-US" altLang="en-US" sz="2000" b="1">
                <a:solidFill>
                  <a:srgbClr val="3333CC"/>
                </a:solidFill>
              </a:rPr>
              <a:t>T[i+1]=P[1]</a:t>
            </a:r>
            <a:endParaRPr lang="en-US" altLang="en-US" sz="2000" b="1" i="1"/>
          </a:p>
          <a:p>
            <a:pPr lvl="1" eaLnBrk="1" hangingPunct="1"/>
            <a:r>
              <a:rPr lang="en-US" altLang="en-US" sz="2000"/>
              <a:t>What if we compare:  </a:t>
            </a:r>
            <a:r>
              <a:rPr lang="en-US" altLang="en-US" sz="2000" b="1">
                <a:solidFill>
                  <a:srgbClr val="CC00CC"/>
                </a:solidFill>
              </a:rPr>
              <a:t>P[1]?P[0]</a:t>
            </a:r>
          </a:p>
          <a:p>
            <a:pPr lvl="2" eaLnBrk="1" hangingPunct="1"/>
            <a:r>
              <a:rPr lang="en-US" altLang="en-US" sz="1800"/>
              <a:t>If so, increment </a:t>
            </a:r>
            <a:r>
              <a:rPr lang="en-US" altLang="en-US" sz="1800" b="1"/>
              <a:t>j</a:t>
            </a:r>
            <a:r>
              <a:rPr lang="en-US" altLang="en-US" sz="1800"/>
              <a:t> by </a:t>
            </a:r>
            <a:r>
              <a:rPr lang="en-US" altLang="en-US" sz="1800" b="1"/>
              <a:t>1</a:t>
            </a:r>
            <a:r>
              <a:rPr lang="en-US" altLang="en-US" sz="1800"/>
              <a:t>. No need to look at </a:t>
            </a:r>
            <a:r>
              <a:rPr lang="en-US" altLang="en-US" sz="1800" b="1"/>
              <a:t>T</a:t>
            </a:r>
            <a:r>
              <a:rPr lang="en-US" altLang="en-US" sz="1800"/>
              <a:t>.</a:t>
            </a:r>
          </a:p>
          <a:p>
            <a:pPr lvl="1" eaLnBrk="1" hangingPunct="1"/>
            <a:r>
              <a:rPr lang="en-US" altLang="en-US" sz="2000"/>
              <a:t>What if </a:t>
            </a:r>
            <a:r>
              <a:rPr lang="en-US" altLang="en-US" sz="2000" b="1">
                <a:solidFill>
                  <a:srgbClr val="CC00CC"/>
                </a:solidFill>
              </a:rPr>
              <a:t>P[1]=P[0]</a:t>
            </a:r>
            <a:r>
              <a:rPr lang="en-US" altLang="en-US" sz="2000"/>
              <a:t> and </a:t>
            </a:r>
            <a:r>
              <a:rPr lang="en-US" altLang="en-US" sz="2000" b="1">
                <a:solidFill>
                  <a:srgbClr val="CC00CC"/>
                </a:solidFill>
              </a:rPr>
              <a:t>P[2]=P[1]</a:t>
            </a:r>
            <a:r>
              <a:rPr lang="en-US" altLang="en-US" sz="2000"/>
              <a:t>?</a:t>
            </a:r>
          </a:p>
          <a:p>
            <a:pPr lvl="2" eaLnBrk="1" hangingPunct="1"/>
            <a:r>
              <a:rPr lang="en-US" altLang="en-US" sz="1800"/>
              <a:t>Then increment </a:t>
            </a:r>
            <a:r>
              <a:rPr lang="en-US" altLang="en-US" sz="1800" b="1"/>
              <a:t>j</a:t>
            </a:r>
            <a:r>
              <a:rPr lang="en-US" altLang="en-US" sz="1800"/>
              <a:t> by </a:t>
            </a:r>
            <a:r>
              <a:rPr lang="en-US" altLang="en-US" sz="1800" b="1"/>
              <a:t>2</a:t>
            </a:r>
            <a:r>
              <a:rPr lang="en-US" altLang="en-US" sz="1800"/>
              <a:t>. Again, no need to look at </a:t>
            </a:r>
            <a:r>
              <a:rPr lang="en-US" altLang="en-US" sz="1800" b="1"/>
              <a:t>T</a:t>
            </a:r>
            <a:r>
              <a:rPr lang="en-US" altLang="en-US" sz="1800"/>
              <a:t>.</a:t>
            </a:r>
          </a:p>
          <a:p>
            <a:pPr eaLnBrk="1" hangingPunct="1"/>
            <a:r>
              <a:rPr lang="en-US" altLang="en-US" sz="2400"/>
              <a:t>In general, we can determine how far to jump without any knowledge of </a:t>
            </a:r>
            <a:r>
              <a:rPr lang="en-US" altLang="en-US" sz="2400" b="1"/>
              <a:t>T</a:t>
            </a:r>
            <a:r>
              <a:rPr lang="en-US" altLang="en-US" sz="2400"/>
              <a:t>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8073" name="Ink 9">
                <a:extLst>
                  <a:ext uri="{FF2B5EF4-FFF2-40B4-BE49-F238E27FC236}">
                    <a16:creationId xmlns:a16="http://schemas.microsoft.com/office/drawing/2014/main" id="{05DF7FBE-9978-42A9-BAA3-463AED07E55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54725" y="5902325"/>
              <a:ext cx="133350" cy="1588"/>
            </p14:xfrm>
          </p:contentPart>
        </mc:Choice>
        <mc:Fallback xmlns="">
          <p:pic>
            <p:nvPicPr>
              <p:cNvPr id="88073" name="Ink 9">
                <a:extLst>
                  <a:ext uri="{FF2B5EF4-FFF2-40B4-BE49-F238E27FC236}">
                    <a16:creationId xmlns:a16="http://schemas.microsoft.com/office/drawing/2014/main" id="{05DF7FBE-9978-42A9-BAA3-463AED07E55C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5354" y="5861037"/>
                <a:ext cx="152091" cy="84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8074" name="Ink 10">
                <a:extLst>
                  <a:ext uri="{FF2B5EF4-FFF2-40B4-BE49-F238E27FC236}">
                    <a16:creationId xmlns:a16="http://schemas.microsoft.com/office/drawing/2014/main" id="{3F11C5C7-ADE9-4EDD-E491-CD5480BE1EC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925" y="6518275"/>
              <a:ext cx="1588" cy="1588"/>
            </p14:xfrm>
          </p:contentPart>
        </mc:Choice>
        <mc:Fallback xmlns="">
          <p:pic>
            <p:nvPicPr>
              <p:cNvPr id="88074" name="Ink 10">
                <a:extLst>
                  <a:ext uri="{FF2B5EF4-FFF2-40B4-BE49-F238E27FC236}">
                    <a16:creationId xmlns:a16="http://schemas.microsoft.com/office/drawing/2014/main" id="{3F11C5C7-ADE9-4EDD-E491-CD5480BE1EC1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6363" y="6476987"/>
                <a:ext cx="84164" cy="8416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8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 bldLvl="2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26FC801-C1C8-4937-B2D5-415F4E9DB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562600"/>
            <a:ext cx="3962400" cy="12954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1FE793C-E1B3-86C7-BCDB-AB62DCD15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219200"/>
            <a:ext cx="3962400" cy="434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2" name="Line 4">
            <a:extLst>
              <a:ext uri="{FF2B5EF4-FFF2-40B4-BE49-F238E27FC236}">
                <a16:creationId xmlns:a16="http://schemas.microsoft.com/office/drawing/2014/main" id="{B5B76E84-37CC-7418-C541-AF2917931D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1000" y="1219200"/>
            <a:ext cx="0" cy="4343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3" name="Line 5">
            <a:extLst>
              <a:ext uri="{FF2B5EF4-FFF2-40B4-BE49-F238E27FC236}">
                <a16:creationId xmlns:a16="http://schemas.microsoft.com/office/drawing/2014/main" id="{C05B3371-0D00-7373-4F3D-50C657F158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48700" y="1219200"/>
            <a:ext cx="0" cy="4343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1C473C31-A042-0768-9662-B358E5841F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rgbClr val="0000FF"/>
                </a:solidFill>
              </a:rPr>
              <a:t>Brute Force             KMP</a:t>
            </a:r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738D0E20-0EA1-09E2-9F98-5651CE8A8A5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5562600"/>
            <a:ext cx="3962400" cy="1295400"/>
          </a:xfrm>
          <a:solidFill>
            <a:srgbClr val="CCFFCC"/>
          </a:solidFill>
        </p:spPr>
        <p:txBody>
          <a:bodyPr/>
          <a:lstStyle/>
          <a:p>
            <a:pPr eaLnBrk="1" hangingPunct="1"/>
            <a:r>
              <a:rPr lang="en-US" altLang="en-US" sz="2000"/>
              <a:t>A worse case example:</a:t>
            </a:r>
          </a:p>
          <a:p>
            <a:pPr lvl="1" eaLnBrk="1" hangingPunct="1">
              <a:buFontTx/>
              <a:buNone/>
            </a:pPr>
            <a:r>
              <a:rPr lang="en-US" altLang="en-US" sz="2000" b="1">
                <a:solidFill>
                  <a:schemeClr val="accent1"/>
                </a:solidFill>
              </a:rPr>
              <a:t>196 + 14 = 210</a:t>
            </a:r>
            <a:r>
              <a:rPr lang="en-US" altLang="en-US" sz="2000"/>
              <a:t> comparisons</a:t>
            </a:r>
          </a:p>
        </p:txBody>
      </p:sp>
      <p:sp>
        <p:nvSpPr>
          <p:cNvPr id="27656" name="Rectangle 8">
            <a:extLst>
              <a:ext uri="{FF2B5EF4-FFF2-40B4-BE49-F238E27FC236}">
                <a16:creationId xmlns:a16="http://schemas.microsoft.com/office/drawing/2014/main" id="{189E5BDF-A3F1-E350-07BE-0DE9A561AAF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81000" y="1143000"/>
            <a:ext cx="3962400" cy="3657600"/>
          </a:xfrm>
          <a:solidFill>
            <a:srgbClr val="DDDDDD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00000000000000</a:t>
            </a:r>
            <a:r>
              <a:rPr lang="en-US" altLang="en-US" sz="1800" b="1">
                <a:solidFill>
                  <a:srgbClr val="FF0000"/>
                </a:solidFill>
                <a:latin typeface="Courier New" panose="02070309020205020404" pitchFamily="49" charset="0"/>
              </a:rPr>
              <a:t>0000000000001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0000000000000-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0000000000000-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0000000000000-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0000000000000-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0000000000000-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0000000000000-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0000000000000-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0000000000000-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0000000000000-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0000000000000-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0000000000000-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0000000000000-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0000000000000-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0000000000000-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27657" name="Line 9">
            <a:extLst>
              <a:ext uri="{FF2B5EF4-FFF2-40B4-BE49-F238E27FC236}">
                <a16:creationId xmlns:a16="http://schemas.microsoft.com/office/drawing/2014/main" id="{5A5E0BCB-0344-8139-0013-9B7DDD87C1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11400" y="1219200"/>
            <a:ext cx="1588" cy="4343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8" name="Line 10">
            <a:extLst>
              <a:ext uri="{FF2B5EF4-FFF2-40B4-BE49-F238E27FC236}">
                <a16:creationId xmlns:a16="http://schemas.microsoft.com/office/drawing/2014/main" id="{E8B49527-4137-D254-2B7B-3291E33B9B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6400" y="1219200"/>
            <a:ext cx="1588" cy="4343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7AF26A5B-057F-8E17-9AA4-57BE3B28F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231900"/>
            <a:ext cx="4191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00000000000000</a:t>
            </a:r>
            <a:r>
              <a:rPr kumimoji="1" lang="en-US" altLang="en-US" sz="1800" b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00000000000001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endParaRPr kumimoji="1" lang="en-US" altLang="en-US" sz="18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0000000000000-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  0-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   0-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    0-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     0-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      0-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       0-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        0-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         0-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          0-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           0-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            0-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             0-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              0-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               01</a:t>
            </a:r>
            <a:b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</a:br>
            <a:endParaRPr kumimoji="1" lang="en-US" altLang="en-US" sz="18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2000" b="1">
                <a:solidFill>
                  <a:schemeClr val="accent1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	28+14 = 42</a:t>
            </a:r>
            <a:r>
              <a:rPr kumimoji="1" lang="en-US" altLang="en-US" sz="200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en-US" sz="1800">
                <a:latin typeface="Verdana" panose="020B0604030504040204" pitchFamily="34" charset="0"/>
                <a:cs typeface="Arial" panose="020B0604020202020204" pitchFamily="34" charset="0"/>
              </a:rPr>
              <a:t>comparisons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8C85F70-EAFC-E31D-1923-FFCB9758A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334000"/>
            <a:ext cx="3962400" cy="9144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58E7775-33F7-58AD-7C23-7E5F18C50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219200"/>
            <a:ext cx="3962400" cy="3124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F711DCEA-BA61-F9ED-F189-87B658B7A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Brute Force             KMP</a:t>
            </a: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0AD8DD1D-9B64-6DF6-B5EA-ECC5C120A87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5334000"/>
            <a:ext cx="3962400" cy="914400"/>
          </a:xfrm>
          <a:solidFill>
            <a:srgbClr val="CCFFCC"/>
          </a:solidFill>
        </p:spPr>
        <p:txBody>
          <a:bodyPr/>
          <a:lstStyle/>
          <a:p>
            <a:pPr lvl="1" eaLnBrk="1" hangingPunct="1">
              <a:buFontTx/>
              <a:buNone/>
            </a:pPr>
            <a:r>
              <a:rPr lang="en-US" altLang="en-US" sz="2000" b="1">
                <a:solidFill>
                  <a:schemeClr val="accent1"/>
                </a:solidFill>
              </a:rPr>
              <a:t>21</a:t>
            </a:r>
            <a:r>
              <a:rPr lang="en-US" altLang="en-US" sz="2000"/>
              <a:t> comparisons</a:t>
            </a: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C3004306-6DF4-1E9A-BEFA-DF8992D371C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1219200"/>
            <a:ext cx="3276600" cy="3657600"/>
          </a:xfrm>
          <a:solidFill>
            <a:srgbClr val="DDDDDD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abcdeabcdea</a:t>
            </a:r>
            <a:r>
              <a:rPr lang="en-US" altLang="en-US" sz="1800" b="1">
                <a:solidFill>
                  <a:srgbClr val="FF0000"/>
                </a:solidFill>
                <a:latin typeface="Courier New" panose="02070309020205020404" pitchFamily="49" charset="0"/>
              </a:rPr>
              <a:t>bcedfg</a:t>
            </a:r>
            <a:r>
              <a:rPr lang="en-US" altLang="en-US" sz="1800" b="1">
                <a:latin typeface="Courier New" panose="02070309020205020404" pitchFamily="49" charset="0"/>
              </a:rPr>
              <a:t>hijkl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bc-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bc-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bcedfg</a:t>
            </a:r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33733435-5D3F-97BB-7020-735A1465D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231900"/>
            <a:ext cx="4191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abcdeabcdea</a:t>
            </a:r>
            <a:r>
              <a:rPr kumimoji="1" lang="en-US" altLang="en-US" sz="1800" b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bcedfg</a:t>
            </a: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hijkl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endParaRPr kumimoji="1" lang="en-US" altLang="en-US" sz="18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bc-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bc-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-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  <a:t>           bcedfg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br>
              <a:rPr kumimoji="1" lang="en-US" altLang="en-US" sz="1800" b="1">
                <a:latin typeface="Courier New" panose="02070309020205020404" pitchFamily="49" charset="0"/>
                <a:cs typeface="Arial" panose="020B0604020202020204" pitchFamily="34" charset="0"/>
              </a:rPr>
            </a:br>
            <a:endParaRPr kumimoji="1" lang="en-US" altLang="en-US" sz="18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br>
              <a:rPr kumimoji="1" lang="en-US" altLang="en-US" sz="1800" b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</a:br>
            <a:endParaRPr kumimoji="1" lang="en-US" altLang="en-US" sz="1800" b="1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endParaRPr kumimoji="1" lang="en-US" altLang="en-US" sz="1800" b="1">
              <a:solidFill>
                <a:srgbClr val="FF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2000" b="1">
                <a:solidFill>
                  <a:schemeClr val="accent1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19</a:t>
            </a:r>
            <a:r>
              <a:rPr kumimoji="1" lang="en-US" altLang="en-US" sz="200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en-US" sz="1800">
                <a:latin typeface="Verdana" panose="020B0604030504040204" pitchFamily="34" charset="0"/>
                <a:cs typeface="Arial" panose="020B0604020202020204" pitchFamily="34" charset="0"/>
              </a:rPr>
              <a:t>comparisons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endParaRPr kumimoji="1" lang="en-US" altLang="en-US" sz="180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FontTx/>
              <a:buNone/>
            </a:pPr>
            <a:r>
              <a:rPr kumimoji="1" lang="en-US" altLang="en-US" sz="1800" b="1">
                <a:solidFill>
                  <a:schemeClr val="accent1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5</a:t>
            </a:r>
            <a:r>
              <a:rPr kumimoji="1" lang="en-US" altLang="en-US" sz="1800">
                <a:latin typeface="Verdana" panose="020B0604030504040204" pitchFamily="34" charset="0"/>
                <a:cs typeface="Arial" panose="020B0604020202020204" pitchFamily="34" charset="0"/>
              </a:rPr>
              <a:t> preparation comparisons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2C3D668-EB64-26DE-9414-C39BD99F5C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KMP Algorithm - Motivation</a:t>
            </a:r>
          </a:p>
        </p:txBody>
      </p:sp>
      <p:sp>
        <p:nvSpPr>
          <p:cNvPr id="3174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95A2988-579D-283F-817F-3961FC2291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4038600" cy="4648200"/>
          </a:xfrm>
        </p:spPr>
        <p:txBody>
          <a:bodyPr/>
          <a:lstStyle/>
          <a:p>
            <a:pPr eaLnBrk="1" hangingPunct="1"/>
            <a:r>
              <a:rPr lang="en-US" altLang="en-US" sz="2000"/>
              <a:t>Knuth-Morris-Pratt’s algorithm compares the pattern to the text in </a:t>
            </a:r>
            <a:r>
              <a:rPr lang="en-US" altLang="en-US" sz="2000" b="1">
                <a:solidFill>
                  <a:schemeClr val="tx2"/>
                </a:solidFill>
              </a:rPr>
              <a:t>left-to-right</a:t>
            </a:r>
            <a:r>
              <a:rPr lang="en-US" altLang="en-US" sz="2000"/>
              <a:t>, but shifts the pattern more intelligently than the brute-force algorithm. </a:t>
            </a:r>
          </a:p>
          <a:p>
            <a:pPr eaLnBrk="1" hangingPunct="1"/>
            <a:r>
              <a:rPr lang="en-US" altLang="en-US" sz="2000"/>
              <a:t>When a mismatch occurs, what is the </a:t>
            </a:r>
            <a:r>
              <a:rPr lang="en-US" altLang="en-US" sz="2000" b="1">
                <a:solidFill>
                  <a:schemeClr val="tx2"/>
                </a:solidFill>
              </a:rPr>
              <a:t>most</a:t>
            </a:r>
            <a:r>
              <a:rPr lang="en-US" altLang="en-US" sz="2000"/>
              <a:t> we can shift the pattern so as to avoid redundant comparisons?</a:t>
            </a:r>
          </a:p>
          <a:p>
            <a:pPr eaLnBrk="1" hangingPunct="1"/>
            <a:r>
              <a:rPr lang="en-US" altLang="en-US" sz="2000"/>
              <a:t>Answer: the largest prefix of </a:t>
            </a:r>
            <a:r>
              <a:rPr lang="en-US" altLang="en-US" sz="2000" b="1" i="1"/>
              <a:t>P</a:t>
            </a:r>
            <a:r>
              <a:rPr lang="en-US" altLang="en-US" sz="2000"/>
              <a:t>[0..</a:t>
            </a:r>
            <a:r>
              <a:rPr lang="en-US" altLang="en-US" sz="2000" b="1" i="1"/>
              <a:t>j</a:t>
            </a:r>
            <a:r>
              <a:rPr lang="en-US" altLang="en-US" sz="2000"/>
              <a:t>]</a:t>
            </a:r>
            <a:r>
              <a:rPr lang="en-US" altLang="en-US" sz="2000" b="1" i="1"/>
              <a:t> </a:t>
            </a:r>
            <a:r>
              <a:rPr lang="en-US" altLang="en-US" sz="2000"/>
              <a:t>that is a suffix of </a:t>
            </a:r>
            <a:r>
              <a:rPr lang="en-US" altLang="en-US" sz="2000" b="1" i="1"/>
              <a:t>P</a:t>
            </a:r>
            <a:r>
              <a:rPr lang="en-US" altLang="en-US" sz="2000"/>
              <a:t>[1..</a:t>
            </a:r>
            <a:r>
              <a:rPr lang="en-US" altLang="en-US" sz="2000" b="1" i="1"/>
              <a:t>j</a:t>
            </a:r>
            <a:r>
              <a:rPr lang="en-US" altLang="en-US" sz="2000"/>
              <a:t>]</a:t>
            </a:r>
          </a:p>
        </p:txBody>
      </p:sp>
      <p:sp>
        <p:nvSpPr>
          <p:cNvPr id="31748" name="Rectangle 62">
            <a:extLst>
              <a:ext uri="{FF2B5EF4-FFF2-40B4-BE49-F238E27FC236}">
                <a16:creationId xmlns:a16="http://schemas.microsoft.com/office/drawing/2014/main" id="{072FC6DA-C8CF-B39B-9835-C7AE40003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4350" y="2438400"/>
            <a:ext cx="341313" cy="341313"/>
          </a:xfrm>
          <a:prstGeom prst="rect">
            <a:avLst/>
          </a:prstGeom>
          <a:solidFill>
            <a:srgbClr val="CFD1FD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49" name="Rectangle 63">
            <a:extLst>
              <a:ext uri="{FF2B5EF4-FFF2-40B4-BE49-F238E27FC236}">
                <a16:creationId xmlns:a16="http://schemas.microsoft.com/office/drawing/2014/main" id="{3033B1BB-E258-ABDD-1D93-38DEC444D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8" y="245110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40458C"/>
                </a:solidFill>
              </a:rPr>
              <a:t>x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50" name="Rectangle 64">
            <a:extLst>
              <a:ext uri="{FF2B5EF4-FFF2-40B4-BE49-F238E27FC236}">
                <a16:creationId xmlns:a16="http://schemas.microsoft.com/office/drawing/2014/main" id="{2071BAB0-9DB6-5379-FB68-01BE10DA3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3100" y="3854450"/>
            <a:ext cx="746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</a:rPr>
              <a:t>j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51" name="Line 65">
            <a:extLst>
              <a:ext uri="{FF2B5EF4-FFF2-40B4-BE49-F238E27FC236}">
                <a16:creationId xmlns:a16="http://schemas.microsoft.com/office/drawing/2014/main" id="{0AA3621F-78B5-9C7E-53C4-8D1058C720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4350" y="2779713"/>
            <a:ext cx="1588" cy="180975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2" name="Line 66">
            <a:extLst>
              <a:ext uri="{FF2B5EF4-FFF2-40B4-BE49-F238E27FC236}">
                <a16:creationId xmlns:a16="http://schemas.microsoft.com/office/drawing/2014/main" id="{0C6C82C9-4241-DA73-AD51-589F3A9766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4350" y="3073400"/>
            <a:ext cx="1588" cy="182563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3" name="Line 67">
            <a:extLst>
              <a:ext uri="{FF2B5EF4-FFF2-40B4-BE49-F238E27FC236}">
                <a16:creationId xmlns:a16="http://schemas.microsoft.com/office/drawing/2014/main" id="{E78D72FE-CC7F-17F7-0390-BA86B368D2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4350" y="3368675"/>
            <a:ext cx="1588" cy="182563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4" name="Line 68">
            <a:extLst>
              <a:ext uri="{FF2B5EF4-FFF2-40B4-BE49-F238E27FC236}">
                <a16:creationId xmlns:a16="http://schemas.microsoft.com/office/drawing/2014/main" id="{CF38AF65-44DF-E673-9F96-E1FE7310DE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4350" y="3663950"/>
            <a:ext cx="1588" cy="182563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5" name="Line 69">
            <a:extLst>
              <a:ext uri="{FF2B5EF4-FFF2-40B4-BE49-F238E27FC236}">
                <a16:creationId xmlns:a16="http://schemas.microsoft.com/office/drawing/2014/main" id="{B23117A1-D800-B27B-5E4F-B3B162DA8E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4350" y="3959225"/>
            <a:ext cx="1588" cy="180975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6" name="Line 70">
            <a:extLst>
              <a:ext uri="{FF2B5EF4-FFF2-40B4-BE49-F238E27FC236}">
                <a16:creationId xmlns:a16="http://schemas.microsoft.com/office/drawing/2014/main" id="{052AD95D-B9E4-9D03-6F94-F2032843CA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4350" y="4254500"/>
            <a:ext cx="1588" cy="180975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7" name="Line 71">
            <a:extLst>
              <a:ext uri="{FF2B5EF4-FFF2-40B4-BE49-F238E27FC236}">
                <a16:creationId xmlns:a16="http://schemas.microsoft.com/office/drawing/2014/main" id="{1F07EF04-A8B8-70DC-3A93-9B9297F81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4350" y="4549775"/>
            <a:ext cx="1588" cy="180975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8" name="Line 72">
            <a:extLst>
              <a:ext uri="{FF2B5EF4-FFF2-40B4-BE49-F238E27FC236}">
                <a16:creationId xmlns:a16="http://schemas.microsoft.com/office/drawing/2014/main" id="{72780C4A-85AA-5777-636A-9ED487E2C0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4350" y="4845050"/>
            <a:ext cx="1588" cy="180975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9" name="Line 73">
            <a:extLst>
              <a:ext uri="{FF2B5EF4-FFF2-40B4-BE49-F238E27FC236}">
                <a16:creationId xmlns:a16="http://schemas.microsoft.com/office/drawing/2014/main" id="{7D5D6655-DE7B-353A-13A8-E7C919674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4350" y="5140325"/>
            <a:ext cx="1588" cy="180975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0" name="Line 74">
            <a:extLst>
              <a:ext uri="{FF2B5EF4-FFF2-40B4-BE49-F238E27FC236}">
                <a16:creationId xmlns:a16="http://schemas.microsoft.com/office/drawing/2014/main" id="{0CFB2A7F-470C-2299-6F0B-FBAA171C2B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4350" y="5434013"/>
            <a:ext cx="1588" cy="68262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1" name="Rectangle 75">
            <a:extLst>
              <a:ext uri="{FF2B5EF4-FFF2-40B4-BE49-F238E27FC236}">
                <a16:creationId xmlns:a16="http://schemas.microsoft.com/office/drawing/2014/main" id="{17A3C6D6-BF21-AF04-603C-05D6CD831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2438400"/>
            <a:ext cx="341312" cy="341313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62" name="Rectangle 76">
            <a:extLst>
              <a:ext uri="{FF2B5EF4-FFF2-40B4-BE49-F238E27FC236}">
                <a16:creationId xmlns:a16="http://schemas.microsoft.com/office/drawing/2014/main" id="{E87F7882-7B1E-EAEF-F137-F35225070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313" y="2470150"/>
            <a:ext cx="5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.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63" name="Rectangle 77">
            <a:extLst>
              <a:ext uri="{FF2B5EF4-FFF2-40B4-BE49-F238E27FC236}">
                <a16:creationId xmlns:a16="http://schemas.microsoft.com/office/drawing/2014/main" id="{E99DD37E-0E6F-F15A-6965-70D916A20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300" y="2438400"/>
            <a:ext cx="341313" cy="341313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64" name="Rectangle 78">
            <a:extLst>
              <a:ext uri="{FF2B5EF4-FFF2-40B4-BE49-F238E27FC236}">
                <a16:creationId xmlns:a16="http://schemas.microsoft.com/office/drawing/2014/main" id="{5E463E47-7659-6908-B564-7EE4D35DC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2470150"/>
            <a:ext cx="5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.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65" name="Rectangle 79">
            <a:extLst>
              <a:ext uri="{FF2B5EF4-FFF2-40B4-BE49-F238E27FC236}">
                <a16:creationId xmlns:a16="http://schemas.microsoft.com/office/drawing/2014/main" id="{84511468-5748-54EB-E374-C4AF7FFC1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613" y="2438400"/>
            <a:ext cx="342900" cy="341313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66" name="Rectangle 80">
            <a:extLst>
              <a:ext uri="{FF2B5EF4-FFF2-40B4-BE49-F238E27FC236}">
                <a16:creationId xmlns:a16="http://schemas.microsoft.com/office/drawing/2014/main" id="{7122F567-7BBC-E9B6-EE56-DF66784A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950" y="245110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</a:rPr>
              <a:t>a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67" name="Rectangle 81">
            <a:extLst>
              <a:ext uri="{FF2B5EF4-FFF2-40B4-BE49-F238E27FC236}">
                <a16:creationId xmlns:a16="http://schemas.microsoft.com/office/drawing/2014/main" id="{FD943ACC-F9FD-77EB-61BE-95F57310A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7513" y="2438400"/>
            <a:ext cx="341312" cy="341313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68" name="Rectangle 82">
            <a:extLst>
              <a:ext uri="{FF2B5EF4-FFF2-40B4-BE49-F238E27FC236}">
                <a16:creationId xmlns:a16="http://schemas.microsoft.com/office/drawing/2014/main" id="{7349E60C-FA82-E67D-94F3-2A695DAF7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850" y="245110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</a:rPr>
              <a:t>b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69" name="Rectangle 83">
            <a:extLst>
              <a:ext uri="{FF2B5EF4-FFF2-40B4-BE49-F238E27FC236}">
                <a16:creationId xmlns:a16="http://schemas.microsoft.com/office/drawing/2014/main" id="{B8E5C150-5C5D-BEF3-603D-13D9A6B25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8825" y="2438400"/>
            <a:ext cx="341313" cy="341313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70" name="Rectangle 84">
            <a:extLst>
              <a:ext uri="{FF2B5EF4-FFF2-40B4-BE49-F238E27FC236}">
                <a16:creationId xmlns:a16="http://schemas.microsoft.com/office/drawing/2014/main" id="{8FCAC508-27F4-B89E-E719-460764EB8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163" y="245110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</a:rPr>
              <a:t>a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71" name="Rectangle 85">
            <a:extLst>
              <a:ext uri="{FF2B5EF4-FFF2-40B4-BE49-F238E27FC236}">
                <a16:creationId xmlns:a16="http://schemas.microsoft.com/office/drawing/2014/main" id="{871D1F8A-A021-8813-BE0D-570DE4B86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2438400"/>
            <a:ext cx="341312" cy="341313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72" name="Rectangle 86">
            <a:extLst>
              <a:ext uri="{FF2B5EF4-FFF2-40B4-BE49-F238E27FC236}">
                <a16:creationId xmlns:a16="http://schemas.microsoft.com/office/drawing/2014/main" id="{8309811D-4E21-367E-11FD-C8F51DA64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475" y="245110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</a:rPr>
              <a:t>a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73" name="Rectangle 87">
            <a:extLst>
              <a:ext uri="{FF2B5EF4-FFF2-40B4-BE49-F238E27FC236}">
                <a16:creationId xmlns:a16="http://schemas.microsoft.com/office/drawing/2014/main" id="{314C7E4A-C1A2-CED2-39E5-58234C4C5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450" y="2438400"/>
            <a:ext cx="342900" cy="341313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74" name="Rectangle 88">
            <a:extLst>
              <a:ext uri="{FF2B5EF4-FFF2-40B4-BE49-F238E27FC236}">
                <a16:creationId xmlns:a16="http://schemas.microsoft.com/office/drawing/2014/main" id="{CAEE426B-1890-3F56-3E13-97338BBC4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245110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</a:rPr>
              <a:t>b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75" name="Rectangle 89">
            <a:extLst>
              <a:ext uri="{FF2B5EF4-FFF2-40B4-BE49-F238E27FC236}">
                <a16:creationId xmlns:a16="http://schemas.microsoft.com/office/drawing/2014/main" id="{A9CC2EA0-E08C-B084-D161-5FFE6CF02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63" y="2438400"/>
            <a:ext cx="341312" cy="341313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76" name="Rectangle 90">
            <a:extLst>
              <a:ext uri="{FF2B5EF4-FFF2-40B4-BE49-F238E27FC236}">
                <a16:creationId xmlns:a16="http://schemas.microsoft.com/office/drawing/2014/main" id="{33A58A8D-9F8D-6592-9F65-0CB45A20A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988" y="2470150"/>
            <a:ext cx="5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.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77" name="Rectangle 91">
            <a:extLst>
              <a:ext uri="{FF2B5EF4-FFF2-40B4-BE49-F238E27FC236}">
                <a16:creationId xmlns:a16="http://schemas.microsoft.com/office/drawing/2014/main" id="{1F7A5FDC-052C-CDB0-CC10-606FE81C6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6975" y="2438400"/>
            <a:ext cx="342900" cy="341313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78" name="Rectangle 92">
            <a:extLst>
              <a:ext uri="{FF2B5EF4-FFF2-40B4-BE49-F238E27FC236}">
                <a16:creationId xmlns:a16="http://schemas.microsoft.com/office/drawing/2014/main" id="{452439FD-EE20-D2EC-A194-874DDB795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300" y="2470150"/>
            <a:ext cx="5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.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79" name="Rectangle 93">
            <a:extLst>
              <a:ext uri="{FF2B5EF4-FFF2-40B4-BE49-F238E27FC236}">
                <a16:creationId xmlns:a16="http://schemas.microsoft.com/office/drawing/2014/main" id="{5A43B605-F24F-EAF9-3665-91BDAAFCF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75" y="2438400"/>
            <a:ext cx="341313" cy="341313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80" name="Rectangle 94">
            <a:extLst>
              <a:ext uri="{FF2B5EF4-FFF2-40B4-BE49-F238E27FC236}">
                <a16:creationId xmlns:a16="http://schemas.microsoft.com/office/drawing/2014/main" id="{A6E3BEEA-CC5A-03C5-6BE9-90F2B243D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470150"/>
            <a:ext cx="5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.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81" name="Rectangle 95">
            <a:extLst>
              <a:ext uri="{FF2B5EF4-FFF2-40B4-BE49-F238E27FC236}">
                <a16:creationId xmlns:a16="http://schemas.microsoft.com/office/drawing/2014/main" id="{CFBA9DA6-E0D2-94EB-9D65-39D2393C6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438400"/>
            <a:ext cx="341312" cy="341313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82" name="Rectangle 96">
            <a:extLst>
              <a:ext uri="{FF2B5EF4-FFF2-40B4-BE49-F238E27FC236}">
                <a16:creationId xmlns:a16="http://schemas.microsoft.com/office/drawing/2014/main" id="{74338C08-E452-F10B-A2D0-AADF206C6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8513" y="2470150"/>
            <a:ext cx="5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.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83" name="Rectangle 97">
            <a:extLst>
              <a:ext uri="{FF2B5EF4-FFF2-40B4-BE49-F238E27FC236}">
                <a16:creationId xmlns:a16="http://schemas.microsoft.com/office/drawing/2014/main" id="{4C7E93CE-B6DF-B8DC-B590-F947BE9E1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0" y="2438400"/>
            <a:ext cx="342900" cy="341313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84" name="Rectangle 98">
            <a:extLst>
              <a:ext uri="{FF2B5EF4-FFF2-40B4-BE49-F238E27FC236}">
                <a16:creationId xmlns:a16="http://schemas.microsoft.com/office/drawing/2014/main" id="{F6B03252-C6BC-FA78-90B8-157C08D42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9825" y="2470150"/>
            <a:ext cx="5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.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85" name="Rectangle 99">
            <a:extLst>
              <a:ext uri="{FF2B5EF4-FFF2-40B4-BE49-F238E27FC236}">
                <a16:creationId xmlns:a16="http://schemas.microsoft.com/office/drawing/2014/main" id="{D1BCCAE9-C4E7-854E-4EE1-5ECC98BC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613" y="3459163"/>
            <a:ext cx="342900" cy="341312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86" name="Rectangle 100">
            <a:extLst>
              <a:ext uri="{FF2B5EF4-FFF2-40B4-BE49-F238E27FC236}">
                <a16:creationId xmlns:a16="http://schemas.microsoft.com/office/drawing/2014/main" id="{3C7EC075-8F63-4690-7F12-122778D57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950" y="347345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</a:rPr>
              <a:t>a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87" name="Rectangle 101">
            <a:extLst>
              <a:ext uri="{FF2B5EF4-FFF2-40B4-BE49-F238E27FC236}">
                <a16:creationId xmlns:a16="http://schemas.microsoft.com/office/drawing/2014/main" id="{B5AC1F53-10F6-3FC6-5EAB-D075E2A7A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7513" y="3459163"/>
            <a:ext cx="341312" cy="341312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88" name="Rectangle 102">
            <a:extLst>
              <a:ext uri="{FF2B5EF4-FFF2-40B4-BE49-F238E27FC236}">
                <a16:creationId xmlns:a16="http://schemas.microsoft.com/office/drawing/2014/main" id="{C408A0FC-DF9F-F136-C5D9-EB79EB412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850" y="347345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</a:rPr>
              <a:t>b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89" name="Rectangle 103">
            <a:extLst>
              <a:ext uri="{FF2B5EF4-FFF2-40B4-BE49-F238E27FC236}">
                <a16:creationId xmlns:a16="http://schemas.microsoft.com/office/drawing/2014/main" id="{C5ABAD4F-452D-B72F-4071-FBDDBF7FA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8825" y="3459163"/>
            <a:ext cx="341313" cy="341312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90" name="Rectangle 104">
            <a:extLst>
              <a:ext uri="{FF2B5EF4-FFF2-40B4-BE49-F238E27FC236}">
                <a16:creationId xmlns:a16="http://schemas.microsoft.com/office/drawing/2014/main" id="{A5B0897A-B3B7-8965-9D36-04868B246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163" y="347345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</a:rPr>
              <a:t>a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91" name="Rectangle 105">
            <a:extLst>
              <a:ext uri="{FF2B5EF4-FFF2-40B4-BE49-F238E27FC236}">
                <a16:creationId xmlns:a16="http://schemas.microsoft.com/office/drawing/2014/main" id="{E2EAB791-3E69-4803-3298-CFB094175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3459163"/>
            <a:ext cx="341312" cy="341312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92" name="Rectangle 106">
            <a:extLst>
              <a:ext uri="{FF2B5EF4-FFF2-40B4-BE49-F238E27FC236}">
                <a16:creationId xmlns:a16="http://schemas.microsoft.com/office/drawing/2014/main" id="{F326757B-FBE0-3FEE-D8D0-B88C5B1C8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475" y="347345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</a:rPr>
              <a:t>a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93" name="Rectangle 107">
            <a:extLst>
              <a:ext uri="{FF2B5EF4-FFF2-40B4-BE49-F238E27FC236}">
                <a16:creationId xmlns:a16="http://schemas.microsoft.com/office/drawing/2014/main" id="{72D0B0FA-3A6E-5E35-46E4-CBDF08575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450" y="3459163"/>
            <a:ext cx="342900" cy="341312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94" name="Rectangle 108">
            <a:extLst>
              <a:ext uri="{FF2B5EF4-FFF2-40B4-BE49-F238E27FC236}">
                <a16:creationId xmlns:a16="http://schemas.microsoft.com/office/drawing/2014/main" id="{CA5CEBB0-141A-FED3-CE0E-A306F005C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347345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</a:rPr>
              <a:t>b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95" name="Rectangle 109">
            <a:extLst>
              <a:ext uri="{FF2B5EF4-FFF2-40B4-BE49-F238E27FC236}">
                <a16:creationId xmlns:a16="http://schemas.microsoft.com/office/drawing/2014/main" id="{F0D99988-0597-A07F-89FD-3B26CD6AD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4350" y="3459163"/>
            <a:ext cx="341313" cy="341312"/>
          </a:xfrm>
          <a:prstGeom prst="rect">
            <a:avLst/>
          </a:prstGeom>
          <a:solidFill>
            <a:srgbClr val="CFD1FD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796" name="Rectangle 110">
            <a:extLst>
              <a:ext uri="{FF2B5EF4-FFF2-40B4-BE49-F238E27FC236}">
                <a16:creationId xmlns:a16="http://schemas.microsoft.com/office/drawing/2014/main" id="{64EE0741-D2B6-DBB0-8DBE-597A9ACC5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8" y="347345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40458C"/>
                </a:solidFill>
              </a:rPr>
              <a:t>a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797" name="Line 111">
            <a:extLst>
              <a:ext uri="{FF2B5EF4-FFF2-40B4-BE49-F238E27FC236}">
                <a16:creationId xmlns:a16="http://schemas.microsoft.com/office/drawing/2014/main" id="{27FCAC54-D391-7379-7146-760B46AD9FB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7925" y="4989513"/>
            <a:ext cx="496888" cy="1587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8" name="Freeform 112">
            <a:extLst>
              <a:ext uri="{FF2B5EF4-FFF2-40B4-BE49-F238E27FC236}">
                <a16:creationId xmlns:a16="http://schemas.microsoft.com/office/drawing/2014/main" id="{384F3BAD-E886-1E16-6655-255CC40E1A77}"/>
              </a:ext>
            </a:extLst>
          </p:cNvPr>
          <p:cNvSpPr>
            <a:spLocks/>
          </p:cNvSpPr>
          <p:nvPr/>
        </p:nvSpPr>
        <p:spPr bwMode="auto">
          <a:xfrm>
            <a:off x="6148388" y="4921250"/>
            <a:ext cx="141287" cy="141288"/>
          </a:xfrm>
          <a:custGeom>
            <a:avLst/>
            <a:gdLst>
              <a:gd name="T0" fmla="*/ 0 w 89"/>
              <a:gd name="T1" fmla="*/ 2147483646 h 89"/>
              <a:gd name="T2" fmla="*/ 2147483646 w 89"/>
              <a:gd name="T3" fmla="*/ 0 h 89"/>
              <a:gd name="T4" fmla="*/ 2147483646 w 89"/>
              <a:gd name="T5" fmla="*/ 2147483646 h 89"/>
              <a:gd name="T6" fmla="*/ 2147483646 w 89"/>
              <a:gd name="T7" fmla="*/ 2147483646 h 89"/>
              <a:gd name="T8" fmla="*/ 2147483646 w 89"/>
              <a:gd name="T9" fmla="*/ 2147483646 h 89"/>
              <a:gd name="T10" fmla="*/ 2147483646 w 89"/>
              <a:gd name="T11" fmla="*/ 2147483646 h 89"/>
              <a:gd name="T12" fmla="*/ 2147483646 w 89"/>
              <a:gd name="T13" fmla="*/ 2147483646 h 89"/>
              <a:gd name="T14" fmla="*/ 2147483646 w 89"/>
              <a:gd name="T15" fmla="*/ 2147483646 h 89"/>
              <a:gd name="T16" fmla="*/ 2147483646 w 89"/>
              <a:gd name="T17" fmla="*/ 2147483646 h 89"/>
              <a:gd name="T18" fmla="*/ 2147483646 w 89"/>
              <a:gd name="T19" fmla="*/ 2147483646 h 89"/>
              <a:gd name="T20" fmla="*/ 2147483646 w 89"/>
              <a:gd name="T21" fmla="*/ 2147483646 h 89"/>
              <a:gd name="T22" fmla="*/ 2147483646 w 89"/>
              <a:gd name="T23" fmla="*/ 2147483646 h 89"/>
              <a:gd name="T24" fmla="*/ 2147483646 w 89"/>
              <a:gd name="T25" fmla="*/ 2147483646 h 89"/>
              <a:gd name="T26" fmla="*/ 2147483646 w 89"/>
              <a:gd name="T27" fmla="*/ 2147483646 h 89"/>
              <a:gd name="T28" fmla="*/ 2147483646 w 89"/>
              <a:gd name="T29" fmla="*/ 2147483646 h 89"/>
              <a:gd name="T30" fmla="*/ 0 w 89"/>
              <a:gd name="T31" fmla="*/ 2147483646 h 8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9" h="89">
                <a:moveTo>
                  <a:pt x="0" y="43"/>
                </a:moveTo>
                <a:lnTo>
                  <a:pt x="89" y="0"/>
                </a:lnTo>
                <a:lnTo>
                  <a:pt x="86" y="6"/>
                </a:lnTo>
                <a:lnTo>
                  <a:pt x="83" y="12"/>
                </a:lnTo>
                <a:lnTo>
                  <a:pt x="80" y="20"/>
                </a:lnTo>
                <a:lnTo>
                  <a:pt x="80" y="26"/>
                </a:lnTo>
                <a:lnTo>
                  <a:pt x="80" y="32"/>
                </a:lnTo>
                <a:lnTo>
                  <a:pt x="78" y="40"/>
                </a:lnTo>
                <a:lnTo>
                  <a:pt x="78" y="46"/>
                </a:lnTo>
                <a:lnTo>
                  <a:pt x="80" y="55"/>
                </a:lnTo>
                <a:lnTo>
                  <a:pt x="80" y="60"/>
                </a:lnTo>
                <a:lnTo>
                  <a:pt x="80" y="69"/>
                </a:lnTo>
                <a:lnTo>
                  <a:pt x="83" y="75"/>
                </a:lnTo>
                <a:lnTo>
                  <a:pt x="86" y="80"/>
                </a:lnTo>
                <a:lnTo>
                  <a:pt x="89" y="89"/>
                </a:lnTo>
                <a:lnTo>
                  <a:pt x="0" y="43"/>
                </a:lnTo>
                <a:close/>
              </a:path>
            </a:pathLst>
          </a:custGeom>
          <a:solidFill>
            <a:srgbClr val="BE2D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9" name="Freeform 113">
            <a:extLst>
              <a:ext uri="{FF2B5EF4-FFF2-40B4-BE49-F238E27FC236}">
                <a16:creationId xmlns:a16="http://schemas.microsoft.com/office/drawing/2014/main" id="{E6A1B960-921D-28A8-DDC9-F138D8451799}"/>
              </a:ext>
            </a:extLst>
          </p:cNvPr>
          <p:cNvSpPr>
            <a:spLocks/>
          </p:cNvSpPr>
          <p:nvPr/>
        </p:nvSpPr>
        <p:spPr bwMode="auto">
          <a:xfrm>
            <a:off x="6723063" y="4921250"/>
            <a:ext cx="141287" cy="141288"/>
          </a:xfrm>
          <a:custGeom>
            <a:avLst/>
            <a:gdLst>
              <a:gd name="T0" fmla="*/ 2147483646 w 89"/>
              <a:gd name="T1" fmla="*/ 2147483646 h 89"/>
              <a:gd name="T2" fmla="*/ 0 w 89"/>
              <a:gd name="T3" fmla="*/ 2147483646 h 89"/>
              <a:gd name="T4" fmla="*/ 2147483646 w 89"/>
              <a:gd name="T5" fmla="*/ 2147483646 h 89"/>
              <a:gd name="T6" fmla="*/ 2147483646 w 89"/>
              <a:gd name="T7" fmla="*/ 2147483646 h 89"/>
              <a:gd name="T8" fmla="*/ 2147483646 w 89"/>
              <a:gd name="T9" fmla="*/ 2147483646 h 89"/>
              <a:gd name="T10" fmla="*/ 2147483646 w 89"/>
              <a:gd name="T11" fmla="*/ 2147483646 h 89"/>
              <a:gd name="T12" fmla="*/ 2147483646 w 89"/>
              <a:gd name="T13" fmla="*/ 2147483646 h 89"/>
              <a:gd name="T14" fmla="*/ 2147483646 w 89"/>
              <a:gd name="T15" fmla="*/ 2147483646 h 89"/>
              <a:gd name="T16" fmla="*/ 2147483646 w 89"/>
              <a:gd name="T17" fmla="*/ 2147483646 h 89"/>
              <a:gd name="T18" fmla="*/ 2147483646 w 89"/>
              <a:gd name="T19" fmla="*/ 2147483646 h 89"/>
              <a:gd name="T20" fmla="*/ 2147483646 w 89"/>
              <a:gd name="T21" fmla="*/ 2147483646 h 89"/>
              <a:gd name="T22" fmla="*/ 2147483646 w 89"/>
              <a:gd name="T23" fmla="*/ 2147483646 h 89"/>
              <a:gd name="T24" fmla="*/ 2147483646 w 89"/>
              <a:gd name="T25" fmla="*/ 2147483646 h 89"/>
              <a:gd name="T26" fmla="*/ 2147483646 w 89"/>
              <a:gd name="T27" fmla="*/ 2147483646 h 89"/>
              <a:gd name="T28" fmla="*/ 0 w 89"/>
              <a:gd name="T29" fmla="*/ 0 h 89"/>
              <a:gd name="T30" fmla="*/ 2147483646 w 89"/>
              <a:gd name="T31" fmla="*/ 2147483646 h 8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9" h="89">
                <a:moveTo>
                  <a:pt x="89" y="43"/>
                </a:moveTo>
                <a:lnTo>
                  <a:pt x="0" y="89"/>
                </a:lnTo>
                <a:lnTo>
                  <a:pt x="3" y="80"/>
                </a:lnTo>
                <a:lnTo>
                  <a:pt x="5" y="75"/>
                </a:lnTo>
                <a:lnTo>
                  <a:pt x="5" y="69"/>
                </a:lnTo>
                <a:lnTo>
                  <a:pt x="8" y="60"/>
                </a:lnTo>
                <a:lnTo>
                  <a:pt x="8" y="55"/>
                </a:lnTo>
                <a:lnTo>
                  <a:pt x="8" y="46"/>
                </a:lnTo>
                <a:lnTo>
                  <a:pt x="8" y="40"/>
                </a:lnTo>
                <a:lnTo>
                  <a:pt x="8" y="32"/>
                </a:lnTo>
                <a:lnTo>
                  <a:pt x="8" y="26"/>
                </a:lnTo>
                <a:lnTo>
                  <a:pt x="5" y="20"/>
                </a:lnTo>
                <a:lnTo>
                  <a:pt x="5" y="12"/>
                </a:lnTo>
                <a:lnTo>
                  <a:pt x="3" y="6"/>
                </a:lnTo>
                <a:lnTo>
                  <a:pt x="0" y="0"/>
                </a:lnTo>
                <a:lnTo>
                  <a:pt x="89" y="43"/>
                </a:lnTo>
                <a:close/>
              </a:path>
            </a:pathLst>
          </a:custGeom>
          <a:solidFill>
            <a:srgbClr val="BE2D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0" name="Rectangle 120">
            <a:extLst>
              <a:ext uri="{FF2B5EF4-FFF2-40B4-BE49-F238E27FC236}">
                <a16:creationId xmlns:a16="http://schemas.microsoft.com/office/drawing/2014/main" id="{C69B607C-F9A7-CC5D-A1F2-EA36954A9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4481513"/>
            <a:ext cx="341312" cy="339725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801" name="Rectangle 121">
            <a:extLst>
              <a:ext uri="{FF2B5EF4-FFF2-40B4-BE49-F238E27FC236}">
                <a16:creationId xmlns:a16="http://schemas.microsoft.com/office/drawing/2014/main" id="{22B83686-BF41-E613-B408-2809D0CF9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475" y="44942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</a:rPr>
              <a:t>a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802" name="Rectangle 122">
            <a:extLst>
              <a:ext uri="{FF2B5EF4-FFF2-40B4-BE49-F238E27FC236}">
                <a16:creationId xmlns:a16="http://schemas.microsoft.com/office/drawing/2014/main" id="{4B0E9577-EB4B-194C-21EE-864E85A51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450" y="4481513"/>
            <a:ext cx="342900" cy="339725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803" name="Rectangle 123">
            <a:extLst>
              <a:ext uri="{FF2B5EF4-FFF2-40B4-BE49-F238E27FC236}">
                <a16:creationId xmlns:a16="http://schemas.microsoft.com/office/drawing/2014/main" id="{0500B13D-1A2F-7F54-9337-B5EF4C4B0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44942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</a:rPr>
              <a:t>b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804" name="Rectangle 124">
            <a:extLst>
              <a:ext uri="{FF2B5EF4-FFF2-40B4-BE49-F238E27FC236}">
                <a16:creationId xmlns:a16="http://schemas.microsoft.com/office/drawing/2014/main" id="{4F8F3E82-CC61-BD0B-A40C-A4F99B842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4350" y="4481513"/>
            <a:ext cx="341313" cy="339725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805" name="Rectangle 125">
            <a:extLst>
              <a:ext uri="{FF2B5EF4-FFF2-40B4-BE49-F238E27FC236}">
                <a16:creationId xmlns:a16="http://schemas.microsoft.com/office/drawing/2014/main" id="{387ACC9F-14F4-57E7-C3DD-324949D93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8" y="44942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40458C"/>
                </a:solidFill>
              </a:rPr>
              <a:t>a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806" name="Rectangle 126">
            <a:extLst>
              <a:ext uri="{FF2B5EF4-FFF2-40B4-BE49-F238E27FC236}">
                <a16:creationId xmlns:a16="http://schemas.microsoft.com/office/drawing/2014/main" id="{65CF9082-A84C-9C43-5E02-15DB7DE4E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63" y="4481513"/>
            <a:ext cx="341312" cy="339725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807" name="Rectangle 127">
            <a:extLst>
              <a:ext uri="{FF2B5EF4-FFF2-40B4-BE49-F238E27FC236}">
                <a16:creationId xmlns:a16="http://schemas.microsoft.com/office/drawing/2014/main" id="{262B17E0-E398-4FBC-B785-A39FA6DC8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0" y="44942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40458C"/>
                </a:solidFill>
              </a:rPr>
              <a:t>a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808" name="Rectangle 128">
            <a:extLst>
              <a:ext uri="{FF2B5EF4-FFF2-40B4-BE49-F238E27FC236}">
                <a16:creationId xmlns:a16="http://schemas.microsoft.com/office/drawing/2014/main" id="{E404E22E-7744-5113-DE68-E1D564A79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6975" y="4481513"/>
            <a:ext cx="342900" cy="339725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809" name="Rectangle 129">
            <a:extLst>
              <a:ext uri="{FF2B5EF4-FFF2-40B4-BE49-F238E27FC236}">
                <a16:creationId xmlns:a16="http://schemas.microsoft.com/office/drawing/2014/main" id="{9EC60727-755A-3D0F-939B-7C59B2C69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44942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40458C"/>
                </a:solidFill>
              </a:rPr>
              <a:t>b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810" name="Rectangle 130">
            <a:extLst>
              <a:ext uri="{FF2B5EF4-FFF2-40B4-BE49-F238E27FC236}">
                <a16:creationId xmlns:a16="http://schemas.microsoft.com/office/drawing/2014/main" id="{9540250A-7B1B-22E5-8179-917A746E9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75" y="4481513"/>
            <a:ext cx="341313" cy="339725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IN" altLang="en-US" sz="2400">
              <a:latin typeface="Tahoma" panose="020B0604030504040204" pitchFamily="34" charset="0"/>
            </a:endParaRPr>
          </a:p>
        </p:txBody>
      </p:sp>
      <p:sp>
        <p:nvSpPr>
          <p:cNvPr id="31811" name="Rectangle 131">
            <a:extLst>
              <a:ext uri="{FF2B5EF4-FFF2-40B4-BE49-F238E27FC236}">
                <a16:creationId xmlns:a16="http://schemas.microsoft.com/office/drawing/2014/main" id="{403408FB-7081-8630-1722-C78E84895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0213" y="44942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b="1" i="1">
                <a:solidFill>
                  <a:srgbClr val="40458C"/>
                </a:solidFill>
              </a:rPr>
              <a:t>a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1812" name="Text Box 132">
            <a:extLst>
              <a:ext uri="{FF2B5EF4-FFF2-40B4-BE49-F238E27FC236}">
                <a16:creationId xmlns:a16="http://schemas.microsoft.com/office/drawing/2014/main" id="{CD8F4C62-D7B1-4632-CA29-2A0D14AD7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181600"/>
            <a:ext cx="186848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No need to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repeat these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comparisons</a:t>
            </a:r>
          </a:p>
        </p:txBody>
      </p:sp>
      <p:sp>
        <p:nvSpPr>
          <p:cNvPr id="31813" name="Line 133">
            <a:extLst>
              <a:ext uri="{FF2B5EF4-FFF2-40B4-BE49-F238E27FC236}">
                <a16:creationId xmlns:a16="http://schemas.microsoft.com/office/drawing/2014/main" id="{BA3DDC60-18DC-FBEE-80F6-E00D380304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5029200"/>
            <a:ext cx="76200" cy="533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14" name="Text Box 134">
            <a:extLst>
              <a:ext uri="{FF2B5EF4-FFF2-40B4-BE49-F238E27FC236}">
                <a16:creationId xmlns:a16="http://schemas.microsoft.com/office/drawing/2014/main" id="{A382FD2D-2E2D-AEF1-9B0E-72394CD06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257800"/>
            <a:ext cx="159226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Resume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comparing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here</a:t>
            </a:r>
          </a:p>
        </p:txBody>
      </p:sp>
      <p:sp>
        <p:nvSpPr>
          <p:cNvPr id="31815" name="Line 135">
            <a:extLst>
              <a:ext uri="{FF2B5EF4-FFF2-40B4-BE49-F238E27FC236}">
                <a16:creationId xmlns:a16="http://schemas.microsoft.com/office/drawing/2014/main" id="{8EAAC878-C06C-B11B-5CBA-8A1B492392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86600" y="4953000"/>
            <a:ext cx="304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6">
            <a:extLst>
              <a:ext uri="{FF2B5EF4-FFF2-40B4-BE49-F238E27FC236}">
                <a16:creationId xmlns:a16="http://schemas.microsoft.com/office/drawing/2014/main" id="{9C1B4299-9D23-16F1-0373-8B60331B31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/>
              <a:t>KMP Failure Function</a:t>
            </a:r>
          </a:p>
        </p:txBody>
      </p:sp>
      <p:sp>
        <p:nvSpPr>
          <p:cNvPr id="32771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3657CA3-8EAB-3615-28DA-99A4140C8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3886200" cy="4648200"/>
          </a:xfrm>
        </p:spPr>
        <p:txBody>
          <a:bodyPr/>
          <a:lstStyle/>
          <a:p>
            <a:pPr eaLnBrk="1" hangingPunct="1"/>
            <a:r>
              <a:rPr lang="en-US" altLang="en-US" sz="2000"/>
              <a:t>Knuth-Morris-Pratt’s algorithm preprocesses the pattern to find matches of prefixes of the pattern with the pattern itself</a:t>
            </a:r>
          </a:p>
          <a:p>
            <a:pPr eaLnBrk="1" hangingPunct="1"/>
            <a:r>
              <a:rPr lang="en-US" altLang="en-US" sz="2000"/>
              <a:t>The </a:t>
            </a:r>
            <a:r>
              <a:rPr lang="en-US" altLang="en-US" sz="2000" b="1">
                <a:solidFill>
                  <a:schemeClr val="tx2"/>
                </a:solidFill>
              </a:rPr>
              <a:t>failure function</a:t>
            </a:r>
            <a:r>
              <a:rPr lang="en-US" altLang="en-US" sz="2000"/>
              <a:t> </a:t>
            </a:r>
            <a:r>
              <a:rPr lang="en-US" altLang="en-US" sz="2000" b="1" i="1"/>
              <a:t>F</a:t>
            </a:r>
            <a:r>
              <a:rPr lang="en-US" altLang="en-US" sz="2000"/>
              <a:t>(</a:t>
            </a:r>
            <a:r>
              <a:rPr lang="en-US" altLang="en-US" sz="2000" b="1" i="1"/>
              <a:t>j</a:t>
            </a:r>
            <a:r>
              <a:rPr lang="en-US" altLang="en-US" sz="2000"/>
              <a:t>) is defined as the size of the largest prefix of </a:t>
            </a:r>
            <a:r>
              <a:rPr lang="en-US" altLang="en-US" sz="2000" b="1" i="1"/>
              <a:t>P</a:t>
            </a:r>
            <a:r>
              <a:rPr lang="en-US" altLang="en-US" sz="2000"/>
              <a:t>[0..</a:t>
            </a:r>
            <a:r>
              <a:rPr lang="en-US" altLang="en-US" sz="2000" b="1" i="1"/>
              <a:t>j</a:t>
            </a:r>
            <a:r>
              <a:rPr lang="en-US" altLang="en-US" sz="2000"/>
              <a:t>]</a:t>
            </a:r>
            <a:r>
              <a:rPr lang="en-US" altLang="en-US" sz="2000" b="1" i="1"/>
              <a:t> </a:t>
            </a:r>
            <a:r>
              <a:rPr lang="en-US" altLang="en-US" sz="2000"/>
              <a:t>that is also a suffix of </a:t>
            </a:r>
            <a:r>
              <a:rPr lang="en-US" altLang="en-US" sz="2000" b="1" i="1"/>
              <a:t>P</a:t>
            </a:r>
            <a:r>
              <a:rPr lang="en-US" altLang="en-US" sz="2000"/>
              <a:t>[1..</a:t>
            </a:r>
            <a:r>
              <a:rPr lang="en-US" altLang="en-US" sz="2000" b="1" i="1"/>
              <a:t>j</a:t>
            </a:r>
            <a:r>
              <a:rPr lang="en-US" altLang="en-US" sz="2000"/>
              <a:t>]</a:t>
            </a:r>
          </a:p>
          <a:p>
            <a:pPr eaLnBrk="1" hangingPunct="1"/>
            <a:r>
              <a:rPr lang="en-US" altLang="en-US" sz="2000"/>
              <a:t>Knuth-Morris-Pratt’s algorithm modifies the brute-force algorithm so that if a mismatch occurs at </a:t>
            </a:r>
            <a:r>
              <a:rPr lang="en-US" altLang="en-US" sz="2000" b="1" i="1"/>
              <a:t>P</a:t>
            </a:r>
            <a:r>
              <a:rPr lang="en-US" altLang="en-US" sz="2000"/>
              <a:t>[</a:t>
            </a:r>
            <a:r>
              <a:rPr lang="en-US" altLang="en-US" sz="2000" b="1" i="1"/>
              <a:t>j</a:t>
            </a:r>
            <a:r>
              <a:rPr lang="en-US" altLang="en-US" sz="2000"/>
              <a:t>]</a:t>
            </a:r>
            <a:r>
              <a:rPr lang="en-US" altLang="en-US" sz="2000">
                <a:latin typeface="Symbol" panose="05050102010706020507" pitchFamily="18" charset="2"/>
              </a:rPr>
              <a:t> </a:t>
            </a:r>
            <a:r>
              <a:rPr lang="en-US" altLang="en-US" sz="2000">
                <a:latin typeface="Symbol" panose="05050102010706020507" pitchFamily="18" charset="2"/>
                <a:sym typeface="Symbol" panose="05050102010706020507" pitchFamily="18" charset="2"/>
              </a:rPr>
              <a:t> </a:t>
            </a:r>
            <a:r>
              <a:rPr lang="en-US" altLang="en-US" sz="2000" b="1" i="1"/>
              <a:t>T</a:t>
            </a:r>
            <a:r>
              <a:rPr lang="en-US" altLang="en-US" sz="2000"/>
              <a:t>[</a:t>
            </a:r>
            <a:r>
              <a:rPr lang="en-US" altLang="en-US" sz="2000" b="1" i="1"/>
              <a:t>i</a:t>
            </a:r>
            <a:r>
              <a:rPr lang="en-US" altLang="en-US" sz="2000"/>
              <a:t>] we set  </a:t>
            </a:r>
            <a:r>
              <a:rPr lang="en-US" altLang="en-US" sz="2000" b="1" i="1"/>
              <a:t>j </a:t>
            </a:r>
            <a:r>
              <a:rPr lang="en-US" altLang="en-US" sz="2000">
                <a:sym typeface="Symbol" panose="05050102010706020507" pitchFamily="18" charset="2"/>
              </a:rPr>
              <a:t> </a:t>
            </a:r>
            <a:r>
              <a:rPr lang="en-US" altLang="en-US" sz="2000" b="1" i="1"/>
              <a:t>F</a:t>
            </a:r>
            <a:r>
              <a:rPr lang="en-US" altLang="en-US" sz="2000"/>
              <a:t>(</a:t>
            </a:r>
            <a:r>
              <a:rPr lang="en-US" altLang="en-US" sz="2000" b="1" i="1">
                <a:sym typeface="Symbol" panose="05050102010706020507" pitchFamily="18" charset="2"/>
              </a:rPr>
              <a:t>j</a:t>
            </a:r>
            <a:r>
              <a:rPr lang="en-US" altLang="en-US" sz="2000" b="1" i="1"/>
              <a:t> </a:t>
            </a:r>
            <a:r>
              <a:rPr lang="en-US" altLang="en-US" sz="2000"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2000" b="1" i="1"/>
              <a:t> </a:t>
            </a:r>
            <a:r>
              <a:rPr lang="en-US" altLang="en-US" sz="2000">
                <a:sym typeface="Symbol" panose="05050102010706020507" pitchFamily="18" charset="2"/>
              </a:rPr>
              <a:t>1</a:t>
            </a:r>
            <a:r>
              <a:rPr lang="en-US" altLang="en-US" sz="2000"/>
              <a:t>)</a:t>
            </a:r>
          </a:p>
        </p:txBody>
      </p:sp>
      <p:graphicFrame>
        <p:nvGraphicFramePr>
          <p:cNvPr id="178180" name="Group 1028">
            <a:extLst>
              <a:ext uri="{FF2B5EF4-FFF2-40B4-BE49-F238E27FC236}">
                <a16:creationId xmlns:a16="http://schemas.microsoft.com/office/drawing/2014/main" id="{47F4D968-6834-6FC9-ABB3-C27DBDEEC6BF}"/>
              </a:ext>
            </a:extLst>
          </p:cNvPr>
          <p:cNvGraphicFramePr>
            <a:graphicFrameLocks noGrp="1"/>
          </p:cNvGraphicFramePr>
          <p:nvPr/>
        </p:nvGraphicFramePr>
        <p:xfrm>
          <a:off x="5029200" y="1752600"/>
          <a:ext cx="3505200" cy="1128713"/>
        </p:xfrm>
        <a:graphic>
          <a:graphicData uri="http://schemas.openxmlformats.org/drawingml/2006/table">
            <a:tbl>
              <a:tblPr/>
              <a:tblGrid>
                <a:gridCol w="63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8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j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j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]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98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j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806" name="Object 1062">
            <a:extLst>
              <a:ext uri="{FF2B5EF4-FFF2-40B4-BE49-F238E27FC236}">
                <a16:creationId xmlns:a16="http://schemas.microsoft.com/office/drawing/2014/main" id="{CA0C6FC1-2C13-9242-8A73-DB32AFFC22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2971800"/>
          <a:ext cx="4648200" cy="351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106080" imgH="2358000" progId="Visio.Drawing.6">
                  <p:embed/>
                </p:oleObj>
              </mc:Choice>
              <mc:Fallback>
                <p:oleObj name="VISIO" r:id="rId2" imgW="3106080" imgH="2358000" progId="Visio.Drawing.6">
                  <p:embed/>
                  <p:pic>
                    <p:nvPicPr>
                      <p:cNvPr id="32806" name="Object 1062">
                        <a:extLst>
                          <a:ext uri="{FF2B5EF4-FFF2-40B4-BE49-F238E27FC236}">
                            <a16:creationId xmlns:a16="http://schemas.microsoft.com/office/drawing/2014/main" id="{CA0C6FC1-2C13-9242-8A73-DB32AFFC22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971800"/>
                        <a:ext cx="4648200" cy="351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E982B6A1-BEAD-265C-A935-C7C26E08F4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KMP Algorithm</a:t>
            </a:r>
          </a:p>
        </p:txBody>
      </p:sp>
      <p:sp>
        <p:nvSpPr>
          <p:cNvPr id="3379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9FD74F0-AFCE-4AC0-8D18-94E675AE2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3962400" cy="4724400"/>
          </a:xfrm>
        </p:spPr>
        <p:txBody>
          <a:bodyPr/>
          <a:lstStyle/>
          <a:p>
            <a:pPr eaLnBrk="1" hangingPunct="1"/>
            <a:r>
              <a:rPr lang="en-US" altLang="en-US" sz="2000"/>
              <a:t>The failure function can be represented by an array and can be computed in </a:t>
            </a:r>
            <a:r>
              <a:rPr lang="en-US" altLang="en-US" sz="2000" b="1" i="1"/>
              <a:t>O</a:t>
            </a:r>
            <a:r>
              <a:rPr lang="en-US" altLang="en-US" sz="2000"/>
              <a:t>(</a:t>
            </a:r>
            <a:r>
              <a:rPr lang="en-US" altLang="en-US" sz="2000" b="1" i="1"/>
              <a:t>m</a:t>
            </a:r>
            <a:r>
              <a:rPr lang="en-US" altLang="en-US" sz="2000"/>
              <a:t>) time</a:t>
            </a:r>
          </a:p>
          <a:p>
            <a:pPr eaLnBrk="1" hangingPunct="1"/>
            <a:r>
              <a:rPr lang="en-US" altLang="en-US" sz="2000"/>
              <a:t>At each iteration of the while-loop, either</a:t>
            </a:r>
          </a:p>
          <a:p>
            <a:pPr lvl="1" eaLnBrk="1" hangingPunct="1"/>
            <a:r>
              <a:rPr lang="en-US" altLang="en-US" sz="1800" b="1" i="1"/>
              <a:t>i</a:t>
            </a:r>
            <a:r>
              <a:rPr lang="en-US" altLang="en-US" sz="1800"/>
              <a:t> increases by one, or</a:t>
            </a:r>
          </a:p>
          <a:p>
            <a:pPr lvl="1" eaLnBrk="1" hangingPunct="1"/>
            <a:r>
              <a:rPr lang="en-US" altLang="en-US" sz="1800"/>
              <a:t>the shift amount </a:t>
            </a:r>
            <a:r>
              <a:rPr lang="en-US" altLang="en-US" sz="1800" b="1" i="1"/>
              <a:t>i </a:t>
            </a:r>
            <a:r>
              <a:rPr lang="en-US" altLang="en-US" sz="1800">
                <a:latin typeface="Symbol" panose="05050102010706020507" pitchFamily="18" charset="2"/>
              </a:rPr>
              <a:t>-</a:t>
            </a:r>
            <a:r>
              <a:rPr lang="en-US" altLang="en-US" sz="1800" b="1" i="1"/>
              <a:t> j</a:t>
            </a:r>
            <a:r>
              <a:rPr lang="en-US" altLang="en-US" sz="1800"/>
              <a:t> increases by at least one (observe that </a:t>
            </a:r>
            <a:r>
              <a:rPr lang="en-US" altLang="en-US" sz="1800" b="1" i="1"/>
              <a:t>F</a:t>
            </a:r>
            <a:r>
              <a:rPr lang="en-US" altLang="en-US" sz="1800"/>
              <a:t>(</a:t>
            </a:r>
            <a:r>
              <a:rPr lang="en-US" altLang="en-US" sz="1800" b="1" i="1">
                <a:sym typeface="Symbol" panose="05050102010706020507" pitchFamily="18" charset="2"/>
              </a:rPr>
              <a:t>j</a:t>
            </a:r>
            <a:r>
              <a:rPr lang="en-US" altLang="en-US" sz="1800" b="1" i="1"/>
              <a:t> </a:t>
            </a:r>
            <a:r>
              <a:rPr lang="en-US" altLang="en-US" sz="1800"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/>
              <a:t> </a:t>
            </a:r>
            <a:r>
              <a:rPr lang="en-US" altLang="en-US" sz="1800">
                <a:sym typeface="Symbol" panose="05050102010706020507" pitchFamily="18" charset="2"/>
              </a:rPr>
              <a:t>1</a:t>
            </a:r>
            <a:r>
              <a:rPr lang="en-US" altLang="en-US" sz="1800"/>
              <a:t>)</a:t>
            </a:r>
            <a:r>
              <a:rPr lang="en-US" altLang="en-US" sz="1800" b="1" i="1"/>
              <a:t> </a:t>
            </a:r>
            <a:r>
              <a:rPr lang="en-US" altLang="en-US" sz="1800">
                <a:sym typeface="Symbol" panose="05050102010706020507" pitchFamily="18" charset="2"/>
              </a:rPr>
              <a:t>&lt; </a:t>
            </a:r>
            <a:r>
              <a:rPr lang="en-US" altLang="en-US" sz="1800" b="1" i="1"/>
              <a:t>j</a:t>
            </a:r>
            <a:r>
              <a:rPr lang="en-US" altLang="en-US" sz="1800"/>
              <a:t>)</a:t>
            </a:r>
          </a:p>
          <a:p>
            <a:pPr eaLnBrk="1" hangingPunct="1"/>
            <a:r>
              <a:rPr lang="en-US" altLang="en-US" sz="2000"/>
              <a:t>Hence, there are no more than 2</a:t>
            </a:r>
            <a:r>
              <a:rPr lang="en-US" altLang="en-US" sz="2000" b="1" i="1"/>
              <a:t>n </a:t>
            </a:r>
            <a:r>
              <a:rPr lang="en-US" altLang="en-US" sz="2000"/>
              <a:t>iterations of the while-loop</a:t>
            </a:r>
          </a:p>
          <a:p>
            <a:pPr eaLnBrk="1" hangingPunct="1"/>
            <a:r>
              <a:rPr lang="en-US" altLang="en-US" sz="2000"/>
              <a:t>Thus, KMP’s algorithm runs in optimal time </a:t>
            </a:r>
            <a:r>
              <a:rPr lang="en-US" altLang="en-US" sz="2000" b="1" i="1"/>
              <a:t>O</a:t>
            </a:r>
            <a:r>
              <a:rPr lang="en-US" altLang="en-US" sz="2000"/>
              <a:t>(</a:t>
            </a:r>
            <a:r>
              <a:rPr lang="en-US" altLang="en-US" sz="2000" b="1" i="1"/>
              <a:t>m </a:t>
            </a:r>
            <a:r>
              <a:rPr lang="en-US" altLang="en-US" sz="2000">
                <a:latin typeface="Symbol" panose="05050102010706020507" pitchFamily="18" charset="2"/>
              </a:rPr>
              <a:t>+</a:t>
            </a:r>
            <a:r>
              <a:rPr lang="en-US" altLang="en-US" sz="2000" b="1" i="1"/>
              <a:t> n</a:t>
            </a:r>
            <a:r>
              <a:rPr lang="en-US" altLang="en-US" sz="2000"/>
              <a:t>)</a:t>
            </a:r>
          </a:p>
        </p:txBody>
      </p:sp>
      <p:sp>
        <p:nvSpPr>
          <p:cNvPr id="12294" name="Text Box 4">
            <a:extLst>
              <a:ext uri="{FF2B5EF4-FFF2-40B4-BE49-F238E27FC236}">
                <a16:creationId xmlns:a16="http://schemas.microsoft.com/office/drawing/2014/main" id="{3C297E63-1163-1086-6755-0528CEFA8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600200"/>
            <a:ext cx="3886200" cy="43672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62865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KMPMatch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T, P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F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failureFunction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0</a:t>
            </a:r>
            <a:endParaRPr lang="en-US" altLang="en-US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&lt;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if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P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if 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1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{ match }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</a:rPr>
              <a:t>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if 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&gt;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0</a:t>
            </a:r>
            <a:endParaRPr lang="en-US" altLang="en-US" sz="18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18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endParaRPr lang="en-US" altLang="en-US" sz="1800" b="1" i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{ no match 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9FB0C0A-65AE-25B4-29F9-38390907F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Computing the Failure Function</a:t>
            </a:r>
          </a:p>
        </p:txBody>
      </p:sp>
      <p:sp>
        <p:nvSpPr>
          <p:cNvPr id="3584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AEC0031-FEC1-AD49-C232-56D99DC8FB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3962400" cy="4724400"/>
          </a:xfrm>
        </p:spPr>
        <p:txBody>
          <a:bodyPr/>
          <a:lstStyle/>
          <a:p>
            <a:pPr eaLnBrk="1" hangingPunct="1"/>
            <a:r>
              <a:rPr lang="en-US" altLang="en-US" sz="2000"/>
              <a:t>The failure function can be represented by an array and can be computed in </a:t>
            </a:r>
            <a:r>
              <a:rPr lang="en-US" altLang="en-US" sz="2000" b="1" i="1"/>
              <a:t>O</a:t>
            </a:r>
            <a:r>
              <a:rPr lang="en-US" altLang="en-US" sz="2000"/>
              <a:t>(</a:t>
            </a:r>
            <a:r>
              <a:rPr lang="en-US" altLang="en-US" sz="2000" b="1" i="1"/>
              <a:t>m</a:t>
            </a:r>
            <a:r>
              <a:rPr lang="en-US" altLang="en-US" sz="2000"/>
              <a:t>) time</a:t>
            </a:r>
          </a:p>
          <a:p>
            <a:pPr eaLnBrk="1" hangingPunct="1"/>
            <a:r>
              <a:rPr lang="en-US" altLang="en-US" sz="2000"/>
              <a:t>The construction is similar to the KMP algorithm itself</a:t>
            </a:r>
          </a:p>
          <a:p>
            <a:pPr eaLnBrk="1" hangingPunct="1"/>
            <a:r>
              <a:rPr lang="en-US" altLang="en-US" sz="2000"/>
              <a:t>At each iteration of the while-loop, either</a:t>
            </a:r>
          </a:p>
          <a:p>
            <a:pPr lvl="1" eaLnBrk="1" hangingPunct="1"/>
            <a:r>
              <a:rPr lang="en-US" altLang="en-US" sz="1800" b="1" i="1"/>
              <a:t>i</a:t>
            </a:r>
            <a:r>
              <a:rPr lang="en-US" altLang="en-US" sz="1800"/>
              <a:t> increases by one, or</a:t>
            </a:r>
          </a:p>
          <a:p>
            <a:pPr lvl="1" eaLnBrk="1" hangingPunct="1"/>
            <a:r>
              <a:rPr lang="en-US" altLang="en-US" sz="1800"/>
              <a:t>the shift amount </a:t>
            </a:r>
            <a:r>
              <a:rPr lang="en-US" altLang="en-US" sz="1800" b="1" i="1"/>
              <a:t>i </a:t>
            </a:r>
            <a:r>
              <a:rPr lang="en-US" altLang="en-US" sz="1800">
                <a:latin typeface="Symbol" panose="05050102010706020507" pitchFamily="18" charset="2"/>
              </a:rPr>
              <a:t>-</a:t>
            </a:r>
            <a:r>
              <a:rPr lang="en-US" altLang="en-US" sz="1800" b="1" i="1"/>
              <a:t> j</a:t>
            </a:r>
            <a:r>
              <a:rPr lang="en-US" altLang="en-US" sz="1800"/>
              <a:t> increases by at least one (observe that </a:t>
            </a:r>
            <a:r>
              <a:rPr lang="en-US" altLang="en-US" sz="1800" b="1" i="1"/>
              <a:t>F</a:t>
            </a:r>
            <a:r>
              <a:rPr lang="en-US" altLang="en-US" sz="1800"/>
              <a:t>(</a:t>
            </a:r>
            <a:r>
              <a:rPr lang="en-US" altLang="en-US" sz="1800" b="1" i="1">
                <a:sym typeface="Symbol" panose="05050102010706020507" pitchFamily="18" charset="2"/>
              </a:rPr>
              <a:t>j</a:t>
            </a:r>
            <a:r>
              <a:rPr lang="en-US" altLang="en-US" sz="1800" b="1" i="1"/>
              <a:t> </a:t>
            </a:r>
            <a:r>
              <a:rPr lang="en-US" altLang="en-US" sz="1800"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/>
              <a:t> </a:t>
            </a:r>
            <a:r>
              <a:rPr lang="en-US" altLang="en-US" sz="1800">
                <a:sym typeface="Symbol" panose="05050102010706020507" pitchFamily="18" charset="2"/>
              </a:rPr>
              <a:t>1</a:t>
            </a:r>
            <a:r>
              <a:rPr lang="en-US" altLang="en-US" sz="1800"/>
              <a:t>)</a:t>
            </a:r>
            <a:r>
              <a:rPr lang="en-US" altLang="en-US" sz="1800" b="1" i="1"/>
              <a:t> </a:t>
            </a:r>
            <a:r>
              <a:rPr lang="en-US" altLang="en-US" sz="1800">
                <a:sym typeface="Symbol" panose="05050102010706020507" pitchFamily="18" charset="2"/>
              </a:rPr>
              <a:t>&lt; </a:t>
            </a:r>
            <a:r>
              <a:rPr lang="en-US" altLang="en-US" sz="1800" b="1" i="1"/>
              <a:t>j</a:t>
            </a:r>
            <a:r>
              <a:rPr lang="en-US" altLang="en-US" sz="1800"/>
              <a:t>)</a:t>
            </a:r>
          </a:p>
          <a:p>
            <a:pPr eaLnBrk="1" hangingPunct="1"/>
            <a:r>
              <a:rPr lang="en-US" altLang="en-US" sz="2000"/>
              <a:t>Hence, there are no more than 2</a:t>
            </a:r>
            <a:r>
              <a:rPr lang="en-US" altLang="en-US" sz="2000" b="1" i="1"/>
              <a:t>m </a:t>
            </a:r>
            <a:r>
              <a:rPr lang="en-US" altLang="en-US" sz="2000"/>
              <a:t>iterations of the while-loop</a:t>
            </a:r>
          </a:p>
        </p:txBody>
      </p:sp>
      <p:sp>
        <p:nvSpPr>
          <p:cNvPr id="13318" name="Text Box 4">
            <a:extLst>
              <a:ext uri="{FF2B5EF4-FFF2-40B4-BE49-F238E27FC236}">
                <a16:creationId xmlns:a16="http://schemas.microsoft.com/office/drawing/2014/main" id="{DA05B613-6450-F3D5-FCED-C37B0255C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052638"/>
            <a:ext cx="4114800" cy="41195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62865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failureFunction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1</a:t>
            </a:r>
            <a:endParaRPr lang="en-US" altLang="en-US" sz="1800" b="1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en-US" sz="1800" b="1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&lt;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endParaRPr lang="en-US" altLang="en-US" sz="1800" b="1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if 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P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dirty="0">
                <a:latin typeface="Times New Roman" panose="02020603050405020304" pitchFamily="18" charset="0"/>
              </a:rPr>
              <a:t>{we have matched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latin typeface="Times New Roman" panose="02020603050405020304" pitchFamily="18" charset="0"/>
              </a:rPr>
              <a:t>+ 1 chars}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 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+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 if  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&gt;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0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then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</a:rPr>
              <a:t>		{use failure function to shift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P</a:t>
            </a:r>
            <a:r>
              <a:rPr lang="en-US" altLang="en-US" sz="1800" dirty="0">
                <a:latin typeface="Times New Roman" panose="02020603050405020304" pitchFamily="18" charset="0"/>
              </a:rPr>
              <a:t>}</a:t>
            </a:r>
            <a:endParaRPr lang="en-US" altLang="en-US" sz="1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18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endParaRPr lang="en-US" altLang="en-US" sz="1800" b="1" i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0 </a:t>
            </a:r>
            <a:r>
              <a:rPr lang="en-US" altLang="en-US" sz="1800" dirty="0">
                <a:latin typeface="Times New Roman" panose="02020603050405020304" pitchFamily="18" charset="0"/>
              </a:rPr>
              <a:t>{ no match }</a:t>
            </a:r>
            <a:endParaRPr lang="en-US" altLang="en-US" sz="1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48A9AC2D-8E8A-E36A-3C53-F93E98EE2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graphicFrame>
        <p:nvGraphicFramePr>
          <p:cNvPr id="36867" name="Object 3">
            <a:extLst>
              <a:ext uri="{FF2B5EF4-FFF2-40B4-BE49-F238E27FC236}">
                <a16:creationId xmlns:a16="http://schemas.microsoft.com/office/drawing/2014/main" id="{F0195C60-E647-C977-9C3E-C1AF059E9D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1752600"/>
          <a:ext cx="7772400" cy="415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788720" imgH="2561760" progId="Visio.Drawing.6">
                  <p:embed/>
                </p:oleObj>
              </mc:Choice>
              <mc:Fallback>
                <p:oleObj name="VISIO" r:id="rId2" imgW="4788720" imgH="2561760" progId="Visio.Drawing.6">
                  <p:embed/>
                  <p:pic>
                    <p:nvPicPr>
                      <p:cNvPr id="36867" name="Object 3">
                        <a:extLst>
                          <a:ext uri="{FF2B5EF4-FFF2-40B4-BE49-F238E27FC236}">
                            <a16:creationId xmlns:a16="http://schemas.microsoft.com/office/drawing/2014/main" id="{F0195C60-E647-C977-9C3E-C1AF059E9D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752600"/>
                        <a:ext cx="7772400" cy="415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08" name="Group 4">
            <a:extLst>
              <a:ext uri="{FF2B5EF4-FFF2-40B4-BE49-F238E27FC236}">
                <a16:creationId xmlns:a16="http://schemas.microsoft.com/office/drawing/2014/main" id="{194EDBD4-3730-EB16-9B6F-8DAB6CC98B62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953000"/>
          <a:ext cx="3505200" cy="1128713"/>
        </p:xfrm>
        <a:graphic>
          <a:graphicData uri="http://schemas.openxmlformats.org/drawingml/2006/table">
            <a:tbl>
              <a:tblPr/>
              <a:tblGrid>
                <a:gridCol w="63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8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j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j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]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98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j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744C23D1-5B20-F3D9-52AE-AF5DCE735D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Boyer-Moore Heuristics</a:t>
            </a:r>
          </a:p>
        </p:txBody>
      </p:sp>
      <p:sp>
        <p:nvSpPr>
          <p:cNvPr id="3789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5236008-AE20-3747-9277-AFEF55836C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153400" cy="2590800"/>
          </a:xfrm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Boyer-Moore’s pattern matching algorithm is based on two heuristics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	Looking-glass heuristic </a:t>
            </a:r>
            <a:r>
              <a:rPr lang="en-US" altLang="en-US" sz="1600">
                <a:solidFill>
                  <a:schemeClr val="tx2"/>
                </a:solidFill>
              </a:rPr>
              <a:t>(right-to-left matching)</a:t>
            </a:r>
            <a:r>
              <a:rPr lang="en-US" altLang="en-US" sz="2000">
                <a:solidFill>
                  <a:schemeClr val="tx2"/>
                </a:solidFill>
              </a:rPr>
              <a:t>:</a:t>
            </a:r>
            <a:r>
              <a:rPr lang="en-US" altLang="en-US" sz="2000"/>
              <a:t> Compare </a:t>
            </a:r>
            <a:r>
              <a:rPr lang="en-US" altLang="en-US" sz="2000" b="1" i="1"/>
              <a:t>P</a:t>
            </a:r>
            <a:r>
              <a:rPr lang="en-US" altLang="en-US" sz="2000"/>
              <a:t> with a subsequence of </a:t>
            </a:r>
            <a:r>
              <a:rPr lang="en-US" altLang="en-US" sz="2000" b="1" i="1"/>
              <a:t>T</a:t>
            </a:r>
            <a:r>
              <a:rPr lang="en-US" altLang="en-US" sz="2000"/>
              <a:t> moving backwards</a:t>
            </a:r>
            <a:endParaRPr lang="en-US" altLang="en-US" sz="16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	Character-jump heuristic </a:t>
            </a:r>
            <a:r>
              <a:rPr lang="en-US" altLang="en-US" sz="1600">
                <a:solidFill>
                  <a:schemeClr val="tx2"/>
                </a:solidFill>
              </a:rPr>
              <a:t>(bad character shift rule)</a:t>
            </a:r>
            <a:r>
              <a:rPr lang="en-US" altLang="en-US" sz="2000">
                <a:solidFill>
                  <a:schemeClr val="tx2"/>
                </a:solidFill>
              </a:rPr>
              <a:t>:</a:t>
            </a:r>
            <a:r>
              <a:rPr lang="en-US" altLang="en-US" sz="2000"/>
              <a:t> When a mismatch occurs at </a:t>
            </a:r>
            <a:r>
              <a:rPr lang="en-US" altLang="en-US" sz="2000" b="1" i="1"/>
              <a:t>T</a:t>
            </a:r>
            <a:r>
              <a:rPr lang="en-US" altLang="en-US" sz="2000"/>
              <a:t>[</a:t>
            </a:r>
            <a:r>
              <a:rPr lang="en-US" altLang="en-US" sz="2000" b="1" i="1"/>
              <a:t>i</a:t>
            </a:r>
            <a:r>
              <a:rPr lang="en-US" altLang="en-US" sz="2000"/>
              <a:t>] </a:t>
            </a:r>
            <a:r>
              <a:rPr lang="en-US" altLang="en-US" sz="2000">
                <a:latin typeface="Symbol" panose="05050102010706020507" pitchFamily="18" charset="2"/>
              </a:rPr>
              <a:t>=</a:t>
            </a:r>
            <a:r>
              <a:rPr lang="en-US" altLang="en-US" sz="2000" b="1" i="1"/>
              <a:t> c</a:t>
            </a:r>
            <a:r>
              <a:rPr lang="en-US" altLang="en-US" sz="2000"/>
              <a:t> </a:t>
            </a:r>
            <a:endParaRPr lang="en-US" altLang="en-US" sz="2000" b="1" i="1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If </a:t>
            </a:r>
            <a:r>
              <a:rPr lang="en-US" altLang="en-US" sz="1800" b="1" i="1"/>
              <a:t>P </a:t>
            </a:r>
            <a:r>
              <a:rPr lang="en-US" altLang="en-US" sz="1800"/>
              <a:t>contains </a:t>
            </a:r>
            <a:r>
              <a:rPr lang="en-US" altLang="en-US" sz="1800" b="1" i="1"/>
              <a:t>c</a:t>
            </a:r>
            <a:r>
              <a:rPr lang="en-US" altLang="en-US" sz="1800"/>
              <a:t>, shift </a:t>
            </a:r>
            <a:r>
              <a:rPr lang="en-US" altLang="en-US" sz="1800" b="1" i="1"/>
              <a:t>P</a:t>
            </a:r>
            <a:r>
              <a:rPr lang="en-US" altLang="en-US" sz="1800"/>
              <a:t> to align the last occurrence of </a:t>
            </a:r>
            <a:r>
              <a:rPr lang="en-US" altLang="en-US" sz="1800" b="1" i="1"/>
              <a:t>c </a:t>
            </a:r>
            <a:r>
              <a:rPr lang="en-US" altLang="en-US" sz="1800"/>
              <a:t>in </a:t>
            </a:r>
            <a:r>
              <a:rPr lang="en-US" altLang="en-US" sz="1800" b="1" i="1"/>
              <a:t>P </a:t>
            </a:r>
            <a:r>
              <a:rPr lang="en-US" altLang="en-US" sz="1800"/>
              <a:t>with </a:t>
            </a:r>
            <a:r>
              <a:rPr lang="en-US" altLang="en-US" sz="1800" b="1" i="1"/>
              <a:t>T</a:t>
            </a:r>
            <a:r>
              <a:rPr lang="en-US" altLang="en-US" sz="1800"/>
              <a:t>[</a:t>
            </a:r>
            <a:r>
              <a:rPr lang="en-US" altLang="en-US" sz="1800" b="1" i="1"/>
              <a:t>i</a:t>
            </a:r>
            <a:r>
              <a:rPr lang="en-US" altLang="en-US" sz="1800"/>
              <a:t>] </a:t>
            </a:r>
            <a:endParaRPr lang="en-US" altLang="en-US" sz="1800" b="1" i="1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Else, shift </a:t>
            </a:r>
            <a:r>
              <a:rPr lang="en-US" altLang="en-US" sz="1800" b="1" i="1"/>
              <a:t>P</a:t>
            </a:r>
            <a:r>
              <a:rPr lang="en-US" altLang="en-US" sz="1800"/>
              <a:t> to align </a:t>
            </a:r>
            <a:r>
              <a:rPr lang="en-US" altLang="en-US" sz="1800" b="1" i="1"/>
              <a:t>P</a:t>
            </a:r>
            <a:r>
              <a:rPr lang="en-US" altLang="en-US" sz="1800"/>
              <a:t>[0] with </a:t>
            </a:r>
            <a:r>
              <a:rPr lang="en-US" altLang="en-US" sz="1800" b="1" i="1"/>
              <a:t>T</a:t>
            </a:r>
            <a:r>
              <a:rPr lang="en-US" altLang="en-US" sz="1800"/>
              <a:t>[</a:t>
            </a:r>
            <a:r>
              <a:rPr lang="en-US" altLang="en-US" sz="1800" b="1" i="1"/>
              <a:t>i </a:t>
            </a:r>
            <a:r>
              <a:rPr lang="en-US" altLang="en-US" sz="1800">
                <a:latin typeface="Symbol" panose="05050102010706020507" pitchFamily="18" charset="2"/>
              </a:rPr>
              <a:t>+</a:t>
            </a:r>
            <a:r>
              <a:rPr lang="en-US" altLang="en-US" sz="1800"/>
              <a:t> 1]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 </a:t>
            </a:r>
          </a:p>
        </p:txBody>
      </p:sp>
      <p:graphicFrame>
        <p:nvGraphicFramePr>
          <p:cNvPr id="37892" name="Object 4">
            <a:extLst>
              <a:ext uri="{FF2B5EF4-FFF2-40B4-BE49-F238E27FC236}">
                <a16:creationId xmlns:a16="http://schemas.microsoft.com/office/drawing/2014/main" id="{4D2BA40F-DCC0-C71F-D754-80E0B59B47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4191000"/>
          <a:ext cx="8029575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447960" imgH="1835280" progId="Visio.Drawing.6">
                  <p:embed/>
                </p:oleObj>
              </mc:Choice>
              <mc:Fallback>
                <p:oleObj name="VISIO" r:id="rId2" imgW="6447960" imgH="1835280" progId="Visio.Drawing.6">
                  <p:embed/>
                  <p:pic>
                    <p:nvPicPr>
                      <p:cNvPr id="37892" name="Object 4">
                        <a:extLst>
                          <a:ext uri="{FF2B5EF4-FFF2-40B4-BE49-F238E27FC236}">
                            <a16:creationId xmlns:a16="http://schemas.microsoft.com/office/drawing/2014/main" id="{4D2BA40F-DCC0-C71F-D754-80E0B59B47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191000"/>
                        <a:ext cx="8029575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23312DB5-44E4-0026-1939-504CEC49D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graphicFrame>
        <p:nvGraphicFramePr>
          <p:cNvPr id="38915" name="Object 4">
            <a:extLst>
              <a:ext uri="{FF2B5EF4-FFF2-40B4-BE49-F238E27FC236}">
                <a16:creationId xmlns:a16="http://schemas.microsoft.com/office/drawing/2014/main" id="{D42AC122-5BE8-6A2C-2AD4-8BA5511AA5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2852738"/>
          <a:ext cx="8029575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447960" imgH="1835280" progId="Visio.Drawing.6">
                  <p:embed/>
                </p:oleObj>
              </mc:Choice>
              <mc:Fallback>
                <p:oleObj name="VISIO" r:id="rId2" imgW="6447960" imgH="1835280" progId="Visio.Drawing.6">
                  <p:embed/>
                  <p:pic>
                    <p:nvPicPr>
                      <p:cNvPr id="38915" name="Object 4">
                        <a:extLst>
                          <a:ext uri="{FF2B5EF4-FFF2-40B4-BE49-F238E27FC236}">
                            <a16:creationId xmlns:a16="http://schemas.microsoft.com/office/drawing/2014/main" id="{D42AC122-5BE8-6A2C-2AD4-8BA5511AA5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852738"/>
                        <a:ext cx="8029575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BD98B86E-5A2D-720F-6BAB-C143C84419F6}"/>
              </a:ext>
            </a:extLst>
          </p:cNvPr>
          <p:cNvGraphicFramePr>
            <a:graphicFrameLocks/>
          </p:cNvGraphicFramePr>
          <p:nvPr/>
        </p:nvGraphicFramePr>
        <p:xfrm>
          <a:off x="179388" y="2133600"/>
          <a:ext cx="8964612" cy="36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o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i</a:t>
                      </a:r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998" name="Content Placeholder 5">
            <a:extLst>
              <a:ext uri="{FF2B5EF4-FFF2-40B4-BE49-F238E27FC236}">
                <a16:creationId xmlns:a16="http://schemas.microsoft.com/office/drawing/2014/main" id="{3C9E6548-3D15-294D-523D-7D1E3165A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</a:rPr>
              <a:t> </a:t>
            </a:r>
            <a:br>
              <a:rPr lang="en-US" altLang="en-US" b="1">
                <a:latin typeface="Courier New" panose="02070309020205020404" pitchFamily="49" charset="0"/>
              </a:rPr>
            </a:br>
            <a:endParaRPr lang="en-IN" alt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5958CC5-2ABE-E110-B187-78D56CB409B2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2924175"/>
          <a:ext cx="1728787" cy="366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1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87" marR="91487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87" marR="91487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87" marR="91487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87" marR="91487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87" marR="91487" marT="45929" marB="4592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013" name="TextBox 11">
            <a:extLst>
              <a:ext uri="{FF2B5EF4-FFF2-40B4-BE49-F238E27FC236}">
                <a16:creationId xmlns:a16="http://schemas.microsoft.com/office/drawing/2014/main" id="{12CE6CAE-E1F8-CEB4-8E73-2856E868C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5538"/>
            <a:ext cx="82089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>
                <a:solidFill>
                  <a:schemeClr val="hlink"/>
                </a:solidFill>
              </a:rPr>
              <a:t>T  [i</a:t>
            </a:r>
            <a:r>
              <a:rPr lang="en-IN" altLang="en-US" sz="1800">
                <a:solidFill>
                  <a:schemeClr val="hlink"/>
                </a:solidFill>
              </a:rPr>
              <a:t>]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0    1    2    3    4   5    6    7    8   9   10      </a:t>
            </a:r>
          </a:p>
        </p:txBody>
      </p:sp>
      <p:sp>
        <p:nvSpPr>
          <p:cNvPr id="40014" name="TextBox 12">
            <a:extLst>
              <a:ext uri="{FF2B5EF4-FFF2-40B4-BE49-F238E27FC236}">
                <a16:creationId xmlns:a16="http://schemas.microsoft.com/office/drawing/2014/main" id="{64FB7F75-B586-031F-0D99-FDB7308F0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365625"/>
            <a:ext cx="83518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0    1     2    3   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849B881-7463-9F9A-51DC-21B1E5A41D9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619250" y="2565400"/>
            <a:ext cx="0" cy="3587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A0B49F2-DDE7-DA43-DB38-B7F386A072C3}"/>
              </a:ext>
            </a:extLst>
          </p:cNvPr>
          <p:cNvGraphicFramePr>
            <a:graphicFrameLocks/>
          </p:cNvGraphicFramePr>
          <p:nvPr/>
        </p:nvGraphicFramePr>
        <p:xfrm>
          <a:off x="179388" y="2133600"/>
          <a:ext cx="8964612" cy="36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o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i</a:t>
                      </a:r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046" name="Content Placeholder 5">
            <a:extLst>
              <a:ext uri="{FF2B5EF4-FFF2-40B4-BE49-F238E27FC236}">
                <a16:creationId xmlns:a16="http://schemas.microsoft.com/office/drawing/2014/main" id="{33687CD0-E65A-07C2-D8DE-8EB51E80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</a:rPr>
              <a:t> </a:t>
            </a:r>
            <a:br>
              <a:rPr lang="en-US" altLang="en-US" b="1">
                <a:latin typeface="Courier New" panose="02070309020205020404" pitchFamily="49" charset="0"/>
              </a:rPr>
            </a:br>
            <a:endParaRPr lang="en-IN" alt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806302A-9504-5EDC-6F1E-682927044E25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2924175"/>
          <a:ext cx="1711325" cy="366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2" marR="91432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2" marR="91432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2" marR="91432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2" marR="91432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2" marR="91432" marT="45929" marB="4592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061" name="TextBox 11">
            <a:extLst>
              <a:ext uri="{FF2B5EF4-FFF2-40B4-BE49-F238E27FC236}">
                <a16:creationId xmlns:a16="http://schemas.microsoft.com/office/drawing/2014/main" id="{E0805995-00DD-FD7C-6E0E-1DC6C6C7D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5538"/>
            <a:ext cx="82089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>
                <a:solidFill>
                  <a:schemeClr val="hlink"/>
                </a:solidFill>
              </a:rPr>
              <a:t>T  [i</a:t>
            </a:r>
            <a:r>
              <a:rPr lang="en-IN" altLang="en-US" sz="1800">
                <a:solidFill>
                  <a:schemeClr val="hlink"/>
                </a:solidFill>
              </a:rPr>
              <a:t>]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0    1    2    3    4   5    6    7    8   9   10      </a:t>
            </a:r>
          </a:p>
        </p:txBody>
      </p:sp>
      <p:cxnSp>
        <p:nvCxnSpPr>
          <p:cNvPr id="42062" name="Straight Arrow Connector 2">
            <a:extLst>
              <a:ext uri="{FF2B5EF4-FFF2-40B4-BE49-F238E27FC236}">
                <a16:creationId xmlns:a16="http://schemas.microsoft.com/office/drawing/2014/main" id="{6BB8700A-DC3F-AE28-19FF-9F615C75674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619250" y="2565400"/>
            <a:ext cx="0" cy="3587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C3DA493-2B61-6C59-D77D-A199CA7F775E}"/>
              </a:ext>
            </a:extLst>
          </p:cNvPr>
          <p:cNvGraphicFramePr>
            <a:graphicFrameLocks noGrp="1"/>
          </p:cNvGraphicFramePr>
          <p:nvPr/>
        </p:nvGraphicFramePr>
        <p:xfrm>
          <a:off x="900113" y="3644900"/>
          <a:ext cx="1711325" cy="366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2" marR="91432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2" marR="91432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2" marR="91432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2" marR="91432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2" marR="91432" marT="45929" marB="4592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C8EFF6EE-B5CF-670E-D44D-6D6FF67E50EB}"/>
              </a:ext>
            </a:extLst>
          </p:cNvPr>
          <p:cNvGraphicFramePr>
            <a:graphicFrameLocks/>
          </p:cNvGraphicFramePr>
          <p:nvPr/>
        </p:nvGraphicFramePr>
        <p:xfrm>
          <a:off x="179388" y="2133600"/>
          <a:ext cx="8964612" cy="36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o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i</a:t>
                      </a:r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094" name="Content Placeholder 5">
            <a:extLst>
              <a:ext uri="{FF2B5EF4-FFF2-40B4-BE49-F238E27FC236}">
                <a16:creationId xmlns:a16="http://schemas.microsoft.com/office/drawing/2014/main" id="{FD846D67-A03E-D2B9-BE2F-BCF68AF8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</a:rPr>
              <a:t> </a:t>
            </a:r>
            <a:br>
              <a:rPr lang="en-US" altLang="en-US" b="1">
                <a:latin typeface="Courier New" panose="02070309020205020404" pitchFamily="49" charset="0"/>
              </a:rPr>
            </a:br>
            <a:endParaRPr lang="en-IN" altLang="en-US"/>
          </a:p>
        </p:txBody>
      </p:sp>
      <p:sp>
        <p:nvSpPr>
          <p:cNvPr id="44095" name="TextBox 11">
            <a:extLst>
              <a:ext uri="{FF2B5EF4-FFF2-40B4-BE49-F238E27FC236}">
                <a16:creationId xmlns:a16="http://schemas.microsoft.com/office/drawing/2014/main" id="{D92CBF06-3C44-D1DF-F402-648F0A2CD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5538"/>
            <a:ext cx="82089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>
                <a:solidFill>
                  <a:schemeClr val="hlink"/>
                </a:solidFill>
              </a:rPr>
              <a:t>T  [i</a:t>
            </a:r>
            <a:r>
              <a:rPr lang="en-IN" altLang="en-US" sz="1800">
                <a:solidFill>
                  <a:schemeClr val="hlink"/>
                </a:solidFill>
              </a:rPr>
              <a:t>]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0    1    2    3    4   5    6    7    8   9   10     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75651E9-57D0-B3A1-C451-4046018C8F1B}"/>
              </a:ext>
            </a:extLst>
          </p:cNvPr>
          <p:cNvGraphicFramePr>
            <a:graphicFrameLocks noGrp="1"/>
          </p:cNvGraphicFramePr>
          <p:nvPr/>
        </p:nvGraphicFramePr>
        <p:xfrm>
          <a:off x="900113" y="3644900"/>
          <a:ext cx="1711325" cy="366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2" marR="91432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2" marR="91432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2" marR="91432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2" marR="91432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2" marR="91432" marT="45929" marB="4592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FF3403A-0E9A-0EA1-C851-5AAB381B81F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68538" y="2565400"/>
            <a:ext cx="0" cy="10080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8F7BA60-BE8C-27AF-5E30-C2F893364301}"/>
              </a:ext>
            </a:extLst>
          </p:cNvPr>
          <p:cNvGraphicFramePr>
            <a:graphicFrameLocks/>
          </p:cNvGraphicFramePr>
          <p:nvPr/>
        </p:nvGraphicFramePr>
        <p:xfrm>
          <a:off x="179388" y="2133600"/>
          <a:ext cx="8964612" cy="36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o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i</a:t>
                      </a:r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142" name="Content Placeholder 5">
            <a:extLst>
              <a:ext uri="{FF2B5EF4-FFF2-40B4-BE49-F238E27FC236}">
                <a16:creationId xmlns:a16="http://schemas.microsoft.com/office/drawing/2014/main" id="{CE9D4A6D-3200-A02F-9067-961E0BD8F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</a:rPr>
              <a:t> </a:t>
            </a:r>
            <a:br>
              <a:rPr lang="en-US" altLang="en-US" b="1">
                <a:latin typeface="Courier New" panose="02070309020205020404" pitchFamily="49" charset="0"/>
              </a:rPr>
            </a:br>
            <a:endParaRPr lang="en-IN" altLang="en-US"/>
          </a:p>
        </p:txBody>
      </p:sp>
      <p:sp>
        <p:nvSpPr>
          <p:cNvPr id="46143" name="TextBox 11">
            <a:extLst>
              <a:ext uri="{FF2B5EF4-FFF2-40B4-BE49-F238E27FC236}">
                <a16:creationId xmlns:a16="http://schemas.microsoft.com/office/drawing/2014/main" id="{832BAC29-49F6-83F6-65B5-9D0498807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5538"/>
            <a:ext cx="82089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>
                <a:solidFill>
                  <a:schemeClr val="hlink"/>
                </a:solidFill>
              </a:rPr>
              <a:t>T  [i</a:t>
            </a:r>
            <a:r>
              <a:rPr lang="en-IN" altLang="en-US" sz="1800">
                <a:solidFill>
                  <a:schemeClr val="hlink"/>
                </a:solidFill>
              </a:rPr>
              <a:t>]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0    1    2    3    4   5    6    7    8   9   10     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D6EFA1-5C6F-25E5-1B7C-EC45A4A6201C}"/>
              </a:ext>
            </a:extLst>
          </p:cNvPr>
          <p:cNvGraphicFramePr>
            <a:graphicFrameLocks noGrp="1"/>
          </p:cNvGraphicFramePr>
          <p:nvPr/>
        </p:nvGraphicFramePr>
        <p:xfrm>
          <a:off x="900113" y="3644900"/>
          <a:ext cx="1584325" cy="366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1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64" marR="91464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64" marR="91464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64" marR="91464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64" marR="91464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64" marR="91464" marT="45929" marB="4592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6158" name="Straight Arrow Connector 3">
            <a:extLst>
              <a:ext uri="{FF2B5EF4-FFF2-40B4-BE49-F238E27FC236}">
                <a16:creationId xmlns:a16="http://schemas.microsoft.com/office/drawing/2014/main" id="{0FF359CA-D22E-37D3-9F30-F7D16FEB595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68538" y="2565400"/>
            <a:ext cx="0" cy="10080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E6BA0E-A0DB-DE6A-C375-91031A557DEE}"/>
              </a:ext>
            </a:extLst>
          </p:cNvPr>
          <p:cNvGraphicFramePr>
            <a:graphicFrameLocks noGrp="1"/>
          </p:cNvGraphicFramePr>
          <p:nvPr/>
        </p:nvGraphicFramePr>
        <p:xfrm>
          <a:off x="2627313" y="4292600"/>
          <a:ext cx="1712912" cy="366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517" marR="91517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517" marR="91517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517" marR="91517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517" marR="91517" marT="45929" marB="459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517" marR="91517" marT="45929" marB="4592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5396C60-A0C1-46BE-AD79-14A116F8B3BC}"/>
              </a:ext>
            </a:extLst>
          </p:cNvPr>
          <p:cNvGraphicFramePr>
            <a:graphicFrameLocks/>
          </p:cNvGraphicFramePr>
          <p:nvPr/>
        </p:nvGraphicFramePr>
        <p:xfrm>
          <a:off x="179388" y="2133600"/>
          <a:ext cx="8964612" cy="36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o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i</a:t>
                      </a:r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190" name="Content Placeholder 5">
            <a:extLst>
              <a:ext uri="{FF2B5EF4-FFF2-40B4-BE49-F238E27FC236}">
                <a16:creationId xmlns:a16="http://schemas.microsoft.com/office/drawing/2014/main" id="{16881BB3-E4E4-62A9-7089-99FC9ECA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</a:rPr>
              <a:t> </a:t>
            </a:r>
            <a:br>
              <a:rPr lang="en-US" altLang="en-US" b="1">
                <a:latin typeface="Courier New" panose="02070309020205020404" pitchFamily="49" charset="0"/>
              </a:rPr>
            </a:br>
            <a:endParaRPr lang="en-IN" altLang="en-US"/>
          </a:p>
        </p:txBody>
      </p:sp>
      <p:sp>
        <p:nvSpPr>
          <p:cNvPr id="48191" name="TextBox 11">
            <a:extLst>
              <a:ext uri="{FF2B5EF4-FFF2-40B4-BE49-F238E27FC236}">
                <a16:creationId xmlns:a16="http://schemas.microsoft.com/office/drawing/2014/main" id="{2005A065-6A3C-CDCC-12C5-D5EC15A37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5538"/>
            <a:ext cx="82089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>
                <a:solidFill>
                  <a:schemeClr val="hlink"/>
                </a:solidFill>
              </a:rPr>
              <a:t>T  [i</a:t>
            </a:r>
            <a:r>
              <a:rPr lang="en-IN" altLang="en-US" sz="1800">
                <a:solidFill>
                  <a:schemeClr val="hlink"/>
                </a:solidFill>
              </a:rPr>
              <a:t>]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0    1    2    3    4   5    6    7    8   9   10  11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4BCD2C-4992-73C5-A7D6-7D4613CC0C1A}"/>
              </a:ext>
            </a:extLst>
          </p:cNvPr>
          <p:cNvGraphicFramePr>
            <a:graphicFrameLocks noGrp="1"/>
          </p:cNvGraphicFramePr>
          <p:nvPr/>
        </p:nvGraphicFramePr>
        <p:xfrm>
          <a:off x="2627313" y="4221163"/>
          <a:ext cx="1439862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8206" name="Straight Arrow Connector 2">
            <a:extLst>
              <a:ext uri="{FF2B5EF4-FFF2-40B4-BE49-F238E27FC236}">
                <a16:creationId xmlns:a16="http://schemas.microsoft.com/office/drawing/2014/main" id="{0CAA6E6E-8B3E-BC38-7AB1-58615361AFD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24300" y="2565400"/>
            <a:ext cx="0" cy="16557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D325C1-E12B-B396-70EF-70957F78AE9C}"/>
              </a:ext>
            </a:extLst>
          </p:cNvPr>
          <p:cNvGraphicFramePr>
            <a:graphicFrameLocks noGrp="1"/>
          </p:cNvGraphicFramePr>
          <p:nvPr/>
        </p:nvGraphicFramePr>
        <p:xfrm>
          <a:off x="4140200" y="4797425"/>
          <a:ext cx="1439863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837F89-2252-658B-15D5-AAFC712E5EE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35600" y="2565400"/>
            <a:ext cx="0" cy="21590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5B4E432-FB33-4E0F-0AAD-E663D135ED87}"/>
              </a:ext>
            </a:extLst>
          </p:cNvPr>
          <p:cNvGraphicFramePr>
            <a:graphicFrameLocks/>
          </p:cNvGraphicFramePr>
          <p:nvPr/>
        </p:nvGraphicFramePr>
        <p:xfrm>
          <a:off x="179388" y="2133600"/>
          <a:ext cx="8964612" cy="36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o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i</a:t>
                      </a:r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238" name="Content Placeholder 5">
            <a:extLst>
              <a:ext uri="{FF2B5EF4-FFF2-40B4-BE49-F238E27FC236}">
                <a16:creationId xmlns:a16="http://schemas.microsoft.com/office/drawing/2014/main" id="{565A7C1D-8A00-4D8E-71A0-48F5F1DCA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</a:rPr>
              <a:t> </a:t>
            </a:r>
            <a:br>
              <a:rPr lang="en-US" altLang="en-US" b="1">
                <a:latin typeface="Courier New" panose="02070309020205020404" pitchFamily="49" charset="0"/>
              </a:rPr>
            </a:br>
            <a:endParaRPr lang="en-IN" altLang="en-US"/>
          </a:p>
        </p:txBody>
      </p:sp>
      <p:sp>
        <p:nvSpPr>
          <p:cNvPr id="50239" name="TextBox 11">
            <a:extLst>
              <a:ext uri="{FF2B5EF4-FFF2-40B4-BE49-F238E27FC236}">
                <a16:creationId xmlns:a16="http://schemas.microsoft.com/office/drawing/2014/main" id="{F4142D18-4C6A-BBDD-823A-750FB365F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5538"/>
            <a:ext cx="82089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>
                <a:solidFill>
                  <a:schemeClr val="hlink"/>
                </a:solidFill>
              </a:rPr>
              <a:t>T  [i</a:t>
            </a:r>
            <a:r>
              <a:rPr lang="en-IN" altLang="en-US" sz="1800">
                <a:solidFill>
                  <a:schemeClr val="hlink"/>
                </a:solidFill>
              </a:rPr>
              <a:t>]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0    1    2    3    4   5    6    7    8   9   10   11                       16   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9BD3232-8627-BBD8-1726-49C14DD317B8}"/>
              </a:ext>
            </a:extLst>
          </p:cNvPr>
          <p:cNvGraphicFramePr>
            <a:graphicFrameLocks noGrp="1"/>
          </p:cNvGraphicFramePr>
          <p:nvPr/>
        </p:nvGraphicFramePr>
        <p:xfrm>
          <a:off x="2627313" y="4221163"/>
          <a:ext cx="1439862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0254" name="Straight Arrow Connector 2">
            <a:extLst>
              <a:ext uri="{FF2B5EF4-FFF2-40B4-BE49-F238E27FC236}">
                <a16:creationId xmlns:a16="http://schemas.microsoft.com/office/drawing/2014/main" id="{FF37C341-B5EE-6928-7913-16D8E6DE56D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24300" y="2565400"/>
            <a:ext cx="0" cy="16557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3C352DD-1774-5655-1497-A9AA9864C69A}"/>
              </a:ext>
            </a:extLst>
          </p:cNvPr>
          <p:cNvGraphicFramePr>
            <a:graphicFrameLocks noGrp="1"/>
          </p:cNvGraphicFramePr>
          <p:nvPr/>
        </p:nvGraphicFramePr>
        <p:xfrm>
          <a:off x="4140200" y="4797425"/>
          <a:ext cx="1439863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0269" name="Straight Arrow Connector 8">
            <a:extLst>
              <a:ext uri="{FF2B5EF4-FFF2-40B4-BE49-F238E27FC236}">
                <a16:creationId xmlns:a16="http://schemas.microsoft.com/office/drawing/2014/main" id="{142328C3-046D-6607-47BD-990809E7709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35600" y="2565400"/>
            <a:ext cx="0" cy="21590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6AD26C6-DD48-3A9A-384D-02C746C9BF08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5229225"/>
          <a:ext cx="1657350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519" marR="91519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3377667-A621-0BCD-04AE-3211B11AE0F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092950" y="2492375"/>
            <a:ext cx="71438" cy="27368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5EE10246-EBCB-9C12-4277-B05D8DF24466}"/>
              </a:ext>
            </a:extLst>
          </p:cNvPr>
          <p:cNvGraphicFramePr>
            <a:graphicFrameLocks/>
          </p:cNvGraphicFramePr>
          <p:nvPr/>
        </p:nvGraphicFramePr>
        <p:xfrm>
          <a:off x="179388" y="2133600"/>
          <a:ext cx="8964612" cy="36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o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i</a:t>
                      </a:r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286" name="Content Placeholder 5">
            <a:extLst>
              <a:ext uri="{FF2B5EF4-FFF2-40B4-BE49-F238E27FC236}">
                <a16:creationId xmlns:a16="http://schemas.microsoft.com/office/drawing/2014/main" id="{10CAC60B-2822-D9FA-43AD-4505B578E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</a:rPr>
              <a:t> </a:t>
            </a:r>
            <a:br>
              <a:rPr lang="en-US" altLang="en-US" b="1">
                <a:latin typeface="Courier New" panose="02070309020205020404" pitchFamily="49" charset="0"/>
              </a:rPr>
            </a:br>
            <a:endParaRPr lang="en-IN" altLang="en-US"/>
          </a:p>
        </p:txBody>
      </p:sp>
      <p:sp>
        <p:nvSpPr>
          <p:cNvPr id="52287" name="TextBox 11">
            <a:extLst>
              <a:ext uri="{FF2B5EF4-FFF2-40B4-BE49-F238E27FC236}">
                <a16:creationId xmlns:a16="http://schemas.microsoft.com/office/drawing/2014/main" id="{C714271D-3E18-344C-28B5-4D6C92E41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5538"/>
            <a:ext cx="82089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>
                <a:solidFill>
                  <a:schemeClr val="hlink"/>
                </a:solidFill>
              </a:rPr>
              <a:t>T  [i</a:t>
            </a:r>
            <a:r>
              <a:rPr lang="en-IN" altLang="en-US" sz="1800">
                <a:solidFill>
                  <a:schemeClr val="hlink"/>
                </a:solidFill>
              </a:rPr>
              <a:t>]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0    1    2    3    4   5    6    7    8   9   10  11                       16                         21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796717-50A0-84D1-6D7A-3F6EB495A3A0}"/>
              </a:ext>
            </a:extLst>
          </p:cNvPr>
          <p:cNvGraphicFramePr>
            <a:graphicFrameLocks noGrp="1"/>
          </p:cNvGraphicFramePr>
          <p:nvPr/>
        </p:nvGraphicFramePr>
        <p:xfrm>
          <a:off x="2627313" y="4221163"/>
          <a:ext cx="1439862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302" name="Straight Arrow Connector 2">
            <a:extLst>
              <a:ext uri="{FF2B5EF4-FFF2-40B4-BE49-F238E27FC236}">
                <a16:creationId xmlns:a16="http://schemas.microsoft.com/office/drawing/2014/main" id="{E9FE05BF-0905-0AE3-B2F8-EDF79958C63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24300" y="2565400"/>
            <a:ext cx="0" cy="16557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9F717C6-7142-D152-1E47-1425947D4952}"/>
              </a:ext>
            </a:extLst>
          </p:cNvPr>
          <p:cNvGraphicFramePr>
            <a:graphicFrameLocks noGrp="1"/>
          </p:cNvGraphicFramePr>
          <p:nvPr/>
        </p:nvGraphicFramePr>
        <p:xfrm>
          <a:off x="4140200" y="4797425"/>
          <a:ext cx="1439863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317" name="Straight Arrow Connector 8">
            <a:extLst>
              <a:ext uri="{FF2B5EF4-FFF2-40B4-BE49-F238E27FC236}">
                <a16:creationId xmlns:a16="http://schemas.microsoft.com/office/drawing/2014/main" id="{FBABD874-99A5-8DAA-113C-0C1C5F105D4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35600" y="2565400"/>
            <a:ext cx="0" cy="21590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42B7719-4747-EB03-E10D-48C2F777D19E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5229225"/>
          <a:ext cx="1657350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519" marR="91519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332" name="Straight Arrow Connector 3">
            <a:extLst>
              <a:ext uri="{FF2B5EF4-FFF2-40B4-BE49-F238E27FC236}">
                <a16:creationId xmlns:a16="http://schemas.microsoft.com/office/drawing/2014/main" id="{C7964935-ECD3-ED8A-0764-82E9CE254EB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92950" y="2492375"/>
            <a:ext cx="0" cy="26654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FDEF8A6-FE67-B665-86FC-E189D4AF177B}"/>
              </a:ext>
            </a:extLst>
          </p:cNvPr>
          <p:cNvGraphicFramePr>
            <a:graphicFrameLocks noGrp="1"/>
          </p:cNvGraphicFramePr>
          <p:nvPr/>
        </p:nvGraphicFramePr>
        <p:xfrm>
          <a:off x="7380288" y="5516563"/>
          <a:ext cx="1439862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DA004E-CF8A-D8A6-FA58-417648C8B50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604250" y="2492375"/>
            <a:ext cx="71438" cy="30241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0498EB3-C6E8-B15F-7EF9-4C65D899E796}"/>
              </a:ext>
            </a:extLst>
          </p:cNvPr>
          <p:cNvGraphicFramePr>
            <a:graphicFrameLocks/>
          </p:cNvGraphicFramePr>
          <p:nvPr/>
        </p:nvGraphicFramePr>
        <p:xfrm>
          <a:off x="179388" y="2133600"/>
          <a:ext cx="8964612" cy="36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o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i</a:t>
                      </a:r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334" name="Content Placeholder 5">
            <a:extLst>
              <a:ext uri="{FF2B5EF4-FFF2-40B4-BE49-F238E27FC236}">
                <a16:creationId xmlns:a16="http://schemas.microsoft.com/office/drawing/2014/main" id="{BB30C06D-08AE-CF50-2F96-106C37FE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</a:rPr>
              <a:t> </a:t>
            </a:r>
            <a:br>
              <a:rPr lang="en-US" altLang="en-US" b="1">
                <a:latin typeface="Courier New" panose="02070309020205020404" pitchFamily="49" charset="0"/>
              </a:rPr>
            </a:br>
            <a:endParaRPr lang="en-IN" altLang="en-US"/>
          </a:p>
        </p:txBody>
      </p:sp>
      <p:sp>
        <p:nvSpPr>
          <p:cNvPr id="54335" name="TextBox 11">
            <a:extLst>
              <a:ext uri="{FF2B5EF4-FFF2-40B4-BE49-F238E27FC236}">
                <a16:creationId xmlns:a16="http://schemas.microsoft.com/office/drawing/2014/main" id="{C950F228-D859-B316-66AB-F447BE1ED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5538"/>
            <a:ext cx="82089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>
                <a:solidFill>
                  <a:schemeClr val="hlink"/>
                </a:solidFill>
              </a:rPr>
              <a:t>T  [i</a:t>
            </a:r>
            <a:r>
              <a:rPr lang="en-IN" altLang="en-US" sz="1800">
                <a:solidFill>
                  <a:schemeClr val="hlink"/>
                </a:solidFill>
              </a:rPr>
              <a:t>]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0    1    2    3    4   5    6    7    8   9   10  11                       16                        21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C04E7E5-A297-9D3C-81C4-220C78843B27}"/>
              </a:ext>
            </a:extLst>
          </p:cNvPr>
          <p:cNvGraphicFramePr>
            <a:graphicFrameLocks noGrp="1"/>
          </p:cNvGraphicFramePr>
          <p:nvPr/>
        </p:nvGraphicFramePr>
        <p:xfrm>
          <a:off x="2627313" y="4221163"/>
          <a:ext cx="1439862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350" name="Straight Arrow Connector 2">
            <a:extLst>
              <a:ext uri="{FF2B5EF4-FFF2-40B4-BE49-F238E27FC236}">
                <a16:creationId xmlns:a16="http://schemas.microsoft.com/office/drawing/2014/main" id="{71BF6469-B84B-92C2-6AAA-5E17C36328D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24300" y="2565400"/>
            <a:ext cx="0" cy="16557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34A9A26-5B32-4B53-90C1-8CF2D1949A35}"/>
              </a:ext>
            </a:extLst>
          </p:cNvPr>
          <p:cNvGraphicFramePr>
            <a:graphicFrameLocks noGrp="1"/>
          </p:cNvGraphicFramePr>
          <p:nvPr/>
        </p:nvGraphicFramePr>
        <p:xfrm>
          <a:off x="4140200" y="4797425"/>
          <a:ext cx="1439863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365" name="Straight Arrow Connector 8">
            <a:extLst>
              <a:ext uri="{FF2B5EF4-FFF2-40B4-BE49-F238E27FC236}">
                <a16:creationId xmlns:a16="http://schemas.microsoft.com/office/drawing/2014/main" id="{65984936-D2C7-2D73-7CD7-1DDFE0E59DE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35600" y="2565400"/>
            <a:ext cx="0" cy="21590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E093428-1A7F-6088-7D3F-C89377D9012E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5229225"/>
          <a:ext cx="1657350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519" marR="91519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380" name="Straight Arrow Connector 3">
            <a:extLst>
              <a:ext uri="{FF2B5EF4-FFF2-40B4-BE49-F238E27FC236}">
                <a16:creationId xmlns:a16="http://schemas.microsoft.com/office/drawing/2014/main" id="{E4AC7552-11F7-1EED-2E68-F0269A16631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92950" y="2492375"/>
            <a:ext cx="0" cy="26654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6E42DA3-8419-3C72-81E5-D074209FEDB2}"/>
              </a:ext>
            </a:extLst>
          </p:cNvPr>
          <p:cNvGraphicFramePr>
            <a:graphicFrameLocks noGrp="1"/>
          </p:cNvGraphicFramePr>
          <p:nvPr/>
        </p:nvGraphicFramePr>
        <p:xfrm>
          <a:off x="7380288" y="5516563"/>
          <a:ext cx="1439862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395" name="Straight Arrow Connector 7">
            <a:extLst>
              <a:ext uri="{FF2B5EF4-FFF2-40B4-BE49-F238E27FC236}">
                <a16:creationId xmlns:a16="http://schemas.microsoft.com/office/drawing/2014/main" id="{BAB0BFA4-ADF7-96E3-F207-AA99A141425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604250" y="2492375"/>
            <a:ext cx="71438" cy="30241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57B6604-3CD3-D510-9885-D9268CCD1074}"/>
              </a:ext>
            </a:extLst>
          </p:cNvPr>
          <p:cNvGraphicFramePr>
            <a:graphicFrameLocks/>
          </p:cNvGraphicFramePr>
          <p:nvPr/>
        </p:nvGraphicFramePr>
        <p:xfrm>
          <a:off x="179388" y="2133600"/>
          <a:ext cx="8964612" cy="36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o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i</a:t>
                      </a:r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382" name="Content Placeholder 5">
            <a:extLst>
              <a:ext uri="{FF2B5EF4-FFF2-40B4-BE49-F238E27FC236}">
                <a16:creationId xmlns:a16="http://schemas.microsoft.com/office/drawing/2014/main" id="{713D3ACE-376B-1CDD-3573-C2641529F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</a:rPr>
              <a:t> </a:t>
            </a:r>
            <a:br>
              <a:rPr lang="en-US" altLang="en-US" b="1">
                <a:latin typeface="Courier New" panose="02070309020205020404" pitchFamily="49" charset="0"/>
              </a:rPr>
            </a:br>
            <a:endParaRPr lang="en-IN" altLang="en-US"/>
          </a:p>
        </p:txBody>
      </p:sp>
      <p:sp>
        <p:nvSpPr>
          <p:cNvPr id="56383" name="TextBox 11">
            <a:extLst>
              <a:ext uri="{FF2B5EF4-FFF2-40B4-BE49-F238E27FC236}">
                <a16:creationId xmlns:a16="http://schemas.microsoft.com/office/drawing/2014/main" id="{18E68CE0-3E6D-EFCF-6044-9594F2392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5538"/>
            <a:ext cx="91440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>
                <a:solidFill>
                  <a:schemeClr val="hlink"/>
                </a:solidFill>
              </a:rPr>
              <a:t>T  [i</a:t>
            </a:r>
            <a:r>
              <a:rPr lang="en-IN" altLang="en-US" sz="1800">
                <a:solidFill>
                  <a:schemeClr val="hlink"/>
                </a:solidFill>
              </a:rPr>
              <a:t>]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0    1    2    3    4   5    6    7    8   9   10                              16                        21                     26  27 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B8762C-FF9B-1889-DC4A-0882A0523A64}"/>
              </a:ext>
            </a:extLst>
          </p:cNvPr>
          <p:cNvGraphicFramePr>
            <a:graphicFrameLocks noGrp="1"/>
          </p:cNvGraphicFramePr>
          <p:nvPr/>
        </p:nvGraphicFramePr>
        <p:xfrm>
          <a:off x="2627313" y="4221163"/>
          <a:ext cx="1439862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6398" name="Straight Arrow Connector 2">
            <a:extLst>
              <a:ext uri="{FF2B5EF4-FFF2-40B4-BE49-F238E27FC236}">
                <a16:creationId xmlns:a16="http://schemas.microsoft.com/office/drawing/2014/main" id="{7C1F54EF-A6DC-907D-D9AE-5B0BBE17866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24300" y="2565400"/>
            <a:ext cx="0" cy="16557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C7D30C-EC92-8E03-FB5E-F1275C83B7E2}"/>
              </a:ext>
            </a:extLst>
          </p:cNvPr>
          <p:cNvGraphicFramePr>
            <a:graphicFrameLocks noGrp="1"/>
          </p:cNvGraphicFramePr>
          <p:nvPr/>
        </p:nvGraphicFramePr>
        <p:xfrm>
          <a:off x="4140200" y="4797425"/>
          <a:ext cx="1439863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6413" name="Straight Arrow Connector 8">
            <a:extLst>
              <a:ext uri="{FF2B5EF4-FFF2-40B4-BE49-F238E27FC236}">
                <a16:creationId xmlns:a16="http://schemas.microsoft.com/office/drawing/2014/main" id="{A7EA96EF-EF55-A3B4-5EE8-622B8E71A48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35600" y="2565400"/>
            <a:ext cx="0" cy="21590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A91B629-5991-4690-CC81-16AD1DCCFB5F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5229225"/>
          <a:ext cx="1657350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519" marR="91519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519" marR="91519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6428" name="Straight Arrow Connector 3">
            <a:extLst>
              <a:ext uri="{FF2B5EF4-FFF2-40B4-BE49-F238E27FC236}">
                <a16:creationId xmlns:a16="http://schemas.microsoft.com/office/drawing/2014/main" id="{C1449241-D619-0ED7-2740-EC2BE208F8D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92950" y="2492375"/>
            <a:ext cx="0" cy="26654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8A85054-F480-2527-6A82-CE6FE5CD80D7}"/>
              </a:ext>
            </a:extLst>
          </p:cNvPr>
          <p:cNvGraphicFramePr>
            <a:graphicFrameLocks noGrp="1"/>
          </p:cNvGraphicFramePr>
          <p:nvPr/>
        </p:nvGraphicFramePr>
        <p:xfrm>
          <a:off x="7380288" y="5516563"/>
          <a:ext cx="1439862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6443" name="Straight Arrow Connector 7">
            <a:extLst>
              <a:ext uri="{FF2B5EF4-FFF2-40B4-BE49-F238E27FC236}">
                <a16:creationId xmlns:a16="http://schemas.microsoft.com/office/drawing/2014/main" id="{BF29C54A-DA5D-B49A-1321-16BC860180F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604250" y="2492375"/>
            <a:ext cx="71438" cy="30241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B97DC09-DD3E-EF90-C326-A2763489C07D}"/>
              </a:ext>
            </a:extLst>
          </p:cNvPr>
          <p:cNvGraphicFramePr>
            <a:graphicFrameLocks noGrp="1"/>
          </p:cNvGraphicFramePr>
          <p:nvPr/>
        </p:nvGraphicFramePr>
        <p:xfrm>
          <a:off x="7700963" y="6021388"/>
          <a:ext cx="1439862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C7D0A4-F74D-0B42-D930-615E2B4455F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964613" y="2492375"/>
            <a:ext cx="71437" cy="34575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1C3AC7CB-4988-D7DB-3756-C5B5DA4B8D65}"/>
              </a:ext>
            </a:extLst>
          </p:cNvPr>
          <p:cNvGraphicFramePr>
            <a:graphicFrameLocks/>
          </p:cNvGraphicFramePr>
          <p:nvPr/>
        </p:nvGraphicFramePr>
        <p:xfrm>
          <a:off x="179388" y="2133600"/>
          <a:ext cx="8964612" cy="36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969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o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i</a:t>
                      </a:r>
                      <a:endParaRPr lang="en-IN" sz="1800" dirty="0"/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8" marR="91438" marT="45603" marB="4560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8" marR="91438" marT="45603" marB="4560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30" name="Content Placeholder 5">
            <a:extLst>
              <a:ext uri="{FF2B5EF4-FFF2-40B4-BE49-F238E27FC236}">
                <a16:creationId xmlns:a16="http://schemas.microsoft.com/office/drawing/2014/main" id="{F06981F5-CE8E-B7C2-AD95-3FD2C9A04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</a:rPr>
              <a:t> </a:t>
            </a:r>
            <a:br>
              <a:rPr lang="en-US" altLang="en-US" b="1">
                <a:latin typeface="Courier New" panose="02070309020205020404" pitchFamily="49" charset="0"/>
              </a:rPr>
            </a:br>
            <a:endParaRPr lang="en-IN" altLang="en-US"/>
          </a:p>
        </p:txBody>
      </p:sp>
      <p:sp>
        <p:nvSpPr>
          <p:cNvPr id="58431" name="TextBox 11">
            <a:extLst>
              <a:ext uri="{FF2B5EF4-FFF2-40B4-BE49-F238E27FC236}">
                <a16:creationId xmlns:a16="http://schemas.microsoft.com/office/drawing/2014/main" id="{53CB2FC8-3885-0BA7-07C1-FE8AD5576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5538"/>
            <a:ext cx="91440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>
                <a:solidFill>
                  <a:schemeClr val="hlink"/>
                </a:solidFill>
              </a:rPr>
              <a:t>T  [i</a:t>
            </a:r>
            <a:r>
              <a:rPr lang="en-IN" altLang="en-US" sz="1800">
                <a:solidFill>
                  <a:schemeClr val="hlink"/>
                </a:solidFill>
              </a:rPr>
              <a:t>]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hlink"/>
                </a:solidFill>
              </a:rPr>
              <a:t>  0    1    2    3    4   5    6    7    8   9   10                                                                    23                 27    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8DD5F65-6769-4A0D-EB2F-20FF132B2F10}"/>
              </a:ext>
            </a:extLst>
          </p:cNvPr>
          <p:cNvGraphicFramePr>
            <a:graphicFrameLocks noGrp="1"/>
          </p:cNvGraphicFramePr>
          <p:nvPr/>
        </p:nvGraphicFramePr>
        <p:xfrm>
          <a:off x="7700963" y="6021388"/>
          <a:ext cx="1439862" cy="4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dirty="0"/>
                        <a:t>r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</a:t>
                      </a:r>
                    </a:p>
                  </a:txBody>
                  <a:tcPr marL="91436" marR="91436" marT="45854" marB="458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</a:t>
                      </a:r>
                    </a:p>
                  </a:txBody>
                  <a:tcPr marL="91436" marR="91436" marT="45854" marB="4585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431417-2A8C-4328-09D3-F7B5CA7FD7E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964613" y="2492375"/>
            <a:ext cx="71437" cy="34575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32BB34-B214-6D86-F2AA-DB3EF065C1F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675688" y="2565400"/>
            <a:ext cx="0" cy="33845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1ED665-9739-CC18-ECE7-E88BC36BB11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388350" y="2492375"/>
            <a:ext cx="0" cy="34575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1AA4A4-21CB-8DD2-F51E-2CEBEDE1A5E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027988" y="2420938"/>
            <a:ext cx="73025" cy="35290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922EED-7A20-E026-BFA2-78612C72C88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740650" y="2492375"/>
            <a:ext cx="0" cy="34575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CE8C066-1DD2-674A-E8C4-088B6C2E6F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Last-Occurrence Function</a:t>
            </a:r>
          </a:p>
        </p:txBody>
      </p:sp>
      <p:sp>
        <p:nvSpPr>
          <p:cNvPr id="6041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C375538-F90B-5621-88FD-11639FA69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8486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Boyer-Moore’s algorithm preprocesses the pattern </a:t>
            </a:r>
            <a:r>
              <a:rPr lang="en-US" altLang="en-US" sz="2000" b="1" i="1"/>
              <a:t>P</a:t>
            </a:r>
            <a:r>
              <a:rPr lang="en-US" altLang="en-US" sz="2000"/>
              <a:t> and the alphabet </a:t>
            </a:r>
            <a:r>
              <a:rPr lang="en-US" altLang="en-US" sz="2000" b="1" i="1">
                <a:latin typeface="Symbol" panose="05050102010706020507" pitchFamily="18" charset="2"/>
              </a:rPr>
              <a:t>S</a:t>
            </a:r>
            <a:r>
              <a:rPr lang="en-US" altLang="en-US" sz="2000"/>
              <a:t> to build the last-occurrence function </a:t>
            </a:r>
            <a:r>
              <a:rPr lang="en-US" altLang="en-US" sz="2000" b="1" i="1"/>
              <a:t>L</a:t>
            </a:r>
            <a:r>
              <a:rPr lang="en-US" altLang="en-US" sz="2000"/>
              <a:t> mapping </a:t>
            </a:r>
            <a:r>
              <a:rPr lang="en-US" altLang="en-US" sz="2000" b="1" i="1">
                <a:latin typeface="Symbol" panose="05050102010706020507" pitchFamily="18" charset="2"/>
              </a:rPr>
              <a:t>S</a:t>
            </a:r>
            <a:r>
              <a:rPr lang="en-US" altLang="en-US" sz="2000"/>
              <a:t> to integers, where </a:t>
            </a:r>
            <a:r>
              <a:rPr lang="en-US" altLang="en-US" sz="2000" b="1" i="1"/>
              <a:t>L</a:t>
            </a:r>
            <a:r>
              <a:rPr lang="en-US" altLang="en-US" sz="2000"/>
              <a:t>(</a:t>
            </a:r>
            <a:r>
              <a:rPr lang="en-US" altLang="en-US" sz="2000" b="1" i="1"/>
              <a:t>c</a:t>
            </a:r>
            <a:r>
              <a:rPr lang="en-US" altLang="en-US" sz="2000"/>
              <a:t>) is defined as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largest index </a:t>
            </a:r>
            <a:r>
              <a:rPr lang="en-US" altLang="en-US" sz="1800" b="1" i="1"/>
              <a:t>i</a:t>
            </a:r>
            <a:r>
              <a:rPr lang="en-US" altLang="en-US" sz="1800"/>
              <a:t> such that </a:t>
            </a:r>
            <a:r>
              <a:rPr lang="en-US" altLang="en-US" sz="1800" b="1" i="1"/>
              <a:t>P</a:t>
            </a:r>
            <a:r>
              <a:rPr lang="en-US" altLang="en-US" sz="1800"/>
              <a:t>[</a:t>
            </a:r>
            <a:r>
              <a:rPr lang="en-US" altLang="en-US" sz="1800" b="1" i="1"/>
              <a:t>i</a:t>
            </a:r>
            <a:r>
              <a:rPr lang="en-US" altLang="en-US" sz="1800"/>
              <a:t>]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/>
              <a:t> </a:t>
            </a:r>
            <a:r>
              <a:rPr lang="en-US" altLang="en-US" sz="1800" b="1" i="1"/>
              <a:t>c </a:t>
            </a:r>
            <a:r>
              <a:rPr lang="en-US" altLang="en-US" sz="1800"/>
              <a:t>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latin typeface="Symbol" panose="05050102010706020507" pitchFamily="18" charset="2"/>
              </a:rPr>
              <a:t>-</a:t>
            </a:r>
            <a:r>
              <a:rPr lang="en-US" altLang="en-US" sz="1800"/>
              <a:t>1 if no such index exists </a:t>
            </a:r>
            <a:endParaRPr lang="en-US" altLang="en-US" sz="1800" b="1" i="1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Symbol" panose="05050102010706020507" pitchFamily="18" charset="2"/>
              </a:rPr>
              <a:t>S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/>
              <a:t> {</a:t>
            </a:r>
            <a:r>
              <a:rPr lang="en-US" altLang="en-US" sz="1800" b="1" i="1"/>
              <a:t>a, b, c, d</a:t>
            </a:r>
            <a:r>
              <a:rPr lang="en-US" altLang="en-US" sz="180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/>
              <a:t>P</a:t>
            </a:r>
            <a:r>
              <a:rPr lang="en-US" altLang="en-US" sz="1800" b="1" i="1">
                <a:latin typeface="Symbol" panose="05050102010706020507" pitchFamily="18" charset="2"/>
              </a:rPr>
              <a:t>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/>
              <a:t> </a:t>
            </a:r>
            <a:r>
              <a:rPr lang="en-US" altLang="en-US" sz="1800" b="1" i="1"/>
              <a:t>abacab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 b="1" i="1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last-occurrence function can be represented by an array indexed by the numeric codes of the characters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last-occurrence function can be computed in time </a:t>
            </a:r>
            <a:r>
              <a:rPr lang="en-US" altLang="en-US" sz="2000" b="1" i="1"/>
              <a:t>O</a:t>
            </a:r>
            <a:r>
              <a:rPr lang="en-US" altLang="en-US" sz="2000"/>
              <a:t>(</a:t>
            </a:r>
            <a:r>
              <a:rPr lang="en-US" altLang="en-US" sz="2000" b="1" i="1"/>
              <a:t>m </a:t>
            </a:r>
            <a:r>
              <a:rPr lang="en-US" altLang="en-US" sz="2000">
                <a:latin typeface="Symbol" panose="05050102010706020507" pitchFamily="18" charset="2"/>
              </a:rPr>
              <a:t>+</a:t>
            </a:r>
            <a:r>
              <a:rPr lang="en-US" altLang="en-US" sz="2000" b="1" i="1"/>
              <a:t> s</a:t>
            </a:r>
            <a:r>
              <a:rPr lang="en-US" altLang="en-US" sz="2000"/>
              <a:t>), where </a:t>
            </a:r>
            <a:r>
              <a:rPr lang="en-US" altLang="en-US" sz="2000" b="1" i="1"/>
              <a:t>m</a:t>
            </a:r>
            <a:r>
              <a:rPr lang="en-US" altLang="en-US" sz="2000"/>
              <a:t> is the size of </a:t>
            </a:r>
            <a:r>
              <a:rPr lang="en-US" altLang="en-US" sz="2000" b="1" i="1"/>
              <a:t>P</a:t>
            </a:r>
            <a:r>
              <a:rPr lang="en-US" altLang="en-US" sz="2000"/>
              <a:t> and </a:t>
            </a:r>
            <a:r>
              <a:rPr lang="en-US" altLang="en-US" sz="2000" b="1" i="1"/>
              <a:t>s</a:t>
            </a:r>
            <a:r>
              <a:rPr lang="en-US" altLang="en-US" sz="2000"/>
              <a:t> is the size of </a:t>
            </a:r>
            <a:r>
              <a:rPr lang="en-US" altLang="en-US" sz="2000" b="1" i="1">
                <a:latin typeface="Symbol" panose="05050102010706020507" pitchFamily="18" charset="2"/>
              </a:rPr>
              <a:t>S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b="1" i="1">
              <a:latin typeface="Symbol" panose="05050102010706020507" pitchFamily="18" charset="2"/>
            </a:endParaRPr>
          </a:p>
        </p:txBody>
      </p:sp>
      <p:graphicFrame>
        <p:nvGraphicFramePr>
          <p:cNvPr id="169032" name="Group 72">
            <a:extLst>
              <a:ext uri="{FF2B5EF4-FFF2-40B4-BE49-F238E27FC236}">
                <a16:creationId xmlns:a16="http://schemas.microsoft.com/office/drawing/2014/main" id="{348069AC-329E-C0D7-4F21-D666859FA350}"/>
              </a:ext>
            </a:extLst>
          </p:cNvPr>
          <p:cNvGraphicFramePr>
            <a:graphicFrameLocks noGrp="1"/>
          </p:cNvGraphicFramePr>
          <p:nvPr/>
        </p:nvGraphicFramePr>
        <p:xfrm>
          <a:off x="3581400" y="3429000"/>
          <a:ext cx="4648200" cy="76200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4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60" marB="456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60" marB="456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T="45660" marB="456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T="45660" marB="456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-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394460B6-AAEF-B86B-FC87-0749D66F36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Boyer-Moore Algorithm</a:t>
            </a:r>
          </a:p>
        </p:txBody>
      </p:sp>
      <p:sp>
        <p:nvSpPr>
          <p:cNvPr id="17414" name="Text Box 5">
            <a:extLst>
              <a:ext uri="{FF2B5EF4-FFF2-40B4-BE49-F238E27FC236}">
                <a16:creationId xmlns:a16="http://schemas.microsoft.com/office/drawing/2014/main" id="{26CA0431-43EA-A72D-0A72-61C530F84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00200"/>
            <a:ext cx="3886200" cy="4614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62865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BoyerMooreMatch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T, P, </a:t>
            </a:r>
            <a:r>
              <a:rPr lang="en-US" altLang="en-US" sz="1800" b="1" i="1" dirty="0">
                <a:solidFill>
                  <a:schemeClr val="tx2"/>
                </a:solidFill>
                <a:latin typeface="Symbol" panose="05050102010706020507" pitchFamily="18" charset="2"/>
              </a:rPr>
              <a:t>S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L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lastOccurenceFunction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P,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S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repeat </a:t>
            </a:r>
            <a:endParaRPr lang="en-US" altLang="en-US" sz="1800" b="1" i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if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P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if 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0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dirty="0">
                <a:latin typeface="Times New Roman" panose="02020603050405020304" pitchFamily="18" charset="0"/>
              </a:rPr>
              <a:t>{ match at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</a:rPr>
              <a:t> }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</a:rPr>
              <a:t>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dirty="0">
                <a:latin typeface="Times New Roman" panose="02020603050405020304" pitchFamily="18" charset="0"/>
              </a:rPr>
              <a:t>{ character-jump }</a:t>
            </a:r>
            <a:endParaRPr lang="en-US" altLang="en-US" sz="1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l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]]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endParaRPr lang="en-US" altLang="en-US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 err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C00000"/>
                </a:solidFill>
                <a:latin typeface="Symbol" panose="05050102010706020507" pitchFamily="18" charset="2"/>
              </a:rPr>
              <a:t>+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m </a:t>
            </a:r>
            <a:r>
              <a:rPr lang="en-US" altLang="en-US" sz="1800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– </a:t>
            </a:r>
            <a:r>
              <a:rPr lang="en-US" altLang="en-US" sz="1800" b="1" i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endParaRPr lang="en-US" altLang="en-US" sz="1800" b="1" i="1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until  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&gt;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{ no match 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AD07F122-2B24-5E57-15AC-1DCABFC640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graphicFrame>
        <p:nvGraphicFramePr>
          <p:cNvPr id="62467" name="Object 3">
            <a:extLst>
              <a:ext uri="{FF2B5EF4-FFF2-40B4-BE49-F238E27FC236}">
                <a16:creationId xmlns:a16="http://schemas.microsoft.com/office/drawing/2014/main" id="{56DE8E47-4F06-F589-7272-AFB20D759D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092325"/>
          <a:ext cx="7848600" cy="369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800240" imgH="2266560" progId="Visio.Drawing.6">
                  <p:embed/>
                </p:oleObj>
              </mc:Choice>
              <mc:Fallback>
                <p:oleObj name="VISIO" r:id="rId2" imgW="4800240" imgH="2266560" progId="Visio.Drawing.6">
                  <p:embed/>
                  <p:pic>
                    <p:nvPicPr>
                      <p:cNvPr id="62467" name="Object 3">
                        <a:extLst>
                          <a:ext uri="{FF2B5EF4-FFF2-40B4-BE49-F238E27FC236}">
                            <a16:creationId xmlns:a16="http://schemas.microsoft.com/office/drawing/2014/main" id="{56DE8E47-4F06-F589-7272-AFB20D759D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092325"/>
                        <a:ext cx="7848600" cy="369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B2F4F01-10B9-A7F6-13D2-40F5E414CD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Analysis</a:t>
            </a:r>
          </a:p>
        </p:txBody>
      </p:sp>
      <p:sp>
        <p:nvSpPr>
          <p:cNvPr id="6349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E315260-CDB8-C6AC-1302-4269261C651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3810000" cy="4114800"/>
          </a:xfrm>
        </p:spPr>
        <p:txBody>
          <a:bodyPr/>
          <a:lstStyle/>
          <a:p>
            <a:pPr eaLnBrk="1" hangingPunct="1"/>
            <a:r>
              <a:rPr lang="en-US" altLang="en-US" sz="2000"/>
              <a:t>Boyer-Moore’s algorithm runs in time </a:t>
            </a:r>
            <a:r>
              <a:rPr lang="en-US" altLang="en-US" sz="2000" b="1" i="1"/>
              <a:t>O</a:t>
            </a:r>
            <a:r>
              <a:rPr lang="en-US" altLang="en-US" sz="2000"/>
              <a:t>(</a:t>
            </a:r>
            <a:r>
              <a:rPr lang="en-US" altLang="en-US" sz="2000" b="1" i="1"/>
              <a:t>nm </a:t>
            </a:r>
            <a:r>
              <a:rPr lang="en-US" altLang="en-US" sz="2000">
                <a:latin typeface="Symbol" panose="05050102010706020507" pitchFamily="18" charset="2"/>
              </a:rPr>
              <a:t>+</a:t>
            </a:r>
            <a:r>
              <a:rPr lang="en-US" altLang="en-US" sz="2000" b="1" i="1"/>
              <a:t> s</a:t>
            </a:r>
            <a:r>
              <a:rPr lang="en-US" altLang="en-US" sz="2000"/>
              <a:t>)</a:t>
            </a:r>
          </a:p>
          <a:p>
            <a:pPr eaLnBrk="1" hangingPunct="1"/>
            <a:r>
              <a:rPr lang="en-US" altLang="en-US" sz="2000"/>
              <a:t>Example of worst case:</a:t>
            </a:r>
          </a:p>
          <a:p>
            <a:pPr lvl="1" eaLnBrk="1" hangingPunct="1"/>
            <a:r>
              <a:rPr lang="en-US" altLang="en-US" sz="1800" b="1" i="1"/>
              <a:t>T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 b="1" i="1"/>
              <a:t> aaa … a</a:t>
            </a:r>
          </a:p>
          <a:p>
            <a:pPr lvl="1" eaLnBrk="1" hangingPunct="1"/>
            <a:r>
              <a:rPr lang="en-US" altLang="en-US" sz="1800" b="1" i="1"/>
              <a:t>P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 b="1" i="1"/>
              <a:t> baaa</a:t>
            </a:r>
          </a:p>
          <a:p>
            <a:pPr eaLnBrk="1" hangingPunct="1"/>
            <a:r>
              <a:rPr lang="en-US" altLang="en-US" sz="2000"/>
              <a:t>The worst case may occur in images and DNA sequences but is unlikely in English text</a:t>
            </a:r>
          </a:p>
          <a:p>
            <a:pPr eaLnBrk="1" hangingPunct="1"/>
            <a:r>
              <a:rPr lang="en-US" altLang="en-US" sz="2000"/>
              <a:t>Boyer-Moore’s algorithm is significantly faster than the brute-force algorithm on English text</a:t>
            </a:r>
          </a:p>
        </p:txBody>
      </p:sp>
      <p:graphicFrame>
        <p:nvGraphicFramePr>
          <p:cNvPr id="63492" name="Object 7">
            <a:extLst>
              <a:ext uri="{FF2B5EF4-FFF2-40B4-BE49-F238E27FC236}">
                <a16:creationId xmlns:a16="http://schemas.microsoft.com/office/drawing/2014/main" id="{681EE679-D545-36DD-09E5-8131F6BBBD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1828800"/>
          <a:ext cx="4103688" cy="394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342880" imgH="2266560" progId="Visio.Drawing.6">
                  <p:embed/>
                </p:oleObj>
              </mc:Choice>
              <mc:Fallback>
                <p:oleObj name="VISIO" r:id="rId2" imgW="2342880" imgH="2266560" progId="Visio.Drawing.6">
                  <p:embed/>
                  <p:pic>
                    <p:nvPicPr>
                      <p:cNvPr id="63492" name="Object 7">
                        <a:extLst>
                          <a:ext uri="{FF2B5EF4-FFF2-40B4-BE49-F238E27FC236}">
                            <a16:creationId xmlns:a16="http://schemas.microsoft.com/office/drawing/2014/main" id="{681EE679-D545-36DD-09E5-8131F6BBBD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828800"/>
                        <a:ext cx="4103688" cy="394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0000FF"/>
      </a:lt1>
      <a:dk2>
        <a:srgbClr val="000099"/>
      </a:dk2>
      <a:lt2>
        <a:srgbClr val="000000"/>
      </a:lt2>
      <a:accent1>
        <a:srgbClr val="FF9900"/>
      </a:accent1>
      <a:accent2>
        <a:srgbClr val="00FFFF"/>
      </a:accent2>
      <a:accent3>
        <a:srgbClr val="AAAAFF"/>
      </a:accent3>
      <a:accent4>
        <a:srgbClr val="000000"/>
      </a:accent4>
      <a:accent5>
        <a:srgbClr val="FFCAAA"/>
      </a:accent5>
      <a:accent6>
        <a:srgbClr val="00E7E7"/>
      </a:accent6>
      <a:hlink>
        <a:srgbClr val="FF0033"/>
      </a:hlink>
      <a:folHlink>
        <a:srgbClr val="969696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5439</TotalTime>
  <Words>2613</Words>
  <Application>Microsoft Office PowerPoint</Application>
  <PresentationFormat>On-screen Show (4:3)</PresentationFormat>
  <Paragraphs>863</Paragraphs>
  <Slides>36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Courier New</vt:lpstr>
      <vt:lpstr>Symbol</vt:lpstr>
      <vt:lpstr>Tahoma</vt:lpstr>
      <vt:lpstr>Times New Roman</vt:lpstr>
      <vt:lpstr>Verdana</vt:lpstr>
      <vt:lpstr>Wingdings</vt:lpstr>
      <vt:lpstr>Blank Presentation</vt:lpstr>
      <vt:lpstr>VISIO</vt:lpstr>
      <vt:lpstr> Pattern Matching Algorithms  </vt:lpstr>
      <vt:lpstr>Outline</vt:lpstr>
      <vt:lpstr>The Problem</vt:lpstr>
      <vt:lpstr>Why String Matching?</vt:lpstr>
      <vt:lpstr>String Matching</vt:lpstr>
      <vt:lpstr>String Matching</vt:lpstr>
      <vt:lpstr>  Brute Force Algorithm</vt:lpstr>
      <vt:lpstr>Brute-Force Algorithm</vt:lpstr>
      <vt:lpstr>A bad case</vt:lpstr>
      <vt:lpstr>A bad case</vt:lpstr>
      <vt:lpstr>Typical text matching</vt:lpstr>
      <vt:lpstr>String Matching</vt:lpstr>
      <vt:lpstr>KMP – The Big Idea</vt:lpstr>
      <vt:lpstr>Brute Force             KMP</vt:lpstr>
      <vt:lpstr>Brute Force             KMP</vt:lpstr>
      <vt:lpstr>The KMP Algorithm - Motivation</vt:lpstr>
      <vt:lpstr>KMP Failure Function</vt:lpstr>
      <vt:lpstr>The KMP Algorithm</vt:lpstr>
      <vt:lpstr>Computing the Failure Function</vt:lpstr>
      <vt:lpstr>Example</vt:lpstr>
      <vt:lpstr>Boyer-Moore Heuristics</vt:lpstr>
      <vt:lpstr>PowerPoint Presentation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Last-Occurrence Function</vt:lpstr>
      <vt:lpstr>The Boyer-Moore Algorithm</vt:lpstr>
      <vt:lpstr>Example</vt:lpstr>
      <vt:lpstr>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Representation Methods</dc:title>
  <dc:creator>Preferred Customer</dc:creator>
  <cp:lastModifiedBy>S Bhavani</cp:lastModifiedBy>
  <cp:revision>169</cp:revision>
  <dcterms:created xsi:type="dcterms:W3CDTF">1995-06-17T23:31:02Z</dcterms:created>
  <dcterms:modified xsi:type="dcterms:W3CDTF">2026-04-07T06:19:50Z</dcterms:modified>
</cp:coreProperties>
</file>