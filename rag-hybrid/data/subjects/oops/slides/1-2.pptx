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8" r:id="rId2"/>
    <p:sldId id="279" r:id="rId3"/>
    <p:sldId id="277" r:id="rId4"/>
    <p:sldId id="259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069" autoAdjust="0"/>
  </p:normalViewPr>
  <p:slideViewPr>
    <p:cSldViewPr>
      <p:cViewPr varScale="1">
        <p:scale>
          <a:sx n="76" d="100"/>
          <a:sy n="76" d="100"/>
        </p:scale>
        <p:origin x="164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279CF1-2C73-05E9-EEF6-4F540FF021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07BC9-1BF5-A7A4-40EA-FD3A6ED9C3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277EB996-0F3A-4168-A71C-EA7232B0B032}" type="datetimeFigureOut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787A00F-6D69-4E53-3EC0-AD2988AA74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30F594A-0632-4107-ECFF-416DE5336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1EFD6-071C-B921-293C-9C26382A85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71E50-A33D-8C5F-CAB7-1FEA19E3F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F14ABB53-0CD9-4182-BA37-3A0A23F0767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02C6F0CF-C8D4-A7D5-5D7D-C66D552EE7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BE778F93-163A-4E4F-8FCD-6FB0DBC4FF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6041EB23-1CF8-B887-2103-5A3F95020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CA735D1-1991-4675-8418-E2FD98E68937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95950B-76D2-6545-829C-96A83AFA63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A54DDF-D1C0-63B1-797C-90DE32681B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E02060-3F82-593C-571C-7215BB4E69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CFC0FD-84AA-4057-841E-A3ED762BB3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9900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30EA72-AAEB-61A7-A5A3-8FF032E4E4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9F203C-AD89-1259-2585-775638CCE4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5C217BB-4898-1432-89B2-3FA83DC74F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1F39D1-8119-478B-A899-5924FDEEC0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856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492510-AEB9-6ED7-F6A9-215D1A5719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3EBBD04-990B-ABE6-9BA5-BA98B5C8EC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FBD121-80BD-029D-16A9-C78089C392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24CB0A-D3F8-4DE4-8D0A-9D0CDF82C7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7993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EAAE83-AE95-1FFD-C87D-A0FEC03E47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17D67B-7748-51F8-95A0-A5CBDFE493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9B5A25-4303-70D5-E380-A87986247C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345DDD-1409-485F-87FA-F795EBDE55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432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E9E60EA-BEFA-6000-036A-BA605DE292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E6A3B7D-5398-16A1-7184-0628AD7C58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DC27F3-A3B3-EEEF-CEE5-AA65DEF102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18C3AC-764D-4716-B843-9D9F985BFD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201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872A3F0-5797-D188-A3D1-F41B405782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98927F9-7158-DCE0-C2CB-DE12059A62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560E41-2A60-E659-E65C-6BCDC3DCC7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89CB42-2E92-42F4-92E3-146D24BF1B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0518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2797483-CECC-681C-A88E-8677AD2687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311CFEC-59F8-1CBA-7C07-C03D70DD43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1162305-5DDE-A247-D622-32324F487D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7BA591-6599-43C3-A314-A8E2267E83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690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10B917-9DA6-A5C7-6E52-5547AF8616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1FDC58-C1BE-799D-3BF5-EFDD391992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7FE4C5-ED8B-59C5-E997-DF0A6E5CC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D3F78F-4426-443F-A5FC-77A580EE34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208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6D37EA-B008-CCFC-9343-87DC568BB2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6513A7-F15B-3BCD-D277-F7068C9B46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720A58-80BD-9D8F-B805-3195D765E2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CEF578-B179-4F9C-B7AD-9EC9C5D5D2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635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084A7EC-A1E6-C6FE-BAEF-CFECE919A1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722E24-2A94-F7EA-3C98-DB3B4BA8DA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AFB7BD-B737-DD0A-EDB5-AAC72D298C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3C4360-5CF3-465D-83AA-C49B03C3B5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330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FD83C3-CB8B-1892-6BF5-F98898BCB8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A6FE93-7AD3-F158-21BA-BFF715EC3A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053DB0-A998-42E2-65A4-1D43D26D69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81CF68-746B-4410-B92A-A398FC0B8A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081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91C61D4-449A-2E3D-A2DC-31FFBB36A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063A015-5A6F-1B94-B654-7B520B0612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9E53F38-0B0D-6E7D-E6EA-F698A73BEF4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AA550C4-E61A-B601-26BE-2A8337D511C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FC5C91D-02D4-22C9-9F93-BD6C2384061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CF5D6CD-2635-4419-8473-39962363EF4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>
            <a:extLst>
              <a:ext uri="{FF2B5EF4-FFF2-40B4-BE49-F238E27FC236}">
                <a16:creationId xmlns:a16="http://schemas.microsoft.com/office/drawing/2014/main" id="{66875169-1DDA-FD70-34E0-4032BC481F6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0"/>
            <a:ext cx="8839200" cy="68580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FF3300"/>
                </a:solidFill>
                <a:latin typeface="Times New Roman" panose="02020603050405020304" pitchFamily="18" charset="0"/>
              </a:rPr>
              <a:t>History of C++</a:t>
            </a:r>
          </a:p>
        </p:txBody>
      </p:sp>
      <p:sp>
        <p:nvSpPr>
          <p:cNvPr id="2051" name="Rectangle 6">
            <a:extLst>
              <a:ext uri="{FF2B5EF4-FFF2-40B4-BE49-F238E27FC236}">
                <a16:creationId xmlns:a16="http://schemas.microsoft.com/office/drawing/2014/main" id="{7C9D9190-76C2-54F7-B1FC-6EAF7A2AF5D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763000" cy="6019800"/>
          </a:xfrm>
        </p:spPr>
        <p:txBody>
          <a:bodyPr/>
          <a:lstStyle/>
          <a:p>
            <a:pPr marL="514350" indent="-514350" algn="l">
              <a:buFontTx/>
              <a:buChar char="•"/>
            </a:pPr>
            <a:r>
              <a:rPr lang="en-US" altLang="en-US" sz="1900"/>
              <a:t>In Bell Labs, ‘B’ language created, based on BCPL</a:t>
            </a:r>
          </a:p>
          <a:p>
            <a:pPr marL="514350" indent="-514350" algn="l">
              <a:buFontTx/>
              <a:buChar char="•"/>
            </a:pPr>
            <a:r>
              <a:rPr lang="en-US" altLang="en-US" sz="1900"/>
              <a:t>1971-1973 : Dennis Ritchie extended ‘B’ to create ‘C’</a:t>
            </a:r>
          </a:p>
          <a:p>
            <a:pPr marL="514350" indent="-514350" algn="l">
              <a:buFontTx/>
              <a:buChar char="•"/>
            </a:pPr>
            <a:r>
              <a:rPr lang="en-US" altLang="en-US" sz="1900"/>
              <a:t>Main features of C developed over this time</a:t>
            </a:r>
          </a:p>
          <a:p>
            <a:pPr marL="514350" indent="-514350" algn="l">
              <a:buFontTx/>
              <a:buChar char="•"/>
            </a:pPr>
            <a:r>
              <a:rPr lang="en-US" altLang="en-US" sz="1900"/>
              <a:t>1973-1980 : New features were added</a:t>
            </a:r>
          </a:p>
          <a:p>
            <a:pPr marL="514350" indent="-514350" algn="l">
              <a:buFontTx/>
              <a:buChar char="•"/>
            </a:pPr>
            <a:r>
              <a:rPr lang="en-US" altLang="en-US" sz="1900"/>
              <a:t>C needed to be standardised!</a:t>
            </a:r>
          </a:p>
          <a:p>
            <a:pPr marL="514350" indent="-514350" algn="l">
              <a:buFontTx/>
              <a:buChar char="•"/>
            </a:pPr>
            <a:r>
              <a:rPr lang="en-US" altLang="en-US" sz="1900"/>
              <a:t>1979 : Bjarne Stroustrup (Bell labs) extended C to make ‘C with classes’</a:t>
            </a:r>
          </a:p>
          <a:p>
            <a:pPr marL="514350" indent="-514350" algn="l">
              <a:buFontTx/>
              <a:buChar char="•"/>
            </a:pPr>
            <a:r>
              <a:rPr lang="en-US" altLang="en-US" sz="1900"/>
              <a:t>1982 : ‘K&amp;R’ (Kernighan and Ritchie) unofficial C ‘standard’</a:t>
            </a:r>
          </a:p>
          <a:p>
            <a:pPr marL="514350" indent="-514350" algn="l">
              <a:buFontTx/>
              <a:buChar char="•"/>
            </a:pPr>
            <a:r>
              <a:rPr lang="en-US" altLang="en-US" sz="1900"/>
              <a:t>1983 : ‘C with classes’ renamed C++, features still being added</a:t>
            </a:r>
          </a:p>
          <a:p>
            <a:pPr marL="514350" indent="-514350" algn="l">
              <a:buFontTx/>
              <a:buChar char="•"/>
            </a:pPr>
            <a:r>
              <a:rPr lang="en-US" altLang="en-US" sz="1900"/>
              <a:t>1985 : first revision of C++</a:t>
            </a:r>
          </a:p>
          <a:p>
            <a:pPr marL="514350" indent="-514350" algn="l">
              <a:buFontTx/>
              <a:buChar char="•"/>
            </a:pPr>
            <a:r>
              <a:rPr lang="en-US" altLang="en-US" sz="1900"/>
              <a:t>1989 : ANSI standard C (started in 1983!) (=&gt; ISO standard in 1990)</a:t>
            </a:r>
          </a:p>
          <a:p>
            <a:pPr marL="514350" indent="-514350" algn="l">
              <a:buFontTx/>
              <a:buChar char="•"/>
            </a:pPr>
            <a:r>
              <a:rPr lang="en-US" altLang="en-US" sz="1900"/>
              <a:t>1990 : Second revision of C++</a:t>
            </a:r>
          </a:p>
          <a:p>
            <a:pPr marL="514350" indent="-514350" algn="l">
              <a:buFontTx/>
              <a:buChar char="•"/>
            </a:pPr>
            <a:r>
              <a:rPr lang="en-US" altLang="en-US" sz="1900"/>
              <a:t>Third revision occurred during standardization of C++</a:t>
            </a:r>
          </a:p>
          <a:p>
            <a:pPr marL="514350" indent="-514350" algn="l">
              <a:buFontTx/>
              <a:buChar char="•"/>
            </a:pPr>
            <a:r>
              <a:rPr lang="en-US" altLang="en-US" sz="1900"/>
              <a:t>1990s : C++ took centre stage (Standardisation progressing)</a:t>
            </a:r>
          </a:p>
          <a:p>
            <a:pPr marL="514350" indent="-514350" algn="l">
              <a:buFontTx/>
              <a:buChar char="•"/>
            </a:pPr>
            <a:r>
              <a:rPr lang="en-US" altLang="en-US" sz="1900"/>
              <a:t>1994 : Standard Template Library(STL) makes it into the ISO standard C++</a:t>
            </a:r>
          </a:p>
          <a:p>
            <a:pPr marL="514350" indent="-514350" algn="l">
              <a:buFontTx/>
              <a:buChar char="•"/>
            </a:pPr>
            <a:r>
              <a:rPr lang="en-US" altLang="en-US" sz="1900"/>
              <a:t>(Some template implementation arguments ongoing as late as 2003)</a:t>
            </a:r>
          </a:p>
          <a:p>
            <a:pPr marL="514350" indent="-514350" algn="l">
              <a:buFontTx/>
              <a:buChar char="•"/>
            </a:pPr>
            <a:r>
              <a:rPr lang="en-US" altLang="en-US" sz="1900"/>
              <a:t>1997 : The final draft was passed out of committee </a:t>
            </a:r>
          </a:p>
          <a:p>
            <a:pPr marL="514350" indent="-514350" algn="l">
              <a:buFontTx/>
              <a:buChar char="•"/>
            </a:pPr>
            <a:r>
              <a:rPr lang="en-US" altLang="en-US" sz="1900"/>
              <a:t>1998 : ISO standard C++ ratified (C++98) </a:t>
            </a:r>
          </a:p>
          <a:p>
            <a:pPr marL="514350" indent="-514350" algn="l"/>
            <a:endParaRPr lang="en-US" altLang="en-US"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CF1872E-1402-3DAF-B21B-4A566B9DB2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763000" cy="5943600"/>
          </a:xfrm>
        </p:spPr>
        <p:txBody>
          <a:bodyPr/>
          <a:lstStyle/>
          <a:p>
            <a:pPr marL="609600" indent="-609600" algn="l" eaLnBrk="1" hangingPunct="1">
              <a:defRPr/>
            </a:pPr>
            <a:r>
              <a:rPr lang="en-US" sz="2400" b="1" dirty="0"/>
              <a:t>Since everything in C++ could be done in C, why learn C++?</a:t>
            </a:r>
          </a:p>
          <a:p>
            <a:pPr algn="l">
              <a:defRPr/>
            </a:pPr>
            <a:r>
              <a:rPr lang="en-US" sz="2400" dirty="0"/>
              <a:t>• C++ gives you higher level concepts</a:t>
            </a:r>
          </a:p>
          <a:p>
            <a:pPr algn="l">
              <a:defRPr/>
            </a:pPr>
            <a:r>
              <a:rPr lang="en-US" sz="2400" dirty="0"/>
              <a:t>	– Hides complexity</a:t>
            </a:r>
          </a:p>
          <a:p>
            <a:pPr algn="l">
              <a:defRPr/>
            </a:pPr>
            <a:r>
              <a:rPr lang="en-US" sz="2400" dirty="0"/>
              <a:t>	– C++ keeps the ability to do things as you wish</a:t>
            </a:r>
          </a:p>
          <a:p>
            <a:pPr algn="l">
              <a:defRPr/>
            </a:pPr>
            <a:r>
              <a:rPr lang="en-US" sz="2400" dirty="0"/>
              <a:t>• Higher level view is sometimes very useful, when large amounts of code can be reused</a:t>
            </a:r>
          </a:p>
          <a:p>
            <a:pPr algn="l">
              <a:defRPr/>
            </a:pPr>
            <a:r>
              <a:rPr lang="en-US" sz="2400" dirty="0"/>
              <a:t>	– C++ Class libraries are ideal for a GUI on Windows,      	   OS/X, Linux (then decide appearance/speed </a:t>
            </a:r>
            <a:r>
              <a:rPr lang="en-US" sz="2400" dirty="0" err="1"/>
              <a:t>vs</a:t>
            </a:r>
            <a:r>
              <a:rPr lang="en-US" sz="2400" dirty="0"/>
              <a:t> 		    portability)</a:t>
            </a:r>
          </a:p>
          <a:p>
            <a:pPr algn="l">
              <a:defRPr/>
            </a:pPr>
            <a:r>
              <a:rPr lang="en-US" sz="2400" dirty="0"/>
              <a:t>• C++ also adds to C a lot of non-OO features</a:t>
            </a:r>
          </a:p>
          <a:p>
            <a:pPr algn="l">
              <a:defRPr/>
            </a:pPr>
            <a:r>
              <a:rPr lang="en-US" sz="2400" dirty="0"/>
              <a:t>	– e.g. templates, new/delete, operator overloading, 	   </a:t>
            </a:r>
          </a:p>
          <a:p>
            <a:pPr algn="l">
              <a:defRPr/>
            </a:pPr>
            <a:r>
              <a:rPr lang="en-US" sz="2400" dirty="0"/>
              <a:t>	   references, …</a:t>
            </a:r>
          </a:p>
          <a:p>
            <a:pPr algn="l">
              <a:defRPr/>
            </a:pPr>
            <a:r>
              <a:rPr lang="en-US" sz="2400" dirty="0"/>
              <a:t>	– Useful for procedural programming as well as O.O.</a:t>
            </a:r>
            <a:endParaRPr lang="en-US" sz="2800" i="1" dirty="0"/>
          </a:p>
          <a:p>
            <a:pPr marL="609600" indent="-609600" algn="l" eaLnBrk="1" hangingPunct="1">
              <a:defRPr/>
            </a:pPr>
            <a:endParaRPr lang="en-US" sz="2000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2F386F4-2117-BFAA-24C8-5AF5CD166A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0"/>
            <a:ext cx="8839200" cy="685800"/>
          </a:xfrm>
        </p:spPr>
        <p:txBody>
          <a:bodyPr/>
          <a:lstStyle/>
          <a:p>
            <a:pPr eaLnBrk="1" hangingPunct="1"/>
            <a:r>
              <a:rPr lang="en-US" altLang="en-US" sz="3200" i="1">
                <a:solidFill>
                  <a:srgbClr val="FF3300"/>
                </a:solidFill>
              </a:rPr>
              <a:t>Why C++ rather than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C4A410C-2DBA-2E4B-621C-BF27AAA9EF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C++ Program Phases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EBF1E84-CBD3-7150-2917-6A3858774D1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r>
              <a:rPr lang="en-US" altLang="en-US"/>
              <a:t>…in the C++ programming environment</a:t>
            </a:r>
          </a:p>
          <a:p>
            <a:pPr marL="228600" lvl="1" indent="-228600" algn="l"/>
            <a:r>
              <a:rPr lang="en-US" altLang="en-US">
                <a:solidFill>
                  <a:srgbClr val="0066CC"/>
                </a:solidFill>
              </a:rPr>
              <a:t>Edit</a:t>
            </a:r>
            <a:r>
              <a:rPr lang="en-US" altLang="en-US"/>
              <a:t> – in the text editor. Save with .cpp extension</a:t>
            </a:r>
          </a:p>
          <a:p>
            <a:pPr marL="228600" lvl="1" indent="-228600" algn="l"/>
            <a:r>
              <a:rPr lang="en-US" altLang="en-US">
                <a:solidFill>
                  <a:srgbClr val="0066CC"/>
                </a:solidFill>
              </a:rPr>
              <a:t>Preprocess</a:t>
            </a:r>
            <a:r>
              <a:rPr lang="en-US" altLang="en-US"/>
              <a:t> - e.g., text replacement, including other files from the library with the file to be compiled</a:t>
            </a:r>
          </a:p>
          <a:p>
            <a:pPr marL="228600" lvl="1" indent="-228600" algn="l"/>
            <a:r>
              <a:rPr lang="en-US" altLang="en-US">
                <a:solidFill>
                  <a:srgbClr val="0066CC"/>
                </a:solidFill>
              </a:rPr>
              <a:t>Compile</a:t>
            </a:r>
            <a:r>
              <a:rPr lang="en-US" altLang="en-US"/>
              <a:t> - to object code</a:t>
            </a:r>
          </a:p>
          <a:p>
            <a:pPr marL="228600" lvl="1" indent="-228600" algn="l"/>
            <a:r>
              <a:rPr lang="en-US" altLang="en-US">
                <a:solidFill>
                  <a:srgbClr val="0066CC"/>
                </a:solidFill>
              </a:rPr>
              <a:t>Link</a:t>
            </a:r>
            <a:r>
              <a:rPr lang="en-US" altLang="en-US"/>
              <a:t> - links the object code with the code for the standard library functions referred to in the program.  This produces an </a:t>
            </a:r>
            <a:r>
              <a:rPr lang="en-US" altLang="en-US" i="1"/>
              <a:t>executable image</a:t>
            </a:r>
            <a:r>
              <a:rPr lang="en-US" altLang="en-US"/>
              <a:t> (with no missing pieces). During Build process</a:t>
            </a:r>
          </a:p>
          <a:p>
            <a:pPr marL="228600" lvl="1" indent="-228600" algn="l"/>
            <a:r>
              <a:rPr lang="en-US" altLang="en-US">
                <a:solidFill>
                  <a:srgbClr val="0066CC"/>
                </a:solidFill>
              </a:rPr>
              <a:t>Load</a:t>
            </a:r>
            <a:r>
              <a:rPr lang="en-US" altLang="en-US"/>
              <a:t> - program is placed in memory</a:t>
            </a:r>
          </a:p>
          <a:p>
            <a:pPr marL="228600" lvl="1" indent="-228600" algn="l"/>
            <a:r>
              <a:rPr lang="en-US" altLang="en-US">
                <a:solidFill>
                  <a:srgbClr val="0066CC"/>
                </a:solidFill>
              </a:rPr>
              <a:t>Execute</a:t>
            </a:r>
            <a:r>
              <a:rPr lang="en-US" altLang="en-US"/>
              <a:t> - one instruction at a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21E2669-7D37-83F4-574E-F8C44686BC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Simple example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98867C6-132E-6060-5F78-70FAC6A800D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 eaLnBrk="1" hangingPunct="1"/>
            <a:r>
              <a:rPr lang="en-US" altLang="en-US"/>
              <a:t>#include &lt;iostream.h&gt;</a:t>
            </a:r>
          </a:p>
          <a:p>
            <a:pPr algn="just" eaLnBrk="1" hangingPunct="1"/>
            <a:r>
              <a:rPr lang="en-US" altLang="en-US"/>
              <a:t>int main()</a:t>
            </a:r>
          </a:p>
          <a:p>
            <a:pPr algn="just" eaLnBrk="1" hangingPunct="1"/>
            <a:r>
              <a:rPr lang="en-US" altLang="en-US"/>
              <a:t>{</a:t>
            </a:r>
          </a:p>
          <a:p>
            <a:pPr algn="just" eaLnBrk="1" hangingPunct="1"/>
            <a:r>
              <a:rPr lang="en-US" altLang="en-US"/>
              <a:t>	cout&lt;&lt;“it is a simple program\n”;</a:t>
            </a:r>
          </a:p>
          <a:p>
            <a:pPr algn="just" eaLnBrk="1" hangingPunct="1"/>
            <a:r>
              <a:rPr lang="en-US" altLang="en-US"/>
              <a:t>	return 0;</a:t>
            </a:r>
          </a:p>
          <a:p>
            <a:pPr algn="just" eaLnBrk="1" hangingPunct="1"/>
            <a:r>
              <a:rPr lang="en-US" altLang="en-US"/>
              <a:t>}</a:t>
            </a:r>
          </a:p>
          <a:p>
            <a:pPr algn="just" eaLnBrk="1" hangingPunct="1">
              <a:buFontTx/>
              <a:buChar char="•"/>
            </a:pP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5CE9942-C4BB-5177-0413-7F659134F63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52400"/>
            <a:ext cx="7772400" cy="457200"/>
          </a:xfrm>
        </p:spPr>
        <p:txBody>
          <a:bodyPr/>
          <a:lstStyle/>
          <a:p>
            <a:pPr algn="l" eaLnBrk="1" hangingPunct="1"/>
            <a:r>
              <a:rPr lang="en-US" altLang="en-US" sz="2800">
                <a:solidFill>
                  <a:srgbClr val="CC3300"/>
                </a:solidFill>
              </a:rPr>
              <a:t>Program features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7166D71-7C0D-868A-E968-CBC5252E3B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/>
              <a:t>C++ program is a collection of funtions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/>
              <a:t>Every C++ program must have a main()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/>
              <a:t>C++ is a free-form language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/>
              <a:t>C++ statements terminate with semicolon(;)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>
                <a:solidFill>
                  <a:srgbClr val="CC3300"/>
                </a:solidFill>
              </a:rPr>
              <a:t>comments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/>
              <a:t>C++ introduces new comment (single line comment), starts with  symbol// (double slash) and terminates at the end of line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/>
              <a:t>eg.: // This is an example of comments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/>
              <a:t>C comment (multi line comment/*------*/’) is also valid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367ED80C-DCC3-83B7-2FA4-706D01D3FD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algn="just" eaLnBrk="1" hangingPunct="1"/>
            <a:r>
              <a:rPr lang="en-US" altLang="en-US">
                <a:solidFill>
                  <a:srgbClr val="CC3300"/>
                </a:solidFill>
              </a:rPr>
              <a:t>Output Operator</a:t>
            </a:r>
          </a:p>
          <a:p>
            <a:pPr algn="just" eaLnBrk="1" hangingPunct="1">
              <a:buFontTx/>
              <a:buChar char="•"/>
            </a:pPr>
            <a:r>
              <a:rPr lang="en-US" altLang="en-US" sz="2400"/>
              <a:t>The identifier cout is a predefined object that represents the standard output stream in C++</a:t>
            </a:r>
          </a:p>
          <a:p>
            <a:pPr algn="just" eaLnBrk="1" hangingPunct="1">
              <a:buFontTx/>
              <a:buChar char="•"/>
            </a:pPr>
            <a:r>
              <a:rPr lang="en-US" altLang="en-US" sz="2400"/>
              <a:t>The standard output stream is screen, we can redirect to other output devices</a:t>
            </a:r>
          </a:p>
          <a:p>
            <a:pPr algn="just" eaLnBrk="1" hangingPunct="1">
              <a:buFontTx/>
              <a:buChar char="•"/>
            </a:pPr>
            <a:r>
              <a:rPr lang="en-US" altLang="en-US" sz="2400"/>
              <a:t>We can use printf() also</a:t>
            </a:r>
          </a:p>
          <a:p>
            <a:pPr algn="just" eaLnBrk="1" hangingPunct="1"/>
            <a:r>
              <a:rPr lang="en-US" altLang="en-US" sz="2400">
                <a:solidFill>
                  <a:schemeClr val="folHlink"/>
                </a:solidFill>
              </a:rPr>
              <a:t>cout&lt;&lt;“it is a simple program\n”;</a:t>
            </a:r>
          </a:p>
          <a:p>
            <a:pPr algn="just" eaLnBrk="1" hangingPunct="1"/>
            <a:r>
              <a:rPr lang="en-US" altLang="en-US" sz="2400"/>
              <a:t>Syntax:	cout &lt;&lt; string;</a:t>
            </a:r>
          </a:p>
          <a:p>
            <a:pPr algn="just" eaLnBrk="1" hangingPunct="1"/>
            <a:r>
              <a:rPr lang="en-US" altLang="en-US" sz="2400">
                <a:solidFill>
                  <a:srgbClr val="CC3300"/>
                </a:solidFill>
              </a:rPr>
              <a:t>&lt;&lt;</a:t>
            </a:r>
            <a:r>
              <a:rPr lang="en-US" altLang="en-US" sz="2400"/>
              <a:t> is called the insertion or put to operator</a:t>
            </a:r>
          </a:p>
          <a:p>
            <a:pPr algn="just" eaLnBrk="1" hangingPunct="1">
              <a:buFontTx/>
              <a:buChar char="•"/>
            </a:pPr>
            <a:endParaRPr lang="en-US" altLang="en-US" sz="2400"/>
          </a:p>
          <a:p>
            <a:pPr algn="just" eaLnBrk="1" hangingPunct="1">
              <a:buFontTx/>
              <a:buChar char="•"/>
            </a:pPr>
            <a:endParaRPr lang="en-US" altLang="en-US"/>
          </a:p>
        </p:txBody>
      </p:sp>
      <p:sp>
        <p:nvSpPr>
          <p:cNvPr id="7171" name="Oval 4">
            <a:extLst>
              <a:ext uri="{FF2B5EF4-FFF2-40B4-BE49-F238E27FC236}">
                <a16:creationId xmlns:a16="http://schemas.microsoft.com/office/drawing/2014/main" id="{742D50AB-9397-6F20-EDFD-39DEB4713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7912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&lt;&lt;</a:t>
            </a:r>
          </a:p>
        </p:txBody>
      </p:sp>
      <p:sp>
        <p:nvSpPr>
          <p:cNvPr id="7172" name="Rectangle 5">
            <a:extLst>
              <a:ext uri="{FF2B5EF4-FFF2-40B4-BE49-F238E27FC236}">
                <a16:creationId xmlns:a16="http://schemas.microsoft.com/office/drawing/2014/main" id="{3E9B2DA4-E667-E88E-CAC7-72BFB485F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791200"/>
            <a:ext cx="1447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“C++”</a:t>
            </a:r>
          </a:p>
        </p:txBody>
      </p:sp>
      <p:sp>
        <p:nvSpPr>
          <p:cNvPr id="7173" name="Line 6">
            <a:extLst>
              <a:ext uri="{FF2B5EF4-FFF2-40B4-BE49-F238E27FC236}">
                <a16:creationId xmlns:a16="http://schemas.microsoft.com/office/drawing/2014/main" id="{AD5DD8C3-FC74-15D1-0538-972ABA0E59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6019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74" name="Rectangle 7">
            <a:extLst>
              <a:ext uri="{FF2B5EF4-FFF2-40B4-BE49-F238E27FC236}">
                <a16:creationId xmlns:a16="http://schemas.microsoft.com/office/drawing/2014/main" id="{6B03F0D7-5291-16E2-1E03-28EC83251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791200"/>
            <a:ext cx="1447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cout</a:t>
            </a:r>
          </a:p>
        </p:txBody>
      </p:sp>
      <p:sp>
        <p:nvSpPr>
          <p:cNvPr id="7175" name="Rectangle 9">
            <a:extLst>
              <a:ext uri="{FF2B5EF4-FFF2-40B4-BE49-F238E27FC236}">
                <a16:creationId xmlns:a16="http://schemas.microsoft.com/office/drawing/2014/main" id="{CC1196E6-8D7F-B40F-DE98-C67A14044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038600"/>
            <a:ext cx="1447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screen</a:t>
            </a:r>
          </a:p>
        </p:txBody>
      </p:sp>
      <p:sp>
        <p:nvSpPr>
          <p:cNvPr id="7176" name="Line 10">
            <a:extLst>
              <a:ext uri="{FF2B5EF4-FFF2-40B4-BE49-F238E27FC236}">
                <a16:creationId xmlns:a16="http://schemas.microsoft.com/office/drawing/2014/main" id="{9F3DA2E2-D91C-4FB0-1936-BB901C6A2C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44958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77" name="Line 11">
            <a:extLst>
              <a:ext uri="{FF2B5EF4-FFF2-40B4-BE49-F238E27FC236}">
                <a16:creationId xmlns:a16="http://schemas.microsoft.com/office/drawing/2014/main" id="{EE08AE1F-4541-A55C-BA0D-BE99F5BDE7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6019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78" name="Rectangle 12">
            <a:extLst>
              <a:ext uri="{FF2B5EF4-FFF2-40B4-BE49-F238E27FC236}">
                <a16:creationId xmlns:a16="http://schemas.microsoft.com/office/drawing/2014/main" id="{53C4EA76-243F-845D-054E-50005272E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64770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Object</a:t>
            </a:r>
          </a:p>
        </p:txBody>
      </p:sp>
      <p:sp>
        <p:nvSpPr>
          <p:cNvPr id="7179" name="Rectangle 13">
            <a:extLst>
              <a:ext uri="{FF2B5EF4-FFF2-40B4-BE49-F238E27FC236}">
                <a16:creationId xmlns:a16="http://schemas.microsoft.com/office/drawing/2014/main" id="{74CD31A8-F8A9-7106-AB83-65DB73E9B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64770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Insertion</a:t>
            </a:r>
          </a:p>
          <a:p>
            <a:pPr algn="ctr"/>
            <a:r>
              <a:rPr lang="en-US" altLang="en-US"/>
              <a:t> operator</a:t>
            </a:r>
          </a:p>
        </p:txBody>
      </p:sp>
      <p:sp>
        <p:nvSpPr>
          <p:cNvPr id="7180" name="Rectangle 14">
            <a:extLst>
              <a:ext uri="{FF2B5EF4-FFF2-40B4-BE49-F238E27FC236}">
                <a16:creationId xmlns:a16="http://schemas.microsoft.com/office/drawing/2014/main" id="{8CEF5E7A-6866-FB48-AA96-33A8E6CE1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64770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variable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488452A5-7001-B505-047E-A9924F9AAA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algn="just" eaLnBrk="1" hangingPunct="1"/>
            <a:r>
              <a:rPr lang="en-US" altLang="en-US">
                <a:solidFill>
                  <a:srgbClr val="CC3300"/>
                </a:solidFill>
              </a:rPr>
              <a:t>The iostream file </a:t>
            </a:r>
          </a:p>
          <a:p>
            <a:pPr algn="just" eaLnBrk="1" hangingPunct="1"/>
            <a:r>
              <a:rPr lang="en-US" altLang="en-US"/>
              <a:t>#include &lt;iostream.h&gt;</a:t>
            </a:r>
          </a:p>
          <a:p>
            <a:pPr algn="just" eaLnBrk="1" hangingPunct="1">
              <a:buFontTx/>
              <a:buChar char="•"/>
            </a:pPr>
            <a:r>
              <a:rPr lang="en-US" altLang="en-US"/>
              <a:t>This directive causes the preprocessor  to add the contents of the iostream file to the program</a:t>
            </a:r>
          </a:p>
          <a:p>
            <a:pPr algn="just" eaLnBrk="1" hangingPunct="1">
              <a:buFontTx/>
              <a:buChar char="•"/>
            </a:pPr>
            <a:r>
              <a:rPr lang="en-US" altLang="en-US"/>
              <a:t>It contains the declarations for the identifier cout and operator &lt;&lt;</a:t>
            </a:r>
          </a:p>
          <a:p>
            <a:pPr algn="just" eaLnBrk="1" hangingPunct="1">
              <a:buFontTx/>
              <a:buChar char="•"/>
            </a:pPr>
            <a:r>
              <a:rPr lang="en-US" altLang="en-US"/>
              <a:t>In ANSI C++ we can use &lt;iostream&gt;</a:t>
            </a:r>
          </a:p>
          <a:p>
            <a:pPr algn="just" eaLnBrk="1" hangingPunct="1">
              <a:buFontTx/>
              <a:buChar char="•"/>
            </a:pPr>
            <a:r>
              <a:rPr lang="en-US" altLang="en-US"/>
              <a:t>Some implementations use iostream.hpp and others iostream.hxx. We must use appropriate header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04" name="Group 88">
            <a:extLst>
              <a:ext uri="{FF2B5EF4-FFF2-40B4-BE49-F238E27FC236}">
                <a16:creationId xmlns:a16="http://schemas.microsoft.com/office/drawing/2014/main" id="{F7DCFACF-2E83-1F7E-8F0E-FB4C822806D8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206375"/>
          <a:ext cx="8839200" cy="6632575"/>
        </p:xfrm>
        <a:graphic>
          <a:graphicData uri="http://schemas.openxmlformats.org/drawingml/2006/table">
            <a:tbl>
              <a:tblPr/>
              <a:tblGrid>
                <a:gridCol w="132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0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9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Header file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Contents and purpose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New version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79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&lt;assert.h&gt;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Contains macros and information for adding diagnostics that aid program debugging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&lt;cassert&gt;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2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&lt;ctype.h&gt;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function prototypes for functions that test characters for certain properties and to convert lowercase to uppercase and vice versa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&lt;cctype&gt;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&lt;float.h&gt;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floating point size limits of the system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&lt;cfloat&gt;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&lt;limits.h&gt;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integral size limits of the system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&lt;climits&gt;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&lt;math.h&gt;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function prototypes for math lib functions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&lt;cmath&gt;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82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&lt;stdio.h&gt;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Function prototypes for the std i/o lib functions and information used by them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&lt;cstdio&gt;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97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&lt;stdlib.h&gt;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Function prototypes for conversion of numbers to text, text to numbers,memory allocation, randomnumbers etc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&lt;cstdlib&gt;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&lt;string.h&gt;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 style string processing funtions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&lt;cstring&gt;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&lt;time.h&gt;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Function prototypes and types for manipulating the time and date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&lt;ctime&gt;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91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&lt;iostream.h&gt;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Function prototypes for the std i/o functions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&lt;iostream&gt;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382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&lt;iomanip.h&gt;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Function prototypes for the stream manipulators that enable formatting of streams of data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&lt;iomanip&gt;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397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&lt;fstream.h&gt;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Function prototypes for the functions that perform input from files on disk and output to files on disk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&lt;fstream&gt;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772AA6A-8491-153F-A4BF-F9A3BA9C1DC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algn="just" eaLnBrk="1" hangingPunct="1"/>
            <a:r>
              <a:rPr lang="en-US" altLang="en-US">
                <a:solidFill>
                  <a:srgbClr val="CC3300"/>
                </a:solidFill>
              </a:rPr>
              <a:t>Return type of main()</a:t>
            </a:r>
          </a:p>
          <a:p>
            <a:pPr algn="just" eaLnBrk="1" hangingPunct="1">
              <a:buFontTx/>
              <a:buChar char="•"/>
            </a:pPr>
            <a:r>
              <a:rPr lang="en-US" altLang="en-US"/>
              <a:t>In C++, main() by default returns an integer type value to the os</a:t>
            </a:r>
          </a:p>
          <a:p>
            <a:pPr algn="just" eaLnBrk="1" hangingPunct="1">
              <a:buFontTx/>
              <a:buChar char="•"/>
            </a:pPr>
            <a:r>
              <a:rPr lang="en-US" altLang="en-US"/>
              <a:t>Every main() in C++ should ends with a return(0) statement, otherwise a warning or an error might occur</a:t>
            </a:r>
          </a:p>
          <a:p>
            <a:pPr algn="just" eaLnBrk="1" hangingPunct="1"/>
            <a:r>
              <a:rPr lang="en-US" altLang="en-US">
                <a:solidFill>
                  <a:srgbClr val="CC3300"/>
                </a:solidFill>
              </a:rPr>
              <a:t>Variables</a:t>
            </a:r>
          </a:p>
          <a:p>
            <a:pPr algn="just" eaLnBrk="1" hangingPunct="1">
              <a:buFontTx/>
              <a:buChar char="•"/>
            </a:pPr>
            <a:r>
              <a:rPr lang="en-US" altLang="en-US"/>
              <a:t>All variables must be declared before they are used in the program</a:t>
            </a:r>
          </a:p>
          <a:p>
            <a:pPr algn="just" eaLnBrk="1" hangingPunct="1"/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26A8866-46C3-1002-A72D-BB66CE04366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algn="just" eaLnBrk="1" hangingPunct="1"/>
            <a:r>
              <a:rPr lang="en-US" altLang="en-US" sz="2800">
                <a:solidFill>
                  <a:srgbClr val="CC3300"/>
                </a:solidFill>
              </a:rPr>
              <a:t>Input operator</a:t>
            </a:r>
          </a:p>
          <a:p>
            <a:pPr algn="just" eaLnBrk="1" hangingPunct="1"/>
            <a:r>
              <a:rPr lang="en-US" altLang="en-US" sz="2000"/>
              <a:t>cin &gt;&gt; number1;</a:t>
            </a:r>
          </a:p>
          <a:p>
            <a:pPr algn="just" eaLnBrk="1" hangingPunct="1">
              <a:buFontTx/>
              <a:buChar char="•"/>
            </a:pPr>
            <a:r>
              <a:rPr lang="en-US" altLang="en-US" sz="2000"/>
              <a:t>Is an input statement and causes the program to wait for the user to type in a number. The typed number is placed in the variable number1</a:t>
            </a:r>
            <a:r>
              <a:rPr lang="en-US" altLang="en-US"/>
              <a:t>.</a:t>
            </a:r>
          </a:p>
          <a:p>
            <a:pPr algn="just" eaLnBrk="1" hangingPunct="1">
              <a:buFontTx/>
              <a:buChar char="•"/>
            </a:pPr>
            <a:r>
              <a:rPr lang="en-US" altLang="en-US" sz="2000"/>
              <a:t>The identifier cin is a predefined object that represents the standard input stream in C++</a:t>
            </a:r>
          </a:p>
          <a:p>
            <a:pPr algn="just" eaLnBrk="1" hangingPunct="1">
              <a:buFontTx/>
              <a:buChar char="•"/>
            </a:pPr>
            <a:r>
              <a:rPr lang="en-US" altLang="en-US" sz="2000"/>
              <a:t>The standard input stream is keyboard</a:t>
            </a:r>
          </a:p>
          <a:p>
            <a:pPr algn="just" eaLnBrk="1" hangingPunct="1">
              <a:buFontTx/>
              <a:buChar char="•"/>
            </a:pPr>
            <a:r>
              <a:rPr lang="en-US" altLang="en-US" sz="2000"/>
              <a:t>The operator &gt;&gt; is known as extraction or get from operator</a:t>
            </a:r>
          </a:p>
          <a:p>
            <a:pPr algn="just" eaLnBrk="1" hangingPunct="1"/>
            <a:endParaRPr lang="en-US" altLang="en-US" sz="2000"/>
          </a:p>
        </p:txBody>
      </p:sp>
      <p:sp>
        <p:nvSpPr>
          <p:cNvPr id="11267" name="Oval 3">
            <a:extLst>
              <a:ext uri="{FF2B5EF4-FFF2-40B4-BE49-F238E27FC236}">
                <a16:creationId xmlns:a16="http://schemas.microsoft.com/office/drawing/2014/main" id="{D2E50BB9-5407-AD05-DCDE-2139C7C61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8100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&gt;&gt;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6AA00CC4-2AA1-B8DF-8B31-073FED480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810000"/>
            <a:ext cx="1447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10.9</a:t>
            </a:r>
          </a:p>
        </p:txBody>
      </p:sp>
      <p:sp>
        <p:nvSpPr>
          <p:cNvPr id="11269" name="Rectangle 6">
            <a:extLst>
              <a:ext uri="{FF2B5EF4-FFF2-40B4-BE49-F238E27FC236}">
                <a16:creationId xmlns:a16="http://schemas.microsoft.com/office/drawing/2014/main" id="{84F8A997-C35E-E6BD-EDD3-763468506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810000"/>
            <a:ext cx="1447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cin</a:t>
            </a:r>
          </a:p>
        </p:txBody>
      </p:sp>
      <p:sp>
        <p:nvSpPr>
          <p:cNvPr id="11270" name="Rectangle 7">
            <a:extLst>
              <a:ext uri="{FF2B5EF4-FFF2-40B4-BE49-F238E27FC236}">
                <a16:creationId xmlns:a16="http://schemas.microsoft.com/office/drawing/2014/main" id="{37AE4A7E-8BAD-79E5-5210-E06BE3121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562600"/>
            <a:ext cx="1447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Key board</a:t>
            </a:r>
          </a:p>
        </p:txBody>
      </p:sp>
      <p:sp>
        <p:nvSpPr>
          <p:cNvPr id="11271" name="Line 8">
            <a:extLst>
              <a:ext uri="{FF2B5EF4-FFF2-40B4-BE49-F238E27FC236}">
                <a16:creationId xmlns:a16="http://schemas.microsoft.com/office/drawing/2014/main" id="{DF2082A1-C1AB-69A2-0FB5-1E93B62B19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42672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272" name="Rectangle 10">
            <a:extLst>
              <a:ext uri="{FF2B5EF4-FFF2-40B4-BE49-F238E27FC236}">
                <a16:creationId xmlns:a16="http://schemas.microsoft.com/office/drawing/2014/main" id="{2E567525-B019-0C4E-7CD5-8DB17558E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3528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Object</a:t>
            </a:r>
          </a:p>
        </p:txBody>
      </p:sp>
      <p:sp>
        <p:nvSpPr>
          <p:cNvPr id="11273" name="Rectangle 11">
            <a:extLst>
              <a:ext uri="{FF2B5EF4-FFF2-40B4-BE49-F238E27FC236}">
                <a16:creationId xmlns:a16="http://schemas.microsoft.com/office/drawing/2014/main" id="{A31D3C27-D3B7-0206-6760-7971AA6C5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3528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extraction</a:t>
            </a:r>
          </a:p>
          <a:p>
            <a:pPr algn="ctr"/>
            <a:r>
              <a:rPr lang="en-US" altLang="en-US"/>
              <a:t> operator</a:t>
            </a:r>
          </a:p>
        </p:txBody>
      </p:sp>
      <p:sp>
        <p:nvSpPr>
          <p:cNvPr id="11274" name="Rectangle 12">
            <a:extLst>
              <a:ext uri="{FF2B5EF4-FFF2-40B4-BE49-F238E27FC236}">
                <a16:creationId xmlns:a16="http://schemas.microsoft.com/office/drawing/2014/main" id="{C1C9ABFE-50BE-1A92-E04F-B4FFF828A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3528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variable</a:t>
            </a:r>
          </a:p>
        </p:txBody>
      </p:sp>
      <p:sp>
        <p:nvSpPr>
          <p:cNvPr id="11275" name="Line 13">
            <a:extLst>
              <a:ext uri="{FF2B5EF4-FFF2-40B4-BE49-F238E27FC236}">
                <a16:creationId xmlns:a16="http://schemas.microsoft.com/office/drawing/2014/main" id="{B61B3C28-1797-D9E6-4F93-75FCE1A522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4038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276" name="Line 14">
            <a:extLst>
              <a:ext uri="{FF2B5EF4-FFF2-40B4-BE49-F238E27FC236}">
                <a16:creationId xmlns:a16="http://schemas.microsoft.com/office/drawing/2014/main" id="{B0F03E47-DF55-CB50-2CED-DC84BF71BD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038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65F3DC7-00D7-923F-1E78-91A430AA19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algn="just" eaLnBrk="1" hangingPunct="1"/>
            <a:r>
              <a:rPr lang="en-US" altLang="en-US">
                <a:solidFill>
                  <a:srgbClr val="CC3300"/>
                </a:solidFill>
              </a:rPr>
              <a:t>Cascading of I/O operators</a:t>
            </a:r>
          </a:p>
          <a:p>
            <a:pPr algn="just" eaLnBrk="1" hangingPunct="1"/>
            <a:r>
              <a:rPr lang="en-US" altLang="en-US"/>
              <a:t>cout &lt;&lt; “avg = “ &lt;&lt; avg &lt;&lt; “\n”;</a:t>
            </a:r>
          </a:p>
          <a:p>
            <a:pPr algn="just" eaLnBrk="1" hangingPunct="1"/>
            <a:r>
              <a:rPr lang="en-US" altLang="en-US"/>
              <a:t>cin &gt;&gt; num1 &gt;&gt; num2;</a:t>
            </a:r>
          </a:p>
          <a:p>
            <a:pPr algn="just" eaLnBrk="1" hangingPunct="1"/>
            <a:r>
              <a:rPr lang="en-US" altLang="en-US"/>
              <a:t>The values are assigned from left to right</a:t>
            </a:r>
          </a:p>
          <a:p>
            <a:pPr algn="just" eaLnBrk="1" hangingPunct="1"/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06543FF-6761-E34F-E744-219ADB49ACD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 b="1">
                <a:solidFill>
                  <a:schemeClr val="accent2"/>
                </a:solidFill>
              </a:rPr>
              <a:t>Structure of C++ program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B437C28-AA10-24A6-94A1-CF2924852F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/>
              <a:t>C++ program contain four sections 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/>
              <a:t>These sections may be placed in separate code files and then compiled independently or jointly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endParaRPr lang="en-US" altLang="en-US" sz="2400"/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endParaRPr lang="en-US" altLang="en-US"/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endParaRPr lang="en-US" altLang="en-US"/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endParaRPr lang="en-US" altLang="en-US"/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/>
              <a:t>It is a common practice to organize a program into 3 separate files. 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/>
              <a:t>The class declarations are placed in a header file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/>
              <a:t>Definitions of member functions go into another file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400"/>
              <a:t>The main program that uses the class is placed in a third file which “includes” the previous two files as well as any other files required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endParaRPr lang="en-US" altLang="en-US" sz="2400"/>
          </a:p>
        </p:txBody>
      </p:sp>
      <p:graphicFrame>
        <p:nvGraphicFramePr>
          <p:cNvPr id="13332" name="Group 20">
            <a:extLst>
              <a:ext uri="{FF2B5EF4-FFF2-40B4-BE49-F238E27FC236}">
                <a16:creationId xmlns:a16="http://schemas.microsoft.com/office/drawing/2014/main" id="{A6E1DA9C-7EF8-DD50-4BA8-EC640F878625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828800"/>
          <a:ext cx="6096000" cy="1584325"/>
        </p:xfrm>
        <a:graphic>
          <a:graphicData uri="http://schemas.openxmlformats.org/drawingml/2006/table">
            <a:tbl>
              <a:tblPr/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Include files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declaration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Member functions definitions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Main function program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C71E9D2-AB58-0571-68DB-628FD18ABA5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algn="just" eaLnBrk="1" hangingPunct="1"/>
            <a:r>
              <a:rPr lang="en-US" altLang="en-US" sz="2400"/>
              <a:t>This approach is based on the concept of client-server model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8131DD6-EA44-D63B-3DA0-EA21EEFBA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914400"/>
            <a:ext cx="3200400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E7921E61-E6C9-05FB-1C63-1DBEDC48E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1143000"/>
            <a:ext cx="21336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Member functions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91D5180B-CFF1-E518-A886-3D1BE6625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209800"/>
            <a:ext cx="2209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Class definitions</a:t>
            </a:r>
          </a:p>
        </p:txBody>
      </p:sp>
      <p:sp>
        <p:nvSpPr>
          <p:cNvPr id="14342" name="Line 6">
            <a:extLst>
              <a:ext uri="{FF2B5EF4-FFF2-40B4-BE49-F238E27FC236}">
                <a16:creationId xmlns:a16="http://schemas.microsoft.com/office/drawing/2014/main" id="{A4408326-6BAD-9C49-3593-7EA5E0C965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1524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F3820A6D-699A-8AD6-8656-9EFF7293C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810000"/>
            <a:ext cx="3200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Main function program</a:t>
            </a:r>
          </a:p>
        </p:txBody>
      </p:sp>
      <p:sp>
        <p:nvSpPr>
          <p:cNvPr id="14344" name="Line 8">
            <a:extLst>
              <a:ext uri="{FF2B5EF4-FFF2-40B4-BE49-F238E27FC236}">
                <a16:creationId xmlns:a16="http://schemas.microsoft.com/office/drawing/2014/main" id="{4491BB9E-05FE-0589-9419-5A2F8FB9BD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29718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45" name="Rectangle 9">
            <a:extLst>
              <a:ext uri="{FF2B5EF4-FFF2-40B4-BE49-F238E27FC236}">
                <a16:creationId xmlns:a16="http://schemas.microsoft.com/office/drawing/2014/main" id="{98951EF7-AE4C-8437-3E30-FEED964F5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676400"/>
            <a:ext cx="1295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server</a:t>
            </a:r>
          </a:p>
        </p:txBody>
      </p:sp>
      <p:sp>
        <p:nvSpPr>
          <p:cNvPr id="14346" name="Rectangle 10">
            <a:extLst>
              <a:ext uri="{FF2B5EF4-FFF2-40B4-BE49-F238E27FC236}">
                <a16:creationId xmlns:a16="http://schemas.microsoft.com/office/drawing/2014/main" id="{49BA7814-AB8A-2124-2479-B7428A967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810000"/>
            <a:ext cx="1295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client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E115FFA-C51F-9593-C19C-1B410918173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algn="just" eaLnBrk="1" hangingPunct="1"/>
            <a:r>
              <a:rPr lang="en-US" altLang="en-US">
                <a:solidFill>
                  <a:srgbClr val="CC3300"/>
                </a:solidFill>
              </a:rPr>
              <a:t>Tokens</a:t>
            </a:r>
          </a:p>
          <a:p>
            <a:pPr algn="just" eaLnBrk="1" hangingPunct="1"/>
            <a:r>
              <a:rPr lang="en-US" altLang="en-US"/>
              <a:t>The smallest individual units in a program are known as tokens</a:t>
            </a:r>
          </a:p>
          <a:p>
            <a:pPr lvl="1" algn="just" eaLnBrk="1" hangingPunct="1">
              <a:buFontTx/>
              <a:buChar char="–"/>
            </a:pPr>
            <a:r>
              <a:rPr lang="en-US" altLang="en-US"/>
              <a:t>Keywords</a:t>
            </a:r>
          </a:p>
          <a:p>
            <a:pPr lvl="1" algn="just" eaLnBrk="1" hangingPunct="1">
              <a:buFontTx/>
              <a:buChar char="–"/>
            </a:pPr>
            <a:r>
              <a:rPr lang="en-US" altLang="en-US"/>
              <a:t>Identifiers</a:t>
            </a:r>
          </a:p>
          <a:p>
            <a:pPr lvl="1" algn="just" eaLnBrk="1" hangingPunct="1">
              <a:buFontTx/>
              <a:buChar char="–"/>
            </a:pPr>
            <a:r>
              <a:rPr lang="en-US" altLang="en-US"/>
              <a:t>Constants</a:t>
            </a:r>
          </a:p>
          <a:p>
            <a:pPr lvl="1" algn="just" eaLnBrk="1" hangingPunct="1">
              <a:buFontTx/>
              <a:buChar char="–"/>
            </a:pPr>
            <a:r>
              <a:rPr lang="en-US" altLang="en-US"/>
              <a:t>Strings</a:t>
            </a:r>
          </a:p>
          <a:p>
            <a:pPr lvl="1" algn="just" eaLnBrk="1" hangingPunct="1">
              <a:buFontTx/>
              <a:buChar char="–"/>
            </a:pPr>
            <a:r>
              <a:rPr lang="en-US" altLang="en-US"/>
              <a:t>Operators</a:t>
            </a:r>
          </a:p>
          <a:p>
            <a:pPr algn="just" eaLnBrk="1" hangingPunct="1">
              <a:buFontTx/>
              <a:buChar char="•"/>
            </a:pPr>
            <a:r>
              <a:rPr lang="en-US" altLang="en-US"/>
              <a:t>C++ program is written using these tokens, white spaces and syntax of the language</a:t>
            </a:r>
          </a:p>
          <a:p>
            <a:pPr algn="just" eaLnBrk="1" hangingPunct="1">
              <a:buFontTx/>
              <a:buChar char="•"/>
            </a:pPr>
            <a:endParaRPr lang="en-US" altLang="en-US"/>
          </a:p>
          <a:p>
            <a:pPr algn="just" eaLnBrk="1" hangingPunct="1"/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D27F579-0F8F-3D57-4D9C-698A51C5B80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76200"/>
            <a:ext cx="8686800" cy="64770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>
                <a:solidFill>
                  <a:schemeClr val="hlink"/>
                </a:solidFill>
              </a:rPr>
              <a:t>Keywords</a:t>
            </a:r>
          </a:p>
          <a:p>
            <a:pPr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1800"/>
              <a:t>Keywords implement specific C++ language features</a:t>
            </a:r>
          </a:p>
          <a:p>
            <a:pPr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1800"/>
              <a:t>Explicitly reserved identifiers and cannot be used as names for the program variables and other user-defined program elements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/>
              <a:t>asm		</a:t>
            </a:r>
            <a:r>
              <a:rPr lang="en-US" altLang="en-US" sz="1800">
                <a:solidFill>
                  <a:srgbClr val="CC3300"/>
                </a:solidFill>
              </a:rPr>
              <a:t>double</a:t>
            </a:r>
            <a:r>
              <a:rPr lang="en-US" altLang="en-US" sz="1800"/>
              <a:t> 		new 		</a:t>
            </a:r>
            <a:r>
              <a:rPr lang="en-US" altLang="en-US" sz="1800">
                <a:solidFill>
                  <a:srgbClr val="CC3300"/>
                </a:solidFill>
              </a:rPr>
              <a:t>switch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>
                <a:solidFill>
                  <a:srgbClr val="CC3300"/>
                </a:solidFill>
              </a:rPr>
              <a:t>auto</a:t>
            </a:r>
            <a:r>
              <a:rPr lang="en-US" altLang="en-US" sz="1800"/>
              <a:t>		</a:t>
            </a:r>
            <a:r>
              <a:rPr lang="en-US" altLang="en-US" sz="1800">
                <a:solidFill>
                  <a:srgbClr val="CC3300"/>
                </a:solidFill>
              </a:rPr>
              <a:t>else</a:t>
            </a:r>
            <a:r>
              <a:rPr lang="en-US" altLang="en-US" sz="1800"/>
              <a:t>		operator	template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>
                <a:solidFill>
                  <a:srgbClr val="CC3300"/>
                </a:solidFill>
              </a:rPr>
              <a:t>break</a:t>
            </a:r>
            <a:r>
              <a:rPr lang="en-US" altLang="en-US" sz="1800"/>
              <a:t>		</a:t>
            </a:r>
            <a:r>
              <a:rPr lang="en-US" altLang="en-US" sz="1800">
                <a:solidFill>
                  <a:srgbClr val="CC3300"/>
                </a:solidFill>
              </a:rPr>
              <a:t>enum</a:t>
            </a:r>
            <a:r>
              <a:rPr lang="en-US" altLang="en-US" sz="1800"/>
              <a:t>		private 		this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>
                <a:solidFill>
                  <a:srgbClr val="CC3300"/>
                </a:solidFill>
              </a:rPr>
              <a:t>case</a:t>
            </a:r>
            <a:r>
              <a:rPr lang="en-US" altLang="en-US" sz="1800"/>
              <a:t>		</a:t>
            </a:r>
            <a:r>
              <a:rPr lang="en-US" altLang="en-US" sz="1800">
                <a:solidFill>
                  <a:srgbClr val="CC3300"/>
                </a:solidFill>
              </a:rPr>
              <a:t>extern</a:t>
            </a:r>
            <a:r>
              <a:rPr lang="en-US" altLang="en-US" sz="1800"/>
              <a:t>		protected	throw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/>
              <a:t>catch		</a:t>
            </a:r>
            <a:r>
              <a:rPr lang="en-US" altLang="en-US" sz="1800">
                <a:solidFill>
                  <a:srgbClr val="CC3300"/>
                </a:solidFill>
              </a:rPr>
              <a:t>float</a:t>
            </a:r>
            <a:r>
              <a:rPr lang="en-US" altLang="en-US" sz="1800"/>
              <a:t>		public		try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>
                <a:solidFill>
                  <a:srgbClr val="CC3300"/>
                </a:solidFill>
              </a:rPr>
              <a:t>char</a:t>
            </a:r>
            <a:r>
              <a:rPr lang="en-US" altLang="en-US" sz="1800"/>
              <a:t>		</a:t>
            </a:r>
            <a:r>
              <a:rPr lang="en-US" altLang="en-US" sz="1800">
                <a:solidFill>
                  <a:srgbClr val="CC3300"/>
                </a:solidFill>
              </a:rPr>
              <a:t>for</a:t>
            </a:r>
            <a:r>
              <a:rPr lang="en-US" altLang="en-US" sz="1800"/>
              <a:t>		</a:t>
            </a:r>
            <a:r>
              <a:rPr lang="en-US" altLang="en-US" sz="1800">
                <a:solidFill>
                  <a:srgbClr val="CC3300"/>
                </a:solidFill>
              </a:rPr>
              <a:t>register</a:t>
            </a:r>
            <a:r>
              <a:rPr lang="en-US" altLang="en-US" sz="1800"/>
              <a:t>		</a:t>
            </a:r>
            <a:r>
              <a:rPr lang="en-US" altLang="en-US" sz="1800">
                <a:solidFill>
                  <a:srgbClr val="CC3300"/>
                </a:solidFill>
              </a:rPr>
              <a:t>typedef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/>
              <a:t>class		friend		</a:t>
            </a:r>
            <a:r>
              <a:rPr lang="en-US" altLang="en-US" sz="1800">
                <a:solidFill>
                  <a:srgbClr val="CC3300"/>
                </a:solidFill>
              </a:rPr>
              <a:t>return</a:t>
            </a:r>
            <a:r>
              <a:rPr lang="en-US" altLang="en-US" sz="1800"/>
              <a:t>		</a:t>
            </a:r>
            <a:r>
              <a:rPr lang="en-US" altLang="en-US" sz="1800">
                <a:solidFill>
                  <a:srgbClr val="CC3300"/>
                </a:solidFill>
              </a:rPr>
              <a:t>union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>
                <a:solidFill>
                  <a:srgbClr val="CC3300"/>
                </a:solidFill>
              </a:rPr>
              <a:t>const</a:t>
            </a:r>
            <a:r>
              <a:rPr lang="en-US" altLang="en-US" sz="1800"/>
              <a:t>		</a:t>
            </a:r>
            <a:r>
              <a:rPr lang="en-US" altLang="en-US" sz="1800">
                <a:solidFill>
                  <a:srgbClr val="CC3300"/>
                </a:solidFill>
              </a:rPr>
              <a:t>goto</a:t>
            </a:r>
            <a:r>
              <a:rPr lang="en-US" altLang="en-US" sz="1800"/>
              <a:t>		</a:t>
            </a:r>
            <a:r>
              <a:rPr lang="en-US" altLang="en-US" sz="1800">
                <a:solidFill>
                  <a:srgbClr val="CC3300"/>
                </a:solidFill>
              </a:rPr>
              <a:t>short</a:t>
            </a:r>
            <a:r>
              <a:rPr lang="en-US" altLang="en-US" sz="1800"/>
              <a:t>		</a:t>
            </a:r>
            <a:r>
              <a:rPr lang="en-US" altLang="en-US" sz="1800">
                <a:solidFill>
                  <a:srgbClr val="CC3300"/>
                </a:solidFill>
              </a:rPr>
              <a:t>unsigned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>
                <a:solidFill>
                  <a:srgbClr val="CC3300"/>
                </a:solidFill>
              </a:rPr>
              <a:t>continue</a:t>
            </a:r>
            <a:r>
              <a:rPr lang="en-US" altLang="en-US" sz="1800"/>
              <a:t>	</a:t>
            </a:r>
            <a:r>
              <a:rPr lang="en-US" altLang="en-US" sz="1800">
                <a:solidFill>
                  <a:srgbClr val="CC3300"/>
                </a:solidFill>
              </a:rPr>
              <a:t>if</a:t>
            </a:r>
            <a:r>
              <a:rPr lang="en-US" altLang="en-US" sz="1800"/>
              <a:t>			</a:t>
            </a:r>
            <a:r>
              <a:rPr lang="en-US" altLang="en-US" sz="1800">
                <a:solidFill>
                  <a:srgbClr val="CC3300"/>
                </a:solidFill>
              </a:rPr>
              <a:t>signed</a:t>
            </a:r>
            <a:r>
              <a:rPr lang="en-US" altLang="en-US" sz="1800"/>
              <a:t>		virtual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>
                <a:solidFill>
                  <a:srgbClr val="CC3300"/>
                </a:solidFill>
              </a:rPr>
              <a:t>default	</a:t>
            </a:r>
            <a:r>
              <a:rPr lang="en-US" altLang="en-US" sz="1800"/>
              <a:t>	inline		</a:t>
            </a:r>
            <a:r>
              <a:rPr lang="en-US" altLang="en-US" sz="1800">
                <a:solidFill>
                  <a:srgbClr val="CC3300"/>
                </a:solidFill>
              </a:rPr>
              <a:t>sizeof</a:t>
            </a:r>
            <a:r>
              <a:rPr lang="en-US" altLang="en-US" sz="1800"/>
              <a:t>		</a:t>
            </a:r>
            <a:r>
              <a:rPr lang="en-US" altLang="en-US" sz="1800">
                <a:solidFill>
                  <a:srgbClr val="CC3300"/>
                </a:solidFill>
              </a:rPr>
              <a:t>void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/>
              <a:t>delete		</a:t>
            </a:r>
            <a:r>
              <a:rPr lang="en-US" altLang="en-US" sz="1800">
                <a:solidFill>
                  <a:srgbClr val="CC3300"/>
                </a:solidFill>
              </a:rPr>
              <a:t>int</a:t>
            </a:r>
            <a:r>
              <a:rPr lang="en-US" altLang="en-US" sz="1800"/>
              <a:t>		</a:t>
            </a:r>
            <a:r>
              <a:rPr lang="en-US" altLang="en-US" sz="1800">
                <a:solidFill>
                  <a:srgbClr val="CC3300"/>
                </a:solidFill>
              </a:rPr>
              <a:t>static</a:t>
            </a:r>
            <a:r>
              <a:rPr lang="en-US" altLang="en-US" sz="1800"/>
              <a:t>		</a:t>
            </a:r>
            <a:r>
              <a:rPr lang="en-US" altLang="en-US" sz="1800">
                <a:solidFill>
                  <a:srgbClr val="CC3300"/>
                </a:solidFill>
              </a:rPr>
              <a:t>volatile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>
                <a:solidFill>
                  <a:srgbClr val="CC3300"/>
                </a:solidFill>
              </a:rPr>
              <a:t>do</a:t>
            </a:r>
            <a:r>
              <a:rPr lang="en-US" altLang="en-US" sz="1800"/>
              <a:t>		</a:t>
            </a:r>
            <a:r>
              <a:rPr lang="en-US" altLang="en-US" sz="1800">
                <a:solidFill>
                  <a:srgbClr val="CC3300"/>
                </a:solidFill>
              </a:rPr>
              <a:t>long</a:t>
            </a:r>
            <a:r>
              <a:rPr lang="en-US" altLang="en-US" sz="1800"/>
              <a:t>		</a:t>
            </a:r>
            <a:r>
              <a:rPr lang="en-US" altLang="en-US" sz="1800">
                <a:solidFill>
                  <a:srgbClr val="CC3300"/>
                </a:solidFill>
              </a:rPr>
              <a:t>sturct</a:t>
            </a:r>
            <a:r>
              <a:rPr lang="en-US" altLang="en-US" sz="1800"/>
              <a:t>		</a:t>
            </a:r>
            <a:r>
              <a:rPr lang="en-US" altLang="en-US" sz="1800">
                <a:solidFill>
                  <a:srgbClr val="CC3300"/>
                </a:solidFill>
              </a:rPr>
              <a:t>while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/>
              <a:t>**red colour keywords are ANSI C keywords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>
                <a:solidFill>
                  <a:schemeClr val="folHlink"/>
                </a:solidFill>
              </a:rPr>
              <a:t>Added by ANSI C++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/>
              <a:t>bool		export		reinterpret_cast	typename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/>
              <a:t>const_cast	false		static_cast	using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/>
              <a:t>dynamic_cast	mutable		true		wchar_t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1800"/>
              <a:t>explicit		namespace	typeid		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DC9FC41-C7B1-BE9D-641C-1EFCC722734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algn="just" eaLnBrk="1" hangingPunct="1"/>
            <a:r>
              <a:rPr lang="en-US" altLang="en-US" sz="2800">
                <a:solidFill>
                  <a:srgbClr val="CC3300"/>
                </a:solidFill>
              </a:rPr>
              <a:t>Identifiers</a:t>
            </a:r>
          </a:p>
          <a:p>
            <a:pPr algn="just" eaLnBrk="1" hangingPunct="1">
              <a:buFontTx/>
              <a:buChar char="•"/>
            </a:pPr>
            <a:r>
              <a:rPr lang="en-US" altLang="en-US" sz="2800"/>
              <a:t>Identifiers refer to the names of variables, functions, arrays, classes etc created by the programmer</a:t>
            </a:r>
          </a:p>
          <a:p>
            <a:pPr algn="just" eaLnBrk="1" hangingPunct="1">
              <a:buFontTx/>
              <a:buChar char="•"/>
            </a:pPr>
            <a:r>
              <a:rPr lang="en-US" altLang="en-US" sz="2800"/>
              <a:t>Each language has its own rules for naming the identifiers</a:t>
            </a:r>
          </a:p>
          <a:p>
            <a:pPr algn="just" eaLnBrk="1" hangingPunct="1">
              <a:buFontTx/>
              <a:buChar char="•"/>
            </a:pPr>
            <a:r>
              <a:rPr lang="en-US" altLang="en-US" sz="2800"/>
              <a:t>Common rules for both C and C++ are</a:t>
            </a:r>
          </a:p>
          <a:p>
            <a:pPr lvl="1" algn="just" eaLnBrk="1" hangingPunct="1">
              <a:buFontTx/>
              <a:buChar char="–"/>
            </a:pPr>
            <a:r>
              <a:rPr lang="en-US" altLang="en-US" sz="2400"/>
              <a:t>Only alphabetic characters, digits and underscore are permitted</a:t>
            </a:r>
          </a:p>
          <a:p>
            <a:pPr lvl="1" algn="just" eaLnBrk="1" hangingPunct="1">
              <a:buFontTx/>
              <a:buChar char="–"/>
            </a:pPr>
            <a:r>
              <a:rPr lang="en-US" altLang="en-US" sz="2400"/>
              <a:t>The name cannot start with a digit</a:t>
            </a:r>
          </a:p>
          <a:p>
            <a:pPr lvl="1" algn="just" eaLnBrk="1" hangingPunct="1">
              <a:buFontTx/>
              <a:buChar char="–"/>
            </a:pPr>
            <a:r>
              <a:rPr lang="en-US" altLang="en-US" sz="2400"/>
              <a:t>Uppercase and lowercase letters are distinct</a:t>
            </a:r>
          </a:p>
          <a:p>
            <a:pPr lvl="1" algn="just" eaLnBrk="1" hangingPunct="1">
              <a:buFontTx/>
              <a:buChar char="–"/>
            </a:pPr>
            <a:r>
              <a:rPr lang="en-US" altLang="en-US" sz="2400"/>
              <a:t>A declared keyword cannot be used as a variable name</a:t>
            </a:r>
          </a:p>
          <a:p>
            <a:pPr algn="just" eaLnBrk="1" hangingPunct="1">
              <a:buFontTx/>
              <a:buChar char="•"/>
            </a:pPr>
            <a:r>
              <a:rPr lang="en-US" altLang="en-US" sz="2800"/>
              <a:t>A major difference between C and C++ is the limit on the length of a name. ANSI C allows 32 chars, ANSI C++ no limit</a:t>
            </a:r>
          </a:p>
          <a:p>
            <a:pPr algn="just" eaLnBrk="1" hangingPunct="1">
              <a:buFontTx/>
              <a:buChar char="•"/>
            </a:pPr>
            <a:endParaRPr lang="en-US" altLang="en-US" sz="2800"/>
          </a:p>
          <a:p>
            <a:pPr algn="just" eaLnBrk="1" hangingPunct="1"/>
            <a:endParaRPr lang="en-US" altLang="en-US"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6D0E6D0-CEB5-ACAE-09CB-726A8DE239A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sz="3600">
                <a:solidFill>
                  <a:srgbClr val="CC3300"/>
                </a:solidFill>
              </a:rPr>
              <a:t>constants</a:t>
            </a:r>
          </a:p>
          <a:p>
            <a:pPr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/>
              <a:t>Constants refer to fixed values that do not change during the execution of a program</a:t>
            </a:r>
          </a:p>
          <a:p>
            <a:pPr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/>
              <a:t>Literal constants are integers, characters, floating point numbers and strings</a:t>
            </a:r>
          </a:p>
          <a:p>
            <a:pPr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/>
              <a:t>Literal constant do not have memory locations</a:t>
            </a:r>
          </a:p>
          <a:p>
            <a:pPr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/>
              <a:t>Eg:-</a:t>
            </a:r>
          </a:p>
          <a:p>
            <a:pPr lvl="1" algn="just" eaLnBrk="1" hangingPunct="1">
              <a:lnSpc>
                <a:spcPct val="80000"/>
              </a:lnSpc>
              <a:buFontTx/>
              <a:buChar char="–"/>
            </a:pPr>
            <a:r>
              <a:rPr lang="en-US" altLang="en-US" sz="2000"/>
              <a:t>890	decimal int</a:t>
            </a:r>
          </a:p>
          <a:p>
            <a:pPr lvl="1" algn="just" eaLnBrk="1" hangingPunct="1">
              <a:lnSpc>
                <a:spcPct val="80000"/>
              </a:lnSpc>
              <a:buFontTx/>
              <a:buChar char="–"/>
            </a:pPr>
            <a:r>
              <a:rPr lang="en-US" altLang="en-US" sz="2000"/>
              <a:t>34.22	floating point</a:t>
            </a:r>
          </a:p>
          <a:p>
            <a:pPr lvl="1" algn="just" eaLnBrk="1" hangingPunct="1">
              <a:lnSpc>
                <a:spcPct val="80000"/>
              </a:lnSpc>
              <a:buFontTx/>
              <a:buChar char="–"/>
            </a:pPr>
            <a:r>
              <a:rPr lang="en-US" altLang="en-US" sz="2000"/>
              <a:t>045	octal int</a:t>
            </a:r>
          </a:p>
          <a:p>
            <a:pPr lvl="1" algn="just" eaLnBrk="1" hangingPunct="1">
              <a:lnSpc>
                <a:spcPct val="80000"/>
              </a:lnSpc>
              <a:buFontTx/>
              <a:buChar char="–"/>
            </a:pPr>
            <a:r>
              <a:rPr lang="en-US" altLang="en-US" sz="2000"/>
              <a:t>0X5	hex int</a:t>
            </a:r>
          </a:p>
          <a:p>
            <a:pPr lvl="1" algn="just" eaLnBrk="1" hangingPunct="1">
              <a:lnSpc>
                <a:spcPct val="80000"/>
              </a:lnSpc>
              <a:buFontTx/>
              <a:buChar char="–"/>
            </a:pPr>
            <a:r>
              <a:rPr lang="en-US" altLang="en-US" sz="2000"/>
              <a:t>“C++”	string constant</a:t>
            </a:r>
          </a:p>
          <a:p>
            <a:pPr lvl="1" algn="just" eaLnBrk="1" hangingPunct="1">
              <a:lnSpc>
                <a:spcPct val="80000"/>
              </a:lnSpc>
              <a:buFontTx/>
              <a:buChar char="–"/>
            </a:pPr>
            <a:r>
              <a:rPr lang="en-US" altLang="en-US" sz="2000"/>
              <a:t>‘x’	character constant</a:t>
            </a:r>
          </a:p>
          <a:p>
            <a:pPr lvl="1" algn="just" eaLnBrk="1" hangingPunct="1">
              <a:lnSpc>
                <a:spcPct val="80000"/>
              </a:lnSpc>
              <a:buFontTx/>
              <a:buChar char="–"/>
            </a:pPr>
            <a:r>
              <a:rPr lang="en-US" altLang="en-US" sz="2000"/>
              <a:t>L’ab’	wide-character constant</a:t>
            </a:r>
          </a:p>
          <a:p>
            <a:pPr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/>
              <a:t>Wchar_t type is wide character literal introduced by ANSI C++. Is used for character sets that cannot fit a character into a single byte</a:t>
            </a:r>
          </a:p>
          <a:p>
            <a:pPr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/>
              <a:t>C++ also recognizes all the backslash character constants available in C</a:t>
            </a:r>
          </a:p>
          <a:p>
            <a:pPr algn="just" eaLnBrk="1" hangingPunct="1">
              <a:lnSpc>
                <a:spcPct val="80000"/>
              </a:lnSpc>
              <a:buFontTx/>
              <a:buChar char="•"/>
            </a:pPr>
            <a:endParaRPr lang="en-US" altLang="en-US" sz="2400"/>
          </a:p>
          <a:p>
            <a:pPr algn="just" eaLnBrk="1" hangingPunct="1">
              <a:lnSpc>
                <a:spcPct val="80000"/>
              </a:lnSpc>
            </a:pPr>
            <a:endParaRPr lang="en-US" altLang="en-US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45EEBA5-6EA5-214B-AF70-1260ECB2B9F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7056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sz="2000">
                <a:solidFill>
                  <a:srgbClr val="CC3300"/>
                </a:solidFill>
              </a:rPr>
              <a:t>Basic data types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 sz="2000">
              <a:solidFill>
                <a:srgbClr val="CC3300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altLang="en-US" sz="2000">
              <a:solidFill>
                <a:srgbClr val="CC3300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altLang="en-US" sz="2000">
              <a:solidFill>
                <a:srgbClr val="CC3300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altLang="en-US" sz="2000">
              <a:solidFill>
                <a:srgbClr val="CC3300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altLang="en-US" sz="2000">
              <a:solidFill>
                <a:srgbClr val="CC3300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altLang="en-US" sz="2000">
              <a:solidFill>
                <a:srgbClr val="CC3300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altLang="en-US" sz="2000">
              <a:solidFill>
                <a:srgbClr val="CC3300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altLang="en-US" sz="2000">
              <a:solidFill>
                <a:srgbClr val="CC3300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altLang="en-US" sz="2000">
              <a:solidFill>
                <a:srgbClr val="CC3300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altLang="en-US" sz="2000">
              <a:solidFill>
                <a:srgbClr val="CC3300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altLang="en-US" sz="2000">
              <a:solidFill>
                <a:srgbClr val="CC3300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endParaRPr lang="en-US" altLang="en-US" sz="2000">
              <a:solidFill>
                <a:srgbClr val="CC3300"/>
              </a:solidFill>
            </a:endParaRPr>
          </a:p>
          <a:p>
            <a:pPr algn="just" eaLnBrk="1" hangingPunct="1">
              <a:lnSpc>
                <a:spcPct val="80000"/>
              </a:lnSpc>
              <a:buFontTx/>
              <a:buChar char="•"/>
            </a:pPr>
            <a:endParaRPr lang="en-US" altLang="en-US" sz="2000"/>
          </a:p>
          <a:p>
            <a:pPr algn="just" eaLnBrk="1" hangingPunct="1">
              <a:lnSpc>
                <a:spcPct val="80000"/>
              </a:lnSpc>
              <a:buFontTx/>
              <a:buChar char="•"/>
            </a:pPr>
            <a:endParaRPr lang="en-US" altLang="en-US" sz="2000"/>
          </a:p>
          <a:p>
            <a:pPr algn="just" eaLnBrk="1" hangingPunct="1">
              <a:lnSpc>
                <a:spcPct val="80000"/>
              </a:lnSpc>
              <a:buFontTx/>
              <a:buChar char="•"/>
            </a:pPr>
            <a:endParaRPr lang="en-US" altLang="en-US" sz="2000"/>
          </a:p>
          <a:p>
            <a:pPr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000"/>
              <a:t>The basic data types may have several modifiers preceding them to serve the needs of various situations</a:t>
            </a:r>
          </a:p>
          <a:p>
            <a:pPr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000"/>
              <a:t>Signed, unsigned, long and short may be applied to character and integer basic data types</a:t>
            </a:r>
          </a:p>
          <a:p>
            <a:pPr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000"/>
              <a:t>The long may be applied to double also</a:t>
            </a:r>
          </a:p>
          <a:p>
            <a:pPr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000"/>
              <a:t>ANSI C++ committee has added two more data types bool and wchar_t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D7204F0-BB61-443A-B891-5116A51BC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762000"/>
            <a:ext cx="1676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C++ data types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9601ADBB-FB47-D1D2-2FB6-68765027C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524000"/>
            <a:ext cx="2057400" cy="1600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user defined type</a:t>
            </a:r>
          </a:p>
          <a:p>
            <a:pPr algn="ctr"/>
            <a:r>
              <a:rPr lang="en-US" altLang="en-US"/>
              <a:t>structure</a:t>
            </a:r>
          </a:p>
          <a:p>
            <a:pPr algn="ctr"/>
            <a:r>
              <a:rPr lang="en-US" altLang="en-US"/>
              <a:t>union</a:t>
            </a:r>
          </a:p>
          <a:p>
            <a:pPr algn="ctr"/>
            <a:r>
              <a:rPr lang="en-US" altLang="en-US"/>
              <a:t>class </a:t>
            </a:r>
          </a:p>
          <a:p>
            <a:pPr algn="ctr"/>
            <a:r>
              <a:rPr lang="en-US" altLang="en-US"/>
              <a:t>enumeration</a:t>
            </a:r>
          </a:p>
        </p:txBody>
      </p:sp>
      <p:sp>
        <p:nvSpPr>
          <p:cNvPr id="19461" name="Line 5">
            <a:extLst>
              <a:ext uri="{FF2B5EF4-FFF2-40B4-BE49-F238E27FC236}">
                <a16:creationId xmlns:a16="http://schemas.microsoft.com/office/drawing/2014/main" id="{5A8DD67A-6511-DFE5-13F3-B2BEE09610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9050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6CE4D913-BFD9-2104-B5CA-EA9DAB2EF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524000"/>
            <a:ext cx="2057400" cy="1600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derived type</a:t>
            </a:r>
          </a:p>
          <a:p>
            <a:pPr algn="ctr"/>
            <a:r>
              <a:rPr lang="en-US" altLang="en-US"/>
              <a:t>array</a:t>
            </a:r>
          </a:p>
          <a:p>
            <a:pPr algn="ctr"/>
            <a:r>
              <a:rPr lang="en-US" altLang="en-US"/>
              <a:t>function</a:t>
            </a:r>
          </a:p>
          <a:p>
            <a:pPr algn="ctr"/>
            <a:r>
              <a:rPr lang="en-US" altLang="en-US"/>
              <a:t>pointer</a:t>
            </a:r>
          </a:p>
          <a:p>
            <a:pPr algn="ctr"/>
            <a:r>
              <a:rPr lang="en-US" altLang="en-US"/>
              <a:t>reference</a:t>
            </a:r>
          </a:p>
        </p:txBody>
      </p:sp>
      <p:sp>
        <p:nvSpPr>
          <p:cNvPr id="19463" name="Line 7">
            <a:extLst>
              <a:ext uri="{FF2B5EF4-FFF2-40B4-BE49-F238E27FC236}">
                <a16:creationId xmlns:a16="http://schemas.microsoft.com/office/drawing/2014/main" id="{C68B6ABD-AD91-68B0-1D24-EDFECE7F4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19050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64" name="Rectangle 9">
            <a:extLst>
              <a:ext uri="{FF2B5EF4-FFF2-40B4-BE49-F238E27FC236}">
                <a16:creationId xmlns:a16="http://schemas.microsoft.com/office/drawing/2014/main" id="{20E12572-B682-0366-BA6B-CAB126F1D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1524000"/>
            <a:ext cx="1676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Built in type</a:t>
            </a:r>
          </a:p>
        </p:txBody>
      </p:sp>
      <p:sp>
        <p:nvSpPr>
          <p:cNvPr id="19465" name="Rectangle 10">
            <a:extLst>
              <a:ext uri="{FF2B5EF4-FFF2-40B4-BE49-F238E27FC236}">
                <a16:creationId xmlns:a16="http://schemas.microsoft.com/office/drawing/2014/main" id="{2E34471B-5128-4765-B2D0-B74B5F904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657600"/>
            <a:ext cx="1676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void</a:t>
            </a:r>
          </a:p>
        </p:txBody>
      </p:sp>
      <p:sp>
        <p:nvSpPr>
          <p:cNvPr id="19466" name="Rectangle 11">
            <a:extLst>
              <a:ext uri="{FF2B5EF4-FFF2-40B4-BE49-F238E27FC236}">
                <a16:creationId xmlns:a16="http://schemas.microsoft.com/office/drawing/2014/main" id="{5718C64D-8C1C-007F-6379-EA87C350E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657600"/>
            <a:ext cx="1676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Floating type</a:t>
            </a:r>
          </a:p>
        </p:txBody>
      </p:sp>
      <p:sp>
        <p:nvSpPr>
          <p:cNvPr id="19467" name="Rectangle 12">
            <a:extLst>
              <a:ext uri="{FF2B5EF4-FFF2-40B4-BE49-F238E27FC236}">
                <a16:creationId xmlns:a16="http://schemas.microsoft.com/office/drawing/2014/main" id="{5387C27A-1E45-3EA9-20C6-81C47143F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657600"/>
            <a:ext cx="1676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Integral type</a:t>
            </a:r>
          </a:p>
        </p:txBody>
      </p:sp>
      <p:sp>
        <p:nvSpPr>
          <p:cNvPr id="19468" name="Rectangle 13">
            <a:extLst>
              <a:ext uri="{FF2B5EF4-FFF2-40B4-BE49-F238E27FC236}">
                <a16:creationId xmlns:a16="http://schemas.microsoft.com/office/drawing/2014/main" id="{C93BB313-DFFC-B162-B99E-B1C899811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572000"/>
            <a:ext cx="533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int</a:t>
            </a:r>
          </a:p>
        </p:txBody>
      </p:sp>
      <p:sp>
        <p:nvSpPr>
          <p:cNvPr id="19469" name="Rectangle 14">
            <a:extLst>
              <a:ext uri="{FF2B5EF4-FFF2-40B4-BE49-F238E27FC236}">
                <a16:creationId xmlns:a16="http://schemas.microsoft.com/office/drawing/2014/main" id="{DE960947-AF46-0F45-A9A0-140B7CAD8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572000"/>
            <a:ext cx="533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char</a:t>
            </a:r>
          </a:p>
        </p:txBody>
      </p:sp>
      <p:sp>
        <p:nvSpPr>
          <p:cNvPr id="19470" name="Rectangle 15">
            <a:extLst>
              <a:ext uri="{FF2B5EF4-FFF2-40B4-BE49-F238E27FC236}">
                <a16:creationId xmlns:a16="http://schemas.microsoft.com/office/drawing/2014/main" id="{7C1546B9-AF45-5195-39B4-6DDE12B7E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572000"/>
            <a:ext cx="533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float</a:t>
            </a:r>
          </a:p>
        </p:txBody>
      </p:sp>
      <p:sp>
        <p:nvSpPr>
          <p:cNvPr id="19471" name="Rectangle 16">
            <a:extLst>
              <a:ext uri="{FF2B5EF4-FFF2-40B4-BE49-F238E27FC236}">
                <a16:creationId xmlns:a16="http://schemas.microsoft.com/office/drawing/2014/main" id="{DDF0B923-6873-9063-6ABC-F50D72D58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572000"/>
            <a:ext cx="685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double</a:t>
            </a:r>
          </a:p>
        </p:txBody>
      </p:sp>
      <p:sp>
        <p:nvSpPr>
          <p:cNvPr id="19472" name="Line 17">
            <a:extLst>
              <a:ext uri="{FF2B5EF4-FFF2-40B4-BE49-F238E27FC236}">
                <a16:creationId xmlns:a16="http://schemas.microsoft.com/office/drawing/2014/main" id="{6BD31DA5-B9F2-7246-195D-88DC2793C0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106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73" name="Line 18">
            <a:extLst>
              <a:ext uri="{FF2B5EF4-FFF2-40B4-BE49-F238E27FC236}">
                <a16:creationId xmlns:a16="http://schemas.microsoft.com/office/drawing/2014/main" id="{AE0561C7-6215-C17B-DEAF-27F5C2A5B8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1066800"/>
            <a:ext cx="1524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74" name="Line 19">
            <a:extLst>
              <a:ext uri="{FF2B5EF4-FFF2-40B4-BE49-F238E27FC236}">
                <a16:creationId xmlns:a16="http://schemas.microsoft.com/office/drawing/2014/main" id="{557BE27A-0CF4-BD41-A37C-8AFE897FC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066800"/>
            <a:ext cx="1828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75" name="Line 20">
            <a:extLst>
              <a:ext uri="{FF2B5EF4-FFF2-40B4-BE49-F238E27FC236}">
                <a16:creationId xmlns:a16="http://schemas.microsoft.com/office/drawing/2014/main" id="{A79583D6-A936-658F-D857-DE9F03C15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8288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76" name="Line 21">
            <a:extLst>
              <a:ext uri="{FF2B5EF4-FFF2-40B4-BE49-F238E27FC236}">
                <a16:creationId xmlns:a16="http://schemas.microsoft.com/office/drawing/2014/main" id="{0838C5FE-C028-30F9-2D6C-24C010FED4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828800"/>
            <a:ext cx="11430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77" name="Line 22">
            <a:extLst>
              <a:ext uri="{FF2B5EF4-FFF2-40B4-BE49-F238E27FC236}">
                <a16:creationId xmlns:a16="http://schemas.microsoft.com/office/drawing/2014/main" id="{B9B6566B-E554-CE4F-387C-F54BF3721E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0400" y="1828800"/>
            <a:ext cx="1371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78" name="Line 23">
            <a:extLst>
              <a:ext uri="{FF2B5EF4-FFF2-40B4-BE49-F238E27FC236}">
                <a16:creationId xmlns:a16="http://schemas.microsoft.com/office/drawing/2014/main" id="{71F841FA-0B6E-381D-9FFA-1AA2221179E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9624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79" name="Line 24">
            <a:extLst>
              <a:ext uri="{FF2B5EF4-FFF2-40B4-BE49-F238E27FC236}">
                <a16:creationId xmlns:a16="http://schemas.microsoft.com/office/drawing/2014/main" id="{36C4EC6E-69F6-DE3A-91E1-5A31A37BE2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3962400"/>
            <a:ext cx="533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80" name="Line 25">
            <a:extLst>
              <a:ext uri="{FF2B5EF4-FFF2-40B4-BE49-F238E27FC236}">
                <a16:creationId xmlns:a16="http://schemas.microsoft.com/office/drawing/2014/main" id="{6BC0EDDB-345F-3F78-58AE-416F0C4056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39624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81" name="Line 26">
            <a:extLst>
              <a:ext uri="{FF2B5EF4-FFF2-40B4-BE49-F238E27FC236}">
                <a16:creationId xmlns:a16="http://schemas.microsoft.com/office/drawing/2014/main" id="{D1862688-D700-5A03-C469-27CB00B846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3962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82" name="Line 28">
            <a:extLst>
              <a:ext uri="{FF2B5EF4-FFF2-40B4-BE49-F238E27FC236}">
                <a16:creationId xmlns:a16="http://schemas.microsoft.com/office/drawing/2014/main" id="{1B23F884-098B-F48D-4A02-47AE3E68C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962400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82" name="Group 102">
            <a:extLst>
              <a:ext uri="{FF2B5EF4-FFF2-40B4-BE49-F238E27FC236}">
                <a16:creationId xmlns:a16="http://schemas.microsoft.com/office/drawing/2014/main" id="{A18324E3-BB85-D96A-66E4-A3CBE0952CDF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52400"/>
          <a:ext cx="8839200" cy="5851525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Type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bytes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range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-128 to 127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unsigned char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to 255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signed char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-128 to 127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-32768 to 32767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unsigned int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to 65535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singed int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-32768 to 32767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short int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-32768 to 32767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unsigned short int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to 65535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signed short int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-32768 to 32767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long int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-2147483648 to 2147483647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signed long int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-2147483648 to 2147483647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unsigned long int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to 4294967295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float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3.4E-38 to 3.4E+38 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double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1.7E-308 to 1.7E+308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long double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3.4E-4932 to 3.4E+4932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0552" name="Rectangle 103">
            <a:extLst>
              <a:ext uri="{FF2B5EF4-FFF2-40B4-BE49-F238E27FC236}">
                <a16:creationId xmlns:a16="http://schemas.microsoft.com/office/drawing/2014/main" id="{B4F4310D-FEDC-D860-63B9-88F551D96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0"/>
            <a:ext cx="8839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void has introduced in ANSI C 1. return type of function and empty arg list to a function </a:t>
            </a:r>
          </a:p>
          <a:p>
            <a:r>
              <a:rPr lang="en-US" altLang="en-US"/>
              <a:t>			      2. generic pointer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</TotalTime>
  <Words>1870</Words>
  <Application>Microsoft Office PowerPoint</Application>
  <PresentationFormat>On-screen Show (4:3)</PresentationFormat>
  <Paragraphs>299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Default Design</vt:lpstr>
      <vt:lpstr>History of C++</vt:lpstr>
      <vt:lpstr>Why C++ rather than C</vt:lpstr>
      <vt:lpstr>C++ Program Phases</vt:lpstr>
      <vt:lpstr>Simple example</vt:lpstr>
      <vt:lpstr>Program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Structure of C++ 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saila</dc:creator>
  <cp:lastModifiedBy>S Bhavani</cp:lastModifiedBy>
  <cp:revision>210</cp:revision>
  <cp:lastPrinted>1601-01-01T00:00:00Z</cp:lastPrinted>
  <dcterms:created xsi:type="dcterms:W3CDTF">1601-01-01T00:00:00Z</dcterms:created>
  <dcterms:modified xsi:type="dcterms:W3CDTF">2026-04-07T06:22:50Z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