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sldIdLst>
    <p:sldId id="273" r:id="rId2"/>
    <p:sldId id="317" r:id="rId3"/>
    <p:sldId id="274" r:id="rId4"/>
    <p:sldId id="275" r:id="rId5"/>
    <p:sldId id="276" r:id="rId6"/>
    <p:sldId id="277" r:id="rId7"/>
    <p:sldId id="278" r:id="rId8"/>
    <p:sldId id="279" r:id="rId9"/>
    <p:sldId id="314" r:id="rId10"/>
    <p:sldId id="280" r:id="rId11"/>
    <p:sldId id="281" r:id="rId12"/>
    <p:sldId id="282" r:id="rId13"/>
    <p:sldId id="283" r:id="rId14"/>
    <p:sldId id="284" r:id="rId15"/>
    <p:sldId id="315" r:id="rId16"/>
    <p:sldId id="285" r:id="rId17"/>
    <p:sldId id="286" r:id="rId18"/>
    <p:sldId id="316" r:id="rId19"/>
    <p:sldId id="287" r:id="rId20"/>
    <p:sldId id="288" r:id="rId21"/>
    <p:sldId id="289" r:id="rId22"/>
    <p:sldId id="290" r:id="rId23"/>
    <p:sldId id="291" r:id="rId24"/>
    <p:sldId id="292" r:id="rId25"/>
    <p:sldId id="293" r:id="rId26"/>
    <p:sldId id="294" r:id="rId27"/>
    <p:sldId id="295" r:id="rId28"/>
    <p:sldId id="296" r:id="rId29"/>
    <p:sldId id="297" r:id="rId30"/>
    <p:sldId id="298" r:id="rId31"/>
    <p:sldId id="299" r:id="rId32"/>
    <p:sldId id="300" r:id="rId33"/>
    <p:sldId id="301" r:id="rId34"/>
    <p:sldId id="302" r:id="rId35"/>
    <p:sldId id="303" r:id="rId36"/>
    <p:sldId id="304" r:id="rId37"/>
    <p:sldId id="305" r:id="rId38"/>
    <p:sldId id="306" r:id="rId39"/>
    <p:sldId id="307" r:id="rId40"/>
    <p:sldId id="308" r:id="rId41"/>
    <p:sldId id="309" r:id="rId42"/>
    <p:sldId id="310" r:id="rId43"/>
    <p:sldId id="311" r:id="rId44"/>
    <p:sldId id="312" r:id="rId45"/>
    <p:sldId id="313" r:id="rId46"/>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CC"/>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9" autoAdjust="0"/>
    <p:restoredTop sz="94069" autoAdjust="0"/>
  </p:normalViewPr>
  <p:slideViewPr>
    <p:cSldViewPr>
      <p:cViewPr varScale="1">
        <p:scale>
          <a:sx n="76" d="100"/>
          <a:sy n="76" d="100"/>
        </p:scale>
        <p:origin x="1642"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763470D-9188-A1DE-7CD3-A2C06F8764DC}"/>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0" hangingPunct="0">
              <a:defRPr sz="1200">
                <a:latin typeface="Arial" charset="0"/>
                <a:cs typeface="+mn-cs"/>
              </a:defRPr>
            </a:lvl1pPr>
          </a:lstStyle>
          <a:p>
            <a:pPr>
              <a:defRPr/>
            </a:pPr>
            <a:endParaRPr lang="en-US"/>
          </a:p>
        </p:txBody>
      </p:sp>
      <p:sp>
        <p:nvSpPr>
          <p:cNvPr id="3" name="Date Placeholder 2">
            <a:extLst>
              <a:ext uri="{FF2B5EF4-FFF2-40B4-BE49-F238E27FC236}">
                <a16:creationId xmlns:a16="http://schemas.microsoft.com/office/drawing/2014/main" id="{7C106CBD-864F-F2F2-F486-68BDA338B2CD}"/>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0" hangingPunct="0">
              <a:defRPr sz="1200">
                <a:latin typeface="Arial" charset="0"/>
                <a:cs typeface="+mn-cs"/>
              </a:defRPr>
            </a:lvl1pPr>
          </a:lstStyle>
          <a:p>
            <a:pPr>
              <a:defRPr/>
            </a:pPr>
            <a:fld id="{1D736F73-E8DC-420D-B81A-AD3BD2863265}" type="datetimeFigureOut">
              <a:rPr lang="en-US"/>
              <a:pPr>
                <a:defRPr/>
              </a:pPr>
              <a:t>4/7/2026</a:t>
            </a:fld>
            <a:endParaRPr lang="en-US"/>
          </a:p>
        </p:txBody>
      </p:sp>
      <p:sp>
        <p:nvSpPr>
          <p:cNvPr id="4" name="Slide Image Placeholder 3">
            <a:extLst>
              <a:ext uri="{FF2B5EF4-FFF2-40B4-BE49-F238E27FC236}">
                <a16:creationId xmlns:a16="http://schemas.microsoft.com/office/drawing/2014/main" id="{F455C205-CBE2-8588-4B68-AD4277EDF9B6}"/>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ACDBD542-F463-F568-BBB6-A1CFA47F57D5}"/>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CCA8BAC2-FC41-92D1-B163-6FF33742A878}"/>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0" hangingPunct="0">
              <a:defRPr sz="1200">
                <a:latin typeface="Arial" charset="0"/>
                <a:cs typeface="+mn-cs"/>
              </a:defRPr>
            </a:lvl1pPr>
          </a:lstStyle>
          <a:p>
            <a:pPr>
              <a:defRPr/>
            </a:pPr>
            <a:endParaRPr lang="en-US"/>
          </a:p>
        </p:txBody>
      </p:sp>
      <p:sp>
        <p:nvSpPr>
          <p:cNvPr id="7" name="Slide Number Placeholder 6">
            <a:extLst>
              <a:ext uri="{FF2B5EF4-FFF2-40B4-BE49-F238E27FC236}">
                <a16:creationId xmlns:a16="http://schemas.microsoft.com/office/drawing/2014/main" id="{9A3AEE32-1599-EE2F-8F91-9DE0D9ADF198}"/>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0" hangingPunct="0">
              <a:defRPr sz="1200"/>
            </a:lvl1pPr>
          </a:lstStyle>
          <a:p>
            <a:fld id="{60D13D4B-6F7B-48CA-B5BC-569700BA59F8}"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1AD418BA-068D-C3CA-B1EE-23E4C328AFD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E02917B1-EBC8-A914-CBF9-820615EC156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D13FACF6-E87A-EC77-4383-D4B87E8C72E4}"/>
              </a:ext>
            </a:extLst>
          </p:cNvPr>
          <p:cNvSpPr>
            <a:spLocks noGrp="1" noChangeArrowheads="1"/>
          </p:cNvSpPr>
          <p:nvPr>
            <p:ph type="sldNum" sz="quarter" idx="12"/>
          </p:nvPr>
        </p:nvSpPr>
        <p:spPr>
          <a:ln/>
        </p:spPr>
        <p:txBody>
          <a:bodyPr/>
          <a:lstStyle>
            <a:lvl1pPr>
              <a:defRPr/>
            </a:lvl1pPr>
          </a:lstStyle>
          <a:p>
            <a:fld id="{572C845A-F655-4EF3-8AE8-E113E9ED60CA}" type="slidenum">
              <a:rPr lang="en-US" altLang="en-US"/>
              <a:pPr/>
              <a:t>‹#›</a:t>
            </a:fld>
            <a:endParaRPr lang="en-US" altLang="en-US"/>
          </a:p>
        </p:txBody>
      </p:sp>
    </p:spTree>
    <p:extLst>
      <p:ext uri="{BB962C8B-B14F-4D97-AF65-F5344CB8AC3E}">
        <p14:creationId xmlns:p14="http://schemas.microsoft.com/office/powerpoint/2010/main" val="11914657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FE4421B5-E488-C7E9-4E6B-34CAC9901032}"/>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51FB8943-CED9-8D21-CE8D-AAC5B97F9BD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626BABF0-AE2E-0A76-8C96-609C9420BF9E}"/>
              </a:ext>
            </a:extLst>
          </p:cNvPr>
          <p:cNvSpPr>
            <a:spLocks noGrp="1" noChangeArrowheads="1"/>
          </p:cNvSpPr>
          <p:nvPr>
            <p:ph type="sldNum" sz="quarter" idx="12"/>
          </p:nvPr>
        </p:nvSpPr>
        <p:spPr>
          <a:ln/>
        </p:spPr>
        <p:txBody>
          <a:bodyPr/>
          <a:lstStyle>
            <a:lvl1pPr>
              <a:defRPr/>
            </a:lvl1pPr>
          </a:lstStyle>
          <a:p>
            <a:fld id="{6B545624-D291-4ED8-952A-88ADBDFDC50A}" type="slidenum">
              <a:rPr lang="en-US" altLang="en-US"/>
              <a:pPr/>
              <a:t>‹#›</a:t>
            </a:fld>
            <a:endParaRPr lang="en-US" altLang="en-US"/>
          </a:p>
        </p:txBody>
      </p:sp>
    </p:spTree>
    <p:extLst>
      <p:ext uri="{BB962C8B-B14F-4D97-AF65-F5344CB8AC3E}">
        <p14:creationId xmlns:p14="http://schemas.microsoft.com/office/powerpoint/2010/main" val="8281057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7CF22CBF-30AD-ED1F-C26F-A6E720A7BEFB}"/>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714D05E9-FEC2-598C-0392-23AACB1852E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BB06981C-75A7-92D2-9947-E57D6B24B2B0}"/>
              </a:ext>
            </a:extLst>
          </p:cNvPr>
          <p:cNvSpPr>
            <a:spLocks noGrp="1" noChangeArrowheads="1"/>
          </p:cNvSpPr>
          <p:nvPr>
            <p:ph type="sldNum" sz="quarter" idx="12"/>
          </p:nvPr>
        </p:nvSpPr>
        <p:spPr>
          <a:ln/>
        </p:spPr>
        <p:txBody>
          <a:bodyPr/>
          <a:lstStyle>
            <a:lvl1pPr>
              <a:defRPr/>
            </a:lvl1pPr>
          </a:lstStyle>
          <a:p>
            <a:fld id="{40723EBF-6030-48BA-8E18-60E814C56BF6}" type="slidenum">
              <a:rPr lang="en-US" altLang="en-US"/>
              <a:pPr/>
              <a:t>‹#›</a:t>
            </a:fld>
            <a:endParaRPr lang="en-US" altLang="en-US"/>
          </a:p>
        </p:txBody>
      </p:sp>
    </p:spTree>
    <p:extLst>
      <p:ext uri="{BB962C8B-B14F-4D97-AF65-F5344CB8AC3E}">
        <p14:creationId xmlns:p14="http://schemas.microsoft.com/office/powerpoint/2010/main" val="30450079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142FB12E-A59B-B05B-B4D3-C080F5956A5C}"/>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A223E886-AF4E-F9A9-7C83-4C55DD58F85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FB0174D0-4555-39C8-DBF4-C08E98F3D9D1}"/>
              </a:ext>
            </a:extLst>
          </p:cNvPr>
          <p:cNvSpPr>
            <a:spLocks noGrp="1" noChangeArrowheads="1"/>
          </p:cNvSpPr>
          <p:nvPr>
            <p:ph type="sldNum" sz="quarter" idx="12"/>
          </p:nvPr>
        </p:nvSpPr>
        <p:spPr>
          <a:ln/>
        </p:spPr>
        <p:txBody>
          <a:bodyPr/>
          <a:lstStyle>
            <a:lvl1pPr>
              <a:defRPr/>
            </a:lvl1pPr>
          </a:lstStyle>
          <a:p>
            <a:fld id="{FAF80E68-A2F1-4744-8441-FC6136614568}" type="slidenum">
              <a:rPr lang="en-US" altLang="en-US"/>
              <a:pPr/>
              <a:t>‹#›</a:t>
            </a:fld>
            <a:endParaRPr lang="en-US" altLang="en-US"/>
          </a:p>
        </p:txBody>
      </p:sp>
    </p:spTree>
    <p:extLst>
      <p:ext uri="{BB962C8B-B14F-4D97-AF65-F5344CB8AC3E}">
        <p14:creationId xmlns:p14="http://schemas.microsoft.com/office/powerpoint/2010/main" val="9390041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5719DF03-E2BB-ECDB-9753-ACF8CFB45050}"/>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3EC758C3-58AE-3B84-63B4-C31CA2B5AE1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3769C86B-707F-7AB2-2F90-3EC88972719F}"/>
              </a:ext>
            </a:extLst>
          </p:cNvPr>
          <p:cNvSpPr>
            <a:spLocks noGrp="1" noChangeArrowheads="1"/>
          </p:cNvSpPr>
          <p:nvPr>
            <p:ph type="sldNum" sz="quarter" idx="12"/>
          </p:nvPr>
        </p:nvSpPr>
        <p:spPr>
          <a:ln/>
        </p:spPr>
        <p:txBody>
          <a:bodyPr/>
          <a:lstStyle>
            <a:lvl1pPr>
              <a:defRPr/>
            </a:lvl1pPr>
          </a:lstStyle>
          <a:p>
            <a:fld id="{420B31FA-2135-4083-A640-5C59DBF441A7}" type="slidenum">
              <a:rPr lang="en-US" altLang="en-US"/>
              <a:pPr/>
              <a:t>‹#›</a:t>
            </a:fld>
            <a:endParaRPr lang="en-US" altLang="en-US"/>
          </a:p>
        </p:txBody>
      </p:sp>
    </p:spTree>
    <p:extLst>
      <p:ext uri="{BB962C8B-B14F-4D97-AF65-F5344CB8AC3E}">
        <p14:creationId xmlns:p14="http://schemas.microsoft.com/office/powerpoint/2010/main" val="16713909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6A384874-C3FB-4B68-30B0-1D57572E2733}"/>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067F6740-BED5-5D8D-A0D1-A957C1C56D0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6FDA3489-EE1D-9E2E-6B90-21EAB7E38368}"/>
              </a:ext>
            </a:extLst>
          </p:cNvPr>
          <p:cNvSpPr>
            <a:spLocks noGrp="1" noChangeArrowheads="1"/>
          </p:cNvSpPr>
          <p:nvPr>
            <p:ph type="sldNum" sz="quarter" idx="12"/>
          </p:nvPr>
        </p:nvSpPr>
        <p:spPr>
          <a:ln/>
        </p:spPr>
        <p:txBody>
          <a:bodyPr/>
          <a:lstStyle>
            <a:lvl1pPr>
              <a:defRPr/>
            </a:lvl1pPr>
          </a:lstStyle>
          <a:p>
            <a:fld id="{91470641-6E2D-4941-BE3B-43368562144D}" type="slidenum">
              <a:rPr lang="en-US" altLang="en-US"/>
              <a:pPr/>
              <a:t>‹#›</a:t>
            </a:fld>
            <a:endParaRPr lang="en-US" altLang="en-US"/>
          </a:p>
        </p:txBody>
      </p:sp>
    </p:spTree>
    <p:extLst>
      <p:ext uri="{BB962C8B-B14F-4D97-AF65-F5344CB8AC3E}">
        <p14:creationId xmlns:p14="http://schemas.microsoft.com/office/powerpoint/2010/main" val="10714242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0786CEC3-5368-885F-AF20-A64005BC2185}"/>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B5C2CC23-2622-E743-9911-41EAE86183D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0808772D-7158-3A39-71FE-250B5149FBD7}"/>
              </a:ext>
            </a:extLst>
          </p:cNvPr>
          <p:cNvSpPr>
            <a:spLocks noGrp="1" noChangeArrowheads="1"/>
          </p:cNvSpPr>
          <p:nvPr>
            <p:ph type="sldNum" sz="quarter" idx="12"/>
          </p:nvPr>
        </p:nvSpPr>
        <p:spPr>
          <a:ln/>
        </p:spPr>
        <p:txBody>
          <a:bodyPr/>
          <a:lstStyle>
            <a:lvl1pPr>
              <a:defRPr/>
            </a:lvl1pPr>
          </a:lstStyle>
          <a:p>
            <a:fld id="{22EE0E1C-CD9A-4DC2-9A15-4F53285E3A9F}" type="slidenum">
              <a:rPr lang="en-US" altLang="en-US"/>
              <a:pPr/>
              <a:t>‹#›</a:t>
            </a:fld>
            <a:endParaRPr lang="en-US" altLang="en-US"/>
          </a:p>
        </p:txBody>
      </p:sp>
    </p:spTree>
    <p:extLst>
      <p:ext uri="{BB962C8B-B14F-4D97-AF65-F5344CB8AC3E}">
        <p14:creationId xmlns:p14="http://schemas.microsoft.com/office/powerpoint/2010/main" val="22744152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AE2C5C95-14F0-E2CC-50C4-83E9FF378747}"/>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32984F23-88F4-77B8-B11C-EB24F33907B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2F86BA06-BE1F-3D8F-2FE0-ECDCDF34693D}"/>
              </a:ext>
            </a:extLst>
          </p:cNvPr>
          <p:cNvSpPr>
            <a:spLocks noGrp="1" noChangeArrowheads="1"/>
          </p:cNvSpPr>
          <p:nvPr>
            <p:ph type="sldNum" sz="quarter" idx="12"/>
          </p:nvPr>
        </p:nvSpPr>
        <p:spPr>
          <a:ln/>
        </p:spPr>
        <p:txBody>
          <a:bodyPr/>
          <a:lstStyle>
            <a:lvl1pPr>
              <a:defRPr/>
            </a:lvl1pPr>
          </a:lstStyle>
          <a:p>
            <a:fld id="{EA8E6866-E6BA-4B85-8B3D-28505A1A4B5F}" type="slidenum">
              <a:rPr lang="en-US" altLang="en-US"/>
              <a:pPr/>
              <a:t>‹#›</a:t>
            </a:fld>
            <a:endParaRPr lang="en-US" altLang="en-US"/>
          </a:p>
        </p:txBody>
      </p:sp>
    </p:spTree>
    <p:extLst>
      <p:ext uri="{BB962C8B-B14F-4D97-AF65-F5344CB8AC3E}">
        <p14:creationId xmlns:p14="http://schemas.microsoft.com/office/powerpoint/2010/main" val="40320538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77D4EFCF-A5BE-B84A-01A1-8AA73BB12193}"/>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E70B3BA6-CEA6-8ECC-6EF5-45990363DB5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E4FC0DA4-E1A9-08B0-9300-368BED909223}"/>
              </a:ext>
            </a:extLst>
          </p:cNvPr>
          <p:cNvSpPr>
            <a:spLocks noGrp="1" noChangeArrowheads="1"/>
          </p:cNvSpPr>
          <p:nvPr>
            <p:ph type="sldNum" sz="quarter" idx="12"/>
          </p:nvPr>
        </p:nvSpPr>
        <p:spPr>
          <a:ln/>
        </p:spPr>
        <p:txBody>
          <a:bodyPr/>
          <a:lstStyle>
            <a:lvl1pPr>
              <a:defRPr/>
            </a:lvl1pPr>
          </a:lstStyle>
          <a:p>
            <a:fld id="{4F80C220-02A0-4C54-A107-A69E084FAE66}" type="slidenum">
              <a:rPr lang="en-US" altLang="en-US"/>
              <a:pPr/>
              <a:t>‹#›</a:t>
            </a:fld>
            <a:endParaRPr lang="en-US" altLang="en-US"/>
          </a:p>
        </p:txBody>
      </p:sp>
    </p:spTree>
    <p:extLst>
      <p:ext uri="{BB962C8B-B14F-4D97-AF65-F5344CB8AC3E}">
        <p14:creationId xmlns:p14="http://schemas.microsoft.com/office/powerpoint/2010/main" val="36471057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73055D73-B42D-E58F-CC00-5477E48D3115}"/>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6E233055-9131-28D8-D534-C618D13F62A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934479D9-C2FE-12A6-B63F-6D17F9F9EA4E}"/>
              </a:ext>
            </a:extLst>
          </p:cNvPr>
          <p:cNvSpPr>
            <a:spLocks noGrp="1" noChangeArrowheads="1"/>
          </p:cNvSpPr>
          <p:nvPr>
            <p:ph type="sldNum" sz="quarter" idx="12"/>
          </p:nvPr>
        </p:nvSpPr>
        <p:spPr>
          <a:ln/>
        </p:spPr>
        <p:txBody>
          <a:bodyPr/>
          <a:lstStyle>
            <a:lvl1pPr>
              <a:defRPr/>
            </a:lvl1pPr>
          </a:lstStyle>
          <a:p>
            <a:fld id="{F019871C-40A9-420E-BC47-F15D2FF12049}" type="slidenum">
              <a:rPr lang="en-US" altLang="en-US"/>
              <a:pPr/>
              <a:t>‹#›</a:t>
            </a:fld>
            <a:endParaRPr lang="en-US" altLang="en-US"/>
          </a:p>
        </p:txBody>
      </p:sp>
    </p:spTree>
    <p:extLst>
      <p:ext uri="{BB962C8B-B14F-4D97-AF65-F5344CB8AC3E}">
        <p14:creationId xmlns:p14="http://schemas.microsoft.com/office/powerpoint/2010/main" val="9931873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1D046B91-D809-E2C3-97E7-7018478026C4}"/>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2ADB546F-6E9F-E121-90E5-D6FBABEE3E2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DCAC1A94-CE78-2F1D-8739-91F87D9F6145}"/>
              </a:ext>
            </a:extLst>
          </p:cNvPr>
          <p:cNvSpPr>
            <a:spLocks noGrp="1" noChangeArrowheads="1"/>
          </p:cNvSpPr>
          <p:nvPr>
            <p:ph type="sldNum" sz="quarter" idx="12"/>
          </p:nvPr>
        </p:nvSpPr>
        <p:spPr>
          <a:ln/>
        </p:spPr>
        <p:txBody>
          <a:bodyPr/>
          <a:lstStyle>
            <a:lvl1pPr>
              <a:defRPr/>
            </a:lvl1pPr>
          </a:lstStyle>
          <a:p>
            <a:fld id="{F5FFBF67-57A2-4595-A0D2-6E32B5FEE9B2}" type="slidenum">
              <a:rPr lang="en-US" altLang="en-US"/>
              <a:pPr/>
              <a:t>‹#›</a:t>
            </a:fld>
            <a:endParaRPr lang="en-US" altLang="en-US"/>
          </a:p>
        </p:txBody>
      </p:sp>
    </p:spTree>
    <p:extLst>
      <p:ext uri="{BB962C8B-B14F-4D97-AF65-F5344CB8AC3E}">
        <p14:creationId xmlns:p14="http://schemas.microsoft.com/office/powerpoint/2010/main" val="3960146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6576073F-58CE-606A-0628-073DF70A90E7}"/>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D2677C53-81BC-A27C-435E-5A01EC36B686}"/>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C4AF23E0-161B-26CA-0C45-28FD83E7E2FC}"/>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cs typeface="+mn-cs"/>
              </a:defRPr>
            </a:lvl1pPr>
          </a:lstStyle>
          <a:p>
            <a:pPr>
              <a:defRPr/>
            </a:pPr>
            <a:endParaRPr lang="en-US"/>
          </a:p>
        </p:txBody>
      </p:sp>
      <p:sp>
        <p:nvSpPr>
          <p:cNvPr id="1029" name="Rectangle 5">
            <a:extLst>
              <a:ext uri="{FF2B5EF4-FFF2-40B4-BE49-F238E27FC236}">
                <a16:creationId xmlns:a16="http://schemas.microsoft.com/office/drawing/2014/main" id="{154F3803-601A-1767-D2B5-9AF7409DD27C}"/>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cs typeface="+mn-cs"/>
              </a:defRPr>
            </a:lvl1pPr>
          </a:lstStyle>
          <a:p>
            <a:pPr>
              <a:defRPr/>
            </a:pPr>
            <a:endParaRPr lang="en-US"/>
          </a:p>
        </p:txBody>
      </p:sp>
      <p:sp>
        <p:nvSpPr>
          <p:cNvPr id="1030" name="Rectangle 6">
            <a:extLst>
              <a:ext uri="{FF2B5EF4-FFF2-40B4-BE49-F238E27FC236}">
                <a16:creationId xmlns:a16="http://schemas.microsoft.com/office/drawing/2014/main" id="{9BC373FB-B35B-9016-63CF-5E1CFE0F0506}"/>
              </a:ext>
            </a:extLst>
          </p:cNvPr>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8501F79B-A9BF-4063-A675-804AA32C13E5}"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F153FB84-9D1C-537C-4F92-561D28F41049}"/>
              </a:ext>
            </a:extLst>
          </p:cNvPr>
          <p:cNvSpPr>
            <a:spLocks noGrp="1" noChangeArrowheads="1"/>
          </p:cNvSpPr>
          <p:nvPr>
            <p:ph type="subTitle" idx="1"/>
          </p:nvPr>
        </p:nvSpPr>
        <p:spPr>
          <a:xfrm>
            <a:off x="228600" y="152400"/>
            <a:ext cx="8686800" cy="6477000"/>
          </a:xfrm>
        </p:spPr>
        <p:txBody>
          <a:bodyPr/>
          <a:lstStyle/>
          <a:p>
            <a:pPr eaLnBrk="1" hangingPunct="1">
              <a:lnSpc>
                <a:spcPct val="80000"/>
              </a:lnSpc>
            </a:pPr>
            <a:r>
              <a:rPr lang="en-US" altLang="en-US" sz="3600">
                <a:solidFill>
                  <a:srgbClr val="CC3300"/>
                </a:solidFill>
              </a:rPr>
              <a:t>User defined data types</a:t>
            </a:r>
          </a:p>
          <a:p>
            <a:pPr algn="just" eaLnBrk="1" hangingPunct="1">
              <a:lnSpc>
                <a:spcPct val="80000"/>
              </a:lnSpc>
              <a:buFont typeface="Wingdings" panose="05000000000000000000" pitchFamily="2" charset="2"/>
              <a:buChar char="Ø"/>
            </a:pPr>
            <a:r>
              <a:rPr lang="en-US" altLang="en-US">
                <a:solidFill>
                  <a:srgbClr val="0066CC"/>
                </a:solidFill>
              </a:rPr>
              <a:t>Structures and classes</a:t>
            </a:r>
          </a:p>
          <a:p>
            <a:pPr algn="just" eaLnBrk="1" hangingPunct="1">
              <a:lnSpc>
                <a:spcPct val="80000"/>
              </a:lnSpc>
              <a:buFont typeface="Wingdings" panose="05000000000000000000" pitchFamily="2" charset="2"/>
              <a:buChar char="Ø"/>
            </a:pPr>
            <a:r>
              <a:rPr lang="en-US" altLang="en-US">
                <a:solidFill>
                  <a:srgbClr val="0066CC"/>
                </a:solidFill>
              </a:rPr>
              <a:t>Enumerated data type</a:t>
            </a:r>
          </a:p>
          <a:p>
            <a:pPr lvl="1" algn="just" eaLnBrk="1" hangingPunct="1">
              <a:lnSpc>
                <a:spcPct val="80000"/>
              </a:lnSpc>
              <a:buFont typeface="Wingdings" panose="05000000000000000000" pitchFamily="2" charset="2"/>
              <a:buChar char="Ø"/>
            </a:pPr>
            <a:r>
              <a:rPr lang="en-US" altLang="en-US"/>
              <a:t>It provides a way for attaching names to numbers, thereby increasing comprehensibility of the code.</a:t>
            </a:r>
          </a:p>
          <a:p>
            <a:pPr lvl="1" algn="just" eaLnBrk="1" hangingPunct="1">
              <a:lnSpc>
                <a:spcPct val="80000"/>
              </a:lnSpc>
              <a:buFont typeface="Wingdings" panose="05000000000000000000" pitchFamily="2" charset="2"/>
              <a:buChar char="Ø"/>
            </a:pPr>
            <a:r>
              <a:rPr lang="en-US" altLang="en-US"/>
              <a:t>The enum keyword automatically enumerates a list of words by assigning them values 0,1,2 and so on.</a:t>
            </a:r>
          </a:p>
          <a:p>
            <a:pPr lvl="1" algn="just" eaLnBrk="1" hangingPunct="1">
              <a:lnSpc>
                <a:spcPct val="80000"/>
              </a:lnSpc>
            </a:pPr>
            <a:r>
              <a:rPr lang="en-US" altLang="en-US"/>
              <a:t>   Eg:   enum shape {circle, square, triangle};</a:t>
            </a:r>
          </a:p>
          <a:p>
            <a:pPr lvl="1" algn="just" eaLnBrk="1" hangingPunct="1">
              <a:lnSpc>
                <a:spcPct val="80000"/>
              </a:lnSpc>
              <a:buFont typeface="Wingdings" panose="05000000000000000000" pitchFamily="2" charset="2"/>
              <a:buChar char="Ø"/>
            </a:pPr>
            <a:r>
              <a:rPr lang="en-US" altLang="en-US"/>
              <a:t>In C++ the tag names shape etc become new type names, so that we can declare new variables</a:t>
            </a:r>
          </a:p>
          <a:p>
            <a:pPr lvl="1" algn="just" eaLnBrk="1" hangingPunct="1">
              <a:lnSpc>
                <a:spcPct val="80000"/>
              </a:lnSpc>
              <a:buFont typeface="Wingdings" panose="05000000000000000000" pitchFamily="2" charset="2"/>
              <a:buNone/>
            </a:pPr>
            <a:endParaRPr lang="en-US" altLang="en-US"/>
          </a:p>
          <a:p>
            <a:pPr lvl="1" algn="just" eaLnBrk="1" hangingPunct="1">
              <a:lnSpc>
                <a:spcPct val="80000"/>
              </a:lnSpc>
              <a:buFont typeface="Wingdings" panose="05000000000000000000" pitchFamily="2" charset="2"/>
              <a:buNone/>
            </a:pPr>
            <a:r>
              <a:rPr lang="en-US" altLang="en-US"/>
              <a:t>          shape ellipse;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50B982B7-76DB-373F-4D0D-A880F2A17610}"/>
              </a:ext>
            </a:extLst>
          </p:cNvPr>
          <p:cNvSpPr>
            <a:spLocks noGrp="1" noChangeArrowheads="1"/>
          </p:cNvSpPr>
          <p:nvPr>
            <p:ph type="subTitle" idx="1"/>
          </p:nvPr>
        </p:nvSpPr>
        <p:spPr>
          <a:xfrm>
            <a:off x="228600" y="152400"/>
            <a:ext cx="8686800" cy="6477000"/>
          </a:xfrm>
        </p:spPr>
        <p:txBody>
          <a:bodyPr/>
          <a:lstStyle/>
          <a:p>
            <a:pPr eaLnBrk="1" hangingPunct="1">
              <a:lnSpc>
                <a:spcPct val="80000"/>
              </a:lnSpc>
            </a:pPr>
            <a:r>
              <a:rPr lang="en-US" altLang="en-US" sz="2400">
                <a:solidFill>
                  <a:srgbClr val="CC3300"/>
                </a:solidFill>
              </a:rPr>
              <a:t>User defined data types contd..</a:t>
            </a:r>
          </a:p>
          <a:p>
            <a:pPr lvl="1" algn="just" eaLnBrk="1" hangingPunct="1">
              <a:lnSpc>
                <a:spcPct val="80000"/>
              </a:lnSpc>
              <a:buFont typeface="Wingdings" panose="05000000000000000000" pitchFamily="2" charset="2"/>
              <a:buChar char="Ø"/>
            </a:pPr>
            <a:r>
              <a:rPr lang="en-US" altLang="en-US"/>
              <a:t>C++ does not permit an int value to be automatically converted to an enum value</a:t>
            </a:r>
          </a:p>
          <a:p>
            <a:pPr lvl="1" algn="just" eaLnBrk="1" hangingPunct="1">
              <a:lnSpc>
                <a:spcPct val="80000"/>
              </a:lnSpc>
              <a:buFont typeface="Wingdings" panose="05000000000000000000" pitchFamily="2" charset="2"/>
              <a:buNone/>
            </a:pPr>
            <a:r>
              <a:rPr lang="en-US" altLang="en-US"/>
              <a:t>   shape ellipse = circle;		//allowed</a:t>
            </a:r>
          </a:p>
          <a:p>
            <a:pPr lvl="1" algn="just" eaLnBrk="1" hangingPunct="1">
              <a:lnSpc>
                <a:spcPct val="80000"/>
              </a:lnSpc>
              <a:buFont typeface="Wingdings" panose="05000000000000000000" pitchFamily="2" charset="2"/>
              <a:buNone/>
            </a:pPr>
            <a:r>
              <a:rPr lang="en-US" altLang="en-US"/>
              <a:t>   shape ellipse = 3;	//not allowed in C++</a:t>
            </a:r>
          </a:p>
          <a:p>
            <a:pPr lvl="1" algn="just" eaLnBrk="1" hangingPunct="1">
              <a:lnSpc>
                <a:spcPct val="80000"/>
              </a:lnSpc>
              <a:buFont typeface="Wingdings" panose="05000000000000000000" pitchFamily="2" charset="2"/>
              <a:buNone/>
            </a:pPr>
            <a:r>
              <a:rPr lang="en-US" altLang="en-US"/>
              <a:t>   shape ellipse = (shape)3;	//OK</a:t>
            </a:r>
          </a:p>
          <a:p>
            <a:pPr lvl="1" algn="just" eaLnBrk="1" hangingPunct="1">
              <a:lnSpc>
                <a:spcPct val="80000"/>
              </a:lnSpc>
              <a:buFont typeface="Wingdings" panose="05000000000000000000" pitchFamily="2" charset="2"/>
              <a:buNone/>
            </a:pPr>
            <a:r>
              <a:rPr lang="en-US" altLang="en-US"/>
              <a:t>   int e = square;//valid shape type promoted to int</a:t>
            </a:r>
          </a:p>
          <a:p>
            <a:pPr lvl="1" algn="just" eaLnBrk="1" hangingPunct="1">
              <a:lnSpc>
                <a:spcPct val="80000"/>
              </a:lnSpc>
              <a:buFont typeface="Wingdings" panose="05000000000000000000" pitchFamily="2" charset="2"/>
              <a:buNone/>
            </a:pPr>
            <a:r>
              <a:rPr lang="en-US" altLang="en-US"/>
              <a:t>   enum color {red,blue=4,green=8};</a:t>
            </a:r>
          </a:p>
          <a:p>
            <a:pPr lvl="1" algn="just" eaLnBrk="1" hangingPunct="1">
              <a:lnSpc>
                <a:spcPct val="80000"/>
              </a:lnSpc>
              <a:buFont typeface="Wingdings" panose="05000000000000000000" pitchFamily="2" charset="2"/>
              <a:buNone/>
            </a:pPr>
            <a:r>
              <a:rPr lang="en-US" altLang="en-US"/>
              <a:t>   enum color {red=5,blue,green};</a:t>
            </a:r>
          </a:p>
          <a:p>
            <a:pPr lvl="1" algn="just" eaLnBrk="1" hangingPunct="1">
              <a:lnSpc>
                <a:spcPct val="80000"/>
              </a:lnSpc>
              <a:buFont typeface="Wingdings" panose="05000000000000000000" pitchFamily="2" charset="2"/>
              <a:buChar char="Ø"/>
            </a:pPr>
            <a:r>
              <a:rPr lang="en-US" altLang="en-US"/>
              <a:t>C++ also permits the creation of anonymous enums</a:t>
            </a:r>
          </a:p>
          <a:p>
            <a:pPr lvl="1" algn="just" eaLnBrk="1" hangingPunct="1">
              <a:lnSpc>
                <a:spcPct val="80000"/>
              </a:lnSpc>
              <a:buFont typeface="Wingdings" panose="05000000000000000000" pitchFamily="2" charset="2"/>
              <a:buNone/>
            </a:pPr>
            <a:r>
              <a:rPr lang="en-US" altLang="en-US"/>
              <a:t>	Eg:    enum {off,on};</a:t>
            </a:r>
          </a:p>
          <a:p>
            <a:pPr lvl="1" algn="just" eaLnBrk="1" hangingPunct="1">
              <a:lnSpc>
                <a:spcPct val="80000"/>
              </a:lnSpc>
              <a:buFont typeface="Wingdings" panose="05000000000000000000" pitchFamily="2" charset="2"/>
              <a:buChar char="Ø"/>
            </a:pPr>
            <a:r>
              <a:rPr lang="en-US" altLang="en-US"/>
              <a:t>In C++ enum defined with in a class or structure is local to that class or structure only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B052532B-1A75-4F6F-0362-DD27ED3B0749}"/>
              </a:ext>
            </a:extLst>
          </p:cNvPr>
          <p:cNvSpPr>
            <a:spLocks noGrp="1" noChangeArrowheads="1"/>
          </p:cNvSpPr>
          <p:nvPr>
            <p:ph type="subTitle" idx="1"/>
          </p:nvPr>
        </p:nvSpPr>
        <p:spPr>
          <a:xfrm>
            <a:off x="228600" y="152400"/>
            <a:ext cx="8686800" cy="6477000"/>
          </a:xfrm>
        </p:spPr>
        <p:txBody>
          <a:bodyPr/>
          <a:lstStyle/>
          <a:p>
            <a:pPr eaLnBrk="1" hangingPunct="1">
              <a:lnSpc>
                <a:spcPct val="90000"/>
              </a:lnSpc>
            </a:pPr>
            <a:r>
              <a:rPr lang="en-US" altLang="en-US">
                <a:solidFill>
                  <a:srgbClr val="CC3300"/>
                </a:solidFill>
              </a:rPr>
              <a:t>Derived data types</a:t>
            </a:r>
          </a:p>
          <a:p>
            <a:pPr algn="just" eaLnBrk="1" hangingPunct="1">
              <a:lnSpc>
                <a:spcPct val="90000"/>
              </a:lnSpc>
              <a:buFont typeface="Wingdings" panose="05000000000000000000" pitchFamily="2" charset="2"/>
              <a:buChar char="Ø"/>
            </a:pPr>
            <a:r>
              <a:rPr lang="en-US" altLang="en-US" sz="2800">
                <a:solidFill>
                  <a:srgbClr val="0066CC"/>
                </a:solidFill>
              </a:rPr>
              <a:t>Arrays</a:t>
            </a:r>
            <a:endParaRPr lang="en-US" altLang="en-US" sz="2800"/>
          </a:p>
          <a:p>
            <a:pPr algn="just" eaLnBrk="1" hangingPunct="1">
              <a:lnSpc>
                <a:spcPct val="90000"/>
              </a:lnSpc>
              <a:buFont typeface="Wingdings" panose="05000000000000000000" pitchFamily="2" charset="2"/>
              <a:buChar char="Ø"/>
            </a:pPr>
            <a:r>
              <a:rPr lang="en-US" altLang="en-US" sz="2800">
                <a:solidFill>
                  <a:srgbClr val="0066CC"/>
                </a:solidFill>
              </a:rPr>
              <a:t>Functions</a:t>
            </a:r>
          </a:p>
          <a:p>
            <a:pPr algn="just" eaLnBrk="1" hangingPunct="1">
              <a:lnSpc>
                <a:spcPct val="90000"/>
              </a:lnSpc>
              <a:buFont typeface="Wingdings" panose="05000000000000000000" pitchFamily="2" charset="2"/>
              <a:buChar char="Ø"/>
            </a:pPr>
            <a:r>
              <a:rPr lang="en-US" altLang="en-US" sz="2800">
                <a:solidFill>
                  <a:srgbClr val="0066CC"/>
                </a:solidFill>
              </a:rPr>
              <a:t>Pointers</a:t>
            </a:r>
          </a:p>
          <a:p>
            <a:pPr lvl="1" algn="just" eaLnBrk="1" hangingPunct="1">
              <a:lnSpc>
                <a:spcPct val="90000"/>
              </a:lnSpc>
              <a:buFont typeface="Wingdings" panose="05000000000000000000" pitchFamily="2" charset="2"/>
              <a:buChar char="Ø"/>
            </a:pPr>
            <a:r>
              <a:rPr lang="en-US" altLang="en-US" sz="2400"/>
              <a:t>C++ adds the concept of constant pointer and pointer to a constant</a:t>
            </a:r>
          </a:p>
          <a:p>
            <a:pPr lvl="1" algn="just" eaLnBrk="1" hangingPunct="1">
              <a:lnSpc>
                <a:spcPct val="90000"/>
              </a:lnSpc>
              <a:buFont typeface="Wingdings" panose="05000000000000000000" pitchFamily="2" charset="2"/>
              <a:buChar char="Ø"/>
            </a:pPr>
            <a:r>
              <a:rPr lang="en-US" altLang="en-US" sz="2400"/>
              <a:t>Char * const ptr1 = “C++”;	//constant pointer</a:t>
            </a:r>
          </a:p>
          <a:p>
            <a:pPr lvl="1" algn="just" eaLnBrk="1" hangingPunct="1">
              <a:lnSpc>
                <a:spcPct val="90000"/>
              </a:lnSpc>
              <a:buFont typeface="Wingdings" panose="05000000000000000000" pitchFamily="2" charset="2"/>
              <a:buChar char="Ø"/>
            </a:pPr>
            <a:r>
              <a:rPr lang="en-US" altLang="en-US" sz="2400"/>
              <a:t>We cannot modify the address that ptr1 is initialized to</a:t>
            </a:r>
          </a:p>
          <a:p>
            <a:pPr lvl="1" algn="just" eaLnBrk="1" hangingPunct="1">
              <a:lnSpc>
                <a:spcPct val="90000"/>
              </a:lnSpc>
              <a:buFont typeface="Wingdings" panose="05000000000000000000" pitchFamily="2" charset="2"/>
              <a:buChar char="Ø"/>
            </a:pPr>
            <a:r>
              <a:rPr lang="en-US" altLang="en-US" sz="2400"/>
              <a:t>Int const * ptr2 = &amp;m;	//pointer to a constant</a:t>
            </a:r>
          </a:p>
          <a:p>
            <a:pPr lvl="1" algn="just" eaLnBrk="1" hangingPunct="1">
              <a:lnSpc>
                <a:spcPct val="90000"/>
              </a:lnSpc>
              <a:buFont typeface="Wingdings" panose="05000000000000000000" pitchFamily="2" charset="2"/>
              <a:buChar char="Ø"/>
            </a:pPr>
            <a:r>
              <a:rPr lang="en-US" altLang="en-US" sz="2400"/>
              <a:t>It can point to any variable of correct type, but the contents of what it points to cannot be changed</a:t>
            </a:r>
          </a:p>
          <a:p>
            <a:pPr lvl="1" algn="just" eaLnBrk="1" hangingPunct="1">
              <a:lnSpc>
                <a:spcPct val="90000"/>
              </a:lnSpc>
              <a:buFont typeface="Wingdings" panose="05000000000000000000" pitchFamily="2" charset="2"/>
              <a:buChar char="Ø"/>
            </a:pPr>
            <a:r>
              <a:rPr lang="en-US" altLang="en-US" sz="2400"/>
              <a:t>We can also declare both</a:t>
            </a:r>
          </a:p>
          <a:p>
            <a:pPr lvl="1" algn="just" eaLnBrk="1" hangingPunct="1">
              <a:lnSpc>
                <a:spcPct val="90000"/>
              </a:lnSpc>
              <a:buFont typeface="Wingdings" panose="05000000000000000000" pitchFamily="2" charset="2"/>
              <a:buChar char="Ø"/>
            </a:pPr>
            <a:r>
              <a:rPr lang="en-US" altLang="en-US" sz="2400"/>
              <a:t>const char * const cp = “c++”;</a:t>
            </a:r>
          </a:p>
          <a:p>
            <a:pPr lvl="1" algn="just" eaLnBrk="1" hangingPunct="1">
              <a:lnSpc>
                <a:spcPct val="90000"/>
              </a:lnSpc>
              <a:buFont typeface="Wingdings" panose="05000000000000000000" pitchFamily="2" charset="2"/>
              <a:buChar char="Ø"/>
            </a:pPr>
            <a:r>
              <a:rPr lang="en-US" altLang="en-US" sz="2400"/>
              <a:t>cp as constant pointer to the string which has been declared a constant. So neither the address nor the contents can be changed</a:t>
            </a:r>
          </a:p>
          <a:p>
            <a:pPr algn="just" eaLnBrk="1" hangingPunct="1">
              <a:lnSpc>
                <a:spcPct val="90000"/>
              </a:lnSpc>
              <a:buFont typeface="Wingdings" panose="05000000000000000000" pitchFamily="2" charset="2"/>
              <a:buChar char="Ø"/>
            </a:pPr>
            <a:endParaRPr lang="en-US" altLang="en-US" sz="2800">
              <a:solidFill>
                <a:srgbClr val="0066CC"/>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B957D42B-A95E-EE56-75C2-14C0586FBBD3}"/>
              </a:ext>
            </a:extLst>
          </p:cNvPr>
          <p:cNvSpPr>
            <a:spLocks noGrp="1" noChangeArrowheads="1"/>
          </p:cNvSpPr>
          <p:nvPr>
            <p:ph type="subTitle" idx="1"/>
          </p:nvPr>
        </p:nvSpPr>
        <p:spPr>
          <a:xfrm>
            <a:off x="228600" y="152400"/>
            <a:ext cx="8686800" cy="6477000"/>
          </a:xfrm>
        </p:spPr>
        <p:txBody>
          <a:bodyPr/>
          <a:lstStyle/>
          <a:p>
            <a:pPr marL="609600" indent="-609600" eaLnBrk="1" hangingPunct="1">
              <a:lnSpc>
                <a:spcPct val="80000"/>
              </a:lnSpc>
            </a:pPr>
            <a:r>
              <a:rPr lang="en-US" altLang="en-US">
                <a:solidFill>
                  <a:srgbClr val="CC3300"/>
                </a:solidFill>
              </a:rPr>
              <a:t>Symbolic constants</a:t>
            </a:r>
          </a:p>
          <a:p>
            <a:pPr marL="609600" indent="-609600" algn="just" eaLnBrk="1" hangingPunct="1">
              <a:lnSpc>
                <a:spcPct val="80000"/>
              </a:lnSpc>
              <a:buFont typeface="Wingdings" panose="05000000000000000000" pitchFamily="2" charset="2"/>
              <a:buChar char="Ø"/>
            </a:pPr>
            <a:r>
              <a:rPr lang="en-US" altLang="en-US" sz="2400">
                <a:solidFill>
                  <a:srgbClr val="CC3300"/>
                </a:solidFill>
              </a:rPr>
              <a:t> </a:t>
            </a:r>
            <a:r>
              <a:rPr lang="en-US" altLang="en-US" sz="2400"/>
              <a:t>two ways of creating symbolic constants in C++</a:t>
            </a:r>
          </a:p>
          <a:p>
            <a:pPr marL="990600" lvl="1" indent="-533400" algn="l" eaLnBrk="1" hangingPunct="1">
              <a:lnSpc>
                <a:spcPct val="80000"/>
              </a:lnSpc>
              <a:buFont typeface="Wingdings" panose="05000000000000000000" pitchFamily="2" charset="2"/>
              <a:buAutoNum type="arabicPeriod"/>
            </a:pPr>
            <a:r>
              <a:rPr lang="en-US" altLang="en-US" sz="2000"/>
              <a:t>Using the qualifier const</a:t>
            </a:r>
          </a:p>
          <a:p>
            <a:pPr marL="990600" lvl="1" indent="-533400" algn="l" eaLnBrk="1" hangingPunct="1">
              <a:lnSpc>
                <a:spcPct val="80000"/>
              </a:lnSpc>
              <a:buFont typeface="Wingdings" panose="05000000000000000000" pitchFamily="2" charset="2"/>
              <a:buAutoNum type="arabicPeriod"/>
            </a:pPr>
            <a:r>
              <a:rPr lang="en-US" altLang="en-US" sz="2000"/>
              <a:t>Defining a set of integer constants using enum keyword</a:t>
            </a:r>
          </a:p>
          <a:p>
            <a:pPr marL="609600" indent="-609600" algn="l" eaLnBrk="1" hangingPunct="1">
              <a:lnSpc>
                <a:spcPct val="80000"/>
              </a:lnSpc>
              <a:buFont typeface="Wingdings" panose="05000000000000000000" pitchFamily="2" charset="2"/>
              <a:buChar char="Ø"/>
            </a:pPr>
            <a:r>
              <a:rPr lang="en-US" altLang="en-US" sz="2400"/>
              <a:t>In C++ we can use const in a constant expression such as</a:t>
            </a:r>
          </a:p>
          <a:p>
            <a:pPr marL="609600" indent="-609600" algn="l" eaLnBrk="1" hangingPunct="1">
              <a:lnSpc>
                <a:spcPct val="80000"/>
              </a:lnSpc>
              <a:buFont typeface="Wingdings" panose="05000000000000000000" pitchFamily="2" charset="2"/>
              <a:buNone/>
            </a:pPr>
            <a:r>
              <a:rPr lang="en-US" altLang="en-US" sz="2400"/>
              <a:t>                  const int size=10;		</a:t>
            </a:r>
          </a:p>
          <a:p>
            <a:pPr marL="609600" indent="-609600" algn="l" eaLnBrk="1" hangingPunct="1">
              <a:lnSpc>
                <a:spcPct val="80000"/>
              </a:lnSpc>
              <a:buFont typeface="Wingdings" panose="05000000000000000000" pitchFamily="2" charset="2"/>
              <a:buNone/>
            </a:pPr>
            <a:r>
              <a:rPr lang="en-US" altLang="en-US" sz="2400"/>
              <a:t>                  char name [size];		//illegal in C</a:t>
            </a:r>
          </a:p>
          <a:p>
            <a:pPr marL="609600" indent="-609600" algn="l" eaLnBrk="1" hangingPunct="1">
              <a:lnSpc>
                <a:spcPct val="80000"/>
              </a:lnSpc>
              <a:buFont typeface="Wingdings" panose="05000000000000000000" pitchFamily="2" charset="2"/>
              <a:buChar char="Ø"/>
            </a:pPr>
            <a:r>
              <a:rPr lang="en-US" altLang="en-US" sz="2400"/>
              <a:t>If we use const modifier alone, it defaults to int</a:t>
            </a:r>
          </a:p>
          <a:p>
            <a:pPr marL="609600" indent="-609600" algn="l" eaLnBrk="1" hangingPunct="1">
              <a:lnSpc>
                <a:spcPct val="80000"/>
              </a:lnSpc>
              <a:buFont typeface="Wingdings" panose="05000000000000000000" pitchFamily="2" charset="2"/>
              <a:buNone/>
            </a:pPr>
            <a:r>
              <a:rPr lang="en-US" altLang="en-US" sz="2400"/>
              <a:t>		const size=10;</a:t>
            </a:r>
          </a:p>
          <a:p>
            <a:pPr marL="609600" indent="-609600" algn="l" eaLnBrk="1" hangingPunct="1">
              <a:lnSpc>
                <a:spcPct val="80000"/>
              </a:lnSpc>
              <a:buFont typeface="Wingdings" panose="05000000000000000000" pitchFamily="2" charset="2"/>
              <a:buNone/>
            </a:pPr>
            <a:r>
              <a:rPr lang="en-US" altLang="en-US" sz="2400"/>
              <a:t>		const int size = 10;	// both are same</a:t>
            </a:r>
          </a:p>
          <a:p>
            <a:pPr marL="609600" indent="-609600" algn="l" eaLnBrk="1" hangingPunct="1">
              <a:lnSpc>
                <a:spcPct val="80000"/>
              </a:lnSpc>
              <a:buFont typeface="Wingdings" panose="05000000000000000000" pitchFamily="2" charset="2"/>
              <a:buChar char="Ø"/>
            </a:pPr>
            <a:r>
              <a:rPr lang="en-US" altLang="en-US" sz="2400"/>
              <a:t>C++ requires const to be initialized</a:t>
            </a:r>
          </a:p>
          <a:p>
            <a:pPr marL="609600" indent="-609600" algn="just" eaLnBrk="1" hangingPunct="1">
              <a:lnSpc>
                <a:spcPct val="80000"/>
              </a:lnSpc>
              <a:buFont typeface="Wingdings" panose="05000000000000000000" pitchFamily="2" charset="2"/>
              <a:buChar char="Ø"/>
            </a:pPr>
            <a:r>
              <a:rPr lang="en-US" altLang="en-US" sz="2400"/>
              <a:t>A const In C++ defaults to the internal linkage, so it is local to the file where it is declared. To give external linkage to refer from another file, we must explicitly define it as an extern in C++</a:t>
            </a:r>
          </a:p>
          <a:p>
            <a:pPr marL="609600" indent="-609600" algn="l" eaLnBrk="1" hangingPunct="1">
              <a:lnSpc>
                <a:spcPct val="80000"/>
              </a:lnSpc>
              <a:buFont typeface="Wingdings" panose="05000000000000000000" pitchFamily="2" charset="2"/>
              <a:buNone/>
            </a:pPr>
            <a:r>
              <a:rPr lang="en-US" altLang="en-US" sz="2400"/>
              <a:t>			Eg:  extern cosnt total = 100;</a:t>
            </a:r>
          </a:p>
          <a:p>
            <a:pPr marL="609600" indent="-609600" algn="l" eaLnBrk="1" hangingPunct="1">
              <a:lnSpc>
                <a:spcPct val="80000"/>
              </a:lnSpc>
              <a:buFont typeface="Wingdings" panose="05000000000000000000" pitchFamily="2" charset="2"/>
              <a:buChar char="Ø"/>
            </a:pPr>
            <a:r>
              <a:rPr lang="en-US" altLang="en-US" sz="2400"/>
              <a:t>In ANSI C consts are global</a:t>
            </a:r>
          </a:p>
          <a:p>
            <a:pPr marL="990600" lvl="1" indent="-533400" algn="l" eaLnBrk="1" hangingPunct="1">
              <a:lnSpc>
                <a:spcPct val="80000"/>
              </a:lnSpc>
              <a:buFont typeface="Wingdings" panose="05000000000000000000" pitchFamily="2" charset="2"/>
              <a:buNone/>
            </a:pPr>
            <a:endParaRPr lang="en-US" altLang="en-US" sz="2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522DAF3F-9498-902D-1A01-F945CE125972}"/>
              </a:ext>
            </a:extLst>
          </p:cNvPr>
          <p:cNvSpPr>
            <a:spLocks noGrp="1" noChangeArrowheads="1"/>
          </p:cNvSpPr>
          <p:nvPr>
            <p:ph type="ctrTitle"/>
          </p:nvPr>
        </p:nvSpPr>
        <p:spPr>
          <a:xfrm>
            <a:off x="685800" y="152400"/>
            <a:ext cx="7772400" cy="457200"/>
          </a:xfrm>
        </p:spPr>
        <p:txBody>
          <a:bodyPr/>
          <a:lstStyle/>
          <a:p>
            <a:r>
              <a:rPr lang="en-US" altLang="en-US" sz="2800">
                <a:solidFill>
                  <a:schemeClr val="accent2"/>
                </a:solidFill>
              </a:rPr>
              <a:t>Type Compatibility</a:t>
            </a:r>
          </a:p>
        </p:txBody>
      </p:sp>
      <p:sp>
        <p:nvSpPr>
          <p:cNvPr id="6147" name="Rectangle 3">
            <a:extLst>
              <a:ext uri="{FF2B5EF4-FFF2-40B4-BE49-F238E27FC236}">
                <a16:creationId xmlns:a16="http://schemas.microsoft.com/office/drawing/2014/main" id="{B644D82F-522A-0A67-4A3D-D2040A2F9BB4}"/>
              </a:ext>
            </a:extLst>
          </p:cNvPr>
          <p:cNvSpPr>
            <a:spLocks noGrp="1" noChangeArrowheads="1"/>
          </p:cNvSpPr>
          <p:nvPr>
            <p:ph type="subTitle" idx="1"/>
          </p:nvPr>
        </p:nvSpPr>
        <p:spPr>
          <a:xfrm>
            <a:off x="228600" y="609600"/>
            <a:ext cx="8686800" cy="6019800"/>
          </a:xfrm>
        </p:spPr>
        <p:txBody>
          <a:bodyPr/>
          <a:lstStyle/>
          <a:p>
            <a:pPr algn="just">
              <a:lnSpc>
                <a:spcPct val="90000"/>
              </a:lnSpc>
              <a:buFontTx/>
              <a:buChar char="•"/>
            </a:pPr>
            <a:r>
              <a:rPr lang="en-US" altLang="en-US" sz="2800">
                <a:latin typeface="Times New Roman" panose="02020603050405020304" pitchFamily="18" charset="0"/>
              </a:rPr>
              <a:t>C++ is very strict with regard to type compatibility as compared C</a:t>
            </a:r>
          </a:p>
          <a:p>
            <a:pPr algn="just">
              <a:lnSpc>
                <a:spcPct val="90000"/>
              </a:lnSpc>
              <a:buFontTx/>
              <a:buChar char="•"/>
            </a:pPr>
            <a:r>
              <a:rPr lang="en-US" altLang="en-US" sz="2800">
                <a:latin typeface="Times New Roman" panose="02020603050405020304" pitchFamily="18" charset="0"/>
              </a:rPr>
              <a:t>C++ defines int, short int, long int as three different types. They must be cast when assigned one another</a:t>
            </a:r>
          </a:p>
          <a:p>
            <a:pPr algn="just">
              <a:lnSpc>
                <a:spcPct val="90000"/>
              </a:lnSpc>
              <a:buFontTx/>
              <a:buChar char="•"/>
            </a:pPr>
            <a:r>
              <a:rPr lang="en-US" altLang="en-US" sz="2800">
                <a:latin typeface="Times New Roman" panose="02020603050405020304" pitchFamily="18" charset="0"/>
              </a:rPr>
              <a:t>unsigned  char and signed char are two different types, although they occupy one byte</a:t>
            </a:r>
          </a:p>
          <a:p>
            <a:pPr algn="just">
              <a:lnSpc>
                <a:spcPct val="90000"/>
              </a:lnSpc>
              <a:buFontTx/>
              <a:buChar char="•"/>
            </a:pPr>
            <a:r>
              <a:rPr lang="en-US" altLang="en-US" sz="2800">
                <a:latin typeface="Times New Roman" panose="02020603050405020304" pitchFamily="18" charset="0"/>
              </a:rPr>
              <a:t>In C++, the types of values must be the same for complete compatibility or else a cast must be applied</a:t>
            </a:r>
          </a:p>
          <a:p>
            <a:pPr algn="just">
              <a:lnSpc>
                <a:spcPct val="90000"/>
              </a:lnSpc>
              <a:buFontTx/>
              <a:buChar char="•"/>
            </a:pPr>
            <a:r>
              <a:rPr lang="en-US" altLang="en-US" sz="2800">
                <a:latin typeface="Times New Roman" panose="02020603050405020304" pitchFamily="18" charset="0"/>
              </a:rPr>
              <a:t>It is necessary in order to support function overloading</a:t>
            </a:r>
          </a:p>
          <a:p>
            <a:pPr algn="just">
              <a:lnSpc>
                <a:spcPct val="90000"/>
              </a:lnSpc>
              <a:buFontTx/>
              <a:buChar char="•"/>
            </a:pPr>
            <a:r>
              <a:rPr lang="en-US" altLang="en-US" sz="2800">
                <a:latin typeface="Times New Roman" panose="02020603050405020304" pitchFamily="18" charset="0"/>
              </a:rPr>
              <a:t>In char constants are stored as ints</a:t>
            </a:r>
          </a:p>
          <a:p>
            <a:pPr algn="just">
              <a:lnSpc>
                <a:spcPct val="90000"/>
              </a:lnSpc>
            </a:pPr>
            <a:r>
              <a:rPr lang="en-US" altLang="en-US" sz="2800">
                <a:latin typeface="Times New Roman" panose="02020603050405020304" pitchFamily="18" charset="0"/>
              </a:rPr>
              <a:t>		sizeof(‘x’) is equal to sizeof(int)</a:t>
            </a:r>
          </a:p>
          <a:p>
            <a:pPr algn="just">
              <a:lnSpc>
                <a:spcPct val="90000"/>
              </a:lnSpc>
              <a:buFontTx/>
              <a:buChar char="•"/>
            </a:pPr>
            <a:r>
              <a:rPr lang="en-US" altLang="en-US" sz="2800">
                <a:latin typeface="Times New Roman" panose="02020603050405020304" pitchFamily="18" charset="0"/>
              </a:rPr>
              <a:t>In C++, char is not promoted to size of int</a:t>
            </a:r>
          </a:p>
          <a:p>
            <a:pPr algn="just">
              <a:lnSpc>
                <a:spcPct val="90000"/>
              </a:lnSpc>
            </a:pPr>
            <a:r>
              <a:rPr lang="en-US" altLang="en-US" sz="2800">
                <a:latin typeface="Times New Roman" panose="02020603050405020304" pitchFamily="18" charset="0"/>
              </a:rPr>
              <a:t>		sizeof(‘x) is equal to sizeof(char)</a:t>
            </a:r>
          </a:p>
          <a:p>
            <a:pPr algn="just">
              <a:lnSpc>
                <a:spcPct val="90000"/>
              </a:lnSpc>
            </a:pPr>
            <a:endParaRPr lang="en-US" altLang="en-US" sz="2800">
              <a:latin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D2C5B633-26CB-8878-75B7-44CD2AAFFAE8}"/>
              </a:ext>
            </a:extLst>
          </p:cNvPr>
          <p:cNvSpPr>
            <a:spLocks noGrp="1" noChangeArrowheads="1"/>
          </p:cNvSpPr>
          <p:nvPr>
            <p:ph type="ctrTitle"/>
          </p:nvPr>
        </p:nvSpPr>
        <p:spPr>
          <a:xfrm>
            <a:off x="685800" y="152400"/>
            <a:ext cx="7772400" cy="457200"/>
          </a:xfrm>
        </p:spPr>
        <p:txBody>
          <a:bodyPr/>
          <a:lstStyle/>
          <a:p>
            <a:r>
              <a:rPr lang="en-US" altLang="en-US" sz="2800">
                <a:solidFill>
                  <a:schemeClr val="accent2"/>
                </a:solidFill>
              </a:rPr>
              <a:t>Declaration of Variables</a:t>
            </a:r>
          </a:p>
        </p:txBody>
      </p:sp>
      <p:sp>
        <p:nvSpPr>
          <p:cNvPr id="7171" name="Rectangle 3">
            <a:extLst>
              <a:ext uri="{FF2B5EF4-FFF2-40B4-BE49-F238E27FC236}">
                <a16:creationId xmlns:a16="http://schemas.microsoft.com/office/drawing/2014/main" id="{FECEF38C-8F62-E9AC-13A4-8C83421B4C98}"/>
              </a:ext>
            </a:extLst>
          </p:cNvPr>
          <p:cNvSpPr>
            <a:spLocks noGrp="1" noChangeArrowheads="1"/>
          </p:cNvSpPr>
          <p:nvPr>
            <p:ph type="subTitle" idx="1"/>
          </p:nvPr>
        </p:nvSpPr>
        <p:spPr>
          <a:xfrm>
            <a:off x="228600" y="609600"/>
            <a:ext cx="8686800" cy="6019800"/>
          </a:xfrm>
        </p:spPr>
        <p:txBody>
          <a:bodyPr/>
          <a:lstStyle/>
          <a:p>
            <a:pPr algn="just">
              <a:lnSpc>
                <a:spcPct val="90000"/>
              </a:lnSpc>
              <a:buFontTx/>
              <a:buChar char="•"/>
            </a:pPr>
            <a:r>
              <a:rPr lang="en-US" altLang="en-US" sz="2400">
                <a:latin typeface="Times New Roman" panose="02020603050405020304" pitchFamily="18" charset="0"/>
              </a:rPr>
              <a:t>C requires variables to be defined at the beginning of a scope</a:t>
            </a:r>
          </a:p>
          <a:p>
            <a:pPr algn="just">
              <a:lnSpc>
                <a:spcPct val="90000"/>
              </a:lnSpc>
              <a:buFontTx/>
              <a:buChar char="•"/>
            </a:pPr>
            <a:r>
              <a:rPr lang="en-US" altLang="en-US" sz="2400">
                <a:latin typeface="Times New Roman" panose="02020603050405020304" pitchFamily="18" charset="0"/>
              </a:rPr>
              <a:t>C++ allows the declaration of a variable anywhere in the scope</a:t>
            </a:r>
          </a:p>
          <a:p>
            <a:pPr algn="just">
              <a:lnSpc>
                <a:spcPct val="90000"/>
              </a:lnSpc>
              <a:buFontTx/>
              <a:buChar char="•"/>
            </a:pPr>
            <a:r>
              <a:rPr lang="en-US" altLang="en-US" sz="2400">
                <a:latin typeface="Times New Roman" panose="02020603050405020304" pitchFamily="18" charset="0"/>
              </a:rPr>
              <a:t>The variable can be declared right at the place of its first use</a:t>
            </a:r>
          </a:p>
          <a:p>
            <a:pPr algn="just">
              <a:lnSpc>
                <a:spcPct val="90000"/>
              </a:lnSpc>
            </a:pPr>
            <a:r>
              <a:rPr lang="en-US" altLang="en-US" sz="2400">
                <a:latin typeface="Times New Roman" panose="02020603050405020304" pitchFamily="18" charset="0"/>
              </a:rPr>
              <a:t>	int main()</a:t>
            </a:r>
          </a:p>
          <a:p>
            <a:pPr algn="just">
              <a:lnSpc>
                <a:spcPct val="90000"/>
              </a:lnSpc>
            </a:pPr>
            <a:r>
              <a:rPr lang="en-US" altLang="en-US" sz="2400">
                <a:latin typeface="Times New Roman" panose="02020603050405020304" pitchFamily="18" charset="0"/>
              </a:rPr>
              <a:t>	{</a:t>
            </a:r>
          </a:p>
          <a:p>
            <a:pPr algn="just">
              <a:lnSpc>
                <a:spcPct val="90000"/>
              </a:lnSpc>
            </a:pPr>
            <a:r>
              <a:rPr lang="en-US" altLang="en-US" sz="2400">
                <a:latin typeface="Times New Roman" panose="02020603050405020304" pitchFamily="18" charset="0"/>
              </a:rPr>
              <a:t>		int x,	int sum=0;</a:t>
            </a:r>
          </a:p>
          <a:p>
            <a:pPr algn="just">
              <a:lnSpc>
                <a:spcPct val="90000"/>
              </a:lnSpc>
            </a:pPr>
            <a:r>
              <a:rPr lang="en-US" altLang="en-US" sz="2400">
                <a:latin typeface="Times New Roman" panose="02020603050405020304" pitchFamily="18" charset="0"/>
              </a:rPr>
              <a:t>		for (int j=0;j&lt;10;j++)</a:t>
            </a:r>
          </a:p>
          <a:p>
            <a:pPr algn="just">
              <a:lnSpc>
                <a:spcPct val="90000"/>
              </a:lnSpc>
            </a:pPr>
            <a:r>
              <a:rPr lang="en-US" altLang="en-US" sz="2400">
                <a:latin typeface="Times New Roman" panose="02020603050405020304" pitchFamily="18" charset="0"/>
              </a:rPr>
              <a:t>		{</a:t>
            </a:r>
          </a:p>
          <a:p>
            <a:pPr algn="just">
              <a:lnSpc>
                <a:spcPct val="90000"/>
              </a:lnSpc>
            </a:pPr>
            <a:r>
              <a:rPr lang="en-US" altLang="en-US" sz="2400">
                <a:latin typeface="Times New Roman" panose="02020603050405020304" pitchFamily="18" charset="0"/>
              </a:rPr>
              <a:t>			cin &gt;&gt;x;</a:t>
            </a:r>
          </a:p>
          <a:p>
            <a:pPr algn="just">
              <a:lnSpc>
                <a:spcPct val="90000"/>
              </a:lnSpc>
            </a:pPr>
            <a:r>
              <a:rPr lang="en-US" altLang="en-US" sz="2400">
                <a:latin typeface="Times New Roman" panose="02020603050405020304" pitchFamily="18" charset="0"/>
              </a:rPr>
              <a:t>			sum=sum+x;</a:t>
            </a:r>
          </a:p>
          <a:p>
            <a:pPr algn="just">
              <a:lnSpc>
                <a:spcPct val="90000"/>
              </a:lnSpc>
            </a:pPr>
            <a:r>
              <a:rPr lang="en-US" altLang="en-US" sz="2400">
                <a:latin typeface="Times New Roman" panose="02020603050405020304" pitchFamily="18" charset="0"/>
              </a:rPr>
              <a:t>		}</a:t>
            </a:r>
          </a:p>
          <a:p>
            <a:pPr algn="just">
              <a:lnSpc>
                <a:spcPct val="90000"/>
              </a:lnSpc>
            </a:pPr>
            <a:r>
              <a:rPr lang="en-US" altLang="en-US" sz="2400">
                <a:latin typeface="Times New Roman" panose="02020603050405020304" pitchFamily="18" charset="0"/>
              </a:rPr>
              <a:t>		float avg=sum/j;</a:t>
            </a:r>
          </a:p>
          <a:p>
            <a:pPr algn="just">
              <a:lnSpc>
                <a:spcPct val="90000"/>
              </a:lnSpc>
            </a:pPr>
            <a:r>
              <a:rPr lang="en-US" altLang="en-US" sz="2400">
                <a:latin typeface="Times New Roman" panose="02020603050405020304" pitchFamily="18" charset="0"/>
              </a:rPr>
              <a:t>		return 0;</a:t>
            </a:r>
          </a:p>
          <a:p>
            <a:pPr algn="just">
              <a:lnSpc>
                <a:spcPct val="90000"/>
              </a:lnSpc>
            </a:pPr>
            <a:r>
              <a:rPr lang="en-US" altLang="en-US" sz="2400">
                <a:latin typeface="Times New Roman" panose="02020603050405020304" pitchFamily="18" charset="0"/>
              </a:rPr>
              <a: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69E2B912-B2BA-8373-66DD-63DCEA317F6F}"/>
              </a:ext>
            </a:extLst>
          </p:cNvPr>
          <p:cNvSpPr>
            <a:spLocks noGrp="1" noChangeArrowheads="1"/>
          </p:cNvSpPr>
          <p:nvPr>
            <p:ph type="ctrTitle"/>
          </p:nvPr>
        </p:nvSpPr>
        <p:spPr>
          <a:xfrm>
            <a:off x="685800" y="152400"/>
            <a:ext cx="7772400" cy="457200"/>
          </a:xfrm>
        </p:spPr>
        <p:txBody>
          <a:bodyPr/>
          <a:lstStyle/>
          <a:p>
            <a:r>
              <a:rPr lang="en-US" altLang="en-US" sz="2800">
                <a:solidFill>
                  <a:schemeClr val="accent2"/>
                </a:solidFill>
              </a:rPr>
              <a:t>Dynamic initialization of Variables</a:t>
            </a:r>
          </a:p>
        </p:txBody>
      </p:sp>
      <p:sp>
        <p:nvSpPr>
          <p:cNvPr id="8195" name="Rectangle 3">
            <a:extLst>
              <a:ext uri="{FF2B5EF4-FFF2-40B4-BE49-F238E27FC236}">
                <a16:creationId xmlns:a16="http://schemas.microsoft.com/office/drawing/2014/main" id="{70B1CDB1-2571-2FC8-1801-ACCD1F3753C6}"/>
              </a:ext>
            </a:extLst>
          </p:cNvPr>
          <p:cNvSpPr>
            <a:spLocks noGrp="1" noChangeArrowheads="1"/>
          </p:cNvSpPr>
          <p:nvPr>
            <p:ph type="subTitle" idx="1"/>
          </p:nvPr>
        </p:nvSpPr>
        <p:spPr>
          <a:xfrm>
            <a:off x="228600" y="609600"/>
            <a:ext cx="8686800" cy="6019800"/>
          </a:xfrm>
        </p:spPr>
        <p:txBody>
          <a:bodyPr/>
          <a:lstStyle/>
          <a:p>
            <a:pPr algn="just">
              <a:lnSpc>
                <a:spcPct val="80000"/>
              </a:lnSpc>
              <a:buFontTx/>
              <a:buChar char="•"/>
            </a:pPr>
            <a:r>
              <a:rPr lang="en-US" altLang="en-US" sz="2800">
                <a:latin typeface="Times New Roman" panose="02020603050405020304" pitchFamily="18" charset="0"/>
              </a:rPr>
              <a:t>In C variable must be initialized using a constant exp, and the C compiler would fix the initialization code at the time of compilation</a:t>
            </a:r>
          </a:p>
          <a:p>
            <a:pPr algn="just">
              <a:lnSpc>
                <a:spcPct val="80000"/>
              </a:lnSpc>
              <a:buFontTx/>
              <a:buChar char="•"/>
            </a:pPr>
            <a:r>
              <a:rPr lang="en-US" altLang="en-US" sz="2800">
                <a:latin typeface="Times New Roman" panose="02020603050405020304" pitchFamily="18" charset="0"/>
              </a:rPr>
              <a:t>C++ permits initialization of the variables at runtime referred as dynamic initialization</a:t>
            </a:r>
          </a:p>
          <a:p>
            <a:pPr algn="just">
              <a:lnSpc>
                <a:spcPct val="80000"/>
              </a:lnSpc>
              <a:buFontTx/>
              <a:buChar char="•"/>
            </a:pPr>
            <a:r>
              <a:rPr lang="en-US" altLang="en-US" sz="2800">
                <a:latin typeface="Times New Roman" panose="02020603050405020304" pitchFamily="18" charset="0"/>
              </a:rPr>
              <a:t>Eg: </a:t>
            </a:r>
          </a:p>
          <a:p>
            <a:pPr algn="just">
              <a:lnSpc>
                <a:spcPct val="80000"/>
              </a:lnSpc>
            </a:pPr>
            <a:r>
              <a:rPr lang="en-US" altLang="en-US" sz="2800">
                <a:latin typeface="Times New Roman" panose="02020603050405020304" pitchFamily="18" charset="0"/>
              </a:rPr>
              <a:t>	…….</a:t>
            </a:r>
          </a:p>
          <a:p>
            <a:pPr lvl="1" algn="just">
              <a:lnSpc>
                <a:spcPct val="80000"/>
              </a:lnSpc>
            </a:pPr>
            <a:r>
              <a:rPr lang="en-US" altLang="en-US" sz="2400">
                <a:latin typeface="Times New Roman" panose="02020603050405020304" pitchFamily="18" charset="0"/>
              </a:rPr>
              <a:t>    int n = strlen(string);</a:t>
            </a:r>
          </a:p>
          <a:p>
            <a:pPr lvl="1" algn="just">
              <a:lnSpc>
                <a:spcPct val="80000"/>
              </a:lnSpc>
            </a:pPr>
            <a:r>
              <a:rPr lang="en-US" altLang="en-US" sz="2400">
                <a:latin typeface="Times New Roman" panose="02020603050405020304" pitchFamily="18" charset="0"/>
              </a:rPr>
              <a:t>	……..</a:t>
            </a:r>
          </a:p>
          <a:p>
            <a:pPr lvl="1" algn="just">
              <a:lnSpc>
                <a:spcPct val="80000"/>
              </a:lnSpc>
            </a:pPr>
            <a:r>
              <a:rPr lang="en-US" altLang="en-US" sz="2400">
                <a:latin typeface="Times New Roman" panose="02020603050405020304" pitchFamily="18" charset="0"/>
              </a:rPr>
              <a:t>	float area = 3.14 * rad * rad;</a:t>
            </a:r>
          </a:p>
          <a:p>
            <a:pPr algn="just">
              <a:lnSpc>
                <a:spcPct val="80000"/>
              </a:lnSpc>
              <a:buFontTx/>
              <a:buChar char="•"/>
            </a:pPr>
            <a:r>
              <a:rPr lang="en-US" altLang="en-US" sz="2800">
                <a:latin typeface="Times New Roman" panose="02020603050405020304" pitchFamily="18" charset="0"/>
              </a:rPr>
              <a:t>We can create exactly the type of object needed, using information that is known only at the run time</a:t>
            </a:r>
          </a:p>
          <a:p>
            <a:pPr algn="just">
              <a:lnSpc>
                <a:spcPct val="80000"/>
              </a:lnSpc>
            </a:pPr>
            <a:endParaRPr lang="en-US" altLang="en-US" sz="2800">
              <a:latin typeface="Times New Roman" panose="02020603050405020304" pitchFamily="18" charset="0"/>
            </a:endParaRPr>
          </a:p>
          <a:p>
            <a:pPr lvl="1" algn="just">
              <a:lnSpc>
                <a:spcPct val="80000"/>
              </a:lnSpc>
            </a:pPr>
            <a:endParaRPr lang="en-US" altLang="en-US" sz="2400">
              <a:latin typeface="Times New Roman" panose="02020603050405020304" pitchFamily="18" charset="0"/>
            </a:endParaRPr>
          </a:p>
          <a:p>
            <a:pPr lvl="1" algn="just">
              <a:lnSpc>
                <a:spcPct val="80000"/>
              </a:lnSpc>
            </a:pPr>
            <a:r>
              <a:rPr lang="en-US" altLang="en-US" sz="2400">
                <a:latin typeface="Times New Roman" panose="02020603050405020304" pitchFamily="18" charset="0"/>
              </a:rPr>
              <a: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C17B50C0-EE49-F0D5-2ADE-8529E560D53B}"/>
              </a:ext>
            </a:extLst>
          </p:cNvPr>
          <p:cNvSpPr>
            <a:spLocks noGrp="1" noChangeArrowheads="1"/>
          </p:cNvSpPr>
          <p:nvPr>
            <p:ph type="ctrTitle"/>
          </p:nvPr>
        </p:nvSpPr>
        <p:spPr>
          <a:xfrm>
            <a:off x="685800" y="152400"/>
            <a:ext cx="7772400" cy="457200"/>
          </a:xfrm>
        </p:spPr>
        <p:txBody>
          <a:bodyPr/>
          <a:lstStyle/>
          <a:p>
            <a:r>
              <a:rPr lang="en-US" altLang="en-US" sz="2800">
                <a:solidFill>
                  <a:schemeClr val="accent2"/>
                </a:solidFill>
              </a:rPr>
              <a:t>Reference Variables</a:t>
            </a:r>
          </a:p>
        </p:txBody>
      </p:sp>
      <p:sp>
        <p:nvSpPr>
          <p:cNvPr id="9219" name="Rectangle 3">
            <a:extLst>
              <a:ext uri="{FF2B5EF4-FFF2-40B4-BE49-F238E27FC236}">
                <a16:creationId xmlns:a16="http://schemas.microsoft.com/office/drawing/2014/main" id="{9927B77D-A54B-0B15-96E4-03C30F510476}"/>
              </a:ext>
            </a:extLst>
          </p:cNvPr>
          <p:cNvSpPr>
            <a:spLocks noGrp="1" noChangeArrowheads="1"/>
          </p:cNvSpPr>
          <p:nvPr>
            <p:ph type="subTitle" idx="1"/>
          </p:nvPr>
        </p:nvSpPr>
        <p:spPr>
          <a:xfrm>
            <a:off x="228600" y="609600"/>
            <a:ext cx="8686800" cy="6019800"/>
          </a:xfrm>
        </p:spPr>
        <p:txBody>
          <a:bodyPr/>
          <a:lstStyle/>
          <a:p>
            <a:pPr algn="just">
              <a:lnSpc>
                <a:spcPct val="80000"/>
              </a:lnSpc>
              <a:buFontTx/>
              <a:buChar char="•"/>
            </a:pPr>
            <a:r>
              <a:rPr lang="en-US" altLang="en-US">
                <a:latin typeface="Times New Roman" panose="02020603050405020304" pitchFamily="18" charset="0"/>
              </a:rPr>
              <a:t>A reference variable provides an alias (alternative name) for a previously defined variable.</a:t>
            </a:r>
          </a:p>
          <a:p>
            <a:pPr algn="just">
              <a:lnSpc>
                <a:spcPct val="80000"/>
              </a:lnSpc>
            </a:pPr>
            <a:r>
              <a:rPr lang="en-US" altLang="en-US">
                <a:latin typeface="Times New Roman" panose="02020603050405020304" pitchFamily="18" charset="0"/>
              </a:rPr>
              <a:t>Syntax : data-type &amp; reference-name = variable-name</a:t>
            </a:r>
          </a:p>
          <a:p>
            <a:pPr algn="just">
              <a:lnSpc>
                <a:spcPct val="80000"/>
              </a:lnSpc>
            </a:pPr>
            <a:r>
              <a:rPr lang="en-US" altLang="en-US">
                <a:latin typeface="Times New Roman" panose="02020603050405020304" pitchFamily="18" charset="0"/>
              </a:rPr>
              <a:t>Eg: 	float total=100;</a:t>
            </a:r>
          </a:p>
          <a:p>
            <a:pPr algn="just">
              <a:lnSpc>
                <a:spcPct val="80000"/>
              </a:lnSpc>
            </a:pPr>
            <a:r>
              <a:rPr lang="en-US" altLang="en-US">
                <a:latin typeface="Times New Roman" panose="02020603050405020304" pitchFamily="18" charset="0"/>
              </a:rPr>
              <a:t>	float &amp; sum = total;</a:t>
            </a:r>
          </a:p>
          <a:p>
            <a:pPr algn="just">
              <a:lnSpc>
                <a:spcPct val="80000"/>
              </a:lnSpc>
              <a:buFontTx/>
              <a:buChar char="•"/>
            </a:pPr>
            <a:r>
              <a:rPr lang="en-US" altLang="en-US">
                <a:latin typeface="Times New Roman" panose="02020603050405020304" pitchFamily="18" charset="0"/>
              </a:rPr>
              <a:t>The sum and total can be used interchangeably to represent that variable</a:t>
            </a:r>
          </a:p>
          <a:p>
            <a:pPr algn="just">
              <a:lnSpc>
                <a:spcPct val="80000"/>
              </a:lnSpc>
            </a:pPr>
            <a:r>
              <a:rPr lang="en-US" altLang="en-US">
                <a:latin typeface="Times New Roman" panose="02020603050405020304" pitchFamily="18" charset="0"/>
              </a:rPr>
              <a:t>	total = total+100;</a:t>
            </a:r>
          </a:p>
          <a:p>
            <a:pPr algn="just">
              <a:lnSpc>
                <a:spcPct val="80000"/>
              </a:lnSpc>
            </a:pPr>
            <a:r>
              <a:rPr lang="en-US" altLang="en-US">
                <a:latin typeface="Times New Roman" panose="02020603050405020304" pitchFamily="18" charset="0"/>
              </a:rPr>
              <a:t>Will change value of both total and sum to 200</a:t>
            </a:r>
          </a:p>
          <a:p>
            <a:pPr algn="just">
              <a:lnSpc>
                <a:spcPct val="80000"/>
              </a:lnSpc>
            </a:pPr>
            <a:r>
              <a:rPr lang="en-US" altLang="en-US">
                <a:latin typeface="Times New Roman" panose="02020603050405020304" pitchFamily="18" charset="0"/>
              </a:rPr>
              <a:t>**A reference variable must be initialized at the time of declaration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E93F4CFF-8C61-FF19-59B2-A3B17EB7A678}"/>
              </a:ext>
            </a:extLst>
          </p:cNvPr>
          <p:cNvSpPr>
            <a:spLocks noGrp="1" noChangeArrowheads="1"/>
          </p:cNvSpPr>
          <p:nvPr>
            <p:ph type="ctrTitle"/>
          </p:nvPr>
        </p:nvSpPr>
        <p:spPr>
          <a:xfrm>
            <a:off x="685800" y="152400"/>
            <a:ext cx="7772400" cy="457200"/>
          </a:xfrm>
        </p:spPr>
        <p:txBody>
          <a:bodyPr/>
          <a:lstStyle/>
          <a:p>
            <a:r>
              <a:rPr lang="en-US" altLang="en-US" sz="2800">
                <a:solidFill>
                  <a:schemeClr val="accent2"/>
                </a:solidFill>
              </a:rPr>
              <a:t>Reference Variables</a:t>
            </a:r>
          </a:p>
        </p:txBody>
      </p:sp>
      <p:sp>
        <p:nvSpPr>
          <p:cNvPr id="10243" name="Rectangle 3">
            <a:extLst>
              <a:ext uri="{FF2B5EF4-FFF2-40B4-BE49-F238E27FC236}">
                <a16:creationId xmlns:a16="http://schemas.microsoft.com/office/drawing/2014/main" id="{DB7F565C-C881-EA94-851D-9CD918C7D69D}"/>
              </a:ext>
            </a:extLst>
          </p:cNvPr>
          <p:cNvSpPr>
            <a:spLocks noGrp="1" noChangeArrowheads="1"/>
          </p:cNvSpPr>
          <p:nvPr>
            <p:ph type="subTitle" idx="1"/>
          </p:nvPr>
        </p:nvSpPr>
        <p:spPr>
          <a:xfrm>
            <a:off x="228600" y="609600"/>
            <a:ext cx="8686800" cy="6019800"/>
          </a:xfrm>
        </p:spPr>
        <p:txBody>
          <a:bodyPr/>
          <a:lstStyle/>
          <a:p>
            <a:pPr algn="just">
              <a:lnSpc>
                <a:spcPct val="80000"/>
              </a:lnSpc>
              <a:buFontTx/>
              <a:buChar char="•"/>
            </a:pPr>
            <a:r>
              <a:rPr lang="en-US" altLang="en-US" sz="2400">
                <a:latin typeface="Times New Roman" panose="02020603050405020304" pitchFamily="18" charset="0"/>
              </a:rPr>
              <a:t>A major application of reference variables is in passing arguments to functions  i.e., call by reference</a:t>
            </a:r>
          </a:p>
          <a:p>
            <a:pPr algn="just">
              <a:lnSpc>
                <a:spcPct val="80000"/>
              </a:lnSpc>
            </a:pPr>
            <a:r>
              <a:rPr lang="en-US" altLang="en-US" sz="2400">
                <a:latin typeface="Times New Roman" panose="02020603050405020304" pitchFamily="18" charset="0"/>
              </a:rPr>
              <a:t>	void fun(int &amp;a)	//uses reference</a:t>
            </a:r>
          </a:p>
          <a:p>
            <a:pPr algn="just">
              <a:lnSpc>
                <a:spcPct val="80000"/>
              </a:lnSpc>
            </a:pPr>
            <a:r>
              <a:rPr lang="en-US" altLang="en-US" sz="2400">
                <a:latin typeface="Times New Roman" panose="02020603050405020304" pitchFamily="18" charset="0"/>
              </a:rPr>
              <a:t>	{</a:t>
            </a:r>
          </a:p>
          <a:p>
            <a:pPr algn="just">
              <a:lnSpc>
                <a:spcPct val="80000"/>
              </a:lnSpc>
            </a:pPr>
            <a:r>
              <a:rPr lang="en-US" altLang="en-US" sz="2400">
                <a:latin typeface="Times New Roman" panose="02020603050405020304" pitchFamily="18" charset="0"/>
              </a:rPr>
              <a:t>		a=a+100;	// it increments a and m also</a:t>
            </a:r>
          </a:p>
          <a:p>
            <a:pPr algn="just">
              <a:lnSpc>
                <a:spcPct val="80000"/>
              </a:lnSpc>
            </a:pPr>
            <a:r>
              <a:rPr lang="en-US" altLang="en-US" sz="2400">
                <a:latin typeface="Times New Roman" panose="02020603050405020304" pitchFamily="18" charset="0"/>
              </a:rPr>
              <a:t>	}</a:t>
            </a:r>
          </a:p>
          <a:p>
            <a:pPr algn="just">
              <a:lnSpc>
                <a:spcPct val="80000"/>
              </a:lnSpc>
            </a:pPr>
            <a:r>
              <a:rPr lang="en-US" altLang="en-US" sz="2400">
                <a:latin typeface="Times New Roman" panose="02020603050405020304" pitchFamily="18" charset="0"/>
              </a:rPr>
              <a:t>	int main()</a:t>
            </a:r>
          </a:p>
          <a:p>
            <a:pPr algn="just">
              <a:lnSpc>
                <a:spcPct val="80000"/>
              </a:lnSpc>
            </a:pPr>
            <a:r>
              <a:rPr lang="en-US" altLang="en-US" sz="2400">
                <a:latin typeface="Times New Roman" panose="02020603050405020304" pitchFamily="18" charset="0"/>
              </a:rPr>
              <a:t>	{</a:t>
            </a:r>
          </a:p>
          <a:p>
            <a:pPr algn="just">
              <a:lnSpc>
                <a:spcPct val="80000"/>
              </a:lnSpc>
            </a:pPr>
            <a:r>
              <a:rPr lang="en-US" altLang="en-US" sz="2400">
                <a:latin typeface="Times New Roman" panose="02020603050405020304" pitchFamily="18" charset="0"/>
              </a:rPr>
              <a:t>		int m=10;</a:t>
            </a:r>
          </a:p>
          <a:p>
            <a:pPr algn="just">
              <a:lnSpc>
                <a:spcPct val="80000"/>
              </a:lnSpc>
            </a:pPr>
            <a:r>
              <a:rPr lang="en-US" altLang="en-US" sz="2400">
                <a:latin typeface="Times New Roman" panose="02020603050405020304" pitchFamily="18" charset="0"/>
              </a:rPr>
              <a:t>		fun(m);         //function call and a becomes alias for m </a:t>
            </a:r>
          </a:p>
          <a:p>
            <a:pPr algn="just">
              <a:lnSpc>
                <a:spcPct val="80000"/>
              </a:lnSpc>
            </a:pPr>
            <a:r>
              <a:rPr lang="en-US" altLang="en-US" sz="2400">
                <a:latin typeface="Times New Roman" panose="02020603050405020304" pitchFamily="18" charset="0"/>
              </a:rPr>
              <a:t>		…..</a:t>
            </a:r>
          </a:p>
          <a:p>
            <a:pPr algn="just">
              <a:lnSpc>
                <a:spcPct val="80000"/>
              </a:lnSpc>
            </a:pPr>
            <a:r>
              <a:rPr lang="en-US" altLang="en-US" sz="2400">
                <a:latin typeface="Times New Roman" panose="02020603050405020304" pitchFamily="18" charset="0"/>
              </a:rPr>
              <a:t>	}</a:t>
            </a:r>
          </a:p>
          <a:p>
            <a:pPr algn="just">
              <a:lnSpc>
                <a:spcPct val="80000"/>
              </a:lnSpc>
            </a:pPr>
            <a:r>
              <a:rPr lang="en-US" altLang="en-US" sz="2400">
                <a:latin typeface="Times New Roman" panose="02020603050405020304" pitchFamily="18" charset="0"/>
              </a:rPr>
              <a:t>** reference can be created not only for built-in types but also for user-defined data types like classes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AFCF1D5A-7715-A246-DEFC-69B8217AC3FD}"/>
              </a:ext>
            </a:extLst>
          </p:cNvPr>
          <p:cNvSpPr>
            <a:spLocks noGrp="1" noChangeArrowheads="1"/>
          </p:cNvSpPr>
          <p:nvPr>
            <p:ph type="ctrTitle"/>
          </p:nvPr>
        </p:nvSpPr>
        <p:spPr>
          <a:xfrm>
            <a:off x="685800" y="152400"/>
            <a:ext cx="7772400" cy="457200"/>
          </a:xfrm>
        </p:spPr>
        <p:txBody>
          <a:bodyPr/>
          <a:lstStyle/>
          <a:p>
            <a:r>
              <a:rPr lang="en-US" altLang="en-US" sz="2800">
                <a:solidFill>
                  <a:schemeClr val="accent2"/>
                </a:solidFill>
              </a:rPr>
              <a:t>Operators in C++</a:t>
            </a:r>
          </a:p>
        </p:txBody>
      </p:sp>
      <p:sp>
        <p:nvSpPr>
          <p:cNvPr id="11267" name="Rectangle 3">
            <a:extLst>
              <a:ext uri="{FF2B5EF4-FFF2-40B4-BE49-F238E27FC236}">
                <a16:creationId xmlns:a16="http://schemas.microsoft.com/office/drawing/2014/main" id="{F0BE1706-2298-D13B-FFA9-854067BD1127}"/>
              </a:ext>
            </a:extLst>
          </p:cNvPr>
          <p:cNvSpPr>
            <a:spLocks noGrp="1" noChangeArrowheads="1"/>
          </p:cNvSpPr>
          <p:nvPr>
            <p:ph type="subTitle" idx="1"/>
          </p:nvPr>
        </p:nvSpPr>
        <p:spPr>
          <a:xfrm>
            <a:off x="228600" y="609600"/>
            <a:ext cx="8686800" cy="6019800"/>
          </a:xfrm>
        </p:spPr>
        <p:txBody>
          <a:bodyPr/>
          <a:lstStyle/>
          <a:p>
            <a:pPr algn="just">
              <a:buFontTx/>
              <a:buChar char="•"/>
            </a:pPr>
            <a:r>
              <a:rPr lang="en-US" altLang="en-US">
                <a:latin typeface="Times New Roman" panose="02020603050405020304" pitchFamily="18" charset="0"/>
              </a:rPr>
              <a:t>All C operators are valid in C++ also</a:t>
            </a:r>
          </a:p>
          <a:p>
            <a:pPr algn="just">
              <a:buFontTx/>
              <a:buChar char="•"/>
            </a:pPr>
            <a:r>
              <a:rPr lang="en-US" altLang="en-US">
                <a:latin typeface="Times New Roman" panose="02020603050405020304" pitchFamily="18" charset="0"/>
              </a:rPr>
              <a:t>In addition C++ introduces some new operators</a:t>
            </a:r>
          </a:p>
          <a:p>
            <a:pPr lvl="1" algn="just"/>
            <a:r>
              <a:rPr lang="en-US" altLang="en-US">
                <a:latin typeface="Times New Roman" panose="02020603050405020304" pitchFamily="18" charset="0"/>
              </a:rPr>
              <a:t>&lt;&lt;		Insertion operator		</a:t>
            </a:r>
          </a:p>
          <a:p>
            <a:pPr lvl="1" algn="just"/>
            <a:r>
              <a:rPr lang="en-US" altLang="en-US">
                <a:latin typeface="Times New Roman" panose="02020603050405020304" pitchFamily="18" charset="0"/>
              </a:rPr>
              <a:t>&gt;&gt;		extraction operator</a:t>
            </a:r>
          </a:p>
          <a:p>
            <a:pPr lvl="1" algn="just"/>
            <a:r>
              <a:rPr lang="en-US" altLang="en-US">
                <a:latin typeface="Times New Roman" panose="02020603050405020304" pitchFamily="18" charset="0"/>
              </a:rPr>
              <a:t>::		scope resolution operator</a:t>
            </a:r>
          </a:p>
          <a:p>
            <a:pPr lvl="1" algn="just"/>
            <a:r>
              <a:rPr lang="en-US" altLang="en-US">
                <a:latin typeface="Times New Roman" panose="02020603050405020304" pitchFamily="18" charset="0"/>
              </a:rPr>
              <a:t>-&gt;*	pointer-to-member operator</a:t>
            </a:r>
          </a:p>
          <a:p>
            <a:pPr lvl="1" algn="just"/>
            <a:r>
              <a:rPr lang="en-US" altLang="en-US">
                <a:latin typeface="Times New Roman" panose="02020603050405020304" pitchFamily="18" charset="0"/>
              </a:rPr>
              <a:t>.*		pointer-to-member operator</a:t>
            </a:r>
          </a:p>
          <a:p>
            <a:pPr lvl="1" algn="just"/>
            <a:r>
              <a:rPr lang="en-US" altLang="en-US">
                <a:latin typeface="Times New Roman" panose="02020603050405020304" pitchFamily="18" charset="0"/>
              </a:rPr>
              <a:t>delete	memory release operator</a:t>
            </a:r>
          </a:p>
          <a:p>
            <a:pPr lvl="1" algn="just"/>
            <a:r>
              <a:rPr lang="en-US" altLang="en-US">
                <a:latin typeface="Times New Roman" panose="02020603050405020304" pitchFamily="18" charset="0"/>
              </a:rPr>
              <a:t>endl	line feed operator</a:t>
            </a:r>
          </a:p>
          <a:p>
            <a:pPr lvl="1" algn="just"/>
            <a:r>
              <a:rPr lang="en-US" altLang="en-US">
                <a:latin typeface="Times New Roman" panose="02020603050405020304" pitchFamily="18" charset="0"/>
              </a:rPr>
              <a:t>new	memory allocation operator</a:t>
            </a:r>
          </a:p>
          <a:p>
            <a:pPr lvl="1" algn="just"/>
            <a:r>
              <a:rPr lang="en-US" altLang="en-US">
                <a:latin typeface="Times New Roman" panose="02020603050405020304" pitchFamily="18" charset="0"/>
              </a:rPr>
              <a:t>setw	filed width operator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33B22CEE-0951-FB59-E44A-61B31B48FBCB}"/>
              </a:ext>
            </a:extLst>
          </p:cNvPr>
          <p:cNvSpPr>
            <a:spLocks noGrp="1" noChangeArrowheads="1"/>
          </p:cNvSpPr>
          <p:nvPr>
            <p:ph type="ctrTitle"/>
          </p:nvPr>
        </p:nvSpPr>
        <p:spPr>
          <a:xfrm>
            <a:off x="685800" y="152400"/>
            <a:ext cx="7772400" cy="457200"/>
          </a:xfrm>
        </p:spPr>
        <p:txBody>
          <a:bodyPr/>
          <a:lstStyle/>
          <a:p>
            <a:r>
              <a:rPr lang="en-US" altLang="en-US" sz="2800">
                <a:solidFill>
                  <a:schemeClr val="accent2"/>
                </a:solidFill>
              </a:rPr>
              <a:t>Scope resolution Operator</a:t>
            </a:r>
          </a:p>
        </p:txBody>
      </p:sp>
      <p:sp>
        <p:nvSpPr>
          <p:cNvPr id="12291" name="Rectangle 3">
            <a:extLst>
              <a:ext uri="{FF2B5EF4-FFF2-40B4-BE49-F238E27FC236}">
                <a16:creationId xmlns:a16="http://schemas.microsoft.com/office/drawing/2014/main" id="{025DF4A5-3634-8F1A-88EB-0A9F0BF91E7A}"/>
              </a:ext>
            </a:extLst>
          </p:cNvPr>
          <p:cNvSpPr>
            <a:spLocks noGrp="1" noChangeArrowheads="1"/>
          </p:cNvSpPr>
          <p:nvPr>
            <p:ph type="subTitle" idx="1"/>
          </p:nvPr>
        </p:nvSpPr>
        <p:spPr>
          <a:xfrm>
            <a:off x="228600" y="609600"/>
            <a:ext cx="8686800" cy="6019800"/>
          </a:xfrm>
        </p:spPr>
        <p:txBody>
          <a:bodyPr/>
          <a:lstStyle/>
          <a:p>
            <a:pPr algn="just">
              <a:lnSpc>
                <a:spcPct val="80000"/>
              </a:lnSpc>
              <a:buFontTx/>
              <a:buChar char="•"/>
            </a:pPr>
            <a:r>
              <a:rPr lang="en-US" altLang="en-US" sz="2000">
                <a:latin typeface="Times New Roman" panose="02020603050405020304" pitchFamily="18" charset="0"/>
              </a:rPr>
              <a:t>C and C++ are block-structured language</a:t>
            </a:r>
          </a:p>
          <a:p>
            <a:pPr algn="just">
              <a:lnSpc>
                <a:spcPct val="80000"/>
              </a:lnSpc>
              <a:buFontTx/>
              <a:buChar char="•"/>
            </a:pPr>
            <a:r>
              <a:rPr lang="en-US" altLang="en-US" sz="2000">
                <a:latin typeface="Times New Roman" panose="02020603050405020304" pitchFamily="18" charset="0"/>
              </a:rPr>
              <a:t>Same variable name can be used to have different meanings in different blocks</a:t>
            </a:r>
          </a:p>
          <a:p>
            <a:pPr algn="just">
              <a:lnSpc>
                <a:spcPct val="80000"/>
              </a:lnSpc>
              <a:buFontTx/>
              <a:buChar char="•"/>
            </a:pPr>
            <a:r>
              <a:rPr lang="en-US" altLang="en-US" sz="2000">
                <a:latin typeface="Times New Roman" panose="02020603050405020304" pitchFamily="18" charset="0"/>
              </a:rPr>
              <a:t>The scope of variable extends from the point of its declaration till the end of the block containing the declaration. </a:t>
            </a:r>
          </a:p>
          <a:p>
            <a:pPr algn="just">
              <a:lnSpc>
                <a:spcPct val="80000"/>
              </a:lnSpc>
              <a:buFontTx/>
              <a:buChar char="•"/>
            </a:pPr>
            <a:r>
              <a:rPr lang="en-US" altLang="en-US" sz="2000">
                <a:latin typeface="Times New Roman" panose="02020603050405020304" pitchFamily="18" charset="0"/>
              </a:rPr>
              <a:t>A variable declared inside a block is said to be local to that block</a:t>
            </a:r>
          </a:p>
          <a:p>
            <a:pPr algn="just">
              <a:lnSpc>
                <a:spcPct val="80000"/>
              </a:lnSpc>
            </a:pPr>
            <a:r>
              <a:rPr lang="en-US" altLang="en-US" sz="2000">
                <a:latin typeface="Times New Roman" panose="02020603050405020304" pitchFamily="18" charset="0"/>
              </a:rPr>
              <a:t>…..</a:t>
            </a:r>
          </a:p>
          <a:p>
            <a:pPr algn="just">
              <a:lnSpc>
                <a:spcPct val="80000"/>
              </a:lnSpc>
            </a:pPr>
            <a:r>
              <a:rPr lang="en-US" altLang="en-US" sz="2000">
                <a:latin typeface="Times New Roman" panose="02020603050405020304" pitchFamily="18" charset="0"/>
              </a:rPr>
              <a:t>{</a:t>
            </a:r>
          </a:p>
          <a:p>
            <a:pPr algn="just">
              <a:lnSpc>
                <a:spcPct val="80000"/>
              </a:lnSpc>
            </a:pPr>
            <a:r>
              <a:rPr lang="en-US" altLang="en-US" sz="2000">
                <a:latin typeface="Times New Roman" panose="02020603050405020304" pitchFamily="18" charset="0"/>
              </a:rPr>
              <a:t>	int x=10;</a:t>
            </a:r>
          </a:p>
          <a:p>
            <a:pPr algn="just">
              <a:lnSpc>
                <a:spcPct val="80000"/>
              </a:lnSpc>
            </a:pPr>
            <a:r>
              <a:rPr lang="en-US" altLang="en-US" sz="2000">
                <a:latin typeface="Times New Roman" panose="02020603050405020304" pitchFamily="18" charset="0"/>
              </a:rPr>
              <a:t>	…….</a:t>
            </a:r>
          </a:p>
          <a:p>
            <a:pPr algn="just">
              <a:lnSpc>
                <a:spcPct val="80000"/>
              </a:lnSpc>
            </a:pPr>
            <a:r>
              <a:rPr lang="en-US" altLang="en-US" sz="2000">
                <a:latin typeface="Times New Roman" panose="02020603050405020304" pitchFamily="18" charset="0"/>
              </a:rPr>
              <a:t>}</a:t>
            </a:r>
          </a:p>
          <a:p>
            <a:pPr algn="just">
              <a:lnSpc>
                <a:spcPct val="80000"/>
              </a:lnSpc>
            </a:pPr>
            <a:r>
              <a:rPr lang="en-US" altLang="en-US" sz="2000">
                <a:latin typeface="Times New Roman" panose="02020603050405020304" pitchFamily="18" charset="0"/>
              </a:rPr>
              <a:t>…….</a:t>
            </a:r>
          </a:p>
          <a:p>
            <a:pPr algn="just">
              <a:lnSpc>
                <a:spcPct val="80000"/>
              </a:lnSpc>
            </a:pPr>
            <a:r>
              <a:rPr lang="en-US" altLang="en-US" sz="2000">
                <a:latin typeface="Times New Roman" panose="02020603050405020304" pitchFamily="18" charset="0"/>
              </a:rPr>
              <a:t>{</a:t>
            </a:r>
          </a:p>
          <a:p>
            <a:pPr algn="just">
              <a:lnSpc>
                <a:spcPct val="80000"/>
              </a:lnSpc>
            </a:pPr>
            <a:r>
              <a:rPr lang="en-US" altLang="en-US" sz="2000">
                <a:latin typeface="Times New Roman" panose="02020603050405020304" pitchFamily="18" charset="0"/>
              </a:rPr>
              <a:t>	int x=1;</a:t>
            </a:r>
          </a:p>
          <a:p>
            <a:pPr algn="just">
              <a:lnSpc>
                <a:spcPct val="80000"/>
              </a:lnSpc>
            </a:pPr>
            <a:r>
              <a:rPr lang="en-US" altLang="en-US" sz="2000">
                <a:latin typeface="Times New Roman" panose="02020603050405020304" pitchFamily="18" charset="0"/>
              </a:rPr>
              <a:t>	……..</a:t>
            </a:r>
          </a:p>
          <a:p>
            <a:pPr algn="just">
              <a:lnSpc>
                <a:spcPct val="80000"/>
              </a:lnSpc>
            </a:pPr>
            <a:r>
              <a:rPr lang="en-US" altLang="en-US" sz="2000">
                <a:latin typeface="Times New Roman" panose="02020603050405020304" pitchFamily="18" charset="0"/>
              </a:rPr>
              <a:t>}</a:t>
            </a:r>
          </a:p>
          <a:p>
            <a:pPr algn="just">
              <a:lnSpc>
                <a:spcPct val="80000"/>
              </a:lnSpc>
              <a:buFontTx/>
              <a:buChar char="•"/>
            </a:pPr>
            <a:r>
              <a:rPr lang="en-US" altLang="en-US" sz="2000">
                <a:latin typeface="Times New Roman" panose="02020603050405020304" pitchFamily="18" charset="0"/>
              </a:rPr>
              <a:t>The two declarations of x refer to two different memory locations containing different values</a:t>
            </a:r>
          </a:p>
          <a:p>
            <a:pPr algn="just">
              <a:lnSpc>
                <a:spcPct val="80000"/>
              </a:lnSpc>
              <a:buFontTx/>
              <a:buChar char="•"/>
            </a:pPr>
            <a:r>
              <a:rPr lang="en-US" altLang="en-US" sz="2000">
                <a:latin typeface="Times New Roman" panose="02020603050405020304" pitchFamily="18" charset="0"/>
              </a:rPr>
              <a:t>Statements in the second block cannot refer to the variable x declared in first block and vice versa</a:t>
            </a:r>
          </a:p>
          <a:p>
            <a:pPr algn="just">
              <a:lnSpc>
                <a:spcPct val="80000"/>
              </a:lnSpc>
            </a:pPr>
            <a:endParaRPr lang="en-US" altLang="en-US" sz="2000">
              <a:latin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0734A1DD-A67F-A9ED-1EFB-730382F61D37}"/>
              </a:ext>
            </a:extLst>
          </p:cNvPr>
          <p:cNvSpPr>
            <a:spLocks noGrp="1" noChangeArrowheads="1"/>
          </p:cNvSpPr>
          <p:nvPr>
            <p:ph type="ctrTitle"/>
          </p:nvPr>
        </p:nvSpPr>
        <p:spPr>
          <a:xfrm>
            <a:off x="685800" y="152400"/>
            <a:ext cx="7772400" cy="457200"/>
          </a:xfrm>
        </p:spPr>
        <p:txBody>
          <a:bodyPr/>
          <a:lstStyle/>
          <a:p>
            <a:r>
              <a:rPr lang="en-US" altLang="en-US" sz="2800">
                <a:solidFill>
                  <a:schemeClr val="accent2"/>
                </a:solidFill>
              </a:rPr>
              <a:t>Scope resolution Operator contd…</a:t>
            </a:r>
          </a:p>
        </p:txBody>
      </p:sp>
      <p:sp>
        <p:nvSpPr>
          <p:cNvPr id="13315" name="Rectangle 3">
            <a:extLst>
              <a:ext uri="{FF2B5EF4-FFF2-40B4-BE49-F238E27FC236}">
                <a16:creationId xmlns:a16="http://schemas.microsoft.com/office/drawing/2014/main" id="{8623F819-F76B-5862-9F06-506CE0457ACF}"/>
              </a:ext>
            </a:extLst>
          </p:cNvPr>
          <p:cNvSpPr>
            <a:spLocks noGrp="1" noChangeArrowheads="1"/>
          </p:cNvSpPr>
          <p:nvPr>
            <p:ph type="subTitle" idx="1"/>
          </p:nvPr>
        </p:nvSpPr>
        <p:spPr>
          <a:xfrm>
            <a:off x="228600" y="609600"/>
            <a:ext cx="8686800" cy="6019800"/>
          </a:xfrm>
        </p:spPr>
        <p:txBody>
          <a:bodyPr/>
          <a:lstStyle/>
          <a:p>
            <a:pPr algn="just">
              <a:lnSpc>
                <a:spcPct val="80000"/>
              </a:lnSpc>
              <a:buFontTx/>
              <a:buChar char="•"/>
            </a:pPr>
            <a:r>
              <a:rPr lang="en-US" altLang="en-US" sz="2000">
                <a:latin typeface="Times New Roman" panose="02020603050405020304" pitchFamily="18" charset="0"/>
              </a:rPr>
              <a:t>Blocks in C++  are often nested.</a:t>
            </a:r>
          </a:p>
          <a:p>
            <a:pPr algn="just">
              <a:lnSpc>
                <a:spcPct val="80000"/>
              </a:lnSpc>
            </a:pPr>
            <a:r>
              <a:rPr lang="en-US" altLang="en-US" sz="2000">
                <a:latin typeface="Times New Roman" panose="02020603050405020304" pitchFamily="18" charset="0"/>
              </a:rPr>
              <a:t>…..</a:t>
            </a:r>
          </a:p>
          <a:p>
            <a:pPr algn="just">
              <a:lnSpc>
                <a:spcPct val="80000"/>
              </a:lnSpc>
            </a:pPr>
            <a:r>
              <a:rPr lang="en-US" altLang="en-US" sz="2000">
                <a:latin typeface="Times New Roman" panose="02020603050405020304" pitchFamily="18" charset="0"/>
              </a:rPr>
              <a:t>{//block1 starts</a:t>
            </a:r>
          </a:p>
          <a:p>
            <a:pPr algn="just">
              <a:lnSpc>
                <a:spcPct val="80000"/>
              </a:lnSpc>
            </a:pPr>
            <a:r>
              <a:rPr lang="en-US" altLang="en-US" sz="2000">
                <a:latin typeface="Times New Roman" panose="02020603050405020304" pitchFamily="18" charset="0"/>
              </a:rPr>
              <a:t>	int x=10;</a:t>
            </a:r>
          </a:p>
          <a:p>
            <a:pPr algn="just">
              <a:lnSpc>
                <a:spcPct val="80000"/>
              </a:lnSpc>
            </a:pPr>
            <a:r>
              <a:rPr lang="en-US" altLang="en-US" sz="2000">
                <a:latin typeface="Times New Roman" panose="02020603050405020304" pitchFamily="18" charset="0"/>
              </a:rPr>
              <a:t>	…….</a:t>
            </a:r>
          </a:p>
          <a:p>
            <a:pPr algn="just">
              <a:lnSpc>
                <a:spcPct val="80000"/>
              </a:lnSpc>
            </a:pPr>
            <a:r>
              <a:rPr lang="en-US" altLang="en-US" sz="2000">
                <a:latin typeface="Times New Roman" panose="02020603050405020304" pitchFamily="18" charset="0"/>
              </a:rPr>
              <a:t>	{ //block2 starts</a:t>
            </a:r>
          </a:p>
          <a:p>
            <a:pPr algn="just">
              <a:lnSpc>
                <a:spcPct val="80000"/>
              </a:lnSpc>
            </a:pPr>
            <a:r>
              <a:rPr lang="en-US" altLang="en-US" sz="2000">
                <a:latin typeface="Times New Roman" panose="02020603050405020304" pitchFamily="18" charset="0"/>
              </a:rPr>
              <a:t>		int x=1;</a:t>
            </a:r>
          </a:p>
          <a:p>
            <a:pPr algn="just">
              <a:lnSpc>
                <a:spcPct val="80000"/>
              </a:lnSpc>
            </a:pPr>
            <a:r>
              <a:rPr lang="en-US" altLang="en-US" sz="2000">
                <a:latin typeface="Times New Roman" panose="02020603050405020304" pitchFamily="18" charset="0"/>
              </a:rPr>
              <a:t>		……..</a:t>
            </a:r>
          </a:p>
          <a:p>
            <a:pPr algn="just">
              <a:lnSpc>
                <a:spcPct val="80000"/>
              </a:lnSpc>
            </a:pPr>
            <a:r>
              <a:rPr lang="en-US" altLang="en-US" sz="2000">
                <a:latin typeface="Times New Roman" panose="02020603050405020304" pitchFamily="18" charset="0"/>
              </a:rPr>
              <a:t>	} //block2 ends</a:t>
            </a:r>
          </a:p>
          <a:p>
            <a:pPr algn="just">
              <a:lnSpc>
                <a:spcPct val="80000"/>
              </a:lnSpc>
            </a:pPr>
            <a:r>
              <a:rPr lang="en-US" altLang="en-US" sz="2000">
                <a:latin typeface="Times New Roman" panose="02020603050405020304" pitchFamily="18" charset="0"/>
              </a:rPr>
              <a:t>	……</a:t>
            </a:r>
          </a:p>
          <a:p>
            <a:pPr algn="just">
              <a:lnSpc>
                <a:spcPct val="80000"/>
              </a:lnSpc>
            </a:pPr>
            <a:r>
              <a:rPr lang="en-US" altLang="en-US" sz="2000">
                <a:latin typeface="Times New Roman" panose="02020603050405020304" pitchFamily="18" charset="0"/>
              </a:rPr>
              <a:t>}//block1 ends</a:t>
            </a:r>
          </a:p>
          <a:p>
            <a:pPr algn="just">
              <a:lnSpc>
                <a:spcPct val="80000"/>
              </a:lnSpc>
              <a:buFontTx/>
              <a:buChar char="•"/>
            </a:pPr>
            <a:r>
              <a:rPr lang="en-US" altLang="en-US" sz="2000">
                <a:latin typeface="Times New Roman" panose="02020603050405020304" pitchFamily="18" charset="0"/>
              </a:rPr>
              <a:t>Block2 is contained or nested in block1</a:t>
            </a:r>
          </a:p>
          <a:p>
            <a:pPr algn="just">
              <a:lnSpc>
                <a:spcPct val="80000"/>
              </a:lnSpc>
              <a:buFontTx/>
              <a:buChar char="•"/>
            </a:pPr>
            <a:r>
              <a:rPr lang="en-US" altLang="en-US" sz="2000">
                <a:latin typeface="Times New Roman" panose="02020603050405020304" pitchFamily="18" charset="0"/>
              </a:rPr>
              <a:t>Declaration in an inner block hides a declaration of the same variable in an outer block, therefore declaration of x causes it to refer to different data object</a:t>
            </a:r>
          </a:p>
          <a:p>
            <a:pPr algn="just">
              <a:lnSpc>
                <a:spcPct val="80000"/>
              </a:lnSpc>
              <a:buFontTx/>
              <a:buChar char="•"/>
            </a:pPr>
            <a:r>
              <a:rPr lang="en-US" altLang="en-US" sz="2000">
                <a:latin typeface="Times New Roman" panose="02020603050405020304" pitchFamily="18" charset="0"/>
              </a:rPr>
              <a:t>In C global version of a variable cannot be accessed from within the inner block </a:t>
            </a:r>
          </a:p>
          <a:p>
            <a:pPr algn="just">
              <a:lnSpc>
                <a:spcPct val="80000"/>
              </a:lnSpc>
              <a:buFontTx/>
              <a:buChar char="•"/>
            </a:pPr>
            <a:r>
              <a:rPr lang="en-US" altLang="en-US" sz="2000">
                <a:latin typeface="Times New Roman" panose="02020603050405020304" pitchFamily="18" charset="0"/>
              </a:rPr>
              <a:t>C++ resolves this problem by introducing </a:t>
            </a:r>
            <a:r>
              <a:rPr lang="en-US" altLang="en-US" sz="2000">
                <a:solidFill>
                  <a:srgbClr val="0070C0"/>
                </a:solidFill>
                <a:latin typeface="Times New Roman" panose="02020603050405020304" pitchFamily="18" charset="0"/>
              </a:rPr>
              <a:t>scope resolution operator</a:t>
            </a:r>
            <a:r>
              <a:rPr lang="en-US" altLang="en-US" sz="2000">
                <a:latin typeface="Times New Roman" panose="02020603050405020304" pitchFamily="18" charset="0"/>
              </a:rPr>
              <a:t>. This can be used to uncover a hidden variable</a:t>
            </a:r>
          </a:p>
          <a:p>
            <a:pPr algn="just">
              <a:lnSpc>
                <a:spcPct val="80000"/>
              </a:lnSpc>
            </a:pPr>
            <a:r>
              <a:rPr lang="en-US" altLang="en-US" sz="2000">
                <a:latin typeface="Times New Roman" panose="02020603050405020304" pitchFamily="18" charset="0"/>
              </a:rPr>
              <a:t>Syntax:		</a:t>
            </a:r>
            <a:r>
              <a:rPr lang="en-US" altLang="en-US" sz="2000">
                <a:solidFill>
                  <a:srgbClr val="0070C0"/>
                </a:solidFill>
                <a:latin typeface="Times New Roman" panose="02020603050405020304" pitchFamily="18" charset="0"/>
              </a:rPr>
              <a:t>:: variable-name</a:t>
            </a:r>
          </a:p>
          <a:p>
            <a:pPr algn="just">
              <a:lnSpc>
                <a:spcPct val="80000"/>
              </a:lnSpc>
              <a:buFontTx/>
              <a:buChar char="•"/>
            </a:pPr>
            <a:r>
              <a:rPr lang="en-US" altLang="en-US" sz="2000">
                <a:latin typeface="Times New Roman" panose="02020603050405020304" pitchFamily="18" charset="0"/>
              </a:rPr>
              <a:t>:: operator allows access to the global version of a variable</a:t>
            </a:r>
          </a:p>
          <a:p>
            <a:pPr algn="just">
              <a:lnSpc>
                <a:spcPct val="80000"/>
              </a:lnSpc>
              <a:buFontTx/>
              <a:buChar char="•"/>
            </a:pPr>
            <a:endParaRPr lang="en-US" altLang="en-US" sz="2000">
              <a:latin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11EEA843-2455-2E46-BBFC-6CFB4EB0B240}"/>
              </a:ext>
            </a:extLst>
          </p:cNvPr>
          <p:cNvSpPr>
            <a:spLocks noGrp="1" noChangeArrowheads="1"/>
          </p:cNvSpPr>
          <p:nvPr>
            <p:ph type="ctrTitle"/>
          </p:nvPr>
        </p:nvSpPr>
        <p:spPr>
          <a:xfrm>
            <a:off x="685800" y="152400"/>
            <a:ext cx="7772400" cy="457200"/>
          </a:xfrm>
        </p:spPr>
        <p:txBody>
          <a:bodyPr/>
          <a:lstStyle/>
          <a:p>
            <a:r>
              <a:rPr lang="en-US" altLang="en-US" sz="2800">
                <a:solidFill>
                  <a:schemeClr val="accent2"/>
                </a:solidFill>
              </a:rPr>
              <a:t>Scope resolution Operator contd…</a:t>
            </a:r>
          </a:p>
        </p:txBody>
      </p:sp>
      <p:sp>
        <p:nvSpPr>
          <p:cNvPr id="14339" name="Rectangle 3">
            <a:extLst>
              <a:ext uri="{FF2B5EF4-FFF2-40B4-BE49-F238E27FC236}">
                <a16:creationId xmlns:a16="http://schemas.microsoft.com/office/drawing/2014/main" id="{1C79C034-E1EE-2776-8A06-D7DE921CEC56}"/>
              </a:ext>
            </a:extLst>
          </p:cNvPr>
          <p:cNvSpPr>
            <a:spLocks noGrp="1" noChangeArrowheads="1"/>
          </p:cNvSpPr>
          <p:nvPr>
            <p:ph type="subTitle" idx="1"/>
          </p:nvPr>
        </p:nvSpPr>
        <p:spPr>
          <a:xfrm>
            <a:off x="228600" y="609600"/>
            <a:ext cx="8686800" cy="6019800"/>
          </a:xfrm>
        </p:spPr>
        <p:txBody>
          <a:bodyPr/>
          <a:lstStyle/>
          <a:p>
            <a:pPr algn="just">
              <a:lnSpc>
                <a:spcPct val="80000"/>
              </a:lnSpc>
            </a:pPr>
            <a:r>
              <a:rPr lang="en-US" altLang="en-US" sz="1400">
                <a:latin typeface="Times New Roman" panose="02020603050405020304" pitchFamily="18" charset="0"/>
              </a:rPr>
              <a:t>#include &lt;iostream.h&gt;</a:t>
            </a:r>
          </a:p>
          <a:p>
            <a:pPr algn="just">
              <a:lnSpc>
                <a:spcPct val="80000"/>
              </a:lnSpc>
            </a:pPr>
            <a:r>
              <a:rPr lang="en-US" altLang="en-US" sz="1400">
                <a:latin typeface="Times New Roman" panose="02020603050405020304" pitchFamily="18" charset="0"/>
              </a:rPr>
              <a:t>int m = 10;		// global m</a:t>
            </a:r>
          </a:p>
          <a:p>
            <a:pPr algn="just">
              <a:lnSpc>
                <a:spcPct val="80000"/>
              </a:lnSpc>
            </a:pPr>
            <a:r>
              <a:rPr lang="en-US" altLang="en-US" sz="1400">
                <a:latin typeface="Times New Roman" panose="02020603050405020304" pitchFamily="18" charset="0"/>
              </a:rPr>
              <a:t>int main()</a:t>
            </a:r>
          </a:p>
          <a:p>
            <a:pPr algn="just">
              <a:lnSpc>
                <a:spcPct val="80000"/>
              </a:lnSpc>
            </a:pPr>
            <a:r>
              <a:rPr lang="en-US" altLang="en-US" sz="1400">
                <a:latin typeface="Times New Roman" panose="02020603050405020304" pitchFamily="18" charset="0"/>
              </a:rPr>
              <a:t>{</a:t>
            </a:r>
          </a:p>
          <a:p>
            <a:pPr algn="just">
              <a:lnSpc>
                <a:spcPct val="80000"/>
              </a:lnSpc>
            </a:pPr>
            <a:r>
              <a:rPr lang="en-US" altLang="en-US" sz="1400">
                <a:latin typeface="Times New Roman" panose="02020603050405020304" pitchFamily="18" charset="0"/>
              </a:rPr>
              <a:t>	int m=20;	//redeclared m, local to main</a:t>
            </a:r>
          </a:p>
          <a:p>
            <a:pPr algn="just">
              <a:lnSpc>
                <a:spcPct val="80000"/>
              </a:lnSpc>
            </a:pPr>
            <a:r>
              <a:rPr lang="en-US" altLang="en-US" sz="1400">
                <a:latin typeface="Times New Roman" panose="02020603050405020304" pitchFamily="18" charset="0"/>
              </a:rPr>
              <a:t>	{</a:t>
            </a:r>
          </a:p>
          <a:p>
            <a:pPr algn="just">
              <a:lnSpc>
                <a:spcPct val="80000"/>
              </a:lnSpc>
            </a:pPr>
            <a:r>
              <a:rPr lang="en-US" altLang="en-US" sz="1400">
                <a:latin typeface="Times New Roman" panose="02020603050405020304" pitchFamily="18" charset="0"/>
              </a:rPr>
              <a:t>		int k=m;</a:t>
            </a:r>
          </a:p>
          <a:p>
            <a:pPr algn="just">
              <a:lnSpc>
                <a:spcPct val="80000"/>
              </a:lnSpc>
            </a:pPr>
            <a:r>
              <a:rPr lang="en-US" altLang="en-US" sz="1400">
                <a:latin typeface="Times New Roman" panose="02020603050405020304" pitchFamily="18" charset="0"/>
              </a:rPr>
              <a:t>		int m=30; //redeclared m, local to inner block</a:t>
            </a:r>
          </a:p>
          <a:p>
            <a:pPr algn="just">
              <a:lnSpc>
                <a:spcPct val="80000"/>
              </a:lnSpc>
            </a:pPr>
            <a:r>
              <a:rPr lang="en-US" altLang="en-US" sz="1400">
                <a:latin typeface="Times New Roman" panose="02020603050405020304" pitchFamily="18" charset="0"/>
              </a:rPr>
              <a:t>		cout &lt;&lt; “we are in inner block”;</a:t>
            </a:r>
          </a:p>
          <a:p>
            <a:pPr algn="just">
              <a:lnSpc>
                <a:spcPct val="80000"/>
              </a:lnSpc>
            </a:pPr>
            <a:r>
              <a:rPr lang="en-US" altLang="en-US" sz="1400">
                <a:latin typeface="Times New Roman" panose="02020603050405020304" pitchFamily="18" charset="0"/>
              </a:rPr>
              <a:t>		cout &lt;&lt; “k = “&lt;&lt;k &lt;&lt; “\n”;</a:t>
            </a:r>
          </a:p>
          <a:p>
            <a:pPr algn="just">
              <a:lnSpc>
                <a:spcPct val="80000"/>
              </a:lnSpc>
            </a:pPr>
            <a:r>
              <a:rPr lang="en-US" altLang="en-US" sz="1400">
                <a:latin typeface="Times New Roman" panose="02020603050405020304" pitchFamily="18" charset="0"/>
              </a:rPr>
              <a:t>		cout &lt;&lt; “m = “&lt;&lt;m &lt;&lt; “\n”; 		</a:t>
            </a:r>
          </a:p>
          <a:p>
            <a:pPr algn="just">
              <a:lnSpc>
                <a:spcPct val="80000"/>
              </a:lnSpc>
            </a:pPr>
            <a:r>
              <a:rPr lang="en-US" altLang="en-US" sz="1400">
                <a:latin typeface="Times New Roman" panose="02020603050405020304" pitchFamily="18" charset="0"/>
              </a:rPr>
              <a:t>		cout &lt;&lt; “::m = “&lt;&lt;::m &lt;&lt; “\n”;</a:t>
            </a:r>
          </a:p>
          <a:p>
            <a:pPr algn="just">
              <a:lnSpc>
                <a:spcPct val="80000"/>
              </a:lnSpc>
            </a:pPr>
            <a:r>
              <a:rPr lang="en-US" altLang="en-US" sz="1400">
                <a:latin typeface="Times New Roman" panose="02020603050405020304" pitchFamily="18" charset="0"/>
              </a:rPr>
              <a:t>	}</a:t>
            </a:r>
          </a:p>
          <a:p>
            <a:pPr algn="just">
              <a:lnSpc>
                <a:spcPct val="80000"/>
              </a:lnSpc>
            </a:pPr>
            <a:r>
              <a:rPr lang="en-US" altLang="en-US" sz="1400">
                <a:latin typeface="Times New Roman" panose="02020603050405020304" pitchFamily="18" charset="0"/>
              </a:rPr>
              <a:t>	cout &lt;&lt; “we are in outer block”;</a:t>
            </a:r>
          </a:p>
          <a:p>
            <a:pPr algn="just">
              <a:lnSpc>
                <a:spcPct val="80000"/>
              </a:lnSpc>
            </a:pPr>
            <a:r>
              <a:rPr lang="en-US" altLang="en-US" sz="1400">
                <a:latin typeface="Times New Roman" panose="02020603050405020304" pitchFamily="18" charset="0"/>
              </a:rPr>
              <a:t>	cout &lt;&lt; “m = “&lt;&lt;m &lt;&lt; “\n”; 		</a:t>
            </a:r>
          </a:p>
          <a:p>
            <a:pPr algn="just">
              <a:lnSpc>
                <a:spcPct val="80000"/>
              </a:lnSpc>
            </a:pPr>
            <a:r>
              <a:rPr lang="en-US" altLang="en-US" sz="1400">
                <a:latin typeface="Times New Roman" panose="02020603050405020304" pitchFamily="18" charset="0"/>
              </a:rPr>
              <a:t>	cout &lt;&lt; “::m = “&lt;&lt;::m &lt;&lt; “\n”;</a:t>
            </a:r>
          </a:p>
          <a:p>
            <a:pPr algn="just">
              <a:lnSpc>
                <a:spcPct val="80000"/>
              </a:lnSpc>
            </a:pPr>
            <a:r>
              <a:rPr lang="en-US" altLang="en-US" sz="1400">
                <a:latin typeface="Times New Roman" panose="02020603050405020304" pitchFamily="18" charset="0"/>
              </a:rPr>
              <a:t>	return 0;</a:t>
            </a:r>
          </a:p>
          <a:p>
            <a:pPr algn="just">
              <a:lnSpc>
                <a:spcPct val="80000"/>
              </a:lnSpc>
            </a:pPr>
            <a:r>
              <a:rPr lang="en-US" altLang="en-US" sz="1400">
                <a:latin typeface="Times New Roman" panose="02020603050405020304" pitchFamily="18" charset="0"/>
              </a:rPr>
              <a:t>}</a:t>
            </a:r>
          </a:p>
          <a:p>
            <a:pPr algn="just">
              <a:lnSpc>
                <a:spcPct val="80000"/>
              </a:lnSpc>
            </a:pPr>
            <a:r>
              <a:rPr lang="en-US" altLang="en-US" sz="1400">
                <a:latin typeface="Times New Roman" panose="02020603050405020304" pitchFamily="18" charset="0"/>
              </a:rPr>
              <a:t>Output:</a:t>
            </a:r>
          </a:p>
          <a:p>
            <a:pPr algn="just">
              <a:lnSpc>
                <a:spcPct val="80000"/>
              </a:lnSpc>
            </a:pPr>
            <a:r>
              <a:rPr lang="en-US" altLang="en-US" sz="1400">
                <a:latin typeface="Times New Roman" panose="02020603050405020304" pitchFamily="18" charset="0"/>
              </a:rPr>
              <a:t>we are in inner block</a:t>
            </a:r>
          </a:p>
          <a:p>
            <a:pPr algn="just">
              <a:lnSpc>
                <a:spcPct val="80000"/>
              </a:lnSpc>
            </a:pPr>
            <a:r>
              <a:rPr lang="en-US" altLang="en-US" sz="1400">
                <a:latin typeface="Times New Roman" panose="02020603050405020304" pitchFamily="18" charset="0"/>
              </a:rPr>
              <a:t>k = 20;</a:t>
            </a:r>
          </a:p>
          <a:p>
            <a:pPr algn="just">
              <a:lnSpc>
                <a:spcPct val="80000"/>
              </a:lnSpc>
            </a:pPr>
            <a:r>
              <a:rPr lang="en-US" altLang="en-US" sz="1400">
                <a:latin typeface="Times New Roman" panose="02020603050405020304" pitchFamily="18" charset="0"/>
              </a:rPr>
              <a:t>m = 30;</a:t>
            </a:r>
          </a:p>
          <a:p>
            <a:pPr algn="just">
              <a:lnSpc>
                <a:spcPct val="80000"/>
              </a:lnSpc>
            </a:pPr>
            <a:r>
              <a:rPr lang="en-US" altLang="en-US" sz="1400">
                <a:latin typeface="Times New Roman" panose="02020603050405020304" pitchFamily="18" charset="0"/>
              </a:rPr>
              <a:t>::m = 10</a:t>
            </a:r>
          </a:p>
          <a:p>
            <a:pPr algn="just">
              <a:lnSpc>
                <a:spcPct val="80000"/>
              </a:lnSpc>
            </a:pPr>
            <a:r>
              <a:rPr lang="en-US" altLang="en-US" sz="1400">
                <a:latin typeface="Times New Roman" panose="02020603050405020304" pitchFamily="18" charset="0"/>
              </a:rPr>
              <a:t>we are in outer block</a:t>
            </a:r>
          </a:p>
          <a:p>
            <a:pPr algn="just">
              <a:lnSpc>
                <a:spcPct val="80000"/>
              </a:lnSpc>
            </a:pPr>
            <a:r>
              <a:rPr lang="en-US" altLang="en-US" sz="1400">
                <a:latin typeface="Times New Roman" panose="02020603050405020304" pitchFamily="18" charset="0"/>
              </a:rPr>
              <a:t>m = 20;</a:t>
            </a:r>
          </a:p>
          <a:p>
            <a:pPr algn="just">
              <a:lnSpc>
                <a:spcPct val="80000"/>
              </a:lnSpc>
            </a:pPr>
            <a:r>
              <a:rPr lang="en-US" altLang="en-US" sz="1400">
                <a:latin typeface="Times New Roman" panose="02020603050405020304" pitchFamily="18" charset="0"/>
              </a:rPr>
              <a:t>::m = 10</a:t>
            </a:r>
          </a:p>
          <a:p>
            <a:pPr algn="just">
              <a:lnSpc>
                <a:spcPct val="80000"/>
              </a:lnSpc>
            </a:pPr>
            <a:r>
              <a:rPr lang="en-US" altLang="en-US" sz="1400">
                <a:latin typeface="Times New Roman" panose="02020603050405020304" pitchFamily="18" charset="0"/>
              </a:rPr>
              <a:t>*****:: m will always refer to the global 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728E7936-348C-A594-80CE-1619715F6350}"/>
              </a:ext>
            </a:extLst>
          </p:cNvPr>
          <p:cNvSpPr>
            <a:spLocks noGrp="1" noChangeArrowheads="1"/>
          </p:cNvSpPr>
          <p:nvPr>
            <p:ph type="ctrTitle"/>
          </p:nvPr>
        </p:nvSpPr>
        <p:spPr>
          <a:xfrm>
            <a:off x="685800" y="152400"/>
            <a:ext cx="7772400" cy="457200"/>
          </a:xfrm>
        </p:spPr>
        <p:txBody>
          <a:bodyPr/>
          <a:lstStyle/>
          <a:p>
            <a:r>
              <a:rPr lang="en-US" altLang="en-US" sz="2800">
                <a:solidFill>
                  <a:schemeClr val="accent2"/>
                </a:solidFill>
              </a:rPr>
              <a:t>Memory management operators</a:t>
            </a:r>
          </a:p>
        </p:txBody>
      </p:sp>
      <p:sp>
        <p:nvSpPr>
          <p:cNvPr id="15363" name="Rectangle 3">
            <a:extLst>
              <a:ext uri="{FF2B5EF4-FFF2-40B4-BE49-F238E27FC236}">
                <a16:creationId xmlns:a16="http://schemas.microsoft.com/office/drawing/2014/main" id="{005CF24B-ECBD-8BE9-DD3B-FE44E37DB9E9}"/>
              </a:ext>
            </a:extLst>
          </p:cNvPr>
          <p:cNvSpPr>
            <a:spLocks noGrp="1" noChangeArrowheads="1"/>
          </p:cNvSpPr>
          <p:nvPr>
            <p:ph type="subTitle" idx="1"/>
          </p:nvPr>
        </p:nvSpPr>
        <p:spPr>
          <a:xfrm>
            <a:off x="228600" y="609600"/>
            <a:ext cx="8686800" cy="6019800"/>
          </a:xfrm>
        </p:spPr>
        <p:txBody>
          <a:bodyPr/>
          <a:lstStyle/>
          <a:p>
            <a:pPr algn="just">
              <a:lnSpc>
                <a:spcPct val="80000"/>
              </a:lnSpc>
              <a:buFontTx/>
              <a:buChar char="•"/>
            </a:pPr>
            <a:r>
              <a:rPr lang="en-US" altLang="en-US" sz="3600">
                <a:solidFill>
                  <a:srgbClr val="0066CC"/>
                </a:solidFill>
                <a:latin typeface="Times New Roman" panose="02020603050405020304" pitchFamily="18" charset="0"/>
              </a:rPr>
              <a:t>C</a:t>
            </a:r>
            <a:r>
              <a:rPr lang="en-US" altLang="en-US" sz="3600">
                <a:latin typeface="Times New Roman" panose="02020603050405020304" pitchFamily="18" charset="0"/>
              </a:rPr>
              <a:t> uses </a:t>
            </a:r>
            <a:r>
              <a:rPr lang="en-US" altLang="en-US" sz="3600">
                <a:solidFill>
                  <a:srgbClr val="0066CC"/>
                </a:solidFill>
                <a:latin typeface="Times New Roman" panose="02020603050405020304" pitchFamily="18" charset="0"/>
              </a:rPr>
              <a:t>malloc() and calloc() </a:t>
            </a:r>
            <a:r>
              <a:rPr lang="en-US" altLang="en-US" sz="3600">
                <a:latin typeface="Times New Roman" panose="02020603050405020304" pitchFamily="18" charset="0"/>
              </a:rPr>
              <a:t>to allocate memory dynamically at run time and </a:t>
            </a:r>
            <a:r>
              <a:rPr lang="en-US" altLang="en-US" sz="3600">
                <a:solidFill>
                  <a:srgbClr val="0066CC"/>
                </a:solidFill>
                <a:latin typeface="Times New Roman" panose="02020603050405020304" pitchFamily="18" charset="0"/>
              </a:rPr>
              <a:t>free() </a:t>
            </a:r>
            <a:r>
              <a:rPr lang="en-US" altLang="en-US" sz="3600">
                <a:latin typeface="Times New Roman" panose="02020603050405020304" pitchFamily="18" charset="0"/>
              </a:rPr>
              <a:t>to free memory</a:t>
            </a:r>
          </a:p>
          <a:p>
            <a:pPr algn="just">
              <a:lnSpc>
                <a:spcPct val="80000"/>
              </a:lnSpc>
              <a:buFontTx/>
              <a:buChar char="•"/>
            </a:pPr>
            <a:r>
              <a:rPr lang="en-US" altLang="en-US" sz="3600">
                <a:solidFill>
                  <a:srgbClr val="0066CC"/>
                </a:solidFill>
                <a:latin typeface="Times New Roman" panose="02020603050405020304" pitchFamily="18" charset="0"/>
              </a:rPr>
              <a:t>C++ </a:t>
            </a:r>
            <a:r>
              <a:rPr lang="en-US" altLang="en-US" sz="3600">
                <a:latin typeface="Times New Roman" panose="02020603050405020304" pitchFamily="18" charset="0"/>
              </a:rPr>
              <a:t>support other two </a:t>
            </a:r>
            <a:r>
              <a:rPr lang="en-US" altLang="en-US" sz="3600">
                <a:solidFill>
                  <a:srgbClr val="0066CC"/>
                </a:solidFill>
                <a:latin typeface="Times New Roman" panose="02020603050405020304" pitchFamily="18" charset="0"/>
              </a:rPr>
              <a:t>unary operators new and delete </a:t>
            </a:r>
            <a:r>
              <a:rPr lang="en-US" altLang="en-US" sz="3600">
                <a:latin typeface="Times New Roman" panose="02020603050405020304" pitchFamily="18" charset="0"/>
              </a:rPr>
              <a:t>perform same task better and in easy way</a:t>
            </a:r>
          </a:p>
          <a:p>
            <a:pPr algn="just">
              <a:lnSpc>
                <a:spcPct val="80000"/>
              </a:lnSpc>
              <a:buFontTx/>
              <a:buChar char="•"/>
            </a:pPr>
            <a:r>
              <a:rPr lang="en-US" altLang="en-US" sz="3600">
                <a:latin typeface="Times New Roman" panose="02020603050405020304" pitchFamily="18" charset="0"/>
              </a:rPr>
              <a:t>These operators manipulate memory on the free store, so they are also known as free store operators</a:t>
            </a:r>
          </a:p>
          <a:p>
            <a:pPr algn="just">
              <a:lnSpc>
                <a:spcPct val="80000"/>
              </a:lnSpc>
              <a:buFontTx/>
              <a:buChar char="•"/>
            </a:pPr>
            <a:r>
              <a:rPr lang="en-US" altLang="en-US" sz="3600">
                <a:latin typeface="Times New Roman" panose="02020603050405020304" pitchFamily="18" charset="0"/>
              </a:rPr>
              <a:t>An object can be created using new, and destroyed by using delete as and when required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AFD18702-72B9-4A18-694D-699A765BFADF}"/>
              </a:ext>
            </a:extLst>
          </p:cNvPr>
          <p:cNvSpPr>
            <a:spLocks noGrp="1" noChangeArrowheads="1"/>
          </p:cNvSpPr>
          <p:nvPr>
            <p:ph type="ctrTitle"/>
          </p:nvPr>
        </p:nvSpPr>
        <p:spPr>
          <a:xfrm>
            <a:off x="685800" y="152400"/>
            <a:ext cx="7772400" cy="457200"/>
          </a:xfrm>
        </p:spPr>
        <p:txBody>
          <a:bodyPr/>
          <a:lstStyle/>
          <a:p>
            <a:r>
              <a:rPr lang="en-US" altLang="en-US" sz="2800">
                <a:solidFill>
                  <a:schemeClr val="accent2"/>
                </a:solidFill>
              </a:rPr>
              <a:t>Memory management operators contd…</a:t>
            </a:r>
          </a:p>
        </p:txBody>
      </p:sp>
      <p:sp>
        <p:nvSpPr>
          <p:cNvPr id="16387" name="Rectangle 3">
            <a:extLst>
              <a:ext uri="{FF2B5EF4-FFF2-40B4-BE49-F238E27FC236}">
                <a16:creationId xmlns:a16="http://schemas.microsoft.com/office/drawing/2014/main" id="{A721BD2D-1A68-AA62-58A3-4880E3B8CDDC}"/>
              </a:ext>
            </a:extLst>
          </p:cNvPr>
          <p:cNvSpPr>
            <a:spLocks noGrp="1" noChangeArrowheads="1"/>
          </p:cNvSpPr>
          <p:nvPr>
            <p:ph type="subTitle" idx="1"/>
          </p:nvPr>
        </p:nvSpPr>
        <p:spPr>
          <a:xfrm>
            <a:off x="228600" y="609600"/>
            <a:ext cx="8686800" cy="6019800"/>
          </a:xfrm>
        </p:spPr>
        <p:txBody>
          <a:bodyPr/>
          <a:lstStyle/>
          <a:p>
            <a:pPr algn="just">
              <a:lnSpc>
                <a:spcPct val="80000"/>
              </a:lnSpc>
              <a:buFontTx/>
              <a:buChar char="•"/>
            </a:pPr>
            <a:r>
              <a:rPr lang="en-US" altLang="en-US">
                <a:latin typeface="Times New Roman" panose="02020603050405020304" pitchFamily="18" charset="0"/>
              </a:rPr>
              <a:t>A data object created inside a block with new, will remain in existence until it is explicitly destroyed by delete. So the lifetime of an object is directly under our control and unrelated to the block structure of the program</a:t>
            </a:r>
          </a:p>
          <a:p>
            <a:pPr algn="just">
              <a:lnSpc>
                <a:spcPct val="80000"/>
              </a:lnSpc>
              <a:buFontTx/>
              <a:buChar char="•"/>
            </a:pPr>
            <a:r>
              <a:rPr lang="en-US" altLang="en-US">
                <a:latin typeface="Times New Roman" panose="02020603050405020304" pitchFamily="18" charset="0"/>
              </a:rPr>
              <a:t>General form or syntax</a:t>
            </a:r>
          </a:p>
          <a:p>
            <a:pPr algn="just">
              <a:lnSpc>
                <a:spcPct val="80000"/>
              </a:lnSpc>
            </a:pPr>
            <a:r>
              <a:rPr lang="en-US" altLang="en-US">
                <a:latin typeface="Times New Roman" panose="02020603050405020304" pitchFamily="18" charset="0"/>
              </a:rPr>
              <a:t>	</a:t>
            </a:r>
            <a:r>
              <a:rPr lang="en-US" altLang="en-US">
                <a:solidFill>
                  <a:srgbClr val="0066CC"/>
                </a:solidFill>
                <a:latin typeface="Times New Roman" panose="02020603050405020304" pitchFamily="18" charset="0"/>
              </a:rPr>
              <a:t>pointer-variable =  new data-type;</a:t>
            </a:r>
          </a:p>
          <a:p>
            <a:pPr algn="just">
              <a:lnSpc>
                <a:spcPct val="80000"/>
              </a:lnSpc>
              <a:buFontTx/>
              <a:buChar char="•"/>
            </a:pPr>
            <a:r>
              <a:rPr lang="en-US" altLang="en-US">
                <a:latin typeface="Times New Roman" panose="02020603050405020304" pitchFamily="18" charset="0"/>
              </a:rPr>
              <a:t>pointer-variable is a pointer of type data-type</a:t>
            </a:r>
          </a:p>
          <a:p>
            <a:pPr algn="just">
              <a:lnSpc>
                <a:spcPct val="80000"/>
              </a:lnSpc>
              <a:buFontTx/>
              <a:buChar char="•"/>
            </a:pPr>
            <a:r>
              <a:rPr lang="en-US" altLang="en-US">
                <a:latin typeface="Times New Roman" panose="02020603050405020304" pitchFamily="18" charset="0"/>
              </a:rPr>
              <a:t>new operator allocates sufficient memory and returns the address of the object.</a:t>
            </a:r>
          </a:p>
          <a:p>
            <a:pPr algn="just">
              <a:lnSpc>
                <a:spcPct val="80000"/>
              </a:lnSpc>
              <a:buFontTx/>
              <a:buChar char="•"/>
            </a:pPr>
            <a:r>
              <a:rPr lang="en-US" altLang="en-US">
                <a:latin typeface="Times New Roman" panose="02020603050405020304" pitchFamily="18" charset="0"/>
              </a:rPr>
              <a:t>The data type may any valid data type</a:t>
            </a:r>
          </a:p>
          <a:p>
            <a:pPr algn="just">
              <a:lnSpc>
                <a:spcPct val="80000"/>
              </a:lnSpc>
              <a:buFontTx/>
              <a:buChar char="•"/>
            </a:pPr>
            <a:r>
              <a:rPr lang="en-US" altLang="en-US">
                <a:latin typeface="Times New Roman" panose="02020603050405020304" pitchFamily="18" charset="0"/>
              </a:rPr>
              <a:t>pointer-variable holds the address of the memory space allocated</a:t>
            </a:r>
          </a:p>
          <a:p>
            <a:pPr algn="just">
              <a:lnSpc>
                <a:spcPct val="80000"/>
              </a:lnSpc>
            </a:pPr>
            <a:r>
              <a:rPr lang="en-US" altLang="en-US">
                <a:latin typeface="Times New Roman" panose="02020603050405020304" pitchFamily="18" charset="0"/>
              </a:rPr>
              <a:t>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3D0D8594-6F53-81DA-24CA-1FBE33B8FA3A}"/>
              </a:ext>
            </a:extLst>
          </p:cNvPr>
          <p:cNvSpPr>
            <a:spLocks noGrp="1" noChangeArrowheads="1"/>
          </p:cNvSpPr>
          <p:nvPr>
            <p:ph type="ctrTitle"/>
          </p:nvPr>
        </p:nvSpPr>
        <p:spPr>
          <a:xfrm>
            <a:off x="685800" y="152400"/>
            <a:ext cx="7772400" cy="457200"/>
          </a:xfrm>
        </p:spPr>
        <p:txBody>
          <a:bodyPr/>
          <a:lstStyle/>
          <a:p>
            <a:r>
              <a:rPr lang="en-US" altLang="en-US" sz="2800">
                <a:solidFill>
                  <a:schemeClr val="accent2"/>
                </a:solidFill>
              </a:rPr>
              <a:t>Memory management operators contd…</a:t>
            </a:r>
          </a:p>
        </p:txBody>
      </p:sp>
      <p:sp>
        <p:nvSpPr>
          <p:cNvPr id="17411" name="Rectangle 3">
            <a:extLst>
              <a:ext uri="{FF2B5EF4-FFF2-40B4-BE49-F238E27FC236}">
                <a16:creationId xmlns:a16="http://schemas.microsoft.com/office/drawing/2014/main" id="{48F56D0A-D131-63F1-4067-A1F7C0138730}"/>
              </a:ext>
            </a:extLst>
          </p:cNvPr>
          <p:cNvSpPr>
            <a:spLocks noGrp="1" noChangeArrowheads="1"/>
          </p:cNvSpPr>
          <p:nvPr>
            <p:ph type="subTitle" idx="1"/>
          </p:nvPr>
        </p:nvSpPr>
        <p:spPr>
          <a:xfrm>
            <a:off x="228600" y="609600"/>
            <a:ext cx="8686800" cy="6019800"/>
          </a:xfrm>
        </p:spPr>
        <p:txBody>
          <a:bodyPr/>
          <a:lstStyle/>
          <a:p>
            <a:pPr algn="just"/>
            <a:r>
              <a:rPr lang="en-US" altLang="en-US" sz="2800">
                <a:latin typeface="Times New Roman" panose="02020603050405020304" pitchFamily="18" charset="0"/>
              </a:rPr>
              <a:t>	Eg:    </a:t>
            </a:r>
            <a:r>
              <a:rPr lang="en-US" altLang="en-US" sz="2800">
                <a:solidFill>
                  <a:srgbClr val="0066CC"/>
                </a:solidFill>
                <a:latin typeface="Times New Roman" panose="02020603050405020304" pitchFamily="18" charset="0"/>
              </a:rPr>
              <a:t>p = new int;</a:t>
            </a:r>
          </a:p>
          <a:p>
            <a:pPr algn="just"/>
            <a:r>
              <a:rPr lang="en-US" altLang="en-US" sz="2800">
                <a:latin typeface="Times New Roman" panose="02020603050405020304" pitchFamily="18" charset="0"/>
              </a:rPr>
              <a:t>	         f = new float;</a:t>
            </a:r>
          </a:p>
          <a:p>
            <a:pPr algn="just"/>
            <a:r>
              <a:rPr lang="en-US" altLang="en-US" sz="2800">
                <a:latin typeface="Times New Roman" panose="02020603050405020304" pitchFamily="18" charset="0"/>
              </a:rPr>
              <a:t>		where </a:t>
            </a:r>
            <a:r>
              <a:rPr lang="en-US" altLang="en-US" sz="2800">
                <a:solidFill>
                  <a:srgbClr val="0066CC"/>
                </a:solidFill>
                <a:latin typeface="Times New Roman" panose="02020603050405020304" pitchFamily="18" charset="0"/>
              </a:rPr>
              <a:t>p is a pointer of type int</a:t>
            </a:r>
          </a:p>
          <a:p>
            <a:pPr algn="just"/>
            <a:r>
              <a:rPr lang="en-US" altLang="en-US" sz="2800">
                <a:latin typeface="Times New Roman" panose="02020603050405020304" pitchFamily="18" charset="0"/>
              </a:rPr>
              <a:t>		where f is a pointer of type float</a:t>
            </a:r>
          </a:p>
          <a:p>
            <a:pPr algn="just"/>
            <a:r>
              <a:rPr lang="en-US" altLang="en-US" sz="2800">
                <a:latin typeface="Times New Roman" panose="02020603050405020304" pitchFamily="18" charset="0"/>
              </a:rPr>
              <a:t>		p and f must have been already declared </a:t>
            </a:r>
          </a:p>
          <a:p>
            <a:pPr algn="just"/>
            <a:r>
              <a:rPr lang="en-US" altLang="en-US" sz="2800">
                <a:latin typeface="Times New Roman" panose="02020603050405020304" pitchFamily="18" charset="0"/>
              </a:rPr>
              <a:t>	</a:t>
            </a:r>
            <a:r>
              <a:rPr lang="en-US" altLang="en-US" sz="2800">
                <a:solidFill>
                  <a:srgbClr val="0066CC"/>
                </a:solidFill>
                <a:latin typeface="Times New Roman" panose="02020603050405020304" pitchFamily="18" charset="0"/>
              </a:rPr>
              <a:t>     int  *p = new int;</a:t>
            </a:r>
          </a:p>
          <a:p>
            <a:pPr algn="just"/>
            <a:r>
              <a:rPr lang="en-US" altLang="en-US" sz="2800">
                <a:latin typeface="Times New Roman" panose="02020603050405020304" pitchFamily="18" charset="0"/>
              </a:rPr>
              <a:t>	     float *f = new float;</a:t>
            </a:r>
          </a:p>
          <a:p>
            <a:pPr algn="just">
              <a:buFontTx/>
              <a:buChar char="•"/>
            </a:pPr>
            <a:r>
              <a:rPr lang="en-US" altLang="en-US" sz="2800">
                <a:latin typeface="Times New Roman" panose="02020603050405020304" pitchFamily="18" charset="0"/>
              </a:rPr>
              <a:t>We can also initialize the memory using new </a:t>
            </a:r>
          </a:p>
          <a:p>
            <a:pPr algn="just"/>
            <a:r>
              <a:rPr lang="en-US" altLang="en-US" sz="2800">
                <a:latin typeface="Times New Roman" panose="02020603050405020304" pitchFamily="18" charset="0"/>
              </a:rPr>
              <a:t>	syntax: </a:t>
            </a:r>
            <a:r>
              <a:rPr lang="en-US" altLang="en-US" sz="2800">
                <a:solidFill>
                  <a:srgbClr val="0066CC"/>
                </a:solidFill>
                <a:latin typeface="Times New Roman" panose="02020603050405020304" pitchFamily="18" charset="0"/>
              </a:rPr>
              <a:t>pointer-variable =  new data-type(value) ;</a:t>
            </a:r>
          </a:p>
          <a:p>
            <a:pPr algn="just"/>
            <a:r>
              <a:rPr lang="en-US" altLang="en-US" sz="2800">
                <a:latin typeface="Times New Roman" panose="02020603050405020304" pitchFamily="18" charset="0"/>
              </a:rPr>
              <a:t>	  eg:   int  *p = new int(25);</a:t>
            </a:r>
          </a:p>
          <a:p>
            <a:pPr algn="just"/>
            <a:r>
              <a:rPr lang="en-US" altLang="en-US" sz="2800">
                <a:latin typeface="Times New Roman" panose="02020603050405020304" pitchFamily="18" charset="0"/>
              </a:rPr>
              <a:t>	     float *f = new float(3.4);</a:t>
            </a:r>
          </a:p>
          <a:p>
            <a:pPr algn="just"/>
            <a:endParaRPr lang="en-US" altLang="en-US" sz="2800">
              <a:latin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3EC72AF6-E4DD-F738-CE3B-97E57FF0C05E}"/>
              </a:ext>
            </a:extLst>
          </p:cNvPr>
          <p:cNvSpPr>
            <a:spLocks noGrp="1" noChangeArrowheads="1"/>
          </p:cNvSpPr>
          <p:nvPr>
            <p:ph type="ctrTitle"/>
          </p:nvPr>
        </p:nvSpPr>
        <p:spPr>
          <a:xfrm>
            <a:off x="685800" y="152400"/>
            <a:ext cx="7772400" cy="457200"/>
          </a:xfrm>
        </p:spPr>
        <p:txBody>
          <a:bodyPr/>
          <a:lstStyle/>
          <a:p>
            <a:r>
              <a:rPr lang="en-US" altLang="en-US" sz="2800">
                <a:solidFill>
                  <a:schemeClr val="accent2"/>
                </a:solidFill>
              </a:rPr>
              <a:t>Memory management operators contd…</a:t>
            </a:r>
          </a:p>
        </p:txBody>
      </p:sp>
      <p:sp>
        <p:nvSpPr>
          <p:cNvPr id="18435" name="Rectangle 3">
            <a:extLst>
              <a:ext uri="{FF2B5EF4-FFF2-40B4-BE49-F238E27FC236}">
                <a16:creationId xmlns:a16="http://schemas.microsoft.com/office/drawing/2014/main" id="{859B946C-D41B-5E09-7AEC-565E1E3AFAC9}"/>
              </a:ext>
            </a:extLst>
          </p:cNvPr>
          <p:cNvSpPr>
            <a:spLocks noGrp="1" noChangeArrowheads="1"/>
          </p:cNvSpPr>
          <p:nvPr>
            <p:ph type="subTitle" idx="1"/>
          </p:nvPr>
        </p:nvSpPr>
        <p:spPr>
          <a:xfrm>
            <a:off x="228600" y="609600"/>
            <a:ext cx="8686800" cy="6019800"/>
          </a:xfrm>
        </p:spPr>
        <p:txBody>
          <a:bodyPr/>
          <a:lstStyle/>
          <a:p>
            <a:pPr algn="just">
              <a:lnSpc>
                <a:spcPct val="80000"/>
              </a:lnSpc>
              <a:spcAft>
                <a:spcPts val="600"/>
              </a:spcAft>
              <a:buFontTx/>
              <a:buChar char="•"/>
            </a:pPr>
            <a:r>
              <a:rPr lang="en-US" altLang="en-US" sz="2800">
                <a:latin typeface="Times New Roman" panose="02020603050405020304" pitchFamily="18" charset="0"/>
              </a:rPr>
              <a:t>new can be used to create memory space for any data type including user-defined like arrays, classes etc</a:t>
            </a:r>
          </a:p>
          <a:p>
            <a:pPr algn="just">
              <a:lnSpc>
                <a:spcPct val="80000"/>
              </a:lnSpc>
              <a:buFontTx/>
              <a:buChar char="•"/>
            </a:pPr>
            <a:r>
              <a:rPr lang="en-US" altLang="en-US" sz="2800">
                <a:latin typeface="Times New Roman" panose="02020603050405020304" pitchFamily="18" charset="0"/>
              </a:rPr>
              <a:t>The general form for 1D array:</a:t>
            </a:r>
          </a:p>
          <a:p>
            <a:pPr algn="just">
              <a:lnSpc>
                <a:spcPct val="80000"/>
              </a:lnSpc>
            </a:pPr>
            <a:r>
              <a:rPr lang="en-US" altLang="en-US" sz="2800">
                <a:latin typeface="Times New Roman" panose="02020603050405020304" pitchFamily="18" charset="0"/>
              </a:rPr>
              <a:t>	 </a:t>
            </a:r>
            <a:r>
              <a:rPr lang="en-US" altLang="en-US" sz="2800">
                <a:solidFill>
                  <a:srgbClr val="0066CC"/>
                </a:solidFill>
                <a:latin typeface="Times New Roman" panose="02020603050405020304" pitchFamily="18" charset="0"/>
              </a:rPr>
              <a:t>pointer-variable =  new data-type[size];</a:t>
            </a:r>
          </a:p>
          <a:p>
            <a:pPr algn="just">
              <a:lnSpc>
                <a:spcPct val="80000"/>
              </a:lnSpc>
            </a:pPr>
            <a:r>
              <a:rPr lang="en-US" altLang="en-US" sz="2800">
                <a:latin typeface="Times New Roman" panose="02020603050405020304" pitchFamily="18" charset="0"/>
              </a:rPr>
              <a:t>	</a:t>
            </a:r>
            <a:r>
              <a:rPr lang="en-US" altLang="en-US" sz="2800">
                <a:solidFill>
                  <a:srgbClr val="0066CC"/>
                </a:solidFill>
                <a:latin typeface="Times New Roman" panose="02020603050405020304" pitchFamily="18" charset="0"/>
              </a:rPr>
              <a:t>int *p=new int[10];</a:t>
            </a:r>
          </a:p>
          <a:p>
            <a:pPr algn="just">
              <a:lnSpc>
                <a:spcPct val="80000"/>
              </a:lnSpc>
              <a:buFontTx/>
              <a:buChar char="•"/>
            </a:pPr>
            <a:r>
              <a:rPr lang="en-US" altLang="en-US" sz="2800">
                <a:latin typeface="Times New Roman" panose="02020603050405020304" pitchFamily="18" charset="0"/>
              </a:rPr>
              <a:t>We can create multi dim arrays using new</a:t>
            </a:r>
          </a:p>
          <a:p>
            <a:pPr algn="just">
              <a:lnSpc>
                <a:spcPct val="80000"/>
              </a:lnSpc>
            </a:pPr>
            <a:r>
              <a:rPr lang="en-US" altLang="en-US" sz="2800">
                <a:latin typeface="Times New Roman" panose="02020603050405020304" pitchFamily="18" charset="0"/>
              </a:rPr>
              <a:t>	</a:t>
            </a:r>
            <a:r>
              <a:rPr lang="en-US" altLang="en-US" sz="2800">
                <a:solidFill>
                  <a:srgbClr val="0066CC"/>
                </a:solidFill>
                <a:latin typeface="Times New Roman" panose="02020603050405020304" pitchFamily="18" charset="0"/>
              </a:rPr>
              <a:t>array_ptr = new int[3][4][5];	//legal</a:t>
            </a:r>
          </a:p>
          <a:p>
            <a:pPr algn="just">
              <a:lnSpc>
                <a:spcPct val="80000"/>
              </a:lnSpc>
            </a:pPr>
            <a:r>
              <a:rPr lang="en-US" altLang="en-US" sz="2800">
                <a:solidFill>
                  <a:srgbClr val="0066CC"/>
                </a:solidFill>
                <a:latin typeface="Times New Roman" panose="02020603050405020304" pitchFamily="18" charset="0"/>
              </a:rPr>
              <a:t>	array_ptr = new int[m][4][5];	//legal</a:t>
            </a:r>
          </a:p>
          <a:p>
            <a:pPr algn="just">
              <a:lnSpc>
                <a:spcPct val="80000"/>
              </a:lnSpc>
            </a:pPr>
            <a:r>
              <a:rPr lang="en-US" altLang="en-US" sz="2800">
                <a:latin typeface="Times New Roman" panose="02020603050405020304" pitchFamily="18" charset="0"/>
              </a:rPr>
              <a:t>	</a:t>
            </a:r>
            <a:r>
              <a:rPr lang="en-US" altLang="en-US" sz="2800">
                <a:solidFill>
                  <a:srgbClr val="CC3300"/>
                </a:solidFill>
                <a:latin typeface="Times New Roman" panose="02020603050405020304" pitchFamily="18" charset="0"/>
              </a:rPr>
              <a:t>array_ptr = new int[3][4][ ];	//illegal	</a:t>
            </a:r>
          </a:p>
          <a:p>
            <a:pPr algn="just">
              <a:lnSpc>
                <a:spcPct val="80000"/>
              </a:lnSpc>
            </a:pPr>
            <a:r>
              <a:rPr lang="en-US" altLang="en-US" sz="2800">
                <a:solidFill>
                  <a:srgbClr val="CC3300"/>
                </a:solidFill>
                <a:latin typeface="Times New Roman" panose="02020603050405020304" pitchFamily="18" charset="0"/>
              </a:rPr>
              <a:t>	array_ptr = new int[ ][4][5];	// illegal</a:t>
            </a:r>
          </a:p>
          <a:p>
            <a:pPr algn="just">
              <a:lnSpc>
                <a:spcPct val="80000"/>
              </a:lnSpc>
            </a:pPr>
            <a:r>
              <a:rPr lang="en-US" altLang="en-US" sz="2800">
                <a:latin typeface="Times New Roman" panose="02020603050405020304" pitchFamily="18" charset="0"/>
              </a:rPr>
              <a:t>***1. all the array sizes must be supplied</a:t>
            </a:r>
          </a:p>
          <a:p>
            <a:pPr algn="just">
              <a:lnSpc>
                <a:spcPct val="80000"/>
              </a:lnSpc>
            </a:pPr>
            <a:r>
              <a:rPr lang="en-US" altLang="en-US" sz="2800">
                <a:latin typeface="Times New Roman" panose="02020603050405020304" pitchFamily="18" charset="0"/>
              </a:rPr>
              <a:t>      2. first dimension may be a variable whose value is supplied at run time. All other must be constants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C4017FE0-A43C-975F-8623-FA9B1BA58EDD}"/>
              </a:ext>
            </a:extLst>
          </p:cNvPr>
          <p:cNvSpPr>
            <a:spLocks noGrp="1" noChangeArrowheads="1"/>
          </p:cNvSpPr>
          <p:nvPr>
            <p:ph type="ctrTitle"/>
          </p:nvPr>
        </p:nvSpPr>
        <p:spPr>
          <a:xfrm>
            <a:off x="685800" y="152400"/>
            <a:ext cx="7772400" cy="457200"/>
          </a:xfrm>
        </p:spPr>
        <p:txBody>
          <a:bodyPr/>
          <a:lstStyle/>
          <a:p>
            <a:r>
              <a:rPr lang="en-US" altLang="en-US" sz="2800">
                <a:solidFill>
                  <a:schemeClr val="accent2"/>
                </a:solidFill>
              </a:rPr>
              <a:t>Memory management operators contd…</a:t>
            </a:r>
          </a:p>
        </p:txBody>
      </p:sp>
      <p:sp>
        <p:nvSpPr>
          <p:cNvPr id="19459" name="Rectangle 3">
            <a:extLst>
              <a:ext uri="{FF2B5EF4-FFF2-40B4-BE49-F238E27FC236}">
                <a16:creationId xmlns:a16="http://schemas.microsoft.com/office/drawing/2014/main" id="{A9D767F3-5AF8-9550-B522-FB92E937EA91}"/>
              </a:ext>
            </a:extLst>
          </p:cNvPr>
          <p:cNvSpPr>
            <a:spLocks noGrp="1" noChangeArrowheads="1"/>
          </p:cNvSpPr>
          <p:nvPr>
            <p:ph type="subTitle" idx="1"/>
          </p:nvPr>
        </p:nvSpPr>
        <p:spPr>
          <a:xfrm>
            <a:off x="228600" y="609600"/>
            <a:ext cx="8686800" cy="6019800"/>
          </a:xfrm>
        </p:spPr>
        <p:txBody>
          <a:bodyPr/>
          <a:lstStyle/>
          <a:p>
            <a:pPr algn="just">
              <a:lnSpc>
                <a:spcPct val="80000"/>
              </a:lnSpc>
              <a:buFontTx/>
              <a:buChar char="•"/>
            </a:pPr>
            <a:r>
              <a:rPr lang="en-US" altLang="en-US" sz="2800">
                <a:latin typeface="Times New Roman" panose="02020603050405020304" pitchFamily="18" charset="0"/>
              </a:rPr>
              <a:t>When a data object is no longer needed, it is destroyed to release the memory space for reuse</a:t>
            </a:r>
          </a:p>
          <a:p>
            <a:pPr algn="just">
              <a:lnSpc>
                <a:spcPct val="80000"/>
              </a:lnSpc>
            </a:pPr>
            <a:r>
              <a:rPr lang="en-US" altLang="en-US" sz="2800">
                <a:latin typeface="Times New Roman" panose="02020603050405020304" pitchFamily="18" charset="0"/>
              </a:rPr>
              <a:t>	general form:   delete pointer-variable;</a:t>
            </a:r>
          </a:p>
          <a:p>
            <a:pPr algn="just">
              <a:lnSpc>
                <a:spcPct val="80000"/>
              </a:lnSpc>
            </a:pPr>
            <a:r>
              <a:rPr lang="en-US" altLang="en-US" sz="2800">
                <a:latin typeface="Times New Roman" panose="02020603050405020304" pitchFamily="18" charset="0"/>
              </a:rPr>
              <a:t>	eg:   </a:t>
            </a:r>
            <a:r>
              <a:rPr lang="en-US" altLang="en-US" sz="2800">
                <a:solidFill>
                  <a:srgbClr val="0066CC"/>
                </a:solidFill>
                <a:latin typeface="Times New Roman" panose="02020603050405020304" pitchFamily="18" charset="0"/>
              </a:rPr>
              <a:t>delete p;</a:t>
            </a:r>
          </a:p>
          <a:p>
            <a:pPr algn="just">
              <a:lnSpc>
                <a:spcPct val="80000"/>
              </a:lnSpc>
            </a:pPr>
            <a:r>
              <a:rPr lang="en-US" altLang="en-US" sz="2800">
                <a:latin typeface="Times New Roman" panose="02020603050405020304" pitchFamily="18" charset="0"/>
              </a:rPr>
              <a:t>	        delete q;</a:t>
            </a:r>
          </a:p>
          <a:p>
            <a:pPr algn="just">
              <a:lnSpc>
                <a:spcPct val="80000"/>
              </a:lnSpc>
              <a:buFontTx/>
              <a:buChar char="•"/>
            </a:pPr>
            <a:r>
              <a:rPr lang="en-US" altLang="en-US" sz="2800">
                <a:latin typeface="Times New Roman" panose="02020603050405020304" pitchFamily="18" charset="0"/>
              </a:rPr>
              <a:t>For arrays</a:t>
            </a:r>
          </a:p>
          <a:p>
            <a:pPr algn="just">
              <a:lnSpc>
                <a:spcPct val="80000"/>
              </a:lnSpc>
            </a:pPr>
            <a:r>
              <a:rPr lang="en-US" altLang="en-US" sz="2800">
                <a:latin typeface="Times New Roman" panose="02020603050405020304" pitchFamily="18" charset="0"/>
              </a:rPr>
              <a:t>	 general form:   </a:t>
            </a:r>
            <a:r>
              <a:rPr lang="en-US" altLang="en-US" sz="2800">
                <a:solidFill>
                  <a:srgbClr val="0066CC"/>
                </a:solidFill>
                <a:latin typeface="Times New Roman" panose="02020603050405020304" pitchFamily="18" charset="0"/>
              </a:rPr>
              <a:t>delete [size] pointer-variable</a:t>
            </a:r>
            <a:r>
              <a:rPr lang="en-US" altLang="en-US" sz="2800">
                <a:latin typeface="Times New Roman" panose="02020603050405020304" pitchFamily="18" charset="0"/>
              </a:rPr>
              <a:t>;</a:t>
            </a:r>
          </a:p>
          <a:p>
            <a:pPr algn="just">
              <a:lnSpc>
                <a:spcPct val="80000"/>
              </a:lnSpc>
            </a:pPr>
            <a:r>
              <a:rPr lang="en-US" altLang="en-US" sz="2800">
                <a:latin typeface="Times New Roman" panose="02020603050405020304" pitchFamily="18" charset="0"/>
              </a:rPr>
              <a:t>	size specifies the number of elements in the array to be freed. </a:t>
            </a:r>
          </a:p>
          <a:p>
            <a:pPr algn="just">
              <a:lnSpc>
                <a:spcPct val="80000"/>
              </a:lnSpc>
            </a:pPr>
            <a:r>
              <a:rPr lang="en-US" altLang="en-US" sz="2800">
                <a:latin typeface="Times New Roman" panose="02020603050405020304" pitchFamily="18" charset="0"/>
              </a:rPr>
              <a:t>	Size should be remember by programmer.</a:t>
            </a:r>
          </a:p>
          <a:p>
            <a:pPr algn="just">
              <a:lnSpc>
                <a:spcPct val="80000"/>
              </a:lnSpc>
            </a:pPr>
            <a:r>
              <a:rPr lang="en-US" altLang="en-US" sz="2800">
                <a:latin typeface="Times New Roman" panose="02020603050405020304" pitchFamily="18" charset="0"/>
              </a:rPr>
              <a:t>Recent versions of C++ do not require size to be specified</a:t>
            </a:r>
          </a:p>
          <a:p>
            <a:pPr algn="just">
              <a:lnSpc>
                <a:spcPct val="80000"/>
              </a:lnSpc>
            </a:pPr>
            <a:r>
              <a:rPr lang="en-US" altLang="en-US" sz="2800">
                <a:latin typeface="Times New Roman" panose="02020603050405020304" pitchFamily="18" charset="0"/>
              </a:rPr>
              <a:t>	</a:t>
            </a:r>
            <a:r>
              <a:rPr lang="en-US" altLang="en-US" sz="2800">
                <a:solidFill>
                  <a:srgbClr val="0066CC"/>
                </a:solidFill>
                <a:latin typeface="Times New Roman" panose="02020603050405020304" pitchFamily="18" charset="0"/>
              </a:rPr>
              <a:t>delete [ ] p;</a:t>
            </a:r>
            <a:r>
              <a:rPr lang="en-US" altLang="en-US" sz="2800">
                <a:latin typeface="Times New Roman" panose="02020603050405020304" pitchFamily="18" charset="0"/>
              </a:rPr>
              <a:t>	// will delete entire array pointed by p</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1934C1DB-86E6-1F4B-F429-CE0978A7BAE6}"/>
              </a:ext>
            </a:extLst>
          </p:cNvPr>
          <p:cNvSpPr>
            <a:spLocks noGrp="1" noChangeArrowheads="1"/>
          </p:cNvSpPr>
          <p:nvPr>
            <p:ph type="ctrTitle"/>
          </p:nvPr>
        </p:nvSpPr>
        <p:spPr>
          <a:xfrm>
            <a:off x="685800" y="152400"/>
            <a:ext cx="7772400" cy="457200"/>
          </a:xfrm>
        </p:spPr>
        <p:txBody>
          <a:bodyPr/>
          <a:lstStyle/>
          <a:p>
            <a:r>
              <a:rPr lang="en-US" altLang="en-US" sz="2800">
                <a:solidFill>
                  <a:schemeClr val="accent2"/>
                </a:solidFill>
              </a:rPr>
              <a:t>Memory management operators contd…</a:t>
            </a:r>
          </a:p>
        </p:txBody>
      </p:sp>
      <p:sp>
        <p:nvSpPr>
          <p:cNvPr id="20483" name="Rectangle 3">
            <a:extLst>
              <a:ext uri="{FF2B5EF4-FFF2-40B4-BE49-F238E27FC236}">
                <a16:creationId xmlns:a16="http://schemas.microsoft.com/office/drawing/2014/main" id="{DD56A57B-71A9-7562-7736-3F48AB573939}"/>
              </a:ext>
            </a:extLst>
          </p:cNvPr>
          <p:cNvSpPr>
            <a:spLocks noGrp="1" noChangeArrowheads="1"/>
          </p:cNvSpPr>
          <p:nvPr>
            <p:ph type="subTitle" idx="1"/>
          </p:nvPr>
        </p:nvSpPr>
        <p:spPr>
          <a:xfrm>
            <a:off x="228600" y="609600"/>
            <a:ext cx="8686800" cy="6019800"/>
          </a:xfrm>
        </p:spPr>
        <p:txBody>
          <a:bodyPr/>
          <a:lstStyle/>
          <a:p>
            <a:pPr algn="just">
              <a:buFontTx/>
              <a:buChar char="•"/>
            </a:pPr>
            <a:r>
              <a:rPr lang="en-US" altLang="en-US">
                <a:latin typeface="Times New Roman" panose="02020603050405020304" pitchFamily="18" charset="0"/>
              </a:rPr>
              <a:t>new operator returns a </a:t>
            </a:r>
            <a:r>
              <a:rPr lang="en-US" altLang="en-US">
                <a:solidFill>
                  <a:srgbClr val="0066CC"/>
                </a:solidFill>
                <a:latin typeface="Times New Roman" panose="02020603050405020304" pitchFamily="18" charset="0"/>
              </a:rPr>
              <a:t>null</a:t>
            </a:r>
            <a:r>
              <a:rPr lang="en-US" altLang="en-US">
                <a:latin typeface="Times New Roman" panose="02020603050405020304" pitchFamily="18" charset="0"/>
              </a:rPr>
              <a:t> pointer if memory is </a:t>
            </a:r>
            <a:r>
              <a:rPr lang="en-US" altLang="en-US">
                <a:solidFill>
                  <a:srgbClr val="0066CC"/>
                </a:solidFill>
                <a:latin typeface="Times New Roman" panose="02020603050405020304" pitchFamily="18" charset="0"/>
              </a:rPr>
              <a:t>unavailable</a:t>
            </a:r>
          </a:p>
          <a:p>
            <a:pPr algn="just">
              <a:buFontTx/>
              <a:buChar char="•"/>
            </a:pPr>
            <a:r>
              <a:rPr lang="en-US" altLang="en-US">
                <a:latin typeface="Times New Roman" panose="02020603050405020304" pitchFamily="18" charset="0"/>
              </a:rPr>
              <a:t>It may be good idea to check the pointer produced by new before using it</a:t>
            </a:r>
          </a:p>
          <a:p>
            <a:pPr algn="just"/>
            <a:r>
              <a:rPr lang="en-US" altLang="en-US">
                <a:latin typeface="Times New Roman" panose="02020603050405020304" pitchFamily="18" charset="0"/>
              </a:rPr>
              <a:t>	…..</a:t>
            </a:r>
          </a:p>
          <a:p>
            <a:pPr algn="just"/>
            <a:r>
              <a:rPr lang="en-US" altLang="en-US">
                <a:latin typeface="Times New Roman" panose="02020603050405020304" pitchFamily="18" charset="0"/>
              </a:rPr>
              <a:t>	</a:t>
            </a:r>
            <a:r>
              <a:rPr lang="en-US" altLang="en-US">
                <a:solidFill>
                  <a:srgbClr val="0066CC"/>
                </a:solidFill>
                <a:latin typeface="Times New Roman" panose="02020603050405020304" pitchFamily="18" charset="0"/>
              </a:rPr>
              <a:t>int  *p = new int;</a:t>
            </a:r>
          </a:p>
          <a:p>
            <a:pPr algn="just"/>
            <a:r>
              <a:rPr lang="en-US" altLang="en-US">
                <a:solidFill>
                  <a:srgbClr val="0066CC"/>
                </a:solidFill>
                <a:latin typeface="Times New Roman" panose="02020603050405020304" pitchFamily="18" charset="0"/>
              </a:rPr>
              <a:t>	if (!p)</a:t>
            </a:r>
          </a:p>
          <a:p>
            <a:pPr algn="just"/>
            <a:r>
              <a:rPr lang="en-US" altLang="en-US">
                <a:solidFill>
                  <a:srgbClr val="0066CC"/>
                </a:solidFill>
                <a:latin typeface="Times New Roman" panose="02020603050405020304" pitchFamily="18" charset="0"/>
              </a:rPr>
              <a:t>		cout &lt;&lt; “allocation failed”;</a:t>
            </a:r>
          </a:p>
          <a:p>
            <a:pPr algn="just"/>
            <a:r>
              <a:rPr lang="en-US" altLang="en-US">
                <a:latin typeface="Times New Roman" panose="02020603050405020304" pitchFamily="18" charset="0"/>
              </a:rPr>
              <a:t>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741D6795-1F15-5513-610F-2DC22CEDE225}"/>
              </a:ext>
            </a:extLst>
          </p:cNvPr>
          <p:cNvSpPr>
            <a:spLocks noGrp="1" noChangeArrowheads="1"/>
          </p:cNvSpPr>
          <p:nvPr>
            <p:ph type="ctrTitle"/>
          </p:nvPr>
        </p:nvSpPr>
        <p:spPr>
          <a:xfrm>
            <a:off x="685800" y="152400"/>
            <a:ext cx="7772400" cy="457200"/>
          </a:xfrm>
        </p:spPr>
        <p:txBody>
          <a:bodyPr/>
          <a:lstStyle/>
          <a:p>
            <a:r>
              <a:rPr lang="en-US" altLang="en-US" sz="2800">
                <a:solidFill>
                  <a:schemeClr val="accent2"/>
                </a:solidFill>
              </a:rPr>
              <a:t>Memory management operators contd…</a:t>
            </a:r>
          </a:p>
        </p:txBody>
      </p:sp>
      <p:sp>
        <p:nvSpPr>
          <p:cNvPr id="21507" name="Rectangle 3">
            <a:extLst>
              <a:ext uri="{FF2B5EF4-FFF2-40B4-BE49-F238E27FC236}">
                <a16:creationId xmlns:a16="http://schemas.microsoft.com/office/drawing/2014/main" id="{6C95365C-30F0-66E6-ACF9-E0DD75DDB950}"/>
              </a:ext>
            </a:extLst>
          </p:cNvPr>
          <p:cNvSpPr>
            <a:spLocks noGrp="1" noChangeArrowheads="1"/>
          </p:cNvSpPr>
          <p:nvPr>
            <p:ph type="subTitle" idx="1"/>
          </p:nvPr>
        </p:nvSpPr>
        <p:spPr>
          <a:xfrm>
            <a:off x="228600" y="609600"/>
            <a:ext cx="8686800" cy="6019800"/>
          </a:xfrm>
        </p:spPr>
        <p:txBody>
          <a:bodyPr/>
          <a:lstStyle/>
          <a:p>
            <a:pPr marL="609600" indent="-609600" algn="just">
              <a:buFontTx/>
              <a:buChar char="•"/>
            </a:pPr>
            <a:r>
              <a:rPr lang="en-US" altLang="en-US">
                <a:latin typeface="Times New Roman" panose="02020603050405020304" pitchFamily="18" charset="0"/>
              </a:rPr>
              <a:t>New operator offers the following advantages over the malloc() function</a:t>
            </a:r>
          </a:p>
          <a:p>
            <a:pPr marL="990600" lvl="1" indent="-533400" algn="just">
              <a:buFontTx/>
              <a:buAutoNum type="arabicPeriod"/>
            </a:pPr>
            <a:r>
              <a:rPr lang="en-US" altLang="en-US">
                <a:latin typeface="Times New Roman" panose="02020603050405020304" pitchFamily="18" charset="0"/>
              </a:rPr>
              <a:t>It automatically computes the size of the data object. No need to use sizeof</a:t>
            </a:r>
          </a:p>
          <a:p>
            <a:pPr marL="990600" lvl="1" indent="-533400" algn="just">
              <a:buFontTx/>
              <a:buAutoNum type="arabicPeriod"/>
            </a:pPr>
            <a:r>
              <a:rPr lang="en-US" altLang="en-US">
                <a:latin typeface="Times New Roman" panose="02020603050405020304" pitchFamily="18" charset="0"/>
              </a:rPr>
              <a:t>It automatically returns the correct pointer type. No need to use type cast</a:t>
            </a:r>
          </a:p>
          <a:p>
            <a:pPr marL="990600" lvl="1" indent="-533400" algn="just">
              <a:buFontTx/>
              <a:buAutoNum type="arabicPeriod"/>
            </a:pPr>
            <a:r>
              <a:rPr lang="en-US" altLang="en-US">
                <a:latin typeface="Times New Roman" panose="02020603050405020304" pitchFamily="18" charset="0"/>
              </a:rPr>
              <a:t>It is possible to initialize the object while creating the memory space</a:t>
            </a:r>
          </a:p>
          <a:p>
            <a:pPr marL="990600" lvl="1" indent="-533400" algn="just">
              <a:buFontTx/>
              <a:buAutoNum type="arabicPeriod"/>
            </a:pPr>
            <a:r>
              <a:rPr lang="en-US" altLang="en-US">
                <a:latin typeface="Times New Roman" panose="02020603050405020304" pitchFamily="18" charset="0"/>
              </a:rPr>
              <a:t>Like any other operator, new and delete can be overloaded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630D88EB-F6F3-9382-32DC-12FF1B09B9ED}"/>
              </a:ext>
            </a:extLst>
          </p:cNvPr>
          <p:cNvSpPr>
            <a:spLocks noGrp="1" noChangeArrowheads="1"/>
          </p:cNvSpPr>
          <p:nvPr>
            <p:ph type="ctrTitle"/>
          </p:nvPr>
        </p:nvSpPr>
        <p:spPr>
          <a:xfrm>
            <a:off x="685800" y="152400"/>
            <a:ext cx="7772400" cy="457200"/>
          </a:xfrm>
        </p:spPr>
        <p:txBody>
          <a:bodyPr/>
          <a:lstStyle/>
          <a:p>
            <a:r>
              <a:rPr lang="en-US" altLang="en-US" sz="2800">
                <a:solidFill>
                  <a:schemeClr val="accent2"/>
                </a:solidFill>
              </a:rPr>
              <a:t>Type cast operator</a:t>
            </a:r>
          </a:p>
        </p:txBody>
      </p:sp>
      <p:sp>
        <p:nvSpPr>
          <p:cNvPr id="22531" name="Rectangle 3">
            <a:extLst>
              <a:ext uri="{FF2B5EF4-FFF2-40B4-BE49-F238E27FC236}">
                <a16:creationId xmlns:a16="http://schemas.microsoft.com/office/drawing/2014/main" id="{00D04FEA-A5CA-9CE8-D7BA-9785CCDCD6E1}"/>
              </a:ext>
            </a:extLst>
          </p:cNvPr>
          <p:cNvSpPr>
            <a:spLocks noGrp="1" noChangeArrowheads="1"/>
          </p:cNvSpPr>
          <p:nvPr>
            <p:ph type="subTitle" idx="1"/>
          </p:nvPr>
        </p:nvSpPr>
        <p:spPr>
          <a:xfrm>
            <a:off x="228600" y="609600"/>
            <a:ext cx="8686800" cy="6019800"/>
          </a:xfrm>
        </p:spPr>
        <p:txBody>
          <a:bodyPr/>
          <a:lstStyle/>
          <a:p>
            <a:pPr marL="609600" indent="-609600" algn="just">
              <a:buFontTx/>
              <a:buChar char="•"/>
            </a:pPr>
            <a:r>
              <a:rPr lang="en-US" altLang="en-US">
                <a:latin typeface="Times New Roman" panose="02020603050405020304" pitchFamily="18" charset="0"/>
              </a:rPr>
              <a:t>C++ permits type conversion of variables or expression using type cast operator</a:t>
            </a:r>
          </a:p>
          <a:p>
            <a:pPr marL="609600" indent="-609600" algn="just"/>
            <a:r>
              <a:rPr lang="en-US" altLang="en-US">
                <a:latin typeface="Times New Roman" panose="02020603050405020304" pitchFamily="18" charset="0"/>
              </a:rPr>
              <a:t>	(type-name) expression 		// C notation</a:t>
            </a:r>
          </a:p>
          <a:p>
            <a:pPr marL="609600" indent="-609600" algn="just"/>
            <a:r>
              <a:rPr lang="en-US" altLang="en-US">
                <a:latin typeface="Times New Roman" panose="02020603050405020304" pitchFamily="18" charset="0"/>
              </a:rPr>
              <a:t>	 expression (type-name) 	 // C++ notation</a:t>
            </a:r>
          </a:p>
          <a:p>
            <a:pPr marL="609600" indent="-609600" algn="just"/>
            <a:r>
              <a:rPr lang="en-US" altLang="en-US">
                <a:latin typeface="Times New Roman" panose="02020603050405020304" pitchFamily="18" charset="0"/>
              </a:rPr>
              <a:t>	eg:</a:t>
            </a:r>
          </a:p>
          <a:p>
            <a:pPr marL="609600" indent="-609600" algn="just"/>
            <a:r>
              <a:rPr lang="en-US" altLang="en-US">
                <a:latin typeface="Times New Roman" panose="02020603050405020304" pitchFamily="18" charset="0"/>
              </a:rPr>
              <a:t>		avg = sum /(float) i;	 // C notation</a:t>
            </a:r>
          </a:p>
          <a:p>
            <a:pPr marL="609600" indent="-609600" algn="just"/>
            <a:r>
              <a:rPr lang="en-US" altLang="en-US">
                <a:latin typeface="Times New Roman" panose="02020603050405020304" pitchFamily="18" charset="0"/>
              </a:rPr>
              <a:t>		avg = sum /i (float);	 // C++ notation	</a:t>
            </a:r>
          </a:p>
          <a:p>
            <a:pPr marL="609600" indent="-609600" algn="just"/>
            <a:r>
              <a:rPr lang="en-US" altLang="en-US">
                <a:latin typeface="Times New Roman" panose="02020603050405020304" pitchFamily="18" charset="0"/>
              </a:rPr>
              <a:t>*both are valid in C++</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FF73946F-40A9-50C4-8FF3-3144E5154439}"/>
              </a:ext>
            </a:extLst>
          </p:cNvPr>
          <p:cNvSpPr>
            <a:spLocks noGrp="1" noChangeArrowheads="1"/>
          </p:cNvSpPr>
          <p:nvPr>
            <p:ph type="ctrTitle"/>
          </p:nvPr>
        </p:nvSpPr>
        <p:spPr>
          <a:xfrm>
            <a:off x="685800" y="152400"/>
            <a:ext cx="7772400" cy="457200"/>
          </a:xfrm>
        </p:spPr>
        <p:txBody>
          <a:bodyPr/>
          <a:lstStyle/>
          <a:p>
            <a:r>
              <a:rPr lang="en-US" altLang="en-US" sz="3600">
                <a:solidFill>
                  <a:schemeClr val="accent2"/>
                </a:solidFill>
              </a:rPr>
              <a:t>Expressions and their types</a:t>
            </a:r>
          </a:p>
        </p:txBody>
      </p:sp>
      <p:sp>
        <p:nvSpPr>
          <p:cNvPr id="23555" name="Rectangle 3">
            <a:extLst>
              <a:ext uri="{FF2B5EF4-FFF2-40B4-BE49-F238E27FC236}">
                <a16:creationId xmlns:a16="http://schemas.microsoft.com/office/drawing/2014/main" id="{A29FC724-C898-5838-BE49-6A7BF89A258E}"/>
              </a:ext>
            </a:extLst>
          </p:cNvPr>
          <p:cNvSpPr>
            <a:spLocks noGrp="1" noChangeArrowheads="1"/>
          </p:cNvSpPr>
          <p:nvPr>
            <p:ph type="subTitle" idx="1"/>
          </p:nvPr>
        </p:nvSpPr>
        <p:spPr>
          <a:xfrm>
            <a:off x="228600" y="609600"/>
            <a:ext cx="8686800" cy="6019800"/>
          </a:xfrm>
        </p:spPr>
        <p:txBody>
          <a:bodyPr/>
          <a:lstStyle/>
          <a:p>
            <a:pPr marL="609600" indent="-609600" algn="just">
              <a:lnSpc>
                <a:spcPct val="90000"/>
              </a:lnSpc>
              <a:buFontTx/>
              <a:buChar char="•"/>
            </a:pPr>
            <a:endParaRPr lang="en-US" altLang="en-US" sz="2800">
              <a:latin typeface="Times New Roman" panose="02020603050405020304" pitchFamily="18" charset="0"/>
            </a:endParaRPr>
          </a:p>
          <a:p>
            <a:pPr marL="609600" indent="-609600" algn="just">
              <a:lnSpc>
                <a:spcPct val="90000"/>
              </a:lnSpc>
              <a:buFontTx/>
              <a:buChar char="•"/>
            </a:pPr>
            <a:r>
              <a:rPr lang="en-US" altLang="en-US" sz="2800">
                <a:latin typeface="Times New Roman" panose="02020603050405020304" pitchFamily="18" charset="0"/>
              </a:rPr>
              <a:t>An expression is combination of operators, constants and variables arranged as per the rules of the language. It may include function calls which return values.</a:t>
            </a:r>
          </a:p>
          <a:p>
            <a:pPr marL="609600" indent="-609600" algn="just">
              <a:lnSpc>
                <a:spcPct val="90000"/>
              </a:lnSpc>
              <a:buFontTx/>
              <a:buChar char="•"/>
            </a:pPr>
            <a:r>
              <a:rPr lang="en-US" altLang="en-US" sz="2800">
                <a:latin typeface="Times New Roman" panose="02020603050405020304" pitchFamily="18" charset="0"/>
              </a:rPr>
              <a:t>Types</a:t>
            </a:r>
          </a:p>
          <a:p>
            <a:pPr marL="990600" lvl="1" indent="-533400" algn="just">
              <a:lnSpc>
                <a:spcPct val="90000"/>
              </a:lnSpc>
              <a:buFontTx/>
              <a:buAutoNum type="arabicPeriod"/>
            </a:pPr>
            <a:r>
              <a:rPr lang="en-US" altLang="en-US" sz="2400">
                <a:latin typeface="Times New Roman" panose="02020603050405020304" pitchFamily="18" charset="0"/>
              </a:rPr>
              <a:t>Constant expression</a:t>
            </a:r>
          </a:p>
          <a:p>
            <a:pPr marL="990600" lvl="1" indent="-533400" algn="just">
              <a:lnSpc>
                <a:spcPct val="90000"/>
              </a:lnSpc>
              <a:buFontTx/>
              <a:buAutoNum type="arabicPeriod"/>
            </a:pPr>
            <a:r>
              <a:rPr lang="en-US" altLang="en-US" sz="2400">
                <a:latin typeface="Times New Roman" panose="02020603050405020304" pitchFamily="18" charset="0"/>
              </a:rPr>
              <a:t>Integral expression</a:t>
            </a:r>
          </a:p>
          <a:p>
            <a:pPr marL="990600" lvl="1" indent="-533400" algn="just">
              <a:lnSpc>
                <a:spcPct val="90000"/>
              </a:lnSpc>
              <a:buFontTx/>
              <a:buAutoNum type="arabicPeriod"/>
            </a:pPr>
            <a:r>
              <a:rPr lang="en-US" altLang="en-US" sz="2400">
                <a:latin typeface="Times New Roman" panose="02020603050405020304" pitchFamily="18" charset="0"/>
              </a:rPr>
              <a:t>Float expression</a:t>
            </a:r>
          </a:p>
          <a:p>
            <a:pPr marL="990600" lvl="1" indent="-533400" algn="just">
              <a:lnSpc>
                <a:spcPct val="90000"/>
              </a:lnSpc>
              <a:buFontTx/>
              <a:buAutoNum type="arabicPeriod"/>
            </a:pPr>
            <a:r>
              <a:rPr lang="en-US" altLang="en-US" sz="2400">
                <a:latin typeface="Times New Roman" panose="02020603050405020304" pitchFamily="18" charset="0"/>
              </a:rPr>
              <a:t>Pointer expression</a:t>
            </a:r>
          </a:p>
          <a:p>
            <a:pPr marL="990600" lvl="1" indent="-533400" algn="just">
              <a:lnSpc>
                <a:spcPct val="90000"/>
              </a:lnSpc>
              <a:buFontTx/>
              <a:buAutoNum type="arabicPeriod"/>
            </a:pPr>
            <a:r>
              <a:rPr lang="en-US" altLang="en-US" sz="2400">
                <a:latin typeface="Times New Roman" panose="02020603050405020304" pitchFamily="18" charset="0"/>
              </a:rPr>
              <a:t>Relational expression</a:t>
            </a:r>
          </a:p>
          <a:p>
            <a:pPr marL="990600" lvl="1" indent="-533400" algn="just">
              <a:lnSpc>
                <a:spcPct val="90000"/>
              </a:lnSpc>
              <a:buFontTx/>
              <a:buAutoNum type="arabicPeriod"/>
            </a:pPr>
            <a:r>
              <a:rPr lang="en-US" altLang="en-US" sz="2400">
                <a:latin typeface="Times New Roman" panose="02020603050405020304" pitchFamily="18" charset="0"/>
              </a:rPr>
              <a:t>Logical expression</a:t>
            </a:r>
          </a:p>
          <a:p>
            <a:pPr marL="990600" lvl="1" indent="-533400" algn="just">
              <a:lnSpc>
                <a:spcPct val="90000"/>
              </a:lnSpc>
              <a:buFontTx/>
              <a:buAutoNum type="arabicPeriod"/>
            </a:pPr>
            <a:r>
              <a:rPr lang="en-US" altLang="en-US" sz="2400">
                <a:latin typeface="Times New Roman" panose="02020603050405020304" pitchFamily="18" charset="0"/>
              </a:rPr>
              <a:t>Bitwise expression</a:t>
            </a:r>
          </a:p>
          <a:p>
            <a:pPr marL="609600" indent="-609600" algn="just">
              <a:lnSpc>
                <a:spcPct val="90000"/>
              </a:lnSpc>
              <a:buFontTx/>
              <a:buChar char="–"/>
            </a:pPr>
            <a:r>
              <a:rPr lang="en-US" altLang="en-US" sz="2800">
                <a:latin typeface="Times New Roman" panose="02020603050405020304" pitchFamily="18" charset="0"/>
              </a:rPr>
              <a:t>An expression may also use combinations of the above expressions called as compound expressions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48E6FB55-2C4F-D628-E38E-1690E40FEEF4}"/>
              </a:ext>
            </a:extLst>
          </p:cNvPr>
          <p:cNvSpPr>
            <a:spLocks noGrp="1" noChangeArrowheads="1"/>
          </p:cNvSpPr>
          <p:nvPr>
            <p:ph type="ctrTitle"/>
          </p:nvPr>
        </p:nvSpPr>
        <p:spPr>
          <a:xfrm>
            <a:off x="685800" y="152400"/>
            <a:ext cx="7772400" cy="457200"/>
          </a:xfrm>
        </p:spPr>
        <p:txBody>
          <a:bodyPr/>
          <a:lstStyle/>
          <a:p>
            <a:r>
              <a:rPr lang="en-US" altLang="en-US" sz="3600">
                <a:solidFill>
                  <a:schemeClr val="accent2"/>
                </a:solidFill>
              </a:rPr>
              <a:t>Constant Expressions</a:t>
            </a:r>
          </a:p>
        </p:txBody>
      </p:sp>
      <p:sp>
        <p:nvSpPr>
          <p:cNvPr id="24579" name="Rectangle 3">
            <a:extLst>
              <a:ext uri="{FF2B5EF4-FFF2-40B4-BE49-F238E27FC236}">
                <a16:creationId xmlns:a16="http://schemas.microsoft.com/office/drawing/2014/main" id="{B2389284-2189-13CB-B21D-B226F12E4149}"/>
              </a:ext>
            </a:extLst>
          </p:cNvPr>
          <p:cNvSpPr>
            <a:spLocks noGrp="1" noChangeArrowheads="1"/>
          </p:cNvSpPr>
          <p:nvPr>
            <p:ph type="subTitle" idx="1"/>
          </p:nvPr>
        </p:nvSpPr>
        <p:spPr>
          <a:xfrm>
            <a:off x="228600" y="609600"/>
            <a:ext cx="8686800" cy="6019800"/>
          </a:xfrm>
        </p:spPr>
        <p:txBody>
          <a:bodyPr/>
          <a:lstStyle/>
          <a:p>
            <a:pPr marL="609600" indent="-609600" algn="just">
              <a:buFontTx/>
              <a:buChar char="•"/>
            </a:pPr>
            <a:endParaRPr lang="en-US" altLang="en-US">
              <a:latin typeface="Times New Roman" panose="02020603050405020304" pitchFamily="18" charset="0"/>
            </a:endParaRPr>
          </a:p>
          <a:p>
            <a:pPr marL="609600" indent="-609600" algn="just">
              <a:buFontTx/>
              <a:buChar char="•"/>
            </a:pPr>
            <a:r>
              <a:rPr lang="en-US" altLang="en-US">
                <a:latin typeface="Times New Roman" panose="02020603050405020304" pitchFamily="18" charset="0"/>
              </a:rPr>
              <a:t>Constant expressions consist of only constant values</a:t>
            </a:r>
          </a:p>
          <a:p>
            <a:pPr marL="609600" indent="-609600" algn="just">
              <a:buFontTx/>
              <a:buChar char="•"/>
            </a:pPr>
            <a:r>
              <a:rPr lang="en-US" altLang="en-US">
                <a:latin typeface="Times New Roman" panose="02020603050405020304" pitchFamily="18" charset="0"/>
              </a:rPr>
              <a:t>Eg: 	10</a:t>
            </a:r>
          </a:p>
          <a:p>
            <a:pPr marL="609600" indent="-609600" algn="just"/>
            <a:r>
              <a:rPr lang="en-US" altLang="en-US">
                <a:latin typeface="Times New Roman" panose="02020603050405020304" pitchFamily="18" charset="0"/>
              </a:rPr>
              <a:t>			20-2/9.6</a:t>
            </a:r>
          </a:p>
          <a:p>
            <a:pPr marL="609600" indent="-609600" algn="just"/>
            <a:r>
              <a:rPr lang="en-US" altLang="en-US">
                <a:latin typeface="Times New Roman" panose="02020603050405020304" pitchFamily="18" charset="0"/>
              </a:rPr>
              <a:t>			‘s’</a:t>
            </a:r>
          </a:p>
          <a:p>
            <a:pPr marL="609600" indent="-609600" algn="just"/>
            <a:endParaRPr lang="en-US" altLang="en-US">
              <a:latin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31ABE3A8-E6BA-DE26-297E-B3787543751F}"/>
              </a:ext>
            </a:extLst>
          </p:cNvPr>
          <p:cNvSpPr>
            <a:spLocks noGrp="1" noChangeArrowheads="1"/>
          </p:cNvSpPr>
          <p:nvPr>
            <p:ph type="ctrTitle"/>
          </p:nvPr>
        </p:nvSpPr>
        <p:spPr>
          <a:xfrm>
            <a:off x="685800" y="152400"/>
            <a:ext cx="7772400" cy="457200"/>
          </a:xfrm>
        </p:spPr>
        <p:txBody>
          <a:bodyPr/>
          <a:lstStyle/>
          <a:p>
            <a:r>
              <a:rPr lang="en-US" altLang="en-US" sz="3600">
                <a:solidFill>
                  <a:schemeClr val="accent2"/>
                </a:solidFill>
              </a:rPr>
              <a:t>Integral Expressions</a:t>
            </a:r>
          </a:p>
        </p:txBody>
      </p:sp>
      <p:sp>
        <p:nvSpPr>
          <p:cNvPr id="25603" name="Rectangle 3">
            <a:extLst>
              <a:ext uri="{FF2B5EF4-FFF2-40B4-BE49-F238E27FC236}">
                <a16:creationId xmlns:a16="http://schemas.microsoft.com/office/drawing/2014/main" id="{A132E841-356F-EC29-2743-13D7E85C60CD}"/>
              </a:ext>
            </a:extLst>
          </p:cNvPr>
          <p:cNvSpPr>
            <a:spLocks noGrp="1" noChangeArrowheads="1"/>
          </p:cNvSpPr>
          <p:nvPr>
            <p:ph type="subTitle" idx="1"/>
          </p:nvPr>
        </p:nvSpPr>
        <p:spPr>
          <a:xfrm>
            <a:off x="228600" y="609600"/>
            <a:ext cx="8686800" cy="6019800"/>
          </a:xfrm>
        </p:spPr>
        <p:txBody>
          <a:bodyPr/>
          <a:lstStyle/>
          <a:p>
            <a:pPr marL="609600" indent="-609600" algn="just">
              <a:buFontTx/>
              <a:buChar char="•"/>
            </a:pPr>
            <a:endParaRPr lang="en-US" altLang="en-US">
              <a:latin typeface="Times New Roman" panose="02020603050405020304" pitchFamily="18" charset="0"/>
            </a:endParaRPr>
          </a:p>
          <a:p>
            <a:pPr marL="609600" indent="-609600" algn="just">
              <a:buFontTx/>
              <a:buChar char="•"/>
            </a:pPr>
            <a:r>
              <a:rPr lang="en-US" altLang="en-US" sz="2800"/>
              <a:t>Integral</a:t>
            </a:r>
            <a:r>
              <a:rPr lang="en-US" altLang="en-US">
                <a:latin typeface="Times New Roman" panose="02020603050405020304" pitchFamily="18" charset="0"/>
              </a:rPr>
              <a:t> expressions are those which produce integer results after implementing all the automatic and explicit type conversions</a:t>
            </a:r>
          </a:p>
          <a:p>
            <a:pPr marL="609600" indent="-609600" algn="just">
              <a:buFontTx/>
              <a:buChar char="•"/>
            </a:pPr>
            <a:r>
              <a:rPr lang="en-US" altLang="en-US">
                <a:latin typeface="Times New Roman" panose="02020603050405020304" pitchFamily="18" charset="0"/>
              </a:rPr>
              <a:t>Eg: 	z</a:t>
            </a:r>
          </a:p>
          <a:p>
            <a:pPr marL="609600" indent="-609600" algn="just"/>
            <a:r>
              <a:rPr lang="en-US" altLang="en-US">
                <a:latin typeface="Times New Roman" panose="02020603050405020304" pitchFamily="18" charset="0"/>
              </a:rPr>
              <a:t>			z*10*n -2</a:t>
            </a:r>
          </a:p>
          <a:p>
            <a:pPr marL="609600" indent="-609600" algn="just"/>
            <a:r>
              <a:rPr lang="en-US" altLang="en-US">
                <a:latin typeface="Times New Roman" panose="02020603050405020304" pitchFamily="18" charset="0"/>
              </a:rPr>
              <a:t>			7+(int)5.3</a:t>
            </a:r>
          </a:p>
          <a:p>
            <a:pPr marL="609600" indent="-609600" algn="just"/>
            <a:r>
              <a:rPr lang="en-US" altLang="en-US">
                <a:latin typeface="Times New Roman" panose="02020603050405020304" pitchFamily="18" charset="0"/>
              </a:rPr>
              <a:t>	* z and n are integer variables</a:t>
            </a:r>
          </a:p>
          <a:p>
            <a:pPr marL="609600" indent="-609600" algn="just"/>
            <a:endParaRPr lang="en-US" altLang="en-US">
              <a:latin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C4485D1A-7912-E279-DF8D-F632474ACFD6}"/>
              </a:ext>
            </a:extLst>
          </p:cNvPr>
          <p:cNvSpPr>
            <a:spLocks noGrp="1" noChangeArrowheads="1"/>
          </p:cNvSpPr>
          <p:nvPr>
            <p:ph type="ctrTitle"/>
          </p:nvPr>
        </p:nvSpPr>
        <p:spPr>
          <a:xfrm>
            <a:off x="685800" y="152400"/>
            <a:ext cx="7772400" cy="457200"/>
          </a:xfrm>
        </p:spPr>
        <p:txBody>
          <a:bodyPr/>
          <a:lstStyle/>
          <a:p>
            <a:r>
              <a:rPr lang="en-US" altLang="en-US" sz="3600">
                <a:solidFill>
                  <a:schemeClr val="accent2"/>
                </a:solidFill>
              </a:rPr>
              <a:t>pointer Expressions</a:t>
            </a:r>
          </a:p>
        </p:txBody>
      </p:sp>
      <p:sp>
        <p:nvSpPr>
          <p:cNvPr id="26627" name="Rectangle 3">
            <a:extLst>
              <a:ext uri="{FF2B5EF4-FFF2-40B4-BE49-F238E27FC236}">
                <a16:creationId xmlns:a16="http://schemas.microsoft.com/office/drawing/2014/main" id="{2DD04CD8-C528-CC76-E6E5-2A6FA2001741}"/>
              </a:ext>
            </a:extLst>
          </p:cNvPr>
          <p:cNvSpPr>
            <a:spLocks noGrp="1" noChangeArrowheads="1"/>
          </p:cNvSpPr>
          <p:nvPr>
            <p:ph type="subTitle" idx="1"/>
          </p:nvPr>
        </p:nvSpPr>
        <p:spPr>
          <a:xfrm>
            <a:off x="228600" y="609600"/>
            <a:ext cx="8686800" cy="6019800"/>
          </a:xfrm>
        </p:spPr>
        <p:txBody>
          <a:bodyPr/>
          <a:lstStyle/>
          <a:p>
            <a:pPr marL="609600" indent="-609600" algn="just">
              <a:buFontTx/>
              <a:buChar char="•"/>
            </a:pPr>
            <a:endParaRPr lang="en-US" altLang="en-US">
              <a:latin typeface="Times New Roman" panose="02020603050405020304" pitchFamily="18" charset="0"/>
            </a:endParaRPr>
          </a:p>
          <a:p>
            <a:pPr marL="609600" indent="-609600" algn="just">
              <a:buFontTx/>
              <a:buChar char="•"/>
            </a:pPr>
            <a:r>
              <a:rPr lang="en-US" altLang="en-US" sz="2800">
                <a:latin typeface="Times New Roman" panose="02020603050405020304" pitchFamily="18" charset="0"/>
              </a:rPr>
              <a:t>Pointer </a:t>
            </a:r>
            <a:r>
              <a:rPr lang="en-US" altLang="en-US">
                <a:latin typeface="Times New Roman" panose="02020603050405020304" pitchFamily="18" charset="0"/>
              </a:rPr>
              <a:t>expressions produce address values</a:t>
            </a:r>
          </a:p>
          <a:p>
            <a:pPr marL="609600" indent="-609600" algn="just">
              <a:buFontTx/>
              <a:buChar char="•"/>
            </a:pPr>
            <a:r>
              <a:rPr lang="en-US" altLang="en-US">
                <a:latin typeface="Times New Roman" panose="02020603050405020304" pitchFamily="18" charset="0"/>
              </a:rPr>
              <a:t>Eg: 	&amp;m</a:t>
            </a:r>
          </a:p>
          <a:p>
            <a:pPr marL="990600" lvl="1" indent="-533400" algn="just"/>
            <a:r>
              <a:rPr lang="en-US" altLang="en-US">
                <a:latin typeface="Times New Roman" panose="02020603050405020304" pitchFamily="18" charset="0"/>
              </a:rPr>
              <a:t>		ptr</a:t>
            </a:r>
          </a:p>
          <a:p>
            <a:pPr marL="990600" lvl="1" indent="-533400" algn="just"/>
            <a:r>
              <a:rPr lang="en-US" altLang="en-US">
                <a:latin typeface="Times New Roman" panose="02020603050405020304" pitchFamily="18" charset="0"/>
              </a:rPr>
              <a:t>		ptr+1</a:t>
            </a:r>
          </a:p>
          <a:p>
            <a:pPr marL="990600" lvl="1" indent="-533400" algn="just"/>
            <a:r>
              <a:rPr lang="en-US" altLang="en-US">
                <a:latin typeface="Times New Roman" panose="02020603050405020304" pitchFamily="18" charset="0"/>
              </a:rPr>
              <a:t>		“xyz”</a:t>
            </a:r>
          </a:p>
          <a:p>
            <a:pPr marL="609600" indent="-609600" algn="just"/>
            <a:r>
              <a:rPr lang="en-US" altLang="en-US">
                <a:latin typeface="Times New Roman" panose="02020603050405020304" pitchFamily="18" charset="0"/>
              </a:rPr>
              <a:t>	* where m is a variable and ptr is a pointer</a:t>
            </a:r>
          </a:p>
          <a:p>
            <a:pPr marL="609600" indent="-609600" algn="just"/>
            <a:endParaRPr lang="en-US" altLang="en-US">
              <a:latin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408C6354-4BBC-67C4-080A-4C0340A47E3A}"/>
              </a:ext>
            </a:extLst>
          </p:cNvPr>
          <p:cNvSpPr>
            <a:spLocks noGrp="1" noChangeArrowheads="1"/>
          </p:cNvSpPr>
          <p:nvPr>
            <p:ph type="ctrTitle"/>
          </p:nvPr>
        </p:nvSpPr>
        <p:spPr>
          <a:xfrm>
            <a:off x="685800" y="152400"/>
            <a:ext cx="7772400" cy="457200"/>
          </a:xfrm>
        </p:spPr>
        <p:txBody>
          <a:bodyPr/>
          <a:lstStyle/>
          <a:p>
            <a:r>
              <a:rPr lang="en-US" altLang="en-US" sz="3600">
                <a:solidFill>
                  <a:schemeClr val="accent2"/>
                </a:solidFill>
              </a:rPr>
              <a:t>Float Expressions</a:t>
            </a:r>
          </a:p>
        </p:txBody>
      </p:sp>
      <p:sp>
        <p:nvSpPr>
          <p:cNvPr id="27651" name="Rectangle 3">
            <a:extLst>
              <a:ext uri="{FF2B5EF4-FFF2-40B4-BE49-F238E27FC236}">
                <a16:creationId xmlns:a16="http://schemas.microsoft.com/office/drawing/2014/main" id="{14E505E0-4694-26D1-2A1A-92267BCDBFAD}"/>
              </a:ext>
            </a:extLst>
          </p:cNvPr>
          <p:cNvSpPr>
            <a:spLocks noGrp="1" noChangeArrowheads="1"/>
          </p:cNvSpPr>
          <p:nvPr>
            <p:ph type="subTitle" idx="1"/>
          </p:nvPr>
        </p:nvSpPr>
        <p:spPr>
          <a:xfrm>
            <a:off x="228600" y="609600"/>
            <a:ext cx="8686800" cy="6019800"/>
          </a:xfrm>
        </p:spPr>
        <p:txBody>
          <a:bodyPr/>
          <a:lstStyle/>
          <a:p>
            <a:pPr marL="609600" indent="-609600" algn="just">
              <a:buFontTx/>
              <a:buChar char="•"/>
            </a:pPr>
            <a:endParaRPr lang="en-US" altLang="en-US">
              <a:latin typeface="Times New Roman" panose="02020603050405020304" pitchFamily="18" charset="0"/>
            </a:endParaRPr>
          </a:p>
          <a:p>
            <a:pPr marL="609600" indent="-609600" algn="just">
              <a:buFontTx/>
              <a:buChar char="•"/>
            </a:pPr>
            <a:r>
              <a:rPr lang="en-US" altLang="en-US" sz="2800">
                <a:latin typeface="Times New Roman" panose="02020603050405020304" pitchFamily="18" charset="0"/>
              </a:rPr>
              <a:t>Float</a:t>
            </a:r>
            <a:r>
              <a:rPr lang="en-US" altLang="en-US" sz="2800"/>
              <a:t> </a:t>
            </a:r>
            <a:r>
              <a:rPr lang="en-US" altLang="en-US">
                <a:latin typeface="Times New Roman" panose="02020603050405020304" pitchFamily="18" charset="0"/>
              </a:rPr>
              <a:t>expressions are those which, after all conversions, produce floating-point resulsts</a:t>
            </a:r>
          </a:p>
          <a:p>
            <a:pPr marL="609600" indent="-609600" algn="just">
              <a:buFontTx/>
              <a:buChar char="•"/>
            </a:pPr>
            <a:r>
              <a:rPr lang="en-US" altLang="en-US">
                <a:latin typeface="Times New Roman" panose="02020603050405020304" pitchFamily="18" charset="0"/>
              </a:rPr>
              <a:t>Eg: 	x +y</a:t>
            </a:r>
          </a:p>
          <a:p>
            <a:pPr marL="609600" indent="-609600" algn="just"/>
            <a:r>
              <a:rPr lang="en-US" altLang="en-US">
                <a:latin typeface="Times New Roman" panose="02020603050405020304" pitchFamily="18" charset="0"/>
              </a:rPr>
              <a:t>			x*y/10</a:t>
            </a:r>
          </a:p>
          <a:p>
            <a:pPr marL="609600" indent="-609600" algn="just"/>
            <a:r>
              <a:rPr lang="en-US" altLang="en-US">
                <a:latin typeface="Times New Roman" panose="02020603050405020304" pitchFamily="18" charset="0"/>
              </a:rPr>
              <a:t>			7+float(5)</a:t>
            </a:r>
          </a:p>
          <a:p>
            <a:pPr marL="609600" indent="-609600" algn="just"/>
            <a:r>
              <a:rPr lang="en-US" altLang="en-US">
                <a:latin typeface="Times New Roman" panose="02020603050405020304" pitchFamily="18" charset="0"/>
              </a:rPr>
              <a:t>			20.34</a:t>
            </a:r>
          </a:p>
          <a:p>
            <a:pPr marL="609600" indent="-609600" algn="just"/>
            <a:r>
              <a:rPr lang="en-US" altLang="en-US">
                <a:latin typeface="Times New Roman" panose="02020603050405020304" pitchFamily="18" charset="0"/>
              </a:rPr>
              <a:t>	* x and y are floating point  variables</a:t>
            </a:r>
          </a:p>
          <a:p>
            <a:pPr marL="609600" indent="-609600" algn="just"/>
            <a:endParaRPr lang="en-US" altLang="en-US">
              <a:latin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43A4C9E6-0BC6-9F25-DEF8-B7660DD919E8}"/>
              </a:ext>
            </a:extLst>
          </p:cNvPr>
          <p:cNvSpPr>
            <a:spLocks noGrp="1" noChangeArrowheads="1"/>
          </p:cNvSpPr>
          <p:nvPr>
            <p:ph type="ctrTitle"/>
          </p:nvPr>
        </p:nvSpPr>
        <p:spPr>
          <a:xfrm>
            <a:off x="685800" y="152400"/>
            <a:ext cx="7772400" cy="457200"/>
          </a:xfrm>
        </p:spPr>
        <p:txBody>
          <a:bodyPr/>
          <a:lstStyle/>
          <a:p>
            <a:r>
              <a:rPr lang="en-US" altLang="en-US" sz="3600">
                <a:solidFill>
                  <a:schemeClr val="accent2"/>
                </a:solidFill>
              </a:rPr>
              <a:t>Relational Expressions</a:t>
            </a:r>
          </a:p>
        </p:txBody>
      </p:sp>
      <p:sp>
        <p:nvSpPr>
          <p:cNvPr id="28675" name="Rectangle 3">
            <a:extLst>
              <a:ext uri="{FF2B5EF4-FFF2-40B4-BE49-F238E27FC236}">
                <a16:creationId xmlns:a16="http://schemas.microsoft.com/office/drawing/2014/main" id="{85232186-D0E5-4502-55B8-D88F9D9B313F}"/>
              </a:ext>
            </a:extLst>
          </p:cNvPr>
          <p:cNvSpPr>
            <a:spLocks noGrp="1" noChangeArrowheads="1"/>
          </p:cNvSpPr>
          <p:nvPr>
            <p:ph type="subTitle" idx="1"/>
          </p:nvPr>
        </p:nvSpPr>
        <p:spPr>
          <a:xfrm>
            <a:off x="228600" y="609600"/>
            <a:ext cx="8686800" cy="6019800"/>
          </a:xfrm>
        </p:spPr>
        <p:txBody>
          <a:bodyPr/>
          <a:lstStyle/>
          <a:p>
            <a:pPr marL="609600" indent="-609600" algn="just">
              <a:lnSpc>
                <a:spcPct val="90000"/>
              </a:lnSpc>
              <a:buFontTx/>
              <a:buChar char="•"/>
            </a:pPr>
            <a:endParaRPr lang="en-US" altLang="en-US">
              <a:latin typeface="Times New Roman" panose="02020603050405020304" pitchFamily="18" charset="0"/>
            </a:endParaRPr>
          </a:p>
          <a:p>
            <a:pPr marL="609600" indent="-609600" algn="just">
              <a:lnSpc>
                <a:spcPct val="90000"/>
              </a:lnSpc>
              <a:buFontTx/>
              <a:buChar char="•"/>
            </a:pPr>
            <a:r>
              <a:rPr lang="en-US" altLang="en-US" sz="2800">
                <a:latin typeface="Times New Roman" panose="02020603050405020304" pitchFamily="18" charset="0"/>
              </a:rPr>
              <a:t>Relational </a:t>
            </a:r>
            <a:r>
              <a:rPr lang="en-US" altLang="en-US">
                <a:latin typeface="Times New Roman" panose="02020603050405020304" pitchFamily="18" charset="0"/>
              </a:rPr>
              <a:t>expressions yield results of type bool which takes a value true or false</a:t>
            </a:r>
          </a:p>
          <a:p>
            <a:pPr marL="609600" indent="-609600" algn="just">
              <a:lnSpc>
                <a:spcPct val="90000"/>
              </a:lnSpc>
              <a:buFontTx/>
              <a:buChar char="•"/>
            </a:pPr>
            <a:r>
              <a:rPr lang="en-US" altLang="en-US">
                <a:latin typeface="Times New Roman" panose="02020603050405020304" pitchFamily="18" charset="0"/>
              </a:rPr>
              <a:t>Eg: 	x &lt;= y</a:t>
            </a:r>
          </a:p>
          <a:p>
            <a:pPr marL="609600" indent="-609600" algn="just">
              <a:lnSpc>
                <a:spcPct val="90000"/>
              </a:lnSpc>
            </a:pPr>
            <a:r>
              <a:rPr lang="en-US" altLang="en-US">
                <a:latin typeface="Times New Roman" panose="02020603050405020304" pitchFamily="18" charset="0"/>
              </a:rPr>
              <a:t>			a+b == c+d</a:t>
            </a:r>
          </a:p>
          <a:p>
            <a:pPr marL="609600" indent="-609600" algn="just">
              <a:lnSpc>
                <a:spcPct val="90000"/>
              </a:lnSpc>
            </a:pPr>
            <a:r>
              <a:rPr lang="en-US" altLang="en-US">
                <a:latin typeface="Times New Roman" panose="02020603050405020304" pitchFamily="18" charset="0"/>
              </a:rPr>
              <a:t>			a+b&gt;100</a:t>
            </a:r>
          </a:p>
          <a:p>
            <a:pPr marL="609600" indent="-609600" algn="just">
              <a:lnSpc>
                <a:spcPct val="90000"/>
              </a:lnSpc>
              <a:buFontTx/>
              <a:buChar char="•"/>
            </a:pPr>
            <a:r>
              <a:rPr lang="en-US" altLang="en-US">
                <a:latin typeface="Times New Roman" panose="02020603050405020304" pitchFamily="18" charset="0"/>
              </a:rPr>
              <a:t>Arithmetic expression are used on either side of a relational operator, they will be evaluated first and then results compared. </a:t>
            </a:r>
          </a:p>
          <a:p>
            <a:pPr marL="609600" indent="-609600" algn="just">
              <a:lnSpc>
                <a:spcPct val="90000"/>
              </a:lnSpc>
              <a:buFontTx/>
              <a:buChar char="•"/>
            </a:pPr>
            <a:r>
              <a:rPr lang="en-US" altLang="en-US">
                <a:latin typeface="Times New Roman" panose="02020603050405020304" pitchFamily="18" charset="0"/>
              </a:rPr>
              <a:t>Relational expressions are also known as boolean expressions</a:t>
            </a:r>
          </a:p>
          <a:p>
            <a:pPr marL="609600" indent="-609600" algn="just">
              <a:lnSpc>
                <a:spcPct val="90000"/>
              </a:lnSpc>
            </a:pPr>
            <a:endParaRPr lang="en-US" altLang="en-US">
              <a:latin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D0431388-7FAE-0E2F-0B2A-7C0F42D5E00B}"/>
              </a:ext>
            </a:extLst>
          </p:cNvPr>
          <p:cNvSpPr>
            <a:spLocks noGrp="1" noChangeArrowheads="1"/>
          </p:cNvSpPr>
          <p:nvPr>
            <p:ph type="ctrTitle"/>
          </p:nvPr>
        </p:nvSpPr>
        <p:spPr>
          <a:xfrm>
            <a:off x="685800" y="152400"/>
            <a:ext cx="7772400" cy="457200"/>
          </a:xfrm>
        </p:spPr>
        <p:txBody>
          <a:bodyPr/>
          <a:lstStyle/>
          <a:p>
            <a:r>
              <a:rPr lang="en-US" altLang="en-US" sz="3600">
                <a:solidFill>
                  <a:schemeClr val="accent2"/>
                </a:solidFill>
              </a:rPr>
              <a:t>logical Expressions</a:t>
            </a:r>
          </a:p>
        </p:txBody>
      </p:sp>
      <p:sp>
        <p:nvSpPr>
          <p:cNvPr id="29699" name="Rectangle 3">
            <a:extLst>
              <a:ext uri="{FF2B5EF4-FFF2-40B4-BE49-F238E27FC236}">
                <a16:creationId xmlns:a16="http://schemas.microsoft.com/office/drawing/2014/main" id="{B781EDDF-1422-D6AE-D640-52A5C308D696}"/>
              </a:ext>
            </a:extLst>
          </p:cNvPr>
          <p:cNvSpPr>
            <a:spLocks noGrp="1" noChangeArrowheads="1"/>
          </p:cNvSpPr>
          <p:nvPr>
            <p:ph type="subTitle" idx="1"/>
          </p:nvPr>
        </p:nvSpPr>
        <p:spPr>
          <a:xfrm>
            <a:off x="228600" y="609600"/>
            <a:ext cx="8686800" cy="6019800"/>
          </a:xfrm>
        </p:spPr>
        <p:txBody>
          <a:bodyPr/>
          <a:lstStyle/>
          <a:p>
            <a:pPr marL="609600" indent="-609600" algn="just">
              <a:buFontTx/>
              <a:buChar char="•"/>
            </a:pPr>
            <a:endParaRPr lang="en-US" altLang="en-US">
              <a:latin typeface="Times New Roman" panose="02020603050405020304" pitchFamily="18" charset="0"/>
            </a:endParaRPr>
          </a:p>
          <a:p>
            <a:pPr marL="609600" indent="-609600" algn="just">
              <a:buFontTx/>
              <a:buChar char="•"/>
            </a:pPr>
            <a:r>
              <a:rPr lang="en-US" altLang="en-US">
                <a:latin typeface="Times New Roman" panose="02020603050405020304" pitchFamily="18" charset="0"/>
              </a:rPr>
              <a:t>Logical expressions combine two or more relational expressions and produces bool type results</a:t>
            </a:r>
          </a:p>
          <a:p>
            <a:pPr marL="609600" indent="-609600" algn="just">
              <a:buFontTx/>
              <a:buChar char="•"/>
            </a:pPr>
            <a:r>
              <a:rPr lang="en-US" altLang="en-US">
                <a:latin typeface="Times New Roman" panose="02020603050405020304" pitchFamily="18" charset="0"/>
              </a:rPr>
              <a:t>Eg: 	 a&gt;b &amp;&amp; x==1</a:t>
            </a:r>
          </a:p>
          <a:p>
            <a:pPr marL="609600" indent="-609600" algn="just"/>
            <a:r>
              <a:rPr lang="en-US" altLang="en-US">
                <a:latin typeface="Times New Roman" panose="02020603050405020304" pitchFamily="18" charset="0"/>
              </a:rPr>
              <a:t>			x==10 || y==5</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F0D0228B-7F5F-A1F6-4721-426564CB3978}"/>
              </a:ext>
            </a:extLst>
          </p:cNvPr>
          <p:cNvSpPr>
            <a:spLocks noGrp="1" noChangeArrowheads="1"/>
          </p:cNvSpPr>
          <p:nvPr>
            <p:ph type="ctrTitle"/>
          </p:nvPr>
        </p:nvSpPr>
        <p:spPr>
          <a:xfrm>
            <a:off x="685800" y="152400"/>
            <a:ext cx="7772400" cy="457200"/>
          </a:xfrm>
        </p:spPr>
        <p:txBody>
          <a:bodyPr/>
          <a:lstStyle/>
          <a:p>
            <a:r>
              <a:rPr lang="en-US" altLang="en-US" sz="3600">
                <a:solidFill>
                  <a:schemeClr val="accent2"/>
                </a:solidFill>
              </a:rPr>
              <a:t>Bitwise Expressions</a:t>
            </a:r>
          </a:p>
        </p:txBody>
      </p:sp>
      <p:sp>
        <p:nvSpPr>
          <p:cNvPr id="30723" name="Rectangle 3">
            <a:extLst>
              <a:ext uri="{FF2B5EF4-FFF2-40B4-BE49-F238E27FC236}">
                <a16:creationId xmlns:a16="http://schemas.microsoft.com/office/drawing/2014/main" id="{994A54DF-696A-BFF9-415C-2741EFBC4BD8}"/>
              </a:ext>
            </a:extLst>
          </p:cNvPr>
          <p:cNvSpPr>
            <a:spLocks noGrp="1" noChangeArrowheads="1"/>
          </p:cNvSpPr>
          <p:nvPr>
            <p:ph type="subTitle" idx="1"/>
          </p:nvPr>
        </p:nvSpPr>
        <p:spPr>
          <a:xfrm>
            <a:off x="228600" y="609600"/>
            <a:ext cx="8686800" cy="6019800"/>
          </a:xfrm>
        </p:spPr>
        <p:txBody>
          <a:bodyPr/>
          <a:lstStyle/>
          <a:p>
            <a:pPr marL="609600" indent="-609600" algn="just">
              <a:buFontTx/>
              <a:buChar char="•"/>
            </a:pPr>
            <a:endParaRPr lang="en-US" altLang="en-US">
              <a:latin typeface="Times New Roman" panose="02020603050405020304" pitchFamily="18" charset="0"/>
            </a:endParaRPr>
          </a:p>
          <a:p>
            <a:pPr marL="609600" indent="-609600" algn="just">
              <a:buFontTx/>
              <a:buChar char="•"/>
            </a:pPr>
            <a:r>
              <a:rPr lang="en-US" altLang="en-US">
                <a:latin typeface="Times New Roman" panose="02020603050405020304" pitchFamily="18" charset="0"/>
              </a:rPr>
              <a:t>Bitwise expressions are used to manipulate data at bit level</a:t>
            </a:r>
          </a:p>
          <a:p>
            <a:pPr marL="609600" indent="-609600" algn="just">
              <a:buFontTx/>
              <a:buChar char="•"/>
            </a:pPr>
            <a:r>
              <a:rPr lang="en-US" altLang="en-US">
                <a:latin typeface="Times New Roman" panose="02020603050405020304" pitchFamily="18" charset="0"/>
              </a:rPr>
              <a:t>They are basically used for testing or shifting of bits</a:t>
            </a:r>
          </a:p>
          <a:p>
            <a:pPr marL="609600" indent="-609600" algn="just">
              <a:buFontTx/>
              <a:buChar char="•"/>
            </a:pPr>
            <a:r>
              <a:rPr lang="en-US" altLang="en-US">
                <a:latin typeface="Times New Roman" panose="02020603050405020304" pitchFamily="18" charset="0"/>
              </a:rPr>
              <a:t>Eg: 	 x&lt;&lt;3</a:t>
            </a:r>
          </a:p>
          <a:p>
            <a:pPr marL="609600" indent="-609600" algn="just"/>
            <a:r>
              <a:rPr lang="en-US" altLang="en-US">
                <a:latin typeface="Times New Roman" panose="02020603050405020304" pitchFamily="18" charset="0"/>
              </a:rPr>
              <a:t>			y&gt;&gt;2</a:t>
            </a:r>
          </a:p>
          <a:p>
            <a:pPr marL="609600" indent="-609600" algn="just">
              <a:buFontTx/>
              <a:buChar char="•"/>
            </a:pPr>
            <a:r>
              <a:rPr lang="en-US" altLang="en-US">
                <a:latin typeface="Times New Roman" panose="02020603050405020304" pitchFamily="18" charset="0"/>
              </a:rPr>
              <a:t>Shift operations are often used for multiplication and division by powers of two</a:t>
            </a:r>
          </a:p>
          <a:p>
            <a:pPr marL="609600" indent="-609600" algn="just"/>
            <a:endParaRPr lang="en-US" altLang="en-US">
              <a:latin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EB236893-CE82-BD45-2D8E-FABDAE41FAA7}"/>
              </a:ext>
            </a:extLst>
          </p:cNvPr>
          <p:cNvSpPr>
            <a:spLocks noGrp="1" noChangeArrowheads="1"/>
          </p:cNvSpPr>
          <p:nvPr>
            <p:ph type="ctrTitle"/>
          </p:nvPr>
        </p:nvSpPr>
        <p:spPr>
          <a:xfrm>
            <a:off x="685800" y="152400"/>
            <a:ext cx="7772400" cy="457200"/>
          </a:xfrm>
        </p:spPr>
        <p:txBody>
          <a:bodyPr/>
          <a:lstStyle/>
          <a:p>
            <a:r>
              <a:rPr lang="en-US" altLang="en-US" sz="3600">
                <a:solidFill>
                  <a:schemeClr val="accent2"/>
                </a:solidFill>
              </a:rPr>
              <a:t>Special assignment Expressions</a:t>
            </a:r>
          </a:p>
        </p:txBody>
      </p:sp>
      <p:sp>
        <p:nvSpPr>
          <p:cNvPr id="31747" name="Rectangle 3">
            <a:extLst>
              <a:ext uri="{FF2B5EF4-FFF2-40B4-BE49-F238E27FC236}">
                <a16:creationId xmlns:a16="http://schemas.microsoft.com/office/drawing/2014/main" id="{BE866B17-2843-40C7-791F-99D28E5BADBF}"/>
              </a:ext>
            </a:extLst>
          </p:cNvPr>
          <p:cNvSpPr>
            <a:spLocks noGrp="1" noChangeArrowheads="1"/>
          </p:cNvSpPr>
          <p:nvPr>
            <p:ph type="subTitle" idx="1"/>
          </p:nvPr>
        </p:nvSpPr>
        <p:spPr>
          <a:xfrm>
            <a:off x="228600" y="609600"/>
            <a:ext cx="8686800" cy="6019800"/>
          </a:xfrm>
        </p:spPr>
        <p:txBody>
          <a:bodyPr/>
          <a:lstStyle/>
          <a:p>
            <a:pPr marL="609600" indent="-609600" algn="just">
              <a:buFontTx/>
              <a:buChar char="•"/>
            </a:pPr>
            <a:endParaRPr lang="en-US" altLang="en-US">
              <a:latin typeface="Times New Roman" panose="02020603050405020304" pitchFamily="18" charset="0"/>
            </a:endParaRPr>
          </a:p>
          <a:p>
            <a:pPr marL="609600" indent="-609600" algn="just">
              <a:buFontTx/>
              <a:buChar char="•"/>
            </a:pPr>
            <a:r>
              <a:rPr lang="en-US" altLang="en-US">
                <a:latin typeface="Times New Roman" panose="02020603050405020304" pitchFamily="18" charset="0"/>
              </a:rPr>
              <a:t>Chained assignment</a:t>
            </a:r>
          </a:p>
          <a:p>
            <a:pPr marL="609600" indent="-609600" algn="just">
              <a:buFontTx/>
              <a:buChar char="•"/>
            </a:pPr>
            <a:r>
              <a:rPr lang="en-US" altLang="en-US">
                <a:latin typeface="Times New Roman" panose="02020603050405020304" pitchFamily="18" charset="0"/>
              </a:rPr>
              <a:t>Embedded assignment</a:t>
            </a:r>
          </a:p>
          <a:p>
            <a:pPr marL="609600" indent="-609600" algn="just">
              <a:buFontTx/>
              <a:buChar char="•"/>
            </a:pPr>
            <a:r>
              <a:rPr lang="en-US" altLang="en-US">
                <a:latin typeface="Times New Roman" panose="02020603050405020304" pitchFamily="18" charset="0"/>
              </a:rPr>
              <a:t>Compound assignment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39DCC9F1-B579-7C00-1B0E-709E0768222E}"/>
              </a:ext>
            </a:extLst>
          </p:cNvPr>
          <p:cNvSpPr>
            <a:spLocks noGrp="1" noChangeArrowheads="1"/>
          </p:cNvSpPr>
          <p:nvPr>
            <p:ph type="ctrTitle"/>
          </p:nvPr>
        </p:nvSpPr>
        <p:spPr>
          <a:xfrm>
            <a:off x="685800" y="152400"/>
            <a:ext cx="7772400" cy="457200"/>
          </a:xfrm>
        </p:spPr>
        <p:txBody>
          <a:bodyPr/>
          <a:lstStyle/>
          <a:p>
            <a:r>
              <a:rPr lang="en-US" altLang="en-US" sz="4000">
                <a:solidFill>
                  <a:schemeClr val="accent2"/>
                </a:solidFill>
                <a:latin typeface="Times New Roman" panose="02020603050405020304" pitchFamily="18" charset="0"/>
              </a:rPr>
              <a:t>Chained assignment</a:t>
            </a:r>
          </a:p>
        </p:txBody>
      </p:sp>
      <p:sp>
        <p:nvSpPr>
          <p:cNvPr id="32771" name="Rectangle 3">
            <a:extLst>
              <a:ext uri="{FF2B5EF4-FFF2-40B4-BE49-F238E27FC236}">
                <a16:creationId xmlns:a16="http://schemas.microsoft.com/office/drawing/2014/main" id="{519F1910-9011-7F52-8599-97C678F27F0A}"/>
              </a:ext>
            </a:extLst>
          </p:cNvPr>
          <p:cNvSpPr>
            <a:spLocks noGrp="1" noChangeArrowheads="1"/>
          </p:cNvSpPr>
          <p:nvPr>
            <p:ph type="subTitle" idx="1"/>
          </p:nvPr>
        </p:nvSpPr>
        <p:spPr>
          <a:xfrm>
            <a:off x="228600" y="609600"/>
            <a:ext cx="8686800" cy="6019800"/>
          </a:xfrm>
        </p:spPr>
        <p:txBody>
          <a:bodyPr/>
          <a:lstStyle/>
          <a:p>
            <a:pPr marL="609600" indent="-609600" algn="just">
              <a:buFontTx/>
              <a:buChar char="•"/>
            </a:pPr>
            <a:endParaRPr lang="en-US" altLang="en-US">
              <a:latin typeface="Times New Roman" panose="02020603050405020304" pitchFamily="18" charset="0"/>
            </a:endParaRPr>
          </a:p>
          <a:p>
            <a:pPr marL="609600" indent="-609600" algn="just">
              <a:buFontTx/>
              <a:buChar char="•"/>
            </a:pPr>
            <a:endParaRPr lang="en-US" altLang="en-US">
              <a:latin typeface="Times New Roman" panose="02020603050405020304" pitchFamily="18" charset="0"/>
            </a:endParaRPr>
          </a:p>
          <a:p>
            <a:pPr marL="609600" indent="-609600" algn="just"/>
            <a:r>
              <a:rPr lang="en-US" altLang="en-US">
                <a:latin typeface="Times New Roman" panose="02020603050405020304" pitchFamily="18" charset="0"/>
              </a:rPr>
              <a:t>	x= (y=10); 	or x=y=10;</a:t>
            </a:r>
          </a:p>
          <a:p>
            <a:pPr marL="609600" indent="-609600" algn="just">
              <a:buFontTx/>
              <a:buChar char="•"/>
            </a:pPr>
            <a:r>
              <a:rPr lang="en-US" altLang="en-US">
                <a:latin typeface="Times New Roman" panose="02020603050405020304" pitchFamily="18" charset="0"/>
              </a:rPr>
              <a:t>A chained statement cannot be initialize variable at the time of declaration.</a:t>
            </a:r>
          </a:p>
          <a:p>
            <a:pPr marL="609600" indent="-609600" algn="just"/>
            <a:r>
              <a:rPr lang="en-US" altLang="en-US">
                <a:latin typeface="Times New Roman" panose="02020603050405020304" pitchFamily="18" charset="0"/>
              </a:rPr>
              <a:t>	float a = b = 10.2   	//wrong</a:t>
            </a:r>
          </a:p>
          <a:p>
            <a:pPr marL="609600" indent="-609600" algn="just"/>
            <a:r>
              <a:rPr lang="en-US" altLang="en-US">
                <a:latin typeface="Times New Roman" panose="02020603050405020304" pitchFamily="18" charset="0"/>
              </a:rPr>
              <a:t> 	float a =10.2,  b = 10.2 	//correct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926AC1A2-C791-85D5-640B-AE5A43861237}"/>
              </a:ext>
            </a:extLst>
          </p:cNvPr>
          <p:cNvSpPr>
            <a:spLocks noGrp="1" noChangeArrowheads="1"/>
          </p:cNvSpPr>
          <p:nvPr>
            <p:ph type="ctrTitle"/>
          </p:nvPr>
        </p:nvSpPr>
        <p:spPr>
          <a:xfrm>
            <a:off x="685800" y="152400"/>
            <a:ext cx="7772400" cy="457200"/>
          </a:xfrm>
        </p:spPr>
        <p:txBody>
          <a:bodyPr/>
          <a:lstStyle/>
          <a:p>
            <a:r>
              <a:rPr lang="en-US" altLang="en-US">
                <a:solidFill>
                  <a:schemeClr val="accent2"/>
                </a:solidFill>
                <a:latin typeface="Times New Roman" panose="02020603050405020304" pitchFamily="18" charset="0"/>
              </a:rPr>
              <a:t>Embedded assignment</a:t>
            </a:r>
          </a:p>
        </p:txBody>
      </p:sp>
      <p:sp>
        <p:nvSpPr>
          <p:cNvPr id="33795" name="Rectangle 3">
            <a:extLst>
              <a:ext uri="{FF2B5EF4-FFF2-40B4-BE49-F238E27FC236}">
                <a16:creationId xmlns:a16="http://schemas.microsoft.com/office/drawing/2014/main" id="{186DF8AE-7B1D-6D6D-A07D-C438C01F312F}"/>
              </a:ext>
            </a:extLst>
          </p:cNvPr>
          <p:cNvSpPr>
            <a:spLocks noGrp="1" noChangeArrowheads="1"/>
          </p:cNvSpPr>
          <p:nvPr>
            <p:ph type="subTitle" idx="1"/>
          </p:nvPr>
        </p:nvSpPr>
        <p:spPr>
          <a:xfrm>
            <a:off x="228600" y="609600"/>
            <a:ext cx="8686800" cy="6019800"/>
          </a:xfrm>
        </p:spPr>
        <p:txBody>
          <a:bodyPr/>
          <a:lstStyle/>
          <a:p>
            <a:pPr marL="609600" indent="-609600" algn="just">
              <a:buFontTx/>
              <a:buChar char="•"/>
            </a:pPr>
            <a:endParaRPr lang="en-US" altLang="en-US">
              <a:latin typeface="Times New Roman" panose="02020603050405020304" pitchFamily="18" charset="0"/>
            </a:endParaRPr>
          </a:p>
          <a:p>
            <a:pPr marL="609600" indent="-609600" algn="just">
              <a:buFontTx/>
              <a:buChar char="•"/>
            </a:pPr>
            <a:endParaRPr lang="en-US" altLang="en-US">
              <a:latin typeface="Times New Roman" panose="02020603050405020304" pitchFamily="18" charset="0"/>
            </a:endParaRPr>
          </a:p>
          <a:p>
            <a:pPr marL="609600" indent="-609600" algn="just"/>
            <a:r>
              <a:rPr lang="en-US" altLang="en-US">
                <a:latin typeface="Times New Roman" panose="02020603050405020304" pitchFamily="18" charset="0"/>
              </a:rPr>
              <a:t>	x= (y=50)+10; 	</a:t>
            </a:r>
          </a:p>
          <a:p>
            <a:pPr marL="609600" indent="-609600" algn="just">
              <a:buFontTx/>
              <a:buChar char="•"/>
            </a:pPr>
            <a:r>
              <a:rPr lang="en-US" altLang="en-US">
                <a:latin typeface="Times New Roman" panose="02020603050405020304" pitchFamily="18" charset="0"/>
              </a:rPr>
              <a:t>(y=50)  is known as embedded assignment</a:t>
            </a:r>
          </a:p>
          <a:p>
            <a:pPr marL="609600" indent="-609600" algn="just">
              <a:buFontTx/>
              <a:buChar char="•"/>
            </a:pPr>
            <a:r>
              <a:rPr lang="en-US" altLang="en-US">
                <a:latin typeface="Times New Roman" panose="02020603050405020304" pitchFamily="18" charset="0"/>
              </a:rPr>
              <a:t>First y will be assigned 50 and then 50+10=60 is assigned to x</a:t>
            </a:r>
          </a:p>
          <a:p>
            <a:pPr marL="609600" indent="-609600" algn="just"/>
            <a:r>
              <a:rPr lang="en-US" altLang="en-US">
                <a:latin typeface="Times New Roman" panose="02020603050405020304" pitchFamily="18" charset="0"/>
              </a:rPr>
              <a:t>		y=50;</a:t>
            </a:r>
          </a:p>
          <a:p>
            <a:pPr marL="609600" indent="-609600" algn="just"/>
            <a:r>
              <a:rPr lang="en-US" altLang="en-US">
                <a:latin typeface="Times New Roman" panose="02020603050405020304" pitchFamily="18" charset="0"/>
              </a:rPr>
              <a:t>	   x=y+10;</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84E39149-28CF-EDCB-C67E-8E0229ACF76C}"/>
              </a:ext>
            </a:extLst>
          </p:cNvPr>
          <p:cNvSpPr>
            <a:spLocks noGrp="1" noChangeArrowheads="1"/>
          </p:cNvSpPr>
          <p:nvPr>
            <p:ph type="ctrTitle"/>
          </p:nvPr>
        </p:nvSpPr>
        <p:spPr>
          <a:xfrm>
            <a:off x="685800" y="152400"/>
            <a:ext cx="7772400" cy="457200"/>
          </a:xfrm>
        </p:spPr>
        <p:txBody>
          <a:bodyPr/>
          <a:lstStyle/>
          <a:p>
            <a:r>
              <a:rPr lang="en-US" altLang="en-US">
                <a:solidFill>
                  <a:schemeClr val="accent2"/>
                </a:solidFill>
                <a:latin typeface="Times New Roman" panose="02020603050405020304" pitchFamily="18" charset="0"/>
              </a:rPr>
              <a:t>compound assignment</a:t>
            </a:r>
          </a:p>
        </p:txBody>
      </p:sp>
      <p:sp>
        <p:nvSpPr>
          <p:cNvPr id="34819" name="Rectangle 3">
            <a:extLst>
              <a:ext uri="{FF2B5EF4-FFF2-40B4-BE49-F238E27FC236}">
                <a16:creationId xmlns:a16="http://schemas.microsoft.com/office/drawing/2014/main" id="{F52B9C61-DD23-12F2-A395-8688CCAA0ED0}"/>
              </a:ext>
            </a:extLst>
          </p:cNvPr>
          <p:cNvSpPr>
            <a:spLocks noGrp="1" noChangeArrowheads="1"/>
          </p:cNvSpPr>
          <p:nvPr>
            <p:ph type="subTitle" idx="1"/>
          </p:nvPr>
        </p:nvSpPr>
        <p:spPr>
          <a:xfrm>
            <a:off x="228600" y="609600"/>
            <a:ext cx="8686800" cy="6019800"/>
          </a:xfrm>
        </p:spPr>
        <p:txBody>
          <a:bodyPr/>
          <a:lstStyle/>
          <a:p>
            <a:pPr marL="609600" indent="-609600" algn="just">
              <a:buFontTx/>
              <a:buChar char="•"/>
            </a:pPr>
            <a:endParaRPr lang="en-US" altLang="en-US">
              <a:latin typeface="Times New Roman" panose="02020603050405020304" pitchFamily="18" charset="0"/>
            </a:endParaRPr>
          </a:p>
          <a:p>
            <a:pPr marL="609600" indent="-609600" algn="just">
              <a:buFontTx/>
              <a:buChar char="•"/>
            </a:pPr>
            <a:r>
              <a:rPr lang="en-US" altLang="en-US">
                <a:latin typeface="Times New Roman" panose="02020603050405020304" pitchFamily="18" charset="0"/>
              </a:rPr>
              <a:t>Compound assignment operator which is a combination of the assignment operator with a binary arithmetic operator</a:t>
            </a:r>
          </a:p>
          <a:p>
            <a:pPr marL="609600" indent="-609600" algn="just">
              <a:buFontTx/>
              <a:buChar char="•"/>
            </a:pPr>
            <a:r>
              <a:rPr lang="en-US" altLang="en-US">
                <a:latin typeface="Times New Roman" panose="02020603050405020304" pitchFamily="18" charset="0"/>
              </a:rPr>
              <a:t>Eg : x=x+10 may be written as x+=10;</a:t>
            </a:r>
          </a:p>
          <a:p>
            <a:pPr marL="609600" indent="-609600" algn="just">
              <a:buFontTx/>
              <a:buChar char="•"/>
            </a:pPr>
            <a:r>
              <a:rPr lang="en-US" altLang="en-US">
                <a:latin typeface="Times New Roman" panose="02020603050405020304" pitchFamily="18" charset="0"/>
              </a:rPr>
              <a:t>The general form :</a:t>
            </a:r>
          </a:p>
          <a:p>
            <a:pPr marL="609600" indent="-609600" algn="just"/>
            <a:r>
              <a:rPr lang="en-US" altLang="en-US">
                <a:latin typeface="Times New Roman" panose="02020603050405020304" pitchFamily="18" charset="0"/>
              </a:rPr>
              <a:t>	variable1  op=  variable2;</a:t>
            </a:r>
          </a:p>
          <a:p>
            <a:pPr marL="609600" indent="-609600" algn="just"/>
            <a:r>
              <a:rPr lang="en-US" altLang="en-US">
                <a:latin typeface="Times New Roman" panose="02020603050405020304" pitchFamily="18" charset="0"/>
              </a:rPr>
              <a:t>	op is a arithmetic operator</a:t>
            </a:r>
          </a:p>
          <a:p>
            <a:pPr marL="609600" indent="-609600" algn="just"/>
            <a:r>
              <a:rPr lang="en-US" altLang="en-US">
                <a:latin typeface="Times New Roman" panose="02020603050405020304" pitchFamily="18" charset="0"/>
              </a:rPr>
              <a:t>	variable1 = variable1  op   variable2;</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E42B7AC2-DD1E-7817-5506-2459B4C98A4B}"/>
              </a:ext>
            </a:extLst>
          </p:cNvPr>
          <p:cNvSpPr>
            <a:spLocks noGrp="1" noChangeArrowheads="1"/>
          </p:cNvSpPr>
          <p:nvPr>
            <p:ph type="ctrTitle"/>
          </p:nvPr>
        </p:nvSpPr>
        <p:spPr>
          <a:xfrm>
            <a:off x="685800" y="152400"/>
            <a:ext cx="7772400" cy="457200"/>
          </a:xfrm>
        </p:spPr>
        <p:txBody>
          <a:bodyPr/>
          <a:lstStyle/>
          <a:p>
            <a:r>
              <a:rPr lang="en-US" altLang="en-US">
                <a:solidFill>
                  <a:schemeClr val="accent2"/>
                </a:solidFill>
                <a:latin typeface="Times New Roman" panose="02020603050405020304" pitchFamily="18" charset="0"/>
              </a:rPr>
              <a:t>Implicit conversions</a:t>
            </a:r>
          </a:p>
        </p:txBody>
      </p:sp>
      <p:sp>
        <p:nvSpPr>
          <p:cNvPr id="35843" name="Rectangle 3">
            <a:extLst>
              <a:ext uri="{FF2B5EF4-FFF2-40B4-BE49-F238E27FC236}">
                <a16:creationId xmlns:a16="http://schemas.microsoft.com/office/drawing/2014/main" id="{5E52EF13-4611-2B35-3F2E-BD8CE70AD395}"/>
              </a:ext>
            </a:extLst>
          </p:cNvPr>
          <p:cNvSpPr>
            <a:spLocks noGrp="1" noChangeArrowheads="1"/>
          </p:cNvSpPr>
          <p:nvPr>
            <p:ph type="subTitle" idx="1"/>
          </p:nvPr>
        </p:nvSpPr>
        <p:spPr>
          <a:xfrm>
            <a:off x="228600" y="609600"/>
            <a:ext cx="8686800" cy="6019800"/>
          </a:xfrm>
        </p:spPr>
        <p:txBody>
          <a:bodyPr/>
          <a:lstStyle/>
          <a:p>
            <a:pPr marL="609600" indent="-609600" algn="just">
              <a:lnSpc>
                <a:spcPct val="90000"/>
              </a:lnSpc>
              <a:buFontTx/>
              <a:buChar char="•"/>
            </a:pPr>
            <a:endParaRPr lang="en-US" altLang="en-US" sz="2400">
              <a:latin typeface="Times New Roman" panose="02020603050405020304" pitchFamily="18" charset="0"/>
            </a:endParaRPr>
          </a:p>
          <a:p>
            <a:pPr marL="609600" indent="-609600" algn="just">
              <a:lnSpc>
                <a:spcPct val="90000"/>
              </a:lnSpc>
              <a:buFontTx/>
              <a:buChar char="•"/>
            </a:pPr>
            <a:r>
              <a:rPr lang="en-US" altLang="en-US" sz="2400">
                <a:latin typeface="Times New Roman" panose="02020603050405020304" pitchFamily="18" charset="0"/>
              </a:rPr>
              <a:t>Whenever data types are mixed in an expression, C++ performs the conversions automatically. This process is known as </a:t>
            </a:r>
            <a:r>
              <a:rPr lang="en-US" altLang="en-US" sz="2400">
                <a:solidFill>
                  <a:srgbClr val="0066CC"/>
                </a:solidFill>
                <a:latin typeface="Times New Roman" panose="02020603050405020304" pitchFamily="18" charset="0"/>
              </a:rPr>
              <a:t>implicit or automatic conversion</a:t>
            </a:r>
          </a:p>
          <a:p>
            <a:pPr marL="609600" indent="-609600" algn="just">
              <a:lnSpc>
                <a:spcPct val="90000"/>
              </a:lnSpc>
              <a:buFontTx/>
              <a:buChar char="•"/>
            </a:pPr>
            <a:r>
              <a:rPr lang="en-US" altLang="en-US" sz="2400">
                <a:latin typeface="Times New Roman" panose="02020603050405020304" pitchFamily="18" charset="0"/>
              </a:rPr>
              <a:t>When the compiler encounters an expression, it divides the expressions into sub-expressions consisting of one operator and one or two operators.</a:t>
            </a:r>
          </a:p>
          <a:p>
            <a:pPr marL="609600" indent="-609600" algn="just">
              <a:lnSpc>
                <a:spcPct val="90000"/>
              </a:lnSpc>
              <a:buFontTx/>
              <a:buChar char="•"/>
            </a:pPr>
            <a:r>
              <a:rPr lang="en-US" altLang="en-US" sz="2400">
                <a:latin typeface="Times New Roman" panose="02020603050405020304" pitchFamily="18" charset="0"/>
              </a:rPr>
              <a:t>For a binary operator, if the operands type differ, the compiler converts one of them to match with the other, using the rule that the smaller type is converted to the “wider” type.</a:t>
            </a:r>
          </a:p>
          <a:p>
            <a:pPr marL="609600" indent="-609600" algn="just">
              <a:lnSpc>
                <a:spcPct val="90000"/>
              </a:lnSpc>
              <a:buFontTx/>
              <a:buChar char="•"/>
            </a:pPr>
            <a:r>
              <a:rPr lang="en-US" altLang="en-US" sz="2400">
                <a:latin typeface="Times New Roman" panose="02020603050405020304" pitchFamily="18" charset="0"/>
              </a:rPr>
              <a:t>Eg:  if one is int and other is float, int is converted into float</a:t>
            </a:r>
          </a:p>
          <a:p>
            <a:pPr marL="609600" indent="-609600" algn="just">
              <a:lnSpc>
                <a:spcPct val="90000"/>
              </a:lnSpc>
              <a:buFontTx/>
              <a:buChar char="•"/>
            </a:pPr>
            <a:r>
              <a:rPr lang="en-US" altLang="en-US" sz="2400">
                <a:latin typeface="Times New Roman" panose="02020603050405020304" pitchFamily="18" charset="0"/>
              </a:rPr>
              <a:t>Whenever char or short int appears in an expression, it is converted to an int. this is called integral widening conversion. </a:t>
            </a:r>
            <a:r>
              <a:rPr lang="en-US" altLang="en-US" sz="2400">
                <a:solidFill>
                  <a:srgbClr val="0066CC"/>
                </a:solidFill>
                <a:latin typeface="Times New Roman" panose="02020603050405020304" pitchFamily="18" charset="0"/>
              </a:rPr>
              <a:t>The implicit conversion is applied only after completing all integral widening conversions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4380" name="Group 108">
            <a:extLst>
              <a:ext uri="{FF2B5EF4-FFF2-40B4-BE49-F238E27FC236}">
                <a16:creationId xmlns:a16="http://schemas.microsoft.com/office/drawing/2014/main" id="{0C7B2FBF-040F-8880-CC44-8ADB0F6D871E}"/>
              </a:ext>
            </a:extLst>
          </p:cNvPr>
          <p:cNvGraphicFramePr>
            <a:graphicFrameLocks noGrp="1"/>
          </p:cNvGraphicFramePr>
          <p:nvPr/>
        </p:nvGraphicFramePr>
        <p:xfrm>
          <a:off x="685800" y="144463"/>
          <a:ext cx="7772400" cy="5705475"/>
        </p:xfrm>
        <a:graphic>
          <a:graphicData uri="http://schemas.openxmlformats.org/drawingml/2006/table">
            <a:tbl>
              <a:tblPr/>
              <a:tblGrid>
                <a:gridCol w="971550">
                  <a:extLst>
                    <a:ext uri="{9D8B030D-6E8A-4147-A177-3AD203B41FA5}">
                      <a16:colId xmlns:a16="http://schemas.microsoft.com/office/drawing/2014/main" val="20000"/>
                    </a:ext>
                  </a:extLst>
                </a:gridCol>
                <a:gridCol w="971550">
                  <a:extLst>
                    <a:ext uri="{9D8B030D-6E8A-4147-A177-3AD203B41FA5}">
                      <a16:colId xmlns:a16="http://schemas.microsoft.com/office/drawing/2014/main" val="20001"/>
                    </a:ext>
                  </a:extLst>
                </a:gridCol>
                <a:gridCol w="971550">
                  <a:extLst>
                    <a:ext uri="{9D8B030D-6E8A-4147-A177-3AD203B41FA5}">
                      <a16:colId xmlns:a16="http://schemas.microsoft.com/office/drawing/2014/main" val="20002"/>
                    </a:ext>
                  </a:extLst>
                </a:gridCol>
                <a:gridCol w="971550">
                  <a:extLst>
                    <a:ext uri="{9D8B030D-6E8A-4147-A177-3AD203B41FA5}">
                      <a16:colId xmlns:a16="http://schemas.microsoft.com/office/drawing/2014/main" val="20003"/>
                    </a:ext>
                  </a:extLst>
                </a:gridCol>
                <a:gridCol w="971550">
                  <a:extLst>
                    <a:ext uri="{9D8B030D-6E8A-4147-A177-3AD203B41FA5}">
                      <a16:colId xmlns:a16="http://schemas.microsoft.com/office/drawing/2014/main" val="20004"/>
                    </a:ext>
                  </a:extLst>
                </a:gridCol>
                <a:gridCol w="971550">
                  <a:extLst>
                    <a:ext uri="{9D8B030D-6E8A-4147-A177-3AD203B41FA5}">
                      <a16:colId xmlns:a16="http://schemas.microsoft.com/office/drawing/2014/main" val="20005"/>
                    </a:ext>
                  </a:extLst>
                </a:gridCol>
                <a:gridCol w="971550">
                  <a:extLst>
                    <a:ext uri="{9D8B030D-6E8A-4147-A177-3AD203B41FA5}">
                      <a16:colId xmlns:a16="http://schemas.microsoft.com/office/drawing/2014/main" val="20006"/>
                    </a:ext>
                  </a:extLst>
                </a:gridCol>
                <a:gridCol w="971550">
                  <a:extLst>
                    <a:ext uri="{9D8B030D-6E8A-4147-A177-3AD203B41FA5}">
                      <a16:colId xmlns:a16="http://schemas.microsoft.com/office/drawing/2014/main" val="20007"/>
                    </a:ext>
                  </a:extLst>
                </a:gridCol>
              </a:tblGrid>
              <a:tr h="1066729">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Arial" charset="0"/>
                        </a:rPr>
                        <a:t>RHO(row) /LHO(</a:t>
                      </a:r>
                      <a:r>
                        <a:rPr kumimoji="0" lang="en-US" sz="1600" b="0" i="0" u="none" strike="noStrike" cap="none" normalizeH="0" baseline="0" dirty="0" err="1">
                          <a:ln>
                            <a:noFill/>
                          </a:ln>
                          <a:solidFill>
                            <a:schemeClr val="tx1"/>
                          </a:solidFill>
                          <a:effectLst/>
                          <a:latin typeface="Arial" charset="0"/>
                        </a:rPr>
                        <a:t>col</a:t>
                      </a:r>
                      <a:r>
                        <a:rPr kumimoji="0" lang="en-US" sz="1600" b="0" i="0" u="none" strike="noStrike" cap="none" normalizeH="0" baseline="0" dirty="0">
                          <a:ln>
                            <a:noFill/>
                          </a:ln>
                          <a:solidFill>
                            <a:schemeClr val="tx1"/>
                          </a:solidFill>
                          <a:effectLst/>
                          <a:latin typeface="Arial" charset="0"/>
                        </a:rPr>
                        <a:t>)</a:t>
                      </a:r>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rgbClr val="0066CC"/>
                          </a:solidFill>
                          <a:effectLst/>
                          <a:latin typeface="Arial" charset="0"/>
                        </a:rPr>
                        <a:t>char</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rgbClr val="0066CC"/>
                          </a:solidFill>
                          <a:effectLst/>
                          <a:latin typeface="Arial" charset="0"/>
                        </a:rPr>
                        <a:t>short</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err="1">
                          <a:ln>
                            <a:noFill/>
                          </a:ln>
                          <a:solidFill>
                            <a:srgbClr val="0066CC"/>
                          </a:solidFill>
                          <a:effectLst/>
                          <a:latin typeface="Arial" charset="0"/>
                        </a:rPr>
                        <a:t>int</a:t>
                      </a:r>
                      <a:endParaRPr kumimoji="0" lang="en-US" sz="1600" b="0" i="0" u="none" strike="noStrike" cap="none" normalizeH="0" baseline="0" dirty="0">
                        <a:ln>
                          <a:noFill/>
                        </a:ln>
                        <a:solidFill>
                          <a:srgbClr val="0066CC"/>
                        </a:solidFill>
                        <a:effectLst/>
                        <a:latin typeface="Arial" charset="0"/>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rgbClr val="0066CC"/>
                          </a:solidFill>
                          <a:effectLst/>
                          <a:latin typeface="Arial" charset="0"/>
                        </a:rPr>
                        <a:t>long</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rgbClr val="0066CC"/>
                          </a:solidFill>
                          <a:effectLst/>
                          <a:latin typeface="Arial" charset="0"/>
                        </a:rPr>
                        <a:t>float</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rgbClr val="0066CC"/>
                          </a:solidFill>
                          <a:effectLst/>
                          <a:latin typeface="Arial" charset="0"/>
                        </a:rPr>
                        <a:t>double</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rgbClr val="0066CC"/>
                          </a:solidFill>
                          <a:effectLst/>
                          <a:latin typeface="Arial" charset="0"/>
                        </a:rPr>
                        <a:t>long double</a:t>
                      </a: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2784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rgbClr val="0066CC"/>
                          </a:solidFill>
                          <a:effectLst/>
                          <a:latin typeface="Arial" charset="0"/>
                        </a:rPr>
                        <a:t>char</a:t>
                      </a:r>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err="1">
                          <a:ln>
                            <a:noFill/>
                          </a:ln>
                          <a:solidFill>
                            <a:schemeClr val="tx1"/>
                          </a:solidFill>
                          <a:effectLst/>
                          <a:latin typeface="Arial" charset="0"/>
                        </a:rPr>
                        <a:t>int</a:t>
                      </a:r>
                      <a:endParaRPr kumimoji="0" lang="en-US" sz="1600" b="0" i="0" u="none" strike="noStrike" cap="none" normalizeH="0" baseline="0" dirty="0">
                        <a:ln>
                          <a:noFill/>
                        </a:ln>
                        <a:solidFill>
                          <a:schemeClr val="tx1"/>
                        </a:solidFill>
                        <a:effectLst/>
                        <a:latin typeface="Arial" charset="0"/>
                      </a:endParaRPr>
                    </a:p>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dirty="0">
                        <a:ln>
                          <a:noFill/>
                        </a:ln>
                        <a:solidFill>
                          <a:schemeClr val="tx1"/>
                        </a:solidFill>
                        <a:effectLst/>
                        <a:latin typeface="Arial" charset="0"/>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int</a:t>
                      </a:r>
                    </a:p>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Arial" charset="0"/>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int</a:t>
                      </a:r>
                    </a:p>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Arial" charset="0"/>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long</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float</a:t>
                      </a:r>
                    </a:p>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Arial" charset="0"/>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double</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long double</a:t>
                      </a: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2784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rgbClr val="0066CC"/>
                          </a:solidFill>
                          <a:effectLst/>
                          <a:latin typeface="Arial" charset="0"/>
                        </a:rPr>
                        <a:t>short</a:t>
                      </a:r>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int</a:t>
                      </a:r>
                    </a:p>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Arial" charset="0"/>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int</a:t>
                      </a:r>
                    </a:p>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Arial" charset="0"/>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int</a:t>
                      </a:r>
                    </a:p>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Arial" charset="0"/>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long</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float</a:t>
                      </a:r>
                    </a:p>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Arial" charset="0"/>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double</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long double</a:t>
                      </a: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2784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err="1">
                          <a:ln>
                            <a:noFill/>
                          </a:ln>
                          <a:solidFill>
                            <a:srgbClr val="0066CC"/>
                          </a:solidFill>
                          <a:effectLst/>
                          <a:latin typeface="Arial" charset="0"/>
                        </a:rPr>
                        <a:t>int</a:t>
                      </a:r>
                      <a:endParaRPr kumimoji="0" lang="en-US" sz="1600" b="0" i="0" u="none" strike="noStrike" cap="none" normalizeH="0" baseline="0" dirty="0">
                        <a:ln>
                          <a:noFill/>
                        </a:ln>
                        <a:solidFill>
                          <a:srgbClr val="0066CC"/>
                        </a:solidFill>
                        <a:effectLst/>
                        <a:latin typeface="Arial" charset="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dirty="0">
                        <a:ln>
                          <a:noFill/>
                        </a:ln>
                        <a:solidFill>
                          <a:srgbClr val="0066CC"/>
                        </a:solidFill>
                        <a:effectLst/>
                        <a:latin typeface="Arial" charset="0"/>
                      </a:endParaRPr>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int</a:t>
                      </a:r>
                    </a:p>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Arial" charset="0"/>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int</a:t>
                      </a:r>
                    </a:p>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Arial" charset="0"/>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int</a:t>
                      </a:r>
                    </a:p>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Arial" charset="0"/>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long</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float</a:t>
                      </a:r>
                    </a:p>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Arial" charset="0"/>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double</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long double</a:t>
                      </a: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2784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rgbClr val="0066CC"/>
                          </a:solidFill>
                          <a:effectLst/>
                          <a:latin typeface="Arial" charset="0"/>
                        </a:rPr>
                        <a:t>long</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dirty="0">
                        <a:ln>
                          <a:noFill/>
                        </a:ln>
                        <a:solidFill>
                          <a:srgbClr val="0066CC"/>
                        </a:solidFill>
                        <a:effectLst/>
                        <a:latin typeface="Arial" charset="0"/>
                      </a:endParaRPr>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long</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long</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long</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long</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float</a:t>
                      </a:r>
                    </a:p>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Arial" charset="0"/>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double</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long double</a:t>
                      </a: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2784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rgbClr val="0066CC"/>
                          </a:solidFill>
                          <a:effectLst/>
                          <a:latin typeface="Arial" charset="0"/>
                        </a:rPr>
                        <a:t>float</a:t>
                      </a:r>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float</a:t>
                      </a:r>
                    </a:p>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Arial" charset="0"/>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float</a:t>
                      </a:r>
                    </a:p>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Arial" charset="0"/>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float</a:t>
                      </a:r>
                    </a:p>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Arial" charset="0"/>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float</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float</a:t>
                      </a:r>
                    </a:p>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Arial" charset="0"/>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double</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long double</a:t>
                      </a: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62784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rgbClr val="0066CC"/>
                          </a:solidFill>
                          <a:effectLst/>
                          <a:latin typeface="Arial" charset="0"/>
                        </a:rPr>
                        <a:t>double</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dirty="0">
                        <a:ln>
                          <a:noFill/>
                        </a:ln>
                        <a:solidFill>
                          <a:srgbClr val="0066CC"/>
                        </a:solidFill>
                        <a:effectLst/>
                        <a:latin typeface="Arial" charset="0"/>
                      </a:endParaRPr>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double</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double</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double</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double</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double</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double</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long double</a:t>
                      </a: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87167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rgbClr val="0066CC"/>
                          </a:solidFill>
                          <a:effectLst/>
                          <a:latin typeface="Arial" charset="0"/>
                        </a:rPr>
                        <a:t>long double</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dirty="0">
                        <a:ln>
                          <a:noFill/>
                        </a:ln>
                        <a:solidFill>
                          <a:srgbClr val="0066CC"/>
                        </a:solidFill>
                        <a:effectLst/>
                        <a:latin typeface="Arial" charset="0"/>
                      </a:endParaRPr>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long double</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long double</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long double</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long double</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long double</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long double</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long double</a:t>
                      </a: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36949" name="Rectangle 109">
            <a:extLst>
              <a:ext uri="{FF2B5EF4-FFF2-40B4-BE49-F238E27FC236}">
                <a16:creationId xmlns:a16="http://schemas.microsoft.com/office/drawing/2014/main" id="{BAB6EC67-E8FE-85F8-5E3B-CE542E0EFB17}"/>
              </a:ext>
            </a:extLst>
          </p:cNvPr>
          <p:cNvSpPr>
            <a:spLocks noChangeArrowheads="1"/>
          </p:cNvSpPr>
          <p:nvPr/>
        </p:nvSpPr>
        <p:spPr bwMode="auto">
          <a:xfrm>
            <a:off x="685800" y="5791200"/>
            <a:ext cx="5334000" cy="7620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RHO  -   Right hand operand</a:t>
            </a:r>
          </a:p>
          <a:p>
            <a:pPr eaLnBrk="1" hangingPunct="1"/>
            <a:r>
              <a:rPr lang="en-US" altLang="en-US"/>
              <a:t>LHO  -   Left hand operand</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86">
            <a:extLst>
              <a:ext uri="{FF2B5EF4-FFF2-40B4-BE49-F238E27FC236}">
                <a16:creationId xmlns:a16="http://schemas.microsoft.com/office/drawing/2014/main" id="{32394C8B-64EB-E414-1A00-E3CC5C21A69B}"/>
              </a:ext>
            </a:extLst>
          </p:cNvPr>
          <p:cNvSpPr>
            <a:spLocks noGrp="1" noChangeArrowheads="1"/>
          </p:cNvSpPr>
          <p:nvPr>
            <p:ph type="ctrTitle"/>
          </p:nvPr>
        </p:nvSpPr>
        <p:spPr>
          <a:xfrm>
            <a:off x="685800" y="152400"/>
            <a:ext cx="7772400" cy="457200"/>
          </a:xfrm>
          <a:noFill/>
        </p:spPr>
        <p:txBody>
          <a:bodyPr/>
          <a:lstStyle/>
          <a:p>
            <a:r>
              <a:rPr lang="en-US" altLang="en-US">
                <a:solidFill>
                  <a:schemeClr val="accent2"/>
                </a:solidFill>
              </a:rPr>
              <a:t>Operator precedence</a:t>
            </a:r>
          </a:p>
        </p:txBody>
      </p:sp>
      <p:sp>
        <p:nvSpPr>
          <p:cNvPr id="37891" name="Rectangle 89">
            <a:extLst>
              <a:ext uri="{FF2B5EF4-FFF2-40B4-BE49-F238E27FC236}">
                <a16:creationId xmlns:a16="http://schemas.microsoft.com/office/drawing/2014/main" id="{D3AE1669-767B-5954-241C-68E176DED04B}"/>
              </a:ext>
            </a:extLst>
          </p:cNvPr>
          <p:cNvSpPr>
            <a:spLocks noGrp="1" noChangeArrowheads="1"/>
          </p:cNvSpPr>
          <p:nvPr>
            <p:ph type="subTitle" idx="1"/>
          </p:nvPr>
        </p:nvSpPr>
        <p:spPr>
          <a:xfrm>
            <a:off x="228600" y="609600"/>
            <a:ext cx="8686800" cy="6019800"/>
          </a:xfrm>
          <a:noFill/>
        </p:spPr>
        <p:txBody>
          <a:bodyPr/>
          <a:lstStyle/>
          <a:p>
            <a:pPr marL="609600" indent="-609600" algn="just">
              <a:buFontTx/>
              <a:buChar char="•"/>
            </a:pPr>
            <a:r>
              <a:rPr lang="en-US" altLang="en-US" sz="4000"/>
              <a:t>Although C++ enables us to add multiple meaning to the operators, their association and precedence remain the same</a:t>
            </a:r>
          </a:p>
          <a:p>
            <a:pPr marL="609600" indent="-609600" algn="just">
              <a:buFontTx/>
              <a:buChar char="•"/>
            </a:pPr>
            <a:r>
              <a:rPr lang="en-US" altLang="en-US" sz="4000"/>
              <a:t>Eg * have higher precedence than +</a:t>
            </a:r>
          </a:p>
          <a:p>
            <a:pPr marL="609600" indent="-609600" algn="just">
              <a:buFontTx/>
              <a:buChar char="•"/>
            </a:pPr>
            <a:endParaRPr lang="en-US" altLang="en-US" sz="40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85">
            <a:extLst>
              <a:ext uri="{FF2B5EF4-FFF2-40B4-BE49-F238E27FC236}">
                <a16:creationId xmlns:a16="http://schemas.microsoft.com/office/drawing/2014/main" id="{96161168-21A0-FC52-2B17-0D6A1EFCCB69}"/>
              </a:ext>
            </a:extLst>
          </p:cNvPr>
          <p:cNvSpPr>
            <a:spLocks noChangeArrowheads="1"/>
          </p:cNvSpPr>
          <p:nvPr/>
        </p:nvSpPr>
        <p:spPr bwMode="auto">
          <a:xfrm>
            <a:off x="304800" y="6248400"/>
            <a:ext cx="5334000" cy="4572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Unary operators assume higher precedence</a:t>
            </a:r>
          </a:p>
        </p:txBody>
      </p:sp>
      <p:graphicFrame>
        <p:nvGraphicFramePr>
          <p:cNvPr id="56483" name="Group 163">
            <a:extLst>
              <a:ext uri="{FF2B5EF4-FFF2-40B4-BE49-F238E27FC236}">
                <a16:creationId xmlns:a16="http://schemas.microsoft.com/office/drawing/2014/main" id="{409A1E0F-0CAB-E2CB-7E87-7BB5627C9FAB}"/>
              </a:ext>
            </a:extLst>
          </p:cNvPr>
          <p:cNvGraphicFramePr>
            <a:graphicFrameLocks noGrp="1"/>
          </p:cNvGraphicFramePr>
          <p:nvPr/>
        </p:nvGraphicFramePr>
        <p:xfrm>
          <a:off x="228600" y="273050"/>
          <a:ext cx="8763000" cy="5730875"/>
        </p:xfrm>
        <a:graphic>
          <a:graphicData uri="http://schemas.openxmlformats.org/drawingml/2006/table">
            <a:tbl>
              <a:tblPr/>
              <a:tblGrid>
                <a:gridCol w="53340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tblGrid>
              <a:tr h="33531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accent2"/>
                          </a:solidFill>
                          <a:effectLst/>
                          <a:latin typeface="Arial" charset="0"/>
                        </a:rPr>
                        <a:t>Operator</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a:ln>
                            <a:noFill/>
                          </a:ln>
                          <a:solidFill>
                            <a:schemeClr val="accent2"/>
                          </a:solidFill>
                          <a:effectLst/>
                          <a:latin typeface="Arial" charset="0"/>
                        </a:rPr>
                        <a:t>Associativity</a:t>
                      </a: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0483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Left to right</a:t>
                      </a: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483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-&gt; . ( ) [ ] postfix++ postfix --</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Left to right</a:t>
                      </a: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8217">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Prefix ++ prefix -- ~ ! Unary- unary* unary&amp; (type) sizeof new delete</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Right to left</a:t>
                      </a: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0483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-&gt;* *</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Left to right</a:t>
                      </a: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0483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 / %</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Left to right</a:t>
                      </a: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0483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 -</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Left to right</a:t>
                      </a: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0483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&lt;&lt; &gt;&gt;</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Left to right</a:t>
                      </a: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0483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&lt;&lt;= &gt;&gt;=</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Left to right</a:t>
                      </a: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0483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 !=</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Left to right</a:t>
                      </a: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0483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&amp;</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Left to right</a:t>
                      </a: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0483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Left to right</a:t>
                      </a: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0483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Left to right</a:t>
                      </a: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0483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&amp;&amp;</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Left to right</a:t>
                      </a: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30483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Left to right</a:t>
                      </a: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30483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Left to right</a:t>
                      </a: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r h="30483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 =/ =% =+ == &gt;&gt;= &gt;&gt;= &amp;= =^ |=</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Left to right</a:t>
                      </a: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6"/>
                  </a:ext>
                </a:extLst>
              </a:tr>
              <a:tr h="30483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 (common)</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Left to right</a:t>
                      </a: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7"/>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D079735F-2364-3230-3E28-FFEDD19CE308}"/>
              </a:ext>
            </a:extLst>
          </p:cNvPr>
          <p:cNvSpPr>
            <a:spLocks noGrp="1" noChangeArrowheads="1"/>
          </p:cNvSpPr>
          <p:nvPr>
            <p:ph type="ctrTitle"/>
          </p:nvPr>
        </p:nvSpPr>
        <p:spPr>
          <a:xfrm>
            <a:off x="685800" y="152400"/>
            <a:ext cx="7772400" cy="457200"/>
          </a:xfrm>
          <a:noFill/>
        </p:spPr>
        <p:txBody>
          <a:bodyPr/>
          <a:lstStyle/>
          <a:p>
            <a:r>
              <a:rPr lang="en-US" altLang="en-US">
                <a:solidFill>
                  <a:schemeClr val="accent2"/>
                </a:solidFill>
              </a:rPr>
              <a:t>Control Structures</a:t>
            </a:r>
          </a:p>
        </p:txBody>
      </p:sp>
      <p:sp>
        <p:nvSpPr>
          <p:cNvPr id="39939" name="Rectangle 3">
            <a:extLst>
              <a:ext uri="{FF2B5EF4-FFF2-40B4-BE49-F238E27FC236}">
                <a16:creationId xmlns:a16="http://schemas.microsoft.com/office/drawing/2014/main" id="{E33FBA0B-D295-E3C9-3935-F72973ADA3AC}"/>
              </a:ext>
            </a:extLst>
          </p:cNvPr>
          <p:cNvSpPr>
            <a:spLocks noGrp="1" noChangeArrowheads="1"/>
          </p:cNvSpPr>
          <p:nvPr>
            <p:ph type="subTitle" idx="1"/>
          </p:nvPr>
        </p:nvSpPr>
        <p:spPr>
          <a:xfrm>
            <a:off x="228600" y="609600"/>
            <a:ext cx="8686800" cy="6019800"/>
          </a:xfrm>
          <a:noFill/>
        </p:spPr>
        <p:txBody>
          <a:bodyPr/>
          <a:lstStyle/>
          <a:p>
            <a:pPr marL="609600" indent="-609600" algn="just">
              <a:buFontTx/>
              <a:buChar char="•"/>
            </a:pPr>
            <a:r>
              <a:rPr lang="en-US" altLang="en-US" sz="4000"/>
              <a:t>To achieve objective of an accurate, error-resistant and maintainable code is to use one or any combination of the following 3 control structures</a:t>
            </a:r>
          </a:p>
          <a:p>
            <a:pPr marL="990600" lvl="1" indent="-533400" algn="just">
              <a:buFontTx/>
              <a:buAutoNum type="arabicPeriod"/>
            </a:pPr>
            <a:r>
              <a:rPr lang="en-US" altLang="en-US" sz="3600"/>
              <a:t>Sequence structure (straight line)</a:t>
            </a:r>
          </a:p>
          <a:p>
            <a:pPr marL="990600" lvl="1" indent="-533400" algn="just">
              <a:buFontTx/>
              <a:buAutoNum type="arabicPeriod"/>
            </a:pPr>
            <a:r>
              <a:rPr lang="en-US" altLang="en-US" sz="3600"/>
              <a:t>Selection structure (branching)</a:t>
            </a:r>
          </a:p>
          <a:p>
            <a:pPr marL="990600" lvl="1" indent="-533400" algn="just">
              <a:buFontTx/>
              <a:buAutoNum type="arabicPeriod"/>
            </a:pPr>
            <a:r>
              <a:rPr lang="en-US" altLang="en-US" sz="3600"/>
              <a:t>Loop structure (iteration or repetition)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4">
            <a:extLst>
              <a:ext uri="{FF2B5EF4-FFF2-40B4-BE49-F238E27FC236}">
                <a16:creationId xmlns:a16="http://schemas.microsoft.com/office/drawing/2014/main" id="{D035E838-7DEA-B6CF-2284-C0A2B15E6A2D}"/>
              </a:ext>
            </a:extLst>
          </p:cNvPr>
          <p:cNvSpPr>
            <a:spLocks noChangeArrowheads="1"/>
          </p:cNvSpPr>
          <p:nvPr/>
        </p:nvSpPr>
        <p:spPr bwMode="auto">
          <a:xfrm>
            <a:off x="609600" y="1066800"/>
            <a:ext cx="1143000" cy="3810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a:t>Action 1</a:t>
            </a:r>
          </a:p>
        </p:txBody>
      </p:sp>
      <p:sp>
        <p:nvSpPr>
          <p:cNvPr id="40963" name="Rectangle 5">
            <a:extLst>
              <a:ext uri="{FF2B5EF4-FFF2-40B4-BE49-F238E27FC236}">
                <a16:creationId xmlns:a16="http://schemas.microsoft.com/office/drawing/2014/main" id="{70E3B6C9-39BB-4F98-9F67-B20F4B84F1A9}"/>
              </a:ext>
            </a:extLst>
          </p:cNvPr>
          <p:cNvSpPr>
            <a:spLocks noChangeArrowheads="1"/>
          </p:cNvSpPr>
          <p:nvPr/>
        </p:nvSpPr>
        <p:spPr bwMode="auto">
          <a:xfrm>
            <a:off x="609600" y="1905000"/>
            <a:ext cx="1143000" cy="3810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a:t>Action 2</a:t>
            </a:r>
          </a:p>
        </p:txBody>
      </p:sp>
      <p:sp>
        <p:nvSpPr>
          <p:cNvPr id="40964" name="Rectangle 6">
            <a:extLst>
              <a:ext uri="{FF2B5EF4-FFF2-40B4-BE49-F238E27FC236}">
                <a16:creationId xmlns:a16="http://schemas.microsoft.com/office/drawing/2014/main" id="{93F5EE16-F66F-D870-1DE1-C40F88478ED1}"/>
              </a:ext>
            </a:extLst>
          </p:cNvPr>
          <p:cNvSpPr>
            <a:spLocks noChangeArrowheads="1"/>
          </p:cNvSpPr>
          <p:nvPr/>
        </p:nvSpPr>
        <p:spPr bwMode="auto">
          <a:xfrm>
            <a:off x="609600" y="2895600"/>
            <a:ext cx="1143000" cy="3810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a:t>Action 3</a:t>
            </a:r>
          </a:p>
        </p:txBody>
      </p:sp>
      <p:sp>
        <p:nvSpPr>
          <p:cNvPr id="40965" name="Line 7">
            <a:extLst>
              <a:ext uri="{FF2B5EF4-FFF2-40B4-BE49-F238E27FC236}">
                <a16:creationId xmlns:a16="http://schemas.microsoft.com/office/drawing/2014/main" id="{DC096F60-7CF7-3FB2-C2C7-B5DA1D62536C}"/>
              </a:ext>
            </a:extLst>
          </p:cNvPr>
          <p:cNvSpPr>
            <a:spLocks noChangeShapeType="1"/>
          </p:cNvSpPr>
          <p:nvPr/>
        </p:nvSpPr>
        <p:spPr bwMode="auto">
          <a:xfrm>
            <a:off x="1143000" y="381000"/>
            <a:ext cx="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0966" name="Line 8">
            <a:extLst>
              <a:ext uri="{FF2B5EF4-FFF2-40B4-BE49-F238E27FC236}">
                <a16:creationId xmlns:a16="http://schemas.microsoft.com/office/drawing/2014/main" id="{690EAB93-37DD-1250-608C-37FEA3B2F7EA}"/>
              </a:ext>
            </a:extLst>
          </p:cNvPr>
          <p:cNvSpPr>
            <a:spLocks noChangeShapeType="1"/>
          </p:cNvSpPr>
          <p:nvPr/>
        </p:nvSpPr>
        <p:spPr bwMode="auto">
          <a:xfrm>
            <a:off x="1143000" y="1447800"/>
            <a:ext cx="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0967" name="Line 9">
            <a:extLst>
              <a:ext uri="{FF2B5EF4-FFF2-40B4-BE49-F238E27FC236}">
                <a16:creationId xmlns:a16="http://schemas.microsoft.com/office/drawing/2014/main" id="{3F03D07E-D814-66D7-8A87-12254D531DAF}"/>
              </a:ext>
            </a:extLst>
          </p:cNvPr>
          <p:cNvSpPr>
            <a:spLocks noChangeShapeType="1"/>
          </p:cNvSpPr>
          <p:nvPr/>
        </p:nvSpPr>
        <p:spPr bwMode="auto">
          <a:xfrm>
            <a:off x="1143000" y="2286000"/>
            <a:ext cx="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0968" name="Line 10">
            <a:extLst>
              <a:ext uri="{FF2B5EF4-FFF2-40B4-BE49-F238E27FC236}">
                <a16:creationId xmlns:a16="http://schemas.microsoft.com/office/drawing/2014/main" id="{99831654-A1FF-626F-B757-80A265810157}"/>
              </a:ext>
            </a:extLst>
          </p:cNvPr>
          <p:cNvSpPr>
            <a:spLocks noChangeShapeType="1"/>
          </p:cNvSpPr>
          <p:nvPr/>
        </p:nvSpPr>
        <p:spPr bwMode="auto">
          <a:xfrm>
            <a:off x="1143000" y="3276600"/>
            <a:ext cx="0" cy="838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0969" name="Rectangle 11">
            <a:extLst>
              <a:ext uri="{FF2B5EF4-FFF2-40B4-BE49-F238E27FC236}">
                <a16:creationId xmlns:a16="http://schemas.microsoft.com/office/drawing/2014/main" id="{ECD6DAD4-FC21-1AEA-891C-A241CD9CC0D1}"/>
              </a:ext>
            </a:extLst>
          </p:cNvPr>
          <p:cNvSpPr>
            <a:spLocks noChangeArrowheads="1"/>
          </p:cNvSpPr>
          <p:nvPr/>
        </p:nvSpPr>
        <p:spPr bwMode="auto">
          <a:xfrm>
            <a:off x="1371600" y="457200"/>
            <a:ext cx="914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a:t>entry</a:t>
            </a:r>
          </a:p>
        </p:txBody>
      </p:sp>
      <p:sp>
        <p:nvSpPr>
          <p:cNvPr id="40970" name="Rectangle 12">
            <a:extLst>
              <a:ext uri="{FF2B5EF4-FFF2-40B4-BE49-F238E27FC236}">
                <a16:creationId xmlns:a16="http://schemas.microsoft.com/office/drawing/2014/main" id="{CB50C2E9-B75A-78D2-2B5A-5D0B6A8362E4}"/>
              </a:ext>
            </a:extLst>
          </p:cNvPr>
          <p:cNvSpPr>
            <a:spLocks noChangeArrowheads="1"/>
          </p:cNvSpPr>
          <p:nvPr/>
        </p:nvSpPr>
        <p:spPr bwMode="auto">
          <a:xfrm>
            <a:off x="1371600" y="3581400"/>
            <a:ext cx="914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a:t>exit</a:t>
            </a:r>
          </a:p>
        </p:txBody>
      </p:sp>
      <p:sp>
        <p:nvSpPr>
          <p:cNvPr id="40971" name="AutoShape 13">
            <a:extLst>
              <a:ext uri="{FF2B5EF4-FFF2-40B4-BE49-F238E27FC236}">
                <a16:creationId xmlns:a16="http://schemas.microsoft.com/office/drawing/2014/main" id="{DE146FF0-5AAF-FBD2-ED9C-8DBE263A4716}"/>
              </a:ext>
            </a:extLst>
          </p:cNvPr>
          <p:cNvSpPr>
            <a:spLocks noChangeArrowheads="1"/>
          </p:cNvSpPr>
          <p:nvPr/>
        </p:nvSpPr>
        <p:spPr bwMode="auto">
          <a:xfrm>
            <a:off x="3657600" y="990600"/>
            <a:ext cx="1295400" cy="609600"/>
          </a:xfrm>
          <a:prstGeom prst="flowChartDecision">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a:t>condition</a:t>
            </a:r>
          </a:p>
        </p:txBody>
      </p:sp>
      <p:sp>
        <p:nvSpPr>
          <p:cNvPr id="40972" name="Line 14">
            <a:extLst>
              <a:ext uri="{FF2B5EF4-FFF2-40B4-BE49-F238E27FC236}">
                <a16:creationId xmlns:a16="http://schemas.microsoft.com/office/drawing/2014/main" id="{30B19ACC-3302-7706-B335-45017FFBA4CD}"/>
              </a:ext>
            </a:extLst>
          </p:cNvPr>
          <p:cNvSpPr>
            <a:spLocks noChangeShapeType="1"/>
          </p:cNvSpPr>
          <p:nvPr/>
        </p:nvSpPr>
        <p:spPr bwMode="auto">
          <a:xfrm>
            <a:off x="4267200" y="304800"/>
            <a:ext cx="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0973" name="Rectangle 15">
            <a:extLst>
              <a:ext uri="{FF2B5EF4-FFF2-40B4-BE49-F238E27FC236}">
                <a16:creationId xmlns:a16="http://schemas.microsoft.com/office/drawing/2014/main" id="{314F1B8D-C215-F233-1A0D-AF5B5BCA5894}"/>
              </a:ext>
            </a:extLst>
          </p:cNvPr>
          <p:cNvSpPr>
            <a:spLocks noChangeArrowheads="1"/>
          </p:cNvSpPr>
          <p:nvPr/>
        </p:nvSpPr>
        <p:spPr bwMode="auto">
          <a:xfrm>
            <a:off x="2743200" y="2133600"/>
            <a:ext cx="1143000" cy="3810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a:t>Action 1</a:t>
            </a:r>
          </a:p>
        </p:txBody>
      </p:sp>
      <p:sp>
        <p:nvSpPr>
          <p:cNvPr id="40974" name="Rectangle 16">
            <a:extLst>
              <a:ext uri="{FF2B5EF4-FFF2-40B4-BE49-F238E27FC236}">
                <a16:creationId xmlns:a16="http://schemas.microsoft.com/office/drawing/2014/main" id="{ECAD79FB-9C60-4656-A369-C76B4114904D}"/>
              </a:ext>
            </a:extLst>
          </p:cNvPr>
          <p:cNvSpPr>
            <a:spLocks noChangeArrowheads="1"/>
          </p:cNvSpPr>
          <p:nvPr/>
        </p:nvSpPr>
        <p:spPr bwMode="auto">
          <a:xfrm>
            <a:off x="4800600" y="2133600"/>
            <a:ext cx="1143000" cy="3810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a:t>Action 2</a:t>
            </a:r>
          </a:p>
        </p:txBody>
      </p:sp>
      <p:sp>
        <p:nvSpPr>
          <p:cNvPr id="40975" name="Oval 17">
            <a:extLst>
              <a:ext uri="{FF2B5EF4-FFF2-40B4-BE49-F238E27FC236}">
                <a16:creationId xmlns:a16="http://schemas.microsoft.com/office/drawing/2014/main" id="{89C407A5-C453-53D2-C2FE-48D273095F7F}"/>
              </a:ext>
            </a:extLst>
          </p:cNvPr>
          <p:cNvSpPr>
            <a:spLocks noChangeArrowheads="1"/>
          </p:cNvSpPr>
          <p:nvPr/>
        </p:nvSpPr>
        <p:spPr bwMode="auto">
          <a:xfrm>
            <a:off x="4114800" y="3124200"/>
            <a:ext cx="533400" cy="533400"/>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40976" name="Rectangle 18">
            <a:extLst>
              <a:ext uri="{FF2B5EF4-FFF2-40B4-BE49-F238E27FC236}">
                <a16:creationId xmlns:a16="http://schemas.microsoft.com/office/drawing/2014/main" id="{76D5DE28-A9CC-D5B9-C334-B7E22379DDD0}"/>
              </a:ext>
            </a:extLst>
          </p:cNvPr>
          <p:cNvSpPr>
            <a:spLocks noChangeArrowheads="1"/>
          </p:cNvSpPr>
          <p:nvPr/>
        </p:nvSpPr>
        <p:spPr bwMode="auto">
          <a:xfrm>
            <a:off x="3810000" y="4343400"/>
            <a:ext cx="1143000" cy="3810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a:t>Action 3</a:t>
            </a:r>
          </a:p>
        </p:txBody>
      </p:sp>
      <p:sp>
        <p:nvSpPr>
          <p:cNvPr id="40977" name="Line 19">
            <a:extLst>
              <a:ext uri="{FF2B5EF4-FFF2-40B4-BE49-F238E27FC236}">
                <a16:creationId xmlns:a16="http://schemas.microsoft.com/office/drawing/2014/main" id="{ABEC22FD-9FA3-14FB-F490-388CBC65CA6C}"/>
              </a:ext>
            </a:extLst>
          </p:cNvPr>
          <p:cNvSpPr>
            <a:spLocks noChangeShapeType="1"/>
          </p:cNvSpPr>
          <p:nvPr/>
        </p:nvSpPr>
        <p:spPr bwMode="auto">
          <a:xfrm>
            <a:off x="5334000" y="1295400"/>
            <a:ext cx="0" cy="838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0978" name="Line 20">
            <a:extLst>
              <a:ext uri="{FF2B5EF4-FFF2-40B4-BE49-F238E27FC236}">
                <a16:creationId xmlns:a16="http://schemas.microsoft.com/office/drawing/2014/main" id="{0F23ADFF-5B26-C2D8-E880-49229E4C5F22}"/>
              </a:ext>
            </a:extLst>
          </p:cNvPr>
          <p:cNvSpPr>
            <a:spLocks noChangeShapeType="1"/>
          </p:cNvSpPr>
          <p:nvPr/>
        </p:nvSpPr>
        <p:spPr bwMode="auto">
          <a:xfrm>
            <a:off x="3352800" y="1295400"/>
            <a:ext cx="0" cy="838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0979" name="Line 21">
            <a:extLst>
              <a:ext uri="{FF2B5EF4-FFF2-40B4-BE49-F238E27FC236}">
                <a16:creationId xmlns:a16="http://schemas.microsoft.com/office/drawing/2014/main" id="{1538E740-45B1-839B-B998-2F8C0D5A3424}"/>
              </a:ext>
            </a:extLst>
          </p:cNvPr>
          <p:cNvSpPr>
            <a:spLocks noChangeShapeType="1"/>
          </p:cNvSpPr>
          <p:nvPr/>
        </p:nvSpPr>
        <p:spPr bwMode="auto">
          <a:xfrm>
            <a:off x="3352800" y="1295400"/>
            <a:ext cx="381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0980" name="Line 22">
            <a:extLst>
              <a:ext uri="{FF2B5EF4-FFF2-40B4-BE49-F238E27FC236}">
                <a16:creationId xmlns:a16="http://schemas.microsoft.com/office/drawing/2014/main" id="{952DEB65-A6FB-A47A-2052-784B86983170}"/>
              </a:ext>
            </a:extLst>
          </p:cNvPr>
          <p:cNvSpPr>
            <a:spLocks noChangeShapeType="1"/>
          </p:cNvSpPr>
          <p:nvPr/>
        </p:nvSpPr>
        <p:spPr bwMode="auto">
          <a:xfrm>
            <a:off x="4953000" y="1295400"/>
            <a:ext cx="381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0981" name="Line 23">
            <a:extLst>
              <a:ext uri="{FF2B5EF4-FFF2-40B4-BE49-F238E27FC236}">
                <a16:creationId xmlns:a16="http://schemas.microsoft.com/office/drawing/2014/main" id="{64AA36E2-00A7-511E-2F53-5FD20235607A}"/>
              </a:ext>
            </a:extLst>
          </p:cNvPr>
          <p:cNvSpPr>
            <a:spLocks noChangeShapeType="1"/>
          </p:cNvSpPr>
          <p:nvPr/>
        </p:nvSpPr>
        <p:spPr bwMode="auto">
          <a:xfrm>
            <a:off x="4419600" y="3657600"/>
            <a:ext cx="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0982" name="Line 24">
            <a:extLst>
              <a:ext uri="{FF2B5EF4-FFF2-40B4-BE49-F238E27FC236}">
                <a16:creationId xmlns:a16="http://schemas.microsoft.com/office/drawing/2014/main" id="{5DBFE02C-8F16-6982-9DE5-FA2F8F057444}"/>
              </a:ext>
            </a:extLst>
          </p:cNvPr>
          <p:cNvSpPr>
            <a:spLocks noChangeShapeType="1"/>
          </p:cNvSpPr>
          <p:nvPr/>
        </p:nvSpPr>
        <p:spPr bwMode="auto">
          <a:xfrm flipH="1">
            <a:off x="4648200" y="3352800"/>
            <a:ext cx="762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0983" name="Line 25">
            <a:extLst>
              <a:ext uri="{FF2B5EF4-FFF2-40B4-BE49-F238E27FC236}">
                <a16:creationId xmlns:a16="http://schemas.microsoft.com/office/drawing/2014/main" id="{3FBA3455-2FD5-8223-4935-1A8C7A3FBCA7}"/>
              </a:ext>
            </a:extLst>
          </p:cNvPr>
          <p:cNvSpPr>
            <a:spLocks noChangeShapeType="1"/>
          </p:cNvSpPr>
          <p:nvPr/>
        </p:nvSpPr>
        <p:spPr bwMode="auto">
          <a:xfrm>
            <a:off x="3276600" y="3352800"/>
            <a:ext cx="838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0984" name="Line 26">
            <a:extLst>
              <a:ext uri="{FF2B5EF4-FFF2-40B4-BE49-F238E27FC236}">
                <a16:creationId xmlns:a16="http://schemas.microsoft.com/office/drawing/2014/main" id="{155FCFC7-646A-CAF7-3BF0-E9F70CADC624}"/>
              </a:ext>
            </a:extLst>
          </p:cNvPr>
          <p:cNvSpPr>
            <a:spLocks noChangeShapeType="1"/>
          </p:cNvSpPr>
          <p:nvPr/>
        </p:nvSpPr>
        <p:spPr bwMode="auto">
          <a:xfrm>
            <a:off x="5410200" y="2514600"/>
            <a:ext cx="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0985" name="Line 27">
            <a:extLst>
              <a:ext uri="{FF2B5EF4-FFF2-40B4-BE49-F238E27FC236}">
                <a16:creationId xmlns:a16="http://schemas.microsoft.com/office/drawing/2014/main" id="{F163229F-BB0F-D9F2-C614-66E20A709436}"/>
              </a:ext>
            </a:extLst>
          </p:cNvPr>
          <p:cNvSpPr>
            <a:spLocks noChangeShapeType="1"/>
          </p:cNvSpPr>
          <p:nvPr/>
        </p:nvSpPr>
        <p:spPr bwMode="auto">
          <a:xfrm>
            <a:off x="3276600" y="2514600"/>
            <a:ext cx="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0986" name="Rectangle 28">
            <a:extLst>
              <a:ext uri="{FF2B5EF4-FFF2-40B4-BE49-F238E27FC236}">
                <a16:creationId xmlns:a16="http://schemas.microsoft.com/office/drawing/2014/main" id="{41135D4C-1CC9-BA94-70D3-B2D5907B49C0}"/>
              </a:ext>
            </a:extLst>
          </p:cNvPr>
          <p:cNvSpPr>
            <a:spLocks noChangeArrowheads="1"/>
          </p:cNvSpPr>
          <p:nvPr/>
        </p:nvSpPr>
        <p:spPr bwMode="auto">
          <a:xfrm>
            <a:off x="4419600" y="457200"/>
            <a:ext cx="914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a:t>entry</a:t>
            </a:r>
          </a:p>
        </p:txBody>
      </p:sp>
      <p:sp>
        <p:nvSpPr>
          <p:cNvPr id="40987" name="Rectangle 29">
            <a:extLst>
              <a:ext uri="{FF2B5EF4-FFF2-40B4-BE49-F238E27FC236}">
                <a16:creationId xmlns:a16="http://schemas.microsoft.com/office/drawing/2014/main" id="{09C05CC3-B8AF-E966-3AFB-D0B891520C32}"/>
              </a:ext>
            </a:extLst>
          </p:cNvPr>
          <p:cNvSpPr>
            <a:spLocks noChangeArrowheads="1"/>
          </p:cNvSpPr>
          <p:nvPr/>
        </p:nvSpPr>
        <p:spPr bwMode="auto">
          <a:xfrm>
            <a:off x="4648200" y="3810000"/>
            <a:ext cx="914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a:t>exit</a:t>
            </a:r>
          </a:p>
        </p:txBody>
      </p:sp>
      <p:sp>
        <p:nvSpPr>
          <p:cNvPr id="40988" name="Rectangle 30">
            <a:extLst>
              <a:ext uri="{FF2B5EF4-FFF2-40B4-BE49-F238E27FC236}">
                <a16:creationId xmlns:a16="http://schemas.microsoft.com/office/drawing/2014/main" id="{E4ECD3D4-B673-3CDA-61CC-A25B5DBEC4E7}"/>
              </a:ext>
            </a:extLst>
          </p:cNvPr>
          <p:cNvSpPr>
            <a:spLocks noChangeArrowheads="1"/>
          </p:cNvSpPr>
          <p:nvPr/>
        </p:nvSpPr>
        <p:spPr bwMode="auto">
          <a:xfrm>
            <a:off x="2971800" y="838200"/>
            <a:ext cx="914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a:t>true</a:t>
            </a:r>
          </a:p>
        </p:txBody>
      </p:sp>
      <p:sp>
        <p:nvSpPr>
          <p:cNvPr id="40989" name="Rectangle 31">
            <a:extLst>
              <a:ext uri="{FF2B5EF4-FFF2-40B4-BE49-F238E27FC236}">
                <a16:creationId xmlns:a16="http://schemas.microsoft.com/office/drawing/2014/main" id="{2CCEF96B-EE8A-717A-16A3-C43E65272884}"/>
              </a:ext>
            </a:extLst>
          </p:cNvPr>
          <p:cNvSpPr>
            <a:spLocks noChangeArrowheads="1"/>
          </p:cNvSpPr>
          <p:nvPr/>
        </p:nvSpPr>
        <p:spPr bwMode="auto">
          <a:xfrm>
            <a:off x="4876800" y="838200"/>
            <a:ext cx="914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a:t>false</a:t>
            </a:r>
          </a:p>
        </p:txBody>
      </p:sp>
      <p:sp>
        <p:nvSpPr>
          <p:cNvPr id="40990" name="AutoShape 32">
            <a:extLst>
              <a:ext uri="{FF2B5EF4-FFF2-40B4-BE49-F238E27FC236}">
                <a16:creationId xmlns:a16="http://schemas.microsoft.com/office/drawing/2014/main" id="{F23AFB5D-1F6E-67F9-57DC-20165E840EFC}"/>
              </a:ext>
            </a:extLst>
          </p:cNvPr>
          <p:cNvSpPr>
            <a:spLocks noChangeArrowheads="1"/>
          </p:cNvSpPr>
          <p:nvPr/>
        </p:nvSpPr>
        <p:spPr bwMode="auto">
          <a:xfrm>
            <a:off x="6096000" y="2057400"/>
            <a:ext cx="1295400" cy="609600"/>
          </a:xfrm>
          <a:prstGeom prst="flowChartDecision">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a:t>condition</a:t>
            </a:r>
          </a:p>
        </p:txBody>
      </p:sp>
      <p:sp>
        <p:nvSpPr>
          <p:cNvPr id="40991" name="Oval 33">
            <a:extLst>
              <a:ext uri="{FF2B5EF4-FFF2-40B4-BE49-F238E27FC236}">
                <a16:creationId xmlns:a16="http://schemas.microsoft.com/office/drawing/2014/main" id="{89824566-9751-D4E5-8F22-E22D4F2D89E5}"/>
              </a:ext>
            </a:extLst>
          </p:cNvPr>
          <p:cNvSpPr>
            <a:spLocks noChangeArrowheads="1"/>
          </p:cNvSpPr>
          <p:nvPr/>
        </p:nvSpPr>
        <p:spPr bwMode="auto">
          <a:xfrm>
            <a:off x="6477000" y="1066800"/>
            <a:ext cx="533400" cy="533400"/>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40992" name="Line 34">
            <a:extLst>
              <a:ext uri="{FF2B5EF4-FFF2-40B4-BE49-F238E27FC236}">
                <a16:creationId xmlns:a16="http://schemas.microsoft.com/office/drawing/2014/main" id="{F0DEE5E2-94E6-45E1-CD93-39486D53F0E5}"/>
              </a:ext>
            </a:extLst>
          </p:cNvPr>
          <p:cNvSpPr>
            <a:spLocks noChangeShapeType="1"/>
          </p:cNvSpPr>
          <p:nvPr/>
        </p:nvSpPr>
        <p:spPr bwMode="auto">
          <a:xfrm>
            <a:off x="6705600" y="381000"/>
            <a:ext cx="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0993" name="Rectangle 35">
            <a:extLst>
              <a:ext uri="{FF2B5EF4-FFF2-40B4-BE49-F238E27FC236}">
                <a16:creationId xmlns:a16="http://schemas.microsoft.com/office/drawing/2014/main" id="{8E2996CA-6007-B222-906C-7EEFBBE3CA18}"/>
              </a:ext>
            </a:extLst>
          </p:cNvPr>
          <p:cNvSpPr>
            <a:spLocks noChangeArrowheads="1"/>
          </p:cNvSpPr>
          <p:nvPr/>
        </p:nvSpPr>
        <p:spPr bwMode="auto">
          <a:xfrm>
            <a:off x="7848600" y="2133600"/>
            <a:ext cx="1143000" cy="3810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a:t>Action 1</a:t>
            </a:r>
          </a:p>
        </p:txBody>
      </p:sp>
      <p:sp>
        <p:nvSpPr>
          <p:cNvPr id="40994" name="Rectangle 36">
            <a:extLst>
              <a:ext uri="{FF2B5EF4-FFF2-40B4-BE49-F238E27FC236}">
                <a16:creationId xmlns:a16="http://schemas.microsoft.com/office/drawing/2014/main" id="{CEC64924-796A-729A-2721-9E89B98844CE}"/>
              </a:ext>
            </a:extLst>
          </p:cNvPr>
          <p:cNvSpPr>
            <a:spLocks noChangeArrowheads="1"/>
          </p:cNvSpPr>
          <p:nvPr/>
        </p:nvSpPr>
        <p:spPr bwMode="auto">
          <a:xfrm>
            <a:off x="7010400" y="1905000"/>
            <a:ext cx="914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a:t>true</a:t>
            </a:r>
          </a:p>
        </p:txBody>
      </p:sp>
      <p:sp>
        <p:nvSpPr>
          <p:cNvPr id="40995" name="Line 37">
            <a:extLst>
              <a:ext uri="{FF2B5EF4-FFF2-40B4-BE49-F238E27FC236}">
                <a16:creationId xmlns:a16="http://schemas.microsoft.com/office/drawing/2014/main" id="{84F2D375-3DF7-710B-FD9F-54650894F997}"/>
              </a:ext>
            </a:extLst>
          </p:cNvPr>
          <p:cNvSpPr>
            <a:spLocks noChangeShapeType="1"/>
          </p:cNvSpPr>
          <p:nvPr/>
        </p:nvSpPr>
        <p:spPr bwMode="auto">
          <a:xfrm>
            <a:off x="7391400" y="2362200"/>
            <a:ext cx="457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0996" name="Rectangle 38">
            <a:extLst>
              <a:ext uri="{FF2B5EF4-FFF2-40B4-BE49-F238E27FC236}">
                <a16:creationId xmlns:a16="http://schemas.microsoft.com/office/drawing/2014/main" id="{7860A01E-6A37-282D-F2DF-383E906C0CDB}"/>
              </a:ext>
            </a:extLst>
          </p:cNvPr>
          <p:cNvSpPr>
            <a:spLocks noChangeArrowheads="1"/>
          </p:cNvSpPr>
          <p:nvPr/>
        </p:nvSpPr>
        <p:spPr bwMode="auto">
          <a:xfrm>
            <a:off x="6096000" y="3581400"/>
            <a:ext cx="1143000" cy="3810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a:t>Action 2</a:t>
            </a:r>
          </a:p>
        </p:txBody>
      </p:sp>
      <p:sp>
        <p:nvSpPr>
          <p:cNvPr id="40997" name="Line 39">
            <a:extLst>
              <a:ext uri="{FF2B5EF4-FFF2-40B4-BE49-F238E27FC236}">
                <a16:creationId xmlns:a16="http://schemas.microsoft.com/office/drawing/2014/main" id="{94B2F6EB-FC94-77F8-92DA-A0FFD74A17CB}"/>
              </a:ext>
            </a:extLst>
          </p:cNvPr>
          <p:cNvSpPr>
            <a:spLocks noChangeShapeType="1"/>
          </p:cNvSpPr>
          <p:nvPr/>
        </p:nvSpPr>
        <p:spPr bwMode="auto">
          <a:xfrm>
            <a:off x="6781800" y="1600200"/>
            <a:ext cx="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0998" name="Line 40">
            <a:extLst>
              <a:ext uri="{FF2B5EF4-FFF2-40B4-BE49-F238E27FC236}">
                <a16:creationId xmlns:a16="http://schemas.microsoft.com/office/drawing/2014/main" id="{4B2C038A-7C3E-CCC6-8CFA-DB50179FB846}"/>
              </a:ext>
            </a:extLst>
          </p:cNvPr>
          <p:cNvSpPr>
            <a:spLocks noChangeShapeType="1"/>
          </p:cNvSpPr>
          <p:nvPr/>
        </p:nvSpPr>
        <p:spPr bwMode="auto">
          <a:xfrm>
            <a:off x="6705600" y="2667000"/>
            <a:ext cx="0" cy="914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0999" name="Line 41">
            <a:extLst>
              <a:ext uri="{FF2B5EF4-FFF2-40B4-BE49-F238E27FC236}">
                <a16:creationId xmlns:a16="http://schemas.microsoft.com/office/drawing/2014/main" id="{71AD743C-421D-0E2C-32AB-4D8FFB04EE10}"/>
              </a:ext>
            </a:extLst>
          </p:cNvPr>
          <p:cNvSpPr>
            <a:spLocks noChangeShapeType="1"/>
          </p:cNvSpPr>
          <p:nvPr/>
        </p:nvSpPr>
        <p:spPr bwMode="auto">
          <a:xfrm flipH="1">
            <a:off x="7010400" y="1295400"/>
            <a:ext cx="1219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1000" name="Line 42">
            <a:extLst>
              <a:ext uri="{FF2B5EF4-FFF2-40B4-BE49-F238E27FC236}">
                <a16:creationId xmlns:a16="http://schemas.microsoft.com/office/drawing/2014/main" id="{F51D28B6-505C-5A55-7B1E-D9588F66A46F}"/>
              </a:ext>
            </a:extLst>
          </p:cNvPr>
          <p:cNvSpPr>
            <a:spLocks noChangeShapeType="1"/>
          </p:cNvSpPr>
          <p:nvPr/>
        </p:nvSpPr>
        <p:spPr bwMode="auto">
          <a:xfrm>
            <a:off x="8229600" y="1295400"/>
            <a:ext cx="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1001" name="Rectangle 43">
            <a:extLst>
              <a:ext uri="{FF2B5EF4-FFF2-40B4-BE49-F238E27FC236}">
                <a16:creationId xmlns:a16="http://schemas.microsoft.com/office/drawing/2014/main" id="{3020DB85-85B1-2FB2-0AE8-2F98A1C2279E}"/>
              </a:ext>
            </a:extLst>
          </p:cNvPr>
          <p:cNvSpPr>
            <a:spLocks noChangeArrowheads="1"/>
          </p:cNvSpPr>
          <p:nvPr/>
        </p:nvSpPr>
        <p:spPr bwMode="auto">
          <a:xfrm>
            <a:off x="7391400" y="914400"/>
            <a:ext cx="914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a:t>loop</a:t>
            </a:r>
          </a:p>
        </p:txBody>
      </p:sp>
      <p:sp>
        <p:nvSpPr>
          <p:cNvPr id="41002" name="Rectangle 44">
            <a:extLst>
              <a:ext uri="{FF2B5EF4-FFF2-40B4-BE49-F238E27FC236}">
                <a16:creationId xmlns:a16="http://schemas.microsoft.com/office/drawing/2014/main" id="{546340DC-9C5F-9954-71FF-1A255709A904}"/>
              </a:ext>
            </a:extLst>
          </p:cNvPr>
          <p:cNvSpPr>
            <a:spLocks noChangeArrowheads="1"/>
          </p:cNvSpPr>
          <p:nvPr/>
        </p:nvSpPr>
        <p:spPr bwMode="auto">
          <a:xfrm>
            <a:off x="6705600" y="381000"/>
            <a:ext cx="914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a:t>entry</a:t>
            </a:r>
          </a:p>
        </p:txBody>
      </p:sp>
      <p:sp>
        <p:nvSpPr>
          <p:cNvPr id="41003" name="Line 45">
            <a:extLst>
              <a:ext uri="{FF2B5EF4-FFF2-40B4-BE49-F238E27FC236}">
                <a16:creationId xmlns:a16="http://schemas.microsoft.com/office/drawing/2014/main" id="{2390A0C0-BB26-5E08-2DA8-F11217F545F3}"/>
              </a:ext>
            </a:extLst>
          </p:cNvPr>
          <p:cNvSpPr>
            <a:spLocks noChangeShapeType="1"/>
          </p:cNvSpPr>
          <p:nvPr/>
        </p:nvSpPr>
        <p:spPr bwMode="auto">
          <a:xfrm>
            <a:off x="6705600" y="3962400"/>
            <a:ext cx="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1004" name="Rectangle 46">
            <a:extLst>
              <a:ext uri="{FF2B5EF4-FFF2-40B4-BE49-F238E27FC236}">
                <a16:creationId xmlns:a16="http://schemas.microsoft.com/office/drawing/2014/main" id="{7077C7BE-53B4-B52C-67A0-42AA2D31FBE0}"/>
              </a:ext>
            </a:extLst>
          </p:cNvPr>
          <p:cNvSpPr>
            <a:spLocks noChangeArrowheads="1"/>
          </p:cNvSpPr>
          <p:nvPr/>
        </p:nvSpPr>
        <p:spPr bwMode="auto">
          <a:xfrm>
            <a:off x="6705600" y="2743200"/>
            <a:ext cx="914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a:t>false</a:t>
            </a:r>
          </a:p>
        </p:txBody>
      </p:sp>
      <p:sp>
        <p:nvSpPr>
          <p:cNvPr id="41005" name="Rectangle 48">
            <a:extLst>
              <a:ext uri="{FF2B5EF4-FFF2-40B4-BE49-F238E27FC236}">
                <a16:creationId xmlns:a16="http://schemas.microsoft.com/office/drawing/2014/main" id="{FABD0664-C70D-06B9-80A9-C6423E906443}"/>
              </a:ext>
            </a:extLst>
          </p:cNvPr>
          <p:cNvSpPr>
            <a:spLocks noChangeArrowheads="1"/>
          </p:cNvSpPr>
          <p:nvPr/>
        </p:nvSpPr>
        <p:spPr bwMode="auto">
          <a:xfrm>
            <a:off x="685800" y="5257800"/>
            <a:ext cx="7772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Sequence		         selection			     loop</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D014FB8E-EB99-13E9-10C0-87DBA0C7AD19}"/>
              </a:ext>
            </a:extLst>
          </p:cNvPr>
          <p:cNvSpPr>
            <a:spLocks noGrp="1" noChangeArrowheads="1"/>
          </p:cNvSpPr>
          <p:nvPr>
            <p:ph type="ctrTitle"/>
          </p:nvPr>
        </p:nvSpPr>
        <p:spPr>
          <a:xfrm>
            <a:off x="685800" y="152400"/>
            <a:ext cx="7772400" cy="457200"/>
          </a:xfrm>
          <a:noFill/>
        </p:spPr>
        <p:txBody>
          <a:bodyPr/>
          <a:lstStyle/>
          <a:p>
            <a:r>
              <a:rPr lang="en-US" altLang="en-US" sz="3200">
                <a:solidFill>
                  <a:schemeClr val="accent2"/>
                </a:solidFill>
              </a:rPr>
              <a:t>Control Structures</a:t>
            </a:r>
          </a:p>
        </p:txBody>
      </p:sp>
      <p:sp>
        <p:nvSpPr>
          <p:cNvPr id="41987" name="Rectangle 3">
            <a:extLst>
              <a:ext uri="{FF2B5EF4-FFF2-40B4-BE49-F238E27FC236}">
                <a16:creationId xmlns:a16="http://schemas.microsoft.com/office/drawing/2014/main" id="{B12EFEA0-B0D3-D7DD-197C-6047A228FE1B}"/>
              </a:ext>
            </a:extLst>
          </p:cNvPr>
          <p:cNvSpPr>
            <a:spLocks noGrp="1" noChangeArrowheads="1"/>
          </p:cNvSpPr>
          <p:nvPr>
            <p:ph type="subTitle" idx="1"/>
          </p:nvPr>
        </p:nvSpPr>
        <p:spPr>
          <a:xfrm>
            <a:off x="228600" y="609600"/>
            <a:ext cx="8686800" cy="838200"/>
          </a:xfrm>
          <a:noFill/>
        </p:spPr>
        <p:txBody>
          <a:bodyPr/>
          <a:lstStyle/>
          <a:p>
            <a:pPr marL="609600" indent="-609600" algn="just">
              <a:lnSpc>
                <a:spcPct val="80000"/>
              </a:lnSpc>
              <a:buFontTx/>
              <a:buChar char="•"/>
            </a:pPr>
            <a:r>
              <a:rPr lang="en-US" altLang="en-US" sz="2800"/>
              <a:t>C++ supports all the 3 basic structures and implements them using various control structures</a:t>
            </a:r>
          </a:p>
          <a:p>
            <a:pPr marL="609600" indent="-609600" algn="just">
              <a:lnSpc>
                <a:spcPct val="80000"/>
              </a:lnSpc>
              <a:buFontTx/>
              <a:buChar char="•"/>
            </a:pPr>
            <a:endParaRPr lang="en-US" altLang="en-US" sz="2800"/>
          </a:p>
        </p:txBody>
      </p:sp>
      <p:sp>
        <p:nvSpPr>
          <p:cNvPr id="41988" name="Rectangle 4">
            <a:extLst>
              <a:ext uri="{FF2B5EF4-FFF2-40B4-BE49-F238E27FC236}">
                <a16:creationId xmlns:a16="http://schemas.microsoft.com/office/drawing/2014/main" id="{DBF8A4B8-E85F-0256-D70B-3E93D59B2E69}"/>
              </a:ext>
            </a:extLst>
          </p:cNvPr>
          <p:cNvSpPr>
            <a:spLocks noChangeArrowheads="1"/>
          </p:cNvSpPr>
          <p:nvPr/>
        </p:nvSpPr>
        <p:spPr bwMode="auto">
          <a:xfrm>
            <a:off x="3810000" y="1524000"/>
            <a:ext cx="1828800" cy="3810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a:t>Control structure</a:t>
            </a:r>
          </a:p>
        </p:txBody>
      </p:sp>
      <p:sp>
        <p:nvSpPr>
          <p:cNvPr id="41989" name="Rectangle 5">
            <a:extLst>
              <a:ext uri="{FF2B5EF4-FFF2-40B4-BE49-F238E27FC236}">
                <a16:creationId xmlns:a16="http://schemas.microsoft.com/office/drawing/2014/main" id="{C908F085-094F-A887-0AFE-73FFF71E4AF9}"/>
              </a:ext>
            </a:extLst>
          </p:cNvPr>
          <p:cNvSpPr>
            <a:spLocks noChangeArrowheads="1"/>
          </p:cNvSpPr>
          <p:nvPr/>
        </p:nvSpPr>
        <p:spPr bwMode="auto">
          <a:xfrm>
            <a:off x="3810000" y="2667000"/>
            <a:ext cx="1828800" cy="3810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a:t>sequence</a:t>
            </a:r>
          </a:p>
        </p:txBody>
      </p:sp>
      <p:sp>
        <p:nvSpPr>
          <p:cNvPr id="41990" name="Rectangle 6">
            <a:extLst>
              <a:ext uri="{FF2B5EF4-FFF2-40B4-BE49-F238E27FC236}">
                <a16:creationId xmlns:a16="http://schemas.microsoft.com/office/drawing/2014/main" id="{DFF14462-B6B3-07C2-3A98-B2703A8D769D}"/>
              </a:ext>
            </a:extLst>
          </p:cNvPr>
          <p:cNvSpPr>
            <a:spLocks noChangeArrowheads="1"/>
          </p:cNvSpPr>
          <p:nvPr/>
        </p:nvSpPr>
        <p:spPr bwMode="auto">
          <a:xfrm>
            <a:off x="6400800" y="2667000"/>
            <a:ext cx="1828800" cy="3810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a:t>loop</a:t>
            </a:r>
          </a:p>
        </p:txBody>
      </p:sp>
      <p:sp>
        <p:nvSpPr>
          <p:cNvPr id="41991" name="Rectangle 7">
            <a:extLst>
              <a:ext uri="{FF2B5EF4-FFF2-40B4-BE49-F238E27FC236}">
                <a16:creationId xmlns:a16="http://schemas.microsoft.com/office/drawing/2014/main" id="{414FD48F-5034-E20F-61A4-6EFA97959409}"/>
              </a:ext>
            </a:extLst>
          </p:cNvPr>
          <p:cNvSpPr>
            <a:spLocks noChangeArrowheads="1"/>
          </p:cNvSpPr>
          <p:nvPr/>
        </p:nvSpPr>
        <p:spPr bwMode="auto">
          <a:xfrm>
            <a:off x="1219200" y="2667000"/>
            <a:ext cx="1828800" cy="3810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a:t>Selection</a:t>
            </a:r>
          </a:p>
        </p:txBody>
      </p:sp>
      <p:sp>
        <p:nvSpPr>
          <p:cNvPr id="41992" name="Rectangle 8">
            <a:extLst>
              <a:ext uri="{FF2B5EF4-FFF2-40B4-BE49-F238E27FC236}">
                <a16:creationId xmlns:a16="http://schemas.microsoft.com/office/drawing/2014/main" id="{70143CC0-996B-858E-7202-05D082D81D2C}"/>
              </a:ext>
            </a:extLst>
          </p:cNvPr>
          <p:cNvSpPr>
            <a:spLocks noChangeArrowheads="1"/>
          </p:cNvSpPr>
          <p:nvPr/>
        </p:nvSpPr>
        <p:spPr bwMode="auto">
          <a:xfrm>
            <a:off x="533400" y="3962400"/>
            <a:ext cx="838200" cy="3810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a:t>If-else</a:t>
            </a:r>
          </a:p>
        </p:txBody>
      </p:sp>
      <p:sp>
        <p:nvSpPr>
          <p:cNvPr id="41993" name="Rectangle 9">
            <a:extLst>
              <a:ext uri="{FF2B5EF4-FFF2-40B4-BE49-F238E27FC236}">
                <a16:creationId xmlns:a16="http://schemas.microsoft.com/office/drawing/2014/main" id="{7BBCDFA9-0231-4297-B514-F4311C4C5F15}"/>
              </a:ext>
            </a:extLst>
          </p:cNvPr>
          <p:cNvSpPr>
            <a:spLocks noChangeArrowheads="1"/>
          </p:cNvSpPr>
          <p:nvPr/>
        </p:nvSpPr>
        <p:spPr bwMode="auto">
          <a:xfrm>
            <a:off x="2438400" y="3962400"/>
            <a:ext cx="838200" cy="3810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a:t>switch</a:t>
            </a:r>
          </a:p>
        </p:txBody>
      </p:sp>
      <p:sp>
        <p:nvSpPr>
          <p:cNvPr id="41994" name="Rectangle 10">
            <a:extLst>
              <a:ext uri="{FF2B5EF4-FFF2-40B4-BE49-F238E27FC236}">
                <a16:creationId xmlns:a16="http://schemas.microsoft.com/office/drawing/2014/main" id="{6B234A28-457D-F107-331E-F84A0961E568}"/>
              </a:ext>
            </a:extLst>
          </p:cNvPr>
          <p:cNvSpPr>
            <a:spLocks noChangeArrowheads="1"/>
          </p:cNvSpPr>
          <p:nvPr/>
        </p:nvSpPr>
        <p:spPr bwMode="auto">
          <a:xfrm>
            <a:off x="5943600" y="3962400"/>
            <a:ext cx="990600" cy="3810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a:t>Do-while</a:t>
            </a:r>
          </a:p>
        </p:txBody>
      </p:sp>
      <p:sp>
        <p:nvSpPr>
          <p:cNvPr id="41995" name="Rectangle 11">
            <a:extLst>
              <a:ext uri="{FF2B5EF4-FFF2-40B4-BE49-F238E27FC236}">
                <a16:creationId xmlns:a16="http://schemas.microsoft.com/office/drawing/2014/main" id="{ECD4E9F4-2CDD-891C-99DD-67C85826A696}"/>
              </a:ext>
            </a:extLst>
          </p:cNvPr>
          <p:cNvSpPr>
            <a:spLocks noChangeArrowheads="1"/>
          </p:cNvSpPr>
          <p:nvPr/>
        </p:nvSpPr>
        <p:spPr bwMode="auto">
          <a:xfrm>
            <a:off x="7620000" y="3962400"/>
            <a:ext cx="1066800" cy="3810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a:t>While, for</a:t>
            </a:r>
          </a:p>
        </p:txBody>
      </p:sp>
      <p:sp>
        <p:nvSpPr>
          <p:cNvPr id="41996" name="Line 12">
            <a:extLst>
              <a:ext uri="{FF2B5EF4-FFF2-40B4-BE49-F238E27FC236}">
                <a16:creationId xmlns:a16="http://schemas.microsoft.com/office/drawing/2014/main" id="{82CAB2AB-1942-1F1A-920C-5CB1B7E72BD0}"/>
              </a:ext>
            </a:extLst>
          </p:cNvPr>
          <p:cNvSpPr>
            <a:spLocks noChangeShapeType="1"/>
          </p:cNvSpPr>
          <p:nvPr/>
        </p:nvSpPr>
        <p:spPr bwMode="auto">
          <a:xfrm>
            <a:off x="4648200" y="1905000"/>
            <a:ext cx="0" cy="762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1997" name="Line 13">
            <a:extLst>
              <a:ext uri="{FF2B5EF4-FFF2-40B4-BE49-F238E27FC236}">
                <a16:creationId xmlns:a16="http://schemas.microsoft.com/office/drawing/2014/main" id="{5A608F10-4937-6AF3-5E13-ACDC95CBC97F}"/>
              </a:ext>
            </a:extLst>
          </p:cNvPr>
          <p:cNvSpPr>
            <a:spLocks noChangeShapeType="1"/>
          </p:cNvSpPr>
          <p:nvPr/>
        </p:nvSpPr>
        <p:spPr bwMode="auto">
          <a:xfrm flipH="1">
            <a:off x="2057400" y="1905000"/>
            <a:ext cx="2286000" cy="762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1998" name="Line 14">
            <a:extLst>
              <a:ext uri="{FF2B5EF4-FFF2-40B4-BE49-F238E27FC236}">
                <a16:creationId xmlns:a16="http://schemas.microsoft.com/office/drawing/2014/main" id="{EC67D744-DA96-036D-5F88-A9A36D8F4559}"/>
              </a:ext>
            </a:extLst>
          </p:cNvPr>
          <p:cNvSpPr>
            <a:spLocks noChangeShapeType="1"/>
          </p:cNvSpPr>
          <p:nvPr/>
        </p:nvSpPr>
        <p:spPr bwMode="auto">
          <a:xfrm>
            <a:off x="5029200" y="1905000"/>
            <a:ext cx="2286000" cy="762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1999" name="Line 15">
            <a:extLst>
              <a:ext uri="{FF2B5EF4-FFF2-40B4-BE49-F238E27FC236}">
                <a16:creationId xmlns:a16="http://schemas.microsoft.com/office/drawing/2014/main" id="{A3563511-9EEF-AFBC-98DA-EF0908CC0CFE}"/>
              </a:ext>
            </a:extLst>
          </p:cNvPr>
          <p:cNvSpPr>
            <a:spLocks noChangeShapeType="1"/>
          </p:cNvSpPr>
          <p:nvPr/>
        </p:nvSpPr>
        <p:spPr bwMode="auto">
          <a:xfrm flipH="1">
            <a:off x="838200" y="3048000"/>
            <a:ext cx="1143000" cy="914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2000" name="Line 16">
            <a:extLst>
              <a:ext uri="{FF2B5EF4-FFF2-40B4-BE49-F238E27FC236}">
                <a16:creationId xmlns:a16="http://schemas.microsoft.com/office/drawing/2014/main" id="{7AD46110-E31B-1B29-DB90-736C223F8C9C}"/>
              </a:ext>
            </a:extLst>
          </p:cNvPr>
          <p:cNvSpPr>
            <a:spLocks noChangeShapeType="1"/>
          </p:cNvSpPr>
          <p:nvPr/>
        </p:nvSpPr>
        <p:spPr bwMode="auto">
          <a:xfrm>
            <a:off x="2209800" y="3048000"/>
            <a:ext cx="685800" cy="914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2001" name="Line 17">
            <a:extLst>
              <a:ext uri="{FF2B5EF4-FFF2-40B4-BE49-F238E27FC236}">
                <a16:creationId xmlns:a16="http://schemas.microsoft.com/office/drawing/2014/main" id="{D6AFFDDA-7F9F-3CDD-CBFB-E8755B551049}"/>
              </a:ext>
            </a:extLst>
          </p:cNvPr>
          <p:cNvSpPr>
            <a:spLocks noChangeShapeType="1"/>
          </p:cNvSpPr>
          <p:nvPr/>
        </p:nvSpPr>
        <p:spPr bwMode="auto">
          <a:xfrm flipH="1">
            <a:off x="6400800" y="3048000"/>
            <a:ext cx="762000" cy="914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2002" name="Line 18">
            <a:extLst>
              <a:ext uri="{FF2B5EF4-FFF2-40B4-BE49-F238E27FC236}">
                <a16:creationId xmlns:a16="http://schemas.microsoft.com/office/drawing/2014/main" id="{B5AB9031-AE8F-E744-335F-28814E595199}"/>
              </a:ext>
            </a:extLst>
          </p:cNvPr>
          <p:cNvSpPr>
            <a:spLocks noChangeShapeType="1"/>
          </p:cNvSpPr>
          <p:nvPr/>
        </p:nvSpPr>
        <p:spPr bwMode="auto">
          <a:xfrm>
            <a:off x="7467600" y="3048000"/>
            <a:ext cx="685800" cy="914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2003" name="Rectangle 19">
            <a:extLst>
              <a:ext uri="{FF2B5EF4-FFF2-40B4-BE49-F238E27FC236}">
                <a16:creationId xmlns:a16="http://schemas.microsoft.com/office/drawing/2014/main" id="{5EF20117-0A54-ECF8-D3ED-211E21D1050C}"/>
              </a:ext>
            </a:extLst>
          </p:cNvPr>
          <p:cNvSpPr>
            <a:spLocks noChangeArrowheads="1"/>
          </p:cNvSpPr>
          <p:nvPr/>
        </p:nvSpPr>
        <p:spPr bwMode="auto">
          <a:xfrm>
            <a:off x="228600" y="4724400"/>
            <a:ext cx="8610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Two way branch	multiple branch			exit-control	entry-control</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A09EA240-3CCC-BAB5-1A1F-D980ABD68FB9}"/>
              </a:ext>
            </a:extLst>
          </p:cNvPr>
          <p:cNvSpPr>
            <a:spLocks noGrp="1" noChangeArrowheads="1"/>
          </p:cNvSpPr>
          <p:nvPr>
            <p:ph type="ctrTitle"/>
          </p:nvPr>
        </p:nvSpPr>
        <p:spPr>
          <a:xfrm>
            <a:off x="685800" y="152400"/>
            <a:ext cx="7772400" cy="457200"/>
          </a:xfrm>
          <a:noFill/>
        </p:spPr>
        <p:txBody>
          <a:bodyPr/>
          <a:lstStyle/>
          <a:p>
            <a:r>
              <a:rPr lang="en-US" altLang="en-US">
                <a:solidFill>
                  <a:schemeClr val="accent2"/>
                </a:solidFill>
              </a:rPr>
              <a:t>If statement</a:t>
            </a:r>
          </a:p>
        </p:txBody>
      </p:sp>
      <p:sp>
        <p:nvSpPr>
          <p:cNvPr id="43011" name="Rectangle 3">
            <a:extLst>
              <a:ext uri="{FF2B5EF4-FFF2-40B4-BE49-F238E27FC236}">
                <a16:creationId xmlns:a16="http://schemas.microsoft.com/office/drawing/2014/main" id="{72EE0438-4519-E6D8-5F09-F1B052A4531E}"/>
              </a:ext>
            </a:extLst>
          </p:cNvPr>
          <p:cNvSpPr>
            <a:spLocks noGrp="1" noChangeArrowheads="1"/>
          </p:cNvSpPr>
          <p:nvPr>
            <p:ph type="subTitle" idx="1"/>
          </p:nvPr>
        </p:nvSpPr>
        <p:spPr>
          <a:xfrm>
            <a:off x="228600" y="609600"/>
            <a:ext cx="8686800" cy="6019800"/>
          </a:xfrm>
          <a:noFill/>
        </p:spPr>
        <p:txBody>
          <a:bodyPr/>
          <a:lstStyle/>
          <a:p>
            <a:pPr marL="609600" indent="-609600" algn="just">
              <a:lnSpc>
                <a:spcPct val="80000"/>
              </a:lnSpc>
              <a:buFontTx/>
              <a:buChar char="•"/>
            </a:pPr>
            <a:r>
              <a:rPr lang="en-US" altLang="en-US" sz="1800"/>
              <a:t>Implemented in 2 forms</a:t>
            </a:r>
          </a:p>
          <a:p>
            <a:pPr marL="990600" lvl="1" indent="-533400" algn="just">
              <a:lnSpc>
                <a:spcPct val="80000"/>
              </a:lnSpc>
              <a:buFontTx/>
              <a:buAutoNum type="arabicPeriod"/>
            </a:pPr>
            <a:r>
              <a:rPr lang="en-US" altLang="en-US" sz="1600"/>
              <a:t>Simple if statement</a:t>
            </a:r>
          </a:p>
          <a:p>
            <a:pPr marL="990600" lvl="1" indent="-533400" algn="just">
              <a:lnSpc>
                <a:spcPct val="80000"/>
              </a:lnSpc>
              <a:buFontTx/>
              <a:buAutoNum type="arabicPeriod"/>
            </a:pPr>
            <a:r>
              <a:rPr lang="en-US" altLang="en-US" sz="1600"/>
              <a:t>If-else statement</a:t>
            </a:r>
          </a:p>
          <a:p>
            <a:pPr marL="609600" indent="-609600" algn="just">
              <a:lnSpc>
                <a:spcPct val="80000"/>
              </a:lnSpc>
            </a:pPr>
            <a:r>
              <a:rPr lang="en-US" altLang="en-US" sz="1800" b="1" u="sng"/>
              <a:t>Form 1:</a:t>
            </a:r>
          </a:p>
          <a:p>
            <a:pPr marL="609600" indent="-609600" algn="just">
              <a:lnSpc>
                <a:spcPct val="80000"/>
              </a:lnSpc>
            </a:pPr>
            <a:r>
              <a:rPr lang="en-US" altLang="en-US" sz="1800"/>
              <a:t>if(expression is true)</a:t>
            </a:r>
          </a:p>
          <a:p>
            <a:pPr marL="609600" indent="-609600" algn="just">
              <a:lnSpc>
                <a:spcPct val="80000"/>
              </a:lnSpc>
            </a:pPr>
            <a:r>
              <a:rPr lang="en-US" altLang="en-US" sz="1800"/>
              <a:t>{</a:t>
            </a:r>
          </a:p>
          <a:p>
            <a:pPr marL="609600" indent="-609600" algn="just">
              <a:lnSpc>
                <a:spcPct val="80000"/>
              </a:lnSpc>
            </a:pPr>
            <a:r>
              <a:rPr lang="en-US" altLang="en-US" sz="1800"/>
              <a:t>	action1;</a:t>
            </a:r>
          </a:p>
          <a:p>
            <a:pPr marL="609600" indent="-609600" algn="just">
              <a:lnSpc>
                <a:spcPct val="80000"/>
              </a:lnSpc>
            </a:pPr>
            <a:r>
              <a:rPr lang="en-US" altLang="en-US" sz="1800"/>
              <a:t>}</a:t>
            </a:r>
          </a:p>
          <a:p>
            <a:pPr marL="609600" indent="-609600" algn="just">
              <a:lnSpc>
                <a:spcPct val="80000"/>
              </a:lnSpc>
            </a:pPr>
            <a:r>
              <a:rPr lang="en-US" altLang="en-US" sz="1800"/>
              <a:t>Action2;</a:t>
            </a:r>
          </a:p>
          <a:p>
            <a:pPr marL="609600" indent="-609600" algn="just">
              <a:lnSpc>
                <a:spcPct val="80000"/>
              </a:lnSpc>
            </a:pPr>
            <a:r>
              <a:rPr lang="en-US" altLang="en-US" sz="1800"/>
              <a:t>Action3;</a:t>
            </a:r>
          </a:p>
          <a:p>
            <a:pPr marL="609600" indent="-609600" algn="just">
              <a:lnSpc>
                <a:spcPct val="80000"/>
              </a:lnSpc>
            </a:pPr>
            <a:r>
              <a:rPr lang="en-US" altLang="en-US" sz="1800" b="1" u="sng"/>
              <a:t>Form 2:</a:t>
            </a:r>
          </a:p>
          <a:p>
            <a:pPr marL="609600" indent="-609600" algn="just">
              <a:lnSpc>
                <a:spcPct val="80000"/>
              </a:lnSpc>
            </a:pPr>
            <a:r>
              <a:rPr lang="en-US" altLang="en-US" sz="1800"/>
              <a:t>if(expression is true)</a:t>
            </a:r>
          </a:p>
          <a:p>
            <a:pPr marL="609600" indent="-609600" algn="just">
              <a:lnSpc>
                <a:spcPct val="80000"/>
              </a:lnSpc>
            </a:pPr>
            <a:r>
              <a:rPr lang="en-US" altLang="en-US" sz="1800"/>
              <a:t>{</a:t>
            </a:r>
          </a:p>
          <a:p>
            <a:pPr marL="609600" indent="-609600" algn="just">
              <a:lnSpc>
                <a:spcPct val="80000"/>
              </a:lnSpc>
            </a:pPr>
            <a:r>
              <a:rPr lang="en-US" altLang="en-US" sz="1800"/>
              <a:t>	action1;</a:t>
            </a:r>
          </a:p>
          <a:p>
            <a:pPr marL="609600" indent="-609600" algn="just">
              <a:lnSpc>
                <a:spcPct val="80000"/>
              </a:lnSpc>
            </a:pPr>
            <a:r>
              <a:rPr lang="en-US" altLang="en-US" sz="1800"/>
              <a:t>}</a:t>
            </a:r>
          </a:p>
          <a:p>
            <a:pPr marL="609600" indent="-609600" algn="just">
              <a:lnSpc>
                <a:spcPct val="80000"/>
              </a:lnSpc>
            </a:pPr>
            <a:r>
              <a:rPr lang="en-US" altLang="en-US" sz="1800"/>
              <a:t>else</a:t>
            </a:r>
          </a:p>
          <a:p>
            <a:pPr marL="609600" indent="-609600" algn="just">
              <a:lnSpc>
                <a:spcPct val="80000"/>
              </a:lnSpc>
            </a:pPr>
            <a:r>
              <a:rPr lang="en-US" altLang="en-US" sz="1800"/>
              <a:t>{</a:t>
            </a:r>
          </a:p>
          <a:p>
            <a:pPr marL="609600" indent="-609600" algn="just">
              <a:lnSpc>
                <a:spcPct val="80000"/>
              </a:lnSpc>
            </a:pPr>
            <a:r>
              <a:rPr lang="en-US" altLang="en-US" sz="1800"/>
              <a:t>	action2;</a:t>
            </a:r>
          </a:p>
          <a:p>
            <a:pPr marL="609600" indent="-609600" algn="just">
              <a:lnSpc>
                <a:spcPct val="80000"/>
              </a:lnSpc>
            </a:pPr>
            <a:r>
              <a:rPr lang="en-US" altLang="en-US" sz="1800"/>
              <a:t>}</a:t>
            </a:r>
          </a:p>
          <a:p>
            <a:pPr marL="609600" indent="-609600" algn="just">
              <a:lnSpc>
                <a:spcPct val="80000"/>
              </a:lnSpc>
            </a:pPr>
            <a:r>
              <a:rPr lang="en-US" altLang="en-US" sz="1800"/>
              <a:t>Action3;</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B8613168-238C-DD20-B4B8-8EAEC99ED434}"/>
              </a:ext>
            </a:extLst>
          </p:cNvPr>
          <p:cNvSpPr>
            <a:spLocks noGrp="1" noChangeArrowheads="1"/>
          </p:cNvSpPr>
          <p:nvPr>
            <p:ph type="ctrTitle"/>
          </p:nvPr>
        </p:nvSpPr>
        <p:spPr>
          <a:xfrm>
            <a:off x="685800" y="152400"/>
            <a:ext cx="7772400" cy="457200"/>
          </a:xfrm>
          <a:noFill/>
        </p:spPr>
        <p:txBody>
          <a:bodyPr/>
          <a:lstStyle/>
          <a:p>
            <a:r>
              <a:rPr lang="en-US" altLang="en-US">
                <a:solidFill>
                  <a:schemeClr val="accent2"/>
                </a:solidFill>
              </a:rPr>
              <a:t>switch statement</a:t>
            </a:r>
          </a:p>
        </p:txBody>
      </p:sp>
      <p:sp>
        <p:nvSpPr>
          <p:cNvPr id="44035" name="Rectangle 3">
            <a:extLst>
              <a:ext uri="{FF2B5EF4-FFF2-40B4-BE49-F238E27FC236}">
                <a16:creationId xmlns:a16="http://schemas.microsoft.com/office/drawing/2014/main" id="{711E8D49-109B-5DD8-1183-40A42EA1427F}"/>
              </a:ext>
            </a:extLst>
          </p:cNvPr>
          <p:cNvSpPr>
            <a:spLocks noGrp="1" noChangeArrowheads="1"/>
          </p:cNvSpPr>
          <p:nvPr>
            <p:ph type="subTitle" idx="1"/>
          </p:nvPr>
        </p:nvSpPr>
        <p:spPr>
          <a:xfrm>
            <a:off x="228600" y="609600"/>
            <a:ext cx="8686800" cy="6019800"/>
          </a:xfrm>
          <a:noFill/>
        </p:spPr>
        <p:txBody>
          <a:bodyPr/>
          <a:lstStyle/>
          <a:p>
            <a:pPr marL="609600" indent="-609600" algn="just">
              <a:lnSpc>
                <a:spcPct val="80000"/>
              </a:lnSpc>
              <a:buFontTx/>
              <a:buChar char="•"/>
            </a:pPr>
            <a:r>
              <a:rPr lang="en-US" altLang="en-US" sz="1800"/>
              <a:t>Multiple branching statement</a:t>
            </a:r>
          </a:p>
          <a:p>
            <a:pPr marL="609600" indent="-609600" algn="just">
              <a:lnSpc>
                <a:spcPct val="80000"/>
              </a:lnSpc>
            </a:pPr>
            <a:r>
              <a:rPr lang="en-US" altLang="en-US" sz="1800"/>
              <a:t>Switch(expression)</a:t>
            </a:r>
          </a:p>
          <a:p>
            <a:pPr marL="609600" indent="-609600" algn="just">
              <a:lnSpc>
                <a:spcPct val="80000"/>
              </a:lnSpc>
            </a:pPr>
            <a:r>
              <a:rPr lang="en-US" altLang="en-US" sz="1800"/>
              <a:t>{</a:t>
            </a:r>
          </a:p>
          <a:p>
            <a:pPr marL="609600" indent="-609600" algn="just">
              <a:lnSpc>
                <a:spcPct val="80000"/>
              </a:lnSpc>
            </a:pPr>
            <a:r>
              <a:rPr lang="en-US" altLang="en-US" sz="1800"/>
              <a:t>	case1:</a:t>
            </a:r>
          </a:p>
          <a:p>
            <a:pPr marL="609600" indent="-609600" algn="just">
              <a:lnSpc>
                <a:spcPct val="80000"/>
              </a:lnSpc>
            </a:pPr>
            <a:r>
              <a:rPr lang="en-US" altLang="en-US" sz="1800"/>
              <a:t>	{</a:t>
            </a:r>
          </a:p>
          <a:p>
            <a:pPr marL="609600" indent="-609600" algn="just">
              <a:lnSpc>
                <a:spcPct val="80000"/>
              </a:lnSpc>
            </a:pPr>
            <a:r>
              <a:rPr lang="en-US" altLang="en-US" sz="1800"/>
              <a:t>			action1;</a:t>
            </a:r>
          </a:p>
          <a:p>
            <a:pPr marL="609600" indent="-609600" algn="just">
              <a:lnSpc>
                <a:spcPct val="80000"/>
              </a:lnSpc>
            </a:pPr>
            <a:r>
              <a:rPr lang="en-US" altLang="en-US" sz="1800"/>
              <a:t>	}</a:t>
            </a:r>
          </a:p>
          <a:p>
            <a:pPr marL="609600" indent="-609600" algn="just">
              <a:lnSpc>
                <a:spcPct val="80000"/>
              </a:lnSpc>
            </a:pPr>
            <a:r>
              <a:rPr lang="en-US" altLang="en-US" sz="1800"/>
              <a:t>	 case2:</a:t>
            </a:r>
          </a:p>
          <a:p>
            <a:pPr marL="609600" indent="-609600" algn="just">
              <a:lnSpc>
                <a:spcPct val="80000"/>
              </a:lnSpc>
            </a:pPr>
            <a:r>
              <a:rPr lang="en-US" altLang="en-US" sz="1800"/>
              <a:t>	{</a:t>
            </a:r>
          </a:p>
          <a:p>
            <a:pPr marL="609600" indent="-609600" algn="just">
              <a:lnSpc>
                <a:spcPct val="80000"/>
              </a:lnSpc>
            </a:pPr>
            <a:r>
              <a:rPr lang="en-US" altLang="en-US" sz="1800"/>
              <a:t>			action2;</a:t>
            </a:r>
          </a:p>
          <a:p>
            <a:pPr marL="609600" indent="-609600" algn="just">
              <a:lnSpc>
                <a:spcPct val="80000"/>
              </a:lnSpc>
            </a:pPr>
            <a:r>
              <a:rPr lang="en-US" altLang="en-US" sz="1800"/>
              <a:t>	}</a:t>
            </a:r>
          </a:p>
          <a:p>
            <a:pPr marL="609600" indent="-609600" algn="just">
              <a:lnSpc>
                <a:spcPct val="80000"/>
              </a:lnSpc>
            </a:pPr>
            <a:r>
              <a:rPr lang="en-US" altLang="en-US" sz="1800"/>
              <a:t>	case3:</a:t>
            </a:r>
          </a:p>
          <a:p>
            <a:pPr marL="609600" indent="-609600" algn="just">
              <a:lnSpc>
                <a:spcPct val="80000"/>
              </a:lnSpc>
            </a:pPr>
            <a:r>
              <a:rPr lang="en-US" altLang="en-US" sz="1800"/>
              <a:t>	{</a:t>
            </a:r>
          </a:p>
          <a:p>
            <a:pPr marL="609600" indent="-609600" algn="just">
              <a:lnSpc>
                <a:spcPct val="80000"/>
              </a:lnSpc>
            </a:pPr>
            <a:r>
              <a:rPr lang="en-US" altLang="en-US" sz="1800"/>
              <a:t>			action3;</a:t>
            </a:r>
          </a:p>
          <a:p>
            <a:pPr marL="609600" indent="-609600" algn="just">
              <a:lnSpc>
                <a:spcPct val="80000"/>
              </a:lnSpc>
            </a:pPr>
            <a:r>
              <a:rPr lang="en-US" altLang="en-US" sz="1800"/>
              <a:t>	}</a:t>
            </a:r>
          </a:p>
          <a:p>
            <a:pPr marL="609600" indent="-609600" algn="just">
              <a:lnSpc>
                <a:spcPct val="80000"/>
              </a:lnSpc>
            </a:pPr>
            <a:r>
              <a:rPr lang="en-US" altLang="en-US" sz="1800"/>
              <a:t>	default:</a:t>
            </a:r>
          </a:p>
          <a:p>
            <a:pPr marL="609600" indent="-609600" algn="just">
              <a:lnSpc>
                <a:spcPct val="80000"/>
              </a:lnSpc>
            </a:pPr>
            <a:r>
              <a:rPr lang="en-US" altLang="en-US" sz="1800"/>
              <a:t>	{</a:t>
            </a:r>
          </a:p>
          <a:p>
            <a:pPr marL="609600" indent="-609600" algn="just">
              <a:lnSpc>
                <a:spcPct val="80000"/>
              </a:lnSpc>
            </a:pPr>
            <a:r>
              <a:rPr lang="en-US" altLang="en-US" sz="1800"/>
              <a:t>			action4;</a:t>
            </a:r>
          </a:p>
          <a:p>
            <a:pPr marL="609600" indent="-609600" algn="just">
              <a:lnSpc>
                <a:spcPct val="80000"/>
              </a:lnSpc>
            </a:pPr>
            <a:r>
              <a:rPr lang="en-US" altLang="en-US" sz="1800"/>
              <a:t>	}</a:t>
            </a:r>
          </a:p>
          <a:p>
            <a:pPr marL="609600" indent="-609600" algn="just">
              <a:lnSpc>
                <a:spcPct val="80000"/>
              </a:lnSpc>
            </a:pPr>
            <a:r>
              <a:rPr lang="en-US" altLang="en-US" sz="1800"/>
              <a:t>}</a:t>
            </a:r>
          </a:p>
          <a:p>
            <a:pPr marL="609600" indent="-609600" algn="just">
              <a:lnSpc>
                <a:spcPct val="80000"/>
              </a:lnSpc>
            </a:pPr>
            <a:r>
              <a:rPr lang="en-US" altLang="en-US" sz="1800"/>
              <a:t>Action5;</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D29C8519-9EE8-EA9B-551C-E159DA386F0E}"/>
              </a:ext>
            </a:extLst>
          </p:cNvPr>
          <p:cNvSpPr>
            <a:spLocks noGrp="1" noChangeArrowheads="1"/>
          </p:cNvSpPr>
          <p:nvPr>
            <p:ph type="ctrTitle"/>
          </p:nvPr>
        </p:nvSpPr>
        <p:spPr>
          <a:xfrm>
            <a:off x="685800" y="152400"/>
            <a:ext cx="7772400" cy="457200"/>
          </a:xfrm>
          <a:noFill/>
        </p:spPr>
        <p:txBody>
          <a:bodyPr/>
          <a:lstStyle/>
          <a:p>
            <a:r>
              <a:rPr lang="en-US" altLang="en-US">
                <a:solidFill>
                  <a:schemeClr val="accent2"/>
                </a:solidFill>
              </a:rPr>
              <a:t>do-while statement</a:t>
            </a:r>
          </a:p>
        </p:txBody>
      </p:sp>
      <p:sp>
        <p:nvSpPr>
          <p:cNvPr id="45059" name="Rectangle 3">
            <a:extLst>
              <a:ext uri="{FF2B5EF4-FFF2-40B4-BE49-F238E27FC236}">
                <a16:creationId xmlns:a16="http://schemas.microsoft.com/office/drawing/2014/main" id="{6BAFE3F3-4FAB-0A28-F422-8640C66AEA54}"/>
              </a:ext>
            </a:extLst>
          </p:cNvPr>
          <p:cNvSpPr>
            <a:spLocks noGrp="1" noChangeArrowheads="1"/>
          </p:cNvSpPr>
          <p:nvPr>
            <p:ph type="subTitle" idx="1"/>
          </p:nvPr>
        </p:nvSpPr>
        <p:spPr>
          <a:xfrm>
            <a:off x="228600" y="609600"/>
            <a:ext cx="8686800" cy="6019800"/>
          </a:xfrm>
          <a:noFill/>
        </p:spPr>
        <p:txBody>
          <a:bodyPr/>
          <a:lstStyle/>
          <a:p>
            <a:pPr marL="609600" indent="-609600" algn="just">
              <a:lnSpc>
                <a:spcPct val="90000"/>
              </a:lnSpc>
              <a:buFontTx/>
              <a:buChar char="•"/>
            </a:pPr>
            <a:r>
              <a:rPr lang="en-US" altLang="en-US" sz="4000"/>
              <a:t>Based on the condition the control is transferred back to a particular point in the program</a:t>
            </a:r>
          </a:p>
          <a:p>
            <a:pPr marL="609600" indent="-609600" algn="just">
              <a:lnSpc>
                <a:spcPct val="90000"/>
              </a:lnSpc>
            </a:pPr>
            <a:r>
              <a:rPr lang="en-US" altLang="en-US" sz="4000"/>
              <a:t>do</a:t>
            </a:r>
          </a:p>
          <a:p>
            <a:pPr marL="609600" indent="-609600" algn="just">
              <a:lnSpc>
                <a:spcPct val="90000"/>
              </a:lnSpc>
            </a:pPr>
            <a:r>
              <a:rPr lang="en-US" altLang="en-US" sz="4000"/>
              <a:t>{</a:t>
            </a:r>
          </a:p>
          <a:p>
            <a:pPr marL="609600" indent="-609600" algn="just">
              <a:lnSpc>
                <a:spcPct val="90000"/>
              </a:lnSpc>
            </a:pPr>
            <a:r>
              <a:rPr lang="en-US" altLang="en-US" sz="4000"/>
              <a:t>	action1;</a:t>
            </a:r>
          </a:p>
          <a:p>
            <a:pPr marL="609600" indent="-609600" algn="just">
              <a:lnSpc>
                <a:spcPct val="90000"/>
              </a:lnSpc>
            </a:pPr>
            <a:r>
              <a:rPr lang="en-US" altLang="en-US" sz="4000"/>
              <a:t>}</a:t>
            </a:r>
          </a:p>
          <a:p>
            <a:pPr marL="609600" indent="-609600" algn="just">
              <a:lnSpc>
                <a:spcPct val="90000"/>
              </a:lnSpc>
            </a:pPr>
            <a:r>
              <a:rPr lang="en-US" altLang="en-US" sz="4000"/>
              <a:t>while (condition is true);</a:t>
            </a:r>
          </a:p>
          <a:p>
            <a:pPr marL="609600" indent="-609600" algn="just">
              <a:lnSpc>
                <a:spcPct val="90000"/>
              </a:lnSpc>
            </a:pPr>
            <a:r>
              <a:rPr lang="en-US" altLang="en-US" sz="4000"/>
              <a:t>Action2;</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462F0BD4-C337-1964-6680-BA8A9ABC8FD7}"/>
              </a:ext>
            </a:extLst>
          </p:cNvPr>
          <p:cNvSpPr>
            <a:spLocks noGrp="1" noChangeArrowheads="1"/>
          </p:cNvSpPr>
          <p:nvPr>
            <p:ph type="ctrTitle"/>
          </p:nvPr>
        </p:nvSpPr>
        <p:spPr>
          <a:xfrm>
            <a:off x="685800" y="152400"/>
            <a:ext cx="7772400" cy="457200"/>
          </a:xfrm>
          <a:noFill/>
        </p:spPr>
        <p:txBody>
          <a:bodyPr/>
          <a:lstStyle/>
          <a:p>
            <a:r>
              <a:rPr lang="en-US" altLang="en-US">
                <a:solidFill>
                  <a:schemeClr val="accent2"/>
                </a:solidFill>
              </a:rPr>
              <a:t>while statement</a:t>
            </a:r>
          </a:p>
        </p:txBody>
      </p:sp>
      <p:sp>
        <p:nvSpPr>
          <p:cNvPr id="46083" name="Rectangle 3">
            <a:extLst>
              <a:ext uri="{FF2B5EF4-FFF2-40B4-BE49-F238E27FC236}">
                <a16:creationId xmlns:a16="http://schemas.microsoft.com/office/drawing/2014/main" id="{239AE045-84B2-2C0B-1DFF-BA25AFAD748D}"/>
              </a:ext>
            </a:extLst>
          </p:cNvPr>
          <p:cNvSpPr>
            <a:spLocks noGrp="1" noChangeArrowheads="1"/>
          </p:cNvSpPr>
          <p:nvPr>
            <p:ph type="subTitle" idx="1"/>
          </p:nvPr>
        </p:nvSpPr>
        <p:spPr>
          <a:xfrm>
            <a:off x="228600" y="609600"/>
            <a:ext cx="8686800" cy="6019800"/>
          </a:xfrm>
          <a:noFill/>
        </p:spPr>
        <p:txBody>
          <a:bodyPr/>
          <a:lstStyle/>
          <a:p>
            <a:pPr marL="609600" indent="-609600" algn="just"/>
            <a:endParaRPr lang="en-US" altLang="en-US" sz="4000"/>
          </a:p>
          <a:p>
            <a:pPr marL="609600" indent="-609600" algn="just"/>
            <a:r>
              <a:rPr lang="en-US" altLang="en-US" sz="4000"/>
              <a:t>while (condition is true)</a:t>
            </a:r>
          </a:p>
          <a:p>
            <a:pPr marL="609600" indent="-609600" algn="just"/>
            <a:r>
              <a:rPr lang="en-US" altLang="en-US" sz="4000"/>
              <a:t>{</a:t>
            </a:r>
          </a:p>
          <a:p>
            <a:pPr marL="609600" indent="-609600" algn="just"/>
            <a:r>
              <a:rPr lang="en-US" altLang="en-US" sz="4000"/>
              <a:t>	action1;</a:t>
            </a:r>
          </a:p>
          <a:p>
            <a:pPr marL="609600" indent="-609600" algn="just"/>
            <a:r>
              <a:rPr lang="en-US" altLang="en-US" sz="4000"/>
              <a:t>}</a:t>
            </a:r>
          </a:p>
          <a:p>
            <a:pPr marL="609600" indent="-609600" algn="just"/>
            <a:r>
              <a:rPr lang="en-US" altLang="en-US" sz="4000"/>
              <a:t>Action2;</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7E2C701B-7004-661C-1710-D36307D9F2F4}"/>
              </a:ext>
            </a:extLst>
          </p:cNvPr>
          <p:cNvSpPr>
            <a:spLocks noGrp="1" noChangeArrowheads="1"/>
          </p:cNvSpPr>
          <p:nvPr>
            <p:ph type="ctrTitle"/>
          </p:nvPr>
        </p:nvSpPr>
        <p:spPr>
          <a:xfrm>
            <a:off x="685800" y="152400"/>
            <a:ext cx="7772400" cy="457200"/>
          </a:xfrm>
          <a:noFill/>
        </p:spPr>
        <p:txBody>
          <a:bodyPr/>
          <a:lstStyle/>
          <a:p>
            <a:r>
              <a:rPr lang="en-US" altLang="en-US">
                <a:solidFill>
                  <a:schemeClr val="accent2"/>
                </a:solidFill>
              </a:rPr>
              <a:t>for statement</a:t>
            </a:r>
          </a:p>
        </p:txBody>
      </p:sp>
      <p:sp>
        <p:nvSpPr>
          <p:cNvPr id="47107" name="Rectangle 3">
            <a:extLst>
              <a:ext uri="{FF2B5EF4-FFF2-40B4-BE49-F238E27FC236}">
                <a16:creationId xmlns:a16="http://schemas.microsoft.com/office/drawing/2014/main" id="{C6104EF5-6FD4-3D4F-11CA-88A156F1D51C}"/>
              </a:ext>
            </a:extLst>
          </p:cNvPr>
          <p:cNvSpPr>
            <a:spLocks noGrp="1" noChangeArrowheads="1"/>
          </p:cNvSpPr>
          <p:nvPr>
            <p:ph type="subTitle" idx="1"/>
          </p:nvPr>
        </p:nvSpPr>
        <p:spPr>
          <a:xfrm>
            <a:off x="228600" y="609600"/>
            <a:ext cx="8686800" cy="6019800"/>
          </a:xfrm>
          <a:noFill/>
        </p:spPr>
        <p:txBody>
          <a:bodyPr/>
          <a:lstStyle/>
          <a:p>
            <a:pPr marL="609600" indent="-609600" algn="just">
              <a:buFontTx/>
              <a:buChar char="•"/>
            </a:pPr>
            <a:r>
              <a:rPr lang="en-US" altLang="en-US" sz="4000"/>
              <a:t>It is used when an action is to be repeated for a predetermined number of times</a:t>
            </a:r>
          </a:p>
          <a:p>
            <a:pPr marL="609600" indent="-609600" algn="just"/>
            <a:r>
              <a:rPr lang="en-US" altLang="en-US" sz="4000"/>
              <a:t>for (initial value; test; increment)</a:t>
            </a:r>
          </a:p>
          <a:p>
            <a:pPr marL="609600" indent="-609600" algn="just"/>
            <a:r>
              <a:rPr lang="en-US" altLang="en-US" sz="4000"/>
              <a:t>{</a:t>
            </a:r>
          </a:p>
          <a:p>
            <a:pPr marL="609600" indent="-609600" algn="just"/>
            <a:r>
              <a:rPr lang="en-US" altLang="en-US" sz="4000"/>
              <a:t>	action1;</a:t>
            </a:r>
          </a:p>
          <a:p>
            <a:pPr marL="609600" indent="-609600" algn="just"/>
            <a:r>
              <a:rPr lang="en-US" altLang="en-US" sz="4000"/>
              <a:t>}</a:t>
            </a:r>
          </a:p>
          <a:p>
            <a:pPr marL="609600" indent="-609600" algn="just"/>
            <a:r>
              <a:rPr lang="en-US" altLang="en-US" sz="4000"/>
              <a:t>Action2;</a:t>
            </a: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677</TotalTime>
  <Words>3504</Words>
  <Application>Microsoft Office PowerPoint</Application>
  <PresentationFormat>On-screen Show (4:3)</PresentationFormat>
  <Paragraphs>555</Paragraphs>
  <Slides>45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45</vt:i4>
      </vt:variant>
    </vt:vector>
  </HeadingPairs>
  <TitlesOfParts>
    <vt:vector size="50" baseType="lpstr">
      <vt:lpstr>Arial</vt:lpstr>
      <vt:lpstr>Calibri</vt:lpstr>
      <vt:lpstr>Wingdings</vt:lpstr>
      <vt:lpstr>Times New Roman</vt:lpstr>
      <vt:lpstr>Default Design</vt:lpstr>
      <vt:lpstr>PowerPoint Presentation</vt:lpstr>
      <vt:lpstr>PowerPoint Presentation</vt:lpstr>
      <vt:lpstr>PowerPoint Presentation</vt:lpstr>
      <vt:lpstr>PowerPoint Presentation</vt:lpstr>
      <vt:lpstr>Type Compatibility</vt:lpstr>
      <vt:lpstr>Declaration of Variables</vt:lpstr>
      <vt:lpstr>Dynamic initialization of Variables</vt:lpstr>
      <vt:lpstr>Reference Variables</vt:lpstr>
      <vt:lpstr>Reference Variables</vt:lpstr>
      <vt:lpstr>Operators in C++</vt:lpstr>
      <vt:lpstr>Scope resolution Operator</vt:lpstr>
      <vt:lpstr>Scope resolution Operator contd…</vt:lpstr>
      <vt:lpstr>Scope resolution Operator contd…</vt:lpstr>
      <vt:lpstr>Memory management operators</vt:lpstr>
      <vt:lpstr>Memory management operators contd…</vt:lpstr>
      <vt:lpstr>Memory management operators contd…</vt:lpstr>
      <vt:lpstr>Memory management operators contd…</vt:lpstr>
      <vt:lpstr>Memory management operators contd…</vt:lpstr>
      <vt:lpstr>Memory management operators contd…</vt:lpstr>
      <vt:lpstr>Memory management operators contd…</vt:lpstr>
      <vt:lpstr>Type cast operator</vt:lpstr>
      <vt:lpstr>Expressions and their types</vt:lpstr>
      <vt:lpstr>Constant Expressions</vt:lpstr>
      <vt:lpstr>Integral Expressions</vt:lpstr>
      <vt:lpstr>pointer Expressions</vt:lpstr>
      <vt:lpstr>Float Expressions</vt:lpstr>
      <vt:lpstr>Relational Expressions</vt:lpstr>
      <vt:lpstr>logical Expressions</vt:lpstr>
      <vt:lpstr>Bitwise Expressions</vt:lpstr>
      <vt:lpstr>Special assignment Expressions</vt:lpstr>
      <vt:lpstr>Chained assignment</vt:lpstr>
      <vt:lpstr>Embedded assignment</vt:lpstr>
      <vt:lpstr>compound assignment</vt:lpstr>
      <vt:lpstr>Implicit conversions</vt:lpstr>
      <vt:lpstr>PowerPoint Presentation</vt:lpstr>
      <vt:lpstr>Operator precedence</vt:lpstr>
      <vt:lpstr>PowerPoint Presentation</vt:lpstr>
      <vt:lpstr>Control Structures</vt:lpstr>
      <vt:lpstr>PowerPoint Presentation</vt:lpstr>
      <vt:lpstr>Control Structures</vt:lpstr>
      <vt:lpstr>If statement</vt:lpstr>
      <vt:lpstr>switch statement</vt:lpstr>
      <vt:lpstr>do-while statement</vt:lpstr>
      <vt:lpstr>while statement</vt:lpstr>
      <vt:lpstr>for statement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saila</dc:creator>
  <cp:lastModifiedBy>S Bhavani</cp:lastModifiedBy>
  <cp:revision>230</cp:revision>
  <cp:lastPrinted>1601-01-01T00:00:00Z</cp:lastPrinted>
  <dcterms:created xsi:type="dcterms:W3CDTF">1601-01-01T00:00:00Z</dcterms:created>
  <dcterms:modified xsi:type="dcterms:W3CDTF">2026-04-07T06:26:02Z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