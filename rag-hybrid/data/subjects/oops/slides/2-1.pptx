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2"/>
    <p:sldId id="277" r:id="rId3"/>
    <p:sldId id="278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CC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24" autoAdjust="0"/>
    <p:restoredTop sz="94069" autoAdjust="0"/>
  </p:normalViewPr>
  <p:slideViewPr>
    <p:cSldViewPr>
      <p:cViewPr varScale="1">
        <p:scale>
          <a:sx n="76" d="100"/>
          <a:sy n="76" d="100"/>
        </p:scale>
        <p:origin x="1656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4E2EC40-8550-9094-25AD-B825137852F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EDC6ABE-D66E-CABD-C463-B6CAC488482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E86D724-D990-5C95-9350-3FAC0AB7A68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8B7145D-E951-48C4-924E-B6AF626B8CE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335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B53984E-B6F7-5AEE-0884-75FAD9E5AF2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EF6AD92-D0AA-3666-8F60-0C76A49576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1DABF8A-15CE-06BA-3F5F-D5C4B18E575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0404078-1899-4E8F-9387-88E9A7D82A3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24525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F41DEF3-0766-30B4-9F8C-F9191A9791C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2EEF012-F9EB-FAD8-A52D-6A7EA8041F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C865E5B-C4C8-AA91-0084-A6901CD2BC9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AC9B080-E250-4F72-9365-31CA0B41757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457445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6359FD-F997-0C0D-1342-961A00B0B89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EDE4FB-FDD8-CC75-3AED-1262FBC5B98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2451A1E-13D0-6623-8088-877B2A44699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875299C-6AC6-4C40-8DB1-021CD0FA108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03631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47066642-6916-254C-3D46-87EF60EA79D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21902070-B59E-B834-D0E1-148FA8FFA56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B49955C3-EF41-A887-DAC5-3001823C756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5F0D559-DD0D-4AA5-9389-8D54349E992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68048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B65565EE-6421-4E70-2B47-C498B28BB6A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D01952E-D88E-3FBA-F643-A97F58D1CA8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F7DD3DE-C980-0FA9-803D-FE36C8E4BA9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95F366B-1704-419D-8BFA-4D978F95779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67158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14484D68-2939-980D-DBE5-977A248A293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8707F6D1-73AA-9FE2-A422-D3985493AF6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0DB166F-682E-21C6-6B16-E2274B31D79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418433A-10C3-475B-BEAB-422B34D4137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82916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1D0E92-6B8F-B34C-29FA-C290A91EFE7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80E2EA-2710-CD41-D225-DC1D2D09841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0F1DF3-4F87-684E-F43A-51C74E18627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FDB9236-2A85-4839-A5F8-EE9112FC590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69584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65705B-D800-1145-36D3-1ADED8E12C9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F63C25-646D-0BC3-4BFB-A23CAE90D05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D66096-D574-93E8-E9FB-12C4ED308B7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5DD1674-268C-42FB-81FF-05C9FD704DD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717599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B587C9F-EE45-ED6E-0A5B-4E53C37CDB0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DC4A6F4-0C65-0F0C-4255-E1C62076FD9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03D1A98-A8D1-1ADC-B36C-2EC80C659BB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61EAA2-480E-49BE-8752-FFB8DAEA3DD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3181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94DBAA4-03AB-6964-AAF1-CE74FB4B3FB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D1AB8AB-A173-78E7-C60B-6871FCCD01F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BCBEF76-7FEF-2766-D060-3C32B06CA13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87ED1DF-2F32-4C63-AC45-1F0BBCAAAFF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73072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02FF56D-0F84-51D4-15A1-9093399A4E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DC7151A-AE82-49AF-3719-5FC662D53D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F694E6F-47E6-2B36-777A-BE2CD5C8C88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CDD3394-4464-6AB8-89C2-F51404B1C10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4655BAC-0CC7-4BA5-891B-7CFB9005040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2FB6A324-B9D8-4BE5-8CA9-6D9767C863C8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EC3B5A35-ACBD-298B-34DE-89E11C61E9B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52400"/>
            <a:ext cx="7772400" cy="457200"/>
          </a:xfrm>
        </p:spPr>
        <p:txBody>
          <a:bodyPr/>
          <a:lstStyle/>
          <a:p>
            <a:pPr eaLnBrk="1" hangingPunct="1"/>
            <a:r>
              <a:rPr lang="en-US" altLang="en-US" sz="2800">
                <a:solidFill>
                  <a:schemeClr val="accent2"/>
                </a:solidFill>
              </a:rPr>
              <a:t>Classes and Objects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FAE30112-0F19-763F-3AB3-C51D65D2E4D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609600"/>
            <a:ext cx="8686800" cy="6019800"/>
          </a:xfrm>
        </p:spPr>
        <p:txBody>
          <a:bodyPr/>
          <a:lstStyle/>
          <a:p>
            <a:pPr marL="609600" indent="-609600" algn="just" eaLnBrk="1" hangingPunct="1">
              <a:lnSpc>
                <a:spcPct val="90000"/>
              </a:lnSpc>
              <a:buFontTx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A class is a way to bind the data and its associated functions together</a:t>
            </a:r>
          </a:p>
          <a:p>
            <a:pPr marL="609600" indent="-609600" algn="just" eaLnBrk="1" hangingPunct="1">
              <a:lnSpc>
                <a:spcPct val="90000"/>
              </a:lnSpc>
              <a:buFontTx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It allows data and functions to be hidden, if necessary from external use</a:t>
            </a:r>
          </a:p>
          <a:p>
            <a:pPr marL="609600" indent="-609600" algn="just" eaLnBrk="1" hangingPunct="1">
              <a:lnSpc>
                <a:spcPct val="90000"/>
              </a:lnSpc>
              <a:buFontTx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When defining a class, we are creating a new abstract data type that can be treated like any other built in data type</a:t>
            </a:r>
          </a:p>
          <a:p>
            <a:pPr marL="609600" indent="-609600" algn="just" eaLnBrk="1" hangingPunct="1">
              <a:lnSpc>
                <a:spcPct val="90000"/>
              </a:lnSpc>
              <a:buFontTx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Class specification has two parts:</a:t>
            </a:r>
          </a:p>
          <a:p>
            <a:pPr marL="990600" lvl="1" indent="-533400" algn="just" eaLnBrk="1" hangingPunct="1">
              <a:lnSpc>
                <a:spcPct val="90000"/>
              </a:lnSpc>
              <a:buFontTx/>
              <a:buAutoNum type="arabicPeriod"/>
            </a:pPr>
            <a:r>
              <a:rPr lang="en-US" altLang="en-US">
                <a:latin typeface="Times New Roman" panose="02020603050405020304" pitchFamily="18" charset="0"/>
              </a:rPr>
              <a:t>Class declaration : it describes type and scope of its members</a:t>
            </a:r>
          </a:p>
          <a:p>
            <a:pPr marL="990600" lvl="1" indent="-533400" algn="just" eaLnBrk="1" hangingPunct="1">
              <a:lnSpc>
                <a:spcPct val="90000"/>
              </a:lnSpc>
              <a:buFontTx/>
              <a:buAutoNum type="arabicPeriod"/>
            </a:pPr>
            <a:r>
              <a:rPr lang="en-US" altLang="en-US">
                <a:latin typeface="Times New Roman" panose="02020603050405020304" pitchFamily="18" charset="0"/>
              </a:rPr>
              <a:t>Class function definitions : describes how the class functions are implemented</a:t>
            </a:r>
          </a:p>
          <a:p>
            <a:pPr marL="990600" lvl="1" indent="-533400" algn="just" eaLnBrk="1" hangingPunct="1">
              <a:lnSpc>
                <a:spcPct val="90000"/>
              </a:lnSpc>
            </a:pPr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3">
            <a:extLst>
              <a:ext uri="{FF2B5EF4-FFF2-40B4-BE49-F238E27FC236}">
                <a16:creationId xmlns:a16="http://schemas.microsoft.com/office/drawing/2014/main" id="{CCF9CA4B-8385-997C-6148-85B549525DE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0"/>
            <a:ext cx="8686800" cy="6629400"/>
          </a:xfrm>
        </p:spPr>
        <p:txBody>
          <a:bodyPr/>
          <a:lstStyle/>
          <a:p>
            <a:pPr marL="609600" indent="-609600" algn="just" eaLnBrk="1" hangingPunct="1">
              <a:lnSpc>
                <a:spcPct val="80000"/>
              </a:lnSpc>
            </a:pPr>
            <a:r>
              <a:rPr lang="en-US" altLang="en-US" sz="2400">
                <a:solidFill>
                  <a:srgbClr val="CC3300"/>
                </a:solidFill>
                <a:latin typeface="Times New Roman" panose="02020603050405020304" pitchFamily="18" charset="0"/>
              </a:rPr>
              <a:t>class</a:t>
            </a:r>
            <a:r>
              <a:rPr lang="en-US" altLang="en-US" sz="2400">
                <a:latin typeface="Times New Roman" panose="02020603050405020304" pitchFamily="18" charset="0"/>
              </a:rPr>
              <a:t> class_name</a:t>
            </a:r>
          </a:p>
          <a:p>
            <a:pPr marL="609600" indent="-609600" algn="just" eaLnBrk="1" hangingPunct="1">
              <a:lnSpc>
                <a:spcPct val="80000"/>
              </a:lnSpc>
            </a:pPr>
            <a:r>
              <a:rPr lang="en-US" altLang="en-US" sz="2400">
                <a:latin typeface="Times New Roman" panose="02020603050405020304" pitchFamily="18" charset="0"/>
              </a:rPr>
              <a:t>{</a:t>
            </a:r>
          </a:p>
          <a:p>
            <a:pPr marL="609600" indent="-609600" algn="just" eaLnBrk="1" hangingPunct="1">
              <a:lnSpc>
                <a:spcPct val="80000"/>
              </a:lnSpc>
            </a:pPr>
            <a:r>
              <a:rPr lang="en-US" altLang="en-US" sz="2400">
                <a:latin typeface="Times New Roman" panose="02020603050405020304" pitchFamily="18" charset="0"/>
              </a:rPr>
              <a:t>	</a:t>
            </a:r>
            <a:r>
              <a:rPr lang="en-US" altLang="en-US" sz="2400">
                <a:solidFill>
                  <a:srgbClr val="CC3300"/>
                </a:solidFill>
                <a:latin typeface="Times New Roman" panose="02020603050405020304" pitchFamily="18" charset="0"/>
              </a:rPr>
              <a:t>private</a:t>
            </a:r>
            <a:r>
              <a:rPr lang="en-US" altLang="en-US" sz="2400">
                <a:latin typeface="Times New Roman" panose="02020603050405020304" pitchFamily="18" charset="0"/>
              </a:rPr>
              <a:t>:</a:t>
            </a:r>
          </a:p>
          <a:p>
            <a:pPr marL="609600" indent="-609600" algn="just" eaLnBrk="1" hangingPunct="1">
              <a:lnSpc>
                <a:spcPct val="80000"/>
              </a:lnSpc>
            </a:pPr>
            <a:r>
              <a:rPr lang="en-US" altLang="en-US" sz="2400">
                <a:latin typeface="Times New Roman" panose="02020603050405020304" pitchFamily="18" charset="0"/>
              </a:rPr>
              <a:t>		variable declarations;</a:t>
            </a:r>
          </a:p>
          <a:p>
            <a:pPr marL="609600" indent="-609600" algn="just" eaLnBrk="1" hangingPunct="1">
              <a:lnSpc>
                <a:spcPct val="80000"/>
              </a:lnSpc>
            </a:pPr>
            <a:r>
              <a:rPr lang="en-US" altLang="en-US" sz="2400">
                <a:latin typeface="Times New Roman" panose="02020603050405020304" pitchFamily="18" charset="0"/>
              </a:rPr>
              <a:t>		function declarations;</a:t>
            </a:r>
          </a:p>
          <a:p>
            <a:pPr marL="609600" indent="-609600" algn="just" eaLnBrk="1" hangingPunct="1">
              <a:lnSpc>
                <a:spcPct val="80000"/>
              </a:lnSpc>
            </a:pPr>
            <a:r>
              <a:rPr lang="en-US" altLang="en-US" sz="2400">
                <a:latin typeface="Times New Roman" panose="02020603050405020304" pitchFamily="18" charset="0"/>
              </a:rPr>
              <a:t>	</a:t>
            </a:r>
            <a:r>
              <a:rPr lang="en-US" altLang="en-US" sz="2400">
                <a:solidFill>
                  <a:srgbClr val="CC3300"/>
                </a:solidFill>
                <a:latin typeface="Times New Roman" panose="02020603050405020304" pitchFamily="18" charset="0"/>
              </a:rPr>
              <a:t>public</a:t>
            </a:r>
            <a:r>
              <a:rPr lang="en-US" altLang="en-US" sz="2400">
                <a:latin typeface="Times New Roman" panose="02020603050405020304" pitchFamily="18" charset="0"/>
              </a:rPr>
              <a:t>:</a:t>
            </a:r>
          </a:p>
          <a:p>
            <a:pPr marL="609600" indent="-609600" algn="just" eaLnBrk="1" hangingPunct="1">
              <a:lnSpc>
                <a:spcPct val="80000"/>
              </a:lnSpc>
            </a:pPr>
            <a:r>
              <a:rPr lang="en-US" altLang="en-US" sz="2400">
                <a:latin typeface="Times New Roman" panose="02020603050405020304" pitchFamily="18" charset="0"/>
              </a:rPr>
              <a:t>		variable declarations;</a:t>
            </a:r>
          </a:p>
          <a:p>
            <a:pPr marL="609600" indent="-609600" algn="just" eaLnBrk="1" hangingPunct="1">
              <a:lnSpc>
                <a:spcPct val="80000"/>
              </a:lnSpc>
            </a:pPr>
            <a:r>
              <a:rPr lang="en-US" altLang="en-US" sz="2400">
                <a:latin typeface="Times New Roman" panose="02020603050405020304" pitchFamily="18" charset="0"/>
              </a:rPr>
              <a:t>		function declarations;</a:t>
            </a:r>
          </a:p>
          <a:p>
            <a:pPr marL="609600" indent="-609600" algn="just" eaLnBrk="1" hangingPunct="1">
              <a:lnSpc>
                <a:spcPct val="80000"/>
              </a:lnSpc>
            </a:pPr>
            <a:r>
              <a:rPr lang="en-US" altLang="en-US" sz="2400">
                <a:latin typeface="Times New Roman" panose="02020603050405020304" pitchFamily="18" charset="0"/>
              </a:rPr>
              <a:t>};</a:t>
            </a:r>
          </a:p>
          <a:p>
            <a:pPr marL="609600" indent="-609600" algn="just" eaLnBrk="1" hangingPunct="1">
              <a:lnSpc>
                <a:spcPct val="80000"/>
              </a:lnSpc>
              <a:buFontTx/>
              <a:buChar char="•"/>
            </a:pPr>
            <a:r>
              <a:rPr lang="en-US" altLang="en-US" sz="2400">
                <a:latin typeface="Times New Roman" panose="02020603050405020304" pitchFamily="18" charset="0"/>
              </a:rPr>
              <a:t>The functions and variables collectively called as class members</a:t>
            </a:r>
          </a:p>
          <a:p>
            <a:pPr marL="609600" indent="-609600" algn="just" eaLnBrk="1" hangingPunct="1">
              <a:lnSpc>
                <a:spcPct val="80000"/>
              </a:lnSpc>
              <a:buFontTx/>
              <a:buChar char="•"/>
            </a:pPr>
            <a:r>
              <a:rPr lang="en-US" altLang="en-US" sz="2400">
                <a:latin typeface="Times New Roman" panose="02020603050405020304" pitchFamily="18" charset="0"/>
              </a:rPr>
              <a:t>The keywords private and public are known as visibility labels</a:t>
            </a:r>
          </a:p>
          <a:p>
            <a:pPr marL="609600" indent="-609600" algn="just" eaLnBrk="1" hangingPunct="1">
              <a:lnSpc>
                <a:spcPct val="80000"/>
              </a:lnSpc>
              <a:buFontTx/>
              <a:buChar char="•"/>
            </a:pPr>
            <a:r>
              <a:rPr lang="en-US" altLang="en-US" sz="2400">
                <a:latin typeface="Times New Roman" panose="02020603050405020304" pitchFamily="18" charset="0"/>
              </a:rPr>
              <a:t>The private class members can be accessed only from within the class</a:t>
            </a:r>
          </a:p>
          <a:p>
            <a:pPr marL="609600" indent="-609600" algn="just" eaLnBrk="1" hangingPunct="1">
              <a:lnSpc>
                <a:spcPct val="80000"/>
              </a:lnSpc>
              <a:buFontTx/>
              <a:buChar char="•"/>
            </a:pPr>
            <a:r>
              <a:rPr lang="en-US" altLang="en-US" sz="2400">
                <a:latin typeface="Times New Roman" panose="02020603050405020304" pitchFamily="18" charset="0"/>
              </a:rPr>
              <a:t>The public class members can be accessed from outside the  class also</a:t>
            </a:r>
          </a:p>
          <a:p>
            <a:pPr marL="609600" indent="-609600" algn="just" eaLnBrk="1" hangingPunct="1">
              <a:lnSpc>
                <a:spcPct val="80000"/>
              </a:lnSpc>
              <a:buFontTx/>
              <a:buChar char="•"/>
            </a:pPr>
            <a:r>
              <a:rPr lang="en-US" altLang="en-US" sz="2400">
                <a:latin typeface="Times New Roman" panose="02020603050405020304" pitchFamily="18" charset="0"/>
              </a:rPr>
              <a:t>The use of keyword private is optional because by default, all the members of a class are private</a:t>
            </a:r>
          </a:p>
          <a:p>
            <a:pPr marL="609600" indent="-609600" algn="just" eaLnBrk="1" hangingPunct="1">
              <a:lnSpc>
                <a:spcPct val="80000"/>
              </a:lnSpc>
              <a:buFontTx/>
              <a:buChar char="•"/>
            </a:pPr>
            <a:r>
              <a:rPr lang="en-US" altLang="en-US" sz="2400">
                <a:latin typeface="Times New Roman" panose="02020603050405020304" pitchFamily="18" charset="0"/>
              </a:rPr>
              <a:t>If both labels are missed all the members are private. Such a class is completely hidden from the outside world and does not serve any purpose</a:t>
            </a:r>
          </a:p>
          <a:p>
            <a:pPr marL="609600" indent="-609600" algn="just" eaLnBrk="1" hangingPunct="1">
              <a:lnSpc>
                <a:spcPct val="80000"/>
              </a:lnSpc>
              <a:buFontTx/>
              <a:buChar char="•"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>
            <a:extLst>
              <a:ext uri="{FF2B5EF4-FFF2-40B4-BE49-F238E27FC236}">
                <a16:creationId xmlns:a16="http://schemas.microsoft.com/office/drawing/2014/main" id="{46F027EA-B683-D9BA-9A11-D637D9BEC6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2286000"/>
            <a:ext cx="1676400" cy="914400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4099" name="Rectangle 2">
            <a:extLst>
              <a:ext uri="{FF2B5EF4-FFF2-40B4-BE49-F238E27FC236}">
                <a16:creationId xmlns:a16="http://schemas.microsoft.com/office/drawing/2014/main" id="{CE85D4DE-DDF7-5500-7A8C-5CBFD9DCBDB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152400"/>
            <a:ext cx="8686800" cy="1143000"/>
          </a:xfrm>
        </p:spPr>
        <p:txBody>
          <a:bodyPr/>
          <a:lstStyle/>
          <a:p>
            <a:pPr marL="609600" indent="-609600" algn="just" eaLnBrk="1" hangingPunct="1">
              <a:lnSpc>
                <a:spcPct val="80000"/>
              </a:lnSpc>
              <a:buFontTx/>
              <a:buChar char="•"/>
            </a:pPr>
            <a:r>
              <a:rPr lang="en-US" altLang="en-US" sz="2000">
                <a:latin typeface="Times New Roman" panose="02020603050405020304" pitchFamily="18" charset="0"/>
              </a:rPr>
              <a:t>The variables declared inside the class are known as data members</a:t>
            </a:r>
          </a:p>
          <a:p>
            <a:pPr marL="609600" indent="-609600" algn="just" eaLnBrk="1" hangingPunct="1">
              <a:lnSpc>
                <a:spcPct val="80000"/>
              </a:lnSpc>
              <a:buFontTx/>
              <a:buChar char="•"/>
            </a:pPr>
            <a:r>
              <a:rPr lang="en-US" altLang="en-US" sz="2000">
                <a:latin typeface="Times New Roman" panose="02020603050405020304" pitchFamily="18" charset="0"/>
              </a:rPr>
              <a:t>The functions are known as member functions.</a:t>
            </a:r>
          </a:p>
          <a:p>
            <a:pPr marL="609600" indent="-609600" algn="just" eaLnBrk="1" hangingPunct="1">
              <a:lnSpc>
                <a:spcPct val="80000"/>
              </a:lnSpc>
              <a:buFontTx/>
              <a:buChar char="•"/>
            </a:pPr>
            <a:r>
              <a:rPr lang="en-US" altLang="en-US" sz="2000">
                <a:latin typeface="Times New Roman" panose="02020603050405020304" pitchFamily="18" charset="0"/>
              </a:rPr>
              <a:t>Only member functions can have access to the private data members and private functions</a:t>
            </a:r>
          </a:p>
          <a:p>
            <a:pPr marL="609600" indent="-609600" algn="just" eaLnBrk="1" hangingPunct="1">
              <a:lnSpc>
                <a:spcPct val="80000"/>
              </a:lnSpc>
              <a:buFontTx/>
              <a:buChar char="•"/>
            </a:pPr>
            <a:r>
              <a:rPr lang="en-US" altLang="en-US" sz="240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4100" name="Rectangle 3">
            <a:extLst>
              <a:ext uri="{FF2B5EF4-FFF2-40B4-BE49-F238E27FC236}">
                <a16:creationId xmlns:a16="http://schemas.microsoft.com/office/drawing/2014/main" id="{44AF636E-C601-DB5C-C55E-9B55AA572F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2438400"/>
            <a:ext cx="914400" cy="228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/>
              <a:t>Data</a:t>
            </a:r>
          </a:p>
        </p:txBody>
      </p:sp>
      <p:sp>
        <p:nvSpPr>
          <p:cNvPr id="4101" name="Rectangle 4">
            <a:extLst>
              <a:ext uri="{FF2B5EF4-FFF2-40B4-BE49-F238E27FC236}">
                <a16:creationId xmlns:a16="http://schemas.microsoft.com/office/drawing/2014/main" id="{DB0ED15D-6ADB-876C-0336-1B7D7D1D92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2819400"/>
            <a:ext cx="1295400" cy="228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/>
              <a:t>Functions</a:t>
            </a:r>
          </a:p>
        </p:txBody>
      </p:sp>
      <p:sp>
        <p:nvSpPr>
          <p:cNvPr id="4102" name="Rectangle 5">
            <a:extLst>
              <a:ext uri="{FF2B5EF4-FFF2-40B4-BE49-F238E27FC236}">
                <a16:creationId xmlns:a16="http://schemas.microsoft.com/office/drawing/2014/main" id="{5325F18F-B4E9-5B22-0F6E-61BCF9CAD5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4343400"/>
            <a:ext cx="914400" cy="228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/>
              <a:t>Data</a:t>
            </a:r>
          </a:p>
        </p:txBody>
      </p:sp>
      <p:sp>
        <p:nvSpPr>
          <p:cNvPr id="4103" name="Rectangle 6">
            <a:extLst>
              <a:ext uri="{FF2B5EF4-FFF2-40B4-BE49-F238E27FC236}">
                <a16:creationId xmlns:a16="http://schemas.microsoft.com/office/drawing/2014/main" id="{17B03119-8ABA-C99A-03EE-23D4302464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4724400"/>
            <a:ext cx="1295400" cy="228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/>
              <a:t>Functions</a:t>
            </a:r>
          </a:p>
        </p:txBody>
      </p:sp>
      <p:sp>
        <p:nvSpPr>
          <p:cNvPr id="4104" name="Line 9">
            <a:extLst>
              <a:ext uri="{FF2B5EF4-FFF2-40B4-BE49-F238E27FC236}">
                <a16:creationId xmlns:a16="http://schemas.microsoft.com/office/drawing/2014/main" id="{5A09F0DA-F4A3-8D54-E7B3-6679C1728257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48768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05" name="Line 10">
            <a:extLst>
              <a:ext uri="{FF2B5EF4-FFF2-40B4-BE49-F238E27FC236}">
                <a16:creationId xmlns:a16="http://schemas.microsoft.com/office/drawing/2014/main" id="{25FB663A-5D42-34D7-4F5D-0F997DCD5416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0" y="2514600"/>
            <a:ext cx="0" cy="23622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06" name="Line 11">
            <a:extLst>
              <a:ext uri="{FF2B5EF4-FFF2-40B4-BE49-F238E27FC236}">
                <a16:creationId xmlns:a16="http://schemas.microsoft.com/office/drawing/2014/main" id="{EE62740E-835E-17A2-767A-95D38FF7657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48200" y="2514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07" name="Line 12">
            <a:extLst>
              <a:ext uri="{FF2B5EF4-FFF2-40B4-BE49-F238E27FC236}">
                <a16:creationId xmlns:a16="http://schemas.microsoft.com/office/drawing/2014/main" id="{DA25F6EA-6C23-1524-20E7-14DFB7AF072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76800" y="29718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08" name="Line 13">
            <a:extLst>
              <a:ext uri="{FF2B5EF4-FFF2-40B4-BE49-F238E27FC236}">
                <a16:creationId xmlns:a16="http://schemas.microsoft.com/office/drawing/2014/main" id="{0F57A015-D1B0-1479-9EF2-86340E3752C5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3000" y="44958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09" name="Line 14">
            <a:extLst>
              <a:ext uri="{FF2B5EF4-FFF2-40B4-BE49-F238E27FC236}">
                <a16:creationId xmlns:a16="http://schemas.microsoft.com/office/drawing/2014/main" id="{87F93E22-BEA5-0CFE-B57C-80F99A1BF61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48200" y="44958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10" name="Rectangle 16">
            <a:extLst>
              <a:ext uri="{FF2B5EF4-FFF2-40B4-BE49-F238E27FC236}">
                <a16:creationId xmlns:a16="http://schemas.microsoft.com/office/drawing/2014/main" id="{CC8606B6-145F-B6E0-AD81-AC18281E6A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2057400"/>
            <a:ext cx="11430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400"/>
              <a:t>Private Area</a:t>
            </a:r>
          </a:p>
        </p:txBody>
      </p:sp>
      <p:sp>
        <p:nvSpPr>
          <p:cNvPr id="4111" name="Rectangle 17">
            <a:extLst>
              <a:ext uri="{FF2B5EF4-FFF2-40B4-BE49-F238E27FC236}">
                <a16:creationId xmlns:a16="http://schemas.microsoft.com/office/drawing/2014/main" id="{28472D94-3771-1933-00CE-9F618C5FE3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3886200"/>
            <a:ext cx="11430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400"/>
              <a:t>Public Area</a:t>
            </a:r>
          </a:p>
        </p:txBody>
      </p:sp>
      <p:sp>
        <p:nvSpPr>
          <p:cNvPr id="4112" name="Line 18">
            <a:extLst>
              <a:ext uri="{FF2B5EF4-FFF2-40B4-BE49-F238E27FC236}">
                <a16:creationId xmlns:a16="http://schemas.microsoft.com/office/drawing/2014/main" id="{988FBB08-2BCE-6B96-26F4-50CE80DD03E3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1752600"/>
            <a:ext cx="0" cy="2895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13" name="Line 19">
            <a:extLst>
              <a:ext uri="{FF2B5EF4-FFF2-40B4-BE49-F238E27FC236}">
                <a16:creationId xmlns:a16="http://schemas.microsoft.com/office/drawing/2014/main" id="{DF3FF87A-BA35-EBF1-66DB-27A595039E67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1752600"/>
            <a:ext cx="3200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14" name="Line 20">
            <a:extLst>
              <a:ext uri="{FF2B5EF4-FFF2-40B4-BE49-F238E27FC236}">
                <a16:creationId xmlns:a16="http://schemas.microsoft.com/office/drawing/2014/main" id="{6ADF5BFA-581E-CBFF-53FB-28270813FA14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7400" y="1752600"/>
            <a:ext cx="0" cy="3810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15" name="Line 21">
            <a:extLst>
              <a:ext uri="{FF2B5EF4-FFF2-40B4-BE49-F238E27FC236}">
                <a16:creationId xmlns:a16="http://schemas.microsoft.com/office/drawing/2014/main" id="{D46F11D9-CA5F-5262-E8A1-4111A44EEA8F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5562600"/>
            <a:ext cx="3200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16" name="Line 22">
            <a:extLst>
              <a:ext uri="{FF2B5EF4-FFF2-40B4-BE49-F238E27FC236}">
                <a16:creationId xmlns:a16="http://schemas.microsoft.com/office/drawing/2014/main" id="{FFBC408A-EEBC-5141-DFB0-B1B216191103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50292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17" name="Line 24">
            <a:extLst>
              <a:ext uri="{FF2B5EF4-FFF2-40B4-BE49-F238E27FC236}">
                <a16:creationId xmlns:a16="http://schemas.microsoft.com/office/drawing/2014/main" id="{C716F075-BBFF-6C38-D2CD-939667CEEDB6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3657600"/>
            <a:ext cx="2438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18" name="Line 25">
            <a:extLst>
              <a:ext uri="{FF2B5EF4-FFF2-40B4-BE49-F238E27FC236}">
                <a16:creationId xmlns:a16="http://schemas.microsoft.com/office/drawing/2014/main" id="{1BDD6AC1-382D-229F-4E9D-CF5A56819D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2600" y="36576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19" name="Oval 26">
            <a:extLst>
              <a:ext uri="{FF2B5EF4-FFF2-40B4-BE49-F238E27FC236}">
                <a16:creationId xmlns:a16="http://schemas.microsoft.com/office/drawing/2014/main" id="{F95926CD-5C00-6497-44F9-01D67BE527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1000" y="3632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4120" name="Oval 27">
            <a:extLst>
              <a:ext uri="{FF2B5EF4-FFF2-40B4-BE49-F238E27FC236}">
                <a16:creationId xmlns:a16="http://schemas.microsoft.com/office/drawing/2014/main" id="{92D1CDC6-0045-7F0C-29E7-A104376C1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3632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4121" name="Line 28">
            <a:extLst>
              <a:ext uri="{FF2B5EF4-FFF2-40B4-BE49-F238E27FC236}">
                <a16:creationId xmlns:a16="http://schemas.microsoft.com/office/drawing/2014/main" id="{DCA30498-B44D-DF37-4059-9FDA10381917}"/>
              </a:ext>
            </a:extLst>
          </p:cNvPr>
          <p:cNvSpPr>
            <a:spLocks noChangeShapeType="1"/>
          </p:cNvSpPr>
          <p:nvPr/>
        </p:nvSpPr>
        <p:spPr bwMode="auto">
          <a:xfrm>
            <a:off x="1219200" y="2743200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22" name="AutoShape 29">
            <a:extLst>
              <a:ext uri="{FF2B5EF4-FFF2-40B4-BE49-F238E27FC236}">
                <a16:creationId xmlns:a16="http://schemas.microsoft.com/office/drawing/2014/main" id="{67C1F646-B5A8-2FF9-17DE-EBE2837929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2667000"/>
            <a:ext cx="228600" cy="228600"/>
          </a:xfrm>
          <a:prstGeom prst="star4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4123" name="Rectangle 30">
            <a:extLst>
              <a:ext uri="{FF2B5EF4-FFF2-40B4-BE49-F238E27FC236}">
                <a16:creationId xmlns:a16="http://schemas.microsoft.com/office/drawing/2014/main" id="{6E237487-9FC8-57C0-6B11-1E82A91B72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057400"/>
            <a:ext cx="1676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400"/>
              <a:t>No entry to</a:t>
            </a:r>
          </a:p>
          <a:p>
            <a:pPr algn="ctr"/>
            <a:r>
              <a:rPr lang="en-US" altLang="en-US" sz="1400"/>
              <a:t>Private area</a:t>
            </a:r>
          </a:p>
        </p:txBody>
      </p:sp>
      <p:sp>
        <p:nvSpPr>
          <p:cNvPr id="4124" name="Line 31">
            <a:extLst>
              <a:ext uri="{FF2B5EF4-FFF2-40B4-BE49-F238E27FC236}">
                <a16:creationId xmlns:a16="http://schemas.microsoft.com/office/drawing/2014/main" id="{F4B81BD9-18DE-DB54-B932-E3D2752F6386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5400" y="48768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25" name="Line 32">
            <a:extLst>
              <a:ext uri="{FF2B5EF4-FFF2-40B4-BE49-F238E27FC236}">
                <a16:creationId xmlns:a16="http://schemas.microsoft.com/office/drawing/2014/main" id="{66A478A7-7B41-DA01-C9E0-E5EAB8E4E172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48768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26" name="Line 33">
            <a:extLst>
              <a:ext uri="{FF2B5EF4-FFF2-40B4-BE49-F238E27FC236}">
                <a16:creationId xmlns:a16="http://schemas.microsoft.com/office/drawing/2014/main" id="{CDDE5C6C-81BC-B25B-C0F1-E027108BC5D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52800" y="4419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27" name="Line 34">
            <a:extLst>
              <a:ext uri="{FF2B5EF4-FFF2-40B4-BE49-F238E27FC236}">
                <a16:creationId xmlns:a16="http://schemas.microsoft.com/office/drawing/2014/main" id="{428646BE-A4ED-3F28-40F7-EA5F9B9AF863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2800" y="44196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28" name="Line 35">
            <a:extLst>
              <a:ext uri="{FF2B5EF4-FFF2-40B4-BE49-F238E27FC236}">
                <a16:creationId xmlns:a16="http://schemas.microsoft.com/office/drawing/2014/main" id="{02EED5E0-6072-E272-5126-23B955C358E6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50292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29" name="Line 36">
            <a:extLst>
              <a:ext uri="{FF2B5EF4-FFF2-40B4-BE49-F238E27FC236}">
                <a16:creationId xmlns:a16="http://schemas.microsoft.com/office/drawing/2014/main" id="{3CFA3831-EA56-37F4-7F85-C19826A692CD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2800" y="5029200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30" name="Line 37">
            <a:extLst>
              <a:ext uri="{FF2B5EF4-FFF2-40B4-BE49-F238E27FC236}">
                <a16:creationId xmlns:a16="http://schemas.microsoft.com/office/drawing/2014/main" id="{89E9F324-ABEB-E40D-BDF2-BAF9AB4272C9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2800" y="5181600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31" name="Line 38">
            <a:extLst>
              <a:ext uri="{FF2B5EF4-FFF2-40B4-BE49-F238E27FC236}">
                <a16:creationId xmlns:a16="http://schemas.microsoft.com/office/drawing/2014/main" id="{0E17D602-C3B1-7724-41AD-AFA7D1564154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5400" y="4191000"/>
            <a:ext cx="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32" name="Line 39">
            <a:extLst>
              <a:ext uri="{FF2B5EF4-FFF2-40B4-BE49-F238E27FC236}">
                <a16:creationId xmlns:a16="http://schemas.microsoft.com/office/drawing/2014/main" id="{3DF1A46C-3E47-4765-40EC-8189E380CE37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4191000"/>
            <a:ext cx="1905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33" name="Line 40">
            <a:extLst>
              <a:ext uri="{FF2B5EF4-FFF2-40B4-BE49-F238E27FC236}">
                <a16:creationId xmlns:a16="http://schemas.microsoft.com/office/drawing/2014/main" id="{7D7E283B-60DC-C4AE-36D4-14287DC31E2C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46482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34" name="Line 41">
            <a:extLst>
              <a:ext uri="{FF2B5EF4-FFF2-40B4-BE49-F238E27FC236}">
                <a16:creationId xmlns:a16="http://schemas.microsoft.com/office/drawing/2014/main" id="{A058D80F-A310-8814-DF99-7934FAA33280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41910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35" name="Rectangle 42">
            <a:extLst>
              <a:ext uri="{FF2B5EF4-FFF2-40B4-BE49-F238E27FC236}">
                <a16:creationId xmlns:a16="http://schemas.microsoft.com/office/drawing/2014/main" id="{038AC7F8-6C16-EBAC-AEA4-8960F2EAA7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4267200"/>
            <a:ext cx="1676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400"/>
              <a:t>Entry allowed to</a:t>
            </a:r>
          </a:p>
          <a:p>
            <a:pPr algn="ctr"/>
            <a:r>
              <a:rPr lang="en-US" altLang="en-US" sz="1400"/>
              <a:t>Public area</a:t>
            </a:r>
          </a:p>
        </p:txBody>
      </p:sp>
      <p:sp>
        <p:nvSpPr>
          <p:cNvPr id="4136" name="Rectangle 43">
            <a:extLst>
              <a:ext uri="{FF2B5EF4-FFF2-40B4-BE49-F238E27FC236}">
                <a16:creationId xmlns:a16="http://schemas.microsoft.com/office/drawing/2014/main" id="{9DFFB6A5-51A7-13CF-DA06-19EE8795FB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1371600"/>
            <a:ext cx="11430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600" b="1"/>
              <a:t>CLASS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FBFCF8BD-8593-9FC7-1839-01809D710AC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228600"/>
            <a:ext cx="8686800" cy="6400800"/>
          </a:xfrm>
        </p:spPr>
        <p:txBody>
          <a:bodyPr/>
          <a:lstStyle/>
          <a:p>
            <a:pPr marL="609600" indent="-609600" algn="just" eaLnBrk="1" hangingPunct="1">
              <a:lnSpc>
                <a:spcPct val="80000"/>
              </a:lnSpc>
            </a:pPr>
            <a:r>
              <a:rPr lang="en-US" altLang="en-US">
                <a:solidFill>
                  <a:srgbClr val="CC3300"/>
                </a:solidFill>
                <a:latin typeface="Times New Roman" panose="02020603050405020304" pitchFamily="18" charset="0"/>
              </a:rPr>
              <a:t>Eg:</a:t>
            </a:r>
          </a:p>
          <a:p>
            <a:pPr marL="609600" indent="-609600" algn="just" eaLnBrk="1" hangingPunct="1">
              <a:lnSpc>
                <a:spcPct val="80000"/>
              </a:lnSpc>
            </a:pPr>
            <a:r>
              <a:rPr lang="en-US" altLang="en-US">
                <a:solidFill>
                  <a:srgbClr val="CC3300"/>
                </a:solidFill>
                <a:latin typeface="Times New Roman" panose="02020603050405020304" pitchFamily="18" charset="0"/>
              </a:rPr>
              <a:t>class </a:t>
            </a:r>
            <a:r>
              <a:rPr lang="en-US" altLang="en-US">
                <a:latin typeface="Times New Roman" panose="02020603050405020304" pitchFamily="18" charset="0"/>
              </a:rPr>
              <a:t>student</a:t>
            </a:r>
          </a:p>
          <a:p>
            <a:pPr marL="609600" indent="-609600" algn="just" eaLnBrk="1" hangingPunct="1">
              <a:lnSpc>
                <a:spcPct val="80000"/>
              </a:lnSpc>
            </a:pPr>
            <a:r>
              <a:rPr lang="en-US" altLang="en-US">
                <a:latin typeface="Times New Roman" panose="02020603050405020304" pitchFamily="18" charset="0"/>
              </a:rPr>
              <a:t>{</a:t>
            </a:r>
          </a:p>
          <a:p>
            <a:pPr marL="609600" indent="-609600" algn="just" eaLnBrk="1" hangingPunct="1">
              <a:lnSpc>
                <a:spcPct val="80000"/>
              </a:lnSpc>
            </a:pPr>
            <a:r>
              <a:rPr lang="en-US" altLang="en-US">
                <a:latin typeface="Times New Roman" panose="02020603050405020304" pitchFamily="18" charset="0"/>
              </a:rPr>
              <a:t>			int rno;</a:t>
            </a:r>
          </a:p>
          <a:p>
            <a:pPr marL="609600" indent="-609600" algn="just" eaLnBrk="1" hangingPunct="1">
              <a:lnSpc>
                <a:spcPct val="80000"/>
              </a:lnSpc>
            </a:pPr>
            <a:r>
              <a:rPr lang="en-US" altLang="en-US">
                <a:latin typeface="Times New Roman" panose="02020603050405020304" pitchFamily="18" charset="0"/>
              </a:rPr>
              <a:t>		public:</a:t>
            </a:r>
          </a:p>
          <a:p>
            <a:pPr marL="609600" indent="-609600" algn="just" eaLnBrk="1" hangingPunct="1">
              <a:lnSpc>
                <a:spcPct val="80000"/>
              </a:lnSpc>
            </a:pPr>
            <a:r>
              <a:rPr lang="en-US" altLang="en-US">
                <a:latin typeface="Times New Roman" panose="02020603050405020304" pitchFamily="18" charset="0"/>
              </a:rPr>
              <a:t>			void getdata(int r);</a:t>
            </a:r>
          </a:p>
          <a:p>
            <a:pPr marL="609600" indent="-609600" algn="just" eaLnBrk="1" hangingPunct="1">
              <a:lnSpc>
                <a:spcPct val="80000"/>
              </a:lnSpc>
            </a:pPr>
            <a:r>
              <a:rPr lang="en-US" altLang="en-US">
                <a:latin typeface="Times New Roman" panose="02020603050405020304" pitchFamily="18" charset="0"/>
              </a:rPr>
              <a:t>			void putdata(void);</a:t>
            </a:r>
          </a:p>
          <a:p>
            <a:pPr marL="609600" indent="-609600" algn="just" eaLnBrk="1" hangingPunct="1">
              <a:lnSpc>
                <a:spcPct val="80000"/>
              </a:lnSpc>
            </a:pPr>
            <a:r>
              <a:rPr lang="en-US" altLang="en-US">
                <a:latin typeface="Times New Roman" panose="02020603050405020304" pitchFamily="18" charset="0"/>
              </a:rPr>
              <a:t>}</a:t>
            </a:r>
          </a:p>
          <a:p>
            <a:pPr marL="609600" indent="-609600" algn="just" eaLnBrk="1" hangingPunct="1">
              <a:lnSpc>
                <a:spcPct val="80000"/>
              </a:lnSpc>
              <a:buFontTx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We can access the data using member functions only. Outsiders cannot use directly</a:t>
            </a:r>
          </a:p>
          <a:p>
            <a:pPr marL="609600" indent="-609600" algn="just" eaLnBrk="1" hangingPunct="1">
              <a:lnSpc>
                <a:spcPct val="80000"/>
              </a:lnSpc>
              <a:buFontTx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Functions are declared, not defined</a:t>
            </a:r>
          </a:p>
          <a:p>
            <a:pPr marL="609600" indent="-609600" algn="just" eaLnBrk="1" hangingPunct="1">
              <a:lnSpc>
                <a:spcPct val="80000"/>
              </a:lnSpc>
              <a:buFontTx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Actual function definitions will appear later in the program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">
            <a:extLst>
              <a:ext uri="{FF2B5EF4-FFF2-40B4-BE49-F238E27FC236}">
                <a16:creationId xmlns:a16="http://schemas.microsoft.com/office/drawing/2014/main" id="{38D02AF2-2FED-8C76-9241-42635E7844B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228600"/>
            <a:ext cx="8686800" cy="457200"/>
          </a:xfrm>
        </p:spPr>
        <p:txBody>
          <a:bodyPr/>
          <a:lstStyle/>
          <a:p>
            <a:pPr marL="609600" indent="-609600" eaLnBrk="1" hangingPunct="1">
              <a:lnSpc>
                <a:spcPct val="80000"/>
              </a:lnSpc>
            </a:pPr>
            <a:r>
              <a:rPr lang="en-US" altLang="en-US" sz="2800">
                <a:solidFill>
                  <a:schemeClr val="accent2"/>
                </a:solidFill>
                <a:latin typeface="Times New Roman" panose="02020603050405020304" pitchFamily="18" charset="0"/>
              </a:rPr>
              <a:t>Notations used by analysts</a:t>
            </a:r>
            <a:endParaRPr lang="en-US" altLang="en-US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47" name="Rectangle 41">
            <a:extLst>
              <a:ext uri="{FF2B5EF4-FFF2-40B4-BE49-F238E27FC236}">
                <a16:creationId xmlns:a16="http://schemas.microsoft.com/office/drawing/2014/main" id="{DE17529F-F73A-006E-A798-75315E9436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1219200"/>
            <a:ext cx="2133600" cy="426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/>
              <a:t>class : student</a:t>
            </a:r>
          </a:p>
          <a:p>
            <a:endParaRPr lang="en-US" altLang="en-US"/>
          </a:p>
          <a:p>
            <a:r>
              <a:rPr lang="en-US" altLang="en-US"/>
              <a:t>DATA</a:t>
            </a:r>
          </a:p>
          <a:p>
            <a:r>
              <a:rPr lang="en-US" altLang="en-US"/>
              <a:t>        rno</a:t>
            </a:r>
          </a:p>
          <a:p>
            <a:r>
              <a:rPr lang="en-US" altLang="en-US"/>
              <a:t>        …….</a:t>
            </a:r>
          </a:p>
          <a:p>
            <a:r>
              <a:rPr lang="en-US" altLang="en-US"/>
              <a:t>        ……..</a:t>
            </a:r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r>
              <a:rPr lang="en-US" altLang="en-US"/>
              <a:t>FUNCTIONS</a:t>
            </a:r>
          </a:p>
          <a:p>
            <a:r>
              <a:rPr lang="en-US" altLang="en-US"/>
              <a:t>        getdata()</a:t>
            </a:r>
          </a:p>
          <a:p>
            <a:r>
              <a:rPr lang="en-US" altLang="en-US"/>
              <a:t>        putdata()</a:t>
            </a:r>
          </a:p>
          <a:p>
            <a:r>
              <a:rPr lang="en-US" altLang="en-US"/>
              <a:t>        ………</a:t>
            </a:r>
          </a:p>
          <a:p>
            <a:endParaRPr lang="en-US" altLang="en-US"/>
          </a:p>
        </p:txBody>
      </p:sp>
      <p:sp>
        <p:nvSpPr>
          <p:cNvPr id="6148" name="Line 42">
            <a:extLst>
              <a:ext uri="{FF2B5EF4-FFF2-40B4-BE49-F238E27FC236}">
                <a16:creationId xmlns:a16="http://schemas.microsoft.com/office/drawing/2014/main" id="{0C7AFB1E-AB88-F52B-EB8A-CAB2A13DA49F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1828800"/>
            <a:ext cx="213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149" name="Line 43">
            <a:extLst>
              <a:ext uri="{FF2B5EF4-FFF2-40B4-BE49-F238E27FC236}">
                <a16:creationId xmlns:a16="http://schemas.microsoft.com/office/drawing/2014/main" id="{E5386BF6-EA98-B5E8-FED2-507760EB1F40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3657600"/>
            <a:ext cx="213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150" name="Rectangle 44">
            <a:extLst>
              <a:ext uri="{FF2B5EF4-FFF2-40B4-BE49-F238E27FC236}">
                <a16:creationId xmlns:a16="http://schemas.microsoft.com/office/drawing/2014/main" id="{DC30FEC3-DD1A-328C-648C-73671E1956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1752600"/>
            <a:ext cx="12192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/>
              <a:t>getdata()</a:t>
            </a:r>
          </a:p>
        </p:txBody>
      </p:sp>
      <p:sp>
        <p:nvSpPr>
          <p:cNvPr id="6151" name="Rectangle 45">
            <a:extLst>
              <a:ext uri="{FF2B5EF4-FFF2-40B4-BE49-F238E27FC236}">
                <a16:creationId xmlns:a16="http://schemas.microsoft.com/office/drawing/2014/main" id="{3033BC45-BEE9-DCEA-56FD-60595C9333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2667000"/>
            <a:ext cx="12192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/>
              <a:t>putdata()</a:t>
            </a:r>
          </a:p>
        </p:txBody>
      </p:sp>
      <p:sp>
        <p:nvSpPr>
          <p:cNvPr id="6152" name="Rectangle 46">
            <a:extLst>
              <a:ext uri="{FF2B5EF4-FFF2-40B4-BE49-F238E27FC236}">
                <a16:creationId xmlns:a16="http://schemas.microsoft.com/office/drawing/2014/main" id="{9940D8C9-7AA8-DF60-D084-5A8151F824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3581400"/>
            <a:ext cx="12192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/>
              <a:t>………..</a:t>
            </a:r>
          </a:p>
        </p:txBody>
      </p:sp>
      <p:sp>
        <p:nvSpPr>
          <p:cNvPr id="6153" name="Line 47">
            <a:extLst>
              <a:ext uri="{FF2B5EF4-FFF2-40B4-BE49-F238E27FC236}">
                <a16:creationId xmlns:a16="http://schemas.microsoft.com/office/drawing/2014/main" id="{72F41CB0-F78D-1594-FB55-6BD3FFFFC416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2600" y="1295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154" name="Line 48">
            <a:extLst>
              <a:ext uri="{FF2B5EF4-FFF2-40B4-BE49-F238E27FC236}">
                <a16:creationId xmlns:a16="http://schemas.microsoft.com/office/drawing/2014/main" id="{43A13944-2A36-645F-C762-D4A88ABEE67C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2600" y="20574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155" name="Line 49">
            <a:extLst>
              <a:ext uri="{FF2B5EF4-FFF2-40B4-BE49-F238E27FC236}">
                <a16:creationId xmlns:a16="http://schemas.microsoft.com/office/drawing/2014/main" id="{F75ECE58-7798-6176-2EA1-B780A737C6B5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2600" y="2971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156" name="Line 51">
            <a:extLst>
              <a:ext uri="{FF2B5EF4-FFF2-40B4-BE49-F238E27FC236}">
                <a16:creationId xmlns:a16="http://schemas.microsoft.com/office/drawing/2014/main" id="{B1DCAFFC-7974-39E6-39C7-ED7C0901CCBA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2600" y="12954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157" name="Line 52">
            <a:extLst>
              <a:ext uri="{FF2B5EF4-FFF2-40B4-BE49-F238E27FC236}">
                <a16:creationId xmlns:a16="http://schemas.microsoft.com/office/drawing/2014/main" id="{3DABE263-F830-1E59-E33E-2DB22E8CCD55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00" y="1295400"/>
            <a:ext cx="0" cy="419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158" name="Line 53">
            <a:extLst>
              <a:ext uri="{FF2B5EF4-FFF2-40B4-BE49-F238E27FC236}">
                <a16:creationId xmlns:a16="http://schemas.microsoft.com/office/drawing/2014/main" id="{5A4C98D7-9863-CA4D-ABCB-AB2BC1A28A3D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5486400"/>
            <a:ext cx="213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159" name="Rectangle 54">
            <a:extLst>
              <a:ext uri="{FF2B5EF4-FFF2-40B4-BE49-F238E27FC236}">
                <a16:creationId xmlns:a16="http://schemas.microsoft.com/office/drawing/2014/main" id="{CC54F8A6-037A-9FC1-CC4B-42D70E49B4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1371600"/>
            <a:ext cx="1219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/>
              <a:t>student</a:t>
            </a:r>
          </a:p>
        </p:txBody>
      </p:sp>
      <p:sp>
        <p:nvSpPr>
          <p:cNvPr id="6160" name="Line 55">
            <a:extLst>
              <a:ext uri="{FF2B5EF4-FFF2-40B4-BE49-F238E27FC236}">
                <a16:creationId xmlns:a16="http://schemas.microsoft.com/office/drawing/2014/main" id="{A98DA5DD-470E-A953-8B69-C68A2E590599}"/>
              </a:ext>
            </a:extLst>
          </p:cNvPr>
          <p:cNvSpPr>
            <a:spLocks noChangeShapeType="1"/>
          </p:cNvSpPr>
          <p:nvPr/>
        </p:nvSpPr>
        <p:spPr bwMode="auto">
          <a:xfrm>
            <a:off x="5562600" y="3886200"/>
            <a:ext cx="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C464C5B6-7626-61D9-538B-D7084E35702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52400"/>
            <a:ext cx="7772400" cy="457200"/>
          </a:xfrm>
        </p:spPr>
        <p:txBody>
          <a:bodyPr/>
          <a:lstStyle/>
          <a:p>
            <a:pPr eaLnBrk="1" hangingPunct="1"/>
            <a:r>
              <a:rPr lang="en-US" altLang="en-US" sz="2800">
                <a:solidFill>
                  <a:schemeClr val="accent2"/>
                </a:solidFill>
              </a:rPr>
              <a:t>Creating Objects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DFEF7228-D345-5275-D3A8-6EF4DCDF8C9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609600"/>
            <a:ext cx="8686800" cy="6019800"/>
          </a:xfrm>
        </p:spPr>
        <p:txBody>
          <a:bodyPr/>
          <a:lstStyle/>
          <a:p>
            <a:pPr marL="609600" indent="-609600" algn="just" eaLnBrk="1" hangingPunct="1">
              <a:lnSpc>
                <a:spcPct val="90000"/>
              </a:lnSpc>
              <a:buFontTx/>
              <a:buChar char="•"/>
            </a:pPr>
            <a:r>
              <a:rPr lang="en-US" altLang="en-US" sz="2800">
                <a:latin typeface="Times New Roman" panose="02020603050405020304" pitchFamily="18" charset="0"/>
              </a:rPr>
              <a:t>Declaration of class does not define any objects</a:t>
            </a:r>
          </a:p>
          <a:p>
            <a:pPr marL="609600" indent="-609600" algn="just" eaLnBrk="1" hangingPunct="1">
              <a:lnSpc>
                <a:spcPct val="90000"/>
              </a:lnSpc>
              <a:buFontTx/>
              <a:buChar char="•"/>
            </a:pPr>
            <a:r>
              <a:rPr lang="en-US" altLang="en-US" sz="2800">
                <a:latin typeface="Times New Roman" panose="02020603050405020304" pitchFamily="18" charset="0"/>
              </a:rPr>
              <a:t>Once a class has been declared, we can create variables of that type using the class name</a:t>
            </a:r>
          </a:p>
          <a:p>
            <a:pPr marL="609600" indent="-609600" algn="just" eaLnBrk="1" hangingPunct="1">
              <a:lnSpc>
                <a:spcPct val="90000"/>
              </a:lnSpc>
            </a:pPr>
            <a:r>
              <a:rPr lang="en-US" altLang="en-US" sz="2800">
                <a:latin typeface="Times New Roman" panose="02020603050405020304" pitchFamily="18" charset="0"/>
              </a:rPr>
              <a:t>		Eg : student s1;	//memory for s1 is created</a:t>
            </a:r>
          </a:p>
          <a:p>
            <a:pPr marL="609600" indent="-609600" algn="just" eaLnBrk="1" hangingPunct="1">
              <a:lnSpc>
                <a:spcPct val="90000"/>
              </a:lnSpc>
            </a:pPr>
            <a:r>
              <a:rPr lang="en-US" altLang="en-US" sz="2800">
                <a:latin typeface="Times New Roman" panose="02020603050405020304" pitchFamily="18" charset="0"/>
              </a:rPr>
              <a:t>		        student s1,s2;</a:t>
            </a:r>
          </a:p>
          <a:p>
            <a:pPr marL="609600" indent="-609600" algn="just" eaLnBrk="1" hangingPunct="1">
              <a:lnSpc>
                <a:spcPct val="90000"/>
              </a:lnSpc>
              <a:buFontTx/>
              <a:buChar char="•"/>
            </a:pPr>
            <a:r>
              <a:rPr lang="en-US" altLang="en-US" sz="2800">
                <a:latin typeface="Times New Roman" panose="02020603050405020304" pitchFamily="18" charset="0"/>
              </a:rPr>
              <a:t>In C++ class variables are known as objects</a:t>
            </a:r>
          </a:p>
          <a:p>
            <a:pPr marL="609600" indent="-609600" algn="just" eaLnBrk="1" hangingPunct="1">
              <a:lnSpc>
                <a:spcPct val="90000"/>
              </a:lnSpc>
              <a:buFontTx/>
              <a:buChar char="•"/>
            </a:pPr>
            <a:r>
              <a:rPr lang="en-US" altLang="en-US" sz="2800">
                <a:latin typeface="Times New Roman" panose="02020603050405020304" pitchFamily="18" charset="0"/>
              </a:rPr>
              <a:t>s1 is an object of type student</a:t>
            </a:r>
          </a:p>
          <a:p>
            <a:pPr marL="609600" indent="-609600" algn="just" eaLnBrk="1" hangingPunct="1">
              <a:lnSpc>
                <a:spcPct val="90000"/>
              </a:lnSpc>
              <a:buFontTx/>
              <a:buChar char="•"/>
            </a:pPr>
            <a:r>
              <a:rPr lang="en-US" altLang="en-US" sz="2800">
                <a:latin typeface="Times New Roman" panose="02020603050405020304" pitchFamily="18" charset="0"/>
              </a:rPr>
              <a:t>Objects can be created at the time of declaration also</a:t>
            </a:r>
          </a:p>
          <a:p>
            <a:pPr marL="609600" indent="-609600" algn="just" eaLnBrk="1" hangingPunct="1">
              <a:lnSpc>
                <a:spcPct val="90000"/>
              </a:lnSpc>
            </a:pPr>
            <a:r>
              <a:rPr lang="en-US" altLang="en-US" sz="2800">
                <a:latin typeface="Times New Roman" panose="02020603050405020304" pitchFamily="18" charset="0"/>
              </a:rPr>
              <a:t>	class student</a:t>
            </a:r>
          </a:p>
          <a:p>
            <a:pPr marL="609600" indent="-609600" algn="just" eaLnBrk="1" hangingPunct="1">
              <a:lnSpc>
                <a:spcPct val="90000"/>
              </a:lnSpc>
            </a:pPr>
            <a:r>
              <a:rPr lang="en-US" altLang="en-US" sz="2800">
                <a:latin typeface="Times New Roman" panose="02020603050405020304" pitchFamily="18" charset="0"/>
              </a:rPr>
              <a:t>	{</a:t>
            </a:r>
          </a:p>
          <a:p>
            <a:pPr marL="609600" indent="-609600" algn="just" eaLnBrk="1" hangingPunct="1">
              <a:lnSpc>
                <a:spcPct val="90000"/>
              </a:lnSpc>
            </a:pPr>
            <a:r>
              <a:rPr lang="en-US" altLang="en-US" sz="2800">
                <a:latin typeface="Times New Roman" panose="02020603050405020304" pitchFamily="18" charset="0"/>
              </a:rPr>
              <a:t>		……</a:t>
            </a:r>
          </a:p>
          <a:p>
            <a:pPr marL="609600" indent="-609600" algn="just" eaLnBrk="1" hangingPunct="1">
              <a:lnSpc>
                <a:spcPct val="90000"/>
              </a:lnSpc>
            </a:pPr>
            <a:r>
              <a:rPr lang="en-US" altLang="en-US" sz="2800">
                <a:latin typeface="Times New Roman" panose="02020603050405020304" pitchFamily="18" charset="0"/>
              </a:rPr>
              <a:t>	}s1,s2;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BE01DF0E-7B58-D842-3D0E-A45538BE754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52400"/>
            <a:ext cx="7772400" cy="457200"/>
          </a:xfrm>
        </p:spPr>
        <p:txBody>
          <a:bodyPr/>
          <a:lstStyle/>
          <a:p>
            <a:pPr eaLnBrk="1" hangingPunct="1"/>
            <a:r>
              <a:rPr lang="en-US" altLang="en-US" sz="2800">
                <a:solidFill>
                  <a:schemeClr val="accent2"/>
                </a:solidFill>
              </a:rPr>
              <a:t>Accessing class members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32836BE9-F8FE-A89F-78F2-1B67CB0D132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609600"/>
            <a:ext cx="8686800" cy="6019800"/>
          </a:xfrm>
        </p:spPr>
        <p:txBody>
          <a:bodyPr/>
          <a:lstStyle/>
          <a:p>
            <a:pPr marL="609600" indent="-609600" algn="just" eaLnBrk="1" hangingPunct="1">
              <a:buFontTx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Private data of a class can be accessed only through the member functions of that class</a:t>
            </a:r>
          </a:p>
          <a:p>
            <a:pPr marL="609600" indent="-609600" algn="just" eaLnBrk="1" hangingPunct="1">
              <a:buFontTx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Format for calling a member function</a:t>
            </a:r>
          </a:p>
          <a:p>
            <a:pPr marL="609600" indent="-609600" algn="just" eaLnBrk="1" hangingPunct="1"/>
            <a:r>
              <a:rPr lang="en-US" altLang="en-US">
                <a:latin typeface="Times New Roman" panose="02020603050405020304" pitchFamily="18" charset="0"/>
              </a:rPr>
              <a:t>	object-name.function-name(actual-args);</a:t>
            </a:r>
          </a:p>
          <a:p>
            <a:pPr marL="609600" indent="-609600" algn="just" eaLnBrk="1" hangingPunct="1"/>
            <a:r>
              <a:rPr lang="en-US" altLang="en-US">
                <a:latin typeface="Times New Roman" panose="02020603050405020304" pitchFamily="18" charset="0"/>
              </a:rPr>
              <a:t>	eg: s1.getdata(10,”lakshmi”);</a:t>
            </a:r>
          </a:p>
          <a:p>
            <a:pPr marL="609600" indent="-609600" algn="just" eaLnBrk="1" hangingPunct="1">
              <a:buFontTx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We should qualify the function name with object</a:t>
            </a:r>
          </a:p>
          <a:p>
            <a:pPr marL="609600" indent="-609600" algn="just" eaLnBrk="1" hangingPunct="1"/>
            <a:r>
              <a:rPr lang="en-US" altLang="en-US">
                <a:latin typeface="Times New Roman" panose="02020603050405020304" pitchFamily="18" charset="0"/>
              </a:rPr>
              <a:t>	eg:  getdata(10); 		//illegal</a:t>
            </a:r>
          </a:p>
          <a:p>
            <a:pPr marL="609600" indent="-609600" algn="just" eaLnBrk="1" hangingPunct="1"/>
            <a:r>
              <a:rPr lang="en-US" altLang="en-US">
                <a:latin typeface="Times New Roman" panose="02020603050405020304" pitchFamily="18" charset="0"/>
              </a:rPr>
              <a:t>		    s1.rno = 100;		//illegal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C1D987F7-C464-2077-50F9-B9F3908ED89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52400"/>
            <a:ext cx="7772400" cy="457200"/>
          </a:xfrm>
        </p:spPr>
        <p:txBody>
          <a:bodyPr/>
          <a:lstStyle/>
          <a:p>
            <a:pPr eaLnBrk="1" hangingPunct="1"/>
            <a:r>
              <a:rPr lang="en-US" altLang="en-US" sz="3600">
                <a:solidFill>
                  <a:schemeClr val="accent2"/>
                </a:solidFill>
              </a:rPr>
              <a:t>Defining member funcitons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A7DD91AF-CC70-9164-8565-0D212E47CCD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1371600"/>
            <a:ext cx="8686800" cy="6019800"/>
          </a:xfrm>
        </p:spPr>
        <p:txBody>
          <a:bodyPr/>
          <a:lstStyle/>
          <a:p>
            <a:pPr marL="609600" indent="-609600" algn="just" eaLnBrk="1" hangingPunct="1">
              <a:buFontTx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Member functions can be defined in two places:</a:t>
            </a:r>
          </a:p>
          <a:p>
            <a:pPr marL="990600" lvl="1" indent="-533400" algn="just" eaLnBrk="1" hangingPunct="1">
              <a:buFontTx/>
              <a:buAutoNum type="arabicPeriod"/>
            </a:pPr>
            <a:r>
              <a:rPr lang="en-US" altLang="en-US">
                <a:latin typeface="Times New Roman" panose="02020603050405020304" pitchFamily="18" charset="0"/>
              </a:rPr>
              <a:t>Outside the class definition</a:t>
            </a:r>
          </a:p>
          <a:p>
            <a:pPr marL="990600" lvl="1" indent="-533400" algn="just" eaLnBrk="1" hangingPunct="1">
              <a:buFontTx/>
              <a:buAutoNum type="arabicPeriod"/>
            </a:pPr>
            <a:r>
              <a:rPr lang="en-US" altLang="en-US">
                <a:latin typeface="Times New Roman" panose="02020603050405020304" pitchFamily="18" charset="0"/>
              </a:rPr>
              <a:t>Inside the class definition</a:t>
            </a:r>
          </a:p>
          <a:p>
            <a:pPr marL="609600" indent="-609600" algn="just" eaLnBrk="1" hangingPunct="1">
              <a:buFontTx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Irrespective of the place of definition, the function should perform same task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79A0F7E5-F67C-DF82-725F-4B0B5EB12D4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52400"/>
            <a:ext cx="7772400" cy="457200"/>
          </a:xfrm>
        </p:spPr>
        <p:txBody>
          <a:bodyPr/>
          <a:lstStyle/>
          <a:p>
            <a:pPr eaLnBrk="1" hangingPunct="1"/>
            <a:r>
              <a:rPr lang="en-US" altLang="en-US" sz="3600">
                <a:solidFill>
                  <a:schemeClr val="accent2"/>
                </a:solidFill>
                <a:latin typeface="Times New Roman" panose="02020603050405020304" pitchFamily="18" charset="0"/>
              </a:rPr>
              <a:t>Outside the class definition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ECF5F4EB-2E35-4CF0-29A2-F4B3324B6E9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685800"/>
            <a:ext cx="8686800" cy="5943600"/>
          </a:xfrm>
        </p:spPr>
        <p:txBody>
          <a:bodyPr/>
          <a:lstStyle/>
          <a:p>
            <a:pPr marL="609600" indent="-609600" algn="just" eaLnBrk="1" hangingPunct="1">
              <a:lnSpc>
                <a:spcPct val="80000"/>
              </a:lnSpc>
              <a:buFontTx/>
              <a:buChar char="•"/>
            </a:pPr>
            <a:r>
              <a:rPr lang="en-US" altLang="en-US" sz="2400">
                <a:latin typeface="Times New Roman" panose="02020603050405020304" pitchFamily="18" charset="0"/>
              </a:rPr>
              <a:t>A member function should contain membership label ie., identity label in the header</a:t>
            </a:r>
          </a:p>
          <a:p>
            <a:pPr marL="609600" indent="-609600" algn="just" eaLnBrk="1" hangingPunct="1">
              <a:lnSpc>
                <a:spcPct val="80000"/>
              </a:lnSpc>
              <a:buFontTx/>
              <a:buChar char="•"/>
            </a:pPr>
            <a:r>
              <a:rPr lang="en-US" altLang="en-US" sz="2400">
                <a:latin typeface="Times New Roman" panose="02020603050405020304" pitchFamily="18" charset="0"/>
              </a:rPr>
              <a:t>This label tells the compiler which class the function belongs to </a:t>
            </a:r>
          </a:p>
          <a:p>
            <a:pPr marL="609600" indent="-609600" algn="just" eaLnBrk="1" hangingPunct="1">
              <a:lnSpc>
                <a:spcPct val="80000"/>
              </a:lnSpc>
              <a:buFontTx/>
              <a:buChar char="•"/>
            </a:pPr>
            <a:r>
              <a:rPr lang="en-US" altLang="en-US" sz="2400">
                <a:latin typeface="Times New Roman" panose="02020603050405020304" pitchFamily="18" charset="0"/>
              </a:rPr>
              <a:t>General form</a:t>
            </a:r>
          </a:p>
          <a:p>
            <a:pPr marL="609600" indent="-609600" algn="just" eaLnBrk="1" hangingPunct="1">
              <a:lnSpc>
                <a:spcPct val="80000"/>
              </a:lnSpc>
            </a:pPr>
            <a:r>
              <a:rPr lang="en-US" altLang="en-US" sz="2800">
                <a:latin typeface="Times New Roman" panose="02020603050405020304" pitchFamily="18" charset="0"/>
              </a:rPr>
              <a:t>	</a:t>
            </a:r>
            <a:r>
              <a:rPr lang="en-US" altLang="en-US" sz="2400">
                <a:solidFill>
                  <a:schemeClr val="accent2"/>
                </a:solidFill>
                <a:latin typeface="Times New Roman" panose="02020603050405020304" pitchFamily="18" charset="0"/>
              </a:rPr>
              <a:t>return-type class-name :: function-name (argument declaration)</a:t>
            </a:r>
          </a:p>
          <a:p>
            <a:pPr marL="609600" indent="-609600" algn="just" eaLnBrk="1" hangingPunct="1">
              <a:lnSpc>
                <a:spcPct val="80000"/>
              </a:lnSpc>
            </a:pPr>
            <a:r>
              <a:rPr lang="en-US" altLang="en-US" sz="2400">
                <a:solidFill>
                  <a:schemeClr val="accent2"/>
                </a:solidFill>
                <a:latin typeface="Times New Roman" panose="02020603050405020304" pitchFamily="18" charset="0"/>
              </a:rPr>
              <a:t>	{</a:t>
            </a:r>
          </a:p>
          <a:p>
            <a:pPr marL="609600" indent="-609600" algn="just" eaLnBrk="1" hangingPunct="1">
              <a:lnSpc>
                <a:spcPct val="80000"/>
              </a:lnSpc>
            </a:pPr>
            <a:r>
              <a:rPr lang="en-US" altLang="en-US" sz="2400">
                <a:solidFill>
                  <a:schemeClr val="accent2"/>
                </a:solidFill>
                <a:latin typeface="Times New Roman" panose="02020603050405020304" pitchFamily="18" charset="0"/>
              </a:rPr>
              <a:t>		function body</a:t>
            </a:r>
          </a:p>
          <a:p>
            <a:pPr marL="609600" indent="-609600" algn="just" eaLnBrk="1" hangingPunct="1">
              <a:lnSpc>
                <a:spcPct val="80000"/>
              </a:lnSpc>
            </a:pPr>
            <a:r>
              <a:rPr lang="en-US" altLang="en-US" sz="2400">
                <a:solidFill>
                  <a:schemeClr val="accent2"/>
                </a:solidFill>
                <a:latin typeface="Times New Roman" panose="02020603050405020304" pitchFamily="18" charset="0"/>
              </a:rPr>
              <a:t>	}</a:t>
            </a:r>
          </a:p>
          <a:p>
            <a:pPr marL="609600" indent="-609600" algn="just" eaLnBrk="1" hangingPunct="1">
              <a:lnSpc>
                <a:spcPct val="80000"/>
              </a:lnSpc>
              <a:buFontTx/>
              <a:buChar char="•"/>
            </a:pPr>
            <a:r>
              <a:rPr lang="en-US" altLang="en-US" sz="2000">
                <a:latin typeface="Times New Roman" panose="02020603050405020304" pitchFamily="18" charset="0"/>
              </a:rPr>
              <a:t>Scope of the function is restricted to the class-name </a:t>
            </a:r>
          </a:p>
          <a:p>
            <a:pPr marL="990600" lvl="1" indent="-533400" algn="just" eaLnBrk="1" hangingPunct="1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</a:rPr>
              <a:t>void student :: getdata(int r)</a:t>
            </a:r>
          </a:p>
          <a:p>
            <a:pPr marL="990600" lvl="1" indent="-533400" algn="just" eaLnBrk="1" hangingPunct="1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</a:rPr>
              <a:t>{</a:t>
            </a:r>
          </a:p>
          <a:p>
            <a:pPr marL="990600" lvl="1" indent="-533400" algn="just" eaLnBrk="1" hangingPunct="1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</a:rPr>
              <a:t>	rno=r;</a:t>
            </a:r>
          </a:p>
          <a:p>
            <a:pPr marL="990600" lvl="1" indent="-533400" algn="just" eaLnBrk="1" hangingPunct="1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</a:rPr>
              <a:t>}</a:t>
            </a:r>
          </a:p>
          <a:p>
            <a:pPr marL="990600" lvl="1" indent="-533400" algn="just" eaLnBrk="1" hangingPunct="1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</a:rPr>
              <a:t>void student :: putdata(void)</a:t>
            </a:r>
          </a:p>
          <a:p>
            <a:pPr marL="990600" lvl="1" indent="-533400" algn="just" eaLnBrk="1" hangingPunct="1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</a:rPr>
              <a:t>{</a:t>
            </a:r>
          </a:p>
          <a:p>
            <a:pPr marL="990600" lvl="1" indent="-533400" algn="just" eaLnBrk="1" hangingPunct="1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</a:rPr>
              <a:t>	cout &lt;&lt; “Roolno : “ &lt;&lt; rno;</a:t>
            </a:r>
          </a:p>
          <a:p>
            <a:pPr marL="990600" lvl="1" indent="-533400" algn="just" eaLnBrk="1" hangingPunct="1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</a:rPr>
              <a:t>}</a:t>
            </a:r>
          </a:p>
          <a:p>
            <a:pPr marL="609600" indent="-609600" algn="just" eaLnBrk="1" hangingPunct="1">
              <a:lnSpc>
                <a:spcPct val="80000"/>
              </a:lnSpc>
            </a:pPr>
            <a:endParaRPr lang="en-US" altLang="en-US" sz="16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937E380F-4BBA-6EA8-39B1-D6CF36EBB4D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52400"/>
            <a:ext cx="7772400" cy="457200"/>
          </a:xfrm>
        </p:spPr>
        <p:txBody>
          <a:bodyPr/>
          <a:lstStyle/>
          <a:p>
            <a:pPr eaLnBrk="1" hangingPunct="1"/>
            <a:r>
              <a:rPr lang="en-US" altLang="en-US" sz="3600">
                <a:solidFill>
                  <a:schemeClr val="accent2"/>
                </a:solidFill>
                <a:latin typeface="Times New Roman" panose="02020603050405020304" pitchFamily="18" charset="0"/>
              </a:rPr>
              <a:t>Outside the class definition contd..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2DBFDC88-7303-4908-ACAE-4ECA54500D7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685800"/>
            <a:ext cx="8686800" cy="5943600"/>
          </a:xfrm>
        </p:spPr>
        <p:txBody>
          <a:bodyPr/>
          <a:lstStyle/>
          <a:p>
            <a:pPr marL="609600" indent="-609600" algn="just" eaLnBrk="1" hangingPunct="1">
              <a:buFontTx/>
              <a:buChar char="•"/>
            </a:pPr>
            <a:r>
              <a:rPr lang="en-US" altLang="en-US" sz="2800">
                <a:latin typeface="Times New Roman" panose="02020603050405020304" pitchFamily="18" charset="0"/>
              </a:rPr>
              <a:t>Special characteristics of member functions</a:t>
            </a:r>
          </a:p>
          <a:p>
            <a:pPr marL="990600" lvl="1" indent="-533400" algn="just" eaLnBrk="1" hangingPunct="1">
              <a:buFontTx/>
              <a:buAutoNum type="arabicPeriod"/>
            </a:pPr>
            <a:r>
              <a:rPr lang="en-US" altLang="en-US" sz="2400">
                <a:latin typeface="Times New Roman" panose="02020603050405020304" pitchFamily="18" charset="0"/>
              </a:rPr>
              <a:t>Several different classes can use the same function name. the membership label will resolve the scope</a:t>
            </a:r>
          </a:p>
          <a:p>
            <a:pPr marL="990600" lvl="1" indent="-533400" algn="just" eaLnBrk="1" hangingPunct="1">
              <a:buFontTx/>
              <a:buAutoNum type="arabicPeriod"/>
            </a:pPr>
            <a:r>
              <a:rPr lang="en-US" altLang="en-US" sz="2400">
                <a:latin typeface="Times New Roman" panose="02020603050405020304" pitchFamily="18" charset="0"/>
              </a:rPr>
              <a:t>Member functions can access the private data  of the class. A non-member function cannot do so (exception is friend functions)</a:t>
            </a:r>
          </a:p>
          <a:p>
            <a:pPr marL="990600" lvl="1" indent="-533400" algn="just" eaLnBrk="1" hangingPunct="1">
              <a:buFontTx/>
              <a:buAutoNum type="arabicPeriod"/>
            </a:pPr>
            <a:r>
              <a:rPr lang="en-US" altLang="en-US" sz="2400">
                <a:latin typeface="Times New Roman" panose="02020603050405020304" pitchFamily="18" charset="0"/>
              </a:rPr>
              <a:t>A member function can call another member function directly, without using the dot operator </a:t>
            </a:r>
            <a:endParaRPr lang="en-US" altLang="en-US" sz="16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A57FE20D-4FC7-5AFB-B594-936B958D067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52400"/>
            <a:ext cx="7772400" cy="457200"/>
          </a:xfrm>
        </p:spPr>
        <p:txBody>
          <a:bodyPr/>
          <a:lstStyle/>
          <a:p>
            <a:pPr eaLnBrk="1" hangingPunct="1"/>
            <a:r>
              <a:rPr lang="en-US" altLang="en-US" sz="4000">
                <a:solidFill>
                  <a:schemeClr val="accent2"/>
                </a:solidFill>
                <a:latin typeface="Times New Roman" panose="02020603050405020304" pitchFamily="18" charset="0"/>
              </a:rPr>
              <a:t>Inside the class definition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EF132C2D-B635-C211-78A3-93B4EB845B5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685800"/>
            <a:ext cx="8686800" cy="5943600"/>
          </a:xfrm>
        </p:spPr>
        <p:txBody>
          <a:bodyPr/>
          <a:lstStyle/>
          <a:p>
            <a:pPr marL="609600" indent="-609600" algn="just" eaLnBrk="1" hangingPunct="1">
              <a:lnSpc>
                <a:spcPct val="80000"/>
              </a:lnSpc>
              <a:buFontTx/>
              <a:buChar char="•"/>
            </a:pPr>
            <a:r>
              <a:rPr lang="en-US" altLang="en-US" sz="1800">
                <a:latin typeface="Times New Roman" panose="02020603050405020304" pitchFamily="18" charset="0"/>
              </a:rPr>
              <a:t>Replace the function declaration by the actual function definition inside the class</a:t>
            </a:r>
          </a:p>
          <a:p>
            <a:pPr marL="609600" indent="-609600" algn="just" eaLnBrk="1" hangingPunct="1">
              <a:lnSpc>
                <a:spcPct val="80000"/>
              </a:lnSpc>
            </a:pPr>
            <a:r>
              <a:rPr lang="en-US" altLang="en-US" sz="2400">
                <a:solidFill>
                  <a:srgbClr val="CC3300"/>
                </a:solidFill>
                <a:latin typeface="Times New Roman" panose="02020603050405020304" pitchFamily="18" charset="0"/>
              </a:rPr>
              <a:t>class </a:t>
            </a:r>
            <a:r>
              <a:rPr lang="en-US" altLang="en-US" sz="2400">
                <a:latin typeface="Times New Roman" panose="02020603050405020304" pitchFamily="18" charset="0"/>
              </a:rPr>
              <a:t>student</a:t>
            </a:r>
          </a:p>
          <a:p>
            <a:pPr marL="609600" indent="-609600" algn="just" eaLnBrk="1" hangingPunct="1">
              <a:lnSpc>
                <a:spcPct val="80000"/>
              </a:lnSpc>
            </a:pPr>
            <a:r>
              <a:rPr lang="en-US" altLang="en-US" sz="2400">
                <a:latin typeface="Times New Roman" panose="02020603050405020304" pitchFamily="18" charset="0"/>
              </a:rPr>
              <a:t>{</a:t>
            </a:r>
          </a:p>
          <a:p>
            <a:pPr marL="609600" indent="-609600" algn="just" eaLnBrk="1" hangingPunct="1">
              <a:lnSpc>
                <a:spcPct val="80000"/>
              </a:lnSpc>
            </a:pPr>
            <a:r>
              <a:rPr lang="en-US" altLang="en-US" sz="2400">
                <a:latin typeface="Times New Roman" panose="02020603050405020304" pitchFamily="18" charset="0"/>
              </a:rPr>
              <a:t>			int rno;</a:t>
            </a:r>
          </a:p>
          <a:p>
            <a:pPr marL="609600" indent="-609600" algn="just" eaLnBrk="1" hangingPunct="1">
              <a:lnSpc>
                <a:spcPct val="80000"/>
              </a:lnSpc>
            </a:pPr>
            <a:r>
              <a:rPr lang="en-US" altLang="en-US" sz="2400">
                <a:latin typeface="Times New Roman" panose="02020603050405020304" pitchFamily="18" charset="0"/>
              </a:rPr>
              <a:t>		</a:t>
            </a:r>
            <a:r>
              <a:rPr lang="en-US" altLang="en-US" sz="2400">
                <a:solidFill>
                  <a:srgbClr val="CC3300"/>
                </a:solidFill>
                <a:latin typeface="Times New Roman" panose="02020603050405020304" pitchFamily="18" charset="0"/>
              </a:rPr>
              <a:t>public</a:t>
            </a:r>
            <a:r>
              <a:rPr lang="en-US" altLang="en-US" sz="2400">
                <a:latin typeface="Times New Roman" panose="02020603050405020304" pitchFamily="18" charset="0"/>
              </a:rPr>
              <a:t>:</a:t>
            </a:r>
          </a:p>
          <a:p>
            <a:pPr marL="609600" indent="-609600" algn="just" eaLnBrk="1" hangingPunct="1">
              <a:lnSpc>
                <a:spcPct val="80000"/>
              </a:lnSpc>
            </a:pPr>
            <a:r>
              <a:rPr lang="en-US" altLang="en-US" sz="2400">
                <a:latin typeface="Times New Roman" panose="02020603050405020304" pitchFamily="18" charset="0"/>
              </a:rPr>
              <a:t>			void getdata(int r)</a:t>
            </a:r>
          </a:p>
          <a:p>
            <a:pPr marL="990600" lvl="1" indent="-533400" algn="just" eaLnBrk="1" hangingPunct="1">
              <a:lnSpc>
                <a:spcPct val="80000"/>
              </a:lnSpc>
            </a:pPr>
            <a:r>
              <a:rPr lang="en-US" altLang="en-US" sz="2400">
                <a:latin typeface="Times New Roman" panose="02020603050405020304" pitchFamily="18" charset="0"/>
              </a:rPr>
              <a:t>		</a:t>
            </a:r>
            <a:r>
              <a:rPr lang="en-US" altLang="en-US" sz="2000">
                <a:latin typeface="Times New Roman" panose="02020603050405020304" pitchFamily="18" charset="0"/>
              </a:rPr>
              <a:t>{</a:t>
            </a:r>
          </a:p>
          <a:p>
            <a:pPr marL="990600" lvl="1" indent="-533400" algn="just" eaLnBrk="1" hangingPunct="1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</a:rPr>
              <a:t>			rno=r;</a:t>
            </a:r>
          </a:p>
          <a:p>
            <a:pPr marL="990600" lvl="1" indent="-533400" algn="just" eaLnBrk="1" hangingPunct="1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</a:rPr>
              <a:t>		}</a:t>
            </a:r>
          </a:p>
          <a:p>
            <a:pPr marL="609600" indent="-609600" algn="just" eaLnBrk="1" hangingPunct="1">
              <a:lnSpc>
                <a:spcPct val="80000"/>
              </a:lnSpc>
            </a:pPr>
            <a:r>
              <a:rPr lang="en-US" altLang="en-US" sz="2400">
                <a:latin typeface="Times New Roman" panose="02020603050405020304" pitchFamily="18" charset="0"/>
              </a:rPr>
              <a:t>			void putdata(void)</a:t>
            </a:r>
          </a:p>
          <a:p>
            <a:pPr marL="990600" lvl="1" indent="-533400" algn="just" eaLnBrk="1" hangingPunct="1">
              <a:lnSpc>
                <a:spcPct val="80000"/>
              </a:lnSpc>
            </a:pPr>
            <a:r>
              <a:rPr lang="en-US" altLang="en-US" sz="2400">
                <a:latin typeface="Times New Roman" panose="02020603050405020304" pitchFamily="18" charset="0"/>
              </a:rPr>
              <a:t>		{</a:t>
            </a:r>
          </a:p>
          <a:p>
            <a:pPr marL="990600" lvl="1" indent="-533400" algn="just" eaLnBrk="1" hangingPunct="1">
              <a:lnSpc>
                <a:spcPct val="80000"/>
              </a:lnSpc>
            </a:pPr>
            <a:r>
              <a:rPr lang="en-US" altLang="en-US" sz="2400">
                <a:latin typeface="Times New Roman" panose="02020603050405020304" pitchFamily="18" charset="0"/>
              </a:rPr>
              <a:t>			cout &lt;&lt; “Roolno : “ &lt;&lt; rno;</a:t>
            </a:r>
          </a:p>
          <a:p>
            <a:pPr marL="990600" lvl="1" indent="-533400" algn="just" eaLnBrk="1" hangingPunct="1">
              <a:lnSpc>
                <a:spcPct val="80000"/>
              </a:lnSpc>
            </a:pPr>
            <a:r>
              <a:rPr lang="en-US" altLang="en-US" sz="2400">
                <a:latin typeface="Times New Roman" panose="02020603050405020304" pitchFamily="18" charset="0"/>
              </a:rPr>
              <a:t>		}</a:t>
            </a:r>
          </a:p>
          <a:p>
            <a:pPr marL="609600" indent="-609600" algn="just" eaLnBrk="1" hangingPunct="1">
              <a:lnSpc>
                <a:spcPct val="80000"/>
              </a:lnSpc>
            </a:pPr>
            <a:r>
              <a:rPr lang="en-US" altLang="en-US" sz="2400">
                <a:latin typeface="Times New Roman" panose="02020603050405020304" pitchFamily="18" charset="0"/>
              </a:rPr>
              <a:t>};</a:t>
            </a:r>
          </a:p>
          <a:p>
            <a:pPr marL="609600" indent="-609600" algn="just" eaLnBrk="1" hangingPunct="1">
              <a:lnSpc>
                <a:spcPct val="80000"/>
              </a:lnSpc>
              <a:buFontTx/>
              <a:buChar char="•"/>
            </a:pPr>
            <a:r>
              <a:rPr lang="en-US" altLang="en-US" sz="2400">
                <a:latin typeface="Times New Roman" panose="02020603050405020304" pitchFamily="18" charset="0"/>
              </a:rPr>
              <a:t>When a function is defined inside a class, it is treated as inline function</a:t>
            </a:r>
          </a:p>
          <a:p>
            <a:pPr marL="609600" indent="-609600" algn="just" eaLnBrk="1" hangingPunct="1">
              <a:lnSpc>
                <a:spcPct val="80000"/>
              </a:lnSpc>
              <a:buFontTx/>
              <a:buChar char="•"/>
            </a:pPr>
            <a:r>
              <a:rPr lang="en-US" altLang="en-US" sz="2400">
                <a:latin typeface="Times New Roman" panose="02020603050405020304" pitchFamily="18" charset="0"/>
              </a:rPr>
              <a:t>Normally small functions are defined inside the class definition</a:t>
            </a:r>
          </a:p>
          <a:p>
            <a:pPr marL="609600" indent="-609600" algn="just" eaLnBrk="1" hangingPunct="1">
              <a:lnSpc>
                <a:spcPct val="80000"/>
              </a:lnSpc>
              <a:buFontTx/>
              <a:buChar char="•"/>
            </a:pPr>
            <a:endParaRPr lang="en-US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EF941E7A-29CF-E67C-FD8F-3A482B82AE0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52400"/>
            <a:ext cx="7772400" cy="457200"/>
          </a:xfrm>
        </p:spPr>
        <p:txBody>
          <a:bodyPr/>
          <a:lstStyle/>
          <a:p>
            <a:pPr eaLnBrk="1" hangingPunct="1"/>
            <a:r>
              <a:rPr lang="en-US" altLang="en-US" sz="4000">
                <a:solidFill>
                  <a:schemeClr val="accent2"/>
                </a:solidFill>
                <a:latin typeface="Times New Roman" panose="02020603050405020304" pitchFamily="18" charset="0"/>
              </a:rPr>
              <a:t>Private Member Functions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613B08F3-61CD-D6C3-7395-98CF9B65335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685800"/>
            <a:ext cx="8686800" cy="5943600"/>
          </a:xfrm>
        </p:spPr>
        <p:txBody>
          <a:bodyPr/>
          <a:lstStyle/>
          <a:p>
            <a:pPr marL="609600" indent="-609600" algn="just" eaLnBrk="1" hangingPunct="1">
              <a:lnSpc>
                <a:spcPct val="80000"/>
              </a:lnSpc>
              <a:buFontTx/>
              <a:buChar char="•"/>
            </a:pPr>
            <a:r>
              <a:rPr lang="en-US" altLang="en-US" sz="2000">
                <a:latin typeface="Times New Roman" panose="02020603050405020304" pitchFamily="18" charset="0"/>
              </a:rPr>
              <a:t>Although normal practice is to place all the data items in a private section and all the functions in public section, in some situations may require certain functions to be hidden from the outside calls</a:t>
            </a:r>
          </a:p>
          <a:p>
            <a:pPr marL="609600" indent="-609600" algn="just" eaLnBrk="1" hangingPunct="1">
              <a:lnSpc>
                <a:spcPct val="80000"/>
              </a:lnSpc>
              <a:buFontTx/>
              <a:buChar char="•"/>
            </a:pPr>
            <a:r>
              <a:rPr lang="en-US" altLang="en-US" sz="2000">
                <a:latin typeface="Times New Roman" panose="02020603050405020304" pitchFamily="18" charset="0"/>
              </a:rPr>
              <a:t>Eg: providing an increment to an employee etc</a:t>
            </a:r>
          </a:p>
          <a:p>
            <a:pPr marL="609600" indent="-609600" algn="just" eaLnBrk="1" hangingPunct="1">
              <a:lnSpc>
                <a:spcPct val="80000"/>
              </a:lnSpc>
              <a:buFontTx/>
              <a:buChar char="•"/>
            </a:pPr>
            <a:r>
              <a:rPr lang="en-US" altLang="en-US" sz="2000">
                <a:latin typeface="Times New Roman" panose="02020603050405020304" pitchFamily="18" charset="0"/>
              </a:rPr>
              <a:t>A private member function can only be called by another function that is a member of its class</a:t>
            </a:r>
          </a:p>
          <a:p>
            <a:pPr marL="609600" indent="-609600" algn="just" eaLnBrk="1" hangingPunct="1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</a:rPr>
              <a:t>class eg</a:t>
            </a:r>
          </a:p>
          <a:p>
            <a:pPr marL="609600" indent="-609600" algn="just" eaLnBrk="1" hangingPunct="1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</a:rPr>
              <a:t>{</a:t>
            </a:r>
          </a:p>
          <a:p>
            <a:pPr marL="609600" indent="-609600" algn="just" eaLnBrk="1" hangingPunct="1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</a:rPr>
              <a:t>		int i;</a:t>
            </a:r>
          </a:p>
          <a:p>
            <a:pPr marL="609600" indent="-609600" algn="just" eaLnBrk="1" hangingPunct="1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</a:rPr>
              <a:t>		void read(void);</a:t>
            </a:r>
          </a:p>
          <a:p>
            <a:pPr marL="609600" indent="-609600" algn="just" eaLnBrk="1" hangingPunct="1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</a:rPr>
              <a:t>	public:</a:t>
            </a:r>
          </a:p>
          <a:p>
            <a:pPr marL="609600" indent="-609600" algn="just" eaLnBrk="1" hangingPunct="1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</a:rPr>
              <a:t>		void update(void);</a:t>
            </a:r>
          </a:p>
          <a:p>
            <a:pPr marL="609600" indent="-609600" algn="just" eaLnBrk="1" hangingPunct="1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</a:rPr>
              <a:t>		void write(void);</a:t>
            </a:r>
          </a:p>
          <a:p>
            <a:pPr marL="609600" indent="-609600" algn="just" eaLnBrk="1" hangingPunct="1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</a:rPr>
              <a:t>};</a:t>
            </a:r>
          </a:p>
          <a:p>
            <a:pPr marL="609600" indent="-609600" algn="just" eaLnBrk="1" hangingPunct="1">
              <a:lnSpc>
                <a:spcPct val="80000"/>
              </a:lnSpc>
            </a:pPr>
            <a:endParaRPr lang="en-US" altLang="en-US" sz="2000">
              <a:latin typeface="Times New Roman" panose="02020603050405020304" pitchFamily="18" charset="0"/>
            </a:endParaRPr>
          </a:p>
          <a:p>
            <a:pPr marL="609600" indent="-609600" algn="just" eaLnBrk="1" hangingPunct="1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</a:rPr>
              <a:t>s1.read(); 	//illegal, s1 is a object of eg</a:t>
            </a:r>
          </a:p>
          <a:p>
            <a:pPr marL="609600" indent="-609600" algn="just" eaLnBrk="1" hangingPunct="1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</a:rPr>
              <a:t>void eg :: update(void)</a:t>
            </a:r>
          </a:p>
          <a:p>
            <a:pPr marL="609600" indent="-609600" algn="just" eaLnBrk="1" hangingPunct="1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</a:rPr>
              <a:t>{</a:t>
            </a:r>
          </a:p>
          <a:p>
            <a:pPr marL="609600" indent="-609600" algn="just" eaLnBrk="1" hangingPunct="1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</a:rPr>
              <a:t>	read();	//legal</a:t>
            </a:r>
          </a:p>
          <a:p>
            <a:pPr marL="609600" indent="-609600" algn="just" eaLnBrk="1" hangingPunct="1">
              <a:lnSpc>
                <a:spcPct val="80000"/>
              </a:lnSpc>
            </a:pPr>
            <a:r>
              <a:rPr lang="en-US" altLang="en-US" sz="2000">
                <a:latin typeface="Times New Roman" panose="02020603050405020304" pitchFamily="18" charset="0"/>
              </a:rPr>
              <a:t>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0">
            <a:extLst>
              <a:ext uri="{FF2B5EF4-FFF2-40B4-BE49-F238E27FC236}">
                <a16:creationId xmlns:a16="http://schemas.microsoft.com/office/drawing/2014/main" id="{CF9B9B89-FD49-4961-0B7E-6DA0ED365B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447800"/>
            <a:ext cx="7620000" cy="4800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533CB1C1-7965-23C2-FFCA-493AB3378E0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52400"/>
            <a:ext cx="7772400" cy="457200"/>
          </a:xfrm>
        </p:spPr>
        <p:txBody>
          <a:bodyPr/>
          <a:lstStyle/>
          <a:p>
            <a:pPr eaLnBrk="1" hangingPunct="1"/>
            <a:r>
              <a:rPr lang="en-US" altLang="en-US" sz="4000">
                <a:solidFill>
                  <a:schemeClr val="accent2"/>
                </a:solidFill>
                <a:latin typeface="Times New Roman" panose="02020603050405020304" pitchFamily="18" charset="0"/>
              </a:rPr>
              <a:t>Memory allocation for objects</a:t>
            </a:r>
          </a:p>
        </p:txBody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331D4809-B342-DDC6-669E-F918483E9AA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685800"/>
            <a:ext cx="8686800" cy="5943600"/>
          </a:xfrm>
        </p:spPr>
        <p:txBody>
          <a:bodyPr/>
          <a:lstStyle/>
          <a:p>
            <a:pPr marL="609600" indent="-609600" algn="just" eaLnBrk="1" hangingPunct="1">
              <a:lnSpc>
                <a:spcPct val="80000"/>
              </a:lnSpc>
              <a:buFontTx/>
              <a:buChar char="•"/>
            </a:pPr>
            <a:r>
              <a:rPr lang="en-US" altLang="en-US" sz="2000">
                <a:latin typeface="Times New Roman" panose="02020603050405020304" pitchFamily="18" charset="0"/>
              </a:rPr>
              <a:t>Memory space for objects is allocated when they are declared and not when the class is specified</a:t>
            </a:r>
          </a:p>
          <a:p>
            <a:pPr marL="609600" indent="-609600" algn="just" eaLnBrk="1" hangingPunct="1">
              <a:lnSpc>
                <a:spcPct val="80000"/>
              </a:lnSpc>
              <a:buFontTx/>
              <a:buChar char="•"/>
            </a:pPr>
            <a:endParaRPr lang="en-US" altLang="en-US" sz="2000">
              <a:latin typeface="Times New Roman" panose="02020603050405020304" pitchFamily="18" charset="0"/>
            </a:endParaRPr>
          </a:p>
        </p:txBody>
      </p:sp>
      <p:sp>
        <p:nvSpPr>
          <p:cNvPr id="14341" name="Rectangle 4">
            <a:extLst>
              <a:ext uri="{FF2B5EF4-FFF2-40B4-BE49-F238E27FC236}">
                <a16:creationId xmlns:a16="http://schemas.microsoft.com/office/drawing/2014/main" id="{7F5A6453-DFF0-CE3D-FC28-B8F9245659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1981200"/>
            <a:ext cx="1828800" cy="228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600"/>
              <a:t>Member function 1</a:t>
            </a:r>
          </a:p>
        </p:txBody>
      </p:sp>
      <p:sp>
        <p:nvSpPr>
          <p:cNvPr id="14342" name="Rectangle 5">
            <a:extLst>
              <a:ext uri="{FF2B5EF4-FFF2-40B4-BE49-F238E27FC236}">
                <a16:creationId xmlns:a16="http://schemas.microsoft.com/office/drawing/2014/main" id="{B197650E-8F02-C645-8DDA-DD513960D6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2667000"/>
            <a:ext cx="1828800" cy="228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600"/>
              <a:t>Member function 2</a:t>
            </a:r>
          </a:p>
        </p:txBody>
      </p:sp>
      <p:sp>
        <p:nvSpPr>
          <p:cNvPr id="14343" name="Rectangle 6">
            <a:extLst>
              <a:ext uri="{FF2B5EF4-FFF2-40B4-BE49-F238E27FC236}">
                <a16:creationId xmlns:a16="http://schemas.microsoft.com/office/drawing/2014/main" id="{52235CD9-0313-2765-7A4C-B3DBAD0E4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1524000"/>
            <a:ext cx="2438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/>
              <a:t>Common for all objects</a:t>
            </a:r>
          </a:p>
        </p:txBody>
      </p:sp>
      <p:sp>
        <p:nvSpPr>
          <p:cNvPr id="14344" name="Rectangle 7">
            <a:extLst>
              <a:ext uri="{FF2B5EF4-FFF2-40B4-BE49-F238E27FC236}">
                <a16:creationId xmlns:a16="http://schemas.microsoft.com/office/drawing/2014/main" id="{AF6AAED9-E46E-77DA-666A-FEC29AAD4B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2514600"/>
            <a:ext cx="22098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600"/>
              <a:t>Memory created when </a:t>
            </a:r>
          </a:p>
          <a:p>
            <a:pPr algn="ctr"/>
            <a:r>
              <a:rPr lang="en-US" altLang="en-US" sz="1600"/>
              <a:t>functions  defined</a:t>
            </a:r>
          </a:p>
        </p:txBody>
      </p:sp>
      <p:sp>
        <p:nvSpPr>
          <p:cNvPr id="14345" name="Rectangle 8">
            <a:extLst>
              <a:ext uri="{FF2B5EF4-FFF2-40B4-BE49-F238E27FC236}">
                <a16:creationId xmlns:a16="http://schemas.microsoft.com/office/drawing/2014/main" id="{D3885669-CAEE-FD96-712C-404833D15D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3810000"/>
            <a:ext cx="1828800" cy="228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600"/>
              <a:t>Member variable 1</a:t>
            </a:r>
          </a:p>
        </p:txBody>
      </p:sp>
      <p:sp>
        <p:nvSpPr>
          <p:cNvPr id="14346" name="Rectangle 9">
            <a:extLst>
              <a:ext uri="{FF2B5EF4-FFF2-40B4-BE49-F238E27FC236}">
                <a16:creationId xmlns:a16="http://schemas.microsoft.com/office/drawing/2014/main" id="{ADC1525B-EA10-63C9-1FEC-781F094382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4495800"/>
            <a:ext cx="1828800" cy="228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600"/>
              <a:t>Member variable 2</a:t>
            </a:r>
          </a:p>
        </p:txBody>
      </p:sp>
      <p:sp>
        <p:nvSpPr>
          <p:cNvPr id="14347" name="Rectangle 10">
            <a:extLst>
              <a:ext uri="{FF2B5EF4-FFF2-40B4-BE49-F238E27FC236}">
                <a16:creationId xmlns:a16="http://schemas.microsoft.com/office/drawing/2014/main" id="{9546A617-1751-507B-6E08-A4C5F506B8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3810000"/>
            <a:ext cx="1828800" cy="228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600"/>
              <a:t>Member variable 1</a:t>
            </a:r>
          </a:p>
        </p:txBody>
      </p:sp>
      <p:sp>
        <p:nvSpPr>
          <p:cNvPr id="14348" name="Rectangle 11">
            <a:extLst>
              <a:ext uri="{FF2B5EF4-FFF2-40B4-BE49-F238E27FC236}">
                <a16:creationId xmlns:a16="http://schemas.microsoft.com/office/drawing/2014/main" id="{64A27079-FA3B-D6CA-C59E-16B9A60692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4495800"/>
            <a:ext cx="1828800" cy="228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600"/>
              <a:t>Member variable 2</a:t>
            </a:r>
          </a:p>
        </p:txBody>
      </p:sp>
      <p:sp>
        <p:nvSpPr>
          <p:cNvPr id="14349" name="Rectangle 14">
            <a:extLst>
              <a:ext uri="{FF2B5EF4-FFF2-40B4-BE49-F238E27FC236}">
                <a16:creationId xmlns:a16="http://schemas.microsoft.com/office/drawing/2014/main" id="{B928E9DA-A826-A5F9-78E2-F11C7C55CD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3429000"/>
            <a:ext cx="10668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600"/>
              <a:t>Object1</a:t>
            </a:r>
          </a:p>
        </p:txBody>
      </p:sp>
      <p:sp>
        <p:nvSpPr>
          <p:cNvPr id="14350" name="Rectangle 15">
            <a:extLst>
              <a:ext uri="{FF2B5EF4-FFF2-40B4-BE49-F238E27FC236}">
                <a16:creationId xmlns:a16="http://schemas.microsoft.com/office/drawing/2014/main" id="{97152456-B700-7296-8678-482A1ECBC1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3429000"/>
            <a:ext cx="10668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600"/>
              <a:t>Object2</a:t>
            </a:r>
          </a:p>
        </p:txBody>
      </p:sp>
      <p:sp>
        <p:nvSpPr>
          <p:cNvPr id="14351" name="Rectangle 16">
            <a:extLst>
              <a:ext uri="{FF2B5EF4-FFF2-40B4-BE49-F238E27FC236}">
                <a16:creationId xmlns:a16="http://schemas.microsoft.com/office/drawing/2014/main" id="{A58FEF0A-7DF3-6723-3CF0-CFAA0C5A6A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3429000"/>
            <a:ext cx="10668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600"/>
              <a:t>Object3</a:t>
            </a:r>
          </a:p>
        </p:txBody>
      </p:sp>
      <p:sp>
        <p:nvSpPr>
          <p:cNvPr id="14352" name="Rectangle 17">
            <a:extLst>
              <a:ext uri="{FF2B5EF4-FFF2-40B4-BE49-F238E27FC236}">
                <a16:creationId xmlns:a16="http://schemas.microsoft.com/office/drawing/2014/main" id="{1DD1D4D7-937E-33A3-96A8-B927696CDE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3810000"/>
            <a:ext cx="1828800" cy="228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600"/>
              <a:t>Member variable 1</a:t>
            </a:r>
          </a:p>
        </p:txBody>
      </p:sp>
      <p:sp>
        <p:nvSpPr>
          <p:cNvPr id="14353" name="Rectangle 18">
            <a:extLst>
              <a:ext uri="{FF2B5EF4-FFF2-40B4-BE49-F238E27FC236}">
                <a16:creationId xmlns:a16="http://schemas.microsoft.com/office/drawing/2014/main" id="{4C0FECB6-3BCC-02B3-D732-F5D9B06C9A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4495800"/>
            <a:ext cx="1828800" cy="228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600"/>
              <a:t>Member variable 2</a:t>
            </a:r>
          </a:p>
        </p:txBody>
      </p:sp>
      <p:sp>
        <p:nvSpPr>
          <p:cNvPr id="14354" name="Rectangle 19">
            <a:extLst>
              <a:ext uri="{FF2B5EF4-FFF2-40B4-BE49-F238E27FC236}">
                <a16:creationId xmlns:a16="http://schemas.microsoft.com/office/drawing/2014/main" id="{FF454AC1-C5BB-101C-4A8A-5EB31AE8DB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5029200"/>
            <a:ext cx="22098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600"/>
              <a:t>Memory created when </a:t>
            </a:r>
          </a:p>
          <a:p>
            <a:pPr algn="ctr"/>
            <a:r>
              <a:rPr lang="en-US" altLang="en-US" sz="1600"/>
              <a:t>objects  defined</a:t>
            </a:r>
          </a:p>
        </p:txBody>
      </p:sp>
      <p:sp>
        <p:nvSpPr>
          <p:cNvPr id="14355" name="Line 21">
            <a:extLst>
              <a:ext uri="{FF2B5EF4-FFF2-40B4-BE49-F238E27FC236}">
                <a16:creationId xmlns:a16="http://schemas.microsoft.com/office/drawing/2014/main" id="{116B0F89-9411-81AC-D30D-571E3CA7999B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" y="3276600"/>
            <a:ext cx="7620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1165</TotalTime>
  <Words>995</Words>
  <Application>Microsoft Office PowerPoint</Application>
  <PresentationFormat>On-screen Show (4:3)</PresentationFormat>
  <Paragraphs>166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Times New Roman</vt:lpstr>
      <vt:lpstr>Default Design</vt:lpstr>
      <vt:lpstr>Classes and Objects</vt:lpstr>
      <vt:lpstr>PowerPoint Presentation</vt:lpstr>
      <vt:lpstr>PowerPoint Presentation</vt:lpstr>
      <vt:lpstr>PowerPoint Presentation</vt:lpstr>
      <vt:lpstr>PowerPoint Presentation</vt:lpstr>
      <vt:lpstr>Creating Objects</vt:lpstr>
      <vt:lpstr>Accessing class members</vt:lpstr>
      <vt:lpstr>Defining member funcitons</vt:lpstr>
      <vt:lpstr>Outside the class definition</vt:lpstr>
      <vt:lpstr>Outside the class definition contd..</vt:lpstr>
      <vt:lpstr>Inside the class definition</vt:lpstr>
      <vt:lpstr>Private Member Functions</vt:lpstr>
      <vt:lpstr>Memory allocation for objects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S Bhavani</cp:lastModifiedBy>
  <cp:revision>604</cp:revision>
  <cp:lastPrinted>1601-01-01T00:00:00Z</cp:lastPrinted>
  <dcterms:created xsi:type="dcterms:W3CDTF">1601-01-01T00:00:00Z</dcterms:created>
  <dcterms:modified xsi:type="dcterms:W3CDTF">2026-04-07T06:27:04Z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