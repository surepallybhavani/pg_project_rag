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276" r:id="rId3"/>
    <p:sldId id="282" r:id="rId4"/>
    <p:sldId id="283" r:id="rId5"/>
    <p:sldId id="284" r:id="rId6"/>
    <p:sldId id="285" r:id="rId7"/>
    <p:sldId id="286" r:id="rId8"/>
    <p:sldId id="287" r:id="rId9"/>
    <p:sldId id="288" r:id="rId10"/>
    <p:sldId id="289" r:id="rId11"/>
    <p:sldId id="290" r:id="rId12"/>
    <p:sldId id="291" r:id="rId13"/>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CC"/>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069" autoAdjust="0"/>
  </p:normalViewPr>
  <p:slideViewPr>
    <p:cSldViewPr>
      <p:cViewPr varScale="1">
        <p:scale>
          <a:sx n="76" d="100"/>
          <a:sy n="76" d="100"/>
        </p:scale>
        <p:origin x="164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D115A650-A9D6-796A-006A-2BF3676E212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1B514A5-F251-BFDA-041E-250F7C51F23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FCE9C34-AA05-B4E4-793F-0CE657A88D6C}"/>
              </a:ext>
            </a:extLst>
          </p:cNvPr>
          <p:cNvSpPr>
            <a:spLocks noGrp="1" noChangeArrowheads="1"/>
          </p:cNvSpPr>
          <p:nvPr>
            <p:ph type="sldNum" sz="quarter" idx="12"/>
          </p:nvPr>
        </p:nvSpPr>
        <p:spPr>
          <a:ln/>
        </p:spPr>
        <p:txBody>
          <a:bodyPr/>
          <a:lstStyle>
            <a:lvl1pPr>
              <a:defRPr/>
            </a:lvl1pPr>
          </a:lstStyle>
          <a:p>
            <a:fld id="{997921FB-3871-4E4A-96D5-4D0D917CCB9F}" type="slidenum">
              <a:rPr lang="en-US" altLang="en-US"/>
              <a:pPr/>
              <a:t>‹#›</a:t>
            </a:fld>
            <a:endParaRPr lang="en-US" altLang="en-US"/>
          </a:p>
        </p:txBody>
      </p:sp>
    </p:spTree>
    <p:extLst>
      <p:ext uri="{BB962C8B-B14F-4D97-AF65-F5344CB8AC3E}">
        <p14:creationId xmlns:p14="http://schemas.microsoft.com/office/powerpoint/2010/main" val="2924591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B127DEE-BCD3-B274-8337-55A55190D5B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AB689E4-22BB-B9B1-9A84-6C27AAB685C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97EC49D-0CA8-3117-FED4-A0CB10272805}"/>
              </a:ext>
            </a:extLst>
          </p:cNvPr>
          <p:cNvSpPr>
            <a:spLocks noGrp="1" noChangeArrowheads="1"/>
          </p:cNvSpPr>
          <p:nvPr>
            <p:ph type="sldNum" sz="quarter" idx="12"/>
          </p:nvPr>
        </p:nvSpPr>
        <p:spPr>
          <a:ln/>
        </p:spPr>
        <p:txBody>
          <a:bodyPr/>
          <a:lstStyle>
            <a:lvl1pPr>
              <a:defRPr/>
            </a:lvl1pPr>
          </a:lstStyle>
          <a:p>
            <a:fld id="{31FE9A80-27C1-4421-95B8-8F61576AD5E2}" type="slidenum">
              <a:rPr lang="en-US" altLang="en-US"/>
              <a:pPr/>
              <a:t>‹#›</a:t>
            </a:fld>
            <a:endParaRPr lang="en-US" altLang="en-US"/>
          </a:p>
        </p:txBody>
      </p:sp>
    </p:spTree>
    <p:extLst>
      <p:ext uri="{BB962C8B-B14F-4D97-AF65-F5344CB8AC3E}">
        <p14:creationId xmlns:p14="http://schemas.microsoft.com/office/powerpoint/2010/main" val="4235576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931DC05-9EC7-5D0B-F5CA-7376CC54BB2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A853088-DD69-32CE-A838-777157C1A8F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A399E5F-8E43-D662-FB86-FF3E3E3BA21E}"/>
              </a:ext>
            </a:extLst>
          </p:cNvPr>
          <p:cNvSpPr>
            <a:spLocks noGrp="1" noChangeArrowheads="1"/>
          </p:cNvSpPr>
          <p:nvPr>
            <p:ph type="sldNum" sz="quarter" idx="12"/>
          </p:nvPr>
        </p:nvSpPr>
        <p:spPr>
          <a:ln/>
        </p:spPr>
        <p:txBody>
          <a:bodyPr/>
          <a:lstStyle>
            <a:lvl1pPr>
              <a:defRPr/>
            </a:lvl1pPr>
          </a:lstStyle>
          <a:p>
            <a:fld id="{82F67F87-59D6-40F2-8D12-A61E0D2BF211}" type="slidenum">
              <a:rPr lang="en-US" altLang="en-US"/>
              <a:pPr/>
              <a:t>‹#›</a:t>
            </a:fld>
            <a:endParaRPr lang="en-US" altLang="en-US"/>
          </a:p>
        </p:txBody>
      </p:sp>
    </p:spTree>
    <p:extLst>
      <p:ext uri="{BB962C8B-B14F-4D97-AF65-F5344CB8AC3E}">
        <p14:creationId xmlns:p14="http://schemas.microsoft.com/office/powerpoint/2010/main" val="3607914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1C26468-9204-05DD-D5FA-496B55487D1E}"/>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D19A509-EC5A-F333-EF16-EDCED850ABC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8F0357F-6EBC-3E31-102E-965111779BF3}"/>
              </a:ext>
            </a:extLst>
          </p:cNvPr>
          <p:cNvSpPr>
            <a:spLocks noGrp="1" noChangeArrowheads="1"/>
          </p:cNvSpPr>
          <p:nvPr>
            <p:ph type="sldNum" sz="quarter" idx="12"/>
          </p:nvPr>
        </p:nvSpPr>
        <p:spPr>
          <a:ln/>
        </p:spPr>
        <p:txBody>
          <a:bodyPr/>
          <a:lstStyle>
            <a:lvl1pPr>
              <a:defRPr/>
            </a:lvl1pPr>
          </a:lstStyle>
          <a:p>
            <a:fld id="{769F8B98-E491-47E8-96F9-955E16E60673}" type="slidenum">
              <a:rPr lang="en-US" altLang="en-US"/>
              <a:pPr/>
              <a:t>‹#›</a:t>
            </a:fld>
            <a:endParaRPr lang="en-US" altLang="en-US"/>
          </a:p>
        </p:txBody>
      </p:sp>
    </p:spTree>
    <p:extLst>
      <p:ext uri="{BB962C8B-B14F-4D97-AF65-F5344CB8AC3E}">
        <p14:creationId xmlns:p14="http://schemas.microsoft.com/office/powerpoint/2010/main" val="1565271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A09B0036-5680-3981-C7FE-1BE47FD8410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296E4C54-669E-2A08-CE4E-BF4C9C5486D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A0F7979A-E9BC-3284-618D-A85E949A2B8C}"/>
              </a:ext>
            </a:extLst>
          </p:cNvPr>
          <p:cNvSpPr>
            <a:spLocks noGrp="1" noChangeArrowheads="1"/>
          </p:cNvSpPr>
          <p:nvPr>
            <p:ph type="sldNum" sz="quarter" idx="12"/>
          </p:nvPr>
        </p:nvSpPr>
        <p:spPr>
          <a:ln/>
        </p:spPr>
        <p:txBody>
          <a:bodyPr/>
          <a:lstStyle>
            <a:lvl1pPr>
              <a:defRPr/>
            </a:lvl1pPr>
          </a:lstStyle>
          <a:p>
            <a:fld id="{C6563823-0BE9-4A86-8F19-ED84F16F67B0}" type="slidenum">
              <a:rPr lang="en-US" altLang="en-US"/>
              <a:pPr/>
              <a:t>‹#›</a:t>
            </a:fld>
            <a:endParaRPr lang="en-US" altLang="en-US"/>
          </a:p>
        </p:txBody>
      </p:sp>
    </p:spTree>
    <p:extLst>
      <p:ext uri="{BB962C8B-B14F-4D97-AF65-F5344CB8AC3E}">
        <p14:creationId xmlns:p14="http://schemas.microsoft.com/office/powerpoint/2010/main" val="22355554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3B5ED085-9856-DB77-B9AD-3B9679668814}"/>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4C4EFCEE-00D1-AEE1-3083-C6CE408874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3B584BD7-CDE5-CB9F-F45E-6A041BB63249}"/>
              </a:ext>
            </a:extLst>
          </p:cNvPr>
          <p:cNvSpPr>
            <a:spLocks noGrp="1" noChangeArrowheads="1"/>
          </p:cNvSpPr>
          <p:nvPr>
            <p:ph type="sldNum" sz="quarter" idx="12"/>
          </p:nvPr>
        </p:nvSpPr>
        <p:spPr>
          <a:ln/>
        </p:spPr>
        <p:txBody>
          <a:bodyPr/>
          <a:lstStyle>
            <a:lvl1pPr>
              <a:defRPr/>
            </a:lvl1pPr>
          </a:lstStyle>
          <a:p>
            <a:fld id="{5C978064-372F-4562-A309-766AC19B5BA5}" type="slidenum">
              <a:rPr lang="en-US" altLang="en-US"/>
              <a:pPr/>
              <a:t>‹#›</a:t>
            </a:fld>
            <a:endParaRPr lang="en-US" altLang="en-US"/>
          </a:p>
        </p:txBody>
      </p:sp>
    </p:spTree>
    <p:extLst>
      <p:ext uri="{BB962C8B-B14F-4D97-AF65-F5344CB8AC3E}">
        <p14:creationId xmlns:p14="http://schemas.microsoft.com/office/powerpoint/2010/main" val="4054984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2C48009-739E-6273-5695-5C97768C6D4E}"/>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14849375-FD72-1A0E-D0F6-881C1887B29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18F35740-3607-C153-9A91-9E5CFD0810A1}"/>
              </a:ext>
            </a:extLst>
          </p:cNvPr>
          <p:cNvSpPr>
            <a:spLocks noGrp="1" noChangeArrowheads="1"/>
          </p:cNvSpPr>
          <p:nvPr>
            <p:ph type="sldNum" sz="quarter" idx="12"/>
          </p:nvPr>
        </p:nvSpPr>
        <p:spPr>
          <a:ln/>
        </p:spPr>
        <p:txBody>
          <a:bodyPr/>
          <a:lstStyle>
            <a:lvl1pPr>
              <a:defRPr/>
            </a:lvl1pPr>
          </a:lstStyle>
          <a:p>
            <a:fld id="{218B9A56-C5AF-4163-9056-8D83481C7299}" type="slidenum">
              <a:rPr lang="en-US" altLang="en-US"/>
              <a:pPr/>
              <a:t>‹#›</a:t>
            </a:fld>
            <a:endParaRPr lang="en-US" altLang="en-US"/>
          </a:p>
        </p:txBody>
      </p:sp>
    </p:spTree>
    <p:extLst>
      <p:ext uri="{BB962C8B-B14F-4D97-AF65-F5344CB8AC3E}">
        <p14:creationId xmlns:p14="http://schemas.microsoft.com/office/powerpoint/2010/main" val="1124028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38BB817-C3FB-ECAA-EC18-5FE95CF648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5BD88BF-10EE-01EA-ED20-5DE27AF828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F54C2E97-935B-B2F0-6073-18C7AA2DD3BD}"/>
              </a:ext>
            </a:extLst>
          </p:cNvPr>
          <p:cNvSpPr>
            <a:spLocks noGrp="1" noChangeArrowheads="1"/>
          </p:cNvSpPr>
          <p:nvPr>
            <p:ph type="sldNum" sz="quarter" idx="12"/>
          </p:nvPr>
        </p:nvSpPr>
        <p:spPr>
          <a:ln/>
        </p:spPr>
        <p:txBody>
          <a:bodyPr/>
          <a:lstStyle>
            <a:lvl1pPr>
              <a:defRPr/>
            </a:lvl1pPr>
          </a:lstStyle>
          <a:p>
            <a:fld id="{3F66982E-C04B-4C17-A93B-0E20DB85A930}" type="slidenum">
              <a:rPr lang="en-US" altLang="en-US"/>
              <a:pPr/>
              <a:t>‹#›</a:t>
            </a:fld>
            <a:endParaRPr lang="en-US" altLang="en-US"/>
          </a:p>
        </p:txBody>
      </p:sp>
    </p:spTree>
    <p:extLst>
      <p:ext uri="{BB962C8B-B14F-4D97-AF65-F5344CB8AC3E}">
        <p14:creationId xmlns:p14="http://schemas.microsoft.com/office/powerpoint/2010/main" val="547388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CA7FEE94-6F44-BD0F-2457-9CBDD53122F3}"/>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AF5F2A2-A3DD-380D-38C3-E81CB50976E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D8681A2-BA77-302B-BE88-62EEAE8B3A0D}"/>
              </a:ext>
            </a:extLst>
          </p:cNvPr>
          <p:cNvSpPr>
            <a:spLocks noGrp="1" noChangeArrowheads="1"/>
          </p:cNvSpPr>
          <p:nvPr>
            <p:ph type="sldNum" sz="quarter" idx="12"/>
          </p:nvPr>
        </p:nvSpPr>
        <p:spPr>
          <a:ln/>
        </p:spPr>
        <p:txBody>
          <a:bodyPr/>
          <a:lstStyle>
            <a:lvl1pPr>
              <a:defRPr/>
            </a:lvl1pPr>
          </a:lstStyle>
          <a:p>
            <a:fld id="{F4E94D4A-122A-4921-9887-DFCB9E8DDDDC}" type="slidenum">
              <a:rPr lang="en-US" altLang="en-US"/>
              <a:pPr/>
              <a:t>‹#›</a:t>
            </a:fld>
            <a:endParaRPr lang="en-US" altLang="en-US"/>
          </a:p>
        </p:txBody>
      </p:sp>
    </p:spTree>
    <p:extLst>
      <p:ext uri="{BB962C8B-B14F-4D97-AF65-F5344CB8AC3E}">
        <p14:creationId xmlns:p14="http://schemas.microsoft.com/office/powerpoint/2010/main" val="3931395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5D80501-6B14-6CC7-677A-CE69E2777DE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50846B0-EB90-091C-DECF-9273F191E77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579EB92-D74A-5968-FE11-FA3237289010}"/>
              </a:ext>
            </a:extLst>
          </p:cNvPr>
          <p:cNvSpPr>
            <a:spLocks noGrp="1" noChangeArrowheads="1"/>
          </p:cNvSpPr>
          <p:nvPr>
            <p:ph type="sldNum" sz="quarter" idx="12"/>
          </p:nvPr>
        </p:nvSpPr>
        <p:spPr>
          <a:ln/>
        </p:spPr>
        <p:txBody>
          <a:bodyPr/>
          <a:lstStyle>
            <a:lvl1pPr>
              <a:defRPr/>
            </a:lvl1pPr>
          </a:lstStyle>
          <a:p>
            <a:fld id="{C7FF83E5-0B96-4D4B-963A-9FC0BDE22290}" type="slidenum">
              <a:rPr lang="en-US" altLang="en-US"/>
              <a:pPr/>
              <a:t>‹#›</a:t>
            </a:fld>
            <a:endParaRPr lang="en-US" altLang="en-US"/>
          </a:p>
        </p:txBody>
      </p:sp>
    </p:spTree>
    <p:extLst>
      <p:ext uri="{BB962C8B-B14F-4D97-AF65-F5344CB8AC3E}">
        <p14:creationId xmlns:p14="http://schemas.microsoft.com/office/powerpoint/2010/main" val="21437974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03A845F-8803-1A0D-383C-BDB3B7FBFCE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EEFF0FD-621E-0356-72D3-CF89BFD8472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C9E8B63-E196-EA42-E481-AA0503466E2B}"/>
              </a:ext>
            </a:extLst>
          </p:cNvPr>
          <p:cNvSpPr>
            <a:spLocks noGrp="1" noChangeArrowheads="1"/>
          </p:cNvSpPr>
          <p:nvPr>
            <p:ph type="sldNum" sz="quarter" idx="12"/>
          </p:nvPr>
        </p:nvSpPr>
        <p:spPr>
          <a:ln/>
        </p:spPr>
        <p:txBody>
          <a:bodyPr/>
          <a:lstStyle>
            <a:lvl1pPr>
              <a:defRPr/>
            </a:lvl1pPr>
          </a:lstStyle>
          <a:p>
            <a:fld id="{E31877A7-0257-41CF-9516-B31391B799B9}" type="slidenum">
              <a:rPr lang="en-US" altLang="en-US"/>
              <a:pPr/>
              <a:t>‹#›</a:t>
            </a:fld>
            <a:endParaRPr lang="en-US" altLang="en-US"/>
          </a:p>
        </p:txBody>
      </p:sp>
    </p:spTree>
    <p:extLst>
      <p:ext uri="{BB962C8B-B14F-4D97-AF65-F5344CB8AC3E}">
        <p14:creationId xmlns:p14="http://schemas.microsoft.com/office/powerpoint/2010/main" val="2253938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393B3B7-E9F2-7578-D136-5C1B07D07D24}"/>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64FC8D97-63FF-2D0D-5630-BEDAE2233683}"/>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B9E0DCD2-2B93-9C6B-D9F1-2A32D23A47D4}"/>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en-US"/>
          </a:p>
        </p:txBody>
      </p:sp>
      <p:sp>
        <p:nvSpPr>
          <p:cNvPr id="1029" name="Rectangle 5">
            <a:extLst>
              <a:ext uri="{FF2B5EF4-FFF2-40B4-BE49-F238E27FC236}">
                <a16:creationId xmlns:a16="http://schemas.microsoft.com/office/drawing/2014/main" id="{18E8EED8-A7E1-EE31-1836-0784969054D1}"/>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p>
        </p:txBody>
      </p:sp>
      <p:sp>
        <p:nvSpPr>
          <p:cNvPr id="1030" name="Rectangle 6">
            <a:extLst>
              <a:ext uri="{FF2B5EF4-FFF2-40B4-BE49-F238E27FC236}">
                <a16:creationId xmlns:a16="http://schemas.microsoft.com/office/drawing/2014/main" id="{20E09D7A-BA7C-89B6-C47B-0DE537DD8827}"/>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FD42B583-069E-4951-9627-A9681B5E1A9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4">
            <a:extLst>
              <a:ext uri="{FF2B5EF4-FFF2-40B4-BE49-F238E27FC236}">
                <a16:creationId xmlns:a16="http://schemas.microsoft.com/office/drawing/2014/main" id="{0EADF883-E269-41E1-0171-C30D02CEE6AF}"/>
              </a:ext>
            </a:extLst>
          </p:cNvPr>
          <p:cNvSpPr>
            <a:spLocks noGrp="1" noChangeArrowheads="1"/>
          </p:cNvSpPr>
          <p:nvPr>
            <p:ph type="ctrTitle"/>
          </p:nvPr>
        </p:nvSpPr>
        <p:spPr/>
        <p:txBody>
          <a:bodyPr/>
          <a:lstStyle/>
          <a:p>
            <a:pPr eaLnBrk="1" hangingPunct="1"/>
            <a:r>
              <a:rPr lang="en-US" altLang="en-US"/>
              <a:t>Inheritance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2DF861E-F141-B9CD-E770-9187D5A5DFB2}"/>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Inheritance</a:t>
            </a:r>
          </a:p>
        </p:txBody>
      </p:sp>
      <p:sp>
        <p:nvSpPr>
          <p:cNvPr id="3075" name="Rectangle 3">
            <a:extLst>
              <a:ext uri="{FF2B5EF4-FFF2-40B4-BE49-F238E27FC236}">
                <a16:creationId xmlns:a16="http://schemas.microsoft.com/office/drawing/2014/main" id="{7172305C-C698-3E93-C847-EFC719EC96FD}"/>
              </a:ext>
            </a:extLst>
          </p:cNvPr>
          <p:cNvSpPr>
            <a:spLocks noGrp="1" noChangeArrowheads="1"/>
          </p:cNvSpPr>
          <p:nvPr>
            <p:ph type="subTitle" idx="1"/>
          </p:nvPr>
        </p:nvSpPr>
        <p:spPr>
          <a:xfrm>
            <a:off x="228600" y="609600"/>
            <a:ext cx="8686800" cy="6019800"/>
          </a:xfrm>
        </p:spPr>
        <p:txBody>
          <a:bodyPr/>
          <a:lstStyle/>
          <a:p>
            <a:pPr algn="just" eaLnBrk="1" hangingPunct="1">
              <a:buFontTx/>
              <a:buChar char="•"/>
            </a:pPr>
            <a:r>
              <a:rPr lang="en-US" altLang="en-US" sz="2800">
                <a:latin typeface="Times New Roman" panose="02020603050405020304" pitchFamily="18" charset="0"/>
              </a:rPr>
              <a:t>Once a class has been written and tested, it can be adapted by other programmers to suit their requirements</a:t>
            </a:r>
          </a:p>
          <a:p>
            <a:pPr algn="just" eaLnBrk="1" hangingPunct="1">
              <a:buFontTx/>
              <a:buChar char="•"/>
            </a:pPr>
            <a:r>
              <a:rPr lang="en-US" altLang="en-US" sz="2800">
                <a:latin typeface="Times New Roman" panose="02020603050405020304" pitchFamily="18" charset="0"/>
              </a:rPr>
              <a:t>This is done by creating new classes, reusing the properties of the existing ones</a:t>
            </a:r>
          </a:p>
          <a:p>
            <a:pPr algn="just" eaLnBrk="1" hangingPunct="1">
              <a:buFontTx/>
              <a:buChar char="•"/>
            </a:pPr>
            <a:r>
              <a:rPr lang="en-US" altLang="en-US" sz="2800">
                <a:latin typeface="Times New Roman" panose="02020603050405020304" pitchFamily="18" charset="0"/>
              </a:rPr>
              <a:t>The mechanism of deriving a new class from an old one is called </a:t>
            </a:r>
            <a:r>
              <a:rPr lang="en-US" altLang="en-US" sz="2800">
                <a:solidFill>
                  <a:srgbClr val="0066CC"/>
                </a:solidFill>
                <a:latin typeface="Times New Roman" panose="02020603050405020304" pitchFamily="18" charset="0"/>
              </a:rPr>
              <a:t>inheritance or derivation</a:t>
            </a:r>
          </a:p>
          <a:p>
            <a:pPr algn="just" eaLnBrk="1" hangingPunct="1">
              <a:buFontTx/>
              <a:buChar char="•"/>
            </a:pPr>
            <a:r>
              <a:rPr lang="en-US" altLang="en-US" sz="2800">
                <a:latin typeface="Times New Roman" panose="02020603050405020304" pitchFamily="18" charset="0"/>
              </a:rPr>
              <a:t>The </a:t>
            </a:r>
            <a:r>
              <a:rPr lang="en-US" altLang="en-US" sz="2800">
                <a:solidFill>
                  <a:srgbClr val="0066CC"/>
                </a:solidFill>
                <a:latin typeface="Times New Roman" panose="02020603050405020304" pitchFamily="18" charset="0"/>
              </a:rPr>
              <a:t>old class </a:t>
            </a:r>
            <a:r>
              <a:rPr lang="en-US" altLang="en-US" sz="2800">
                <a:latin typeface="Times New Roman" panose="02020603050405020304" pitchFamily="18" charset="0"/>
              </a:rPr>
              <a:t>is referred as </a:t>
            </a:r>
            <a:r>
              <a:rPr lang="en-US" altLang="en-US" sz="2800">
                <a:solidFill>
                  <a:srgbClr val="0066CC"/>
                </a:solidFill>
                <a:latin typeface="Times New Roman" panose="02020603050405020304" pitchFamily="18" charset="0"/>
              </a:rPr>
              <a:t>base class </a:t>
            </a:r>
            <a:r>
              <a:rPr lang="en-US" altLang="en-US" sz="2800">
                <a:latin typeface="Times New Roman" panose="02020603050405020304" pitchFamily="18" charset="0"/>
              </a:rPr>
              <a:t>and </a:t>
            </a:r>
            <a:r>
              <a:rPr lang="en-US" altLang="en-US" sz="2800">
                <a:solidFill>
                  <a:srgbClr val="0066CC"/>
                </a:solidFill>
                <a:latin typeface="Times New Roman" panose="02020603050405020304" pitchFamily="18" charset="0"/>
              </a:rPr>
              <a:t>new one </a:t>
            </a:r>
            <a:r>
              <a:rPr lang="en-US" altLang="en-US" sz="2800">
                <a:latin typeface="Times New Roman" panose="02020603050405020304" pitchFamily="18" charset="0"/>
              </a:rPr>
              <a:t>is called the </a:t>
            </a:r>
            <a:r>
              <a:rPr lang="en-US" altLang="en-US" sz="2800">
                <a:solidFill>
                  <a:srgbClr val="0066CC"/>
                </a:solidFill>
                <a:latin typeface="Times New Roman" panose="02020603050405020304" pitchFamily="18" charset="0"/>
              </a:rPr>
              <a:t>derived class or subclass</a:t>
            </a:r>
          </a:p>
          <a:p>
            <a:pPr algn="just" eaLnBrk="1" hangingPunct="1">
              <a:buFontTx/>
              <a:buChar char="•"/>
            </a:pPr>
            <a:r>
              <a:rPr lang="en-US" altLang="en-US" sz="2800">
                <a:latin typeface="Times New Roman" panose="02020603050405020304" pitchFamily="18" charset="0"/>
              </a:rPr>
              <a:t>Inheritance, when used to modify and extend the capabilities of the existing class, becomes a very powerful tool for incremental program development</a:t>
            </a:r>
          </a:p>
          <a:p>
            <a:pPr algn="just" eaLnBrk="1" hangingPunct="1"/>
            <a:endParaRPr lang="en-US" altLang="en-US" sz="2400">
              <a:latin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8FEFFBFF-5B20-8D67-29F2-1B0DF288438E}"/>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Types of Inheritance</a:t>
            </a:r>
          </a:p>
        </p:txBody>
      </p:sp>
      <p:sp>
        <p:nvSpPr>
          <p:cNvPr id="4099" name="Rectangle 5">
            <a:extLst>
              <a:ext uri="{FF2B5EF4-FFF2-40B4-BE49-F238E27FC236}">
                <a16:creationId xmlns:a16="http://schemas.microsoft.com/office/drawing/2014/main" id="{D6210E35-1938-C735-0366-7AE9CADAE157}"/>
              </a:ext>
            </a:extLst>
          </p:cNvPr>
          <p:cNvSpPr>
            <a:spLocks noChangeArrowheads="1"/>
          </p:cNvSpPr>
          <p:nvPr/>
        </p:nvSpPr>
        <p:spPr bwMode="auto">
          <a:xfrm>
            <a:off x="533400" y="7620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A</a:t>
            </a:r>
          </a:p>
        </p:txBody>
      </p:sp>
      <p:sp>
        <p:nvSpPr>
          <p:cNvPr id="4100" name="Rectangle 6">
            <a:extLst>
              <a:ext uri="{FF2B5EF4-FFF2-40B4-BE49-F238E27FC236}">
                <a16:creationId xmlns:a16="http://schemas.microsoft.com/office/drawing/2014/main" id="{1B77B4F9-6AAE-9753-1E15-E55146975C95}"/>
              </a:ext>
            </a:extLst>
          </p:cNvPr>
          <p:cNvSpPr>
            <a:spLocks noChangeArrowheads="1"/>
          </p:cNvSpPr>
          <p:nvPr/>
        </p:nvSpPr>
        <p:spPr bwMode="auto">
          <a:xfrm>
            <a:off x="533400" y="15240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B</a:t>
            </a:r>
          </a:p>
        </p:txBody>
      </p:sp>
      <p:sp>
        <p:nvSpPr>
          <p:cNvPr id="4101" name="Line 7">
            <a:extLst>
              <a:ext uri="{FF2B5EF4-FFF2-40B4-BE49-F238E27FC236}">
                <a16:creationId xmlns:a16="http://schemas.microsoft.com/office/drawing/2014/main" id="{D1A868B5-8264-2BE0-69AA-645AE74DBCE9}"/>
              </a:ext>
            </a:extLst>
          </p:cNvPr>
          <p:cNvSpPr>
            <a:spLocks noChangeShapeType="1"/>
          </p:cNvSpPr>
          <p:nvPr/>
        </p:nvSpPr>
        <p:spPr bwMode="auto">
          <a:xfrm>
            <a:off x="762000" y="10668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02" name="Rectangle 8">
            <a:extLst>
              <a:ext uri="{FF2B5EF4-FFF2-40B4-BE49-F238E27FC236}">
                <a16:creationId xmlns:a16="http://schemas.microsoft.com/office/drawing/2014/main" id="{6B4CE2F3-85A6-11DD-BF66-DB74ADD97AF0}"/>
              </a:ext>
            </a:extLst>
          </p:cNvPr>
          <p:cNvSpPr>
            <a:spLocks noChangeArrowheads="1"/>
          </p:cNvSpPr>
          <p:nvPr/>
        </p:nvSpPr>
        <p:spPr bwMode="auto">
          <a:xfrm>
            <a:off x="2438400" y="7620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A</a:t>
            </a:r>
          </a:p>
        </p:txBody>
      </p:sp>
      <p:sp>
        <p:nvSpPr>
          <p:cNvPr id="4103" name="Rectangle 9">
            <a:extLst>
              <a:ext uri="{FF2B5EF4-FFF2-40B4-BE49-F238E27FC236}">
                <a16:creationId xmlns:a16="http://schemas.microsoft.com/office/drawing/2014/main" id="{AB320D08-65CA-3910-9C75-5D493DC6185A}"/>
              </a:ext>
            </a:extLst>
          </p:cNvPr>
          <p:cNvSpPr>
            <a:spLocks noChangeArrowheads="1"/>
          </p:cNvSpPr>
          <p:nvPr/>
        </p:nvSpPr>
        <p:spPr bwMode="auto">
          <a:xfrm>
            <a:off x="3124200" y="15240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C</a:t>
            </a:r>
          </a:p>
        </p:txBody>
      </p:sp>
      <p:sp>
        <p:nvSpPr>
          <p:cNvPr id="4104" name="Rectangle 11">
            <a:extLst>
              <a:ext uri="{FF2B5EF4-FFF2-40B4-BE49-F238E27FC236}">
                <a16:creationId xmlns:a16="http://schemas.microsoft.com/office/drawing/2014/main" id="{C5966026-6410-9F50-1A91-10E942DC1C76}"/>
              </a:ext>
            </a:extLst>
          </p:cNvPr>
          <p:cNvSpPr>
            <a:spLocks noChangeArrowheads="1"/>
          </p:cNvSpPr>
          <p:nvPr/>
        </p:nvSpPr>
        <p:spPr bwMode="auto">
          <a:xfrm>
            <a:off x="3733800" y="7620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B</a:t>
            </a:r>
          </a:p>
        </p:txBody>
      </p:sp>
      <p:sp>
        <p:nvSpPr>
          <p:cNvPr id="4105" name="Line 12">
            <a:extLst>
              <a:ext uri="{FF2B5EF4-FFF2-40B4-BE49-F238E27FC236}">
                <a16:creationId xmlns:a16="http://schemas.microsoft.com/office/drawing/2014/main" id="{52265E6C-1DFF-F05A-80A9-B448E9C27250}"/>
              </a:ext>
            </a:extLst>
          </p:cNvPr>
          <p:cNvSpPr>
            <a:spLocks noChangeShapeType="1"/>
          </p:cNvSpPr>
          <p:nvPr/>
        </p:nvSpPr>
        <p:spPr bwMode="auto">
          <a:xfrm>
            <a:off x="2667000" y="10668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06" name="Line 13">
            <a:extLst>
              <a:ext uri="{FF2B5EF4-FFF2-40B4-BE49-F238E27FC236}">
                <a16:creationId xmlns:a16="http://schemas.microsoft.com/office/drawing/2014/main" id="{4FB8FC6B-0E43-3BBB-A014-7A37FA31A075}"/>
              </a:ext>
            </a:extLst>
          </p:cNvPr>
          <p:cNvSpPr>
            <a:spLocks noChangeShapeType="1"/>
          </p:cNvSpPr>
          <p:nvPr/>
        </p:nvSpPr>
        <p:spPr bwMode="auto">
          <a:xfrm>
            <a:off x="3981450" y="10668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07" name="Line 14">
            <a:extLst>
              <a:ext uri="{FF2B5EF4-FFF2-40B4-BE49-F238E27FC236}">
                <a16:creationId xmlns:a16="http://schemas.microsoft.com/office/drawing/2014/main" id="{54461BB2-FC20-4BA2-AE78-7C874F4B6073}"/>
              </a:ext>
            </a:extLst>
          </p:cNvPr>
          <p:cNvSpPr>
            <a:spLocks noChangeShapeType="1"/>
          </p:cNvSpPr>
          <p:nvPr/>
        </p:nvSpPr>
        <p:spPr bwMode="auto">
          <a:xfrm>
            <a:off x="2667000" y="13716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08" name="Line 15">
            <a:extLst>
              <a:ext uri="{FF2B5EF4-FFF2-40B4-BE49-F238E27FC236}">
                <a16:creationId xmlns:a16="http://schemas.microsoft.com/office/drawing/2014/main" id="{11D1C5E0-FB5C-1EA4-0EDA-A3799ADAEFAF}"/>
              </a:ext>
            </a:extLst>
          </p:cNvPr>
          <p:cNvSpPr>
            <a:spLocks noChangeShapeType="1"/>
          </p:cNvSpPr>
          <p:nvPr/>
        </p:nvSpPr>
        <p:spPr bwMode="auto">
          <a:xfrm>
            <a:off x="3371850" y="1371600"/>
            <a:ext cx="609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09" name="Line 16">
            <a:extLst>
              <a:ext uri="{FF2B5EF4-FFF2-40B4-BE49-F238E27FC236}">
                <a16:creationId xmlns:a16="http://schemas.microsoft.com/office/drawing/2014/main" id="{94994FE1-F8DB-3E71-D981-2646B5E27931}"/>
              </a:ext>
            </a:extLst>
          </p:cNvPr>
          <p:cNvSpPr>
            <a:spLocks noChangeShapeType="1"/>
          </p:cNvSpPr>
          <p:nvPr/>
        </p:nvSpPr>
        <p:spPr bwMode="auto">
          <a:xfrm>
            <a:off x="3276600" y="1371600"/>
            <a:ext cx="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10" name="Line 17">
            <a:extLst>
              <a:ext uri="{FF2B5EF4-FFF2-40B4-BE49-F238E27FC236}">
                <a16:creationId xmlns:a16="http://schemas.microsoft.com/office/drawing/2014/main" id="{A46934E1-5A40-430D-D565-D9439FFF86A6}"/>
              </a:ext>
            </a:extLst>
          </p:cNvPr>
          <p:cNvSpPr>
            <a:spLocks noChangeShapeType="1"/>
          </p:cNvSpPr>
          <p:nvPr/>
        </p:nvSpPr>
        <p:spPr bwMode="auto">
          <a:xfrm>
            <a:off x="3371850" y="1371600"/>
            <a:ext cx="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11" name="Rectangle 18">
            <a:extLst>
              <a:ext uri="{FF2B5EF4-FFF2-40B4-BE49-F238E27FC236}">
                <a16:creationId xmlns:a16="http://schemas.microsoft.com/office/drawing/2014/main" id="{181D99FC-FA90-E40E-CBB8-FE4F5008A897}"/>
              </a:ext>
            </a:extLst>
          </p:cNvPr>
          <p:cNvSpPr>
            <a:spLocks noChangeArrowheads="1"/>
          </p:cNvSpPr>
          <p:nvPr/>
        </p:nvSpPr>
        <p:spPr bwMode="auto">
          <a:xfrm>
            <a:off x="533400" y="29718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A</a:t>
            </a:r>
          </a:p>
        </p:txBody>
      </p:sp>
      <p:sp>
        <p:nvSpPr>
          <p:cNvPr id="4112" name="Rectangle 19">
            <a:extLst>
              <a:ext uri="{FF2B5EF4-FFF2-40B4-BE49-F238E27FC236}">
                <a16:creationId xmlns:a16="http://schemas.microsoft.com/office/drawing/2014/main" id="{D10C84BA-4D0E-3659-4516-B72F1FAA45D2}"/>
              </a:ext>
            </a:extLst>
          </p:cNvPr>
          <p:cNvSpPr>
            <a:spLocks noChangeArrowheads="1"/>
          </p:cNvSpPr>
          <p:nvPr/>
        </p:nvSpPr>
        <p:spPr bwMode="auto">
          <a:xfrm>
            <a:off x="533400" y="37338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B</a:t>
            </a:r>
          </a:p>
        </p:txBody>
      </p:sp>
      <p:sp>
        <p:nvSpPr>
          <p:cNvPr id="4113" name="Line 20">
            <a:extLst>
              <a:ext uri="{FF2B5EF4-FFF2-40B4-BE49-F238E27FC236}">
                <a16:creationId xmlns:a16="http://schemas.microsoft.com/office/drawing/2014/main" id="{342019BD-CC4F-70C9-0A19-9B7B5A7094F9}"/>
              </a:ext>
            </a:extLst>
          </p:cNvPr>
          <p:cNvSpPr>
            <a:spLocks noChangeShapeType="1"/>
          </p:cNvSpPr>
          <p:nvPr/>
        </p:nvSpPr>
        <p:spPr bwMode="auto">
          <a:xfrm>
            <a:off x="762000" y="32766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14" name="Rectangle 21">
            <a:extLst>
              <a:ext uri="{FF2B5EF4-FFF2-40B4-BE49-F238E27FC236}">
                <a16:creationId xmlns:a16="http://schemas.microsoft.com/office/drawing/2014/main" id="{73348564-4268-27AE-E32D-E915A32DAEA8}"/>
              </a:ext>
            </a:extLst>
          </p:cNvPr>
          <p:cNvSpPr>
            <a:spLocks noChangeArrowheads="1"/>
          </p:cNvSpPr>
          <p:nvPr/>
        </p:nvSpPr>
        <p:spPr bwMode="auto">
          <a:xfrm>
            <a:off x="533400" y="44958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C</a:t>
            </a:r>
          </a:p>
        </p:txBody>
      </p:sp>
      <p:sp>
        <p:nvSpPr>
          <p:cNvPr id="4115" name="Line 22">
            <a:extLst>
              <a:ext uri="{FF2B5EF4-FFF2-40B4-BE49-F238E27FC236}">
                <a16:creationId xmlns:a16="http://schemas.microsoft.com/office/drawing/2014/main" id="{11275BE1-AF0C-A83C-C9D4-27E5608540C3}"/>
              </a:ext>
            </a:extLst>
          </p:cNvPr>
          <p:cNvSpPr>
            <a:spLocks noChangeShapeType="1"/>
          </p:cNvSpPr>
          <p:nvPr/>
        </p:nvSpPr>
        <p:spPr bwMode="auto">
          <a:xfrm>
            <a:off x="762000" y="40386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16" name="Rectangle 23">
            <a:extLst>
              <a:ext uri="{FF2B5EF4-FFF2-40B4-BE49-F238E27FC236}">
                <a16:creationId xmlns:a16="http://schemas.microsoft.com/office/drawing/2014/main" id="{3B96A959-6EF2-197B-254F-6EED1437AF4F}"/>
              </a:ext>
            </a:extLst>
          </p:cNvPr>
          <p:cNvSpPr>
            <a:spLocks noChangeArrowheads="1"/>
          </p:cNvSpPr>
          <p:nvPr/>
        </p:nvSpPr>
        <p:spPr bwMode="auto">
          <a:xfrm>
            <a:off x="6172200" y="7620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A</a:t>
            </a:r>
          </a:p>
        </p:txBody>
      </p:sp>
      <p:sp>
        <p:nvSpPr>
          <p:cNvPr id="4117" name="Rectangle 24">
            <a:extLst>
              <a:ext uri="{FF2B5EF4-FFF2-40B4-BE49-F238E27FC236}">
                <a16:creationId xmlns:a16="http://schemas.microsoft.com/office/drawing/2014/main" id="{3F421A5A-5F45-310D-9936-E320D55AFC3D}"/>
              </a:ext>
            </a:extLst>
          </p:cNvPr>
          <p:cNvSpPr>
            <a:spLocks noChangeArrowheads="1"/>
          </p:cNvSpPr>
          <p:nvPr/>
        </p:nvSpPr>
        <p:spPr bwMode="auto">
          <a:xfrm>
            <a:off x="5181600" y="15240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B</a:t>
            </a:r>
          </a:p>
        </p:txBody>
      </p:sp>
      <p:sp>
        <p:nvSpPr>
          <p:cNvPr id="4118" name="Rectangle 25">
            <a:extLst>
              <a:ext uri="{FF2B5EF4-FFF2-40B4-BE49-F238E27FC236}">
                <a16:creationId xmlns:a16="http://schemas.microsoft.com/office/drawing/2014/main" id="{9FEC61BE-5F2E-3D2B-E36B-9C5DDAB0E530}"/>
              </a:ext>
            </a:extLst>
          </p:cNvPr>
          <p:cNvSpPr>
            <a:spLocks noChangeArrowheads="1"/>
          </p:cNvSpPr>
          <p:nvPr/>
        </p:nvSpPr>
        <p:spPr bwMode="auto">
          <a:xfrm>
            <a:off x="6172200" y="15240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C</a:t>
            </a:r>
          </a:p>
        </p:txBody>
      </p:sp>
      <p:sp>
        <p:nvSpPr>
          <p:cNvPr id="4119" name="Rectangle 26">
            <a:extLst>
              <a:ext uri="{FF2B5EF4-FFF2-40B4-BE49-F238E27FC236}">
                <a16:creationId xmlns:a16="http://schemas.microsoft.com/office/drawing/2014/main" id="{0A7F0CE4-2257-E82C-A91C-40D2B3C610FD}"/>
              </a:ext>
            </a:extLst>
          </p:cNvPr>
          <p:cNvSpPr>
            <a:spLocks noChangeArrowheads="1"/>
          </p:cNvSpPr>
          <p:nvPr/>
        </p:nvSpPr>
        <p:spPr bwMode="auto">
          <a:xfrm>
            <a:off x="7162800" y="15240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D</a:t>
            </a:r>
          </a:p>
        </p:txBody>
      </p:sp>
      <p:sp>
        <p:nvSpPr>
          <p:cNvPr id="4120" name="Line 27">
            <a:extLst>
              <a:ext uri="{FF2B5EF4-FFF2-40B4-BE49-F238E27FC236}">
                <a16:creationId xmlns:a16="http://schemas.microsoft.com/office/drawing/2014/main" id="{D39B7DD5-3BF9-E2BA-56EF-73A7B5DF100A}"/>
              </a:ext>
            </a:extLst>
          </p:cNvPr>
          <p:cNvSpPr>
            <a:spLocks noChangeShapeType="1"/>
          </p:cNvSpPr>
          <p:nvPr/>
        </p:nvSpPr>
        <p:spPr bwMode="auto">
          <a:xfrm>
            <a:off x="6400800" y="10668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21" name="Line 28">
            <a:extLst>
              <a:ext uri="{FF2B5EF4-FFF2-40B4-BE49-F238E27FC236}">
                <a16:creationId xmlns:a16="http://schemas.microsoft.com/office/drawing/2014/main" id="{876D8B79-0C35-C864-72C2-465EC1D8F864}"/>
              </a:ext>
            </a:extLst>
          </p:cNvPr>
          <p:cNvSpPr>
            <a:spLocks noChangeShapeType="1"/>
          </p:cNvSpPr>
          <p:nvPr/>
        </p:nvSpPr>
        <p:spPr bwMode="auto">
          <a:xfrm>
            <a:off x="6248400" y="1066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22" name="Line 29">
            <a:extLst>
              <a:ext uri="{FF2B5EF4-FFF2-40B4-BE49-F238E27FC236}">
                <a16:creationId xmlns:a16="http://schemas.microsoft.com/office/drawing/2014/main" id="{0235215A-6BB5-1E44-7983-4B8BAF57E69F}"/>
              </a:ext>
            </a:extLst>
          </p:cNvPr>
          <p:cNvSpPr>
            <a:spLocks noChangeShapeType="1"/>
          </p:cNvSpPr>
          <p:nvPr/>
        </p:nvSpPr>
        <p:spPr bwMode="auto">
          <a:xfrm>
            <a:off x="6553200" y="1066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23" name="Line 30">
            <a:extLst>
              <a:ext uri="{FF2B5EF4-FFF2-40B4-BE49-F238E27FC236}">
                <a16:creationId xmlns:a16="http://schemas.microsoft.com/office/drawing/2014/main" id="{BE6F49EE-011E-84E0-A34E-39645196C9DA}"/>
              </a:ext>
            </a:extLst>
          </p:cNvPr>
          <p:cNvSpPr>
            <a:spLocks noChangeShapeType="1"/>
          </p:cNvSpPr>
          <p:nvPr/>
        </p:nvSpPr>
        <p:spPr bwMode="auto">
          <a:xfrm>
            <a:off x="5410200" y="12192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24" name="Line 31">
            <a:extLst>
              <a:ext uri="{FF2B5EF4-FFF2-40B4-BE49-F238E27FC236}">
                <a16:creationId xmlns:a16="http://schemas.microsoft.com/office/drawing/2014/main" id="{CB512277-B0B0-9212-31D6-C2AB1437611C}"/>
              </a:ext>
            </a:extLst>
          </p:cNvPr>
          <p:cNvSpPr>
            <a:spLocks noChangeShapeType="1"/>
          </p:cNvSpPr>
          <p:nvPr/>
        </p:nvSpPr>
        <p:spPr bwMode="auto">
          <a:xfrm>
            <a:off x="6553200" y="12192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25" name="Line 32">
            <a:extLst>
              <a:ext uri="{FF2B5EF4-FFF2-40B4-BE49-F238E27FC236}">
                <a16:creationId xmlns:a16="http://schemas.microsoft.com/office/drawing/2014/main" id="{948ED800-9453-780B-48F4-0D5A9B400B04}"/>
              </a:ext>
            </a:extLst>
          </p:cNvPr>
          <p:cNvSpPr>
            <a:spLocks noChangeShapeType="1"/>
          </p:cNvSpPr>
          <p:nvPr/>
        </p:nvSpPr>
        <p:spPr bwMode="auto">
          <a:xfrm>
            <a:off x="5410200" y="12192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26" name="Line 33">
            <a:extLst>
              <a:ext uri="{FF2B5EF4-FFF2-40B4-BE49-F238E27FC236}">
                <a16:creationId xmlns:a16="http://schemas.microsoft.com/office/drawing/2014/main" id="{62299632-C769-053D-AAF2-FF382AC5F1D9}"/>
              </a:ext>
            </a:extLst>
          </p:cNvPr>
          <p:cNvSpPr>
            <a:spLocks noChangeShapeType="1"/>
          </p:cNvSpPr>
          <p:nvPr/>
        </p:nvSpPr>
        <p:spPr bwMode="auto">
          <a:xfrm>
            <a:off x="7391400" y="12192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27" name="Rectangle 34">
            <a:extLst>
              <a:ext uri="{FF2B5EF4-FFF2-40B4-BE49-F238E27FC236}">
                <a16:creationId xmlns:a16="http://schemas.microsoft.com/office/drawing/2014/main" id="{C1DC2F58-21EF-2ED3-5453-EFE32859EDD3}"/>
              </a:ext>
            </a:extLst>
          </p:cNvPr>
          <p:cNvSpPr>
            <a:spLocks noChangeArrowheads="1"/>
          </p:cNvSpPr>
          <p:nvPr/>
        </p:nvSpPr>
        <p:spPr bwMode="auto">
          <a:xfrm>
            <a:off x="3886200" y="29718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A</a:t>
            </a:r>
          </a:p>
        </p:txBody>
      </p:sp>
      <p:sp>
        <p:nvSpPr>
          <p:cNvPr id="4128" name="Rectangle 35">
            <a:extLst>
              <a:ext uri="{FF2B5EF4-FFF2-40B4-BE49-F238E27FC236}">
                <a16:creationId xmlns:a16="http://schemas.microsoft.com/office/drawing/2014/main" id="{00E84055-2527-7D1C-F9D8-A3B6C95012AC}"/>
              </a:ext>
            </a:extLst>
          </p:cNvPr>
          <p:cNvSpPr>
            <a:spLocks noChangeArrowheads="1"/>
          </p:cNvSpPr>
          <p:nvPr/>
        </p:nvSpPr>
        <p:spPr bwMode="auto">
          <a:xfrm>
            <a:off x="2895600" y="38862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B</a:t>
            </a:r>
          </a:p>
        </p:txBody>
      </p:sp>
      <p:sp>
        <p:nvSpPr>
          <p:cNvPr id="4129" name="Rectangle 36">
            <a:extLst>
              <a:ext uri="{FF2B5EF4-FFF2-40B4-BE49-F238E27FC236}">
                <a16:creationId xmlns:a16="http://schemas.microsoft.com/office/drawing/2014/main" id="{94A14B66-0AE4-86DC-A213-85454E4FBF68}"/>
              </a:ext>
            </a:extLst>
          </p:cNvPr>
          <p:cNvSpPr>
            <a:spLocks noChangeArrowheads="1"/>
          </p:cNvSpPr>
          <p:nvPr/>
        </p:nvSpPr>
        <p:spPr bwMode="auto">
          <a:xfrm>
            <a:off x="3886200" y="45720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D</a:t>
            </a:r>
          </a:p>
        </p:txBody>
      </p:sp>
      <p:sp>
        <p:nvSpPr>
          <p:cNvPr id="4130" name="Rectangle 37">
            <a:extLst>
              <a:ext uri="{FF2B5EF4-FFF2-40B4-BE49-F238E27FC236}">
                <a16:creationId xmlns:a16="http://schemas.microsoft.com/office/drawing/2014/main" id="{C4E3A78F-C525-C53C-C611-51022F26E41D}"/>
              </a:ext>
            </a:extLst>
          </p:cNvPr>
          <p:cNvSpPr>
            <a:spLocks noChangeArrowheads="1"/>
          </p:cNvSpPr>
          <p:nvPr/>
        </p:nvSpPr>
        <p:spPr bwMode="auto">
          <a:xfrm>
            <a:off x="4876800" y="3886200"/>
            <a:ext cx="457200" cy="304800"/>
          </a:xfrm>
          <a:prstGeom prst="rect">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b="1"/>
              <a:t>C</a:t>
            </a:r>
          </a:p>
        </p:txBody>
      </p:sp>
      <p:sp>
        <p:nvSpPr>
          <p:cNvPr id="4131" name="Line 39">
            <a:extLst>
              <a:ext uri="{FF2B5EF4-FFF2-40B4-BE49-F238E27FC236}">
                <a16:creationId xmlns:a16="http://schemas.microsoft.com/office/drawing/2014/main" id="{647B79AB-4457-7ABF-46F8-7EC1F55680E2}"/>
              </a:ext>
            </a:extLst>
          </p:cNvPr>
          <p:cNvSpPr>
            <a:spLocks noChangeShapeType="1"/>
          </p:cNvSpPr>
          <p:nvPr/>
        </p:nvSpPr>
        <p:spPr bwMode="auto">
          <a:xfrm>
            <a:off x="3124200" y="35814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32" name="Line 40">
            <a:extLst>
              <a:ext uri="{FF2B5EF4-FFF2-40B4-BE49-F238E27FC236}">
                <a16:creationId xmlns:a16="http://schemas.microsoft.com/office/drawing/2014/main" id="{EFC5F6BF-C9B3-EB67-1181-2ED76AE9CC05}"/>
              </a:ext>
            </a:extLst>
          </p:cNvPr>
          <p:cNvSpPr>
            <a:spLocks noChangeShapeType="1"/>
          </p:cNvSpPr>
          <p:nvPr/>
        </p:nvSpPr>
        <p:spPr bwMode="auto">
          <a:xfrm>
            <a:off x="4267200" y="3581400"/>
            <a:ext cx="838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33" name="Line 41">
            <a:extLst>
              <a:ext uri="{FF2B5EF4-FFF2-40B4-BE49-F238E27FC236}">
                <a16:creationId xmlns:a16="http://schemas.microsoft.com/office/drawing/2014/main" id="{B602D219-6DBD-5032-72D0-7B396A794908}"/>
              </a:ext>
            </a:extLst>
          </p:cNvPr>
          <p:cNvSpPr>
            <a:spLocks noChangeShapeType="1"/>
          </p:cNvSpPr>
          <p:nvPr/>
        </p:nvSpPr>
        <p:spPr bwMode="auto">
          <a:xfrm>
            <a:off x="5105400" y="35814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34" name="Line 42">
            <a:extLst>
              <a:ext uri="{FF2B5EF4-FFF2-40B4-BE49-F238E27FC236}">
                <a16:creationId xmlns:a16="http://schemas.microsoft.com/office/drawing/2014/main" id="{E6CD49B9-2161-3192-64A6-464A2A7129D5}"/>
              </a:ext>
            </a:extLst>
          </p:cNvPr>
          <p:cNvSpPr>
            <a:spLocks noChangeShapeType="1"/>
          </p:cNvSpPr>
          <p:nvPr/>
        </p:nvSpPr>
        <p:spPr bwMode="auto">
          <a:xfrm>
            <a:off x="3124200" y="3581400"/>
            <a:ext cx="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35" name="Line 43">
            <a:extLst>
              <a:ext uri="{FF2B5EF4-FFF2-40B4-BE49-F238E27FC236}">
                <a16:creationId xmlns:a16="http://schemas.microsoft.com/office/drawing/2014/main" id="{D919ED4B-6A27-9F54-7BE7-17C00E892232}"/>
              </a:ext>
            </a:extLst>
          </p:cNvPr>
          <p:cNvSpPr>
            <a:spLocks noChangeShapeType="1"/>
          </p:cNvSpPr>
          <p:nvPr/>
        </p:nvSpPr>
        <p:spPr bwMode="auto">
          <a:xfrm>
            <a:off x="3962400" y="3276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36" name="Line 44">
            <a:extLst>
              <a:ext uri="{FF2B5EF4-FFF2-40B4-BE49-F238E27FC236}">
                <a16:creationId xmlns:a16="http://schemas.microsoft.com/office/drawing/2014/main" id="{C3EC2248-DA5E-7DEF-29DD-0798A60C197C}"/>
              </a:ext>
            </a:extLst>
          </p:cNvPr>
          <p:cNvSpPr>
            <a:spLocks noChangeShapeType="1"/>
          </p:cNvSpPr>
          <p:nvPr/>
        </p:nvSpPr>
        <p:spPr bwMode="auto">
          <a:xfrm>
            <a:off x="4267200" y="32766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37" name="Line 45">
            <a:extLst>
              <a:ext uri="{FF2B5EF4-FFF2-40B4-BE49-F238E27FC236}">
                <a16:creationId xmlns:a16="http://schemas.microsoft.com/office/drawing/2014/main" id="{4230D879-B21C-6DBD-2B34-9F8EFFDDDBB0}"/>
              </a:ext>
            </a:extLst>
          </p:cNvPr>
          <p:cNvSpPr>
            <a:spLocks noChangeShapeType="1"/>
          </p:cNvSpPr>
          <p:nvPr/>
        </p:nvSpPr>
        <p:spPr bwMode="auto">
          <a:xfrm>
            <a:off x="3124200" y="4191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38" name="Line 46">
            <a:extLst>
              <a:ext uri="{FF2B5EF4-FFF2-40B4-BE49-F238E27FC236}">
                <a16:creationId xmlns:a16="http://schemas.microsoft.com/office/drawing/2014/main" id="{38B2E263-C320-1B09-5B52-4231C8B6CA73}"/>
              </a:ext>
            </a:extLst>
          </p:cNvPr>
          <p:cNvSpPr>
            <a:spLocks noChangeShapeType="1"/>
          </p:cNvSpPr>
          <p:nvPr/>
        </p:nvSpPr>
        <p:spPr bwMode="auto">
          <a:xfrm>
            <a:off x="5105400" y="4191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39" name="Line 47">
            <a:extLst>
              <a:ext uri="{FF2B5EF4-FFF2-40B4-BE49-F238E27FC236}">
                <a16:creationId xmlns:a16="http://schemas.microsoft.com/office/drawing/2014/main" id="{E7701617-8686-3DB2-E15C-3E1F227D2EEA}"/>
              </a:ext>
            </a:extLst>
          </p:cNvPr>
          <p:cNvSpPr>
            <a:spLocks noChangeShapeType="1"/>
          </p:cNvSpPr>
          <p:nvPr/>
        </p:nvSpPr>
        <p:spPr bwMode="auto">
          <a:xfrm>
            <a:off x="3124200" y="4419600"/>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40" name="Line 48">
            <a:extLst>
              <a:ext uri="{FF2B5EF4-FFF2-40B4-BE49-F238E27FC236}">
                <a16:creationId xmlns:a16="http://schemas.microsoft.com/office/drawing/2014/main" id="{BF178FA9-9CD6-2F86-FE82-426476A2F060}"/>
              </a:ext>
            </a:extLst>
          </p:cNvPr>
          <p:cNvSpPr>
            <a:spLocks noChangeShapeType="1"/>
          </p:cNvSpPr>
          <p:nvPr/>
        </p:nvSpPr>
        <p:spPr bwMode="auto">
          <a:xfrm>
            <a:off x="4191000" y="4419600"/>
            <a:ext cx="914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141" name="Line 49">
            <a:extLst>
              <a:ext uri="{FF2B5EF4-FFF2-40B4-BE49-F238E27FC236}">
                <a16:creationId xmlns:a16="http://schemas.microsoft.com/office/drawing/2014/main" id="{758E5819-8404-F006-CCB3-FC4154709D71}"/>
              </a:ext>
            </a:extLst>
          </p:cNvPr>
          <p:cNvSpPr>
            <a:spLocks noChangeShapeType="1"/>
          </p:cNvSpPr>
          <p:nvPr/>
        </p:nvSpPr>
        <p:spPr bwMode="auto">
          <a:xfrm>
            <a:off x="4038600" y="4419600"/>
            <a:ext cx="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42" name="Line 50">
            <a:extLst>
              <a:ext uri="{FF2B5EF4-FFF2-40B4-BE49-F238E27FC236}">
                <a16:creationId xmlns:a16="http://schemas.microsoft.com/office/drawing/2014/main" id="{A86A57F8-5221-A196-72A7-1445B283E907}"/>
              </a:ext>
            </a:extLst>
          </p:cNvPr>
          <p:cNvSpPr>
            <a:spLocks noChangeShapeType="1"/>
          </p:cNvSpPr>
          <p:nvPr/>
        </p:nvSpPr>
        <p:spPr bwMode="auto">
          <a:xfrm>
            <a:off x="4191000" y="4419600"/>
            <a:ext cx="0" cy="152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143" name="Rectangle 51">
            <a:extLst>
              <a:ext uri="{FF2B5EF4-FFF2-40B4-BE49-F238E27FC236}">
                <a16:creationId xmlns:a16="http://schemas.microsoft.com/office/drawing/2014/main" id="{602ACE5D-D5A1-D3F7-C2DD-7152C0F64DE5}"/>
              </a:ext>
            </a:extLst>
          </p:cNvPr>
          <p:cNvSpPr>
            <a:spLocks noChangeArrowheads="1"/>
          </p:cNvSpPr>
          <p:nvPr/>
        </p:nvSpPr>
        <p:spPr bwMode="auto">
          <a:xfrm>
            <a:off x="304800" y="2057400"/>
            <a:ext cx="1295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00"/>
              <a:t>Single Inheritance</a:t>
            </a:r>
          </a:p>
        </p:txBody>
      </p:sp>
      <p:sp>
        <p:nvSpPr>
          <p:cNvPr id="4144" name="Rectangle 52">
            <a:extLst>
              <a:ext uri="{FF2B5EF4-FFF2-40B4-BE49-F238E27FC236}">
                <a16:creationId xmlns:a16="http://schemas.microsoft.com/office/drawing/2014/main" id="{7D4B6DE7-0971-C469-2ACC-159348E27C79}"/>
              </a:ext>
            </a:extLst>
          </p:cNvPr>
          <p:cNvSpPr>
            <a:spLocks noChangeArrowheads="1"/>
          </p:cNvSpPr>
          <p:nvPr/>
        </p:nvSpPr>
        <p:spPr bwMode="auto">
          <a:xfrm>
            <a:off x="2514600" y="2057400"/>
            <a:ext cx="1295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00"/>
              <a:t>Multiple Inheritance</a:t>
            </a:r>
          </a:p>
        </p:txBody>
      </p:sp>
      <p:sp>
        <p:nvSpPr>
          <p:cNvPr id="4145" name="Rectangle 53">
            <a:extLst>
              <a:ext uri="{FF2B5EF4-FFF2-40B4-BE49-F238E27FC236}">
                <a16:creationId xmlns:a16="http://schemas.microsoft.com/office/drawing/2014/main" id="{49023277-CFBD-4641-7B9A-AA9A59D8B4F9}"/>
              </a:ext>
            </a:extLst>
          </p:cNvPr>
          <p:cNvSpPr>
            <a:spLocks noChangeArrowheads="1"/>
          </p:cNvSpPr>
          <p:nvPr/>
        </p:nvSpPr>
        <p:spPr bwMode="auto">
          <a:xfrm>
            <a:off x="5867400" y="2057400"/>
            <a:ext cx="1295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00"/>
              <a:t>Hierarchical Inheritance</a:t>
            </a:r>
          </a:p>
        </p:txBody>
      </p:sp>
      <p:sp>
        <p:nvSpPr>
          <p:cNvPr id="4146" name="Rectangle 54">
            <a:extLst>
              <a:ext uri="{FF2B5EF4-FFF2-40B4-BE49-F238E27FC236}">
                <a16:creationId xmlns:a16="http://schemas.microsoft.com/office/drawing/2014/main" id="{D3113734-2517-68D8-E2BD-2A595C472DB5}"/>
              </a:ext>
            </a:extLst>
          </p:cNvPr>
          <p:cNvSpPr>
            <a:spLocks noChangeArrowheads="1"/>
          </p:cNvSpPr>
          <p:nvPr/>
        </p:nvSpPr>
        <p:spPr bwMode="auto">
          <a:xfrm>
            <a:off x="381000" y="5181600"/>
            <a:ext cx="1295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00"/>
              <a:t>Multi level Inheritance</a:t>
            </a:r>
          </a:p>
        </p:txBody>
      </p:sp>
      <p:sp>
        <p:nvSpPr>
          <p:cNvPr id="4147" name="Rectangle 55">
            <a:extLst>
              <a:ext uri="{FF2B5EF4-FFF2-40B4-BE49-F238E27FC236}">
                <a16:creationId xmlns:a16="http://schemas.microsoft.com/office/drawing/2014/main" id="{37C11914-3364-E408-99DB-A8DB3696C827}"/>
              </a:ext>
            </a:extLst>
          </p:cNvPr>
          <p:cNvSpPr>
            <a:spLocks noChangeArrowheads="1"/>
          </p:cNvSpPr>
          <p:nvPr/>
        </p:nvSpPr>
        <p:spPr bwMode="auto">
          <a:xfrm>
            <a:off x="3581400" y="5181600"/>
            <a:ext cx="1295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00"/>
              <a:t>Hybrid Inheritance</a:t>
            </a:r>
          </a:p>
        </p:txBody>
      </p:sp>
      <p:sp>
        <p:nvSpPr>
          <p:cNvPr id="4148" name="Rectangle 56">
            <a:extLst>
              <a:ext uri="{FF2B5EF4-FFF2-40B4-BE49-F238E27FC236}">
                <a16:creationId xmlns:a16="http://schemas.microsoft.com/office/drawing/2014/main" id="{78DB5653-CB3B-874C-3AC6-DCF544F49617}"/>
              </a:ext>
            </a:extLst>
          </p:cNvPr>
          <p:cNvSpPr>
            <a:spLocks noChangeArrowheads="1"/>
          </p:cNvSpPr>
          <p:nvPr/>
        </p:nvSpPr>
        <p:spPr bwMode="auto">
          <a:xfrm>
            <a:off x="3200400" y="6248400"/>
            <a:ext cx="1295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00">
                <a:solidFill>
                  <a:schemeClr val="accent2"/>
                </a:solidFill>
              </a:rPr>
              <a:t>**</a:t>
            </a:r>
            <a:r>
              <a:rPr lang="en-US" altLang="en-US" sz="1600" b="1">
                <a:solidFill>
                  <a:schemeClr val="accent2"/>
                </a:solidFill>
              </a:rPr>
              <a:t>the direction of arrow indicates the direction of inheritance</a:t>
            </a:r>
            <a:endParaRPr lang="en-US" altLang="en-US" sz="1600">
              <a:solidFill>
                <a:schemeClr val="accent2"/>
              </a:solidFill>
            </a:endParaRPr>
          </a:p>
        </p:txBody>
      </p:sp>
      <p:sp>
        <p:nvSpPr>
          <p:cNvPr id="4149" name="Rectangle 57">
            <a:extLst>
              <a:ext uri="{FF2B5EF4-FFF2-40B4-BE49-F238E27FC236}">
                <a16:creationId xmlns:a16="http://schemas.microsoft.com/office/drawing/2014/main" id="{99BD37B4-5696-FA34-F461-741D76BE92FF}"/>
              </a:ext>
            </a:extLst>
          </p:cNvPr>
          <p:cNvSpPr>
            <a:spLocks noChangeArrowheads="1"/>
          </p:cNvSpPr>
          <p:nvPr/>
        </p:nvSpPr>
        <p:spPr bwMode="auto">
          <a:xfrm>
            <a:off x="3352800" y="12420600"/>
            <a:ext cx="1295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1600">
                <a:solidFill>
                  <a:schemeClr val="accent2"/>
                </a:solidFill>
              </a:rPr>
              <a:t>**</a:t>
            </a:r>
            <a:r>
              <a:rPr lang="en-US" altLang="en-US" sz="1600" b="1">
                <a:solidFill>
                  <a:schemeClr val="accent2"/>
                </a:solidFill>
              </a:rPr>
              <a:t>the direction of arrow indicates the direction of inheritance</a:t>
            </a:r>
            <a:endParaRPr lang="en-US" altLang="en-US" sz="1600">
              <a:solidFill>
                <a:schemeClr val="accen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7091F1FA-AE76-510F-EB4C-E0208C1AA555}"/>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Defining derived classes</a:t>
            </a:r>
          </a:p>
        </p:txBody>
      </p:sp>
      <p:sp>
        <p:nvSpPr>
          <p:cNvPr id="5123" name="Rectangle 3">
            <a:extLst>
              <a:ext uri="{FF2B5EF4-FFF2-40B4-BE49-F238E27FC236}">
                <a16:creationId xmlns:a16="http://schemas.microsoft.com/office/drawing/2014/main" id="{D1FEB3F3-7000-4786-6D5B-512D585B9238}"/>
              </a:ext>
            </a:extLst>
          </p:cNvPr>
          <p:cNvSpPr>
            <a:spLocks noGrp="1" noChangeArrowheads="1"/>
          </p:cNvSpPr>
          <p:nvPr>
            <p:ph type="subTitle" idx="1"/>
          </p:nvPr>
        </p:nvSpPr>
        <p:spPr>
          <a:xfrm>
            <a:off x="228600" y="609600"/>
            <a:ext cx="8686800" cy="6019800"/>
          </a:xfrm>
        </p:spPr>
        <p:txBody>
          <a:bodyPr/>
          <a:lstStyle/>
          <a:p>
            <a:pPr algn="just" eaLnBrk="1" hangingPunct="1">
              <a:lnSpc>
                <a:spcPct val="90000"/>
              </a:lnSpc>
              <a:buFontTx/>
              <a:buChar char="•"/>
            </a:pPr>
            <a:r>
              <a:rPr lang="en-US" altLang="en-US">
                <a:latin typeface="Times New Roman" panose="02020603050405020304" pitchFamily="18" charset="0"/>
              </a:rPr>
              <a:t>A derived class can be defined by specifying its relationship with the base class in addition to its own details</a:t>
            </a:r>
          </a:p>
          <a:p>
            <a:pPr algn="just" eaLnBrk="1" hangingPunct="1">
              <a:lnSpc>
                <a:spcPct val="90000"/>
              </a:lnSpc>
              <a:buFontTx/>
              <a:buChar char="•"/>
            </a:pPr>
            <a:r>
              <a:rPr lang="en-US" altLang="en-US">
                <a:latin typeface="Times New Roman" panose="02020603050405020304" pitchFamily="18" charset="0"/>
              </a:rPr>
              <a:t>General form:</a:t>
            </a:r>
          </a:p>
          <a:p>
            <a:pPr algn="just" eaLnBrk="1" hangingPunct="1">
              <a:lnSpc>
                <a:spcPct val="90000"/>
              </a:lnSpc>
            </a:pPr>
            <a:r>
              <a:rPr lang="en-US" altLang="en-US" sz="2800">
                <a:solidFill>
                  <a:srgbClr val="0066CC"/>
                </a:solidFill>
                <a:latin typeface="Times New Roman" panose="02020603050405020304" pitchFamily="18" charset="0"/>
              </a:rPr>
              <a:t>class derived-classname : visibility-mode base-classname</a:t>
            </a:r>
          </a:p>
          <a:p>
            <a:pPr algn="just" eaLnBrk="1" hangingPunct="1">
              <a:lnSpc>
                <a:spcPct val="90000"/>
              </a:lnSpc>
            </a:pPr>
            <a:r>
              <a:rPr lang="en-US" altLang="en-US" sz="2800">
                <a:solidFill>
                  <a:srgbClr val="0066CC"/>
                </a:solidFill>
                <a:latin typeface="Times New Roman" panose="02020603050405020304" pitchFamily="18" charset="0"/>
              </a:rPr>
              <a:t>{</a:t>
            </a:r>
          </a:p>
          <a:p>
            <a:pPr algn="just" eaLnBrk="1" hangingPunct="1">
              <a:lnSpc>
                <a:spcPct val="90000"/>
              </a:lnSpc>
            </a:pPr>
            <a:r>
              <a:rPr lang="en-US" altLang="en-US" sz="2800">
                <a:solidFill>
                  <a:srgbClr val="0066CC"/>
                </a:solidFill>
                <a:latin typeface="Times New Roman" panose="02020603050405020304" pitchFamily="18" charset="0"/>
              </a:rPr>
              <a:t>	……//members of derived class</a:t>
            </a:r>
          </a:p>
          <a:p>
            <a:pPr algn="just" eaLnBrk="1" hangingPunct="1">
              <a:lnSpc>
                <a:spcPct val="90000"/>
              </a:lnSpc>
            </a:pPr>
            <a:r>
              <a:rPr lang="en-US" altLang="en-US" sz="2800">
                <a:solidFill>
                  <a:srgbClr val="0066CC"/>
                </a:solidFill>
                <a:latin typeface="Times New Roman" panose="02020603050405020304" pitchFamily="18" charset="0"/>
              </a:rPr>
              <a:t>}</a:t>
            </a:r>
          </a:p>
          <a:p>
            <a:pPr algn="just" eaLnBrk="1" hangingPunct="1">
              <a:lnSpc>
                <a:spcPct val="90000"/>
              </a:lnSpc>
              <a:buFontTx/>
              <a:buChar char="•"/>
            </a:pPr>
            <a:r>
              <a:rPr lang="en-US" altLang="en-US" sz="2800">
                <a:latin typeface="Times New Roman" panose="02020603050405020304" pitchFamily="18" charset="0"/>
              </a:rPr>
              <a:t>Colon indicates that the derived-classname is derived from the base-classname</a:t>
            </a:r>
          </a:p>
          <a:p>
            <a:pPr algn="just" eaLnBrk="1" hangingPunct="1">
              <a:lnSpc>
                <a:spcPct val="90000"/>
              </a:lnSpc>
              <a:buFontTx/>
              <a:buChar char="•"/>
            </a:pPr>
            <a:r>
              <a:rPr lang="en-US" altLang="en-US" sz="2800">
                <a:latin typeface="Times New Roman" panose="02020603050405020304" pitchFamily="18" charset="0"/>
              </a:rPr>
              <a:t>The visibility mode is optional, if present it may either private or public or protected. </a:t>
            </a:r>
            <a:r>
              <a:rPr lang="en-US" altLang="en-US" sz="2800">
                <a:solidFill>
                  <a:srgbClr val="0066CC"/>
                </a:solidFill>
                <a:latin typeface="Times New Roman" panose="02020603050405020304" pitchFamily="18" charset="0"/>
              </a:rPr>
              <a:t>Default is private</a:t>
            </a:r>
          </a:p>
          <a:p>
            <a:pPr algn="just" eaLnBrk="1" hangingPunct="1">
              <a:lnSpc>
                <a:spcPct val="90000"/>
              </a:lnSpc>
              <a:buFontTx/>
              <a:buChar char="•"/>
            </a:pPr>
            <a:endParaRPr lang="en-US" altLang="en-US" sz="2800">
              <a:latin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
            <a:extLst>
              <a:ext uri="{FF2B5EF4-FFF2-40B4-BE49-F238E27FC236}">
                <a16:creationId xmlns:a16="http://schemas.microsoft.com/office/drawing/2014/main" id="{833453AC-3D6B-E475-D35D-9643408302F5}"/>
              </a:ext>
            </a:extLst>
          </p:cNvPr>
          <p:cNvSpPr>
            <a:spLocks noGrp="1" noChangeArrowheads="1"/>
          </p:cNvSpPr>
          <p:nvPr>
            <p:ph type="subTitle" idx="1"/>
          </p:nvPr>
        </p:nvSpPr>
        <p:spPr>
          <a:xfrm>
            <a:off x="228600" y="152400"/>
            <a:ext cx="8686800" cy="6477000"/>
          </a:xfrm>
        </p:spPr>
        <p:txBody>
          <a:bodyPr/>
          <a:lstStyle/>
          <a:p>
            <a:pPr algn="just" eaLnBrk="1" hangingPunct="1">
              <a:lnSpc>
                <a:spcPct val="90000"/>
              </a:lnSpc>
            </a:pPr>
            <a:r>
              <a:rPr lang="en-US" altLang="en-US" sz="2800">
                <a:latin typeface="Times New Roman" panose="02020603050405020304" pitchFamily="18" charset="0"/>
              </a:rPr>
              <a:t>Eg:</a:t>
            </a:r>
          </a:p>
          <a:p>
            <a:pPr algn="just" eaLnBrk="1" hangingPunct="1">
              <a:lnSpc>
                <a:spcPct val="90000"/>
              </a:lnSpc>
            </a:pPr>
            <a:r>
              <a:rPr lang="en-US" altLang="en-US" sz="2800">
                <a:latin typeface="Times New Roman" panose="02020603050405020304" pitchFamily="18" charset="0"/>
              </a:rPr>
              <a:t>class A : private B</a:t>
            </a:r>
          </a:p>
          <a:p>
            <a:pPr algn="just" eaLnBrk="1" hangingPunct="1">
              <a:lnSpc>
                <a:spcPct val="90000"/>
              </a:lnSpc>
            </a:pPr>
            <a:r>
              <a:rPr lang="en-US" altLang="en-US" sz="2800">
                <a:latin typeface="Times New Roman" panose="02020603050405020304" pitchFamily="18" charset="0"/>
              </a:rPr>
              <a:t>{</a:t>
            </a:r>
          </a:p>
          <a:p>
            <a:pPr algn="just" eaLnBrk="1" hangingPunct="1">
              <a:lnSpc>
                <a:spcPct val="90000"/>
              </a:lnSpc>
            </a:pPr>
            <a:r>
              <a:rPr lang="en-US" altLang="en-US" sz="2800">
                <a:latin typeface="Times New Roman" panose="02020603050405020304" pitchFamily="18" charset="0"/>
              </a:rPr>
              <a:t>	//members of  A</a:t>
            </a:r>
          </a:p>
          <a:p>
            <a:pPr algn="just" eaLnBrk="1" hangingPunct="1">
              <a:lnSpc>
                <a:spcPct val="90000"/>
              </a:lnSpc>
            </a:pPr>
            <a:r>
              <a:rPr lang="en-US" altLang="en-US" sz="2800">
                <a:latin typeface="Times New Roman" panose="02020603050405020304" pitchFamily="18" charset="0"/>
              </a:rPr>
              <a:t>};</a:t>
            </a:r>
          </a:p>
          <a:p>
            <a:pPr algn="just" eaLnBrk="1" hangingPunct="1">
              <a:lnSpc>
                <a:spcPct val="90000"/>
              </a:lnSpc>
            </a:pPr>
            <a:r>
              <a:rPr lang="en-US" altLang="en-US" sz="2800">
                <a:latin typeface="Times New Roman" panose="02020603050405020304" pitchFamily="18" charset="0"/>
              </a:rPr>
              <a:t>class A : public B</a:t>
            </a:r>
          </a:p>
          <a:p>
            <a:pPr algn="just" eaLnBrk="1" hangingPunct="1">
              <a:lnSpc>
                <a:spcPct val="90000"/>
              </a:lnSpc>
            </a:pPr>
            <a:r>
              <a:rPr lang="en-US" altLang="en-US" sz="2800">
                <a:latin typeface="Times New Roman" panose="02020603050405020304" pitchFamily="18" charset="0"/>
              </a:rPr>
              <a:t>{</a:t>
            </a:r>
          </a:p>
          <a:p>
            <a:pPr algn="just" eaLnBrk="1" hangingPunct="1">
              <a:lnSpc>
                <a:spcPct val="90000"/>
              </a:lnSpc>
            </a:pPr>
            <a:r>
              <a:rPr lang="en-US" altLang="en-US" sz="2800">
                <a:latin typeface="Times New Roman" panose="02020603050405020304" pitchFamily="18" charset="0"/>
              </a:rPr>
              <a:t>	//members of  A</a:t>
            </a:r>
          </a:p>
          <a:p>
            <a:pPr algn="just" eaLnBrk="1" hangingPunct="1">
              <a:lnSpc>
                <a:spcPct val="90000"/>
              </a:lnSpc>
            </a:pPr>
            <a:r>
              <a:rPr lang="en-US" altLang="en-US" sz="2800">
                <a:latin typeface="Times New Roman" panose="02020603050405020304" pitchFamily="18" charset="0"/>
              </a:rPr>
              <a:t>};</a:t>
            </a:r>
          </a:p>
          <a:p>
            <a:pPr algn="just" eaLnBrk="1" hangingPunct="1">
              <a:lnSpc>
                <a:spcPct val="90000"/>
              </a:lnSpc>
            </a:pPr>
            <a:r>
              <a:rPr lang="en-US" altLang="en-US" sz="2800">
                <a:latin typeface="Times New Roman" panose="02020603050405020304" pitchFamily="18" charset="0"/>
              </a:rPr>
              <a:t>class A : protected B</a:t>
            </a:r>
          </a:p>
          <a:p>
            <a:pPr algn="just" eaLnBrk="1" hangingPunct="1">
              <a:lnSpc>
                <a:spcPct val="90000"/>
              </a:lnSpc>
            </a:pPr>
            <a:r>
              <a:rPr lang="en-US" altLang="en-US" sz="2800">
                <a:latin typeface="Times New Roman" panose="02020603050405020304" pitchFamily="18" charset="0"/>
              </a:rPr>
              <a:t>{</a:t>
            </a:r>
          </a:p>
          <a:p>
            <a:pPr algn="just" eaLnBrk="1" hangingPunct="1">
              <a:lnSpc>
                <a:spcPct val="90000"/>
              </a:lnSpc>
            </a:pPr>
            <a:r>
              <a:rPr lang="en-US" altLang="en-US" sz="2800">
                <a:latin typeface="Times New Roman" panose="02020603050405020304" pitchFamily="18" charset="0"/>
              </a:rPr>
              <a:t>	//members of  A</a:t>
            </a:r>
          </a:p>
          <a:p>
            <a:pPr algn="just" eaLnBrk="1" hangingPunct="1">
              <a:lnSpc>
                <a:spcPct val="90000"/>
              </a:lnSpc>
            </a:pPr>
            <a:r>
              <a:rPr lang="en-US" altLang="en-US" sz="2800">
                <a:latin typeface="Times New Roman" panose="02020603050405020304" pitchFamily="18" charset="0"/>
              </a:rPr>
              <a:t>};</a:t>
            </a:r>
          </a:p>
          <a:p>
            <a:pPr algn="just" eaLnBrk="1" hangingPunct="1">
              <a:lnSpc>
                <a:spcPct val="90000"/>
              </a:lnSpc>
            </a:pPr>
            <a:endParaRPr lang="en-US" altLang="en-US" sz="280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622" name="Group 86">
            <a:extLst>
              <a:ext uri="{FF2B5EF4-FFF2-40B4-BE49-F238E27FC236}">
                <a16:creationId xmlns:a16="http://schemas.microsoft.com/office/drawing/2014/main" id="{F3B261AC-2867-E60D-CFB9-C960744BE298}"/>
              </a:ext>
            </a:extLst>
          </p:cNvPr>
          <p:cNvGraphicFramePr>
            <a:graphicFrameLocks noGrp="1"/>
          </p:cNvGraphicFramePr>
          <p:nvPr/>
        </p:nvGraphicFramePr>
        <p:xfrm>
          <a:off x="381000" y="1397000"/>
          <a:ext cx="8534400" cy="4327525"/>
        </p:xfrm>
        <a:graphic>
          <a:graphicData uri="http://schemas.openxmlformats.org/drawingml/2006/table">
            <a:tbl>
              <a:tblPr/>
              <a:tblGrid>
                <a:gridCol w="21336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tblGrid>
              <a:tr h="812681">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Base class visibility</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Derived class visibility</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944741">
                <a:tc vMerge="1">
                  <a:txBody>
                    <a:bodyPr/>
                    <a:lstStyle/>
                    <a:p>
                      <a:endParaRPr 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Public derivation</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Private derivation</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Protected derivation</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4474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private</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Not inherited</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Not inherited</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Not inherited</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126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protected</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protected</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private</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protected</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1268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Public</a:t>
                      </a:r>
                    </a:p>
                  </a:txBody>
                  <a:tcPr marT="45713" marB="4571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Public</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Private</a:t>
                      </a:r>
                    </a:p>
                  </a:txBody>
                  <a:tcPr marT="45713" marB="457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protected</a:t>
                      </a:r>
                    </a:p>
                  </a:txBody>
                  <a:tcPr marT="45713" marB="457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460DEAD-5620-D123-7810-E7F01A1F53F7}"/>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Single inheritance</a:t>
            </a:r>
          </a:p>
        </p:txBody>
      </p:sp>
      <p:sp>
        <p:nvSpPr>
          <p:cNvPr id="8195" name="Rectangle 3">
            <a:extLst>
              <a:ext uri="{FF2B5EF4-FFF2-40B4-BE49-F238E27FC236}">
                <a16:creationId xmlns:a16="http://schemas.microsoft.com/office/drawing/2014/main" id="{ADA2A5AE-1191-0F72-BA6F-B409EA2912DD}"/>
              </a:ext>
            </a:extLst>
          </p:cNvPr>
          <p:cNvSpPr>
            <a:spLocks noGrp="1" noChangeArrowheads="1"/>
          </p:cNvSpPr>
          <p:nvPr>
            <p:ph type="subTitle" idx="1"/>
          </p:nvPr>
        </p:nvSpPr>
        <p:spPr>
          <a:xfrm>
            <a:off x="228600" y="609600"/>
            <a:ext cx="8686800" cy="6019800"/>
          </a:xfrm>
        </p:spPr>
        <p:txBody>
          <a:bodyPr/>
          <a:lstStyle/>
          <a:p>
            <a:pPr algn="l" eaLnBrk="1" hangingPunct="1">
              <a:lnSpc>
                <a:spcPct val="80000"/>
              </a:lnSpc>
            </a:pPr>
            <a:r>
              <a:rPr lang="en-US" altLang="en-US" sz="1600"/>
              <a:t>#include&lt;iostream&gt;</a:t>
            </a:r>
          </a:p>
          <a:p>
            <a:pPr algn="l" eaLnBrk="1" hangingPunct="1">
              <a:lnSpc>
                <a:spcPct val="80000"/>
              </a:lnSpc>
            </a:pPr>
            <a:r>
              <a:rPr lang="en-US" altLang="en-US" sz="1600"/>
              <a:t>using namespace std;</a:t>
            </a:r>
          </a:p>
          <a:p>
            <a:pPr algn="l" eaLnBrk="1" hangingPunct="1">
              <a:lnSpc>
                <a:spcPct val="80000"/>
              </a:lnSpc>
            </a:pPr>
            <a:endParaRPr lang="en-US" altLang="en-US" sz="1600"/>
          </a:p>
          <a:p>
            <a:pPr algn="l" eaLnBrk="1" hangingPunct="1">
              <a:lnSpc>
                <a:spcPct val="80000"/>
              </a:lnSpc>
            </a:pPr>
            <a:r>
              <a:rPr lang="en-US" altLang="en-US" sz="1600"/>
              <a:t>class B</a:t>
            </a:r>
          </a:p>
          <a:p>
            <a:pPr algn="l" eaLnBrk="1" hangingPunct="1">
              <a:lnSpc>
                <a:spcPct val="80000"/>
              </a:lnSpc>
            </a:pPr>
            <a:r>
              <a:rPr lang="en-US" altLang="en-US" sz="1600"/>
              <a:t>{</a:t>
            </a:r>
          </a:p>
          <a:p>
            <a:pPr algn="l" eaLnBrk="1" hangingPunct="1">
              <a:lnSpc>
                <a:spcPct val="80000"/>
              </a:lnSpc>
            </a:pPr>
            <a:r>
              <a:rPr lang="en-US" altLang="en-US" sz="1600"/>
              <a:t>	int a;</a:t>
            </a:r>
          </a:p>
          <a:p>
            <a:pPr algn="l" eaLnBrk="1" hangingPunct="1">
              <a:lnSpc>
                <a:spcPct val="80000"/>
              </a:lnSpc>
            </a:pPr>
            <a:r>
              <a:rPr lang="en-US" altLang="en-US" sz="1600"/>
              <a:t>	public:</a:t>
            </a:r>
          </a:p>
          <a:p>
            <a:pPr algn="l" eaLnBrk="1" hangingPunct="1">
              <a:lnSpc>
                <a:spcPct val="80000"/>
              </a:lnSpc>
            </a:pPr>
            <a:r>
              <a:rPr lang="en-US" altLang="en-US" sz="1600"/>
              <a:t>		int b;</a:t>
            </a:r>
          </a:p>
          <a:p>
            <a:pPr algn="l" eaLnBrk="1" hangingPunct="1">
              <a:lnSpc>
                <a:spcPct val="80000"/>
              </a:lnSpc>
            </a:pPr>
            <a:r>
              <a:rPr lang="en-US" altLang="en-US" sz="1600"/>
              <a:t>		B(){a=10;b=20;}</a:t>
            </a:r>
          </a:p>
          <a:p>
            <a:pPr algn="l" eaLnBrk="1" hangingPunct="1">
              <a:lnSpc>
                <a:spcPct val="80000"/>
              </a:lnSpc>
            </a:pPr>
            <a:r>
              <a:rPr lang="en-US" altLang="en-US" sz="1600"/>
              <a:t>		int get_a(void){return a;}</a:t>
            </a:r>
          </a:p>
          <a:p>
            <a:pPr algn="l" eaLnBrk="1" hangingPunct="1">
              <a:lnSpc>
                <a:spcPct val="80000"/>
              </a:lnSpc>
            </a:pPr>
            <a:r>
              <a:rPr lang="en-US" altLang="en-US" sz="1600"/>
              <a:t>};</a:t>
            </a:r>
          </a:p>
          <a:p>
            <a:pPr algn="l" eaLnBrk="1" hangingPunct="1">
              <a:lnSpc>
                <a:spcPct val="80000"/>
              </a:lnSpc>
            </a:pPr>
            <a:r>
              <a:rPr lang="en-US" altLang="en-US" sz="1600"/>
              <a:t>class D : public B</a:t>
            </a:r>
          </a:p>
          <a:p>
            <a:pPr algn="l" eaLnBrk="1" hangingPunct="1">
              <a:lnSpc>
                <a:spcPct val="80000"/>
              </a:lnSpc>
            </a:pPr>
            <a:r>
              <a:rPr lang="en-US" altLang="en-US" sz="1600"/>
              <a:t>{</a:t>
            </a:r>
          </a:p>
          <a:p>
            <a:pPr algn="l" eaLnBrk="1" hangingPunct="1">
              <a:lnSpc>
                <a:spcPct val="80000"/>
              </a:lnSpc>
            </a:pPr>
            <a:r>
              <a:rPr lang="en-US" altLang="en-US" sz="1600"/>
              <a:t>	int d;</a:t>
            </a:r>
          </a:p>
          <a:p>
            <a:pPr algn="l" eaLnBrk="1" hangingPunct="1">
              <a:lnSpc>
                <a:spcPct val="80000"/>
              </a:lnSpc>
            </a:pPr>
            <a:r>
              <a:rPr lang="en-US" altLang="en-US" sz="1600"/>
              <a:t>	public:</a:t>
            </a:r>
          </a:p>
          <a:p>
            <a:pPr algn="l" eaLnBrk="1" hangingPunct="1">
              <a:lnSpc>
                <a:spcPct val="80000"/>
              </a:lnSpc>
            </a:pPr>
            <a:r>
              <a:rPr lang="en-US" altLang="en-US" sz="1600"/>
              <a:t>		void mul(void){d=b*get_a();}</a:t>
            </a:r>
          </a:p>
          <a:p>
            <a:pPr algn="l" eaLnBrk="1" hangingPunct="1">
              <a:lnSpc>
                <a:spcPct val="80000"/>
              </a:lnSpc>
            </a:pPr>
            <a:r>
              <a:rPr lang="en-US" altLang="en-US" sz="1600"/>
              <a:t>		void disp(void);</a:t>
            </a:r>
          </a:p>
          <a:p>
            <a:pPr algn="l" eaLnBrk="1" hangingPunct="1">
              <a:lnSpc>
                <a:spcPct val="80000"/>
              </a:lnSpc>
            </a:pPr>
            <a:r>
              <a:rPr lang="en-US" altLang="en-US" sz="1600"/>
              <a:t>};</a:t>
            </a:r>
          </a:p>
          <a:p>
            <a:pPr algn="l" eaLnBrk="1" hangingPunct="1">
              <a:lnSpc>
                <a:spcPct val="80000"/>
              </a:lnSpc>
            </a:pPr>
            <a:r>
              <a:rPr lang="en-US" altLang="en-US" sz="1600"/>
              <a:t>void D ::disp(void)</a:t>
            </a:r>
          </a:p>
          <a:p>
            <a:pPr algn="l" eaLnBrk="1" hangingPunct="1">
              <a:lnSpc>
                <a:spcPct val="80000"/>
              </a:lnSpc>
            </a:pPr>
            <a:r>
              <a:rPr lang="en-US" altLang="en-US" sz="1600"/>
              <a:t>{</a:t>
            </a:r>
          </a:p>
          <a:p>
            <a:pPr algn="l" eaLnBrk="1" hangingPunct="1">
              <a:lnSpc>
                <a:spcPct val="80000"/>
              </a:lnSpc>
            </a:pPr>
            <a:r>
              <a:rPr lang="en-US" altLang="en-US" sz="1600"/>
              <a:t>	cout &lt;&lt;  "A = "&lt;&lt; get_a() &lt;&lt;"\n";</a:t>
            </a:r>
          </a:p>
          <a:p>
            <a:pPr algn="l" eaLnBrk="1" hangingPunct="1">
              <a:lnSpc>
                <a:spcPct val="80000"/>
              </a:lnSpc>
            </a:pPr>
            <a:r>
              <a:rPr lang="en-US" altLang="en-US" sz="1600"/>
              <a:t>	cout &lt;&lt; "B = "&lt;&lt; b &lt;&lt;"\n";</a:t>
            </a:r>
          </a:p>
          <a:p>
            <a:pPr algn="l" eaLnBrk="1" hangingPunct="1">
              <a:lnSpc>
                <a:spcPct val="80000"/>
              </a:lnSpc>
            </a:pPr>
            <a:r>
              <a:rPr lang="en-US" altLang="en-US" sz="1600"/>
              <a:t>	cout &lt;&lt; "D = "&lt;&lt; d &lt;&lt;"\n";</a:t>
            </a:r>
          </a:p>
          <a:p>
            <a:pPr algn="l" eaLnBrk="1" hangingPunct="1">
              <a:lnSpc>
                <a:spcPct val="80000"/>
              </a:lnSpc>
            </a:pPr>
            <a:r>
              <a:rPr lang="en-US" altLang="en-US" sz="160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a:extLst>
              <a:ext uri="{FF2B5EF4-FFF2-40B4-BE49-F238E27FC236}">
                <a16:creationId xmlns:a16="http://schemas.microsoft.com/office/drawing/2014/main" id="{FA0F7C57-60F4-FA71-99ED-45546CCD904B}"/>
              </a:ext>
            </a:extLst>
          </p:cNvPr>
          <p:cNvSpPr>
            <a:spLocks noGrp="1" noChangeArrowheads="1"/>
          </p:cNvSpPr>
          <p:nvPr>
            <p:ph type="subTitle" idx="1"/>
          </p:nvPr>
        </p:nvSpPr>
        <p:spPr>
          <a:xfrm>
            <a:off x="228600" y="609600"/>
            <a:ext cx="8686800" cy="6019800"/>
          </a:xfrm>
        </p:spPr>
        <p:txBody>
          <a:bodyPr/>
          <a:lstStyle/>
          <a:p>
            <a:pPr algn="l" eaLnBrk="1" hangingPunct="1">
              <a:lnSpc>
                <a:spcPct val="80000"/>
              </a:lnSpc>
            </a:pPr>
            <a:r>
              <a:rPr lang="en-US" altLang="en-US" sz="2000"/>
              <a:t>int main()</a:t>
            </a:r>
          </a:p>
          <a:p>
            <a:pPr algn="l" eaLnBrk="1" hangingPunct="1">
              <a:lnSpc>
                <a:spcPct val="80000"/>
              </a:lnSpc>
            </a:pPr>
            <a:r>
              <a:rPr lang="en-US" altLang="en-US" sz="2000"/>
              <a:t>{</a:t>
            </a:r>
          </a:p>
          <a:p>
            <a:pPr algn="l" eaLnBrk="1" hangingPunct="1">
              <a:lnSpc>
                <a:spcPct val="80000"/>
              </a:lnSpc>
            </a:pPr>
            <a:r>
              <a:rPr lang="en-US" altLang="en-US" sz="2000"/>
              <a:t>	D d;</a:t>
            </a:r>
          </a:p>
          <a:p>
            <a:pPr algn="l" eaLnBrk="1" hangingPunct="1">
              <a:lnSpc>
                <a:spcPct val="80000"/>
              </a:lnSpc>
            </a:pPr>
            <a:r>
              <a:rPr lang="en-US" altLang="en-US" sz="2000"/>
              <a:t>	d.get_a();</a:t>
            </a:r>
          </a:p>
          <a:p>
            <a:pPr algn="l" eaLnBrk="1" hangingPunct="1">
              <a:lnSpc>
                <a:spcPct val="80000"/>
              </a:lnSpc>
            </a:pPr>
            <a:r>
              <a:rPr lang="en-US" altLang="en-US" sz="2000"/>
              <a:t>	d.mul();</a:t>
            </a:r>
          </a:p>
          <a:p>
            <a:pPr algn="l" eaLnBrk="1" hangingPunct="1">
              <a:lnSpc>
                <a:spcPct val="80000"/>
              </a:lnSpc>
            </a:pPr>
            <a:r>
              <a:rPr lang="en-US" altLang="en-US" sz="2000"/>
              <a:t>	d.disp();</a:t>
            </a:r>
          </a:p>
          <a:p>
            <a:pPr algn="l" eaLnBrk="1" hangingPunct="1">
              <a:lnSpc>
                <a:spcPct val="80000"/>
              </a:lnSpc>
            </a:pPr>
            <a:endParaRPr lang="en-US" altLang="en-US" sz="2000"/>
          </a:p>
          <a:p>
            <a:pPr algn="l" eaLnBrk="1" hangingPunct="1">
              <a:lnSpc>
                <a:spcPct val="80000"/>
              </a:lnSpc>
            </a:pPr>
            <a:r>
              <a:rPr lang="en-US" altLang="en-US" sz="2000"/>
              <a:t>	d.b=100;</a:t>
            </a:r>
          </a:p>
          <a:p>
            <a:pPr algn="l" eaLnBrk="1" hangingPunct="1">
              <a:lnSpc>
                <a:spcPct val="80000"/>
              </a:lnSpc>
            </a:pPr>
            <a:r>
              <a:rPr lang="en-US" altLang="en-US" sz="2000"/>
              <a:t>	d.mul();</a:t>
            </a:r>
          </a:p>
          <a:p>
            <a:pPr algn="l" eaLnBrk="1" hangingPunct="1">
              <a:lnSpc>
                <a:spcPct val="80000"/>
              </a:lnSpc>
            </a:pPr>
            <a:r>
              <a:rPr lang="en-US" altLang="en-US" sz="2000"/>
              <a:t>	d.disp();</a:t>
            </a:r>
          </a:p>
          <a:p>
            <a:pPr algn="l" eaLnBrk="1" hangingPunct="1">
              <a:lnSpc>
                <a:spcPct val="80000"/>
              </a:lnSpc>
            </a:pPr>
            <a:r>
              <a:rPr lang="en-US" altLang="en-US" sz="2000"/>
              <a:t>}</a:t>
            </a:r>
          </a:p>
          <a:p>
            <a:pPr algn="l" eaLnBrk="1" hangingPunct="1">
              <a:lnSpc>
                <a:spcPct val="80000"/>
              </a:lnSpc>
            </a:pPr>
            <a:endParaRPr lang="en-US" altLang="en-US" sz="2000"/>
          </a:p>
          <a:p>
            <a:pPr algn="l" eaLnBrk="1" hangingPunct="1">
              <a:lnSpc>
                <a:spcPct val="80000"/>
              </a:lnSpc>
            </a:pPr>
            <a:r>
              <a:rPr lang="en-US" altLang="en-US" sz="2000"/>
              <a:t>Output:</a:t>
            </a:r>
          </a:p>
          <a:p>
            <a:pPr algn="l" eaLnBrk="1" hangingPunct="1">
              <a:lnSpc>
                <a:spcPct val="80000"/>
              </a:lnSpc>
            </a:pPr>
            <a:r>
              <a:rPr lang="en-US" altLang="en-US" sz="2000"/>
              <a:t>A=10</a:t>
            </a:r>
          </a:p>
          <a:p>
            <a:pPr algn="l" eaLnBrk="1" hangingPunct="1">
              <a:lnSpc>
                <a:spcPct val="80000"/>
              </a:lnSpc>
            </a:pPr>
            <a:r>
              <a:rPr lang="en-US" altLang="en-US" sz="2000"/>
              <a:t>B=20</a:t>
            </a:r>
          </a:p>
          <a:p>
            <a:pPr algn="l" eaLnBrk="1" hangingPunct="1">
              <a:lnSpc>
                <a:spcPct val="80000"/>
              </a:lnSpc>
            </a:pPr>
            <a:r>
              <a:rPr lang="en-US" altLang="en-US" sz="2000"/>
              <a:t>D=200</a:t>
            </a:r>
          </a:p>
          <a:p>
            <a:pPr algn="l" eaLnBrk="1" hangingPunct="1">
              <a:lnSpc>
                <a:spcPct val="80000"/>
              </a:lnSpc>
            </a:pPr>
            <a:r>
              <a:rPr lang="en-US" altLang="en-US" sz="2000"/>
              <a:t>A=10</a:t>
            </a:r>
          </a:p>
          <a:p>
            <a:pPr algn="l" eaLnBrk="1" hangingPunct="1">
              <a:lnSpc>
                <a:spcPct val="80000"/>
              </a:lnSpc>
            </a:pPr>
            <a:r>
              <a:rPr lang="en-US" altLang="en-US" sz="2000"/>
              <a:t>B=100</a:t>
            </a:r>
          </a:p>
          <a:p>
            <a:pPr algn="l" eaLnBrk="1" hangingPunct="1">
              <a:lnSpc>
                <a:spcPct val="80000"/>
              </a:lnSpc>
            </a:pPr>
            <a:r>
              <a:rPr lang="en-US" altLang="en-US" sz="2000"/>
              <a:t>D=1000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9A8415B4-FD1F-DC8C-D174-DA54100B3CB2}"/>
              </a:ext>
            </a:extLst>
          </p:cNvPr>
          <p:cNvSpPr>
            <a:spLocks noChangeArrowheads="1"/>
          </p:cNvSpPr>
          <p:nvPr/>
        </p:nvSpPr>
        <p:spPr bwMode="auto">
          <a:xfrm>
            <a:off x="1828800" y="838200"/>
            <a:ext cx="4038600" cy="4724400"/>
          </a:xfrm>
          <a:prstGeom prst="rect">
            <a:avLst/>
          </a:prstGeom>
          <a:solidFill>
            <a:schemeClr val="accent1"/>
          </a:solidFill>
          <a:ln w="9525">
            <a:solidFill>
              <a:schemeClr val="tx1"/>
            </a:solidFill>
            <a:miter lim="800000"/>
            <a:headEnd/>
            <a:tailEnd/>
          </a:ln>
        </p:spPr>
        <p:txBody>
          <a:bodyPr wrap="none" anchorCtr="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t>Class D</a:t>
            </a:r>
          </a:p>
        </p:txBody>
      </p:sp>
      <p:sp>
        <p:nvSpPr>
          <p:cNvPr id="10243" name="Rectangle 5">
            <a:extLst>
              <a:ext uri="{FF2B5EF4-FFF2-40B4-BE49-F238E27FC236}">
                <a16:creationId xmlns:a16="http://schemas.microsoft.com/office/drawing/2014/main" id="{35D65808-5785-B145-69F4-D14562FC8E32}"/>
              </a:ext>
            </a:extLst>
          </p:cNvPr>
          <p:cNvSpPr>
            <a:spLocks noChangeArrowheads="1"/>
          </p:cNvSpPr>
          <p:nvPr/>
        </p:nvSpPr>
        <p:spPr bwMode="auto">
          <a:xfrm>
            <a:off x="2362200" y="1295400"/>
            <a:ext cx="3200400" cy="3810000"/>
          </a:xfrm>
          <a:prstGeom prst="rect">
            <a:avLst/>
          </a:prstGeom>
          <a:solidFill>
            <a:schemeClr val="accent1"/>
          </a:solidFill>
          <a:ln w="9525">
            <a:solidFill>
              <a:schemeClr val="tx1"/>
            </a:solidFill>
            <a:miter lim="800000"/>
            <a:headEnd/>
            <a:tailEnd/>
          </a:ln>
        </p:spPr>
        <p:txBody>
          <a:bodyPr wrap="none" anchorCtr="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Private section</a:t>
            </a:r>
          </a:p>
          <a:p>
            <a:r>
              <a:rPr lang="en-US" altLang="en-US"/>
              <a:t>d</a:t>
            </a:r>
          </a:p>
          <a:p>
            <a:endParaRPr lang="en-US" altLang="en-US"/>
          </a:p>
          <a:p>
            <a:r>
              <a:rPr lang="en-US" altLang="en-US"/>
              <a:t>Public section</a:t>
            </a:r>
          </a:p>
          <a:p>
            <a:endParaRPr lang="en-US" altLang="en-US"/>
          </a:p>
          <a:p>
            <a:r>
              <a:rPr lang="en-US" altLang="en-US"/>
              <a:t>b	//from B</a:t>
            </a:r>
          </a:p>
          <a:p>
            <a:r>
              <a:rPr lang="en-US" altLang="en-US"/>
              <a:t>get_a();  //from B</a:t>
            </a:r>
          </a:p>
          <a:p>
            <a:endParaRPr lang="en-US" altLang="en-US"/>
          </a:p>
          <a:p>
            <a:r>
              <a:rPr lang="en-US" altLang="en-US"/>
              <a:t>mul();</a:t>
            </a:r>
          </a:p>
          <a:p>
            <a:r>
              <a:rPr lang="en-US" altLang="en-US"/>
              <a:t>Disp();</a:t>
            </a:r>
          </a:p>
        </p:txBody>
      </p:sp>
      <p:sp>
        <p:nvSpPr>
          <p:cNvPr id="10244" name="Line 6">
            <a:extLst>
              <a:ext uri="{FF2B5EF4-FFF2-40B4-BE49-F238E27FC236}">
                <a16:creationId xmlns:a16="http://schemas.microsoft.com/office/drawing/2014/main" id="{754FABFF-F205-B116-905A-B0070C680E16}"/>
              </a:ext>
            </a:extLst>
          </p:cNvPr>
          <p:cNvSpPr>
            <a:spLocks noChangeShapeType="1"/>
          </p:cNvSpPr>
          <p:nvPr/>
        </p:nvSpPr>
        <p:spPr bwMode="auto">
          <a:xfrm>
            <a:off x="2362200" y="1981200"/>
            <a:ext cx="320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245" name="Rectangle 8">
            <a:extLst>
              <a:ext uri="{FF2B5EF4-FFF2-40B4-BE49-F238E27FC236}">
                <a16:creationId xmlns:a16="http://schemas.microsoft.com/office/drawing/2014/main" id="{3859A154-AB4D-188D-C160-F55C4DD400B6}"/>
              </a:ext>
            </a:extLst>
          </p:cNvPr>
          <p:cNvSpPr>
            <a:spLocks noChangeArrowheads="1"/>
          </p:cNvSpPr>
          <p:nvPr/>
        </p:nvSpPr>
        <p:spPr bwMode="auto">
          <a:xfrm>
            <a:off x="533400" y="6096000"/>
            <a:ext cx="5867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t>Public derivation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1C9330D-9505-F965-29F3-1F6F9F73073C}"/>
              </a:ext>
            </a:extLst>
          </p:cNvPr>
          <p:cNvSpPr>
            <a:spLocks noChangeArrowheads="1"/>
          </p:cNvSpPr>
          <p:nvPr/>
        </p:nvSpPr>
        <p:spPr bwMode="auto">
          <a:xfrm>
            <a:off x="1828800" y="838200"/>
            <a:ext cx="4038600" cy="4724400"/>
          </a:xfrm>
          <a:prstGeom prst="rect">
            <a:avLst/>
          </a:prstGeom>
          <a:solidFill>
            <a:schemeClr val="accent1"/>
          </a:solidFill>
          <a:ln w="9525">
            <a:solidFill>
              <a:schemeClr val="tx1"/>
            </a:solidFill>
            <a:miter lim="800000"/>
            <a:headEnd/>
            <a:tailEnd/>
          </a:ln>
        </p:spPr>
        <p:txBody>
          <a:bodyPr wrap="none" anchorCtr="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t>Class D</a:t>
            </a:r>
          </a:p>
        </p:txBody>
      </p:sp>
      <p:sp>
        <p:nvSpPr>
          <p:cNvPr id="11267" name="Rectangle 3">
            <a:extLst>
              <a:ext uri="{FF2B5EF4-FFF2-40B4-BE49-F238E27FC236}">
                <a16:creationId xmlns:a16="http://schemas.microsoft.com/office/drawing/2014/main" id="{7353773F-871F-17A0-DC5A-9748A6CA0DE8}"/>
              </a:ext>
            </a:extLst>
          </p:cNvPr>
          <p:cNvSpPr>
            <a:spLocks noChangeArrowheads="1"/>
          </p:cNvSpPr>
          <p:nvPr/>
        </p:nvSpPr>
        <p:spPr bwMode="auto">
          <a:xfrm>
            <a:off x="2362200" y="1295400"/>
            <a:ext cx="3200400" cy="3810000"/>
          </a:xfrm>
          <a:prstGeom prst="rect">
            <a:avLst/>
          </a:prstGeom>
          <a:solidFill>
            <a:schemeClr val="accent1"/>
          </a:solidFill>
          <a:ln w="9525">
            <a:solidFill>
              <a:schemeClr val="tx1"/>
            </a:solidFill>
            <a:miter lim="800000"/>
            <a:headEnd/>
            <a:tailEnd/>
          </a:ln>
        </p:spPr>
        <p:txBody>
          <a:bodyPr wrap="none" anchorCtr="1"/>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Private section</a:t>
            </a:r>
          </a:p>
          <a:p>
            <a:r>
              <a:rPr lang="en-US" altLang="en-US"/>
              <a:t>d</a:t>
            </a:r>
          </a:p>
          <a:p>
            <a:r>
              <a:rPr lang="en-US" altLang="en-US"/>
              <a:t>b	//from B</a:t>
            </a:r>
          </a:p>
          <a:p>
            <a:r>
              <a:rPr lang="en-US" altLang="en-US"/>
              <a:t>get_a();  //from B</a:t>
            </a:r>
          </a:p>
          <a:p>
            <a:endParaRPr lang="en-US" altLang="en-US"/>
          </a:p>
          <a:p>
            <a:endParaRPr lang="en-US" altLang="en-US"/>
          </a:p>
          <a:p>
            <a:endParaRPr lang="en-US" altLang="en-US"/>
          </a:p>
          <a:p>
            <a:r>
              <a:rPr lang="en-US" altLang="en-US"/>
              <a:t>Public section</a:t>
            </a:r>
          </a:p>
          <a:p>
            <a:endParaRPr lang="en-US" altLang="en-US"/>
          </a:p>
          <a:p>
            <a:r>
              <a:rPr lang="en-US" altLang="en-US"/>
              <a:t>mul();</a:t>
            </a:r>
          </a:p>
          <a:p>
            <a:r>
              <a:rPr lang="en-US" altLang="en-US"/>
              <a:t>Disp();</a:t>
            </a:r>
          </a:p>
        </p:txBody>
      </p:sp>
      <p:sp>
        <p:nvSpPr>
          <p:cNvPr id="11268" name="Line 4">
            <a:extLst>
              <a:ext uri="{FF2B5EF4-FFF2-40B4-BE49-F238E27FC236}">
                <a16:creationId xmlns:a16="http://schemas.microsoft.com/office/drawing/2014/main" id="{2D5DC6AF-9896-D92D-DBAC-ECC79B55194B}"/>
              </a:ext>
            </a:extLst>
          </p:cNvPr>
          <p:cNvSpPr>
            <a:spLocks noChangeShapeType="1"/>
          </p:cNvSpPr>
          <p:nvPr/>
        </p:nvSpPr>
        <p:spPr bwMode="auto">
          <a:xfrm>
            <a:off x="2362200" y="2895600"/>
            <a:ext cx="3200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69" name="Rectangle 5">
            <a:extLst>
              <a:ext uri="{FF2B5EF4-FFF2-40B4-BE49-F238E27FC236}">
                <a16:creationId xmlns:a16="http://schemas.microsoft.com/office/drawing/2014/main" id="{D363EA26-72F6-FB9D-B0C6-B2C41CBAA258}"/>
              </a:ext>
            </a:extLst>
          </p:cNvPr>
          <p:cNvSpPr>
            <a:spLocks noChangeArrowheads="1"/>
          </p:cNvSpPr>
          <p:nvPr/>
        </p:nvSpPr>
        <p:spPr bwMode="auto">
          <a:xfrm>
            <a:off x="533400" y="6096000"/>
            <a:ext cx="5867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a:t>Private derivation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C3B1FBFF-DBD5-63E0-6591-EC9073F5C7EF}"/>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Making a private member inheritable</a:t>
            </a:r>
          </a:p>
        </p:txBody>
      </p:sp>
      <p:sp>
        <p:nvSpPr>
          <p:cNvPr id="12291" name="Rectangle 3">
            <a:extLst>
              <a:ext uri="{FF2B5EF4-FFF2-40B4-BE49-F238E27FC236}">
                <a16:creationId xmlns:a16="http://schemas.microsoft.com/office/drawing/2014/main" id="{FEA1AC43-EDDD-9D06-479A-3ECCD52BBA93}"/>
              </a:ext>
            </a:extLst>
          </p:cNvPr>
          <p:cNvSpPr>
            <a:spLocks noGrp="1" noChangeArrowheads="1"/>
          </p:cNvSpPr>
          <p:nvPr>
            <p:ph type="subTitle" idx="1"/>
          </p:nvPr>
        </p:nvSpPr>
        <p:spPr>
          <a:xfrm>
            <a:off x="228600" y="609600"/>
            <a:ext cx="8686800" cy="6019800"/>
          </a:xfrm>
        </p:spPr>
        <p:txBody>
          <a:bodyPr/>
          <a:lstStyle/>
          <a:p>
            <a:pPr algn="just" eaLnBrk="1" hangingPunct="1">
              <a:buFontTx/>
              <a:buChar char="•"/>
            </a:pPr>
            <a:r>
              <a:rPr lang="en-US" altLang="en-US" sz="2800">
                <a:latin typeface="Times New Roman" panose="02020603050405020304" pitchFamily="18" charset="0"/>
              </a:rPr>
              <a:t>We have seen that private members of a base class cannot be inherited and therefore it is not available for the derived class directly</a:t>
            </a:r>
          </a:p>
          <a:p>
            <a:pPr algn="just" eaLnBrk="1" hangingPunct="1">
              <a:buFontTx/>
              <a:buChar char="•"/>
            </a:pPr>
            <a:r>
              <a:rPr lang="en-US" altLang="en-US" sz="2800">
                <a:latin typeface="Times New Roman" panose="02020603050405020304" pitchFamily="18" charset="0"/>
              </a:rPr>
              <a:t>If we want to inherit private data to derived class we can place the data in public section but it is available to outside functions also, so it is taking away the advantage of data hiding</a:t>
            </a:r>
          </a:p>
          <a:p>
            <a:pPr algn="just" eaLnBrk="1" hangingPunct="1">
              <a:buFontTx/>
              <a:buChar char="•"/>
            </a:pPr>
            <a:r>
              <a:rPr lang="en-US" altLang="en-US" sz="2800">
                <a:solidFill>
                  <a:srgbClr val="0066CC"/>
                </a:solidFill>
                <a:latin typeface="Times New Roman" panose="02020603050405020304" pitchFamily="18" charset="0"/>
              </a:rPr>
              <a:t>C++ provides third visibility mode called protected, which serve a limited purpose to inheritance</a:t>
            </a:r>
          </a:p>
          <a:p>
            <a:pPr algn="just" eaLnBrk="1" hangingPunct="1">
              <a:buFontTx/>
              <a:buChar char="•"/>
            </a:pPr>
            <a:r>
              <a:rPr lang="en-US" altLang="en-US" sz="2800">
                <a:latin typeface="Times New Roman" panose="02020603050405020304" pitchFamily="18" charset="0"/>
              </a:rPr>
              <a:t>A member declared as protected is accessible by the member functions within its class and any class immediately derived from it. It cannot be accessed by outside these functions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4E15DE5-26C2-28F2-71D8-C58C82CA8C37}"/>
              </a:ext>
            </a:extLst>
          </p:cNvPr>
          <p:cNvSpPr>
            <a:spLocks noGrp="1" noChangeArrowheads="1"/>
          </p:cNvSpPr>
          <p:nvPr>
            <p:ph type="ctrTitle"/>
          </p:nvPr>
        </p:nvSpPr>
        <p:spPr>
          <a:xfrm>
            <a:off x="685800" y="152400"/>
            <a:ext cx="7772400" cy="457200"/>
          </a:xfrm>
        </p:spPr>
        <p:txBody>
          <a:bodyPr/>
          <a:lstStyle/>
          <a:p>
            <a:pPr eaLnBrk="1" hangingPunct="1"/>
            <a:r>
              <a:rPr lang="en-US" altLang="en-US" sz="2800">
                <a:solidFill>
                  <a:schemeClr val="accent2"/>
                </a:solidFill>
              </a:rPr>
              <a:t>Making a private member inheritable</a:t>
            </a:r>
          </a:p>
        </p:txBody>
      </p:sp>
      <p:sp>
        <p:nvSpPr>
          <p:cNvPr id="13315" name="Rectangle 3">
            <a:extLst>
              <a:ext uri="{FF2B5EF4-FFF2-40B4-BE49-F238E27FC236}">
                <a16:creationId xmlns:a16="http://schemas.microsoft.com/office/drawing/2014/main" id="{B0389026-6F25-C22F-7B07-FFE0B233D9D8}"/>
              </a:ext>
            </a:extLst>
          </p:cNvPr>
          <p:cNvSpPr>
            <a:spLocks noGrp="1" noChangeArrowheads="1"/>
          </p:cNvSpPr>
          <p:nvPr>
            <p:ph type="subTitle" idx="1"/>
          </p:nvPr>
        </p:nvSpPr>
        <p:spPr>
          <a:xfrm>
            <a:off x="228600" y="609600"/>
            <a:ext cx="8686800" cy="6019800"/>
          </a:xfrm>
        </p:spPr>
        <p:txBody>
          <a:bodyPr/>
          <a:lstStyle/>
          <a:p>
            <a:pPr marL="609600" indent="-609600" algn="just" eaLnBrk="1" hangingPunct="1">
              <a:lnSpc>
                <a:spcPct val="90000"/>
              </a:lnSpc>
            </a:pPr>
            <a:r>
              <a:rPr lang="en-US" altLang="en-US" sz="2400">
                <a:latin typeface="Times New Roman" panose="02020603050405020304" pitchFamily="18" charset="0"/>
              </a:rPr>
              <a:t>class A</a:t>
            </a:r>
          </a:p>
          <a:p>
            <a:pPr marL="609600" indent="-609600" algn="just" eaLnBrk="1" hangingPunct="1">
              <a:lnSpc>
                <a:spcPct val="90000"/>
              </a:lnSpc>
            </a:pPr>
            <a:r>
              <a:rPr lang="en-US" altLang="en-US" sz="2400">
                <a:latin typeface="Times New Roman" panose="02020603050405020304" pitchFamily="18" charset="0"/>
              </a:rPr>
              <a:t>{</a:t>
            </a:r>
          </a:p>
          <a:p>
            <a:pPr marL="609600" indent="-609600" algn="just" eaLnBrk="1" hangingPunct="1">
              <a:lnSpc>
                <a:spcPct val="90000"/>
              </a:lnSpc>
            </a:pPr>
            <a:r>
              <a:rPr lang="en-US" altLang="en-US" sz="2400">
                <a:latin typeface="Times New Roman" panose="02020603050405020304" pitchFamily="18" charset="0"/>
              </a:rPr>
              <a:t>	private:</a:t>
            </a:r>
          </a:p>
          <a:p>
            <a:pPr marL="609600" indent="-609600" algn="just" eaLnBrk="1" hangingPunct="1">
              <a:lnSpc>
                <a:spcPct val="90000"/>
              </a:lnSpc>
            </a:pPr>
            <a:r>
              <a:rPr lang="en-US" altLang="en-US" sz="2400">
                <a:latin typeface="Times New Roman" panose="02020603050405020304" pitchFamily="18" charset="0"/>
              </a:rPr>
              <a:t>	….</a:t>
            </a:r>
          </a:p>
          <a:p>
            <a:pPr marL="609600" indent="-609600" algn="just" eaLnBrk="1" hangingPunct="1">
              <a:lnSpc>
                <a:spcPct val="90000"/>
              </a:lnSpc>
            </a:pPr>
            <a:r>
              <a:rPr lang="en-US" altLang="en-US" sz="2400">
                <a:latin typeface="Times New Roman" panose="02020603050405020304" pitchFamily="18" charset="0"/>
              </a:rPr>
              <a:t>	public:</a:t>
            </a:r>
          </a:p>
          <a:p>
            <a:pPr marL="609600" indent="-609600" algn="just" eaLnBrk="1" hangingPunct="1">
              <a:lnSpc>
                <a:spcPct val="90000"/>
              </a:lnSpc>
            </a:pPr>
            <a:r>
              <a:rPr lang="en-US" altLang="en-US" sz="2400">
                <a:latin typeface="Times New Roman" panose="02020603050405020304" pitchFamily="18" charset="0"/>
              </a:rPr>
              <a:t>	……</a:t>
            </a:r>
          </a:p>
          <a:p>
            <a:pPr marL="609600" indent="-609600" algn="just" eaLnBrk="1" hangingPunct="1">
              <a:lnSpc>
                <a:spcPct val="90000"/>
              </a:lnSpc>
            </a:pPr>
            <a:r>
              <a:rPr lang="en-US" altLang="en-US" sz="2400">
                <a:latin typeface="Times New Roman" panose="02020603050405020304" pitchFamily="18" charset="0"/>
              </a:rPr>
              <a:t>	protected:</a:t>
            </a:r>
          </a:p>
          <a:p>
            <a:pPr marL="609600" indent="-609600" algn="just" eaLnBrk="1" hangingPunct="1">
              <a:lnSpc>
                <a:spcPct val="90000"/>
              </a:lnSpc>
            </a:pPr>
            <a:r>
              <a:rPr lang="en-US" altLang="en-US" sz="2400">
                <a:latin typeface="Times New Roman" panose="02020603050405020304" pitchFamily="18" charset="0"/>
              </a:rPr>
              <a:t>	……</a:t>
            </a:r>
          </a:p>
          <a:p>
            <a:pPr marL="609600" indent="-609600" algn="just" eaLnBrk="1" hangingPunct="1">
              <a:lnSpc>
                <a:spcPct val="90000"/>
              </a:lnSpc>
            </a:pPr>
            <a:r>
              <a:rPr lang="en-US" altLang="en-US" sz="2400">
                <a:latin typeface="Times New Roman" panose="02020603050405020304" pitchFamily="18" charset="0"/>
              </a:rPr>
              <a:t>};</a:t>
            </a:r>
          </a:p>
          <a:p>
            <a:pPr marL="609600" indent="-609600" algn="just" eaLnBrk="1" hangingPunct="1">
              <a:lnSpc>
                <a:spcPct val="90000"/>
              </a:lnSpc>
              <a:buFontTx/>
              <a:buChar char="•"/>
            </a:pPr>
            <a:r>
              <a:rPr lang="en-US" altLang="en-US" sz="2400">
                <a:latin typeface="Times New Roman" panose="02020603050405020304" pitchFamily="18" charset="0"/>
              </a:rPr>
              <a:t>The below functions can access private and protected members of a class</a:t>
            </a:r>
          </a:p>
          <a:p>
            <a:pPr marL="990600" lvl="1" indent="-533400" algn="just" eaLnBrk="1" hangingPunct="1">
              <a:lnSpc>
                <a:spcPct val="90000"/>
              </a:lnSpc>
              <a:buFontTx/>
              <a:buAutoNum type="arabicPeriod"/>
            </a:pPr>
            <a:r>
              <a:rPr lang="en-US" altLang="en-US" sz="2000">
                <a:latin typeface="Times New Roman" panose="02020603050405020304" pitchFamily="18" charset="0"/>
              </a:rPr>
              <a:t>A function that is friend of the class</a:t>
            </a:r>
          </a:p>
          <a:p>
            <a:pPr marL="990600" lvl="1" indent="-533400" algn="just" eaLnBrk="1" hangingPunct="1">
              <a:lnSpc>
                <a:spcPct val="90000"/>
              </a:lnSpc>
              <a:buFontTx/>
              <a:buAutoNum type="arabicPeriod"/>
            </a:pPr>
            <a:r>
              <a:rPr lang="en-US" altLang="en-US" sz="2000">
                <a:latin typeface="Times New Roman" panose="02020603050405020304" pitchFamily="18" charset="0"/>
              </a:rPr>
              <a:t>A member function of a class</a:t>
            </a:r>
          </a:p>
          <a:p>
            <a:pPr marL="990600" lvl="1" indent="-533400" algn="just" eaLnBrk="1" hangingPunct="1">
              <a:lnSpc>
                <a:spcPct val="90000"/>
              </a:lnSpc>
              <a:buFontTx/>
              <a:buAutoNum type="arabicPeriod"/>
            </a:pPr>
            <a:r>
              <a:rPr lang="en-US" altLang="en-US" sz="2000">
                <a:latin typeface="Times New Roman" panose="02020603050405020304" pitchFamily="18" charset="0"/>
              </a:rPr>
              <a:t>A member function of a derived class directly access protected, private through the member functions of a base class</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
  <TotalTime>769</TotalTime>
  <Words>706</Words>
  <Application>Microsoft Office PowerPoint</Application>
  <PresentationFormat>On-screen Show (4:3)</PresentationFormat>
  <Paragraphs>158</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Default Design</vt:lpstr>
      <vt:lpstr>Inheritance</vt:lpstr>
      <vt:lpstr>Inheritance</vt:lpstr>
      <vt:lpstr>Types of Inheritance</vt:lpstr>
      <vt:lpstr>Defining derived classes</vt:lpstr>
      <vt:lpstr>PowerPoint Presentation</vt:lpstr>
      <vt:lpstr>PowerPoint Presentation</vt:lpstr>
      <vt:lpstr>Single inheritance</vt:lpstr>
      <vt:lpstr>PowerPoint Presentation</vt:lpstr>
      <vt:lpstr>PowerPoint Presentation</vt:lpstr>
      <vt:lpstr>PowerPoint Presentation</vt:lpstr>
      <vt:lpstr>Making a private member inheritable</vt:lpstr>
      <vt:lpstr>Making a private member inheritable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S Bhavani</cp:lastModifiedBy>
  <cp:revision>416</cp:revision>
  <cp:lastPrinted>1601-01-01T00:00:00Z</cp:lastPrinted>
  <dcterms:created xsi:type="dcterms:W3CDTF">1601-01-01T00:00:00Z</dcterms:created>
  <dcterms:modified xsi:type="dcterms:W3CDTF">2026-04-07T06:28:55Z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