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7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3" r:id="rId19"/>
    <p:sldId id="294" r:id="rId20"/>
    <p:sldId id="295" r:id="rId21"/>
    <p:sldId id="296" r:id="rId22"/>
    <p:sldId id="297" r:id="rId23"/>
    <p:sldId id="298" r:id="rId24"/>
    <p:sldId id="299" r:id="rId25"/>
    <p:sldId id="300" r:id="rId26"/>
    <p:sldId id="301" r:id="rId27"/>
    <p:sldId id="302" r:id="rId28"/>
  </p:sldIdLst>
  <p:sldSz cx="9144000" cy="6858000" type="screen4x3"/>
  <p:notesSz cx="6858000" cy="9144000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CC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069" autoAdjust="0"/>
  </p:normalViewPr>
  <p:slideViewPr>
    <p:cSldViewPr>
      <p:cViewPr varScale="1">
        <p:scale>
          <a:sx n="76" d="100"/>
          <a:sy n="76" d="100"/>
        </p:scale>
        <p:origin x="1642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EBE1C3A-9B40-F795-E9CE-72CE45D8AD3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329D6FB-CFA5-D450-563F-82530248365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A1AEFD9-353F-C0E0-DB48-A5022006E9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0F01B5-E3E3-4B4B-8223-5F8F9605ABF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1544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99537B9-1219-BC72-D6C3-3E8F5C39D9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154089E-FAB5-E323-0BA3-6AE6C9F0E40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8BE6339-2042-0EF4-0DF6-B8314BF689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56000F-3F09-4E44-BCAF-45EE7BF2729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674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7D4911F-9A12-C68D-85AD-F713F77BA1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5FC813B-AFC6-8824-A037-A54E6BA4632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F25FC48-1E65-4462-A01C-9DA95DD6B2C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A49D19-9B4D-41D8-A988-C494E189B8D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8093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196634-9354-8BDD-B07F-D29BFFBFF6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652CAB-0144-1BF2-6521-92E2E75DDA9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8532A2-BE0E-FAE5-A784-9E0EA17984D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F2A3AB-FFD9-4D99-B4BE-2E1F340A406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5091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E072759-AE26-6463-ADB0-71819455934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4213BBD-9189-9694-C4FE-59ED52237A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62830FE-2E04-6640-D045-9C1A1A57F8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1B95713-EF64-41E8-82A4-BF843A8194D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5519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A3A8880-17D5-04B7-3A1A-C578184DA6C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8BB493F-1C7E-7793-C2E3-76B8DAB89FE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934094B-31BE-8244-1CCC-44562AF205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673A0A6-3330-4CB1-BDB0-329F44DD494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1398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A02D32C7-AEEE-9A29-A65C-C39B0169EF6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22A820A-527F-B70C-5348-BE45FBD723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5C2FE2C-3E84-D1A5-F4A0-9C259BEC7DD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0839D88-878C-4C6D-8038-7C12D7FC876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4627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BAF2D1-9054-2504-4145-7DC086A61AF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94D6A9-B24A-F830-8B5E-8E73A1752F1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73A7C8-2815-C00F-1F3E-C45FF6BF11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ACBED0B-13A5-42DD-84F7-C14720A5C34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554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CF567F-ABBB-D0ED-5656-4D065688338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1C5811-6441-8B90-0678-6ECCBE78A13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8C5547-21DC-9732-9ABE-5868E50FD5C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81FC7B-2D6D-474F-A2C2-8F908017FAE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8540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607A539-AE9F-024D-87AB-2017F9B734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FFCFC29-6F21-EAE7-66D2-ACE5D69F4C9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09C2B5F-90D5-2DC8-B547-4D3250E5367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D1623C5-7A20-4684-8256-321DF73648A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968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8C11135-EDBE-D4CF-B0F1-F09FD21D273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E9E2271-EC14-4865-C03F-03E55FE46C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96C26A4-59E0-2A64-38EC-657E83252C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301591-BC5B-4559-98A8-594BB7982AA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3458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63AE65D-1036-9DE1-27BA-82AB07F1F4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DA39692-1105-A313-CEAB-5BCCDD63A7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D475C2E-CBCA-B230-91BB-F04550D8E1A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FC6E398-9BD1-757B-D7C5-FC12B494713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A1A8CF7-5FCC-5026-6E7C-F0828F99454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41468E84-F49B-4C23-9857-E6C65A754E91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3E2F71EE-2813-1896-6B39-0D1CE5F8CA8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en-US" sz="2800">
                <a:solidFill>
                  <a:schemeClr val="accent2"/>
                </a:solidFill>
              </a:rPr>
              <a:t>Exception Handling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3C4CFD8C-224D-FE16-F532-1083119B287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09600"/>
            <a:ext cx="8686800" cy="6019800"/>
          </a:xfrm>
        </p:spPr>
        <p:txBody>
          <a:bodyPr/>
          <a:lstStyle/>
          <a:p>
            <a:pPr marL="609600" indent="-609600" algn="just" eaLnBrk="1" hangingPunct="1">
              <a:lnSpc>
                <a:spcPct val="80000"/>
              </a:lnSpc>
              <a:buFontTx/>
              <a:buChar char="•"/>
            </a:pPr>
            <a:r>
              <a:rPr lang="en-US" altLang="en-US" sz="2800">
                <a:latin typeface="Times New Roman" panose="02020603050405020304" pitchFamily="18" charset="0"/>
              </a:rPr>
              <a:t>Bugs are two types</a:t>
            </a:r>
          </a:p>
          <a:p>
            <a:pPr marL="990600" lvl="1" indent="-533400" algn="just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en-US" sz="2400">
                <a:latin typeface="Times New Roman" panose="02020603050405020304" pitchFamily="18" charset="0"/>
              </a:rPr>
              <a:t>Logical errors</a:t>
            </a:r>
          </a:p>
          <a:p>
            <a:pPr marL="1371600" lvl="2" indent="-457200" algn="just" eaLnBrk="1" hangingPunct="1">
              <a:lnSpc>
                <a:spcPct val="80000"/>
              </a:lnSpc>
              <a:buFontTx/>
              <a:buChar char="–"/>
            </a:pPr>
            <a:r>
              <a:rPr lang="en-US" altLang="en-US" sz="2000">
                <a:latin typeface="Times New Roman" panose="02020603050405020304" pitchFamily="18" charset="0"/>
              </a:rPr>
              <a:t>Due to poor understanding of the problem and solution procedures</a:t>
            </a:r>
          </a:p>
          <a:p>
            <a:pPr marL="990600" lvl="1" indent="-533400" algn="just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en-US" sz="2400">
                <a:latin typeface="Times New Roman" panose="02020603050405020304" pitchFamily="18" charset="0"/>
              </a:rPr>
              <a:t>Syntactic errors</a:t>
            </a:r>
          </a:p>
          <a:p>
            <a:pPr marL="1371600" lvl="2" indent="-457200" algn="just" eaLnBrk="1" hangingPunct="1">
              <a:lnSpc>
                <a:spcPct val="80000"/>
              </a:lnSpc>
              <a:buFontTx/>
              <a:buChar char="–"/>
            </a:pPr>
            <a:r>
              <a:rPr lang="en-US" altLang="en-US" sz="2000">
                <a:latin typeface="Times New Roman" panose="02020603050405020304" pitchFamily="18" charset="0"/>
              </a:rPr>
              <a:t>Due to poor understanding of the language itself</a:t>
            </a:r>
          </a:p>
          <a:p>
            <a:pPr marL="1371600" lvl="2" indent="-457200" algn="just" eaLnBrk="1" hangingPunct="1">
              <a:lnSpc>
                <a:spcPct val="80000"/>
              </a:lnSpc>
              <a:buFontTx/>
              <a:buChar char="–"/>
            </a:pPr>
            <a:r>
              <a:rPr lang="en-US" altLang="en-US" sz="2000">
                <a:latin typeface="Times New Roman" panose="02020603050405020304" pitchFamily="18" charset="0"/>
              </a:rPr>
              <a:t>We can detect these by using exhaustive debugging and procedures</a:t>
            </a:r>
          </a:p>
          <a:p>
            <a:pPr marL="609600" indent="-609600" algn="just" eaLnBrk="1" hangingPunct="1">
              <a:lnSpc>
                <a:spcPct val="80000"/>
              </a:lnSpc>
              <a:buFontTx/>
              <a:buChar char="•"/>
            </a:pPr>
            <a:r>
              <a:rPr lang="en-US" altLang="en-US" sz="2800">
                <a:latin typeface="Times New Roman" panose="02020603050405020304" pitchFamily="18" charset="0"/>
              </a:rPr>
              <a:t>Some particular problems other than above two are known as exceptions</a:t>
            </a:r>
          </a:p>
          <a:p>
            <a:pPr marL="609600" indent="-609600" algn="just" eaLnBrk="1" hangingPunct="1">
              <a:lnSpc>
                <a:spcPct val="80000"/>
              </a:lnSpc>
              <a:buFontTx/>
              <a:buChar char="•"/>
            </a:pPr>
            <a:r>
              <a:rPr lang="en-US" altLang="en-US" sz="2800">
                <a:latin typeface="Times New Roman" panose="02020603050405020304" pitchFamily="18" charset="0"/>
              </a:rPr>
              <a:t>Exceptions are runtime anomalies or unusual conditions that program may encounter while executing.</a:t>
            </a:r>
          </a:p>
          <a:p>
            <a:pPr marL="609600" indent="-609600" algn="just" eaLnBrk="1" hangingPunct="1">
              <a:lnSpc>
                <a:spcPct val="80000"/>
              </a:lnSpc>
              <a:buFontTx/>
              <a:buChar char="•"/>
            </a:pPr>
            <a:r>
              <a:rPr lang="en-US" altLang="en-US" sz="2800">
                <a:latin typeface="Times New Roman" panose="02020603050405020304" pitchFamily="18" charset="0"/>
              </a:rPr>
              <a:t>Eg: /0, array index out of bounds, running out of memory or disk space etc.</a:t>
            </a:r>
          </a:p>
          <a:p>
            <a:pPr marL="609600" indent="-609600" algn="just" eaLnBrk="1" hangingPunct="1">
              <a:lnSpc>
                <a:spcPct val="80000"/>
              </a:lnSpc>
              <a:buFontTx/>
              <a:buChar char="•"/>
            </a:pPr>
            <a:r>
              <a:rPr lang="en-US" altLang="en-US" sz="2800">
                <a:latin typeface="Times New Roman" panose="02020603050405020304" pitchFamily="18" charset="0"/>
              </a:rPr>
              <a:t>C++ provides built-in language features to detect and handle exceptions which are basically run time errors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2B1E1B-0654-FC63-8A48-648224046326}"/>
              </a:ext>
            </a:extLst>
          </p:cNvPr>
          <p:cNvSpPr txBox="1"/>
          <p:nvPr/>
        </p:nvSpPr>
        <p:spPr>
          <a:xfrm>
            <a:off x="2286000" y="3041715"/>
            <a:ext cx="4572000" cy="774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50"/>
              </a:spcBef>
              <a:spcAft>
                <a:spcPts val="450"/>
              </a:spcAft>
              <a:buFont typeface="+mj-lt"/>
              <a:buAutoNum type="arabicPeriod"/>
            </a:pPr>
            <a:r>
              <a:rPr lang="en-US" b="0" i="0">
                <a:solidFill>
                  <a:srgbClr val="FFFFFF"/>
                </a:solidFill>
                <a:effectLst/>
                <a:latin typeface="-apple-system"/>
              </a:rPr>
              <a:t>convert </a:t>
            </a:r>
            <a:r>
              <a:rPr lang="en-US" b="0" i="0">
                <a:solidFill>
                  <a:srgbClr val="FFFFFF"/>
                </a:solidFill>
                <a:effectLst/>
                <a:latin typeface="ui-monospace"/>
              </a:rPr>
              <a:t>.ppt</a:t>
            </a:r>
            <a:r>
              <a:rPr lang="en-US" b="0" i="0">
                <a:solidFill>
                  <a:srgbClr val="FFFFFF"/>
                </a:solidFill>
                <a:effectLst/>
                <a:latin typeface="-apple-system"/>
              </a:rPr>
              <a:t> to </a:t>
            </a:r>
            <a:r>
              <a:rPr lang="en-US" b="0" i="0">
                <a:solidFill>
                  <a:srgbClr val="FFFFFF"/>
                </a:solidFill>
                <a:effectLst/>
                <a:latin typeface="ui-monospace"/>
              </a:rPr>
              <a:t>.pptx</a:t>
            </a:r>
            <a:r>
              <a:rPr lang="en-US" b="0" i="0">
                <a:solidFill>
                  <a:srgbClr val="FFFFFF"/>
                </a:solidFill>
                <a:effectLst/>
                <a:latin typeface="-apple-system"/>
              </a:rPr>
              <a:t> or PDF,</a:t>
            </a:r>
          </a:p>
          <a:p>
            <a:pPr algn="l">
              <a:spcBef>
                <a:spcPts val="450"/>
              </a:spcBef>
              <a:spcAft>
                <a:spcPts val="450"/>
              </a:spcAft>
              <a:buFont typeface="+mj-lt"/>
              <a:buAutoNum type="arabicPeriod"/>
            </a:pPr>
            <a:r>
              <a:rPr lang="en-US" b="0" i="0" dirty="0">
                <a:solidFill>
                  <a:srgbClr val="FFFFFF"/>
                </a:solidFill>
                <a:effectLst/>
                <a:latin typeface="-apple-system"/>
              </a:rPr>
              <a:t>run OCR on scanned PDFs,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F09A618-C380-C678-8BB0-71A48D25CBF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en-US" sz="2800">
                <a:solidFill>
                  <a:schemeClr val="accent2"/>
                </a:solidFill>
              </a:rPr>
              <a:t>Exception Handling 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C5FC525A-D648-A118-F909-01614F8B10B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09600"/>
            <a:ext cx="8686800" cy="6019800"/>
          </a:xfrm>
        </p:spPr>
        <p:txBody>
          <a:bodyPr/>
          <a:lstStyle/>
          <a:p>
            <a:pPr marL="609600" indent="-609600" algn="just" eaLnBrk="1" hangingPunct="1"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Exception handling was not part of the original C++</a:t>
            </a:r>
          </a:p>
          <a:p>
            <a:pPr marL="609600" indent="-609600" algn="just" eaLnBrk="1" hangingPunct="1"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It a new feature added to ANSI C++</a:t>
            </a:r>
          </a:p>
          <a:p>
            <a:pPr marL="609600" indent="-609600" algn="just" eaLnBrk="1" hangingPunct="1"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Today almost all compilers are supporting</a:t>
            </a:r>
          </a:p>
          <a:p>
            <a:pPr marL="609600" indent="-609600" algn="just" eaLnBrk="1" hangingPunct="1">
              <a:buFontTx/>
              <a:buChar char="•"/>
            </a:pPr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08AF2E07-54BB-D5E1-8A2F-34FCF670230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en-US" sz="2800">
                <a:solidFill>
                  <a:schemeClr val="accent2"/>
                </a:solidFill>
              </a:rPr>
              <a:t>Basics of Exception Handling </a:t>
            </a:r>
          </a:p>
        </p:txBody>
      </p:sp>
      <p:sp>
        <p:nvSpPr>
          <p:cNvPr id="4099" name="Rectangle 4">
            <a:extLst>
              <a:ext uri="{FF2B5EF4-FFF2-40B4-BE49-F238E27FC236}">
                <a16:creationId xmlns:a16="http://schemas.microsoft.com/office/drawing/2014/main" id="{A2D2430F-2950-6CB5-8110-A1FE6861B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1143000"/>
            <a:ext cx="1981200" cy="5334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Exceptions</a:t>
            </a:r>
          </a:p>
        </p:txBody>
      </p:sp>
      <p:sp>
        <p:nvSpPr>
          <p:cNvPr id="4100" name="Rectangle 5">
            <a:extLst>
              <a:ext uri="{FF2B5EF4-FFF2-40B4-BE49-F238E27FC236}">
                <a16:creationId xmlns:a16="http://schemas.microsoft.com/office/drawing/2014/main" id="{F0101EF2-E157-EDC8-87BB-D0457498CA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895600"/>
            <a:ext cx="1981200" cy="5334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synchronous</a:t>
            </a:r>
          </a:p>
        </p:txBody>
      </p:sp>
      <p:sp>
        <p:nvSpPr>
          <p:cNvPr id="4101" name="Rectangle 6">
            <a:extLst>
              <a:ext uri="{FF2B5EF4-FFF2-40B4-BE49-F238E27FC236}">
                <a16:creationId xmlns:a16="http://schemas.microsoft.com/office/drawing/2014/main" id="{6295633C-7B9E-5135-E2B9-E8DBD1FF7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2895600"/>
            <a:ext cx="1981200" cy="5334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asynchronous</a:t>
            </a:r>
          </a:p>
        </p:txBody>
      </p:sp>
      <p:cxnSp>
        <p:nvCxnSpPr>
          <p:cNvPr id="4102" name="AutoShape 7">
            <a:extLst>
              <a:ext uri="{FF2B5EF4-FFF2-40B4-BE49-F238E27FC236}">
                <a16:creationId xmlns:a16="http://schemas.microsoft.com/office/drawing/2014/main" id="{B9A9300D-FDCA-25A7-6A47-5E819E4BCD6D}"/>
              </a:ext>
            </a:extLst>
          </p:cNvPr>
          <p:cNvCxnSpPr>
            <a:cxnSpLocks noChangeShapeType="1"/>
            <a:stCxn id="4099" idx="2"/>
            <a:endCxn id="4100" idx="0"/>
          </p:cNvCxnSpPr>
          <p:nvPr/>
        </p:nvCxnSpPr>
        <p:spPr bwMode="auto">
          <a:xfrm flipH="1">
            <a:off x="2514600" y="1676400"/>
            <a:ext cx="1752600" cy="1219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03" name="AutoShape 8">
            <a:extLst>
              <a:ext uri="{FF2B5EF4-FFF2-40B4-BE49-F238E27FC236}">
                <a16:creationId xmlns:a16="http://schemas.microsoft.com/office/drawing/2014/main" id="{65FA0DA2-875E-2D72-A4F5-F093390027E4}"/>
              </a:ext>
            </a:extLst>
          </p:cNvPr>
          <p:cNvCxnSpPr>
            <a:cxnSpLocks noChangeShapeType="1"/>
            <a:stCxn id="4099" idx="2"/>
            <a:endCxn id="4101" idx="0"/>
          </p:cNvCxnSpPr>
          <p:nvPr/>
        </p:nvCxnSpPr>
        <p:spPr bwMode="auto">
          <a:xfrm>
            <a:off x="4267200" y="1676400"/>
            <a:ext cx="1676400" cy="1219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04" name="Rectangle 9">
            <a:extLst>
              <a:ext uri="{FF2B5EF4-FFF2-40B4-BE49-F238E27FC236}">
                <a16:creationId xmlns:a16="http://schemas.microsoft.com/office/drawing/2014/main" id="{776210BB-9F5B-8A0D-3CB6-113B97C195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3581400"/>
            <a:ext cx="2514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en-US"/>
              <a:t>Eg : out of range index, </a:t>
            </a:r>
          </a:p>
          <a:p>
            <a:pPr algn="l"/>
            <a:r>
              <a:rPr lang="en-US" altLang="en-US"/>
              <a:t>	overflow</a:t>
            </a:r>
          </a:p>
        </p:txBody>
      </p:sp>
      <p:sp>
        <p:nvSpPr>
          <p:cNvPr id="4105" name="Rectangle 10">
            <a:extLst>
              <a:ext uri="{FF2B5EF4-FFF2-40B4-BE49-F238E27FC236}">
                <a16:creationId xmlns:a16="http://schemas.microsoft.com/office/drawing/2014/main" id="{B13822B3-2BCB-6877-EAE5-DB78FC08AC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3581400"/>
            <a:ext cx="2514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en-US"/>
              <a:t>Beyond program control</a:t>
            </a:r>
          </a:p>
          <a:p>
            <a:pPr algn="l"/>
            <a:r>
              <a:rPr lang="en-US" altLang="en-US"/>
              <a:t>Eg : key board interrupts etc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3">
            <a:extLst>
              <a:ext uri="{FF2B5EF4-FFF2-40B4-BE49-F238E27FC236}">
                <a16:creationId xmlns:a16="http://schemas.microsoft.com/office/drawing/2014/main" id="{C0E2BD54-0237-9A66-AFC0-A53D2845F1E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152400"/>
            <a:ext cx="8686800" cy="6477000"/>
          </a:xfrm>
        </p:spPr>
        <p:txBody>
          <a:bodyPr/>
          <a:lstStyle/>
          <a:p>
            <a:pPr marL="609600" indent="-609600"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C++ is designed to handle synchronous exceptions only</a:t>
            </a:r>
          </a:p>
          <a:p>
            <a:pPr marL="609600" indent="-609600"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The purpose of the exception handling mechanism is to provide means to detect and report an “exceptional circumstance” so that appropriate action can be taken</a:t>
            </a:r>
          </a:p>
          <a:p>
            <a:pPr marL="609600" indent="-609600"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The mechanism suggest a separate error handling code that perform the following tasks</a:t>
            </a:r>
          </a:p>
          <a:p>
            <a:pPr marL="990600" lvl="1" indent="-533400" algn="just" eaLnBrk="1" hangingPunct="1">
              <a:lnSpc>
                <a:spcPct val="90000"/>
              </a:lnSpc>
              <a:buFontTx/>
              <a:buAutoNum type="arabicPeriod"/>
            </a:pPr>
            <a:r>
              <a:rPr lang="en-US" altLang="en-US">
                <a:latin typeface="Times New Roman" panose="02020603050405020304" pitchFamily="18" charset="0"/>
              </a:rPr>
              <a:t>Find the problem (Hit the exception)</a:t>
            </a:r>
          </a:p>
          <a:p>
            <a:pPr marL="990600" lvl="1" indent="-533400" algn="just" eaLnBrk="1" hangingPunct="1">
              <a:lnSpc>
                <a:spcPct val="90000"/>
              </a:lnSpc>
              <a:buFontTx/>
              <a:buAutoNum type="arabicPeriod"/>
            </a:pPr>
            <a:r>
              <a:rPr lang="en-US" altLang="en-US">
                <a:latin typeface="Times New Roman" panose="02020603050405020304" pitchFamily="18" charset="0"/>
              </a:rPr>
              <a:t>Inform that an error has occurred (throw the exception)</a:t>
            </a:r>
          </a:p>
          <a:p>
            <a:pPr marL="990600" lvl="1" indent="-533400" algn="just" eaLnBrk="1" hangingPunct="1">
              <a:lnSpc>
                <a:spcPct val="90000"/>
              </a:lnSpc>
              <a:buFontTx/>
              <a:buAutoNum type="arabicPeriod"/>
            </a:pPr>
            <a:r>
              <a:rPr lang="en-US" altLang="en-US">
                <a:latin typeface="Times New Roman" panose="02020603050405020304" pitchFamily="18" charset="0"/>
              </a:rPr>
              <a:t>Receive the error information (catch the exception)</a:t>
            </a:r>
          </a:p>
          <a:p>
            <a:pPr marL="990600" lvl="1" indent="-533400" algn="just" eaLnBrk="1" hangingPunct="1">
              <a:lnSpc>
                <a:spcPct val="90000"/>
              </a:lnSpc>
              <a:buFontTx/>
              <a:buAutoNum type="arabicPeriod"/>
            </a:pPr>
            <a:r>
              <a:rPr lang="en-US" altLang="en-US">
                <a:latin typeface="Times New Roman" panose="02020603050405020304" pitchFamily="18" charset="0"/>
              </a:rPr>
              <a:t>Take corrective actions (handle the exception)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F5F2DE4-F410-B39A-E168-E2A352E92B9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228600"/>
            <a:ext cx="8686800" cy="6477000"/>
          </a:xfrm>
        </p:spPr>
        <p:txBody>
          <a:bodyPr/>
          <a:lstStyle/>
          <a:p>
            <a:pPr marL="609600" indent="-609600" algn="just" eaLnBrk="1" hangingPunct="1"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C++ exception handling mechanism is basically built upon three key words</a:t>
            </a:r>
          </a:p>
          <a:p>
            <a:pPr marL="990600" lvl="1" indent="-533400" algn="just" eaLnBrk="1" hangingPunct="1">
              <a:buFontTx/>
              <a:buAutoNum type="arabicPeriod"/>
            </a:pPr>
            <a:r>
              <a:rPr lang="en-US" altLang="en-US">
                <a:latin typeface="Times New Roman" panose="02020603050405020304" pitchFamily="18" charset="0"/>
              </a:rPr>
              <a:t>try	:used to preface a block of statements which may generate exceptions known as try block</a:t>
            </a:r>
          </a:p>
          <a:p>
            <a:pPr marL="990600" lvl="1" indent="-533400" algn="just" eaLnBrk="1" hangingPunct="1">
              <a:buFontTx/>
              <a:buAutoNum type="arabicPeriod"/>
            </a:pPr>
            <a:r>
              <a:rPr lang="en-US" altLang="en-US">
                <a:latin typeface="Times New Roman" panose="02020603050405020304" pitchFamily="18" charset="0"/>
              </a:rPr>
              <a:t>throw	:when an exception is detected, it is thrown suing throw statement in the try block</a:t>
            </a:r>
          </a:p>
          <a:p>
            <a:pPr marL="990600" lvl="1" indent="-533400" algn="just" eaLnBrk="1" hangingPunct="1">
              <a:buFontTx/>
              <a:buAutoNum type="arabicPeriod"/>
            </a:pPr>
            <a:r>
              <a:rPr lang="en-US" altLang="en-US">
                <a:latin typeface="Times New Roman" panose="02020603050405020304" pitchFamily="18" charset="0"/>
              </a:rPr>
              <a:t>catch	: catch block catches the exception thrown by the throw statement in the try block, and handles it properly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1">
            <a:extLst>
              <a:ext uri="{FF2B5EF4-FFF2-40B4-BE49-F238E27FC236}">
                <a16:creationId xmlns:a16="http://schemas.microsoft.com/office/drawing/2014/main" id="{8B308BBB-0DF9-5A2C-1905-26BEB17165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609600"/>
            <a:ext cx="2895600" cy="12954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Try block</a:t>
            </a:r>
          </a:p>
          <a:p>
            <a:endParaRPr lang="en-US" altLang="en-US"/>
          </a:p>
          <a:p>
            <a:r>
              <a:rPr lang="en-US" altLang="en-US"/>
              <a:t>Detects and throws an</a:t>
            </a:r>
          </a:p>
          <a:p>
            <a:r>
              <a:rPr lang="en-US" altLang="en-US"/>
              <a:t>exception</a:t>
            </a:r>
          </a:p>
        </p:txBody>
      </p:sp>
      <p:sp>
        <p:nvSpPr>
          <p:cNvPr id="7171" name="Line 12">
            <a:extLst>
              <a:ext uri="{FF2B5EF4-FFF2-40B4-BE49-F238E27FC236}">
                <a16:creationId xmlns:a16="http://schemas.microsoft.com/office/drawing/2014/main" id="{E15E7A67-3C9F-A8FA-3971-73FFF6A750A1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1066800"/>
            <a:ext cx="289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172" name="Rectangle 13">
            <a:extLst>
              <a:ext uri="{FF2B5EF4-FFF2-40B4-BE49-F238E27FC236}">
                <a16:creationId xmlns:a16="http://schemas.microsoft.com/office/drawing/2014/main" id="{C8B4F25B-B6A7-C9A9-04DA-0783379C07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3581400"/>
            <a:ext cx="2895600" cy="12954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catch block</a:t>
            </a:r>
          </a:p>
          <a:p>
            <a:endParaRPr lang="en-US" altLang="en-US"/>
          </a:p>
          <a:p>
            <a:r>
              <a:rPr lang="en-US" altLang="en-US"/>
              <a:t>Catches and handles</a:t>
            </a:r>
          </a:p>
          <a:p>
            <a:r>
              <a:rPr lang="en-US" altLang="en-US"/>
              <a:t>the exception</a:t>
            </a:r>
          </a:p>
        </p:txBody>
      </p:sp>
      <p:sp>
        <p:nvSpPr>
          <p:cNvPr id="7173" name="Line 14">
            <a:extLst>
              <a:ext uri="{FF2B5EF4-FFF2-40B4-BE49-F238E27FC236}">
                <a16:creationId xmlns:a16="http://schemas.microsoft.com/office/drawing/2014/main" id="{F9F83918-5799-90A5-D549-3F211132BE59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4038600"/>
            <a:ext cx="289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cxnSp>
        <p:nvCxnSpPr>
          <p:cNvPr id="7174" name="AutoShape 15">
            <a:extLst>
              <a:ext uri="{FF2B5EF4-FFF2-40B4-BE49-F238E27FC236}">
                <a16:creationId xmlns:a16="http://schemas.microsoft.com/office/drawing/2014/main" id="{52BCDA86-9F42-8AC3-0FB7-FA577C0FEC11}"/>
              </a:ext>
            </a:extLst>
          </p:cNvPr>
          <p:cNvCxnSpPr>
            <a:cxnSpLocks noChangeShapeType="1"/>
            <a:stCxn id="7170" idx="1"/>
            <a:endCxn id="7172" idx="1"/>
          </p:cNvCxnSpPr>
          <p:nvPr/>
        </p:nvCxnSpPr>
        <p:spPr bwMode="auto">
          <a:xfrm rot="10800000" flipH="1" flipV="1">
            <a:off x="3581400" y="1257300"/>
            <a:ext cx="1588" cy="2971800"/>
          </a:xfrm>
          <a:prstGeom prst="curvedConnector3">
            <a:avLst>
              <a:gd name="adj1" fmla="val -123200032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175" name="Rectangle 16">
            <a:extLst>
              <a:ext uri="{FF2B5EF4-FFF2-40B4-BE49-F238E27FC236}">
                <a16:creationId xmlns:a16="http://schemas.microsoft.com/office/drawing/2014/main" id="{0E5F01AC-D9E5-3EDF-0105-63B2D8F076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2438400"/>
            <a:ext cx="1066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Exception</a:t>
            </a:r>
          </a:p>
          <a:p>
            <a:r>
              <a:rPr lang="en-US" altLang="en-US"/>
              <a:t>object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8AD3CDBE-4A0D-7AD6-FE6C-0BB7FCB5722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228600"/>
            <a:ext cx="8686800" cy="6477000"/>
          </a:xfrm>
        </p:spPr>
        <p:txBody>
          <a:bodyPr/>
          <a:lstStyle/>
          <a:p>
            <a:pPr marL="609600" indent="-609600" algn="just" eaLnBrk="1" hangingPunct="1">
              <a:lnSpc>
                <a:spcPct val="80000"/>
              </a:lnSpc>
              <a:buFontTx/>
              <a:buChar char="•"/>
            </a:pPr>
            <a:r>
              <a:rPr lang="en-US" altLang="en-US" sz="2400">
                <a:latin typeface="Times New Roman" panose="02020603050405020304" pitchFamily="18" charset="0"/>
              </a:rPr>
              <a:t>The catch block that catches an exception must immediately follow the try block that throws the exception</a:t>
            </a:r>
          </a:p>
          <a:p>
            <a:pPr marL="609600" indent="-609600" algn="just" eaLnBrk="1" hangingPunct="1">
              <a:lnSpc>
                <a:spcPct val="80000"/>
              </a:lnSpc>
              <a:buFontTx/>
              <a:buChar char="•"/>
            </a:pPr>
            <a:r>
              <a:rPr lang="en-US" altLang="en-US" sz="2400">
                <a:latin typeface="Times New Roman" panose="02020603050405020304" pitchFamily="18" charset="0"/>
              </a:rPr>
              <a:t>General form: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</a:rPr>
              <a:t>……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</a:rPr>
              <a:t>try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</a:rPr>
              <a:t>{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</a:rPr>
              <a:t>	….			//block of statements which detects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</a:rPr>
              <a:t>	throw exception;		// and throws an exception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</a:rPr>
              <a:t>	………….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</a:rPr>
              <a:t>}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</a:rPr>
              <a:t>catch (type arg)		//catches exception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</a:rPr>
              <a:t>{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</a:rPr>
              <a:t>	……..			//block of statements that handles the 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</a:rPr>
              <a:t>	……..			// exception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</a:rPr>
              <a:t>}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</a:rPr>
              <a:t>……..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</a:rPr>
              <a:t>…….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20CB6A2A-5E78-CF00-1383-26CA9EEE39C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228600"/>
            <a:ext cx="8686800" cy="6477000"/>
          </a:xfrm>
        </p:spPr>
        <p:txBody>
          <a:bodyPr/>
          <a:lstStyle/>
          <a:p>
            <a:pPr marL="609600" indent="-609600" algn="just" eaLnBrk="1" hangingPunct="1">
              <a:buFontTx/>
              <a:buChar char="•"/>
            </a:pPr>
            <a:r>
              <a:rPr lang="en-US" altLang="en-US" sz="2800">
                <a:latin typeface="Times New Roman" panose="02020603050405020304" pitchFamily="18" charset="0"/>
              </a:rPr>
              <a:t>When the try block throws an exception, the program control leaves the try block and enters the catch block</a:t>
            </a:r>
          </a:p>
          <a:p>
            <a:pPr marL="609600" indent="-609600" algn="just" eaLnBrk="1" hangingPunct="1">
              <a:buFontTx/>
              <a:buChar char="•"/>
            </a:pPr>
            <a:r>
              <a:rPr lang="en-US" altLang="en-US" sz="2800">
                <a:latin typeface="Times New Roman" panose="02020603050405020304" pitchFamily="18" charset="0"/>
              </a:rPr>
              <a:t>Exceptions are objects used to transmit information about a problem</a:t>
            </a:r>
          </a:p>
          <a:p>
            <a:pPr marL="609600" indent="-609600" algn="just" eaLnBrk="1" hangingPunct="1">
              <a:buFontTx/>
              <a:buChar char="•"/>
            </a:pPr>
            <a:r>
              <a:rPr lang="en-US" altLang="en-US" sz="2800">
                <a:latin typeface="Times New Roman" panose="02020603050405020304" pitchFamily="18" charset="0"/>
              </a:rPr>
              <a:t>If the type of object matches the arg type in catch statement, then catch block is executed for handling the exception</a:t>
            </a:r>
          </a:p>
          <a:p>
            <a:pPr marL="609600" indent="-609600" algn="just" eaLnBrk="1" hangingPunct="1">
              <a:buFontTx/>
              <a:buChar char="•"/>
            </a:pPr>
            <a:r>
              <a:rPr lang="en-US" altLang="en-US" sz="2800">
                <a:latin typeface="Times New Roman" panose="02020603050405020304" pitchFamily="18" charset="0"/>
              </a:rPr>
              <a:t>If they do not match the program is aborted with the help of abort( ) function, which is invoked by default</a:t>
            </a:r>
          </a:p>
          <a:p>
            <a:pPr marL="609600" indent="-609600" algn="just" eaLnBrk="1" hangingPunct="1">
              <a:buFontTx/>
              <a:buChar char="•"/>
            </a:pPr>
            <a:r>
              <a:rPr lang="en-US" altLang="en-US" sz="2800">
                <a:latin typeface="Times New Roman" panose="02020603050405020304" pitchFamily="18" charset="0"/>
              </a:rPr>
              <a:t>When no exception is detected and thrown, the control goes to the statement immediately after the catch block, that is catch block is skipped.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F9108D4C-1E03-6CEE-7B0A-F9D98D1CBDD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228600"/>
            <a:ext cx="8686800" cy="6477000"/>
          </a:xfrm>
        </p:spPr>
        <p:txBody>
          <a:bodyPr/>
          <a:lstStyle/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2000"/>
              <a:t>#include &lt;iostream&gt;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2000"/>
              <a:t>using namespace std;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2000"/>
              <a:t>int main()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2000"/>
              <a:t>{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2000"/>
              <a:t>	int a;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2000"/>
              <a:t>	cout &lt;&lt;"enter values for a\t";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2000"/>
              <a:t>	cin&gt;&gt;a;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2000"/>
              <a:t>	try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2000"/>
              <a:t>	{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2000"/>
              <a:t>		if (a != 0)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2000"/>
              <a:t>			cout &lt;&lt; "a = "&lt;&lt;a&lt;&lt;"\n";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2000"/>
              <a:t>		else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2000"/>
              <a:t>			throw(a);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2000"/>
              <a:t>	}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2000"/>
              <a:t>	catch(int i)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2000"/>
              <a:t>	{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2000"/>
              <a:t>		cout &lt;&lt; "exception caught\n";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2000"/>
              <a:t>	}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2000"/>
              <a:t>	cout &lt;&lt; "end";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2000"/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276EE429-B541-DBE4-C395-140B9D2D913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228600"/>
            <a:ext cx="8686800" cy="6477000"/>
          </a:xfrm>
        </p:spPr>
        <p:txBody>
          <a:bodyPr/>
          <a:lstStyle/>
          <a:p>
            <a:pPr marL="609600" indent="-609600" algn="just" eaLnBrk="1" hangingPunct="1"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Most often, exceptions are thrown by functions that are invoked from within the try blocks</a:t>
            </a:r>
          </a:p>
          <a:p>
            <a:pPr marL="609600" indent="-609600" algn="just" eaLnBrk="1" hangingPunct="1"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The point at which throw is executed is called the throw point</a:t>
            </a:r>
          </a:p>
          <a:p>
            <a:pPr marL="609600" indent="-609600" algn="just" eaLnBrk="1" hangingPunct="1"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Once an exception is thrown to the catch block, control cannot return to the throw point</a:t>
            </a:r>
          </a:p>
          <a:p>
            <a:pPr marL="609600" indent="-609600" algn="just"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EB393238-DD20-D3E1-D538-93E037649B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3200400"/>
            <a:ext cx="2895600" cy="12954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Try block</a:t>
            </a:r>
          </a:p>
          <a:p>
            <a:endParaRPr lang="en-US" altLang="en-US"/>
          </a:p>
          <a:p>
            <a:r>
              <a:rPr lang="en-US" altLang="en-US"/>
              <a:t>Invokes a function that</a:t>
            </a:r>
          </a:p>
          <a:p>
            <a:r>
              <a:rPr lang="en-US" altLang="en-US"/>
              <a:t>Contains an exception</a:t>
            </a:r>
          </a:p>
        </p:txBody>
      </p:sp>
      <p:sp>
        <p:nvSpPr>
          <p:cNvPr id="12291" name="Line 3">
            <a:extLst>
              <a:ext uri="{FF2B5EF4-FFF2-40B4-BE49-F238E27FC236}">
                <a16:creationId xmlns:a16="http://schemas.microsoft.com/office/drawing/2014/main" id="{DBAD383D-E784-E4B6-F5B2-AACAD164B623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3733800"/>
            <a:ext cx="289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CC24357D-AFFF-5D4C-7719-929D42761D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5410200"/>
            <a:ext cx="2895600" cy="12954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catch block</a:t>
            </a:r>
          </a:p>
          <a:p>
            <a:endParaRPr lang="en-US" altLang="en-US"/>
          </a:p>
          <a:p>
            <a:r>
              <a:rPr lang="en-US" altLang="en-US"/>
              <a:t>Catches and handles</a:t>
            </a:r>
          </a:p>
          <a:p>
            <a:r>
              <a:rPr lang="en-US" altLang="en-US"/>
              <a:t>the exception</a:t>
            </a:r>
          </a:p>
        </p:txBody>
      </p:sp>
      <p:sp>
        <p:nvSpPr>
          <p:cNvPr id="12293" name="Line 5">
            <a:extLst>
              <a:ext uri="{FF2B5EF4-FFF2-40B4-BE49-F238E27FC236}">
                <a16:creationId xmlns:a16="http://schemas.microsoft.com/office/drawing/2014/main" id="{4EEC6CF8-C1F1-92CA-D233-10EF264B41AE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5867400"/>
            <a:ext cx="289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2294" name="Rectangle 7">
            <a:extLst>
              <a:ext uri="{FF2B5EF4-FFF2-40B4-BE49-F238E27FC236}">
                <a16:creationId xmlns:a16="http://schemas.microsoft.com/office/drawing/2014/main" id="{6B21C9CF-E110-948E-ED45-A67CD0E86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438400"/>
            <a:ext cx="1066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Throw</a:t>
            </a:r>
          </a:p>
          <a:p>
            <a:r>
              <a:rPr lang="en-US" altLang="en-US"/>
              <a:t>exception</a:t>
            </a:r>
          </a:p>
        </p:txBody>
      </p:sp>
      <p:sp>
        <p:nvSpPr>
          <p:cNvPr id="12295" name="Rectangle 8">
            <a:extLst>
              <a:ext uri="{FF2B5EF4-FFF2-40B4-BE49-F238E27FC236}">
                <a16:creationId xmlns:a16="http://schemas.microsoft.com/office/drawing/2014/main" id="{F3B41EE2-C09A-CD1D-D2B8-DF95AEE1BD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457200"/>
            <a:ext cx="2895600" cy="12954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throw point</a:t>
            </a:r>
          </a:p>
          <a:p>
            <a:endParaRPr lang="en-US" altLang="en-US"/>
          </a:p>
          <a:p>
            <a:r>
              <a:rPr lang="en-US" altLang="en-US"/>
              <a:t>Function that causes</a:t>
            </a:r>
          </a:p>
          <a:p>
            <a:r>
              <a:rPr lang="en-US" altLang="en-US"/>
              <a:t>An exception</a:t>
            </a:r>
          </a:p>
        </p:txBody>
      </p:sp>
      <p:sp>
        <p:nvSpPr>
          <p:cNvPr id="12296" name="Line 9">
            <a:extLst>
              <a:ext uri="{FF2B5EF4-FFF2-40B4-BE49-F238E27FC236}">
                <a16:creationId xmlns:a16="http://schemas.microsoft.com/office/drawing/2014/main" id="{8D3AE215-B157-5C0A-86A8-D398398B2A27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990600"/>
            <a:ext cx="289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cxnSp>
        <p:nvCxnSpPr>
          <p:cNvPr id="12297" name="AutoShape 10">
            <a:extLst>
              <a:ext uri="{FF2B5EF4-FFF2-40B4-BE49-F238E27FC236}">
                <a16:creationId xmlns:a16="http://schemas.microsoft.com/office/drawing/2014/main" id="{F7577DF5-1A1B-2055-6CDD-C00AC35BC542}"/>
              </a:ext>
            </a:extLst>
          </p:cNvPr>
          <p:cNvCxnSpPr>
            <a:cxnSpLocks noChangeShapeType="1"/>
            <a:stCxn id="12295" idx="1"/>
            <a:endCxn id="12292" idx="1"/>
          </p:cNvCxnSpPr>
          <p:nvPr/>
        </p:nvCxnSpPr>
        <p:spPr bwMode="auto">
          <a:xfrm rot="10800000" flipH="1" flipV="1">
            <a:off x="3581400" y="1104900"/>
            <a:ext cx="1588" cy="4953000"/>
          </a:xfrm>
          <a:prstGeom prst="curvedConnector3">
            <a:avLst>
              <a:gd name="adj1" fmla="val -84200032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298" name="AutoShape 11">
            <a:extLst>
              <a:ext uri="{FF2B5EF4-FFF2-40B4-BE49-F238E27FC236}">
                <a16:creationId xmlns:a16="http://schemas.microsoft.com/office/drawing/2014/main" id="{C9737869-35CE-E024-EA06-D396DC0C581B}"/>
              </a:ext>
            </a:extLst>
          </p:cNvPr>
          <p:cNvCxnSpPr>
            <a:cxnSpLocks noChangeShapeType="1"/>
            <a:stCxn id="12290" idx="3"/>
            <a:endCxn id="12295" idx="3"/>
          </p:cNvCxnSpPr>
          <p:nvPr/>
        </p:nvCxnSpPr>
        <p:spPr bwMode="auto">
          <a:xfrm flipV="1">
            <a:off x="6477000" y="1104900"/>
            <a:ext cx="1588" cy="2743200"/>
          </a:xfrm>
          <a:prstGeom prst="curvedConnector3">
            <a:avLst>
              <a:gd name="adj1" fmla="val 701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299" name="Rectangle 12">
            <a:extLst>
              <a:ext uri="{FF2B5EF4-FFF2-40B4-BE49-F238E27FC236}">
                <a16:creationId xmlns:a16="http://schemas.microsoft.com/office/drawing/2014/main" id="{24F961AF-C9E9-DCB3-E3BF-995BF53EC8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200" y="2133600"/>
            <a:ext cx="1066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Invoke </a:t>
            </a:r>
          </a:p>
          <a:p>
            <a:r>
              <a:rPr lang="en-US" altLang="en-US"/>
              <a:t>function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1EA3CB82-962D-E302-2D1B-A1005A38E70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228600"/>
            <a:ext cx="8686800" cy="6477000"/>
          </a:xfrm>
        </p:spPr>
        <p:txBody>
          <a:bodyPr/>
          <a:lstStyle/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General form: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type function(arg list) 	//function with exception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{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	….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	throw(object);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	……..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}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……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try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{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	….			//invoke function here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	………….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}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catch (type arg)		//catches exception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{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	……..			//block of statements that handles the 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	……..			// exception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}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……..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…….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64AADF43-7812-5944-43F8-D6CCF344E22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76200"/>
            <a:ext cx="8686800" cy="6477000"/>
          </a:xfrm>
        </p:spPr>
        <p:txBody>
          <a:bodyPr/>
          <a:lstStyle/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600"/>
              <a:t>// exception raised in fn and caught in main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600"/>
              <a:t>#include &lt;iostream&gt;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600"/>
              <a:t>using namespace std;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600"/>
              <a:t>void div(int x,int y, int z)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600"/>
              <a:t>{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600"/>
              <a:t>	cout &lt;&lt; "inside function\n";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600"/>
              <a:t>	if((x-y) != 0)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600"/>
              <a:t>	{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600"/>
              <a:t>		int r = z/(x-y);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600"/>
              <a:t>		cout &lt;&lt; "R= "&lt;&lt;r&lt;&lt;"\n";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600"/>
              <a:t>	}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600"/>
              <a:t>	else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600"/>
              <a:t>		throw(x-y);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600"/>
              <a:t>}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600"/>
              <a:t>int main()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600"/>
              <a:t>{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600"/>
              <a:t>	try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600"/>
              <a:t>	{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600"/>
              <a:t>		cout &lt;&lt; "inside try\n";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600"/>
              <a:t>		div(10,20,30);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600"/>
              <a:t>		div(5,5,10);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600"/>
              <a:t>	}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600"/>
              <a:t>	catch(int i)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600"/>
              <a:t>	{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600"/>
              <a:t>		cout &lt;&lt; "exception caught\n";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600"/>
              <a:t>	}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600"/>
              <a:t>	cout &lt;&lt; "end";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600"/>
              <a:t>}</a:t>
            </a:r>
          </a:p>
          <a:p>
            <a:pPr marL="609600" indent="-609600" algn="l" eaLnBrk="1" hangingPunct="1">
              <a:lnSpc>
                <a:spcPct val="80000"/>
              </a:lnSpc>
            </a:pPr>
            <a:endParaRPr lang="en-US" altLang="en-US" sz="1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F9140118-E967-8266-C451-3730689826E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en-US" sz="2800">
                <a:solidFill>
                  <a:schemeClr val="accent2"/>
                </a:solidFill>
              </a:rPr>
              <a:t>throwing mechanism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BA47FCEA-BFAF-ECFF-C9A4-754854A8FDC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09600"/>
            <a:ext cx="8686800" cy="6019800"/>
          </a:xfrm>
        </p:spPr>
        <p:txBody>
          <a:bodyPr/>
          <a:lstStyle/>
          <a:p>
            <a:pPr marL="609600" indent="-609600" algn="just" eaLnBrk="1" hangingPunct="1"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When an exception is desired to be handled is detected, it is thrown using the throw statement</a:t>
            </a:r>
          </a:p>
          <a:p>
            <a:pPr marL="609600" indent="-609600" algn="just" eaLnBrk="1" hangingPunct="1"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Forms throw are</a:t>
            </a:r>
          </a:p>
          <a:p>
            <a:pPr marL="990600" lvl="1" indent="-533400" algn="just" eaLnBrk="1" hangingPunct="1"/>
            <a:r>
              <a:rPr lang="en-US" altLang="en-US">
                <a:latin typeface="Times New Roman" panose="02020603050405020304" pitchFamily="18" charset="0"/>
              </a:rPr>
              <a:t>throw(exception);</a:t>
            </a:r>
          </a:p>
          <a:p>
            <a:pPr marL="990600" lvl="1" indent="-533400" algn="just" eaLnBrk="1" hangingPunct="1"/>
            <a:r>
              <a:rPr lang="en-US" altLang="en-US">
                <a:latin typeface="Times New Roman" panose="02020603050405020304" pitchFamily="18" charset="0"/>
              </a:rPr>
              <a:t>throw exception;</a:t>
            </a:r>
          </a:p>
          <a:p>
            <a:pPr marL="990600" lvl="1" indent="-533400" algn="just" eaLnBrk="1" hangingPunct="1"/>
            <a:r>
              <a:rPr lang="en-US" altLang="en-US">
                <a:latin typeface="Times New Roman" panose="02020603050405020304" pitchFamily="18" charset="0"/>
              </a:rPr>
              <a:t>throw;			//used for rethrowing exception</a:t>
            </a:r>
          </a:p>
          <a:p>
            <a:pPr marL="609600" indent="-609600" algn="just" eaLnBrk="1" hangingPunct="1"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Exception may be of any type including constants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B0CA33FF-2B30-1D9C-91A1-6F3E969B90D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en-US" sz="2800">
                <a:solidFill>
                  <a:schemeClr val="accent2"/>
                </a:solidFill>
              </a:rPr>
              <a:t>Catching mechanism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9E2EF897-352B-3071-15D3-A68998DDC48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09600"/>
            <a:ext cx="8686800" cy="6019800"/>
          </a:xfrm>
        </p:spPr>
        <p:txBody>
          <a:bodyPr/>
          <a:lstStyle/>
          <a:p>
            <a:pPr marL="609600" indent="-609600"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 sz="2400">
                <a:latin typeface="Times New Roman" panose="02020603050405020304" pitchFamily="18" charset="0"/>
              </a:rPr>
              <a:t>A catch block looks like a function definition </a:t>
            </a:r>
          </a:p>
          <a:p>
            <a:pPr marL="609600" indent="-609600"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 sz="2400">
                <a:latin typeface="Times New Roman" panose="02020603050405020304" pitchFamily="18" charset="0"/>
              </a:rPr>
              <a:t>General form:</a:t>
            </a:r>
          </a:p>
          <a:p>
            <a:pPr marL="609600" indent="-609600" algn="just" eaLnBrk="1" hangingPunct="1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</a:rPr>
              <a:t>catch (type arg)</a:t>
            </a:r>
          </a:p>
          <a:p>
            <a:pPr marL="609600" indent="-609600" algn="just" eaLnBrk="1" hangingPunct="1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</a:rPr>
              <a:t>{</a:t>
            </a:r>
          </a:p>
          <a:p>
            <a:pPr marL="609600" indent="-609600" algn="just" eaLnBrk="1" hangingPunct="1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</a:rPr>
              <a:t>	//statements for managing exception</a:t>
            </a:r>
          </a:p>
          <a:p>
            <a:pPr marL="609600" indent="-609600" algn="just" eaLnBrk="1" hangingPunct="1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</a:rPr>
              <a:t>}</a:t>
            </a:r>
          </a:p>
          <a:p>
            <a:pPr marL="609600" indent="-609600"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 sz="2400">
                <a:latin typeface="Times New Roman" panose="02020603050405020304" pitchFamily="18" charset="0"/>
              </a:rPr>
              <a:t>The type indicates the type of exception that catch block handles</a:t>
            </a:r>
          </a:p>
          <a:p>
            <a:pPr marL="609600" indent="-609600"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 sz="2400">
                <a:latin typeface="Times New Roman" panose="02020603050405020304" pitchFamily="18" charset="0"/>
              </a:rPr>
              <a:t>Arg is an optional parameter name, if used it can be used in the exceptional handling code</a:t>
            </a:r>
          </a:p>
          <a:p>
            <a:pPr marL="609600" indent="-609600"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 sz="2400">
                <a:latin typeface="Times New Roman" panose="02020603050405020304" pitchFamily="18" charset="0"/>
              </a:rPr>
              <a:t>A catch statement catches an exception whose type matches with the type of catch argument</a:t>
            </a:r>
          </a:p>
          <a:p>
            <a:pPr marL="609600" indent="-609600"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 sz="2400">
                <a:latin typeface="Times New Roman" panose="02020603050405020304" pitchFamily="18" charset="0"/>
              </a:rPr>
              <a:t>When it is caught the code in the catch block is executed</a:t>
            </a:r>
          </a:p>
          <a:p>
            <a:pPr marL="609600" indent="-609600"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 sz="2400">
                <a:latin typeface="Times New Roman" panose="02020603050405020304" pitchFamily="18" charset="0"/>
              </a:rPr>
              <a:t>After executing the handler the control goes to the statement immediately following the catch block</a:t>
            </a:r>
          </a:p>
          <a:p>
            <a:pPr marL="609600" indent="-609600"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 sz="2400">
                <a:latin typeface="Times New Roman" panose="02020603050405020304" pitchFamily="18" charset="0"/>
              </a:rPr>
              <a:t>If an exception is not caught, abnormal termination may occur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3C35B4A3-1B3F-A74A-46DA-F8740829F9B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en-US" sz="2800">
                <a:solidFill>
                  <a:schemeClr val="accent2"/>
                </a:solidFill>
              </a:rPr>
              <a:t>Multiple catch statements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FBDEFB6A-5A76-FC65-13D4-2710BC000A0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09600"/>
            <a:ext cx="8686800" cy="6019800"/>
          </a:xfrm>
        </p:spPr>
        <p:txBody>
          <a:bodyPr/>
          <a:lstStyle/>
          <a:p>
            <a:pPr marL="609600" indent="-609600" algn="just" eaLnBrk="1" hangingPunct="1">
              <a:lnSpc>
                <a:spcPct val="80000"/>
              </a:lnSpc>
              <a:buFontTx/>
              <a:buChar char="•"/>
            </a:pPr>
            <a:r>
              <a:rPr lang="en-US" altLang="en-US" sz="1800">
                <a:latin typeface="Times New Roman" panose="02020603050405020304" pitchFamily="18" charset="0"/>
              </a:rPr>
              <a:t>The program segment may have more than one condition to throw an exception</a:t>
            </a:r>
          </a:p>
          <a:p>
            <a:pPr marL="609600" indent="-609600" algn="just" eaLnBrk="1" hangingPunct="1">
              <a:lnSpc>
                <a:spcPct val="80000"/>
              </a:lnSpc>
              <a:buFontTx/>
              <a:buChar char="•"/>
            </a:pPr>
            <a:r>
              <a:rPr lang="en-US" altLang="en-US" sz="1800">
                <a:latin typeface="Times New Roman" panose="02020603050405020304" pitchFamily="18" charset="0"/>
              </a:rPr>
              <a:t>In such cases, we can write more than one catch</a:t>
            </a:r>
          </a:p>
          <a:p>
            <a:pPr marL="609600" indent="-609600" algn="just" eaLnBrk="1" hangingPunct="1">
              <a:lnSpc>
                <a:spcPct val="80000"/>
              </a:lnSpc>
              <a:buFontTx/>
              <a:buChar char="•"/>
            </a:pPr>
            <a:r>
              <a:rPr lang="en-US" altLang="en-US" sz="1800">
                <a:latin typeface="Times New Roman" panose="02020603050405020304" pitchFamily="18" charset="0"/>
              </a:rPr>
              <a:t>General form: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</a:rPr>
              <a:t>Try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</a:rPr>
              <a:t>{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</a:rPr>
              <a:t>	//try block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</a:rPr>
              <a:t>}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</a:rPr>
              <a:t>catch (type1 arg)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</a:rPr>
              <a:t>{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</a:rPr>
              <a:t>	//catch block1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</a:rPr>
              <a:t>}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</a:rPr>
              <a:t>catch (type2 arg)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</a:rPr>
              <a:t>{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</a:rPr>
              <a:t>	//catch block2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</a:rPr>
              <a:t>}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</a:rPr>
              <a:t>……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</a:rPr>
              <a:t>catch (typeN arg)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</a:rPr>
              <a:t>{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</a:rPr>
              <a:t>	//catch blockN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</a:rPr>
              <a:t>}</a:t>
            </a:r>
          </a:p>
          <a:p>
            <a:pPr marL="609600" indent="-609600" algn="just" eaLnBrk="1" hangingPunct="1">
              <a:lnSpc>
                <a:spcPct val="80000"/>
              </a:lnSpc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78290943-D311-289D-42C5-A1E7CA7D98D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en-US" sz="2800">
                <a:solidFill>
                  <a:schemeClr val="accent2"/>
                </a:solidFill>
              </a:rPr>
              <a:t>Multiple catch statements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7FFFA807-6165-EEDC-783D-FDE5405680C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09600"/>
            <a:ext cx="8686800" cy="6019800"/>
          </a:xfrm>
        </p:spPr>
        <p:txBody>
          <a:bodyPr/>
          <a:lstStyle/>
          <a:p>
            <a:pPr marL="609600" indent="-609600" algn="just" eaLnBrk="1" hangingPunct="1"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When exception is thrown, the exception handlers are searched in order for an appropriate match</a:t>
            </a:r>
          </a:p>
          <a:p>
            <a:pPr marL="609600" indent="-609600" algn="just" eaLnBrk="1" hangingPunct="1"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The first handler that yields a match is executed. </a:t>
            </a:r>
          </a:p>
          <a:p>
            <a:pPr marL="609600" indent="-609600" algn="just" eaLnBrk="1" hangingPunct="1"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After executing the handler, the control goes to the first statement after the last catch for that try i.e all other handlers are bypassed</a:t>
            </a:r>
          </a:p>
          <a:p>
            <a:pPr marL="609600" indent="-609600" algn="just" eaLnBrk="1" hangingPunct="1"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When no match is found the program is terminated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B2E562BF-19CB-47D8-0193-9AF190938F1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228600"/>
            <a:ext cx="8686800" cy="6477000"/>
          </a:xfrm>
        </p:spPr>
        <p:txBody>
          <a:bodyPr/>
          <a:lstStyle/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400"/>
              <a:t>#include &lt;iostream&gt;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400"/>
              <a:t>using namespace std;</a:t>
            </a:r>
          </a:p>
          <a:p>
            <a:pPr marL="609600" indent="-609600" algn="l" eaLnBrk="1" hangingPunct="1">
              <a:lnSpc>
                <a:spcPct val="80000"/>
              </a:lnSpc>
            </a:pPr>
            <a:endParaRPr lang="en-US" altLang="en-US" sz="1400"/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400"/>
              <a:t>void test(int x)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400"/>
              <a:t>{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400"/>
              <a:t>	try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400"/>
              <a:t>	{	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400"/>
              <a:t>		if (x==1)	throw x;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400"/>
              <a:t>		else if (x==0) throw 1.9;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400"/>
              <a:t>		cout&lt;&lt; "end of try block"&lt;&lt;endl;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400"/>
              <a:t>	}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400"/>
              <a:t>	catch(int i)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400"/>
              <a:t>	{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400"/>
              <a:t>		cout &lt;&lt; "caught integer"&lt;&lt;endl;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400"/>
              <a:t>	}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400"/>
              <a:t>	catch(double f)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400"/>
              <a:t>	{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400"/>
              <a:t>		cout &lt;&lt; "caught double"&lt;&lt;endl;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400"/>
              <a:t>	}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400"/>
              <a:t>	cout&lt;&lt;"end of try catch"&lt;&lt;endl;</a:t>
            </a:r>
          </a:p>
          <a:p>
            <a:pPr marL="609600" indent="-609600" algn="l" eaLnBrk="1" hangingPunct="1">
              <a:lnSpc>
                <a:spcPct val="80000"/>
              </a:lnSpc>
            </a:pPr>
            <a:endParaRPr lang="en-US" altLang="en-US" sz="1400"/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400"/>
              <a:t>}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400"/>
              <a:t>int main()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400"/>
              <a:t>{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400"/>
              <a:t>	test(1);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400"/>
              <a:t>	test(0);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400"/>
              <a:t>	test(2);	//try block does not throw any exception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400"/>
              <a:t>	cout &lt;&lt; "end of main";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400"/>
              <a:t>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9BAD1C79-719E-CCA5-879F-0A77EEA3AC7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en-US" sz="2800">
                <a:solidFill>
                  <a:schemeClr val="accent2"/>
                </a:solidFill>
              </a:rPr>
              <a:t>Catch all exceptions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60CE2E16-256A-F4AB-5AF8-72797CBD0B5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09600"/>
            <a:ext cx="8686800" cy="6019800"/>
          </a:xfrm>
        </p:spPr>
        <p:txBody>
          <a:bodyPr/>
          <a:lstStyle/>
          <a:p>
            <a:pPr marL="609600" indent="-609600" algn="just" eaLnBrk="1" hangingPunct="1">
              <a:buFontTx/>
              <a:buChar char="•"/>
            </a:pPr>
            <a:r>
              <a:rPr lang="en-US" altLang="en-US" sz="2800">
                <a:latin typeface="Times New Roman" panose="02020603050405020304" pitchFamily="18" charset="0"/>
              </a:rPr>
              <a:t>In some situations, we may not be anticipate all possible types of exceptions, may not be able to design individual catches</a:t>
            </a:r>
          </a:p>
          <a:p>
            <a:pPr marL="609600" indent="-609600" algn="just" eaLnBrk="1" hangingPunct="1">
              <a:buFontTx/>
              <a:buChar char="•"/>
            </a:pPr>
            <a:r>
              <a:rPr lang="en-US" altLang="en-US" sz="2800">
                <a:latin typeface="Times New Roman" panose="02020603050405020304" pitchFamily="18" charset="0"/>
              </a:rPr>
              <a:t>We can write catch statement that catches all types</a:t>
            </a:r>
          </a:p>
          <a:p>
            <a:pPr marL="609600" indent="-609600" algn="just" eaLnBrk="1" hangingPunct="1">
              <a:buFontTx/>
              <a:buChar char="•"/>
            </a:pPr>
            <a:r>
              <a:rPr lang="en-US" altLang="en-US" sz="2800">
                <a:latin typeface="Times New Roman" panose="02020603050405020304" pitchFamily="18" charset="0"/>
              </a:rPr>
              <a:t>General form:</a:t>
            </a:r>
          </a:p>
          <a:p>
            <a:pPr marL="609600" indent="-609600" algn="just" eaLnBrk="1" hangingPunct="1"/>
            <a:r>
              <a:rPr lang="en-US" altLang="en-US" sz="2800">
                <a:latin typeface="Times New Roman" panose="02020603050405020304" pitchFamily="18" charset="0"/>
              </a:rPr>
              <a:t>catch(…)</a:t>
            </a:r>
          </a:p>
          <a:p>
            <a:pPr marL="609600" indent="-609600" algn="just" eaLnBrk="1" hangingPunct="1"/>
            <a:r>
              <a:rPr lang="en-US" altLang="en-US" sz="2800">
                <a:latin typeface="Times New Roman" panose="02020603050405020304" pitchFamily="18" charset="0"/>
              </a:rPr>
              <a:t>{</a:t>
            </a:r>
          </a:p>
          <a:p>
            <a:pPr marL="609600" indent="-609600" algn="just" eaLnBrk="1" hangingPunct="1"/>
            <a:r>
              <a:rPr lang="en-US" altLang="en-US" sz="2800">
                <a:latin typeface="Times New Roman" panose="02020603050405020304" pitchFamily="18" charset="0"/>
              </a:rPr>
              <a:t>	//statements for processing all exceptions</a:t>
            </a:r>
          </a:p>
          <a:p>
            <a:pPr marL="609600" indent="-609600" algn="just" eaLnBrk="1" hangingPunct="1"/>
            <a:r>
              <a:rPr lang="en-US" altLang="en-US" sz="2800">
                <a:latin typeface="Times New Roman" panose="02020603050405020304" pitchFamily="18" charset="0"/>
              </a:rPr>
              <a:t>}</a:t>
            </a:r>
          </a:p>
          <a:p>
            <a:pPr marL="609600" indent="-609600" algn="just" eaLnBrk="1" hangingPunct="1">
              <a:buFontTx/>
              <a:buChar char="•"/>
            </a:pPr>
            <a:r>
              <a:rPr lang="en-US" altLang="en-US" sz="2800">
                <a:latin typeface="Times New Roman" panose="02020603050405020304" pitchFamily="18" charset="0"/>
              </a:rPr>
              <a:t>catch(...) should always be placed lat in the list of handlers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52A5E8FA-1A54-3CC8-036A-10B3678A1B1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en-US" sz="2800">
                <a:solidFill>
                  <a:schemeClr val="accent2"/>
                </a:solidFill>
              </a:rPr>
              <a:t>Retrhrowing an exception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AFD8EB92-51A5-94D9-4375-6AB526BF087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09600"/>
            <a:ext cx="8686800" cy="6019800"/>
          </a:xfrm>
        </p:spPr>
        <p:txBody>
          <a:bodyPr/>
          <a:lstStyle/>
          <a:p>
            <a:pPr marL="609600" indent="-609600" algn="just" eaLnBrk="1" hangingPunct="1"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A handler may decide to rethrow the exception caught without processing it </a:t>
            </a:r>
          </a:p>
          <a:p>
            <a:pPr marL="609600" indent="-609600" algn="just" eaLnBrk="1" hangingPunct="1"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In such cases, we may simply invoke throw without any arguments</a:t>
            </a:r>
          </a:p>
          <a:p>
            <a:pPr marL="609600" indent="-609600" algn="just" eaLnBrk="1" hangingPunct="1"/>
            <a:r>
              <a:rPr lang="en-US" altLang="en-US">
                <a:latin typeface="Times New Roman" panose="02020603050405020304" pitchFamily="18" charset="0"/>
              </a:rPr>
              <a:t>		throw;</a:t>
            </a:r>
          </a:p>
          <a:p>
            <a:pPr marL="609600" indent="-609600" algn="just" eaLnBrk="1" hangingPunct="1"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This causes the current exception to be thrown to the next enclosing try/catch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09E336DF-CEDD-3188-F1F8-C80C809DA7B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228600"/>
            <a:ext cx="8686800" cy="6477000"/>
          </a:xfrm>
        </p:spPr>
        <p:txBody>
          <a:bodyPr/>
          <a:lstStyle/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400"/>
              <a:t>#include &lt;iostream&gt;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400"/>
              <a:t>using namespace std;</a:t>
            </a:r>
          </a:p>
          <a:p>
            <a:pPr marL="609600" indent="-609600" algn="l" eaLnBrk="1" hangingPunct="1">
              <a:lnSpc>
                <a:spcPct val="80000"/>
              </a:lnSpc>
            </a:pPr>
            <a:endParaRPr lang="en-US" altLang="en-US" sz="1400"/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400"/>
              <a:t>void test(int x)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400"/>
              <a:t>{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400"/>
              <a:t>	try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400"/>
              <a:t>	{	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400"/>
              <a:t>		if (x==1)	throw x;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400"/>
              <a:t>	}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400"/>
              <a:t>	catch(int i)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400"/>
              <a:t>	{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400"/>
              <a:t>		cout&lt;&lt;"caught inside function"&lt;&lt;endl;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400"/>
              <a:t>		throw;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400"/>
              <a:t>	}</a:t>
            </a:r>
          </a:p>
          <a:p>
            <a:pPr marL="609600" indent="-609600" algn="l" eaLnBrk="1" hangingPunct="1">
              <a:lnSpc>
                <a:spcPct val="80000"/>
              </a:lnSpc>
            </a:pPr>
            <a:endParaRPr lang="en-US" altLang="en-US" sz="1400"/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400"/>
              <a:t>}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400"/>
              <a:t>int main()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400"/>
              <a:t>{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400"/>
              <a:t>	try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400"/>
              <a:t>	{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400"/>
              <a:t>		test(1);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400"/>
              <a:t>		test(0);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400"/>
              <a:t>		test(2);	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400"/>
              <a:t>	}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400"/>
              <a:t>	catch(int i)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400"/>
              <a:t>	{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400"/>
              <a:t>		cout &lt;&lt; "caught inside main"&lt;&lt;endl;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400"/>
              <a:t>	}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400"/>
              <a:t>	cout&lt;&lt;"end of main"&lt;&lt;endl;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400"/>
              <a:t>}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AF652B3B-81D2-33EB-09C3-5F512F1CE8A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en-US" sz="2800">
                <a:solidFill>
                  <a:schemeClr val="accent2"/>
                </a:solidFill>
              </a:rPr>
              <a:t>Specifying exceptions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8B8EEF9A-9E2A-3C9D-8241-4FCBB33E593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09600"/>
            <a:ext cx="8686800" cy="6019800"/>
          </a:xfrm>
        </p:spPr>
        <p:txBody>
          <a:bodyPr/>
          <a:lstStyle/>
          <a:p>
            <a:pPr marL="609600" indent="-609600"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 sz="2800">
                <a:latin typeface="Times New Roman" panose="02020603050405020304" pitchFamily="18" charset="0"/>
              </a:rPr>
              <a:t>It is possible to restrict a function to throw certain specified exceptions</a:t>
            </a:r>
          </a:p>
          <a:p>
            <a:pPr marL="609600" indent="-609600"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 sz="2800">
                <a:latin typeface="Times New Roman" panose="02020603050405020304" pitchFamily="18" charset="0"/>
              </a:rPr>
              <a:t>This is achieved by adding a throw list clause to the function definition</a:t>
            </a:r>
          </a:p>
          <a:p>
            <a:pPr marL="609600" indent="-609600"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 sz="2800">
                <a:latin typeface="Times New Roman" panose="02020603050405020304" pitchFamily="18" charset="0"/>
              </a:rPr>
              <a:t>General form:</a:t>
            </a:r>
          </a:p>
          <a:p>
            <a:pPr marL="609600" indent="-609600" algn="just" eaLnBrk="1" hangingPunct="1">
              <a:lnSpc>
                <a:spcPct val="90000"/>
              </a:lnSpc>
            </a:pPr>
            <a:r>
              <a:rPr lang="en-US" altLang="en-US" sz="2800">
                <a:latin typeface="Times New Roman" panose="02020603050405020304" pitchFamily="18" charset="0"/>
              </a:rPr>
              <a:t>Type function(arg-list) throw (type-list)</a:t>
            </a:r>
          </a:p>
          <a:p>
            <a:pPr marL="609600" indent="-609600" algn="just" eaLnBrk="1" hangingPunct="1">
              <a:lnSpc>
                <a:spcPct val="90000"/>
              </a:lnSpc>
            </a:pPr>
            <a:r>
              <a:rPr lang="en-US" altLang="en-US" sz="2800">
                <a:latin typeface="Times New Roman" panose="02020603050405020304" pitchFamily="18" charset="0"/>
              </a:rPr>
              <a:t>{</a:t>
            </a:r>
          </a:p>
          <a:p>
            <a:pPr marL="609600" indent="-609600" algn="just" eaLnBrk="1" hangingPunct="1">
              <a:lnSpc>
                <a:spcPct val="90000"/>
              </a:lnSpc>
            </a:pPr>
            <a:r>
              <a:rPr lang="en-US" altLang="en-US" sz="2800">
                <a:latin typeface="Times New Roman" panose="02020603050405020304" pitchFamily="18" charset="0"/>
              </a:rPr>
              <a:t>	//function body</a:t>
            </a:r>
          </a:p>
          <a:p>
            <a:pPr marL="609600" indent="-609600" algn="just" eaLnBrk="1" hangingPunct="1">
              <a:lnSpc>
                <a:spcPct val="90000"/>
              </a:lnSpc>
            </a:pPr>
            <a:r>
              <a:rPr lang="en-US" altLang="en-US" sz="2800">
                <a:latin typeface="Times New Roman" panose="02020603050405020304" pitchFamily="18" charset="0"/>
              </a:rPr>
              <a:t>}</a:t>
            </a:r>
          </a:p>
          <a:p>
            <a:pPr marL="609600" indent="-609600"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 sz="2800">
                <a:latin typeface="Times New Roman" panose="02020603050405020304" pitchFamily="18" charset="0"/>
              </a:rPr>
              <a:t>The type list specifies the type of exceptions that may be thrown</a:t>
            </a:r>
          </a:p>
          <a:p>
            <a:pPr marL="609600" indent="-609600"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 sz="2800">
                <a:latin typeface="Times New Roman" panose="02020603050405020304" pitchFamily="18" charset="0"/>
              </a:rPr>
              <a:t>Throwing any other type may cause abnormal termination of a program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AD3BA06D-6C81-3C95-34C3-7733F8CEE62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228600"/>
            <a:ext cx="8686800" cy="6477000"/>
          </a:xfrm>
        </p:spPr>
        <p:txBody>
          <a:bodyPr/>
          <a:lstStyle/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600"/>
              <a:t>//specifying exceptions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600"/>
              <a:t>#include &lt;iostream&gt;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600"/>
              <a:t>using namespace std;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600"/>
              <a:t>void test(int x) throw(int,char)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600"/>
              <a:t>{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600"/>
              <a:t>		if (x==1)	throw 1;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600"/>
              <a:t>		if (x==2) throw 'x';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600"/>
              <a:t>	}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600"/>
              <a:t>int main()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600"/>
              <a:t>{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600"/>
              <a:t>	try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600"/>
              <a:t>	{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600"/>
              <a:t>		test(1);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600"/>
              <a:t>		test(0);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600"/>
              <a:t>		test(2);	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600"/>
              <a:t>	}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600"/>
              <a:t>	catch(int i)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600"/>
              <a:t>	{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600"/>
              <a:t>		cout &lt;&lt; "caught int inside main"&lt;&lt;endl;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600"/>
              <a:t>	} 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600"/>
              <a:t>	catch(char c)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600"/>
              <a:t>	{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600"/>
              <a:t>		cout &lt;&lt; "caught char inside main"&lt;&lt;endl;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600"/>
              <a:t>	}</a:t>
            </a:r>
          </a:p>
          <a:p>
            <a:pPr marL="609600" indent="-609600" algn="l" eaLnBrk="1" hangingPunct="1">
              <a:lnSpc>
                <a:spcPct val="80000"/>
              </a:lnSpc>
            </a:pPr>
            <a:endParaRPr lang="en-US" altLang="en-US" sz="1600"/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600"/>
              <a:t>	cout&lt;&lt;"end of main";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1600"/>
              <a:t>}</a:t>
            </a:r>
          </a:p>
          <a:p>
            <a:pPr marL="609600" indent="-609600" algn="l" eaLnBrk="1" hangingPunct="1">
              <a:lnSpc>
                <a:spcPct val="80000"/>
              </a:lnSpc>
            </a:pPr>
            <a:endParaRPr lang="en-US" altLang="en-US" sz="16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2D42F5BF-686C-5009-04B9-3668CFA21EA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en-US" sz="2800">
                <a:solidFill>
                  <a:schemeClr val="accent2"/>
                </a:solidFill>
              </a:rPr>
              <a:t>Catching class types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83E8EAA2-502C-AAD5-BD75-ADAA675FE6F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09600"/>
            <a:ext cx="8686800" cy="6019800"/>
          </a:xfrm>
        </p:spPr>
        <p:txBody>
          <a:bodyPr/>
          <a:lstStyle/>
          <a:p>
            <a:pPr algn="just">
              <a:buFontTx/>
              <a:buChar char="•"/>
            </a:pPr>
            <a:r>
              <a:rPr lang="en-US" altLang="en-US" sz="2800"/>
              <a:t>An exception can be of any type, including class types that you create. </a:t>
            </a:r>
          </a:p>
          <a:p>
            <a:pPr algn="just">
              <a:buFontTx/>
              <a:buChar char="•"/>
            </a:pPr>
            <a:r>
              <a:rPr lang="en-US" altLang="en-US" sz="2800"/>
              <a:t>In real-world programs, most exceptions will be class types rather than built-in types.</a:t>
            </a:r>
          </a:p>
          <a:p>
            <a:pPr algn="just">
              <a:buFontTx/>
              <a:buChar char="•"/>
            </a:pPr>
            <a:r>
              <a:rPr lang="en-US" altLang="en-US" sz="2800"/>
              <a:t>The most common reason that you will want to define a class type for an exception is to create an object that describes the error that occurred.</a:t>
            </a:r>
          </a:p>
          <a:p>
            <a:pPr algn="just">
              <a:buFontTx/>
              <a:buChar char="•"/>
            </a:pPr>
            <a:r>
              <a:rPr lang="en-US" altLang="en-US" sz="2800"/>
              <a:t>This information can be used by the exception handler to help it process the error.</a:t>
            </a:r>
            <a:endParaRPr lang="en-US" altLang="en-US" sz="28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7284D4D1-9018-E80E-7CC6-316A1A246EE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228600"/>
            <a:ext cx="4572000" cy="6477000"/>
          </a:xfrm>
        </p:spPr>
        <p:txBody>
          <a:bodyPr/>
          <a:lstStyle/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2400"/>
              <a:t>#include &lt;iostream&gt;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2400"/>
              <a:t>#include &lt;cstring&gt;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2400"/>
              <a:t>using namespace std;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2400"/>
              <a:t>class MyException 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2400"/>
              <a:t>{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2400"/>
              <a:t>    public: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2400"/>
              <a:t>        char str_what[80];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2400"/>
              <a:t>        int what;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2400"/>
              <a:t>    MyException() 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2400"/>
              <a:t>    {  *str_what=0; what = 0; }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2400"/>
              <a:t>    MyException(char *s, int e)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2400"/>
              <a:t>    {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2400"/>
              <a:t>        strcpy(str_what, s);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2400"/>
              <a:t>        what = e;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2400"/>
              <a:t>    }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2400"/>
              <a:t>};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9ED542-906A-67DB-F655-C602027A99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228600"/>
            <a:ext cx="4572000" cy="647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609600" indent="-609600" algn="l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kern="0" dirty="0" err="1">
                <a:latin typeface="+mn-lt"/>
              </a:rPr>
              <a:t>int</a:t>
            </a:r>
            <a:r>
              <a:rPr lang="en-US" kern="0" dirty="0">
                <a:latin typeface="+mn-lt"/>
              </a:rPr>
              <a:t> main()</a:t>
            </a:r>
          </a:p>
          <a:p>
            <a:pPr marL="609600" indent="-609600" algn="l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kern="0" dirty="0">
                <a:latin typeface="+mn-lt"/>
              </a:rPr>
              <a:t>{</a:t>
            </a:r>
          </a:p>
          <a:p>
            <a:pPr marL="609600" indent="-609600" algn="l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kern="0" dirty="0">
                <a:latin typeface="+mn-lt"/>
              </a:rPr>
              <a:t>    </a:t>
            </a:r>
            <a:r>
              <a:rPr lang="en-US" kern="0" dirty="0" err="1">
                <a:latin typeface="+mn-lt"/>
              </a:rPr>
              <a:t>int</a:t>
            </a:r>
            <a:r>
              <a:rPr lang="en-US" kern="0" dirty="0">
                <a:latin typeface="+mn-lt"/>
              </a:rPr>
              <a:t> </a:t>
            </a:r>
            <a:r>
              <a:rPr lang="en-US" kern="0" dirty="0" err="1">
                <a:latin typeface="+mn-lt"/>
              </a:rPr>
              <a:t>i</a:t>
            </a:r>
            <a:r>
              <a:rPr lang="en-US" kern="0" dirty="0">
                <a:latin typeface="+mn-lt"/>
              </a:rPr>
              <a:t>;</a:t>
            </a:r>
          </a:p>
          <a:p>
            <a:pPr marL="609600" indent="-609600" algn="l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kern="0" dirty="0">
                <a:latin typeface="+mn-lt"/>
              </a:rPr>
              <a:t>    try {</a:t>
            </a:r>
          </a:p>
          <a:p>
            <a:pPr marL="609600" indent="-609600" algn="l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kern="0" dirty="0">
                <a:latin typeface="+mn-lt"/>
              </a:rPr>
              <a:t>            </a:t>
            </a:r>
            <a:r>
              <a:rPr lang="en-US" kern="0" dirty="0" err="1">
                <a:latin typeface="+mn-lt"/>
              </a:rPr>
              <a:t>cout</a:t>
            </a:r>
            <a:r>
              <a:rPr lang="en-US" kern="0" dirty="0">
                <a:latin typeface="+mn-lt"/>
              </a:rPr>
              <a:t> &lt;&lt; "Enter a positive number: ";</a:t>
            </a:r>
          </a:p>
          <a:p>
            <a:pPr marL="609600" indent="-609600" algn="l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kern="0" dirty="0">
                <a:latin typeface="+mn-lt"/>
              </a:rPr>
              <a:t>            </a:t>
            </a:r>
            <a:r>
              <a:rPr lang="en-US" kern="0" dirty="0" err="1">
                <a:latin typeface="+mn-lt"/>
              </a:rPr>
              <a:t>cin</a:t>
            </a:r>
            <a:r>
              <a:rPr lang="en-US" kern="0" dirty="0">
                <a:latin typeface="+mn-lt"/>
              </a:rPr>
              <a:t> &gt;&gt; </a:t>
            </a:r>
            <a:r>
              <a:rPr lang="en-US" kern="0" dirty="0" err="1">
                <a:latin typeface="+mn-lt"/>
              </a:rPr>
              <a:t>i</a:t>
            </a:r>
            <a:r>
              <a:rPr lang="en-US" kern="0" dirty="0">
                <a:latin typeface="+mn-lt"/>
              </a:rPr>
              <a:t>;</a:t>
            </a:r>
          </a:p>
          <a:p>
            <a:pPr marL="609600" indent="-609600" algn="l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kern="0" dirty="0">
                <a:latin typeface="+mn-lt"/>
              </a:rPr>
              <a:t>            if(</a:t>
            </a:r>
            <a:r>
              <a:rPr lang="en-US" kern="0" dirty="0" err="1">
                <a:latin typeface="+mn-lt"/>
              </a:rPr>
              <a:t>i</a:t>
            </a:r>
            <a:r>
              <a:rPr lang="en-US" kern="0" dirty="0">
                <a:latin typeface="+mn-lt"/>
              </a:rPr>
              <a:t>&lt;0)</a:t>
            </a:r>
          </a:p>
          <a:p>
            <a:pPr marL="609600" indent="-609600" algn="l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kern="0" dirty="0">
                <a:latin typeface="+mn-lt"/>
              </a:rPr>
              <a:t>                throw </a:t>
            </a:r>
            <a:r>
              <a:rPr lang="en-US" kern="0" dirty="0" err="1">
                <a:latin typeface="+mn-lt"/>
              </a:rPr>
              <a:t>MyException</a:t>
            </a:r>
            <a:r>
              <a:rPr lang="en-US" kern="0" dirty="0">
                <a:latin typeface="+mn-lt"/>
              </a:rPr>
              <a:t>("Not Positive", </a:t>
            </a:r>
            <a:r>
              <a:rPr lang="en-US" kern="0" dirty="0" err="1">
                <a:latin typeface="+mn-lt"/>
              </a:rPr>
              <a:t>i</a:t>
            </a:r>
            <a:r>
              <a:rPr lang="en-US" kern="0" dirty="0">
                <a:latin typeface="+mn-lt"/>
              </a:rPr>
              <a:t>);</a:t>
            </a:r>
          </a:p>
          <a:p>
            <a:pPr marL="609600" indent="-609600" algn="l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kern="0" dirty="0">
                <a:latin typeface="+mn-lt"/>
              </a:rPr>
              <a:t>        }</a:t>
            </a:r>
          </a:p>
          <a:p>
            <a:pPr marL="609600" indent="-609600" algn="l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kern="0" dirty="0">
                <a:latin typeface="+mn-lt"/>
              </a:rPr>
              <a:t>        catch (</a:t>
            </a:r>
            <a:r>
              <a:rPr lang="en-US" kern="0" dirty="0" err="1">
                <a:latin typeface="+mn-lt"/>
              </a:rPr>
              <a:t>MyException</a:t>
            </a:r>
            <a:r>
              <a:rPr lang="en-US" kern="0" dirty="0">
                <a:latin typeface="+mn-lt"/>
              </a:rPr>
              <a:t> e) </a:t>
            </a:r>
          </a:p>
          <a:p>
            <a:pPr marL="609600" indent="-609600" algn="l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kern="0" dirty="0">
                <a:latin typeface="+mn-lt"/>
              </a:rPr>
              <a:t>        { // catch an error</a:t>
            </a:r>
          </a:p>
          <a:p>
            <a:pPr marL="609600" indent="-609600" algn="l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kern="0" dirty="0">
                <a:latin typeface="+mn-lt"/>
              </a:rPr>
              <a:t>            </a:t>
            </a:r>
            <a:r>
              <a:rPr lang="en-US" kern="0" dirty="0" err="1">
                <a:latin typeface="+mn-lt"/>
              </a:rPr>
              <a:t>cout</a:t>
            </a:r>
            <a:r>
              <a:rPr lang="en-US" kern="0" dirty="0">
                <a:latin typeface="+mn-lt"/>
              </a:rPr>
              <a:t> &lt;&lt; </a:t>
            </a:r>
            <a:r>
              <a:rPr lang="en-US" kern="0" dirty="0" err="1">
                <a:latin typeface="+mn-lt"/>
              </a:rPr>
              <a:t>e.str_what</a:t>
            </a:r>
            <a:r>
              <a:rPr lang="en-US" kern="0" dirty="0">
                <a:latin typeface="+mn-lt"/>
              </a:rPr>
              <a:t> &lt;&lt; ": ";</a:t>
            </a:r>
          </a:p>
          <a:p>
            <a:pPr marL="609600" indent="-609600" algn="l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kern="0" dirty="0">
                <a:latin typeface="+mn-lt"/>
              </a:rPr>
              <a:t>            </a:t>
            </a:r>
            <a:r>
              <a:rPr lang="en-US" kern="0" dirty="0" err="1">
                <a:latin typeface="+mn-lt"/>
              </a:rPr>
              <a:t>cout</a:t>
            </a:r>
            <a:r>
              <a:rPr lang="en-US" kern="0" dirty="0">
                <a:latin typeface="+mn-lt"/>
              </a:rPr>
              <a:t> &lt;&lt; </a:t>
            </a:r>
            <a:r>
              <a:rPr lang="en-US" kern="0" dirty="0" err="1">
                <a:latin typeface="+mn-lt"/>
              </a:rPr>
              <a:t>e.what</a:t>
            </a:r>
            <a:r>
              <a:rPr lang="en-US" kern="0" dirty="0">
                <a:latin typeface="+mn-lt"/>
              </a:rPr>
              <a:t> &lt;&lt; "\n";</a:t>
            </a:r>
          </a:p>
          <a:p>
            <a:pPr marL="609600" indent="-609600" algn="l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kern="0" dirty="0">
                <a:latin typeface="+mn-lt"/>
              </a:rPr>
              <a:t>        }</a:t>
            </a:r>
          </a:p>
          <a:p>
            <a:pPr marL="609600" indent="-609600" algn="l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kern="0" dirty="0">
                <a:latin typeface="+mn-lt"/>
              </a:rPr>
              <a:t>    return 0;</a:t>
            </a:r>
          </a:p>
          <a:p>
            <a:pPr marL="609600" indent="-609600" algn="l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kern="0" dirty="0">
                <a:latin typeface="+mn-lt"/>
              </a:rPr>
              <a:t>}</a:t>
            </a:r>
          </a:p>
          <a:p>
            <a:pPr marL="609600" indent="-609600" algn="l" eaLnBrk="1" hangingPunct="1">
              <a:lnSpc>
                <a:spcPct val="80000"/>
              </a:lnSpc>
              <a:spcBef>
                <a:spcPct val="20000"/>
              </a:spcBef>
              <a:defRPr/>
            </a:pPr>
            <a:endParaRPr lang="en-US" kern="0" dirty="0">
              <a:latin typeface="+mn-l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E648CF68-7FC1-BE37-3ADA-2A9048487A6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en-US" sz="2800">
                <a:solidFill>
                  <a:schemeClr val="accent2"/>
                </a:solidFill>
              </a:rPr>
              <a:t>Handling derived class exceptions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6D16FB3E-92BB-7988-AB5F-2584782B802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09600"/>
            <a:ext cx="8686800" cy="6019800"/>
          </a:xfrm>
        </p:spPr>
        <p:txBody>
          <a:bodyPr/>
          <a:lstStyle/>
          <a:p>
            <a:pPr algn="just">
              <a:buFontTx/>
              <a:buChar char="•"/>
            </a:pPr>
            <a:r>
              <a:rPr lang="en-US" altLang="en-US" sz="2800"/>
              <a:t>You need to be careful how you order your </a:t>
            </a:r>
            <a:r>
              <a:rPr lang="en-US" altLang="en-US" sz="2800" b="1"/>
              <a:t>catch statements when trying to catch </a:t>
            </a:r>
            <a:r>
              <a:rPr lang="en-US" altLang="en-US" sz="2800"/>
              <a:t>exception types that involve base and derived classes because a </a:t>
            </a:r>
            <a:r>
              <a:rPr lang="en-US" altLang="en-US" sz="2800" b="1"/>
              <a:t>catch clause for a </a:t>
            </a:r>
            <a:r>
              <a:rPr lang="en-US" altLang="en-US" sz="2800"/>
              <a:t>base class will also match any class derived from that base.</a:t>
            </a:r>
          </a:p>
          <a:p>
            <a:pPr algn="just">
              <a:buFontTx/>
              <a:buChar char="•"/>
            </a:pPr>
            <a:r>
              <a:rPr lang="en-US" altLang="en-US" sz="2800"/>
              <a:t> If you want to catch exceptions of both a base class type and a derived class type, put the derived class first in the </a:t>
            </a:r>
            <a:r>
              <a:rPr lang="en-US" altLang="en-US" sz="2800" b="1"/>
              <a:t>catch sequence. </a:t>
            </a:r>
          </a:p>
          <a:p>
            <a:pPr algn="just">
              <a:buFontTx/>
              <a:buChar char="•"/>
            </a:pPr>
            <a:r>
              <a:rPr lang="en-US" altLang="en-US" sz="2800" b="1"/>
              <a:t>If you don't do this, the base class catch will also</a:t>
            </a:r>
          </a:p>
          <a:p>
            <a:pPr algn="just">
              <a:buFontTx/>
              <a:buChar char="•"/>
            </a:pPr>
            <a:r>
              <a:rPr lang="en-US" altLang="en-US" sz="2800"/>
              <a:t>catch all derived classes</a:t>
            </a:r>
            <a:endParaRPr lang="en-US" altLang="en-US" sz="28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EC04869C-A13B-09D9-8FB1-FA7D3BAEC08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228600"/>
            <a:ext cx="4572000" cy="6477000"/>
          </a:xfrm>
        </p:spPr>
        <p:txBody>
          <a:bodyPr/>
          <a:lstStyle/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2000"/>
              <a:t>// Catching derived classes.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2000"/>
              <a:t>#include &lt;iostream&gt;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2000"/>
              <a:t>using namespace std;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2000"/>
              <a:t>class B {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2000"/>
              <a:t>};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2000"/>
              <a:t>class D: public B {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2000"/>
              <a:t>};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2000"/>
              <a:t>int main()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2000"/>
              <a:t>{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2000"/>
              <a:t>D derived;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2000"/>
              <a:t>try {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2000"/>
              <a:t>throw derived;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2000"/>
              <a:t>}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2000"/>
              <a:t>catch(D d) {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2000"/>
              <a:t>cout &lt;&lt; "caught derived class\n";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2000"/>
              <a:t>}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2000"/>
              <a:t>catch(B b) {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2000"/>
              <a:t>cout &lt;&lt; "Caught a base class.\n";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2000"/>
              <a:t>}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2000"/>
              <a:t>return 0;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2000"/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1303</TotalTime>
  <Words>2173</Words>
  <Application>Microsoft Office PowerPoint</Application>
  <PresentationFormat>On-screen Show (4:3)</PresentationFormat>
  <Paragraphs>373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Times New Roman</vt:lpstr>
      <vt:lpstr>Default Design</vt:lpstr>
      <vt:lpstr>Exception Handling </vt:lpstr>
      <vt:lpstr>Exception Handling </vt:lpstr>
      <vt:lpstr>Basics of Exception Handling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throwing mechanism</vt:lpstr>
      <vt:lpstr>Catching mechanism</vt:lpstr>
      <vt:lpstr>Multiple catch statements</vt:lpstr>
      <vt:lpstr>Multiple catch statements</vt:lpstr>
      <vt:lpstr>PowerPoint Presentation</vt:lpstr>
      <vt:lpstr>Catch all exceptions</vt:lpstr>
      <vt:lpstr>Retrhrowing an exception</vt:lpstr>
      <vt:lpstr>PowerPoint Presentation</vt:lpstr>
      <vt:lpstr>Specifying exceptions</vt:lpstr>
      <vt:lpstr>PowerPoint Presentation</vt:lpstr>
      <vt:lpstr>Catching class types</vt:lpstr>
      <vt:lpstr>PowerPoint Presentation</vt:lpstr>
      <vt:lpstr>Handling derived class exceptions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S Bhavani</cp:lastModifiedBy>
  <cp:revision>492</cp:revision>
  <cp:lastPrinted>1601-01-01T00:00:00Z</cp:lastPrinted>
  <dcterms:created xsi:type="dcterms:W3CDTF">1601-01-01T00:00:00Z</dcterms:created>
  <dcterms:modified xsi:type="dcterms:W3CDTF">2026-04-07T06:31:42Z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