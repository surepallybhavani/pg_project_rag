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0" r:id="rId2"/>
    <p:sldId id="282" r:id="rId3"/>
    <p:sldId id="283" r:id="rId4"/>
    <p:sldId id="284" r:id="rId5"/>
    <p:sldId id="285" r:id="rId6"/>
    <p:sldId id="286" r:id="rId7"/>
    <p:sldId id="287" r:id="rId8"/>
    <p:sldId id="288" r:id="rId9"/>
    <p:sldId id="289" r:id="rId10"/>
    <p:sldId id="290" r:id="rId11"/>
    <p:sldId id="291" r:id="rId12"/>
    <p:sldId id="292" r:id="rId13"/>
    <p:sldId id="293" r:id="rId1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CC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4069" autoAdjust="0"/>
  </p:normalViewPr>
  <p:slideViewPr>
    <p:cSldViewPr>
      <p:cViewPr varScale="1">
        <p:scale>
          <a:sx n="76" d="100"/>
          <a:sy n="76" d="100"/>
        </p:scale>
        <p:origin x="1642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643356C-D6F2-C2E9-1D04-D3BA168378D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6AC1F9A-90D7-21CD-4AE0-1263A4D5FCD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7F670A1-06FD-0D37-464B-CFC826A4A3C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C939664-9795-4D06-9CA2-41AC69C9066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96779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556DEF2-B3D5-35F4-0602-D09DF3D3DE6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04A8931-E94C-9B79-C896-254975C634C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3598C16-AD74-8CCE-672D-D2A177FCEC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36C5F13-4C43-49FC-BF70-CEF9C01A409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4310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8E07741-9879-86AF-E073-0B8D0A550B3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A45A9FF-FB68-0817-04D8-5E4D7F144DB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34D97F2-54D7-DA2B-F639-F6315A7373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024AB2-8C92-4EEB-ACDB-996F6E3AD43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89234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911B86-260E-3E3B-0AAA-233250309EE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3DD6AF-EEE0-2A22-E1ED-A4872F1C863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66BCAC-27E2-9A41-605B-2224046C688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31FEDF0-D846-4B7F-A8C6-D466D7DE089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44405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C429338-FE0E-1B16-A887-88F01D5E05D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1CA0E9A-F93E-6B9A-A4F3-F761BA8810E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7C310B7-E30E-D883-AF80-36AB42174B9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3120BEF-28CA-4C84-A014-7F3B08F0FC6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68916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9137D6A1-3F21-3945-850C-D14887134C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6DAC281-297A-68C9-3C1A-C01EAAA0233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37ADBBA-F592-BD72-C69F-293A7E0551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E823A55-2971-44C7-B4D8-AD266578121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86585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23CDA7BB-13D2-6FD5-3363-5495949D763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11DCB0CE-563A-CAE5-0804-CE65FB17E33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E4AFAFA-252D-C160-65A5-5DB10E52D50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7CE00F4-9527-4639-B94B-5F2183FFD41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52514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98E616-A668-8A2C-F048-726882AAAE1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44C640-77E8-AC87-DAA8-290C39AB4E5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CA3AD9-DB18-DC16-59AC-255649E537C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78ABB1D-C432-4BC2-B2C3-92D1ED2D298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9157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85D5F5-7DF4-91DF-BFBB-8C5CD811664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196E6B-A26E-ED79-3CB9-5B1770A54B4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8A6227-20B8-5FAC-DD4B-C85EB658E7F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F0AEF0B-4494-4736-A60E-7E622D65351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5179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F7BDE46-92B3-5656-D498-96143E9E85D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455B80B-E4C3-0554-90B3-3B541E8318A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B584CA6-4801-16B8-887D-213BC672EDF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DA65CF4-8DAD-4764-ABDE-619296E0C9E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59276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66270D8-AC08-5753-1801-552D3F3C866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2EE052F-BC8F-D7EC-1C48-5E254A9ADC6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A017E91-A51F-92B3-3271-1239A10EF1F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9D5798-30CC-46B1-90AD-AA6D0370146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40409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4885A5F-11EC-C407-BC28-2A3FC0CCFC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050B3F7-9978-E57A-9EC1-E485A23C40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517D162-B915-C5BC-012D-56D92089FCD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smtClean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97B49FEC-787F-3E6D-F7C2-20D4E857FA2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smtClean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F2CE1AE4-6DBC-82ED-F3FA-BA2813BDBE3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B6D4B426-C203-49AE-9492-5B1AF29D1A19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757C2B3C-3A6C-092C-2899-B316B4DDB2E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52400"/>
            <a:ext cx="7772400" cy="457200"/>
          </a:xfrm>
        </p:spPr>
        <p:txBody>
          <a:bodyPr/>
          <a:lstStyle/>
          <a:p>
            <a:pPr eaLnBrk="1" hangingPunct="1"/>
            <a:r>
              <a:rPr lang="en-US" altLang="en-US" sz="2800">
                <a:solidFill>
                  <a:schemeClr val="accent2"/>
                </a:solidFill>
              </a:rPr>
              <a:t>Operator overloading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DC5374A2-8986-0C2E-82F1-F2972A6F0EC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609600"/>
            <a:ext cx="8686800" cy="60198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FontTx/>
              <a:buChar char="•"/>
            </a:pPr>
            <a:r>
              <a:rPr lang="en-US" altLang="en-US" sz="2400">
                <a:latin typeface="Times New Roman" panose="02020603050405020304" pitchFamily="18" charset="0"/>
              </a:rPr>
              <a:t>It enhanced the power of extensibility of C++</a:t>
            </a:r>
          </a:p>
          <a:p>
            <a:pPr algn="just" eaLnBrk="1" hangingPunct="1">
              <a:lnSpc>
                <a:spcPct val="90000"/>
              </a:lnSpc>
              <a:buFontTx/>
              <a:buChar char="•"/>
            </a:pPr>
            <a:r>
              <a:rPr lang="en-US" altLang="en-US" sz="2400">
                <a:latin typeface="Times New Roman" panose="02020603050405020304" pitchFamily="18" charset="0"/>
              </a:rPr>
              <a:t>C++ permits us to add two variables of user-defined types with the same syntax that is applied to the basic types</a:t>
            </a:r>
          </a:p>
          <a:p>
            <a:pPr algn="just" eaLnBrk="1" hangingPunct="1">
              <a:lnSpc>
                <a:spcPct val="90000"/>
              </a:lnSpc>
              <a:buFontTx/>
              <a:buChar char="•"/>
            </a:pPr>
            <a:r>
              <a:rPr lang="en-US" altLang="en-US" sz="2400">
                <a:latin typeface="Times New Roman" panose="02020603050405020304" pitchFamily="18" charset="0"/>
              </a:rPr>
              <a:t>C++ has the ability to provide the operators with a special meaning for a data type. The mechanism of giving such special meanings to an operator is known as operator overloading</a:t>
            </a:r>
          </a:p>
          <a:p>
            <a:pPr algn="just" eaLnBrk="1" hangingPunct="1">
              <a:lnSpc>
                <a:spcPct val="90000"/>
              </a:lnSpc>
              <a:buFontTx/>
              <a:buChar char="•"/>
            </a:pPr>
            <a:r>
              <a:rPr lang="en-US" altLang="en-US" sz="2400">
                <a:latin typeface="Times New Roman" panose="02020603050405020304" pitchFamily="18" charset="0"/>
              </a:rPr>
              <a:t>We cannot overload the below operators</a:t>
            </a:r>
          </a:p>
          <a:p>
            <a:pPr lvl="1" algn="just" eaLnBrk="1" hangingPunct="1">
              <a:lnSpc>
                <a:spcPct val="90000"/>
              </a:lnSpc>
              <a:buFontTx/>
              <a:buChar char="–"/>
            </a:pPr>
            <a:r>
              <a:rPr lang="en-US" altLang="en-US" sz="1800">
                <a:latin typeface="Times New Roman" panose="02020603050405020304" pitchFamily="18" charset="0"/>
              </a:rPr>
              <a:t>Class member access operators (</a:t>
            </a:r>
            <a:r>
              <a:rPr lang="en-US" altLang="en-US" sz="3600">
                <a:latin typeface="Times New Roman" panose="02020603050405020304" pitchFamily="18" charset="0"/>
              </a:rPr>
              <a:t>.</a:t>
            </a:r>
            <a:r>
              <a:rPr lang="en-US" altLang="en-US" sz="1800">
                <a:latin typeface="Times New Roman" panose="02020603050405020304" pitchFamily="18" charset="0"/>
              </a:rPr>
              <a:t>,</a:t>
            </a:r>
            <a:r>
              <a:rPr lang="en-US" altLang="en-US" sz="4000">
                <a:latin typeface="Times New Roman" panose="02020603050405020304" pitchFamily="18" charset="0"/>
              </a:rPr>
              <a:t>.</a:t>
            </a:r>
            <a:r>
              <a:rPr lang="en-US" altLang="en-US" sz="1800">
                <a:latin typeface="Times New Roman" panose="02020603050405020304" pitchFamily="18" charset="0"/>
              </a:rPr>
              <a:t>*)</a:t>
            </a:r>
          </a:p>
          <a:p>
            <a:pPr lvl="1" algn="just" eaLnBrk="1" hangingPunct="1">
              <a:lnSpc>
                <a:spcPct val="90000"/>
              </a:lnSpc>
              <a:buFontTx/>
              <a:buChar char="–"/>
            </a:pPr>
            <a:r>
              <a:rPr lang="en-US" altLang="en-US" sz="1800">
                <a:latin typeface="Times New Roman" panose="02020603050405020304" pitchFamily="18" charset="0"/>
              </a:rPr>
              <a:t>Scope resolution operator(::)</a:t>
            </a:r>
          </a:p>
          <a:p>
            <a:pPr lvl="1" algn="just" eaLnBrk="1" hangingPunct="1">
              <a:lnSpc>
                <a:spcPct val="90000"/>
              </a:lnSpc>
              <a:buFontTx/>
              <a:buChar char="–"/>
            </a:pPr>
            <a:r>
              <a:rPr lang="en-US" altLang="en-US" sz="1800">
                <a:latin typeface="Times New Roman" panose="02020603050405020304" pitchFamily="18" charset="0"/>
              </a:rPr>
              <a:t>Size operator (sizeof)</a:t>
            </a:r>
          </a:p>
          <a:p>
            <a:pPr lvl="1" algn="just" eaLnBrk="1" hangingPunct="1">
              <a:lnSpc>
                <a:spcPct val="90000"/>
              </a:lnSpc>
              <a:buFontTx/>
              <a:buChar char="–"/>
            </a:pPr>
            <a:r>
              <a:rPr lang="en-US" altLang="en-US" sz="1800">
                <a:latin typeface="Times New Roman" panose="02020603050405020304" pitchFamily="18" charset="0"/>
              </a:rPr>
              <a:t>Conditional operator(?:)</a:t>
            </a:r>
          </a:p>
          <a:p>
            <a:pPr algn="just" eaLnBrk="1" hangingPunct="1">
              <a:lnSpc>
                <a:spcPct val="90000"/>
              </a:lnSpc>
              <a:buFontTx/>
              <a:buChar char="•"/>
            </a:pPr>
            <a:r>
              <a:rPr lang="en-US" altLang="en-US" sz="2000">
                <a:latin typeface="Times New Roman" panose="02020603050405020304" pitchFamily="18" charset="0"/>
              </a:rPr>
              <a:t>We can extend the semantics of an operator, but we cannot change its syntax, the grammatical rules such number of operands, precedence and associativity</a:t>
            </a:r>
          </a:p>
          <a:p>
            <a:pPr algn="just" eaLnBrk="1" hangingPunct="1">
              <a:lnSpc>
                <a:spcPct val="90000"/>
              </a:lnSpc>
              <a:buFontTx/>
              <a:buChar char="•"/>
            </a:pPr>
            <a:r>
              <a:rPr lang="en-US" altLang="en-US" sz="2000">
                <a:latin typeface="Times New Roman" panose="02020603050405020304" pitchFamily="18" charset="0"/>
              </a:rPr>
              <a:t>Eg: * enjoy higher precedence than +</a:t>
            </a:r>
          </a:p>
          <a:p>
            <a:pPr algn="just" eaLnBrk="1" hangingPunct="1">
              <a:lnSpc>
                <a:spcPct val="90000"/>
              </a:lnSpc>
              <a:buFontTx/>
              <a:buChar char="•"/>
            </a:pPr>
            <a:r>
              <a:rPr lang="en-US" altLang="en-US" sz="2000">
                <a:latin typeface="Times New Roman" panose="02020603050405020304" pitchFamily="18" charset="0"/>
              </a:rPr>
              <a:t>When an operator is overloaded its original meaning is not lost</a:t>
            </a:r>
          </a:p>
          <a:p>
            <a:pPr lvl="1" algn="just" eaLnBrk="1" hangingPunct="1">
              <a:lnSpc>
                <a:spcPct val="90000"/>
              </a:lnSpc>
              <a:buFontTx/>
              <a:buChar char="–"/>
            </a:pPr>
            <a:endParaRPr lang="en-US" altLang="en-US" sz="18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057500E2-D94E-A930-F66D-726AB6F1C6D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52400"/>
            <a:ext cx="7772400" cy="457200"/>
          </a:xfrm>
        </p:spPr>
        <p:txBody>
          <a:bodyPr/>
          <a:lstStyle/>
          <a:p>
            <a:pPr eaLnBrk="1" hangingPunct="1"/>
            <a:r>
              <a:rPr lang="en-US" altLang="en-US" sz="2800">
                <a:solidFill>
                  <a:schemeClr val="accent2"/>
                </a:solidFill>
              </a:rPr>
              <a:t>Defining Operator overloading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75269247-D8AF-CE06-A7E8-37964C6FF85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609600"/>
            <a:ext cx="8686800" cy="60198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To define additional task to an operator, we must specify what it means in relation to the class to which the operator is applied. We can achieve this using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operator function</a:t>
            </a:r>
          </a:p>
          <a:p>
            <a:pPr algn="just" eaLnBrk="1" hangingPunct="1">
              <a:lnSpc>
                <a:spcPct val="90000"/>
              </a:lnSpc>
              <a:buFontTx/>
              <a:buChar char="•"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General form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>
                <a:latin typeface="Times New Roman" panose="02020603050405020304" pitchFamily="18" charset="0"/>
              </a:rPr>
              <a:t>Retruntype classname :: operatorop(op-arglist)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>
                <a:latin typeface="Times New Roman" panose="02020603050405020304" pitchFamily="18" charset="0"/>
              </a:rPr>
              <a:t>{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>
                <a:latin typeface="Times New Roman" panose="02020603050405020304" pitchFamily="18" charset="0"/>
              </a:rPr>
              <a:t>	function body 		//task defined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>
                <a:latin typeface="Times New Roman" panose="02020603050405020304" pitchFamily="18" charset="0"/>
              </a:rPr>
              <a:t>}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>
                <a:latin typeface="Times New Roman" panose="02020603050405020304" pitchFamily="18" charset="0"/>
              </a:rPr>
              <a:t>****returntype is type of value returned by the specified operatior and op is operator being overloaded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>
                <a:latin typeface="Times New Roman" panose="02020603050405020304" pitchFamily="18" charset="0"/>
              </a:rPr>
              <a:t>operatorop is the function name</a:t>
            </a:r>
          </a:p>
          <a:p>
            <a:pPr algn="just" eaLnBrk="1" hangingPunct="1">
              <a:lnSpc>
                <a:spcPct val="90000"/>
              </a:lnSpc>
              <a:buFontTx/>
              <a:buChar char="•"/>
            </a:pPr>
            <a:r>
              <a:rPr lang="en-US" altLang="en-US" sz="2800">
                <a:latin typeface="Times New Roman" panose="02020603050405020304" pitchFamily="18" charset="0"/>
              </a:rPr>
              <a:t>Operator functions must be either member functions(non-static) or friend functions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">
            <a:extLst>
              <a:ext uri="{FF2B5EF4-FFF2-40B4-BE49-F238E27FC236}">
                <a16:creationId xmlns:a16="http://schemas.microsoft.com/office/drawing/2014/main" id="{E0E8F36B-3490-6282-9FEC-C785DE6AFDB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609600"/>
            <a:ext cx="8686800" cy="6019800"/>
          </a:xfrm>
        </p:spPr>
        <p:txBody>
          <a:bodyPr/>
          <a:lstStyle/>
          <a:p>
            <a:pPr algn="just" eaLnBrk="1" hangingPunct="1"/>
            <a:r>
              <a:rPr lang="en-US" altLang="en-US" sz="2800">
                <a:latin typeface="Times New Roman" panose="02020603050405020304" pitchFamily="18" charset="0"/>
              </a:rPr>
              <a:t>Friend functions			member function</a:t>
            </a:r>
          </a:p>
          <a:p>
            <a:pPr algn="just" eaLnBrk="1" hangingPunct="1"/>
            <a:r>
              <a:rPr lang="en-US" altLang="en-US" sz="2800">
                <a:latin typeface="Times New Roman" panose="02020603050405020304" pitchFamily="18" charset="0"/>
              </a:rPr>
              <a:t>1 arg for unary			no args for unary</a:t>
            </a:r>
          </a:p>
          <a:p>
            <a:pPr algn="just" eaLnBrk="1" hangingPunct="1"/>
            <a:r>
              <a:rPr lang="en-US" altLang="en-US" sz="2800">
                <a:latin typeface="Times New Roman" panose="02020603050405020304" pitchFamily="18" charset="0"/>
              </a:rPr>
              <a:t>2 args for binary			1 arg for binary</a:t>
            </a:r>
          </a:p>
          <a:p>
            <a:pPr algn="just" eaLnBrk="1" hangingPunct="1"/>
            <a:r>
              <a:rPr lang="en-US" altLang="en-US" sz="2800">
                <a:latin typeface="Times New Roman" panose="02020603050405020304" pitchFamily="18" charset="0"/>
              </a:rPr>
              <a:t>					**object used to invoke is 						passed implicitly</a:t>
            </a:r>
          </a:p>
          <a:p>
            <a:pPr algn="just" eaLnBrk="1" hangingPunct="1">
              <a:buFontTx/>
              <a:buChar char="•"/>
            </a:pPr>
            <a:r>
              <a:rPr lang="en-US" altLang="en-US" sz="2800">
                <a:latin typeface="Times New Roman" panose="02020603050405020304" pitchFamily="18" charset="0"/>
              </a:rPr>
              <a:t>Args can be passed by val or by ref</a:t>
            </a:r>
          </a:p>
          <a:p>
            <a:pPr algn="just" eaLnBrk="1" hangingPunct="1">
              <a:buFontTx/>
              <a:buChar char="•"/>
            </a:pPr>
            <a:r>
              <a:rPr lang="en-US" altLang="en-US" sz="2800">
                <a:latin typeface="Times New Roman" panose="02020603050405020304" pitchFamily="18" charset="0"/>
              </a:rPr>
              <a:t>Eg:	</a:t>
            </a:r>
            <a:r>
              <a:rPr lang="en-US" altLang="en-US" sz="2400">
                <a:latin typeface="Times New Roman" panose="02020603050405020304" pitchFamily="18" charset="0"/>
              </a:rPr>
              <a:t>vector operator+(vector)			//vector addition</a:t>
            </a:r>
          </a:p>
          <a:p>
            <a:pPr lvl="1" algn="just" eaLnBrk="1" hangingPunct="1"/>
            <a:r>
              <a:rPr lang="en-US" altLang="en-US" sz="2400">
                <a:latin typeface="Times New Roman" panose="02020603050405020304" pitchFamily="18" charset="0"/>
              </a:rPr>
              <a:t>	vector operator-()				//unary minus</a:t>
            </a:r>
          </a:p>
          <a:p>
            <a:pPr lvl="1" algn="just" eaLnBrk="1" hangingPunct="1"/>
            <a:r>
              <a:rPr lang="en-US" altLang="en-US" sz="2400">
                <a:latin typeface="Times New Roman" panose="02020603050405020304" pitchFamily="18" charset="0"/>
              </a:rPr>
              <a:t>	friend vector operator+(vector,vector)	//vector addition</a:t>
            </a:r>
          </a:p>
          <a:p>
            <a:pPr lvl="1" algn="just" eaLnBrk="1" hangingPunct="1"/>
            <a:r>
              <a:rPr lang="en-US" altLang="en-US" sz="2400">
                <a:latin typeface="Times New Roman" panose="02020603050405020304" pitchFamily="18" charset="0"/>
              </a:rPr>
              <a:t>	friend vector operator-(vector)		//unary minus</a:t>
            </a:r>
          </a:p>
          <a:p>
            <a:pPr lvl="1" algn="just" eaLnBrk="1" hangingPunct="1"/>
            <a:r>
              <a:rPr lang="en-US" altLang="en-US" sz="2400">
                <a:latin typeface="Times New Roman" panose="02020603050405020304" pitchFamily="18" charset="0"/>
              </a:rPr>
              <a:t>	int operator==(vector)				//comparison</a:t>
            </a:r>
          </a:p>
          <a:p>
            <a:pPr lvl="1" algn="just" eaLnBrk="1" hangingPunct="1"/>
            <a:r>
              <a:rPr lang="en-US" altLang="en-US" sz="2400">
                <a:latin typeface="Times New Roman" panose="02020603050405020304" pitchFamily="18" charset="0"/>
              </a:rPr>
              <a:t>	friend int operator==(vector, vector)		//comparison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9A3E6A5F-5E98-3979-DC34-9CD9B5BB71F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304800"/>
            <a:ext cx="8686800" cy="6324600"/>
          </a:xfrm>
        </p:spPr>
        <p:txBody>
          <a:bodyPr/>
          <a:lstStyle/>
          <a:p>
            <a:pPr marL="609600" indent="-609600" algn="just" eaLnBrk="1" hangingPunct="1">
              <a:buFontTx/>
              <a:buChar char="•"/>
            </a:pPr>
            <a:r>
              <a:rPr lang="en-US" altLang="en-US" sz="2800">
                <a:latin typeface="Times New Roman" panose="02020603050405020304" pitchFamily="18" charset="0"/>
              </a:rPr>
              <a:t>The process of overloading involves the following steps:</a:t>
            </a:r>
          </a:p>
          <a:p>
            <a:pPr marL="990600" lvl="1" indent="-533400" algn="just" eaLnBrk="1" hangingPunct="1">
              <a:buFontTx/>
              <a:buAutoNum type="arabicPeriod"/>
            </a:pPr>
            <a:r>
              <a:rPr lang="en-US" altLang="en-US" sz="2400">
                <a:latin typeface="Times New Roman" panose="02020603050405020304" pitchFamily="18" charset="0"/>
              </a:rPr>
              <a:t>Create a class that defines the data type that is to be used in the overloading function</a:t>
            </a:r>
          </a:p>
          <a:p>
            <a:pPr marL="990600" lvl="1" indent="-533400" algn="just" eaLnBrk="1" hangingPunct="1">
              <a:buFontTx/>
              <a:buAutoNum type="arabicPeriod"/>
            </a:pPr>
            <a:r>
              <a:rPr lang="en-US" altLang="en-US" sz="2400">
                <a:latin typeface="Times New Roman" panose="02020603050405020304" pitchFamily="18" charset="0"/>
              </a:rPr>
              <a:t>Declare the operator function operatorop( ) in the public part of the class (member or friend)</a:t>
            </a:r>
          </a:p>
          <a:p>
            <a:pPr marL="990600" lvl="1" indent="-533400" algn="just" eaLnBrk="1" hangingPunct="1">
              <a:buFontTx/>
              <a:buAutoNum type="arabicPeriod"/>
            </a:pPr>
            <a:r>
              <a:rPr lang="en-US" altLang="en-US" sz="2400">
                <a:latin typeface="Times New Roman" panose="02020603050405020304" pitchFamily="18" charset="0"/>
              </a:rPr>
              <a:t>Define the operator function to implement the required operations</a:t>
            </a:r>
          </a:p>
          <a:p>
            <a:pPr marL="609600" indent="-609600" algn="just" eaLnBrk="1" hangingPunct="1">
              <a:buFontTx/>
              <a:buChar char="•"/>
            </a:pPr>
            <a:r>
              <a:rPr lang="en-US" altLang="en-US" sz="2800">
                <a:latin typeface="Times New Roman" panose="02020603050405020304" pitchFamily="18" charset="0"/>
              </a:rPr>
              <a:t>Overloaded operator can be invoked by exp</a:t>
            </a:r>
          </a:p>
          <a:p>
            <a:pPr marL="990600" lvl="1" indent="-533400" algn="just" eaLnBrk="1" hangingPunct="1"/>
            <a:r>
              <a:rPr lang="en-US" altLang="en-US" sz="2400">
                <a:latin typeface="Times New Roman" panose="02020603050405020304" pitchFamily="18" charset="0"/>
              </a:rPr>
              <a:t>op x		x  op		//unary</a:t>
            </a:r>
          </a:p>
          <a:p>
            <a:pPr marL="990600" lvl="1" indent="-533400" algn="just" eaLnBrk="1" hangingPunct="1"/>
            <a:r>
              <a:rPr lang="en-US" altLang="en-US" sz="2400">
                <a:latin typeface="Times New Roman" panose="02020603050405020304" pitchFamily="18" charset="0"/>
              </a:rPr>
              <a:t>x op y	//binary</a:t>
            </a:r>
          </a:p>
          <a:p>
            <a:pPr marL="990600" lvl="1" indent="-533400" algn="just" eaLnBrk="1" hangingPunct="1"/>
            <a:endParaRPr lang="en-US" altLang="en-US" sz="2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4009BAFA-C9DE-71BA-F437-25F9698E269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52400"/>
            <a:ext cx="7772400" cy="457200"/>
          </a:xfrm>
        </p:spPr>
        <p:txBody>
          <a:bodyPr/>
          <a:lstStyle/>
          <a:p>
            <a:pPr eaLnBrk="1" hangingPunct="1"/>
            <a:r>
              <a:rPr lang="en-US" altLang="en-US" sz="2800">
                <a:solidFill>
                  <a:schemeClr val="accent2"/>
                </a:solidFill>
              </a:rPr>
              <a:t>Overloading unary operators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D92AC6E1-58C0-D954-CD62-61DC9AF1D1D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609600"/>
            <a:ext cx="8686800" cy="6019800"/>
          </a:xfrm>
        </p:spPr>
        <p:txBody>
          <a:bodyPr/>
          <a:lstStyle/>
          <a:p>
            <a:pPr algn="just" eaLnBrk="1" hangingPunct="1">
              <a:buFontTx/>
              <a:buChar char="•"/>
            </a:pPr>
            <a:r>
              <a:rPr lang="en-US" altLang="en-US" sz="3600">
                <a:latin typeface="Times New Roman" panose="02020603050405020304" pitchFamily="18" charset="0"/>
              </a:rPr>
              <a:t>Eg: unary minus</a:t>
            </a:r>
          </a:p>
          <a:p>
            <a:pPr algn="just" eaLnBrk="1" hangingPunct="1">
              <a:buFontTx/>
              <a:buChar char="•"/>
            </a:pPr>
            <a:r>
              <a:rPr lang="en-US" altLang="en-US" sz="3600">
                <a:latin typeface="Times New Roman" panose="02020603050405020304" pitchFamily="18" charset="0"/>
              </a:rPr>
              <a:t>It will take just one operand</a:t>
            </a:r>
          </a:p>
          <a:p>
            <a:pPr algn="just" eaLnBrk="1" hangingPunct="1">
              <a:buFontTx/>
              <a:buChar char="•"/>
            </a:pPr>
            <a:r>
              <a:rPr lang="en-US" altLang="en-US" sz="3600">
                <a:latin typeface="Times New Roman" panose="02020603050405020304" pitchFamily="18" charset="0"/>
              </a:rPr>
              <a:t>It changes the sign of the operand when applied to basic data item</a:t>
            </a:r>
          </a:p>
          <a:p>
            <a:pPr algn="just" eaLnBrk="1" hangingPunct="1">
              <a:buFontTx/>
              <a:buChar char="•"/>
            </a:pPr>
            <a:r>
              <a:rPr lang="en-US" altLang="en-US" sz="3600">
                <a:latin typeface="Times New Roman" panose="02020603050405020304" pitchFamily="18" charset="0"/>
              </a:rPr>
              <a:t>It changes the sign of the all data its when it applied to object</a:t>
            </a:r>
          </a:p>
          <a:p>
            <a:pPr algn="just" eaLnBrk="1" hangingPunct="1">
              <a:buFontTx/>
              <a:buChar char="•"/>
            </a:pPr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>
            <a:extLst>
              <a:ext uri="{FF2B5EF4-FFF2-40B4-BE49-F238E27FC236}">
                <a16:creationId xmlns:a16="http://schemas.microsoft.com/office/drawing/2014/main" id="{D307484A-F006-DC66-81D8-F09FD81DEEF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152400"/>
            <a:ext cx="8686800" cy="6477000"/>
          </a:xfrm>
        </p:spPr>
        <p:txBody>
          <a:bodyPr/>
          <a:lstStyle/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#include &lt;iostream&gt;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class unaryopex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{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	int x,y;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	public: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		void getdata(int a,int b);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		void disp();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		void operator-();	//overload unaryminus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};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void unaryopex :: getdata(int a,int b)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{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	x=a; y=b;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}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void unaryopex :: disp()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{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	cout &lt;&lt; "x = "&lt;&lt;x&lt;&lt;"\n";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	cout &lt;&lt; "y = "&lt;&lt;y&lt;&lt;"\n";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}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void unaryopex :: operator-()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{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	x=-x; 	y=-y;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}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int main()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{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	unaryopex u;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	u.getdata(10,20);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	u.disp();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	-u;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	u.disp();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}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Output: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X=10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Y=20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X=-10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Y=-20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7E4D6EAB-4E83-2C34-35B9-1D35B5F79F6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52400"/>
            <a:ext cx="7772400" cy="457200"/>
          </a:xfrm>
        </p:spPr>
        <p:txBody>
          <a:bodyPr/>
          <a:lstStyle/>
          <a:p>
            <a:pPr eaLnBrk="1" hangingPunct="1"/>
            <a:r>
              <a:rPr lang="en-US" altLang="en-US" sz="2800">
                <a:solidFill>
                  <a:schemeClr val="accent2"/>
                </a:solidFill>
              </a:rPr>
              <a:t>Overloading unary operators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2FF58EF5-339E-1783-DB30-20ED300D71B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609600"/>
            <a:ext cx="8686800" cy="6019800"/>
          </a:xfrm>
        </p:spPr>
        <p:txBody>
          <a:bodyPr/>
          <a:lstStyle/>
          <a:p>
            <a:pPr algn="just" eaLnBrk="1" hangingPunct="1"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u=-u will not work because operator-() does not return any value</a:t>
            </a:r>
          </a:p>
          <a:p>
            <a:pPr algn="just" eaLnBrk="1" hangingPunct="1"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It can work like this if operator-() will return an object</a:t>
            </a:r>
          </a:p>
          <a:p>
            <a:pPr algn="just"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09C91F50-4D57-53CB-751C-60B7687033D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152400"/>
            <a:ext cx="8686800" cy="6477000"/>
          </a:xfrm>
        </p:spPr>
        <p:txBody>
          <a:bodyPr/>
          <a:lstStyle/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#include &lt;iostream&gt;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class unaryopex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{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	int x,y;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	public: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		void getdata(int a,int b);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		void disp();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		</a:t>
            </a:r>
            <a:r>
              <a:rPr lang="en-US" altLang="en-US" sz="1200">
                <a:solidFill>
                  <a:schemeClr val="accent2"/>
                </a:solidFill>
              </a:rPr>
              <a:t>friend void operator-(unaryopex &amp;u);</a:t>
            </a:r>
            <a:r>
              <a:rPr lang="en-US" altLang="en-US" sz="1200"/>
              <a:t>	//overload unaryminus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};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void unaryopex :: getdata(int a,int b)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{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	x=a; y=b;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}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void unaryopex :: disp()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{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	cout &lt;&lt; "x = "&lt;&lt;x&lt;&lt;"\n";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	cout &lt;&lt; "y = "&lt;&lt;y&lt;&lt;"\n";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}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>
                <a:solidFill>
                  <a:schemeClr val="accent2"/>
                </a:solidFill>
              </a:rPr>
              <a:t>void operator-(unaryopex &amp;u)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>
                <a:solidFill>
                  <a:schemeClr val="accent2"/>
                </a:solidFill>
              </a:rPr>
              <a:t>{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>
                <a:solidFill>
                  <a:schemeClr val="accent2"/>
                </a:solidFill>
              </a:rPr>
              <a:t>	u.x=-u.x; 	u.y=-u.y;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>
                <a:solidFill>
                  <a:schemeClr val="accent2"/>
                </a:solidFill>
              </a:rPr>
              <a:t>}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int main()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{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	unaryopex u;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	u.getdata(10,20);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	u.disp();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	-u;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	u.disp();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}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Output: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X=10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Y=20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X=-10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Y=-20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F0366295-AC8A-2086-303A-84CB3976B4C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52400"/>
            <a:ext cx="7772400" cy="457200"/>
          </a:xfrm>
        </p:spPr>
        <p:txBody>
          <a:bodyPr/>
          <a:lstStyle/>
          <a:p>
            <a:pPr eaLnBrk="1" hangingPunct="1"/>
            <a:r>
              <a:rPr lang="en-US" altLang="en-US" sz="2800">
                <a:solidFill>
                  <a:schemeClr val="accent2"/>
                </a:solidFill>
              </a:rPr>
              <a:t>Overloading binary operators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CB3D0B9C-2CB4-396D-89E2-ABB4162D414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609600"/>
            <a:ext cx="8686800" cy="6019800"/>
          </a:xfrm>
        </p:spPr>
        <p:txBody>
          <a:bodyPr/>
          <a:lstStyle/>
          <a:p>
            <a:pPr algn="just" eaLnBrk="1" hangingPunct="1">
              <a:buFontTx/>
              <a:buChar char="•"/>
            </a:pPr>
            <a:r>
              <a:rPr lang="en-US" altLang="en-US" sz="3600">
                <a:latin typeface="Times New Roman" panose="02020603050405020304" pitchFamily="18" charset="0"/>
              </a:rPr>
              <a:t>We can overload a binary operators also</a:t>
            </a:r>
          </a:p>
          <a:p>
            <a:pPr algn="just" eaLnBrk="1" hangingPunct="1">
              <a:buFontTx/>
              <a:buChar char="•"/>
            </a:pPr>
            <a:r>
              <a:rPr lang="en-US" altLang="en-US" sz="3600">
                <a:latin typeface="Times New Roman" panose="02020603050405020304" pitchFamily="18" charset="0"/>
              </a:rPr>
              <a:t>We can add two complex numbers</a:t>
            </a:r>
          </a:p>
          <a:p>
            <a:pPr algn="just" eaLnBrk="1" hangingPunct="1"/>
            <a:r>
              <a:rPr lang="en-US" altLang="en-US" sz="3600">
                <a:latin typeface="Times New Roman" panose="02020603050405020304" pitchFamily="18" charset="0"/>
              </a:rPr>
              <a:t>		c3=c1+c2</a:t>
            </a:r>
          </a:p>
          <a:p>
            <a:pPr algn="just" eaLnBrk="1" hangingPunct="1"/>
            <a:r>
              <a:rPr lang="en-US" altLang="en-US" sz="3600">
                <a:latin typeface="Times New Roman" panose="02020603050405020304" pitchFamily="18" charset="0"/>
              </a:rPr>
              <a:t>	c3=c1.operator+(c2)</a:t>
            </a:r>
          </a:p>
          <a:p>
            <a:pPr algn="just" eaLnBrk="1" hangingPunct="1"/>
            <a:r>
              <a:rPr lang="en-US" altLang="en-US" sz="3600">
                <a:latin typeface="Times New Roman" panose="02020603050405020304" pitchFamily="18" charset="0"/>
              </a:rPr>
              <a:t>***c1 it can access directly and c2 is passed</a:t>
            </a:r>
          </a:p>
          <a:p>
            <a:pPr algn="just" eaLnBrk="1" hangingPunct="1">
              <a:buFontTx/>
              <a:buChar char="•"/>
            </a:pPr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ECF8021C-B77A-88D6-D11F-D888FD4AA7F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152400"/>
            <a:ext cx="8686800" cy="6477000"/>
          </a:xfrm>
        </p:spPr>
        <p:txBody>
          <a:bodyPr/>
          <a:lstStyle/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#include &lt;iostream&gt;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class complex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{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	float real,img; //real and imaginary parts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	public: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		complex(){ }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		complex(float r, float i) {real=r;img=i;}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		void disp(void);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		complex operator+(complex);	//overload binaryplus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};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void complex :: disp(void)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{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	cout &lt;&lt; real &lt;&lt; "+J"&lt;&lt;img&lt;&lt;"\n";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}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complex complex :: operator+(complex c)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{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	complex temp;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	temp.real=real+c.real;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	temp.img=img+c.img;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	return temp;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}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int main()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{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	complex c1(1.3,2.5),c2(2.1,4.2),c3;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	c3=c1+c2;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	cout &lt;&lt; "c1=";	c1.disp();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	cout &lt;&lt; "c2=";	c2.disp();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	cout &lt;&lt; "c3=";	c3.disp();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}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Output: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c1= 1.3+J2.5;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c2= 2.1+J4.2;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200"/>
              <a:t>c3= 3.4+J6.7;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2ADE889A-8F06-6E25-FC4E-4A2979BD756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52400"/>
            <a:ext cx="7772400" cy="457200"/>
          </a:xfrm>
        </p:spPr>
        <p:txBody>
          <a:bodyPr/>
          <a:lstStyle/>
          <a:p>
            <a:pPr eaLnBrk="1" hangingPunct="1"/>
            <a:r>
              <a:rPr lang="en-US" altLang="en-US" sz="2800">
                <a:solidFill>
                  <a:schemeClr val="accent2"/>
                </a:solidFill>
              </a:rPr>
              <a:t>Overloading binary operators using friend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6DD83587-B921-2917-AEF1-8DCF2A68C2B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609600"/>
            <a:ext cx="8686800" cy="6019800"/>
          </a:xfrm>
        </p:spPr>
        <p:txBody>
          <a:bodyPr/>
          <a:lstStyle/>
          <a:p>
            <a:pPr marL="609600" indent="-609600" algn="just" eaLnBrk="1" hangingPunct="1">
              <a:buFontTx/>
              <a:buChar char="•"/>
            </a:pPr>
            <a:r>
              <a:rPr lang="en-US" altLang="en-US" sz="3600">
                <a:latin typeface="Times New Roman" panose="02020603050405020304" pitchFamily="18" charset="0"/>
              </a:rPr>
              <a:t>Friend function requires two arguments to be explicitly passed to it while a member function requires only one</a:t>
            </a:r>
          </a:p>
          <a:p>
            <a:pPr marL="609600" indent="-609600" algn="just" eaLnBrk="1" hangingPunct="1">
              <a:buFontTx/>
              <a:buChar char="•"/>
            </a:pPr>
            <a:r>
              <a:rPr lang="en-US" altLang="en-US" sz="3600">
                <a:latin typeface="Times New Roman" panose="02020603050405020304" pitchFamily="18" charset="0"/>
              </a:rPr>
              <a:t>In the previous program we have to do two changes only</a:t>
            </a:r>
          </a:p>
          <a:p>
            <a:pPr marL="990600" lvl="1" indent="-533400" algn="just" eaLnBrk="1" hangingPunct="1">
              <a:buFontTx/>
              <a:buAutoNum type="arabicPeriod"/>
            </a:pPr>
            <a:r>
              <a:rPr lang="en-US" altLang="en-US">
                <a:latin typeface="Times New Roman" panose="02020603050405020304" pitchFamily="18" charset="0"/>
              </a:rPr>
              <a:t>Replace the member function declaration with friend function declaration</a:t>
            </a:r>
          </a:p>
          <a:p>
            <a:pPr marL="1371600" lvl="2" indent="-457200" algn="just" eaLnBrk="1" hangingPunct="1"/>
            <a:r>
              <a:rPr lang="en-US" altLang="en-US">
                <a:latin typeface="Times New Roman" panose="02020603050405020304" pitchFamily="18" charset="0"/>
              </a:rPr>
              <a:t>friend complex operator+(complex,complex)</a:t>
            </a:r>
          </a:p>
          <a:p>
            <a:pPr marL="990600" lvl="1" indent="-533400" algn="just" eaLnBrk="1" hangingPunct="1">
              <a:buFontTx/>
              <a:buAutoNum type="arabicPeriod"/>
            </a:pPr>
            <a:r>
              <a:rPr lang="en-US" altLang="en-US">
                <a:latin typeface="Times New Roman" panose="02020603050405020304" pitchFamily="18" charset="0"/>
              </a:rPr>
              <a:t>Redefine the operator function as follows</a:t>
            </a:r>
          </a:p>
          <a:p>
            <a:pPr marL="990600" lvl="1" indent="-533400" algn="just" eaLnBrk="1" hangingPunct="1"/>
            <a:r>
              <a:rPr lang="en-US" altLang="en-US">
                <a:latin typeface="Times New Roman" panose="02020603050405020304" pitchFamily="18" charset="0"/>
              </a:rPr>
              <a:t>	</a:t>
            </a:r>
          </a:p>
          <a:p>
            <a:pPr marL="990600" lvl="1" indent="-533400" algn="just" eaLnBrk="1" hangingPunct="1">
              <a:buFontTx/>
              <a:buAutoNum type="arabicPeriod"/>
            </a:pPr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4C201CB7-5FFE-0481-8026-8524C672FFA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152400"/>
            <a:ext cx="8686800" cy="6477000"/>
          </a:xfrm>
        </p:spPr>
        <p:txBody>
          <a:bodyPr/>
          <a:lstStyle/>
          <a:p>
            <a:pPr algn="l" eaLnBrk="1" hangingPunct="1">
              <a:lnSpc>
                <a:spcPct val="80000"/>
              </a:lnSpc>
            </a:pPr>
            <a:r>
              <a:rPr lang="en-US" altLang="en-US" sz="1600"/>
              <a:t>#include &lt;iostream&gt;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600"/>
              <a:t>class complex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600"/>
              <a:t>{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600"/>
              <a:t>	float real,img; //real and imaginary parts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600"/>
              <a:t>	public: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600"/>
              <a:t>		complex(){ }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600"/>
              <a:t>		complex(float r, float i) {real=r;img=i;}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600"/>
              <a:t>		void disp(void);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600"/>
              <a:t>		</a:t>
            </a:r>
            <a:r>
              <a:rPr lang="en-US" altLang="en-US" sz="1600">
                <a:solidFill>
                  <a:schemeClr val="accent2"/>
                </a:solidFill>
              </a:rPr>
              <a:t>friend complex operator+(complex,complex);</a:t>
            </a:r>
            <a:r>
              <a:rPr lang="en-US" altLang="en-US" sz="1600"/>
              <a:t>	//overload binaryplus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600"/>
              <a:t>};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600"/>
              <a:t>void complex :: disp(void)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600"/>
              <a:t>{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600"/>
              <a:t>	cout &lt;&lt; real &lt;&lt; "+J"&lt;&lt;img&lt;&lt;"\n";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600"/>
              <a:t>}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600">
                <a:solidFill>
                  <a:schemeClr val="accent2"/>
                </a:solidFill>
              </a:rPr>
              <a:t>complex operator+(complex a,complex b)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600">
                <a:solidFill>
                  <a:schemeClr val="accent2"/>
                </a:solidFill>
              </a:rPr>
              <a:t>{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600">
                <a:solidFill>
                  <a:schemeClr val="accent2"/>
                </a:solidFill>
              </a:rPr>
              <a:t>	return complex((a.real+b.real),(a.img+b.img));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600">
                <a:solidFill>
                  <a:schemeClr val="accent2"/>
                </a:solidFill>
              </a:rPr>
              <a:t>}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600"/>
              <a:t>int main()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600"/>
              <a:t>{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600"/>
              <a:t>	complex c1(1.3,2.5),c2(2.1,4.2),c3;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600"/>
              <a:t>	c3=c1+c2;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600"/>
              <a:t>	cout &lt;&lt; "c1=";	c1.disp();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600"/>
              <a:t>	cout &lt;&lt; "c2=";	c2.disp();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600"/>
              <a:t>	cout &lt;&lt; "c3=";	c3.disp();</a:t>
            </a:r>
          </a:p>
          <a:p>
            <a:pPr algn="l" eaLnBrk="1" hangingPunct="1">
              <a:lnSpc>
                <a:spcPct val="80000"/>
              </a:lnSpc>
            </a:pPr>
            <a:r>
              <a:rPr lang="en-US" altLang="en-US" sz="1600"/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DC1EC6DA-FCD2-26D7-4D96-FB68E84886C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52400"/>
            <a:ext cx="7772400" cy="457200"/>
          </a:xfrm>
        </p:spPr>
        <p:txBody>
          <a:bodyPr/>
          <a:lstStyle/>
          <a:p>
            <a:pPr eaLnBrk="1" hangingPunct="1"/>
            <a:r>
              <a:rPr lang="en-US" altLang="en-US" sz="2800">
                <a:solidFill>
                  <a:schemeClr val="accent2"/>
                </a:solidFill>
              </a:rPr>
              <a:t>Rules for Overloading operators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FCE28353-36FA-2F73-E199-C6CBA055257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609600"/>
            <a:ext cx="8686800" cy="6248400"/>
          </a:xfrm>
        </p:spPr>
        <p:txBody>
          <a:bodyPr/>
          <a:lstStyle/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 sz="2800">
                <a:latin typeface="Times New Roman" panose="02020603050405020304" pitchFamily="18" charset="0"/>
              </a:rPr>
              <a:t>Restrictions and limitations in overloading operators</a:t>
            </a:r>
          </a:p>
          <a:p>
            <a:pPr marL="990600" lvl="1" indent="-533400" algn="just" eaLnBrk="1" hangingPunct="1">
              <a:lnSpc>
                <a:spcPct val="80000"/>
              </a:lnSpc>
              <a:buFontTx/>
              <a:buAutoNum type="arabicPeriod"/>
            </a:pPr>
            <a:r>
              <a:rPr lang="en-US" altLang="en-US" sz="2000">
                <a:latin typeface="Times New Roman" panose="02020603050405020304" pitchFamily="18" charset="0"/>
              </a:rPr>
              <a:t>Only existing operators can be overloaded. New operators cannot be created</a:t>
            </a:r>
          </a:p>
          <a:p>
            <a:pPr marL="990600" lvl="1" indent="-533400" algn="just" eaLnBrk="1" hangingPunct="1">
              <a:lnSpc>
                <a:spcPct val="80000"/>
              </a:lnSpc>
              <a:buFontTx/>
              <a:buAutoNum type="arabicPeriod"/>
            </a:pPr>
            <a:r>
              <a:rPr lang="en-US" altLang="en-US" sz="2000">
                <a:latin typeface="Times New Roman" panose="02020603050405020304" pitchFamily="18" charset="0"/>
              </a:rPr>
              <a:t>The overloaded operator must have atleast one operand that is of user-defined type</a:t>
            </a:r>
          </a:p>
          <a:p>
            <a:pPr marL="990600" lvl="1" indent="-533400" algn="just" eaLnBrk="1" hangingPunct="1">
              <a:lnSpc>
                <a:spcPct val="80000"/>
              </a:lnSpc>
              <a:buFontTx/>
              <a:buAutoNum type="arabicPeriod"/>
            </a:pPr>
            <a:r>
              <a:rPr lang="en-US" altLang="en-US" sz="2000">
                <a:latin typeface="Times New Roman" panose="02020603050405020304" pitchFamily="18" charset="0"/>
              </a:rPr>
              <a:t>We cannot change the basic meaning of an operator</a:t>
            </a:r>
          </a:p>
          <a:p>
            <a:pPr marL="990600" lvl="1" indent="-533400" algn="just" eaLnBrk="1" hangingPunct="1">
              <a:lnSpc>
                <a:spcPct val="80000"/>
              </a:lnSpc>
              <a:buFontTx/>
              <a:buAutoNum type="arabicPeriod"/>
            </a:pPr>
            <a:r>
              <a:rPr lang="en-US" altLang="en-US" sz="2000">
                <a:latin typeface="Times New Roman" panose="02020603050405020304" pitchFamily="18" charset="0"/>
              </a:rPr>
              <a:t>Overloaded operators follow the syntax rules of the original operators. They cannot be overridden</a:t>
            </a:r>
          </a:p>
          <a:p>
            <a:pPr marL="990600" lvl="1" indent="-533400" algn="just" eaLnBrk="1" hangingPunct="1">
              <a:lnSpc>
                <a:spcPct val="80000"/>
              </a:lnSpc>
              <a:buFontTx/>
              <a:buAutoNum type="arabicPeriod"/>
            </a:pPr>
            <a:r>
              <a:rPr lang="en-US" altLang="en-US" sz="2000">
                <a:latin typeface="Times New Roman" panose="02020603050405020304" pitchFamily="18" charset="0"/>
              </a:rPr>
              <a:t>Some operators cannot be overloaded</a:t>
            </a:r>
          </a:p>
          <a:p>
            <a:pPr marL="990600" lvl="1" indent="-533400" algn="just" eaLnBrk="1" hangingPunct="1">
              <a:lnSpc>
                <a:spcPct val="80000"/>
              </a:lnSpc>
              <a:buFontTx/>
              <a:buAutoNum type="arabicPeriod"/>
            </a:pPr>
            <a:r>
              <a:rPr lang="en-US" altLang="en-US" sz="2000">
                <a:latin typeface="Times New Roman" panose="02020603050405020304" pitchFamily="18" charset="0"/>
              </a:rPr>
              <a:t>We cannot use friend functions to overload certain operators eg: = ( ) [ ]  -&gt;. But we can use member functions</a:t>
            </a:r>
          </a:p>
          <a:p>
            <a:pPr marL="990600" lvl="1" indent="-533400" algn="just" eaLnBrk="1" hangingPunct="1">
              <a:lnSpc>
                <a:spcPct val="80000"/>
              </a:lnSpc>
              <a:buFontTx/>
              <a:buAutoNum type="arabicPeriod"/>
            </a:pPr>
            <a:r>
              <a:rPr lang="en-US" altLang="en-US" sz="2000">
                <a:latin typeface="Times New Roman" panose="02020603050405020304" pitchFamily="18" charset="0"/>
              </a:rPr>
              <a:t>Unary operator, overloaded by means of a member function, take no explicit args, and return no explicit value, but overloaded by means of a friend function, take one reference argument( the object of the relevant class)</a:t>
            </a:r>
          </a:p>
          <a:p>
            <a:pPr marL="990600" lvl="1" indent="-533400" algn="just" eaLnBrk="1" hangingPunct="1">
              <a:lnSpc>
                <a:spcPct val="80000"/>
              </a:lnSpc>
              <a:buFontTx/>
              <a:buAutoNum type="arabicPeriod"/>
            </a:pPr>
            <a:r>
              <a:rPr lang="en-US" altLang="en-US" sz="2000">
                <a:latin typeface="Times New Roman" panose="02020603050405020304" pitchFamily="18" charset="0"/>
              </a:rPr>
              <a:t>binary operator, overloaded by means of a member function, take one explicit arg, but overloaded by means of a friend function, take two explicit argumens</a:t>
            </a:r>
          </a:p>
          <a:p>
            <a:pPr marL="990600" lvl="1" indent="-533400" algn="just" eaLnBrk="1" hangingPunct="1">
              <a:lnSpc>
                <a:spcPct val="80000"/>
              </a:lnSpc>
              <a:buFontTx/>
              <a:buAutoNum type="arabicPeriod"/>
            </a:pPr>
            <a:r>
              <a:rPr lang="en-US" altLang="en-US" sz="2000">
                <a:latin typeface="Times New Roman" panose="02020603050405020304" pitchFamily="18" charset="0"/>
              </a:rPr>
              <a:t>When using binary operators overloaded through a member function, the left hand operand must be an object of the relevant class</a:t>
            </a:r>
          </a:p>
          <a:p>
            <a:pPr marL="990600" lvl="1" indent="-533400" algn="just" eaLnBrk="1" hangingPunct="1">
              <a:lnSpc>
                <a:spcPct val="80000"/>
              </a:lnSpc>
              <a:buFontTx/>
              <a:buAutoNum type="arabicPeriod"/>
            </a:pPr>
            <a:r>
              <a:rPr lang="en-US" altLang="en-US" sz="2000">
                <a:latin typeface="Times New Roman" panose="02020603050405020304" pitchFamily="18" charset="0"/>
              </a:rPr>
              <a:t>Binary arithmetic operators such as +,-,*,/ must explicitly return a value. They must not attempt to change their own arguments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686</TotalTime>
  <Words>1502</Words>
  <Application>Microsoft Office PowerPoint</Application>
  <PresentationFormat>On-screen Show (4:3)</PresentationFormat>
  <Paragraphs>202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Default Design</vt:lpstr>
      <vt:lpstr>Operator overloading</vt:lpstr>
      <vt:lpstr>Defining Operator overloading</vt:lpstr>
      <vt:lpstr>PowerPoint Presentation</vt:lpstr>
      <vt:lpstr>PowerPoint Presentation</vt:lpstr>
      <vt:lpstr>Overloading unary operators</vt:lpstr>
      <vt:lpstr>PowerPoint Presentation</vt:lpstr>
      <vt:lpstr>Overloading unary operators</vt:lpstr>
      <vt:lpstr>PowerPoint Presentation</vt:lpstr>
      <vt:lpstr>Overloading binary operators</vt:lpstr>
      <vt:lpstr>PowerPoint Presentation</vt:lpstr>
      <vt:lpstr>Overloading binary operators using friend</vt:lpstr>
      <vt:lpstr>PowerPoint Presentation</vt:lpstr>
      <vt:lpstr>Rules for Overloading operators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S Bhavani</cp:lastModifiedBy>
  <cp:revision>356</cp:revision>
  <cp:lastPrinted>1601-01-01T00:00:00Z</cp:lastPrinted>
  <dcterms:created xsi:type="dcterms:W3CDTF">1601-01-01T00:00:00Z</dcterms:created>
  <dcterms:modified xsi:type="dcterms:W3CDTF">2026-04-07T06:29:49Z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