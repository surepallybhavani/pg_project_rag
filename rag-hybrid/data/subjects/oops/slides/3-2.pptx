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7" r:id="rId30"/>
    <p:sldId id="304" r:id="rId31"/>
    <p:sldId id="305" r:id="rId32"/>
    <p:sldId id="306" r:id="rId33"/>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069" autoAdjust="0"/>
  </p:normalViewPr>
  <p:slideViewPr>
    <p:cSldViewPr>
      <p:cViewPr varScale="1">
        <p:scale>
          <a:sx n="76" d="100"/>
          <a:sy n="76" d="100"/>
        </p:scale>
        <p:origin x="164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3FA48C91-C58D-ECBE-BBB8-BCFCBC5FB7B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AD5FDAD-6BAD-EFC0-EE12-CEACAB2B0C2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EB10786-1FDB-EF08-C4B2-DF7E4941D34D}"/>
              </a:ext>
            </a:extLst>
          </p:cNvPr>
          <p:cNvSpPr>
            <a:spLocks noGrp="1" noChangeArrowheads="1"/>
          </p:cNvSpPr>
          <p:nvPr>
            <p:ph type="sldNum" sz="quarter" idx="12"/>
          </p:nvPr>
        </p:nvSpPr>
        <p:spPr>
          <a:ln/>
        </p:spPr>
        <p:txBody>
          <a:bodyPr/>
          <a:lstStyle>
            <a:lvl1pPr>
              <a:defRPr/>
            </a:lvl1pPr>
          </a:lstStyle>
          <a:p>
            <a:fld id="{3D9B1B12-2B80-412F-94A9-C128C83C3B6C}" type="slidenum">
              <a:rPr lang="en-US" altLang="en-US"/>
              <a:pPr/>
              <a:t>‹#›</a:t>
            </a:fld>
            <a:endParaRPr lang="en-US" altLang="en-US"/>
          </a:p>
        </p:txBody>
      </p:sp>
    </p:spTree>
    <p:extLst>
      <p:ext uri="{BB962C8B-B14F-4D97-AF65-F5344CB8AC3E}">
        <p14:creationId xmlns:p14="http://schemas.microsoft.com/office/powerpoint/2010/main" val="2128493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AB559E4-AAD7-7E1A-A25A-D4CCF13807E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561B95A-7C64-B39C-12ED-54C06AD29CE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B584C24-379F-1D8E-E007-3EEEBF51EF4F}"/>
              </a:ext>
            </a:extLst>
          </p:cNvPr>
          <p:cNvSpPr>
            <a:spLocks noGrp="1" noChangeArrowheads="1"/>
          </p:cNvSpPr>
          <p:nvPr>
            <p:ph type="sldNum" sz="quarter" idx="12"/>
          </p:nvPr>
        </p:nvSpPr>
        <p:spPr>
          <a:ln/>
        </p:spPr>
        <p:txBody>
          <a:bodyPr/>
          <a:lstStyle>
            <a:lvl1pPr>
              <a:defRPr/>
            </a:lvl1pPr>
          </a:lstStyle>
          <a:p>
            <a:fld id="{178C415D-0ED6-444D-8F74-93D055503613}" type="slidenum">
              <a:rPr lang="en-US" altLang="en-US"/>
              <a:pPr/>
              <a:t>‹#›</a:t>
            </a:fld>
            <a:endParaRPr lang="en-US" altLang="en-US"/>
          </a:p>
        </p:txBody>
      </p:sp>
    </p:spTree>
    <p:extLst>
      <p:ext uri="{BB962C8B-B14F-4D97-AF65-F5344CB8AC3E}">
        <p14:creationId xmlns:p14="http://schemas.microsoft.com/office/powerpoint/2010/main" val="216495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E9F5889-F7FF-363A-3339-4DD9887D524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282D0DD-1218-74D8-AC65-C3C1D07FAFB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EC7D889-CC21-88C5-166E-163DED0CCF46}"/>
              </a:ext>
            </a:extLst>
          </p:cNvPr>
          <p:cNvSpPr>
            <a:spLocks noGrp="1" noChangeArrowheads="1"/>
          </p:cNvSpPr>
          <p:nvPr>
            <p:ph type="sldNum" sz="quarter" idx="12"/>
          </p:nvPr>
        </p:nvSpPr>
        <p:spPr>
          <a:ln/>
        </p:spPr>
        <p:txBody>
          <a:bodyPr/>
          <a:lstStyle>
            <a:lvl1pPr>
              <a:defRPr/>
            </a:lvl1pPr>
          </a:lstStyle>
          <a:p>
            <a:fld id="{66E23EBB-C50F-4DA5-8B70-411AAD3599F3}" type="slidenum">
              <a:rPr lang="en-US" altLang="en-US"/>
              <a:pPr/>
              <a:t>‹#›</a:t>
            </a:fld>
            <a:endParaRPr lang="en-US" altLang="en-US"/>
          </a:p>
        </p:txBody>
      </p:sp>
    </p:spTree>
    <p:extLst>
      <p:ext uri="{BB962C8B-B14F-4D97-AF65-F5344CB8AC3E}">
        <p14:creationId xmlns:p14="http://schemas.microsoft.com/office/powerpoint/2010/main" val="2202041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970C662-59A2-9E29-8169-D12B5EF01D5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EC15431-4EF9-8062-D27E-105829781EF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4FAF32A-DFE6-6B39-510A-292565CD47D3}"/>
              </a:ext>
            </a:extLst>
          </p:cNvPr>
          <p:cNvSpPr>
            <a:spLocks noGrp="1" noChangeArrowheads="1"/>
          </p:cNvSpPr>
          <p:nvPr>
            <p:ph type="sldNum" sz="quarter" idx="12"/>
          </p:nvPr>
        </p:nvSpPr>
        <p:spPr>
          <a:ln/>
        </p:spPr>
        <p:txBody>
          <a:bodyPr/>
          <a:lstStyle>
            <a:lvl1pPr>
              <a:defRPr/>
            </a:lvl1pPr>
          </a:lstStyle>
          <a:p>
            <a:fld id="{8E062A52-F171-40F8-8305-C10097EFA49A}" type="slidenum">
              <a:rPr lang="en-US" altLang="en-US"/>
              <a:pPr/>
              <a:t>‹#›</a:t>
            </a:fld>
            <a:endParaRPr lang="en-US" altLang="en-US"/>
          </a:p>
        </p:txBody>
      </p:sp>
    </p:spTree>
    <p:extLst>
      <p:ext uri="{BB962C8B-B14F-4D97-AF65-F5344CB8AC3E}">
        <p14:creationId xmlns:p14="http://schemas.microsoft.com/office/powerpoint/2010/main" val="469266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FE37520-9399-46D4-A509-5B24522D91F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9A2C409F-751F-C38F-188C-7A417C3EBA9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89D4B59-CB55-74F2-F23A-8835DCC6638C}"/>
              </a:ext>
            </a:extLst>
          </p:cNvPr>
          <p:cNvSpPr>
            <a:spLocks noGrp="1" noChangeArrowheads="1"/>
          </p:cNvSpPr>
          <p:nvPr>
            <p:ph type="sldNum" sz="quarter" idx="12"/>
          </p:nvPr>
        </p:nvSpPr>
        <p:spPr>
          <a:ln/>
        </p:spPr>
        <p:txBody>
          <a:bodyPr/>
          <a:lstStyle>
            <a:lvl1pPr>
              <a:defRPr/>
            </a:lvl1pPr>
          </a:lstStyle>
          <a:p>
            <a:fld id="{BE50B6EF-1FCD-4AAE-9A08-EED09E1DACF0}" type="slidenum">
              <a:rPr lang="en-US" altLang="en-US"/>
              <a:pPr/>
              <a:t>‹#›</a:t>
            </a:fld>
            <a:endParaRPr lang="en-US" altLang="en-US"/>
          </a:p>
        </p:txBody>
      </p:sp>
    </p:spTree>
    <p:extLst>
      <p:ext uri="{BB962C8B-B14F-4D97-AF65-F5344CB8AC3E}">
        <p14:creationId xmlns:p14="http://schemas.microsoft.com/office/powerpoint/2010/main" val="1794521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99029C5-6740-BAFE-95D4-45ABC0B43C5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8CCC531F-BF14-E844-D8A4-728A21EF8FE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A2290E6-C38F-DD59-FD74-FCD7C9D10B23}"/>
              </a:ext>
            </a:extLst>
          </p:cNvPr>
          <p:cNvSpPr>
            <a:spLocks noGrp="1" noChangeArrowheads="1"/>
          </p:cNvSpPr>
          <p:nvPr>
            <p:ph type="sldNum" sz="quarter" idx="12"/>
          </p:nvPr>
        </p:nvSpPr>
        <p:spPr>
          <a:ln/>
        </p:spPr>
        <p:txBody>
          <a:bodyPr/>
          <a:lstStyle>
            <a:lvl1pPr>
              <a:defRPr/>
            </a:lvl1pPr>
          </a:lstStyle>
          <a:p>
            <a:fld id="{8959366C-88F2-4136-B0F8-CF711E42D38C}" type="slidenum">
              <a:rPr lang="en-US" altLang="en-US"/>
              <a:pPr/>
              <a:t>‹#›</a:t>
            </a:fld>
            <a:endParaRPr lang="en-US" altLang="en-US"/>
          </a:p>
        </p:txBody>
      </p:sp>
    </p:spTree>
    <p:extLst>
      <p:ext uri="{BB962C8B-B14F-4D97-AF65-F5344CB8AC3E}">
        <p14:creationId xmlns:p14="http://schemas.microsoft.com/office/powerpoint/2010/main" val="126809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CE0F442-964F-26DB-45AF-5E9C5D869CE6}"/>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25B8860-4BD5-0E68-3D04-9593B2A1E55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5A567C6-D0E8-4A39-36B8-8DCA48E3D4FC}"/>
              </a:ext>
            </a:extLst>
          </p:cNvPr>
          <p:cNvSpPr>
            <a:spLocks noGrp="1" noChangeArrowheads="1"/>
          </p:cNvSpPr>
          <p:nvPr>
            <p:ph type="sldNum" sz="quarter" idx="12"/>
          </p:nvPr>
        </p:nvSpPr>
        <p:spPr>
          <a:ln/>
        </p:spPr>
        <p:txBody>
          <a:bodyPr/>
          <a:lstStyle>
            <a:lvl1pPr>
              <a:defRPr/>
            </a:lvl1pPr>
          </a:lstStyle>
          <a:p>
            <a:fld id="{A2DA63AF-7D98-4C49-BC20-FEC7C4591346}" type="slidenum">
              <a:rPr lang="en-US" altLang="en-US"/>
              <a:pPr/>
              <a:t>‹#›</a:t>
            </a:fld>
            <a:endParaRPr lang="en-US" altLang="en-US"/>
          </a:p>
        </p:txBody>
      </p:sp>
    </p:spTree>
    <p:extLst>
      <p:ext uri="{BB962C8B-B14F-4D97-AF65-F5344CB8AC3E}">
        <p14:creationId xmlns:p14="http://schemas.microsoft.com/office/powerpoint/2010/main" val="1951888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14639EF-8437-8155-EF8A-3331B33554D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23A2849-77DD-6612-DECA-5BCA1E2ADA2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F48B7C8-EF0B-8CD9-0DD5-24E7BB734EA3}"/>
              </a:ext>
            </a:extLst>
          </p:cNvPr>
          <p:cNvSpPr>
            <a:spLocks noGrp="1" noChangeArrowheads="1"/>
          </p:cNvSpPr>
          <p:nvPr>
            <p:ph type="sldNum" sz="quarter" idx="12"/>
          </p:nvPr>
        </p:nvSpPr>
        <p:spPr>
          <a:ln/>
        </p:spPr>
        <p:txBody>
          <a:bodyPr/>
          <a:lstStyle>
            <a:lvl1pPr>
              <a:defRPr/>
            </a:lvl1pPr>
          </a:lstStyle>
          <a:p>
            <a:fld id="{E7F938D6-97E2-49DC-AE29-46E04BBC995C}" type="slidenum">
              <a:rPr lang="en-US" altLang="en-US"/>
              <a:pPr/>
              <a:t>‹#›</a:t>
            </a:fld>
            <a:endParaRPr lang="en-US" altLang="en-US"/>
          </a:p>
        </p:txBody>
      </p:sp>
    </p:spTree>
    <p:extLst>
      <p:ext uri="{BB962C8B-B14F-4D97-AF65-F5344CB8AC3E}">
        <p14:creationId xmlns:p14="http://schemas.microsoft.com/office/powerpoint/2010/main" val="2527136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3500336-22A3-7D88-F4AE-8061677D87E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6458E45-5802-A645-3875-4CB6736B5C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E0C8724-02B1-E7D3-B0B2-246B4F0F2900}"/>
              </a:ext>
            </a:extLst>
          </p:cNvPr>
          <p:cNvSpPr>
            <a:spLocks noGrp="1" noChangeArrowheads="1"/>
          </p:cNvSpPr>
          <p:nvPr>
            <p:ph type="sldNum" sz="quarter" idx="12"/>
          </p:nvPr>
        </p:nvSpPr>
        <p:spPr>
          <a:ln/>
        </p:spPr>
        <p:txBody>
          <a:bodyPr/>
          <a:lstStyle>
            <a:lvl1pPr>
              <a:defRPr/>
            </a:lvl1pPr>
          </a:lstStyle>
          <a:p>
            <a:fld id="{9BC55F36-A8E5-43D7-B83A-9DD5F03FA961}" type="slidenum">
              <a:rPr lang="en-US" altLang="en-US"/>
              <a:pPr/>
              <a:t>‹#›</a:t>
            </a:fld>
            <a:endParaRPr lang="en-US" altLang="en-US"/>
          </a:p>
        </p:txBody>
      </p:sp>
    </p:spTree>
    <p:extLst>
      <p:ext uri="{BB962C8B-B14F-4D97-AF65-F5344CB8AC3E}">
        <p14:creationId xmlns:p14="http://schemas.microsoft.com/office/powerpoint/2010/main" val="4208471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E84368E-8CE1-8689-72A7-0B179A9C4A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ACBFEA1-8C97-34DF-40BE-A1311881FC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C3CC404-9EE9-ABD0-3F2C-A1428846978D}"/>
              </a:ext>
            </a:extLst>
          </p:cNvPr>
          <p:cNvSpPr>
            <a:spLocks noGrp="1" noChangeArrowheads="1"/>
          </p:cNvSpPr>
          <p:nvPr>
            <p:ph type="sldNum" sz="quarter" idx="12"/>
          </p:nvPr>
        </p:nvSpPr>
        <p:spPr>
          <a:ln/>
        </p:spPr>
        <p:txBody>
          <a:bodyPr/>
          <a:lstStyle>
            <a:lvl1pPr>
              <a:defRPr/>
            </a:lvl1pPr>
          </a:lstStyle>
          <a:p>
            <a:fld id="{41E59767-38E8-45FC-B899-504D9896C91C}" type="slidenum">
              <a:rPr lang="en-US" altLang="en-US"/>
              <a:pPr/>
              <a:t>‹#›</a:t>
            </a:fld>
            <a:endParaRPr lang="en-US" altLang="en-US"/>
          </a:p>
        </p:txBody>
      </p:sp>
    </p:spTree>
    <p:extLst>
      <p:ext uri="{BB962C8B-B14F-4D97-AF65-F5344CB8AC3E}">
        <p14:creationId xmlns:p14="http://schemas.microsoft.com/office/powerpoint/2010/main" val="906928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4928291-DF55-69B0-A683-0F3EB017662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C3BC2D6-3FE2-5B18-F9F3-81C837F04B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5457A72-E95A-50E6-6811-F67E04B8946E}"/>
              </a:ext>
            </a:extLst>
          </p:cNvPr>
          <p:cNvSpPr>
            <a:spLocks noGrp="1" noChangeArrowheads="1"/>
          </p:cNvSpPr>
          <p:nvPr>
            <p:ph type="sldNum" sz="quarter" idx="12"/>
          </p:nvPr>
        </p:nvSpPr>
        <p:spPr>
          <a:ln/>
        </p:spPr>
        <p:txBody>
          <a:bodyPr/>
          <a:lstStyle>
            <a:lvl1pPr>
              <a:defRPr/>
            </a:lvl1pPr>
          </a:lstStyle>
          <a:p>
            <a:fld id="{D04CFB12-F4AF-4535-95F0-3FDDC76599CB}" type="slidenum">
              <a:rPr lang="en-US" altLang="en-US"/>
              <a:pPr/>
              <a:t>‹#›</a:t>
            </a:fld>
            <a:endParaRPr lang="en-US" altLang="en-US"/>
          </a:p>
        </p:txBody>
      </p:sp>
    </p:spTree>
    <p:extLst>
      <p:ext uri="{BB962C8B-B14F-4D97-AF65-F5344CB8AC3E}">
        <p14:creationId xmlns:p14="http://schemas.microsoft.com/office/powerpoint/2010/main" val="3965190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A6776B8-B3A2-339C-C927-8121F5D61088}"/>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ECBAB15-8248-554A-B58C-86125BBB1548}"/>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90604A1-2A4B-99D6-F005-7763B4D17B3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D4278D5D-CD13-85BA-A452-E50F4DA8E1F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5D39A63C-460F-07D6-89F6-3216601BFC9E}"/>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2A589165-403A-4A17-811D-41C863B5DCC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90DC7D4-DC5B-9E73-AF80-37B824E4A668}"/>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Ambiguity resolution in inheritance</a:t>
            </a:r>
          </a:p>
        </p:txBody>
      </p:sp>
      <p:sp>
        <p:nvSpPr>
          <p:cNvPr id="2051" name="Rectangle 3">
            <a:extLst>
              <a:ext uri="{FF2B5EF4-FFF2-40B4-BE49-F238E27FC236}">
                <a16:creationId xmlns:a16="http://schemas.microsoft.com/office/drawing/2014/main" id="{80F0E8AD-C155-9802-0632-24E25A026B5D}"/>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2000">
                <a:latin typeface="Times New Roman" panose="02020603050405020304" pitchFamily="18" charset="0"/>
              </a:rPr>
              <a:t>Occasionally, we may face a problem in using multiple inheritance, when a function with the same signaute appears in more than one base class</a:t>
            </a:r>
          </a:p>
          <a:p>
            <a:pPr algn="just" eaLnBrk="1" hangingPunct="1">
              <a:lnSpc>
                <a:spcPct val="80000"/>
              </a:lnSpc>
            </a:pPr>
            <a:r>
              <a:rPr lang="en-US" altLang="en-US" sz="1800">
                <a:latin typeface="Times New Roman" panose="02020603050405020304" pitchFamily="18" charset="0"/>
              </a:rPr>
              <a:t>class A</a:t>
            </a:r>
          </a:p>
          <a:p>
            <a:pPr algn="just" eaLnBrk="1" hangingPunct="1">
              <a:lnSpc>
                <a:spcPct val="80000"/>
              </a:lnSpc>
            </a:pPr>
            <a:r>
              <a:rPr lang="en-US" altLang="en-US" sz="1800">
                <a:latin typeface="Times New Roman" panose="02020603050405020304" pitchFamily="18" charset="0"/>
              </a:rPr>
              <a:t>{</a:t>
            </a:r>
          </a:p>
          <a:p>
            <a:pPr algn="just" eaLnBrk="1" hangingPunct="1">
              <a:lnSpc>
                <a:spcPct val="80000"/>
              </a:lnSpc>
            </a:pPr>
            <a:r>
              <a:rPr lang="en-US" altLang="en-US" sz="1800">
                <a:latin typeface="Times New Roman" panose="02020603050405020304" pitchFamily="18" charset="0"/>
              </a:rPr>
              <a:t>	public:</a:t>
            </a:r>
          </a:p>
          <a:p>
            <a:pPr algn="just" eaLnBrk="1" hangingPunct="1">
              <a:lnSpc>
                <a:spcPct val="80000"/>
              </a:lnSpc>
            </a:pPr>
            <a:r>
              <a:rPr lang="en-US" altLang="en-US" sz="1800">
                <a:latin typeface="Times New Roman" panose="02020603050405020304" pitchFamily="18" charset="0"/>
              </a:rPr>
              <a:t>		void disp(void)  {cout &lt;&lt; “class A”;}</a:t>
            </a:r>
          </a:p>
          <a:p>
            <a:pPr algn="just" eaLnBrk="1" hangingPunct="1">
              <a:lnSpc>
                <a:spcPct val="80000"/>
              </a:lnSpc>
            </a:pPr>
            <a:r>
              <a:rPr lang="en-US" altLang="en-US" sz="1800">
                <a:latin typeface="Times New Roman" panose="02020603050405020304" pitchFamily="18" charset="0"/>
              </a:rPr>
              <a:t>};</a:t>
            </a:r>
          </a:p>
          <a:p>
            <a:pPr algn="just" eaLnBrk="1" hangingPunct="1">
              <a:lnSpc>
                <a:spcPct val="80000"/>
              </a:lnSpc>
            </a:pPr>
            <a:r>
              <a:rPr lang="en-US" altLang="en-US" sz="1800">
                <a:latin typeface="Times New Roman" panose="02020603050405020304" pitchFamily="18" charset="0"/>
              </a:rPr>
              <a:t>class B</a:t>
            </a:r>
          </a:p>
          <a:p>
            <a:pPr algn="just" eaLnBrk="1" hangingPunct="1">
              <a:lnSpc>
                <a:spcPct val="80000"/>
              </a:lnSpc>
            </a:pPr>
            <a:r>
              <a:rPr lang="en-US" altLang="en-US" sz="1800">
                <a:latin typeface="Times New Roman" panose="02020603050405020304" pitchFamily="18" charset="0"/>
              </a:rPr>
              <a:t>{</a:t>
            </a:r>
          </a:p>
          <a:p>
            <a:pPr algn="just" eaLnBrk="1" hangingPunct="1">
              <a:lnSpc>
                <a:spcPct val="80000"/>
              </a:lnSpc>
            </a:pPr>
            <a:r>
              <a:rPr lang="en-US" altLang="en-US" sz="1800">
                <a:latin typeface="Times New Roman" panose="02020603050405020304" pitchFamily="18" charset="0"/>
              </a:rPr>
              <a:t>	public:</a:t>
            </a:r>
          </a:p>
          <a:p>
            <a:pPr algn="just" eaLnBrk="1" hangingPunct="1">
              <a:lnSpc>
                <a:spcPct val="80000"/>
              </a:lnSpc>
            </a:pPr>
            <a:r>
              <a:rPr lang="en-US" altLang="en-US" sz="1800">
                <a:latin typeface="Times New Roman" panose="02020603050405020304" pitchFamily="18" charset="0"/>
              </a:rPr>
              <a:t>		void disp(void)  {cout &lt;&lt; “class B”;}</a:t>
            </a:r>
          </a:p>
          <a:p>
            <a:pPr algn="just" eaLnBrk="1" hangingPunct="1">
              <a:lnSpc>
                <a:spcPct val="80000"/>
              </a:lnSpc>
            </a:pPr>
            <a:r>
              <a:rPr lang="en-US" altLang="en-US" sz="1800">
                <a:latin typeface="Times New Roman" panose="02020603050405020304" pitchFamily="18" charset="0"/>
              </a:rPr>
              <a:t>};</a:t>
            </a:r>
          </a:p>
          <a:p>
            <a:pPr algn="just" eaLnBrk="1" hangingPunct="1">
              <a:lnSpc>
                <a:spcPct val="80000"/>
              </a:lnSpc>
            </a:pPr>
            <a:r>
              <a:rPr lang="en-US" altLang="en-US" sz="1800">
                <a:latin typeface="Times New Roman" panose="02020603050405020304" pitchFamily="18" charset="0"/>
              </a:rPr>
              <a:t>class C : public A, public B</a:t>
            </a:r>
          </a:p>
          <a:p>
            <a:pPr algn="just" eaLnBrk="1" hangingPunct="1">
              <a:lnSpc>
                <a:spcPct val="80000"/>
              </a:lnSpc>
            </a:pPr>
            <a:r>
              <a:rPr lang="en-US" altLang="en-US" sz="1800">
                <a:latin typeface="Times New Roman" panose="02020603050405020304" pitchFamily="18" charset="0"/>
              </a:rPr>
              <a:t>{</a:t>
            </a:r>
          </a:p>
          <a:p>
            <a:pPr algn="just" eaLnBrk="1" hangingPunct="1">
              <a:lnSpc>
                <a:spcPct val="80000"/>
              </a:lnSpc>
            </a:pPr>
            <a:r>
              <a:rPr lang="en-US" altLang="en-US" sz="1800">
                <a:latin typeface="Times New Roman" panose="02020603050405020304" pitchFamily="18" charset="0"/>
              </a:rPr>
              <a:t>	void disp(void)  {//override disp() of A and B</a:t>
            </a:r>
          </a:p>
          <a:p>
            <a:pPr algn="just" eaLnBrk="1" hangingPunct="1">
              <a:lnSpc>
                <a:spcPct val="80000"/>
              </a:lnSpc>
            </a:pPr>
            <a:endParaRPr lang="en-US" altLang="en-US" sz="1800">
              <a:latin typeface="Times New Roman" panose="02020603050405020304" pitchFamily="18" charset="0"/>
            </a:endParaRPr>
          </a:p>
          <a:p>
            <a:pPr algn="just" eaLnBrk="1" hangingPunct="1">
              <a:lnSpc>
                <a:spcPct val="80000"/>
              </a:lnSpc>
            </a:pPr>
            <a:r>
              <a:rPr lang="en-US" altLang="en-US" sz="1800">
                <a:latin typeface="Times New Roman" panose="02020603050405020304" pitchFamily="18" charset="0"/>
              </a:rPr>
              <a:t>		B::disp();</a:t>
            </a:r>
          </a:p>
          <a:p>
            <a:pPr algn="just" eaLnBrk="1" hangingPunct="1">
              <a:lnSpc>
                <a:spcPct val="80000"/>
              </a:lnSpc>
            </a:pPr>
            <a:r>
              <a:rPr lang="en-US" altLang="en-US" sz="1800">
                <a:latin typeface="Times New Roman" panose="02020603050405020304" pitchFamily="18" charset="0"/>
              </a:rPr>
              <a:t>		}	</a:t>
            </a:r>
          </a:p>
          <a:p>
            <a:pPr algn="just" eaLnBrk="1" hangingPunct="1">
              <a:lnSpc>
                <a:spcPct val="80000"/>
              </a:lnSpc>
            </a:pPr>
            <a:r>
              <a:rPr lang="en-US" altLang="en-US" sz="1800">
                <a:latin typeface="Times New Roman" panose="02020603050405020304" pitchFamily="18" charset="0"/>
              </a:rPr>
              <a:t>};</a:t>
            </a:r>
          </a:p>
          <a:p>
            <a:pPr algn="just" eaLnBrk="1" hangingPunct="1">
              <a:lnSpc>
                <a:spcPct val="80000"/>
              </a:lnSpc>
            </a:pPr>
            <a:endParaRPr lang="en-US" altLang="en-US" sz="1800">
              <a:latin typeface="Times New Roman" panose="02020603050405020304" pitchFamily="18" charset="0"/>
            </a:endParaRPr>
          </a:p>
          <a:p>
            <a:pPr algn="just" eaLnBrk="1" hangingPunct="1">
              <a:lnSpc>
                <a:spcPct val="80000"/>
              </a:lnSpc>
            </a:pPr>
            <a:r>
              <a:rPr lang="en-US" altLang="en-US" sz="1800">
                <a:latin typeface="Times New Roman" panose="02020603050405020304" pitchFamily="18" charset="0"/>
              </a:rPr>
              <a:t>** defining named inheritance within derived class using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D2E6966-6DE7-E835-37D8-DC913CADCD6C}"/>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Ambiguity resolution in inheritance</a:t>
            </a:r>
          </a:p>
        </p:txBody>
      </p:sp>
      <p:sp>
        <p:nvSpPr>
          <p:cNvPr id="3075" name="Rectangle 3">
            <a:extLst>
              <a:ext uri="{FF2B5EF4-FFF2-40B4-BE49-F238E27FC236}">
                <a16:creationId xmlns:a16="http://schemas.microsoft.com/office/drawing/2014/main" id="{B49421F5-8A6D-AFC4-FDB4-D2D59189B53F}"/>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2400">
                <a:latin typeface="Times New Roman" panose="02020603050405020304" pitchFamily="18" charset="0"/>
              </a:rPr>
              <a:t>In single inheritance also ambiguity may arise</a:t>
            </a:r>
          </a:p>
          <a:p>
            <a:pPr algn="just" eaLnBrk="1" hangingPunct="1">
              <a:lnSpc>
                <a:spcPct val="80000"/>
              </a:lnSpc>
            </a:pPr>
            <a:r>
              <a:rPr lang="en-US" altLang="en-US" sz="2000">
                <a:latin typeface="Times New Roman" panose="02020603050405020304" pitchFamily="18" charset="0"/>
              </a:rPr>
              <a:t>class A</a:t>
            </a:r>
          </a:p>
          <a:p>
            <a:pPr algn="just" eaLnBrk="1" hangingPunct="1">
              <a:lnSpc>
                <a:spcPct val="80000"/>
              </a:lnSpc>
            </a:pPr>
            <a:r>
              <a:rPr lang="en-US" altLang="en-US" sz="2000">
                <a:latin typeface="Times New Roman" panose="02020603050405020304" pitchFamily="18" charset="0"/>
              </a:rPr>
              <a:t>{</a:t>
            </a:r>
          </a:p>
          <a:p>
            <a:pPr algn="just" eaLnBrk="1" hangingPunct="1">
              <a:lnSpc>
                <a:spcPct val="80000"/>
              </a:lnSpc>
            </a:pPr>
            <a:r>
              <a:rPr lang="en-US" altLang="en-US" sz="2000">
                <a:latin typeface="Times New Roman" panose="02020603050405020304" pitchFamily="18" charset="0"/>
              </a:rPr>
              <a:t>	public:</a:t>
            </a:r>
          </a:p>
          <a:p>
            <a:pPr algn="just" eaLnBrk="1" hangingPunct="1">
              <a:lnSpc>
                <a:spcPct val="80000"/>
              </a:lnSpc>
            </a:pPr>
            <a:r>
              <a:rPr lang="en-US" altLang="en-US" sz="2000">
                <a:latin typeface="Times New Roman" panose="02020603050405020304" pitchFamily="18" charset="0"/>
              </a:rPr>
              <a:t>		void disp(void)  {cout &lt;&lt; “class A”;}</a:t>
            </a:r>
          </a:p>
          <a:p>
            <a:pPr algn="just" eaLnBrk="1" hangingPunct="1">
              <a:lnSpc>
                <a:spcPct val="80000"/>
              </a:lnSpc>
            </a:pPr>
            <a:r>
              <a:rPr lang="en-US" altLang="en-US" sz="2000">
                <a:latin typeface="Times New Roman" panose="02020603050405020304" pitchFamily="18" charset="0"/>
              </a:rPr>
              <a:t>};</a:t>
            </a:r>
          </a:p>
          <a:p>
            <a:pPr algn="just" eaLnBrk="1" hangingPunct="1">
              <a:lnSpc>
                <a:spcPct val="80000"/>
              </a:lnSpc>
            </a:pPr>
            <a:r>
              <a:rPr lang="en-US" altLang="en-US" sz="2000">
                <a:latin typeface="Times New Roman" panose="02020603050405020304" pitchFamily="18" charset="0"/>
              </a:rPr>
              <a:t>class B : public A</a:t>
            </a:r>
          </a:p>
          <a:p>
            <a:pPr algn="just" eaLnBrk="1" hangingPunct="1">
              <a:lnSpc>
                <a:spcPct val="80000"/>
              </a:lnSpc>
            </a:pPr>
            <a:r>
              <a:rPr lang="en-US" altLang="en-US" sz="2000">
                <a:latin typeface="Times New Roman" panose="02020603050405020304" pitchFamily="18" charset="0"/>
              </a:rPr>
              <a:t>{</a:t>
            </a:r>
          </a:p>
          <a:p>
            <a:pPr algn="just" eaLnBrk="1" hangingPunct="1">
              <a:lnSpc>
                <a:spcPct val="80000"/>
              </a:lnSpc>
            </a:pPr>
            <a:r>
              <a:rPr lang="en-US" altLang="en-US" sz="2000">
                <a:latin typeface="Times New Roman" panose="02020603050405020304" pitchFamily="18" charset="0"/>
              </a:rPr>
              <a:t>	void disp(void) {cout &lt;&lt; “class B”;}</a:t>
            </a:r>
          </a:p>
          <a:p>
            <a:pPr algn="just" eaLnBrk="1" hangingPunct="1">
              <a:lnSpc>
                <a:spcPct val="80000"/>
              </a:lnSpc>
            </a:pPr>
            <a:r>
              <a:rPr lang="en-US" altLang="en-US" sz="2000">
                <a:latin typeface="Times New Roman" panose="02020603050405020304" pitchFamily="18" charset="0"/>
              </a:rPr>
              <a:t>};</a:t>
            </a:r>
          </a:p>
          <a:p>
            <a:pPr algn="just" eaLnBrk="1" hangingPunct="1">
              <a:lnSpc>
                <a:spcPct val="80000"/>
              </a:lnSpc>
              <a:buFontTx/>
              <a:buChar char="•"/>
            </a:pPr>
            <a:r>
              <a:rPr lang="en-US" altLang="en-US" sz="2000">
                <a:latin typeface="Times New Roman" panose="02020603050405020304" pitchFamily="18" charset="0"/>
              </a:rPr>
              <a:t>If u call disp on B’s object it will call B’s disp</a:t>
            </a:r>
          </a:p>
          <a:p>
            <a:pPr algn="just" eaLnBrk="1" hangingPunct="1">
              <a:lnSpc>
                <a:spcPct val="80000"/>
              </a:lnSpc>
              <a:buFontTx/>
              <a:buChar char="•"/>
            </a:pPr>
            <a:r>
              <a:rPr lang="en-US" altLang="en-US" sz="2000">
                <a:latin typeface="Times New Roman" panose="02020603050405020304" pitchFamily="18" charset="0"/>
              </a:rPr>
              <a:t>If u want to invoke A’s disp() in B we can do with ::</a:t>
            </a:r>
          </a:p>
          <a:p>
            <a:pPr algn="just" eaLnBrk="1" hangingPunct="1">
              <a:lnSpc>
                <a:spcPct val="80000"/>
              </a:lnSpc>
            </a:pPr>
            <a:r>
              <a:rPr lang="en-US" altLang="en-US" sz="2000">
                <a:latin typeface="Times New Roman" panose="02020603050405020304" pitchFamily="18" charset="0"/>
              </a:rPr>
              <a:t>int main()</a:t>
            </a:r>
          </a:p>
          <a:p>
            <a:pPr algn="just" eaLnBrk="1" hangingPunct="1">
              <a:lnSpc>
                <a:spcPct val="80000"/>
              </a:lnSpc>
            </a:pPr>
            <a:r>
              <a:rPr lang="en-US" altLang="en-US" sz="2000">
                <a:latin typeface="Times New Roman" panose="02020603050405020304" pitchFamily="18" charset="0"/>
              </a:rPr>
              <a:t>{</a:t>
            </a:r>
          </a:p>
          <a:p>
            <a:pPr algn="just" eaLnBrk="1" hangingPunct="1">
              <a:lnSpc>
                <a:spcPct val="80000"/>
              </a:lnSpc>
            </a:pPr>
            <a:r>
              <a:rPr lang="en-US" altLang="en-US" sz="2000">
                <a:latin typeface="Times New Roman" panose="02020603050405020304" pitchFamily="18" charset="0"/>
              </a:rPr>
              <a:t>	B b;</a:t>
            </a:r>
          </a:p>
          <a:p>
            <a:pPr algn="just" eaLnBrk="1" hangingPunct="1">
              <a:lnSpc>
                <a:spcPct val="80000"/>
              </a:lnSpc>
            </a:pPr>
            <a:r>
              <a:rPr lang="en-US" altLang="en-US" sz="2000">
                <a:latin typeface="Times New Roman" panose="02020603050405020304" pitchFamily="18" charset="0"/>
              </a:rPr>
              <a:t>	b.disp();		//invokes B’s disp()</a:t>
            </a:r>
          </a:p>
          <a:p>
            <a:pPr algn="just" eaLnBrk="1" hangingPunct="1">
              <a:lnSpc>
                <a:spcPct val="80000"/>
              </a:lnSpc>
            </a:pPr>
            <a:r>
              <a:rPr lang="en-US" altLang="en-US" sz="2000">
                <a:latin typeface="Times New Roman" panose="02020603050405020304" pitchFamily="18" charset="0"/>
              </a:rPr>
              <a:t>	b.A::disp();	//invokes A’s disp()</a:t>
            </a:r>
          </a:p>
          <a:p>
            <a:pPr algn="just" eaLnBrk="1" hangingPunct="1">
              <a:lnSpc>
                <a:spcPct val="80000"/>
              </a:lnSpc>
            </a:pPr>
            <a:r>
              <a:rPr lang="en-US" altLang="en-US" sz="2000">
                <a:latin typeface="Times New Roman" panose="02020603050405020304" pitchFamily="18" charset="0"/>
              </a:rPr>
              <a:t>	return 0;</a:t>
            </a:r>
          </a:p>
          <a:p>
            <a:pPr algn="just" eaLnBrk="1" hangingPunct="1">
              <a:lnSpc>
                <a:spcPct val="80000"/>
              </a:lnSpc>
            </a:pPr>
            <a:r>
              <a:rPr lang="en-US" altLang="en-US" sz="2000">
                <a:latin typeface="Times New Roman" panose="02020603050405020304" pitchFamily="18"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3A6E761-40F2-13D1-3A4F-6CDB5955ACF3}"/>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Virtual base classes</a:t>
            </a:r>
          </a:p>
        </p:txBody>
      </p:sp>
      <p:sp>
        <p:nvSpPr>
          <p:cNvPr id="4099" name="Rectangle 4">
            <a:extLst>
              <a:ext uri="{FF2B5EF4-FFF2-40B4-BE49-F238E27FC236}">
                <a16:creationId xmlns:a16="http://schemas.microsoft.com/office/drawing/2014/main" id="{50B59133-78BA-A82B-15AF-AD5BDA144756}"/>
              </a:ext>
            </a:extLst>
          </p:cNvPr>
          <p:cNvSpPr>
            <a:spLocks noChangeArrowheads="1"/>
          </p:cNvSpPr>
          <p:nvPr/>
        </p:nvSpPr>
        <p:spPr bwMode="auto">
          <a:xfrm>
            <a:off x="3200400" y="914400"/>
            <a:ext cx="2438400" cy="4572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Grand parent</a:t>
            </a:r>
          </a:p>
        </p:txBody>
      </p:sp>
      <p:sp>
        <p:nvSpPr>
          <p:cNvPr id="4100" name="Rectangle 5">
            <a:extLst>
              <a:ext uri="{FF2B5EF4-FFF2-40B4-BE49-F238E27FC236}">
                <a16:creationId xmlns:a16="http://schemas.microsoft.com/office/drawing/2014/main" id="{0300D4A9-B091-59F3-4652-00B1D17341AA}"/>
              </a:ext>
            </a:extLst>
          </p:cNvPr>
          <p:cNvSpPr>
            <a:spLocks noChangeArrowheads="1"/>
          </p:cNvSpPr>
          <p:nvPr/>
        </p:nvSpPr>
        <p:spPr bwMode="auto">
          <a:xfrm>
            <a:off x="990600" y="2590800"/>
            <a:ext cx="2438400" cy="4572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Parent 1</a:t>
            </a:r>
          </a:p>
        </p:txBody>
      </p:sp>
      <p:sp>
        <p:nvSpPr>
          <p:cNvPr id="4101" name="Rectangle 6">
            <a:extLst>
              <a:ext uri="{FF2B5EF4-FFF2-40B4-BE49-F238E27FC236}">
                <a16:creationId xmlns:a16="http://schemas.microsoft.com/office/drawing/2014/main" id="{CEF25014-BB2C-6C58-738C-19FD4C75691C}"/>
              </a:ext>
            </a:extLst>
          </p:cNvPr>
          <p:cNvSpPr>
            <a:spLocks noChangeArrowheads="1"/>
          </p:cNvSpPr>
          <p:nvPr/>
        </p:nvSpPr>
        <p:spPr bwMode="auto">
          <a:xfrm>
            <a:off x="5410200" y="2590800"/>
            <a:ext cx="2438400" cy="4572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Parent 2</a:t>
            </a:r>
          </a:p>
        </p:txBody>
      </p:sp>
      <p:sp>
        <p:nvSpPr>
          <p:cNvPr id="4102" name="Rectangle 7">
            <a:extLst>
              <a:ext uri="{FF2B5EF4-FFF2-40B4-BE49-F238E27FC236}">
                <a16:creationId xmlns:a16="http://schemas.microsoft.com/office/drawing/2014/main" id="{739D25B4-A852-29BE-06EA-83EE081484BA}"/>
              </a:ext>
            </a:extLst>
          </p:cNvPr>
          <p:cNvSpPr>
            <a:spLocks noChangeArrowheads="1"/>
          </p:cNvSpPr>
          <p:nvPr/>
        </p:nvSpPr>
        <p:spPr bwMode="auto">
          <a:xfrm>
            <a:off x="3352800" y="4343400"/>
            <a:ext cx="2438400" cy="4572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Child</a:t>
            </a:r>
          </a:p>
        </p:txBody>
      </p:sp>
      <p:sp>
        <p:nvSpPr>
          <p:cNvPr id="4103" name="Line 8">
            <a:extLst>
              <a:ext uri="{FF2B5EF4-FFF2-40B4-BE49-F238E27FC236}">
                <a16:creationId xmlns:a16="http://schemas.microsoft.com/office/drawing/2014/main" id="{A789E79F-E4DF-B432-69E3-A597E9375B4E}"/>
              </a:ext>
            </a:extLst>
          </p:cNvPr>
          <p:cNvSpPr>
            <a:spLocks noChangeShapeType="1"/>
          </p:cNvSpPr>
          <p:nvPr/>
        </p:nvSpPr>
        <p:spPr bwMode="auto">
          <a:xfrm>
            <a:off x="5638800" y="11430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4" name="Line 9">
            <a:extLst>
              <a:ext uri="{FF2B5EF4-FFF2-40B4-BE49-F238E27FC236}">
                <a16:creationId xmlns:a16="http://schemas.microsoft.com/office/drawing/2014/main" id="{5949E00C-016D-441E-83DA-0F92518B916E}"/>
              </a:ext>
            </a:extLst>
          </p:cNvPr>
          <p:cNvSpPr>
            <a:spLocks noChangeShapeType="1"/>
          </p:cNvSpPr>
          <p:nvPr/>
        </p:nvSpPr>
        <p:spPr bwMode="auto">
          <a:xfrm>
            <a:off x="6629400" y="1143000"/>
            <a:ext cx="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05" name="Line 10">
            <a:extLst>
              <a:ext uri="{FF2B5EF4-FFF2-40B4-BE49-F238E27FC236}">
                <a16:creationId xmlns:a16="http://schemas.microsoft.com/office/drawing/2014/main" id="{6D5EB7BC-57A1-E9C8-9BC6-46E53586B715}"/>
              </a:ext>
            </a:extLst>
          </p:cNvPr>
          <p:cNvSpPr>
            <a:spLocks noChangeShapeType="1"/>
          </p:cNvSpPr>
          <p:nvPr/>
        </p:nvSpPr>
        <p:spPr bwMode="auto">
          <a:xfrm flipH="1">
            <a:off x="2133600" y="1143000"/>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6" name="Line 11">
            <a:extLst>
              <a:ext uri="{FF2B5EF4-FFF2-40B4-BE49-F238E27FC236}">
                <a16:creationId xmlns:a16="http://schemas.microsoft.com/office/drawing/2014/main" id="{A10BF4A4-4D84-D633-DCA8-B0AFC4C476CB}"/>
              </a:ext>
            </a:extLst>
          </p:cNvPr>
          <p:cNvSpPr>
            <a:spLocks noChangeShapeType="1"/>
          </p:cNvSpPr>
          <p:nvPr/>
        </p:nvSpPr>
        <p:spPr bwMode="auto">
          <a:xfrm>
            <a:off x="2133600" y="1143000"/>
            <a:ext cx="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07" name="Line 12">
            <a:extLst>
              <a:ext uri="{FF2B5EF4-FFF2-40B4-BE49-F238E27FC236}">
                <a16:creationId xmlns:a16="http://schemas.microsoft.com/office/drawing/2014/main" id="{88AF58AF-EEAE-0C2B-CACE-F68E57EB895E}"/>
              </a:ext>
            </a:extLst>
          </p:cNvPr>
          <p:cNvSpPr>
            <a:spLocks noChangeShapeType="1"/>
          </p:cNvSpPr>
          <p:nvPr/>
        </p:nvSpPr>
        <p:spPr bwMode="auto">
          <a:xfrm>
            <a:off x="2209800" y="30480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8" name="Line 13">
            <a:extLst>
              <a:ext uri="{FF2B5EF4-FFF2-40B4-BE49-F238E27FC236}">
                <a16:creationId xmlns:a16="http://schemas.microsoft.com/office/drawing/2014/main" id="{5D8A0A42-56A1-5379-5D2A-3106B1265CCF}"/>
              </a:ext>
            </a:extLst>
          </p:cNvPr>
          <p:cNvSpPr>
            <a:spLocks noChangeShapeType="1"/>
          </p:cNvSpPr>
          <p:nvPr/>
        </p:nvSpPr>
        <p:spPr bwMode="auto">
          <a:xfrm>
            <a:off x="2209800" y="4572000"/>
            <a:ext cx="1143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09" name="Line 14">
            <a:extLst>
              <a:ext uri="{FF2B5EF4-FFF2-40B4-BE49-F238E27FC236}">
                <a16:creationId xmlns:a16="http://schemas.microsoft.com/office/drawing/2014/main" id="{06EE90F2-0954-9D4D-F8A7-0EDF1339F312}"/>
              </a:ext>
            </a:extLst>
          </p:cNvPr>
          <p:cNvSpPr>
            <a:spLocks noChangeShapeType="1"/>
          </p:cNvSpPr>
          <p:nvPr/>
        </p:nvSpPr>
        <p:spPr bwMode="auto">
          <a:xfrm>
            <a:off x="6629400" y="30480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10" name="Line 15">
            <a:extLst>
              <a:ext uri="{FF2B5EF4-FFF2-40B4-BE49-F238E27FC236}">
                <a16:creationId xmlns:a16="http://schemas.microsoft.com/office/drawing/2014/main" id="{E447F716-D40E-0057-2447-CE9801C03620}"/>
              </a:ext>
            </a:extLst>
          </p:cNvPr>
          <p:cNvSpPr>
            <a:spLocks noChangeShapeType="1"/>
          </p:cNvSpPr>
          <p:nvPr/>
        </p:nvSpPr>
        <p:spPr bwMode="auto">
          <a:xfrm flipH="1">
            <a:off x="5791200" y="45720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11" name="Line 16">
            <a:extLst>
              <a:ext uri="{FF2B5EF4-FFF2-40B4-BE49-F238E27FC236}">
                <a16:creationId xmlns:a16="http://schemas.microsoft.com/office/drawing/2014/main" id="{61261A6F-F090-578C-40D6-6C6BDAF03C29}"/>
              </a:ext>
            </a:extLst>
          </p:cNvPr>
          <p:cNvSpPr>
            <a:spLocks noChangeShapeType="1"/>
          </p:cNvSpPr>
          <p:nvPr/>
        </p:nvSpPr>
        <p:spPr bwMode="auto">
          <a:xfrm>
            <a:off x="4419600" y="1371600"/>
            <a:ext cx="0" cy="2971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12" name="Rectangle 17">
            <a:extLst>
              <a:ext uri="{FF2B5EF4-FFF2-40B4-BE49-F238E27FC236}">
                <a16:creationId xmlns:a16="http://schemas.microsoft.com/office/drawing/2014/main" id="{A059AE15-10F1-56D5-7DEF-603CA43FA22A}"/>
              </a:ext>
            </a:extLst>
          </p:cNvPr>
          <p:cNvSpPr>
            <a:spLocks noChangeArrowheads="1"/>
          </p:cNvSpPr>
          <p:nvPr/>
        </p:nvSpPr>
        <p:spPr bwMode="auto">
          <a:xfrm>
            <a:off x="2362200" y="5486400"/>
            <a:ext cx="4800600" cy="4572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Multi path inheritance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474C5C5F-4374-B627-1557-4598ABC27B77}"/>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sz="2800">
                <a:latin typeface="Times New Roman" panose="02020603050405020304" pitchFamily="18" charset="0"/>
              </a:rPr>
              <a:t>The child has two direct base classes parent1 and parent2, which themselves have common base class grand parent</a:t>
            </a:r>
          </a:p>
          <a:p>
            <a:pPr algn="just" eaLnBrk="1" hangingPunct="1">
              <a:buFontTx/>
              <a:buChar char="•"/>
            </a:pPr>
            <a:r>
              <a:rPr lang="en-US" altLang="en-US" sz="2800">
                <a:latin typeface="Times New Roman" panose="02020603050405020304" pitchFamily="18" charset="0"/>
              </a:rPr>
              <a:t>The child inherits the traits of grandparent via two separate paths </a:t>
            </a:r>
          </a:p>
          <a:p>
            <a:pPr algn="just" eaLnBrk="1" hangingPunct="1">
              <a:buFontTx/>
              <a:buChar char="•"/>
            </a:pPr>
            <a:r>
              <a:rPr lang="en-US" altLang="en-US" sz="2800">
                <a:latin typeface="Times New Roman" panose="02020603050405020304" pitchFamily="18" charset="0"/>
              </a:rPr>
              <a:t>The grand parent sometimes referred to as indirect base class</a:t>
            </a:r>
          </a:p>
          <a:p>
            <a:pPr algn="just" eaLnBrk="1" hangingPunct="1">
              <a:buFontTx/>
              <a:buChar char="•"/>
            </a:pPr>
            <a:r>
              <a:rPr lang="en-US" altLang="en-US" sz="2800">
                <a:latin typeface="Times New Roman" panose="02020603050405020304" pitchFamily="18" charset="0"/>
              </a:rPr>
              <a:t>Problem: all the public and protected members of grandparent are inherited into child twice</a:t>
            </a:r>
          </a:p>
          <a:p>
            <a:pPr algn="just" eaLnBrk="1" hangingPunct="1">
              <a:buFontTx/>
              <a:buChar char="•"/>
            </a:pPr>
            <a:r>
              <a:rPr lang="en-US" altLang="en-US" sz="2800">
                <a:latin typeface="Times New Roman" panose="02020603050405020304" pitchFamily="18" charset="0"/>
              </a:rPr>
              <a:t>Child will have duplicate sets of members. This introduces ambiguity and should be avoided</a:t>
            </a:r>
          </a:p>
          <a:p>
            <a:pPr algn="just" eaLnBrk="1" hangingPunct="1">
              <a:buFontTx/>
              <a:buChar char="•"/>
            </a:pPr>
            <a:r>
              <a:rPr lang="en-US" altLang="en-US" sz="2800">
                <a:latin typeface="Times New Roman" panose="02020603050405020304" pitchFamily="18" charset="0"/>
              </a:rPr>
              <a:t>This problem can be avoided by base class as virtual base class while declaration</a:t>
            </a:r>
            <a:endParaRPr lang="en-US" altLang="en-US" sz="2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1C1672B-25E2-3988-C0AC-BEA2587B3326}"/>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pPr>
            <a:r>
              <a:rPr lang="en-US" altLang="en-US" sz="2400">
                <a:latin typeface="Times New Roman" panose="02020603050405020304" pitchFamily="18" charset="0"/>
              </a:rPr>
              <a:t>class A	//grand parent</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class B1 : virtual public A	//parent 1</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class B2 : public virtual A	//parent 2</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class C : public B1, public B2		//child</a:t>
            </a:r>
          </a:p>
          <a:p>
            <a:pPr algn="just" eaLnBrk="1" hangingPunct="1">
              <a:lnSpc>
                <a:spcPct val="80000"/>
              </a:lnSpc>
            </a:pPr>
            <a:r>
              <a:rPr lang="en-US" altLang="en-US" sz="2400">
                <a:latin typeface="Times New Roman" panose="02020603050405020304" pitchFamily="18" charset="0"/>
              </a:rPr>
              <a:t>{</a:t>
            </a:r>
          </a:p>
          <a:p>
            <a:pPr algn="just" eaLnBrk="1" hangingPunct="1">
              <a:lnSpc>
                <a:spcPct val="80000"/>
              </a:lnSpc>
            </a:pPr>
            <a:r>
              <a:rPr lang="en-US" altLang="en-US" sz="2400">
                <a:latin typeface="Times New Roman" panose="02020603050405020304" pitchFamily="18" charset="0"/>
              </a:rPr>
              <a:t>	……..		//only one copy of A will be inherited</a:t>
            </a:r>
          </a:p>
          <a:p>
            <a:pPr algn="just" eaLnBrk="1" hangingPunct="1">
              <a:lnSpc>
                <a:spcPct val="80000"/>
              </a:lnSpc>
            </a:pPr>
            <a:r>
              <a:rPr lang="en-US" altLang="en-US" sz="2400">
                <a:latin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7A4FB8C-91F0-0C30-E603-0C1BE6065D26}"/>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Constructors in derived classes</a:t>
            </a:r>
          </a:p>
        </p:txBody>
      </p:sp>
      <p:sp>
        <p:nvSpPr>
          <p:cNvPr id="7171" name="Rectangle 3">
            <a:extLst>
              <a:ext uri="{FF2B5EF4-FFF2-40B4-BE49-F238E27FC236}">
                <a16:creationId xmlns:a16="http://schemas.microsoft.com/office/drawing/2014/main" id="{FA03A852-476D-4315-BCD8-76CD955E75A8}"/>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sz="2800">
                <a:latin typeface="Times New Roman" panose="02020603050405020304" pitchFamily="18" charset="0"/>
              </a:rPr>
              <a:t>As long as no base class constructor takes any arguments, the derived class need not have a constructor function</a:t>
            </a:r>
          </a:p>
          <a:p>
            <a:pPr algn="just" eaLnBrk="1" hangingPunct="1">
              <a:lnSpc>
                <a:spcPct val="90000"/>
              </a:lnSpc>
              <a:buFontTx/>
              <a:buChar char="•"/>
            </a:pPr>
            <a:r>
              <a:rPr lang="en-US" altLang="en-US" sz="2800">
                <a:latin typeface="Times New Roman" panose="02020603050405020304" pitchFamily="18" charset="0"/>
              </a:rPr>
              <a:t>If any </a:t>
            </a:r>
            <a:r>
              <a:rPr lang="en-US" altLang="en-US" sz="2800">
                <a:solidFill>
                  <a:schemeClr val="accent2"/>
                </a:solidFill>
                <a:latin typeface="Times New Roman" panose="02020603050405020304" pitchFamily="18" charset="0"/>
              </a:rPr>
              <a:t>base class contains a constructor with one or more arguments, then it is mandatory for the derived class to have a constructor</a:t>
            </a:r>
            <a:r>
              <a:rPr lang="en-US" altLang="en-US" sz="2800">
                <a:latin typeface="Times New Roman" panose="02020603050405020304" pitchFamily="18" charset="0"/>
              </a:rPr>
              <a:t> and pass the arguments to the base class constructors</a:t>
            </a:r>
          </a:p>
          <a:p>
            <a:pPr algn="just" eaLnBrk="1" hangingPunct="1">
              <a:lnSpc>
                <a:spcPct val="90000"/>
              </a:lnSpc>
              <a:buFontTx/>
              <a:buChar char="•"/>
            </a:pPr>
            <a:r>
              <a:rPr lang="en-US" altLang="en-US" sz="2800">
                <a:latin typeface="Times New Roman" panose="02020603050405020304" pitchFamily="18" charset="0"/>
              </a:rPr>
              <a:t>When both the derived and base classes contain constructors, the </a:t>
            </a:r>
            <a:r>
              <a:rPr lang="en-US" altLang="en-US" sz="2800">
                <a:solidFill>
                  <a:schemeClr val="accent2"/>
                </a:solidFill>
                <a:latin typeface="Times New Roman" panose="02020603050405020304" pitchFamily="18" charset="0"/>
              </a:rPr>
              <a:t>base constructor is executed first</a:t>
            </a:r>
            <a:r>
              <a:rPr lang="en-US" altLang="en-US" sz="2800">
                <a:latin typeface="Times New Roman" panose="02020603050405020304" pitchFamily="18" charset="0"/>
              </a:rPr>
              <a:t> and then the constructor in derived class is executed</a:t>
            </a:r>
          </a:p>
          <a:p>
            <a:pPr algn="just" eaLnBrk="1" hangingPunct="1">
              <a:lnSpc>
                <a:spcPct val="90000"/>
              </a:lnSpc>
              <a:buFontTx/>
              <a:buChar char="•"/>
            </a:pPr>
            <a:r>
              <a:rPr lang="en-US" altLang="en-US" sz="2800">
                <a:latin typeface="Times New Roman" panose="02020603050405020304" pitchFamily="18" charset="0"/>
              </a:rPr>
              <a:t>In case of </a:t>
            </a:r>
            <a:r>
              <a:rPr lang="en-US" altLang="en-US" sz="2800">
                <a:solidFill>
                  <a:schemeClr val="accent2"/>
                </a:solidFill>
                <a:latin typeface="Times New Roman" panose="02020603050405020304" pitchFamily="18" charset="0"/>
              </a:rPr>
              <a:t>multiple inheritance</a:t>
            </a:r>
            <a:r>
              <a:rPr lang="en-US" altLang="en-US" sz="2800">
                <a:latin typeface="Times New Roman" panose="02020603050405020304" pitchFamily="18" charset="0"/>
              </a:rPr>
              <a:t>, the base classes are constructed </a:t>
            </a:r>
            <a:r>
              <a:rPr lang="en-US" altLang="en-US" sz="2800">
                <a:solidFill>
                  <a:schemeClr val="accent2"/>
                </a:solidFill>
                <a:latin typeface="Times New Roman" panose="02020603050405020304" pitchFamily="18" charset="0"/>
              </a:rPr>
              <a:t>in the order in which they appear in the declaration of the derived class</a:t>
            </a:r>
          </a:p>
          <a:p>
            <a:pPr algn="just" eaLnBrk="1" hangingPunct="1">
              <a:lnSpc>
                <a:spcPct val="90000"/>
              </a:lnSpc>
              <a:buFontTx/>
              <a:buChar char="•"/>
            </a:pPr>
            <a:r>
              <a:rPr lang="en-US" altLang="en-US" sz="2800">
                <a:latin typeface="Times New Roman" panose="02020603050405020304" pitchFamily="18" charset="0"/>
              </a:rPr>
              <a:t>In case of </a:t>
            </a:r>
            <a:r>
              <a:rPr lang="en-US" altLang="en-US" sz="2800">
                <a:solidFill>
                  <a:schemeClr val="accent2"/>
                </a:solidFill>
                <a:latin typeface="Times New Roman" panose="02020603050405020304" pitchFamily="18" charset="0"/>
              </a:rPr>
              <a:t>multi level</a:t>
            </a:r>
            <a:r>
              <a:rPr lang="en-US" altLang="en-US" sz="2800">
                <a:latin typeface="Times New Roman" panose="02020603050405020304" pitchFamily="18" charset="0"/>
              </a:rPr>
              <a:t> – the constructors will be executed </a:t>
            </a:r>
            <a:r>
              <a:rPr lang="en-US" altLang="en-US" sz="2800">
                <a:solidFill>
                  <a:schemeClr val="accent2"/>
                </a:solidFill>
                <a:latin typeface="Times New Roman" panose="02020603050405020304" pitchFamily="18" charset="0"/>
              </a:rPr>
              <a:t>in the order of inheritance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871D35C-11A7-95A4-E2D4-7D10F9B0FBE2}"/>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Constructors in derived classes</a:t>
            </a:r>
          </a:p>
        </p:txBody>
      </p:sp>
      <p:sp>
        <p:nvSpPr>
          <p:cNvPr id="8195" name="Rectangle 3">
            <a:extLst>
              <a:ext uri="{FF2B5EF4-FFF2-40B4-BE49-F238E27FC236}">
                <a16:creationId xmlns:a16="http://schemas.microsoft.com/office/drawing/2014/main" id="{5AD8AFA3-4236-F422-1B22-4CD41E590A83}"/>
              </a:ext>
            </a:extLst>
          </p:cNvPr>
          <p:cNvSpPr>
            <a:spLocks noGrp="1" noChangeArrowheads="1"/>
          </p:cNvSpPr>
          <p:nvPr>
            <p:ph type="subTitle" idx="1"/>
          </p:nvPr>
        </p:nvSpPr>
        <p:spPr>
          <a:xfrm>
            <a:off x="228600" y="609600"/>
            <a:ext cx="8686800" cy="6019800"/>
          </a:xfrm>
        </p:spPr>
        <p:txBody>
          <a:bodyPr/>
          <a:lstStyle/>
          <a:p>
            <a:pPr algn="just" eaLnBrk="1" hangingPunct="1">
              <a:lnSpc>
                <a:spcPct val="80000"/>
              </a:lnSpc>
              <a:buFontTx/>
              <a:buChar char="•"/>
            </a:pPr>
            <a:r>
              <a:rPr lang="en-US" altLang="en-US" sz="2400">
                <a:latin typeface="Times New Roman" panose="02020603050405020304" pitchFamily="18" charset="0"/>
              </a:rPr>
              <a:t>Derived class has the responsibility of supplying initial values to the base classes, when derived class object is created, all the values should be supplied</a:t>
            </a:r>
          </a:p>
          <a:p>
            <a:pPr algn="just" eaLnBrk="1" hangingPunct="1">
              <a:lnSpc>
                <a:spcPct val="80000"/>
              </a:lnSpc>
              <a:buFontTx/>
              <a:buChar char="•"/>
            </a:pPr>
            <a:r>
              <a:rPr lang="en-US" altLang="en-US" sz="2400">
                <a:latin typeface="Times New Roman" panose="02020603050405020304" pitchFamily="18" charset="0"/>
              </a:rPr>
              <a:t>C++ supports a special argument passing mechanism for such situations</a:t>
            </a:r>
          </a:p>
          <a:p>
            <a:pPr algn="just" eaLnBrk="1" hangingPunct="1">
              <a:lnSpc>
                <a:spcPct val="80000"/>
              </a:lnSpc>
              <a:buFontTx/>
              <a:buChar char="•"/>
            </a:pPr>
            <a:r>
              <a:rPr lang="en-US" altLang="en-US" sz="2400">
                <a:latin typeface="Times New Roman" panose="02020603050405020304" pitchFamily="18" charset="0"/>
              </a:rPr>
              <a:t>General form:</a:t>
            </a:r>
          </a:p>
          <a:p>
            <a:pPr algn="just" eaLnBrk="1" hangingPunct="1">
              <a:lnSpc>
                <a:spcPct val="80000"/>
              </a:lnSpc>
            </a:pPr>
            <a:r>
              <a:rPr lang="en-US" altLang="en-US" sz="2400">
                <a:solidFill>
                  <a:schemeClr val="accent2"/>
                </a:solidFill>
                <a:latin typeface="Times New Roman" panose="02020603050405020304" pitchFamily="18" charset="0"/>
              </a:rPr>
              <a:t>Derived_constructor (arglist1, arglist2, …arglistN, arglistD) </a:t>
            </a:r>
            <a:r>
              <a:rPr lang="en-US" altLang="en-US" sz="4000" b="1">
                <a:solidFill>
                  <a:schemeClr val="accent2"/>
                </a:solidFill>
                <a:latin typeface="Times New Roman" panose="02020603050405020304" pitchFamily="18" charset="0"/>
              </a:rPr>
              <a:t>:</a:t>
            </a:r>
            <a:endParaRPr lang="en-US" altLang="en-US" sz="2400" b="1">
              <a:solidFill>
                <a:schemeClr val="accent2"/>
              </a:solidFill>
              <a:latin typeface="Times New Roman" panose="02020603050405020304" pitchFamily="18" charset="0"/>
            </a:endParaRPr>
          </a:p>
          <a:p>
            <a:pPr algn="just" eaLnBrk="1" hangingPunct="1">
              <a:lnSpc>
                <a:spcPct val="80000"/>
              </a:lnSpc>
            </a:pPr>
            <a:r>
              <a:rPr lang="en-US" altLang="en-US" sz="2400">
                <a:solidFill>
                  <a:schemeClr val="accent2"/>
                </a:solidFill>
                <a:latin typeface="Times New Roman" panose="02020603050405020304" pitchFamily="18" charset="0"/>
              </a:rPr>
              <a:t>	base1(arglist1),</a:t>
            </a:r>
          </a:p>
          <a:p>
            <a:pPr algn="just" eaLnBrk="1" hangingPunct="1">
              <a:lnSpc>
                <a:spcPct val="80000"/>
              </a:lnSpc>
            </a:pPr>
            <a:r>
              <a:rPr lang="en-US" altLang="en-US" sz="2400">
                <a:solidFill>
                  <a:schemeClr val="accent2"/>
                </a:solidFill>
                <a:latin typeface="Times New Roman" panose="02020603050405020304" pitchFamily="18" charset="0"/>
              </a:rPr>
              <a:t>	base2(arglist2),</a:t>
            </a:r>
          </a:p>
          <a:p>
            <a:pPr algn="just" eaLnBrk="1" hangingPunct="1">
              <a:lnSpc>
                <a:spcPct val="80000"/>
              </a:lnSpc>
            </a:pPr>
            <a:r>
              <a:rPr lang="en-US" altLang="en-US" sz="2400">
                <a:solidFill>
                  <a:schemeClr val="accent2"/>
                </a:solidFill>
                <a:latin typeface="Times New Roman" panose="02020603050405020304" pitchFamily="18" charset="0"/>
              </a:rPr>
              <a:t>	……</a:t>
            </a:r>
          </a:p>
          <a:p>
            <a:pPr algn="just" eaLnBrk="1" hangingPunct="1">
              <a:lnSpc>
                <a:spcPct val="80000"/>
              </a:lnSpc>
            </a:pPr>
            <a:r>
              <a:rPr lang="en-US" altLang="en-US" sz="2400">
                <a:solidFill>
                  <a:schemeClr val="accent2"/>
                </a:solidFill>
                <a:latin typeface="Times New Roman" panose="02020603050405020304" pitchFamily="18" charset="0"/>
              </a:rPr>
              <a:t>	baseN(arglistN)</a:t>
            </a:r>
          </a:p>
          <a:p>
            <a:pPr algn="just" eaLnBrk="1" hangingPunct="1">
              <a:lnSpc>
                <a:spcPct val="80000"/>
              </a:lnSpc>
            </a:pPr>
            <a:r>
              <a:rPr lang="en-US" altLang="en-US" sz="2400">
                <a:solidFill>
                  <a:schemeClr val="accent2"/>
                </a:solidFill>
                <a:latin typeface="Times New Roman" panose="02020603050405020304" pitchFamily="18" charset="0"/>
              </a:rPr>
              <a:t>	{</a:t>
            </a:r>
          </a:p>
          <a:p>
            <a:pPr algn="just" eaLnBrk="1" hangingPunct="1">
              <a:lnSpc>
                <a:spcPct val="80000"/>
              </a:lnSpc>
            </a:pPr>
            <a:r>
              <a:rPr lang="en-US" altLang="en-US" sz="2400">
                <a:solidFill>
                  <a:schemeClr val="accent2"/>
                </a:solidFill>
                <a:latin typeface="Times New Roman" panose="02020603050405020304" pitchFamily="18" charset="0"/>
              </a:rPr>
              <a:t>		//body of the derived constructor	</a:t>
            </a:r>
          </a:p>
          <a:p>
            <a:pPr algn="just" eaLnBrk="1" hangingPunct="1">
              <a:lnSpc>
                <a:spcPct val="80000"/>
              </a:lnSpc>
            </a:pPr>
            <a:r>
              <a:rPr lang="en-US" altLang="en-US" sz="2400">
                <a:solidFill>
                  <a:schemeClr val="accent2"/>
                </a:solidFill>
                <a:latin typeface="Times New Roman" panose="02020603050405020304" pitchFamily="18" charset="0"/>
              </a:rPr>
              <a:t>	}</a:t>
            </a:r>
          </a:p>
          <a:p>
            <a:pPr algn="just" eaLnBrk="1" hangingPunct="1">
              <a:lnSpc>
                <a:spcPct val="80000"/>
              </a:lnSpc>
              <a:buFontTx/>
              <a:buChar char="•"/>
            </a:pPr>
            <a:r>
              <a:rPr lang="en-US" altLang="en-US" sz="2400">
                <a:latin typeface="Times New Roman" panose="02020603050405020304" pitchFamily="18" charset="0"/>
              </a:rPr>
              <a:t>Two parts separated by :</a:t>
            </a:r>
          </a:p>
          <a:p>
            <a:pPr lvl="1" algn="just" eaLnBrk="1" hangingPunct="1">
              <a:lnSpc>
                <a:spcPct val="80000"/>
              </a:lnSpc>
              <a:buFontTx/>
              <a:buAutoNum type="arabicPeriod"/>
            </a:pPr>
            <a:r>
              <a:rPr lang="en-US" altLang="en-US" sz="2000">
                <a:latin typeface="Times New Roman" panose="02020603050405020304" pitchFamily="18" charset="0"/>
              </a:rPr>
              <a:t>Declaration of arguments that are passed to the derived constructor</a:t>
            </a:r>
          </a:p>
          <a:p>
            <a:pPr lvl="1" algn="just" eaLnBrk="1" hangingPunct="1">
              <a:lnSpc>
                <a:spcPct val="80000"/>
              </a:lnSpc>
              <a:buFontTx/>
              <a:buAutoNum type="arabicPeriod"/>
            </a:pPr>
            <a:r>
              <a:rPr lang="en-US" altLang="en-US" sz="2000">
                <a:latin typeface="Times New Roman" panose="02020603050405020304" pitchFamily="18" charset="0"/>
              </a:rPr>
              <a:t>Function calls to the base constructors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D9DB516-964C-AE29-1909-438EC0602A28}"/>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Constructors in derived classes</a:t>
            </a:r>
          </a:p>
        </p:txBody>
      </p:sp>
      <p:sp>
        <p:nvSpPr>
          <p:cNvPr id="9219" name="Rectangle 3">
            <a:extLst>
              <a:ext uri="{FF2B5EF4-FFF2-40B4-BE49-F238E27FC236}">
                <a16:creationId xmlns:a16="http://schemas.microsoft.com/office/drawing/2014/main" id="{4A7C85FC-37ED-2130-AD2B-9C5F8E30DE0B}"/>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90000"/>
              </a:lnSpc>
              <a:buFontTx/>
              <a:buChar char="•"/>
            </a:pPr>
            <a:r>
              <a:rPr lang="en-US" altLang="en-US" sz="2800">
                <a:latin typeface="Times New Roman" panose="02020603050405020304" pitchFamily="18" charset="0"/>
              </a:rPr>
              <a:t>Eg:</a:t>
            </a:r>
          </a:p>
          <a:p>
            <a:pPr marL="533400" indent="-533400" algn="just" eaLnBrk="1" hangingPunct="1">
              <a:lnSpc>
                <a:spcPct val="90000"/>
              </a:lnSpc>
            </a:pPr>
            <a:r>
              <a:rPr lang="en-US" altLang="en-US" sz="2800">
                <a:latin typeface="Times New Roman" panose="02020603050405020304" pitchFamily="18" charset="0"/>
              </a:rPr>
              <a:t>	A, B are base classes for D</a:t>
            </a:r>
          </a:p>
          <a:p>
            <a:pPr marL="533400" indent="-533400" algn="just" eaLnBrk="1" hangingPunct="1">
              <a:lnSpc>
                <a:spcPct val="90000"/>
              </a:lnSpc>
            </a:pPr>
            <a:r>
              <a:rPr lang="en-US" altLang="en-US" sz="2800">
                <a:latin typeface="Times New Roman" panose="02020603050405020304" pitchFamily="18" charset="0"/>
              </a:rPr>
              <a:t>	D’s constructor may look like this</a:t>
            </a:r>
          </a:p>
          <a:p>
            <a:pPr marL="533400" indent="-533400" algn="just" eaLnBrk="1" hangingPunct="1">
              <a:lnSpc>
                <a:spcPct val="90000"/>
              </a:lnSpc>
            </a:pPr>
            <a:r>
              <a:rPr lang="en-US" altLang="en-US" sz="2800">
                <a:latin typeface="Times New Roman" panose="02020603050405020304" pitchFamily="18" charset="0"/>
              </a:rPr>
              <a:t>D(int a1, int b1, int b2, float d1, int d2) :</a:t>
            </a:r>
          </a:p>
          <a:p>
            <a:pPr marL="533400" indent="-533400" algn="just" eaLnBrk="1" hangingPunct="1">
              <a:lnSpc>
                <a:spcPct val="90000"/>
              </a:lnSpc>
            </a:pPr>
            <a:r>
              <a:rPr lang="en-US" altLang="en-US" sz="2800">
                <a:latin typeface="Times New Roman" panose="02020603050405020304" pitchFamily="18" charset="0"/>
              </a:rPr>
              <a:t>A(a1),	//call to constructor A</a:t>
            </a:r>
          </a:p>
          <a:p>
            <a:pPr marL="533400" indent="-533400" algn="just" eaLnBrk="1" hangingPunct="1">
              <a:lnSpc>
                <a:spcPct val="90000"/>
              </a:lnSpc>
            </a:pPr>
            <a:r>
              <a:rPr lang="en-US" altLang="en-US" sz="2800">
                <a:latin typeface="Times New Roman" panose="02020603050405020304" pitchFamily="18" charset="0"/>
              </a:rPr>
              <a:t>B(b1,b2)	// call to constructor B</a:t>
            </a:r>
          </a:p>
          <a:p>
            <a:pPr marL="533400" indent="-533400" algn="just" eaLnBrk="1" hangingPunct="1">
              <a:lnSpc>
                <a:spcPct val="90000"/>
              </a:lnSpc>
            </a:pPr>
            <a:r>
              <a:rPr lang="en-US" altLang="en-US" sz="2800">
                <a:latin typeface="Times New Roman" panose="02020603050405020304" pitchFamily="18" charset="0"/>
              </a:rPr>
              <a:t>{</a:t>
            </a:r>
          </a:p>
          <a:p>
            <a:pPr marL="533400" indent="-533400" algn="just" eaLnBrk="1" hangingPunct="1">
              <a:lnSpc>
                <a:spcPct val="90000"/>
              </a:lnSpc>
            </a:pPr>
            <a:r>
              <a:rPr lang="en-US" altLang="en-US" sz="2800">
                <a:latin typeface="Times New Roman" panose="02020603050405020304" pitchFamily="18" charset="0"/>
              </a:rPr>
              <a:t>	//own body</a:t>
            </a:r>
          </a:p>
          <a:p>
            <a:pPr marL="533400" indent="-533400" algn="just" eaLnBrk="1" hangingPunct="1">
              <a:lnSpc>
                <a:spcPct val="90000"/>
              </a:lnSpc>
            </a:pPr>
            <a:r>
              <a:rPr lang="en-US" altLang="en-US" sz="2800">
                <a:latin typeface="Times New Roman" panose="02020603050405020304" pitchFamily="18" charset="0"/>
              </a:rPr>
              <a:t>}</a:t>
            </a:r>
          </a:p>
          <a:p>
            <a:pPr marL="533400" indent="-533400" algn="just" eaLnBrk="1" hangingPunct="1">
              <a:lnSpc>
                <a:spcPct val="90000"/>
              </a:lnSpc>
            </a:pPr>
            <a:r>
              <a:rPr lang="en-US" altLang="en-US" sz="2800">
                <a:latin typeface="Times New Roman" panose="02020603050405020304" pitchFamily="18" charset="0"/>
              </a:rPr>
              <a:t>	//object creation</a:t>
            </a:r>
          </a:p>
          <a:p>
            <a:pPr marL="533400" indent="-533400" algn="just" eaLnBrk="1" hangingPunct="1">
              <a:lnSpc>
                <a:spcPct val="90000"/>
              </a:lnSpc>
            </a:pPr>
            <a:r>
              <a:rPr lang="en-US" altLang="en-US" sz="2800">
                <a:latin typeface="Times New Roman" panose="02020603050405020304" pitchFamily="18" charset="0"/>
              </a:rPr>
              <a:t>D objD(2,10,4,5.3,4);</a:t>
            </a:r>
          </a:p>
          <a:p>
            <a:pPr marL="533400" indent="-533400" algn="just" eaLnBrk="1" hangingPunct="1">
              <a:lnSpc>
                <a:spcPct val="90000"/>
              </a:lnSpc>
            </a:pPr>
            <a:r>
              <a:rPr lang="en-US" altLang="en-US" sz="2800">
                <a:latin typeface="Times New Roman" panose="02020603050405020304" pitchFamily="18" charset="0"/>
              </a:rPr>
              <a:t>//a1=2		b1=10		b2=4	d1=5.3	d2=4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7090E5-6550-6C8C-BBDF-0A106113309C}"/>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Constructors in derived classes</a:t>
            </a:r>
          </a:p>
        </p:txBody>
      </p:sp>
      <p:sp>
        <p:nvSpPr>
          <p:cNvPr id="10243" name="Rectangle 3">
            <a:extLst>
              <a:ext uri="{FF2B5EF4-FFF2-40B4-BE49-F238E27FC236}">
                <a16:creationId xmlns:a16="http://schemas.microsoft.com/office/drawing/2014/main" id="{3C074EED-C0ED-292B-C35C-9BC7B07708A4}"/>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sz="2800">
                <a:latin typeface="Times New Roman" panose="02020603050405020304" pitchFamily="18" charset="0"/>
              </a:rPr>
              <a:t>Constructors for virtual base classes are invoked before non-virtual base classes</a:t>
            </a:r>
          </a:p>
          <a:p>
            <a:pPr algn="just" eaLnBrk="1" hangingPunct="1"/>
            <a:endParaRPr lang="en-US" altLang="en-US" sz="2800">
              <a:latin typeface="Times New Roman" panose="02020603050405020304" pitchFamily="18" charset="0"/>
            </a:endParaRPr>
          </a:p>
        </p:txBody>
      </p:sp>
      <p:graphicFrame>
        <p:nvGraphicFramePr>
          <p:cNvPr id="60464" name="Group 48">
            <a:extLst>
              <a:ext uri="{FF2B5EF4-FFF2-40B4-BE49-F238E27FC236}">
                <a16:creationId xmlns:a16="http://schemas.microsoft.com/office/drawing/2014/main" id="{69788034-FCE3-C510-2721-6566907ABA70}"/>
              </a:ext>
            </a:extLst>
          </p:cNvPr>
          <p:cNvGraphicFramePr>
            <a:graphicFrameLocks noGrp="1"/>
          </p:cNvGraphicFramePr>
          <p:nvPr/>
        </p:nvGraphicFramePr>
        <p:xfrm>
          <a:off x="533400" y="2209800"/>
          <a:ext cx="8229600" cy="36957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779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CC3300"/>
                          </a:solidFill>
                          <a:effectLst/>
                          <a:latin typeface="Arial" charset="0"/>
                        </a:rPr>
                        <a:t>Method of inheritance</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rgbClr val="CC3300"/>
                          </a:solidFill>
                          <a:effectLst/>
                          <a:latin typeface="Arial" charset="0"/>
                        </a:rPr>
                        <a:t>Order of execution</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06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class B : public 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 };</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A() base class constructor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B() derived class constructor</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2785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class C : public A, B</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 };</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A() first base class constructor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B() second base class constructor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C() derived class constructor</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2785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class C : public B, virtual public 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 };</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A() virtual base class constructor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B() ordinary base class constructor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C() derived class constructor</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4283A5BF-5011-7492-0CE7-24455E2D281D}"/>
              </a:ext>
            </a:extLst>
          </p:cNvPr>
          <p:cNvSpPr>
            <a:spLocks noGrp="1" noChangeArrowheads="1"/>
          </p:cNvSpPr>
          <p:nvPr>
            <p:ph type="body" idx="1"/>
          </p:nvPr>
        </p:nvSpPr>
        <p:spPr>
          <a:xfrm>
            <a:off x="457200" y="228600"/>
            <a:ext cx="8229600" cy="6400800"/>
          </a:xfrm>
        </p:spPr>
        <p:txBody>
          <a:bodyPr/>
          <a:lstStyle/>
          <a:p>
            <a:pPr eaLnBrk="1" hangingPunct="1">
              <a:lnSpc>
                <a:spcPct val="90000"/>
              </a:lnSpc>
              <a:buFontTx/>
              <a:buNone/>
            </a:pPr>
            <a:r>
              <a:rPr lang="en-US" altLang="en-US" sz="2400"/>
              <a:t>#include &lt;iostream&gt;</a:t>
            </a:r>
          </a:p>
          <a:p>
            <a:pPr eaLnBrk="1" hangingPunct="1">
              <a:lnSpc>
                <a:spcPct val="90000"/>
              </a:lnSpc>
              <a:buFontTx/>
              <a:buNone/>
            </a:pPr>
            <a:r>
              <a:rPr lang="en-US" altLang="en-US" sz="2400"/>
              <a:t>using namespace std;</a:t>
            </a:r>
          </a:p>
          <a:p>
            <a:pPr eaLnBrk="1" hangingPunct="1">
              <a:lnSpc>
                <a:spcPct val="90000"/>
              </a:lnSpc>
              <a:buFontTx/>
              <a:buNone/>
            </a:pPr>
            <a:r>
              <a:rPr lang="en-US" altLang="en-US" sz="2400"/>
              <a:t>class A</a:t>
            </a:r>
          </a:p>
          <a:p>
            <a:pPr eaLnBrk="1" hangingPunct="1">
              <a:lnSpc>
                <a:spcPct val="90000"/>
              </a:lnSpc>
              <a:buFontTx/>
              <a:buNone/>
            </a:pPr>
            <a:r>
              <a:rPr lang="en-US" altLang="en-US" sz="2400"/>
              <a:t>{</a:t>
            </a:r>
          </a:p>
          <a:p>
            <a:pPr eaLnBrk="1" hangingPunct="1">
              <a:lnSpc>
                <a:spcPct val="90000"/>
              </a:lnSpc>
              <a:buFontTx/>
              <a:buNone/>
            </a:pPr>
            <a:r>
              <a:rPr lang="en-US" altLang="en-US" sz="2400"/>
              <a:t>	int a;</a:t>
            </a:r>
          </a:p>
          <a:p>
            <a:pPr eaLnBrk="1" hangingPunct="1">
              <a:lnSpc>
                <a:spcPct val="90000"/>
              </a:lnSpc>
              <a:buFontTx/>
              <a:buNone/>
            </a:pPr>
            <a:r>
              <a:rPr lang="en-US" altLang="en-US" sz="2400"/>
              <a:t>	public:</a:t>
            </a:r>
          </a:p>
          <a:p>
            <a:pPr eaLnBrk="1" hangingPunct="1">
              <a:lnSpc>
                <a:spcPct val="90000"/>
              </a:lnSpc>
              <a:buFontTx/>
              <a:buNone/>
            </a:pPr>
            <a:r>
              <a:rPr lang="en-US" altLang="en-US" sz="2400"/>
              <a:t>		A(int i) {a=i;  cout&lt;&lt;"A initialized\n";}</a:t>
            </a:r>
          </a:p>
          <a:p>
            <a:pPr eaLnBrk="1" hangingPunct="1">
              <a:lnSpc>
                <a:spcPct val="90000"/>
              </a:lnSpc>
              <a:buFontTx/>
              <a:buNone/>
            </a:pPr>
            <a:r>
              <a:rPr lang="en-US" altLang="en-US" sz="2400"/>
              <a:t>		void show_a(void){ cout&lt;&lt;"a="&lt;&lt;a&lt;&lt;"\n";}</a:t>
            </a:r>
          </a:p>
          <a:p>
            <a:pPr eaLnBrk="1" hangingPunct="1">
              <a:lnSpc>
                <a:spcPct val="90000"/>
              </a:lnSpc>
              <a:buFontTx/>
              <a:buNone/>
            </a:pPr>
            <a:r>
              <a:rPr lang="en-US" altLang="en-US" sz="2400"/>
              <a:t>};</a:t>
            </a:r>
          </a:p>
          <a:p>
            <a:pPr eaLnBrk="1" hangingPunct="1">
              <a:lnSpc>
                <a:spcPct val="90000"/>
              </a:lnSpc>
              <a:buFontTx/>
              <a:buNone/>
            </a:pPr>
            <a:r>
              <a:rPr lang="en-US" altLang="en-US" sz="2400"/>
              <a:t>class B</a:t>
            </a:r>
          </a:p>
          <a:p>
            <a:pPr eaLnBrk="1" hangingPunct="1">
              <a:lnSpc>
                <a:spcPct val="90000"/>
              </a:lnSpc>
              <a:buFontTx/>
              <a:buNone/>
            </a:pPr>
            <a:r>
              <a:rPr lang="en-US" altLang="en-US" sz="2400"/>
              <a:t>{</a:t>
            </a:r>
          </a:p>
          <a:p>
            <a:pPr eaLnBrk="1" hangingPunct="1">
              <a:lnSpc>
                <a:spcPct val="90000"/>
              </a:lnSpc>
              <a:buFontTx/>
              <a:buNone/>
            </a:pPr>
            <a:r>
              <a:rPr lang="en-US" altLang="en-US" sz="2400"/>
              <a:t>	int b;</a:t>
            </a:r>
          </a:p>
          <a:p>
            <a:pPr eaLnBrk="1" hangingPunct="1">
              <a:lnSpc>
                <a:spcPct val="90000"/>
              </a:lnSpc>
              <a:buFontTx/>
              <a:buNone/>
            </a:pPr>
            <a:r>
              <a:rPr lang="en-US" altLang="en-US" sz="2400"/>
              <a:t>	public:</a:t>
            </a:r>
          </a:p>
          <a:p>
            <a:pPr eaLnBrk="1" hangingPunct="1">
              <a:lnSpc>
                <a:spcPct val="90000"/>
              </a:lnSpc>
              <a:buFontTx/>
              <a:buNone/>
            </a:pPr>
            <a:r>
              <a:rPr lang="en-US" altLang="en-US" sz="2400"/>
              <a:t>		B(int j) {b=j;  cout&lt;&lt;"B initialized\n";}</a:t>
            </a:r>
          </a:p>
          <a:p>
            <a:pPr eaLnBrk="1" hangingPunct="1">
              <a:lnSpc>
                <a:spcPct val="90000"/>
              </a:lnSpc>
              <a:buFontTx/>
              <a:buNone/>
            </a:pPr>
            <a:r>
              <a:rPr lang="en-US" altLang="en-US" sz="2400"/>
              <a:t>		void show_b(void){ cout&lt;&lt;"b="&lt;&lt;b&lt;&lt;"\n";}</a:t>
            </a:r>
          </a:p>
          <a:p>
            <a:pPr eaLnBrk="1" hangingPunct="1">
              <a:lnSpc>
                <a:spcPct val="90000"/>
              </a:lnSpc>
              <a:buFontTx/>
              <a:buNone/>
            </a:pPr>
            <a:r>
              <a:rPr lang="en-US" altLang="en-US" sz="240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BC6A72C-40BB-3020-AFF4-83F402C09108}"/>
              </a:ext>
            </a:extLst>
          </p:cNvPr>
          <p:cNvSpPr>
            <a:spLocks noGrp="1" noChangeArrowheads="1"/>
          </p:cNvSpPr>
          <p:nvPr>
            <p:ph type="body" idx="1"/>
          </p:nvPr>
        </p:nvSpPr>
        <p:spPr>
          <a:xfrm>
            <a:off x="457200" y="228600"/>
            <a:ext cx="8229600" cy="6400800"/>
          </a:xfrm>
        </p:spPr>
        <p:txBody>
          <a:bodyPr/>
          <a:lstStyle/>
          <a:p>
            <a:pPr eaLnBrk="1" hangingPunct="1">
              <a:lnSpc>
                <a:spcPct val="80000"/>
              </a:lnSpc>
              <a:buFontTx/>
              <a:buNone/>
            </a:pPr>
            <a:r>
              <a:rPr lang="en-US" altLang="en-US" sz="2000"/>
              <a:t>class D : public A, public B</a:t>
            </a:r>
          </a:p>
          <a:p>
            <a:pPr eaLnBrk="1" hangingPunct="1">
              <a:lnSpc>
                <a:spcPct val="80000"/>
              </a:lnSpc>
              <a:buFontTx/>
              <a:buNone/>
            </a:pPr>
            <a:r>
              <a:rPr lang="en-US" altLang="en-US" sz="2000"/>
              <a:t>{</a:t>
            </a:r>
          </a:p>
          <a:p>
            <a:pPr eaLnBrk="1" hangingPunct="1">
              <a:lnSpc>
                <a:spcPct val="80000"/>
              </a:lnSpc>
              <a:buFontTx/>
              <a:buNone/>
            </a:pPr>
            <a:r>
              <a:rPr lang="en-US" altLang="en-US" sz="2000"/>
              <a:t>	int d;</a:t>
            </a:r>
          </a:p>
          <a:p>
            <a:pPr eaLnBrk="1" hangingPunct="1">
              <a:lnSpc>
                <a:spcPct val="80000"/>
              </a:lnSpc>
              <a:buFontTx/>
              <a:buNone/>
            </a:pPr>
            <a:r>
              <a:rPr lang="en-US" altLang="en-US" sz="2000"/>
              <a:t>	public:</a:t>
            </a:r>
          </a:p>
          <a:p>
            <a:pPr eaLnBrk="1" hangingPunct="1">
              <a:lnSpc>
                <a:spcPct val="80000"/>
              </a:lnSpc>
              <a:buFontTx/>
              <a:buNone/>
            </a:pPr>
            <a:r>
              <a:rPr lang="en-US" altLang="en-US" sz="2000"/>
              <a:t>		D(int a, int b, int de) :</a:t>
            </a:r>
          </a:p>
          <a:p>
            <a:pPr eaLnBrk="1" hangingPunct="1">
              <a:lnSpc>
                <a:spcPct val="80000"/>
              </a:lnSpc>
              <a:buFontTx/>
              <a:buNone/>
            </a:pPr>
            <a:r>
              <a:rPr lang="en-US" altLang="en-US" sz="2000"/>
              <a:t>		A(a),</a:t>
            </a:r>
          </a:p>
          <a:p>
            <a:pPr eaLnBrk="1" hangingPunct="1">
              <a:lnSpc>
                <a:spcPct val="80000"/>
              </a:lnSpc>
              <a:buFontTx/>
              <a:buNone/>
            </a:pPr>
            <a:r>
              <a:rPr lang="en-US" altLang="en-US" sz="2000"/>
              <a:t>		B(b)</a:t>
            </a:r>
          </a:p>
          <a:p>
            <a:pPr eaLnBrk="1" hangingPunct="1">
              <a:lnSpc>
                <a:spcPct val="80000"/>
              </a:lnSpc>
              <a:buFontTx/>
              <a:buNone/>
            </a:pPr>
            <a:r>
              <a:rPr lang="en-US" altLang="en-US" sz="2000"/>
              <a:t>		{</a:t>
            </a:r>
          </a:p>
          <a:p>
            <a:pPr eaLnBrk="1" hangingPunct="1">
              <a:lnSpc>
                <a:spcPct val="80000"/>
              </a:lnSpc>
              <a:buFontTx/>
              <a:buNone/>
            </a:pPr>
            <a:r>
              <a:rPr lang="en-US" altLang="en-US" sz="2000"/>
              <a:t>			d=de; cout&lt;&lt;"D initialized\n";</a:t>
            </a:r>
          </a:p>
          <a:p>
            <a:pPr eaLnBrk="1" hangingPunct="1">
              <a:lnSpc>
                <a:spcPct val="80000"/>
              </a:lnSpc>
              <a:buFontTx/>
              <a:buNone/>
            </a:pPr>
            <a:r>
              <a:rPr lang="en-US" altLang="en-US" sz="2000"/>
              <a:t>		}</a:t>
            </a:r>
          </a:p>
          <a:p>
            <a:pPr eaLnBrk="1" hangingPunct="1">
              <a:lnSpc>
                <a:spcPct val="80000"/>
              </a:lnSpc>
              <a:buFontTx/>
              <a:buNone/>
            </a:pPr>
            <a:r>
              <a:rPr lang="en-US" altLang="en-US" sz="2000"/>
              <a:t>			void show_d(void){ cout&lt;&lt;"d="&lt;&lt;d&lt;&lt;"\n";}</a:t>
            </a:r>
          </a:p>
          <a:p>
            <a:pPr eaLnBrk="1" hangingPunct="1">
              <a:lnSpc>
                <a:spcPct val="80000"/>
              </a:lnSpc>
              <a:buFontTx/>
              <a:buNone/>
            </a:pPr>
            <a:endParaRPr lang="en-US" altLang="en-US" sz="2000"/>
          </a:p>
          <a:p>
            <a:pPr eaLnBrk="1" hangingPunct="1">
              <a:lnSpc>
                <a:spcPct val="80000"/>
              </a:lnSpc>
              <a:buFontTx/>
              <a:buNone/>
            </a:pPr>
            <a:r>
              <a:rPr lang="en-US" altLang="en-US" sz="2000"/>
              <a:t>};</a:t>
            </a:r>
          </a:p>
          <a:p>
            <a:pPr eaLnBrk="1" hangingPunct="1">
              <a:lnSpc>
                <a:spcPct val="80000"/>
              </a:lnSpc>
              <a:buFontTx/>
              <a:buNone/>
            </a:pPr>
            <a:r>
              <a:rPr lang="en-US" altLang="en-US" sz="2000"/>
              <a:t>void main()</a:t>
            </a:r>
          </a:p>
          <a:p>
            <a:pPr eaLnBrk="1" hangingPunct="1">
              <a:lnSpc>
                <a:spcPct val="80000"/>
              </a:lnSpc>
              <a:buFontTx/>
              <a:buNone/>
            </a:pPr>
            <a:r>
              <a:rPr lang="en-US" altLang="en-US" sz="2000"/>
              <a:t>{</a:t>
            </a:r>
          </a:p>
          <a:p>
            <a:pPr eaLnBrk="1" hangingPunct="1">
              <a:lnSpc>
                <a:spcPct val="80000"/>
              </a:lnSpc>
              <a:buFontTx/>
              <a:buNone/>
            </a:pPr>
            <a:r>
              <a:rPr lang="en-US" altLang="en-US" sz="2000"/>
              <a:t>	D dobj(10,20,30);</a:t>
            </a:r>
          </a:p>
          <a:p>
            <a:pPr eaLnBrk="1" hangingPunct="1">
              <a:lnSpc>
                <a:spcPct val="80000"/>
              </a:lnSpc>
              <a:buFontTx/>
              <a:buNone/>
            </a:pPr>
            <a:r>
              <a:rPr lang="en-US" altLang="en-US" sz="2000"/>
              <a:t>	dobj.show_a();</a:t>
            </a:r>
          </a:p>
          <a:p>
            <a:pPr eaLnBrk="1" hangingPunct="1">
              <a:lnSpc>
                <a:spcPct val="80000"/>
              </a:lnSpc>
              <a:buFontTx/>
              <a:buNone/>
            </a:pPr>
            <a:r>
              <a:rPr lang="en-US" altLang="en-US" sz="2000"/>
              <a:t>	dobj.show_b();</a:t>
            </a:r>
          </a:p>
          <a:p>
            <a:pPr eaLnBrk="1" hangingPunct="1">
              <a:lnSpc>
                <a:spcPct val="80000"/>
              </a:lnSpc>
              <a:buFontTx/>
              <a:buNone/>
            </a:pPr>
            <a:r>
              <a:rPr lang="en-US" altLang="en-US" sz="2000"/>
              <a:t>	dobj.show_d();</a:t>
            </a:r>
          </a:p>
          <a:p>
            <a:pPr eaLnBrk="1" hangingPunct="1">
              <a:lnSpc>
                <a:spcPct val="80000"/>
              </a:lnSpc>
              <a:buFontTx/>
              <a:buNone/>
            </a:pPr>
            <a:r>
              <a:rPr lang="en-US" altLang="en-US" sz="200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3DD3A60-BED9-672B-7489-87B3A3D84745}"/>
              </a:ext>
            </a:extLst>
          </p:cNvPr>
          <p:cNvSpPr>
            <a:spLocks noGrp="1" noChangeArrowheads="1"/>
          </p:cNvSpPr>
          <p:nvPr>
            <p:ph type="body" idx="1"/>
          </p:nvPr>
        </p:nvSpPr>
        <p:spPr>
          <a:xfrm>
            <a:off x="457200" y="228600"/>
            <a:ext cx="8229600" cy="6400800"/>
          </a:xfrm>
        </p:spPr>
        <p:txBody>
          <a:bodyPr/>
          <a:lstStyle/>
          <a:p>
            <a:pPr eaLnBrk="1" hangingPunct="1">
              <a:buFontTx/>
              <a:buNone/>
            </a:pPr>
            <a:r>
              <a:rPr lang="en-US" altLang="en-US"/>
              <a:t>Output</a:t>
            </a:r>
          </a:p>
          <a:p>
            <a:pPr eaLnBrk="1" hangingPunct="1">
              <a:buFontTx/>
              <a:buNone/>
            </a:pPr>
            <a:r>
              <a:rPr lang="en-US" altLang="en-US"/>
              <a:t>A initialized</a:t>
            </a:r>
          </a:p>
          <a:p>
            <a:pPr eaLnBrk="1" hangingPunct="1">
              <a:buFontTx/>
              <a:buNone/>
            </a:pPr>
            <a:r>
              <a:rPr lang="en-US" altLang="en-US"/>
              <a:t>B initialized</a:t>
            </a:r>
          </a:p>
          <a:p>
            <a:pPr eaLnBrk="1" hangingPunct="1">
              <a:buFontTx/>
              <a:buNone/>
            </a:pPr>
            <a:r>
              <a:rPr lang="en-US" altLang="en-US"/>
              <a:t>D initialized</a:t>
            </a:r>
          </a:p>
          <a:p>
            <a:pPr eaLnBrk="1" hangingPunct="1">
              <a:buFontTx/>
              <a:buNone/>
            </a:pPr>
            <a:r>
              <a:rPr lang="en-US" altLang="en-US"/>
              <a:t>a=10</a:t>
            </a:r>
          </a:p>
          <a:p>
            <a:pPr eaLnBrk="1" hangingPunct="1">
              <a:buFontTx/>
              <a:buNone/>
            </a:pPr>
            <a:r>
              <a:rPr lang="en-US" altLang="en-US"/>
              <a:t>b=10</a:t>
            </a:r>
          </a:p>
          <a:p>
            <a:pPr eaLnBrk="1" hangingPunct="1">
              <a:buFontTx/>
              <a:buNone/>
            </a:pPr>
            <a:r>
              <a:rPr lang="en-US" altLang="en-US"/>
              <a:t>d=10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0F9B1FF-DF89-F0FE-C486-07B62F42D9A0}"/>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Member classes : nesting of classes</a:t>
            </a:r>
          </a:p>
        </p:txBody>
      </p:sp>
      <p:sp>
        <p:nvSpPr>
          <p:cNvPr id="14339" name="Rectangle 3">
            <a:extLst>
              <a:ext uri="{FF2B5EF4-FFF2-40B4-BE49-F238E27FC236}">
                <a16:creationId xmlns:a16="http://schemas.microsoft.com/office/drawing/2014/main" id="{C61B34D2-61F7-601F-8A79-7738F9724CA9}"/>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80000"/>
              </a:lnSpc>
              <a:buFontTx/>
              <a:buChar char="•"/>
            </a:pPr>
            <a:r>
              <a:rPr lang="en-US" altLang="en-US" sz="2000">
                <a:latin typeface="Times New Roman" panose="02020603050405020304" pitchFamily="18" charset="0"/>
              </a:rPr>
              <a:t>C++ supports another way of inheriting properties of one class to another</a:t>
            </a:r>
          </a:p>
          <a:p>
            <a:pPr marL="533400" indent="-533400" algn="just" eaLnBrk="1" hangingPunct="1">
              <a:lnSpc>
                <a:spcPct val="80000"/>
              </a:lnSpc>
              <a:buFontTx/>
              <a:buChar char="•"/>
            </a:pPr>
            <a:r>
              <a:rPr lang="en-US" altLang="en-US" sz="2000">
                <a:latin typeface="Times New Roman" panose="02020603050405020304" pitchFamily="18" charset="0"/>
              </a:rPr>
              <a:t>Takes a view that an object can be a collection of many other objects</a:t>
            </a:r>
          </a:p>
          <a:p>
            <a:pPr marL="533400" indent="-533400" algn="just" eaLnBrk="1" hangingPunct="1">
              <a:lnSpc>
                <a:spcPct val="80000"/>
              </a:lnSpc>
              <a:buFontTx/>
              <a:buChar char="•"/>
            </a:pPr>
            <a:r>
              <a:rPr lang="en-US" altLang="en-US" sz="2000">
                <a:latin typeface="Times New Roman" panose="02020603050405020304" pitchFamily="18" charset="0"/>
              </a:rPr>
              <a:t>A class can contain objects of other classes as its members</a:t>
            </a:r>
          </a:p>
          <a:p>
            <a:pPr marL="533400" indent="-533400" algn="just" eaLnBrk="1" hangingPunct="1">
              <a:lnSpc>
                <a:spcPct val="80000"/>
              </a:lnSpc>
            </a:pPr>
            <a:r>
              <a:rPr lang="en-US" altLang="en-US" sz="2000">
                <a:latin typeface="Times New Roman" panose="02020603050405020304" pitchFamily="18" charset="0"/>
              </a:rPr>
              <a:t>class A {……};</a:t>
            </a:r>
          </a:p>
          <a:p>
            <a:pPr marL="533400" indent="-533400" algn="just" eaLnBrk="1" hangingPunct="1">
              <a:lnSpc>
                <a:spcPct val="80000"/>
              </a:lnSpc>
            </a:pPr>
            <a:r>
              <a:rPr lang="en-US" altLang="en-US" sz="2000">
                <a:latin typeface="Times New Roman" panose="02020603050405020304" pitchFamily="18" charset="0"/>
              </a:rPr>
              <a:t>class B {……};</a:t>
            </a:r>
          </a:p>
          <a:p>
            <a:pPr marL="533400" indent="-533400" algn="just" eaLnBrk="1" hangingPunct="1">
              <a:lnSpc>
                <a:spcPct val="80000"/>
              </a:lnSpc>
            </a:pPr>
            <a:r>
              <a:rPr lang="en-US" altLang="en-US" sz="2000">
                <a:latin typeface="Times New Roman" panose="02020603050405020304" pitchFamily="18" charset="0"/>
              </a:rPr>
              <a:t>class D</a:t>
            </a:r>
          </a:p>
          <a:p>
            <a:pPr marL="533400" indent="-533400" algn="just" eaLnBrk="1" hangingPunct="1">
              <a:lnSpc>
                <a:spcPct val="80000"/>
              </a:lnSpc>
            </a:pPr>
            <a:r>
              <a:rPr lang="en-US" altLang="en-US" sz="2000">
                <a:latin typeface="Times New Roman" panose="02020603050405020304" pitchFamily="18" charset="0"/>
              </a:rPr>
              <a:t>{</a:t>
            </a:r>
          </a:p>
          <a:p>
            <a:pPr marL="533400" indent="-533400" algn="just" eaLnBrk="1" hangingPunct="1">
              <a:lnSpc>
                <a:spcPct val="80000"/>
              </a:lnSpc>
            </a:pPr>
            <a:r>
              <a:rPr lang="en-US" altLang="en-US" sz="2000">
                <a:latin typeface="Times New Roman" panose="02020603050405020304" pitchFamily="18" charset="0"/>
              </a:rPr>
              <a:t>	A obja;</a:t>
            </a:r>
          </a:p>
          <a:p>
            <a:pPr marL="533400" indent="-533400" algn="just" eaLnBrk="1" hangingPunct="1">
              <a:lnSpc>
                <a:spcPct val="80000"/>
              </a:lnSpc>
            </a:pPr>
            <a:r>
              <a:rPr lang="en-US" altLang="en-US" sz="2000">
                <a:latin typeface="Times New Roman" panose="02020603050405020304" pitchFamily="18" charset="0"/>
              </a:rPr>
              <a:t>	B objb;</a:t>
            </a:r>
          </a:p>
          <a:p>
            <a:pPr marL="533400" indent="-533400" algn="just" eaLnBrk="1" hangingPunct="1">
              <a:lnSpc>
                <a:spcPct val="80000"/>
              </a:lnSpc>
            </a:pPr>
            <a:r>
              <a:rPr lang="en-US" altLang="en-US" sz="2000">
                <a:latin typeface="Times New Roman" panose="02020603050405020304" pitchFamily="18" charset="0"/>
              </a:rPr>
              <a:t>	…….</a:t>
            </a:r>
          </a:p>
          <a:p>
            <a:pPr marL="533400" indent="-533400" algn="just" eaLnBrk="1" hangingPunct="1">
              <a:lnSpc>
                <a:spcPct val="80000"/>
              </a:lnSpc>
            </a:pPr>
            <a:r>
              <a:rPr lang="en-US" altLang="en-US" sz="2000">
                <a:latin typeface="Times New Roman" panose="02020603050405020304" pitchFamily="18" charset="0"/>
              </a:rPr>
              <a:t>};</a:t>
            </a:r>
          </a:p>
          <a:p>
            <a:pPr marL="533400" indent="-533400" algn="just" eaLnBrk="1" hangingPunct="1">
              <a:lnSpc>
                <a:spcPct val="80000"/>
              </a:lnSpc>
              <a:buFontTx/>
              <a:buChar char="•"/>
            </a:pPr>
            <a:r>
              <a:rPr lang="en-US" altLang="en-US" sz="2000">
                <a:latin typeface="Times New Roman" panose="02020603050405020304" pitchFamily="18" charset="0"/>
              </a:rPr>
              <a:t>All objects of D will contain objects obja and objb</a:t>
            </a:r>
          </a:p>
          <a:p>
            <a:pPr marL="533400" indent="-533400" algn="just" eaLnBrk="1" hangingPunct="1">
              <a:lnSpc>
                <a:spcPct val="80000"/>
              </a:lnSpc>
              <a:buFontTx/>
              <a:buChar char="•"/>
            </a:pPr>
            <a:r>
              <a:rPr lang="en-US" altLang="en-US" sz="2000">
                <a:latin typeface="Times New Roman" panose="02020603050405020304" pitchFamily="18" charset="0"/>
              </a:rPr>
              <a:t>This type of relationship is called as </a:t>
            </a:r>
            <a:r>
              <a:rPr lang="en-US" altLang="en-US" sz="2000">
                <a:solidFill>
                  <a:srgbClr val="0066CC"/>
                </a:solidFill>
                <a:latin typeface="Times New Roman" panose="02020603050405020304" pitchFamily="18" charset="0"/>
              </a:rPr>
              <a:t>containership or nesting</a:t>
            </a:r>
          </a:p>
          <a:p>
            <a:pPr marL="533400" indent="-533400" algn="just" eaLnBrk="1" hangingPunct="1">
              <a:lnSpc>
                <a:spcPct val="80000"/>
              </a:lnSpc>
              <a:buFontTx/>
              <a:buChar char="•"/>
            </a:pPr>
            <a:r>
              <a:rPr lang="en-US" altLang="en-US" sz="2000">
                <a:latin typeface="Times New Roman" panose="02020603050405020304" pitchFamily="18" charset="0"/>
              </a:rPr>
              <a:t>The constructors of the member objects are called in the order in which they are declared in the nested class</a:t>
            </a:r>
          </a:p>
          <a:p>
            <a:pPr marL="533400" indent="-533400" algn="just" eaLnBrk="1" hangingPunct="1">
              <a:lnSpc>
                <a:spcPct val="80000"/>
              </a:lnSpc>
              <a:buFontTx/>
              <a:buChar char="•"/>
            </a:pPr>
            <a:r>
              <a:rPr lang="en-US" altLang="en-US" sz="2000">
                <a:latin typeface="Times New Roman" panose="02020603050405020304" pitchFamily="18" charset="0"/>
              </a:rPr>
              <a:t>In the above example constructors will be called in this order</a:t>
            </a:r>
          </a:p>
          <a:p>
            <a:pPr marL="533400" indent="-533400" algn="just" eaLnBrk="1" hangingPunct="1">
              <a:lnSpc>
                <a:spcPct val="80000"/>
              </a:lnSpc>
            </a:pPr>
            <a:r>
              <a:rPr lang="en-US" altLang="en-US" sz="2000">
                <a:latin typeface="Times New Roman" panose="02020603050405020304" pitchFamily="18" charset="0"/>
              </a:rPr>
              <a:t>	A constructor</a:t>
            </a:r>
          </a:p>
          <a:p>
            <a:pPr marL="533400" indent="-533400" algn="just" eaLnBrk="1" hangingPunct="1">
              <a:lnSpc>
                <a:spcPct val="80000"/>
              </a:lnSpc>
            </a:pPr>
            <a:r>
              <a:rPr lang="en-US" altLang="en-US" sz="2000">
                <a:latin typeface="Times New Roman" panose="02020603050405020304" pitchFamily="18" charset="0"/>
              </a:rPr>
              <a:t>	B constructor</a:t>
            </a:r>
          </a:p>
          <a:p>
            <a:pPr marL="533400" indent="-533400" algn="just" eaLnBrk="1" hangingPunct="1">
              <a:lnSpc>
                <a:spcPct val="80000"/>
              </a:lnSpc>
            </a:pPr>
            <a:r>
              <a:rPr lang="en-US" altLang="en-US" sz="2000">
                <a:latin typeface="Times New Roman" panose="02020603050405020304" pitchFamily="18" charset="0"/>
              </a:rPr>
              <a:t>	D constructor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0A9BA00-FE9A-C967-1C73-19CC11CE7D18}"/>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Runtime polymorphism</a:t>
            </a:r>
          </a:p>
        </p:txBody>
      </p:sp>
      <p:sp>
        <p:nvSpPr>
          <p:cNvPr id="15363" name="Rectangle 3">
            <a:extLst>
              <a:ext uri="{FF2B5EF4-FFF2-40B4-BE49-F238E27FC236}">
                <a16:creationId xmlns:a16="http://schemas.microsoft.com/office/drawing/2014/main" id="{625C877B-6C48-2CAF-62C1-5CF8C36CA3C5}"/>
              </a:ext>
            </a:extLst>
          </p:cNvPr>
          <p:cNvSpPr>
            <a:spLocks noGrp="1" noChangeArrowheads="1"/>
          </p:cNvSpPr>
          <p:nvPr>
            <p:ph type="subTitle" idx="1"/>
          </p:nvPr>
        </p:nvSpPr>
        <p:spPr>
          <a:xfrm>
            <a:off x="228600" y="609600"/>
            <a:ext cx="8686800" cy="6019800"/>
          </a:xfrm>
        </p:spPr>
        <p:txBody>
          <a:bodyPr/>
          <a:lstStyle/>
          <a:p>
            <a:pPr marL="533400" indent="-533400" algn="just" eaLnBrk="1" hangingPunct="1">
              <a:buFontTx/>
              <a:buChar char="•"/>
            </a:pPr>
            <a:r>
              <a:rPr lang="en-US" altLang="en-US">
                <a:latin typeface="Times New Roman" panose="02020603050405020304" pitchFamily="18" charset="0"/>
              </a:rPr>
              <a:t>If the appropriate member function could be selected while the program is running it is known as runtime polymorphism</a:t>
            </a:r>
          </a:p>
          <a:p>
            <a:pPr marL="533400" indent="-533400" algn="just" eaLnBrk="1" hangingPunct="1">
              <a:buFontTx/>
              <a:buChar char="•"/>
            </a:pPr>
            <a:r>
              <a:rPr lang="en-US" altLang="en-US">
                <a:latin typeface="Times New Roman" panose="02020603050405020304" pitchFamily="18" charset="0"/>
              </a:rPr>
              <a:t>Through virtual function we can achieve runtime polymorphism</a:t>
            </a:r>
          </a:p>
          <a:p>
            <a:pPr marL="533400" indent="-533400" algn="just" eaLnBrk="1" hangingPunct="1">
              <a:buFontTx/>
              <a:buChar char="•"/>
            </a:pPr>
            <a:r>
              <a:rPr lang="en-US" altLang="en-US">
                <a:latin typeface="Times New Roman" panose="02020603050405020304" pitchFamily="18" charset="0"/>
              </a:rPr>
              <a:t>The function is linked with a particular class much later after the compilation, this process is termed as </a:t>
            </a:r>
            <a:r>
              <a:rPr lang="en-US" altLang="en-US">
                <a:solidFill>
                  <a:srgbClr val="0066CC"/>
                </a:solidFill>
                <a:latin typeface="Times New Roman" panose="02020603050405020304" pitchFamily="18" charset="0"/>
              </a:rPr>
              <a:t>late binding or dynamic binding </a:t>
            </a:r>
            <a:r>
              <a:rPr lang="en-US" altLang="en-US">
                <a:latin typeface="Times New Roman" panose="02020603050405020304" pitchFamily="18" charset="0"/>
              </a:rPr>
              <a:t>because the selection of the appropriate function is done dynamically at runtime</a:t>
            </a:r>
          </a:p>
          <a:p>
            <a:pPr marL="533400" indent="-533400" algn="just" eaLnBrk="1" hangingPunct="1">
              <a:buFontTx/>
              <a:buChar char="•"/>
            </a:pPr>
            <a:r>
              <a:rPr lang="en-US" altLang="en-US">
                <a:latin typeface="Times New Roman" panose="02020603050405020304" pitchFamily="18" charset="0"/>
              </a:rPr>
              <a:t>This requires the use of pointers to objects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FA8209BB-5806-2362-718D-73E4AAE200F1}"/>
              </a:ext>
            </a:extLst>
          </p:cNvPr>
          <p:cNvSpPr>
            <a:spLocks noChangeArrowheads="1"/>
          </p:cNvSpPr>
          <p:nvPr/>
        </p:nvSpPr>
        <p:spPr bwMode="auto">
          <a:xfrm>
            <a:off x="3657600" y="1219200"/>
            <a:ext cx="1981200" cy="533400"/>
          </a:xfrm>
          <a:prstGeom prst="rect">
            <a:avLst/>
          </a:prstGeom>
          <a:solidFill>
            <a:schemeClr val="accent1"/>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Polymorphism</a:t>
            </a:r>
          </a:p>
        </p:txBody>
      </p:sp>
      <p:sp>
        <p:nvSpPr>
          <p:cNvPr id="16387" name="Oval 5">
            <a:extLst>
              <a:ext uri="{FF2B5EF4-FFF2-40B4-BE49-F238E27FC236}">
                <a16:creationId xmlns:a16="http://schemas.microsoft.com/office/drawing/2014/main" id="{5F403D98-1668-D1DA-01CC-84AEA79D70CC}"/>
              </a:ext>
            </a:extLst>
          </p:cNvPr>
          <p:cNvSpPr>
            <a:spLocks noChangeArrowheads="1"/>
          </p:cNvSpPr>
          <p:nvPr/>
        </p:nvSpPr>
        <p:spPr bwMode="auto">
          <a:xfrm>
            <a:off x="2057400" y="2438400"/>
            <a:ext cx="1752600" cy="914400"/>
          </a:xfrm>
          <a:prstGeom prst="ellipse">
            <a:avLst/>
          </a:prstGeom>
          <a:solidFill>
            <a:schemeClr val="accent1"/>
          </a:solidFill>
          <a:ln w="9525" algn="ctr">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Compile time</a:t>
            </a:r>
          </a:p>
          <a:p>
            <a:r>
              <a:rPr lang="en-US" altLang="en-US"/>
              <a:t>Polymorphism</a:t>
            </a:r>
          </a:p>
        </p:txBody>
      </p:sp>
      <p:sp>
        <p:nvSpPr>
          <p:cNvPr id="16388" name="Oval 6">
            <a:extLst>
              <a:ext uri="{FF2B5EF4-FFF2-40B4-BE49-F238E27FC236}">
                <a16:creationId xmlns:a16="http://schemas.microsoft.com/office/drawing/2014/main" id="{5584C17C-6AC6-5D28-E9A6-7932F9BCF01A}"/>
              </a:ext>
            </a:extLst>
          </p:cNvPr>
          <p:cNvSpPr>
            <a:spLocks noChangeArrowheads="1"/>
          </p:cNvSpPr>
          <p:nvPr/>
        </p:nvSpPr>
        <p:spPr bwMode="auto">
          <a:xfrm>
            <a:off x="5562600" y="2438400"/>
            <a:ext cx="1752600" cy="914400"/>
          </a:xfrm>
          <a:prstGeom prst="ellipse">
            <a:avLst/>
          </a:prstGeom>
          <a:solidFill>
            <a:schemeClr val="accent1"/>
          </a:solidFill>
          <a:ln w="9525" algn="ctr">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runtime</a:t>
            </a:r>
          </a:p>
          <a:p>
            <a:r>
              <a:rPr lang="en-US" altLang="en-US"/>
              <a:t>Polymorphism</a:t>
            </a:r>
          </a:p>
        </p:txBody>
      </p:sp>
      <p:sp>
        <p:nvSpPr>
          <p:cNvPr id="16389" name="Rectangle 7">
            <a:extLst>
              <a:ext uri="{FF2B5EF4-FFF2-40B4-BE49-F238E27FC236}">
                <a16:creationId xmlns:a16="http://schemas.microsoft.com/office/drawing/2014/main" id="{1C1DF27A-0C5B-7A43-FC9E-F87A68CDDE52}"/>
              </a:ext>
            </a:extLst>
          </p:cNvPr>
          <p:cNvSpPr>
            <a:spLocks noChangeArrowheads="1"/>
          </p:cNvSpPr>
          <p:nvPr/>
        </p:nvSpPr>
        <p:spPr bwMode="auto">
          <a:xfrm>
            <a:off x="685800" y="4724400"/>
            <a:ext cx="1981200" cy="533400"/>
          </a:xfrm>
          <a:prstGeom prst="rect">
            <a:avLst/>
          </a:prstGeom>
          <a:solidFill>
            <a:schemeClr val="accent1"/>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Function </a:t>
            </a:r>
          </a:p>
          <a:p>
            <a:r>
              <a:rPr lang="en-US" altLang="en-US"/>
              <a:t>overloading</a:t>
            </a:r>
          </a:p>
        </p:txBody>
      </p:sp>
      <p:sp>
        <p:nvSpPr>
          <p:cNvPr id="16390" name="Rectangle 8">
            <a:extLst>
              <a:ext uri="{FF2B5EF4-FFF2-40B4-BE49-F238E27FC236}">
                <a16:creationId xmlns:a16="http://schemas.microsoft.com/office/drawing/2014/main" id="{CF6E6F04-B9DB-4AAE-22B1-4A5F6B4ACDB8}"/>
              </a:ext>
            </a:extLst>
          </p:cNvPr>
          <p:cNvSpPr>
            <a:spLocks noChangeArrowheads="1"/>
          </p:cNvSpPr>
          <p:nvPr/>
        </p:nvSpPr>
        <p:spPr bwMode="auto">
          <a:xfrm>
            <a:off x="3200400" y="4724400"/>
            <a:ext cx="1981200" cy="533400"/>
          </a:xfrm>
          <a:prstGeom prst="rect">
            <a:avLst/>
          </a:prstGeom>
          <a:solidFill>
            <a:schemeClr val="accent1"/>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Operator</a:t>
            </a:r>
          </a:p>
          <a:p>
            <a:r>
              <a:rPr lang="en-US" altLang="en-US"/>
              <a:t>overloading</a:t>
            </a:r>
          </a:p>
        </p:txBody>
      </p:sp>
      <p:sp>
        <p:nvSpPr>
          <p:cNvPr id="16391" name="Rectangle 9">
            <a:extLst>
              <a:ext uri="{FF2B5EF4-FFF2-40B4-BE49-F238E27FC236}">
                <a16:creationId xmlns:a16="http://schemas.microsoft.com/office/drawing/2014/main" id="{40AC339E-F6BB-999C-E9AB-48767DA992F5}"/>
              </a:ext>
            </a:extLst>
          </p:cNvPr>
          <p:cNvSpPr>
            <a:spLocks noChangeArrowheads="1"/>
          </p:cNvSpPr>
          <p:nvPr/>
        </p:nvSpPr>
        <p:spPr bwMode="auto">
          <a:xfrm>
            <a:off x="5638800" y="4724400"/>
            <a:ext cx="1981200" cy="533400"/>
          </a:xfrm>
          <a:prstGeom prst="rect">
            <a:avLst/>
          </a:prstGeom>
          <a:solidFill>
            <a:schemeClr val="accent1"/>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a:t>Virtual functions</a:t>
            </a:r>
          </a:p>
        </p:txBody>
      </p:sp>
      <p:cxnSp>
        <p:nvCxnSpPr>
          <p:cNvPr id="16392" name="AutoShape 10">
            <a:extLst>
              <a:ext uri="{FF2B5EF4-FFF2-40B4-BE49-F238E27FC236}">
                <a16:creationId xmlns:a16="http://schemas.microsoft.com/office/drawing/2014/main" id="{669B1F3B-CC36-DDEA-699A-8BC861C3B478}"/>
              </a:ext>
            </a:extLst>
          </p:cNvPr>
          <p:cNvCxnSpPr>
            <a:cxnSpLocks noChangeShapeType="1"/>
            <a:stCxn id="16386" idx="2"/>
            <a:endCxn id="16387" idx="0"/>
          </p:cNvCxnSpPr>
          <p:nvPr/>
        </p:nvCxnSpPr>
        <p:spPr bwMode="auto">
          <a:xfrm flipH="1">
            <a:off x="2933700" y="1752600"/>
            <a:ext cx="1714500" cy="685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3" name="AutoShape 11">
            <a:extLst>
              <a:ext uri="{FF2B5EF4-FFF2-40B4-BE49-F238E27FC236}">
                <a16:creationId xmlns:a16="http://schemas.microsoft.com/office/drawing/2014/main" id="{E757FE43-B57A-C602-A6AF-B4423E83495B}"/>
              </a:ext>
            </a:extLst>
          </p:cNvPr>
          <p:cNvCxnSpPr>
            <a:cxnSpLocks noChangeShapeType="1"/>
            <a:stCxn id="16386" idx="2"/>
            <a:endCxn id="16388" idx="0"/>
          </p:cNvCxnSpPr>
          <p:nvPr/>
        </p:nvCxnSpPr>
        <p:spPr bwMode="auto">
          <a:xfrm>
            <a:off x="4648200" y="1752600"/>
            <a:ext cx="1790700" cy="685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4" name="AutoShape 12">
            <a:extLst>
              <a:ext uri="{FF2B5EF4-FFF2-40B4-BE49-F238E27FC236}">
                <a16:creationId xmlns:a16="http://schemas.microsoft.com/office/drawing/2014/main" id="{856A9C6B-5ABD-913E-AEA2-BA3EDFD350CB}"/>
              </a:ext>
            </a:extLst>
          </p:cNvPr>
          <p:cNvCxnSpPr>
            <a:cxnSpLocks noChangeShapeType="1"/>
            <a:stCxn id="16387" idx="4"/>
            <a:endCxn id="16389" idx="0"/>
          </p:cNvCxnSpPr>
          <p:nvPr/>
        </p:nvCxnSpPr>
        <p:spPr bwMode="auto">
          <a:xfrm flipH="1">
            <a:off x="1676400" y="3352800"/>
            <a:ext cx="1257300" cy="1371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5" name="AutoShape 13">
            <a:extLst>
              <a:ext uri="{FF2B5EF4-FFF2-40B4-BE49-F238E27FC236}">
                <a16:creationId xmlns:a16="http://schemas.microsoft.com/office/drawing/2014/main" id="{A0E537D9-777E-B5EE-EE5D-62837218F99C}"/>
              </a:ext>
            </a:extLst>
          </p:cNvPr>
          <p:cNvCxnSpPr>
            <a:cxnSpLocks noChangeShapeType="1"/>
            <a:stCxn id="16387" idx="4"/>
            <a:endCxn id="16390" idx="0"/>
          </p:cNvCxnSpPr>
          <p:nvPr/>
        </p:nvCxnSpPr>
        <p:spPr bwMode="auto">
          <a:xfrm>
            <a:off x="2933700" y="3352800"/>
            <a:ext cx="1257300" cy="1371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6" name="AutoShape 15">
            <a:extLst>
              <a:ext uri="{FF2B5EF4-FFF2-40B4-BE49-F238E27FC236}">
                <a16:creationId xmlns:a16="http://schemas.microsoft.com/office/drawing/2014/main" id="{39FBE524-EEB5-6966-65A4-91DCBE013C25}"/>
              </a:ext>
            </a:extLst>
          </p:cNvPr>
          <p:cNvCxnSpPr>
            <a:cxnSpLocks noChangeShapeType="1"/>
            <a:stCxn id="16388" idx="4"/>
            <a:endCxn id="16391" idx="0"/>
          </p:cNvCxnSpPr>
          <p:nvPr/>
        </p:nvCxnSpPr>
        <p:spPr bwMode="auto">
          <a:xfrm>
            <a:off x="6438900" y="3352800"/>
            <a:ext cx="190500" cy="1371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97338F6-E5B2-F879-57D0-B83903187C04}"/>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Pointers to objects</a:t>
            </a:r>
          </a:p>
        </p:txBody>
      </p:sp>
      <p:sp>
        <p:nvSpPr>
          <p:cNvPr id="17411" name="Rectangle 3">
            <a:extLst>
              <a:ext uri="{FF2B5EF4-FFF2-40B4-BE49-F238E27FC236}">
                <a16:creationId xmlns:a16="http://schemas.microsoft.com/office/drawing/2014/main" id="{3BFA31B8-62AA-2A7C-4056-6C89B172508C}"/>
              </a:ext>
            </a:extLst>
          </p:cNvPr>
          <p:cNvSpPr>
            <a:spLocks noGrp="1" noChangeArrowheads="1"/>
          </p:cNvSpPr>
          <p:nvPr>
            <p:ph type="subTitle" idx="1"/>
          </p:nvPr>
        </p:nvSpPr>
        <p:spPr>
          <a:xfrm>
            <a:off x="228600" y="609600"/>
            <a:ext cx="8686800" cy="6019800"/>
          </a:xfrm>
        </p:spPr>
        <p:txBody>
          <a:bodyPr/>
          <a:lstStyle/>
          <a:p>
            <a:pPr marL="533400" indent="-533400" algn="just" eaLnBrk="1" hangingPunct="1">
              <a:buFontTx/>
              <a:buChar char="•"/>
            </a:pPr>
            <a:r>
              <a:rPr lang="en-US" altLang="en-US">
                <a:latin typeface="Times New Roman" panose="02020603050405020304" pitchFamily="18" charset="0"/>
              </a:rPr>
              <a:t>A pointer can point to an object created by a class</a:t>
            </a:r>
          </a:p>
          <a:p>
            <a:pPr marL="533400" indent="-533400" algn="just" eaLnBrk="1" hangingPunct="1">
              <a:buFontTx/>
              <a:buChar char="•"/>
            </a:pPr>
            <a:r>
              <a:rPr lang="en-US" altLang="en-US">
                <a:latin typeface="Times New Roman" panose="02020603050405020304" pitchFamily="18" charset="0"/>
              </a:rPr>
              <a:t>If </a:t>
            </a:r>
            <a:r>
              <a:rPr lang="en-US" altLang="en-US">
                <a:solidFill>
                  <a:srgbClr val="0066CC"/>
                </a:solidFill>
                <a:latin typeface="Times New Roman" panose="02020603050405020304" pitchFamily="18" charset="0"/>
              </a:rPr>
              <a:t>item</a:t>
            </a:r>
            <a:r>
              <a:rPr lang="en-US" altLang="en-US">
                <a:latin typeface="Times New Roman" panose="02020603050405020304" pitchFamily="18" charset="0"/>
              </a:rPr>
              <a:t> is a class</a:t>
            </a:r>
          </a:p>
          <a:p>
            <a:pPr marL="533400" indent="-533400" algn="just" eaLnBrk="1" hangingPunct="1"/>
            <a:r>
              <a:rPr lang="en-US" altLang="en-US">
                <a:latin typeface="Times New Roman" panose="02020603050405020304" pitchFamily="18" charset="0"/>
              </a:rPr>
              <a:t>	item *it_ptr;	//creates object pointer of type item</a:t>
            </a:r>
          </a:p>
          <a:p>
            <a:pPr marL="533400" indent="-533400" algn="just" eaLnBrk="1" hangingPunct="1">
              <a:buFontTx/>
              <a:buChar char="•"/>
            </a:pPr>
            <a:r>
              <a:rPr lang="en-US" altLang="en-US">
                <a:latin typeface="Times New Roman" panose="02020603050405020304" pitchFamily="18" charset="0"/>
              </a:rPr>
              <a:t>Object pointers are useful in creating objects at run time</a:t>
            </a:r>
          </a:p>
          <a:p>
            <a:pPr marL="533400" indent="-533400" algn="just" eaLnBrk="1" hangingPunct="1">
              <a:buFontTx/>
              <a:buChar char="•"/>
            </a:pPr>
            <a:r>
              <a:rPr lang="en-US" altLang="en-US">
                <a:latin typeface="Times New Roman" panose="02020603050405020304" pitchFamily="18" charset="0"/>
              </a:rPr>
              <a:t>We can use object pointers to access the public members of an object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EC183AB-8F85-2F7D-19D0-570089791191}"/>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Pointers to objects</a:t>
            </a:r>
          </a:p>
        </p:txBody>
      </p:sp>
      <p:sp>
        <p:nvSpPr>
          <p:cNvPr id="18435" name="Rectangle 3">
            <a:extLst>
              <a:ext uri="{FF2B5EF4-FFF2-40B4-BE49-F238E27FC236}">
                <a16:creationId xmlns:a16="http://schemas.microsoft.com/office/drawing/2014/main" id="{1B8DC04C-8C85-D9B5-CE9F-067F6D962A6D}"/>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80000"/>
              </a:lnSpc>
            </a:pPr>
            <a:r>
              <a:rPr lang="en-US" altLang="en-US" sz="2000">
                <a:latin typeface="Times New Roman" panose="02020603050405020304" pitchFamily="18" charset="0"/>
              </a:rPr>
              <a:t>Eg:</a:t>
            </a:r>
          </a:p>
          <a:p>
            <a:pPr marL="533400" indent="-533400" algn="just" eaLnBrk="1" hangingPunct="1">
              <a:lnSpc>
                <a:spcPct val="80000"/>
              </a:lnSpc>
            </a:pPr>
            <a:r>
              <a:rPr lang="en-US" altLang="en-US" sz="2000">
                <a:latin typeface="Times New Roman" panose="02020603050405020304" pitchFamily="18" charset="0"/>
              </a:rPr>
              <a:t>	class A</a:t>
            </a:r>
          </a:p>
          <a:p>
            <a:pPr marL="533400" indent="-533400" algn="just" eaLnBrk="1" hangingPunct="1">
              <a:lnSpc>
                <a:spcPct val="80000"/>
              </a:lnSpc>
            </a:pPr>
            <a:r>
              <a:rPr lang="en-US" altLang="en-US" sz="2000">
                <a:latin typeface="Times New Roman" panose="02020603050405020304" pitchFamily="18" charset="0"/>
              </a:rPr>
              <a:t>	{</a:t>
            </a:r>
          </a:p>
          <a:p>
            <a:pPr marL="533400" indent="-533400" algn="just" eaLnBrk="1" hangingPunct="1">
              <a:lnSpc>
                <a:spcPct val="80000"/>
              </a:lnSpc>
            </a:pPr>
            <a:r>
              <a:rPr lang="en-US" altLang="en-US" sz="2000">
                <a:latin typeface="Times New Roman" panose="02020603050405020304" pitchFamily="18" charset="0"/>
              </a:rPr>
              <a:t>		int a;</a:t>
            </a:r>
          </a:p>
          <a:p>
            <a:pPr marL="533400" indent="-533400" algn="just" eaLnBrk="1" hangingPunct="1">
              <a:lnSpc>
                <a:spcPct val="80000"/>
              </a:lnSpc>
            </a:pPr>
            <a:r>
              <a:rPr lang="en-US" altLang="en-US" sz="2000">
                <a:latin typeface="Times New Roman" panose="02020603050405020304" pitchFamily="18" charset="0"/>
              </a:rPr>
              <a:t>		public:</a:t>
            </a:r>
          </a:p>
          <a:p>
            <a:pPr marL="533400" indent="-533400" algn="just" eaLnBrk="1" hangingPunct="1">
              <a:lnSpc>
                <a:spcPct val="80000"/>
              </a:lnSpc>
            </a:pPr>
            <a:r>
              <a:rPr lang="en-US" altLang="en-US" sz="2000">
                <a:latin typeface="Times New Roman" panose="02020603050405020304" pitchFamily="18" charset="0"/>
              </a:rPr>
              <a:t>			void get(int i){a=i;}</a:t>
            </a:r>
          </a:p>
          <a:p>
            <a:pPr marL="533400" indent="-533400" algn="just" eaLnBrk="1" hangingPunct="1">
              <a:lnSpc>
                <a:spcPct val="80000"/>
              </a:lnSpc>
            </a:pPr>
            <a:r>
              <a:rPr lang="en-US" altLang="en-US" sz="2000">
                <a:latin typeface="Times New Roman" panose="02020603050405020304" pitchFamily="18" charset="0"/>
              </a:rPr>
              <a:t>			void show(void){cout&lt;&lt;“a=“+a;}</a:t>
            </a:r>
          </a:p>
          <a:p>
            <a:pPr marL="533400" indent="-533400" algn="just" eaLnBrk="1" hangingPunct="1">
              <a:lnSpc>
                <a:spcPct val="80000"/>
              </a:lnSpc>
            </a:pPr>
            <a:r>
              <a:rPr lang="en-US" altLang="en-US" sz="2000">
                <a:latin typeface="Times New Roman" panose="02020603050405020304" pitchFamily="18" charset="0"/>
              </a:rPr>
              <a:t>	};</a:t>
            </a:r>
          </a:p>
          <a:p>
            <a:pPr marL="533400" indent="-533400" algn="just" eaLnBrk="1" hangingPunct="1">
              <a:lnSpc>
                <a:spcPct val="80000"/>
              </a:lnSpc>
            </a:pPr>
            <a:r>
              <a:rPr lang="en-US" altLang="en-US" sz="2000">
                <a:latin typeface="Times New Roman" panose="02020603050405020304" pitchFamily="18" charset="0"/>
              </a:rPr>
              <a:t>A obja;</a:t>
            </a:r>
          </a:p>
          <a:p>
            <a:pPr marL="533400" indent="-533400" algn="just" eaLnBrk="1" hangingPunct="1">
              <a:lnSpc>
                <a:spcPct val="80000"/>
              </a:lnSpc>
            </a:pPr>
            <a:r>
              <a:rPr lang="en-US" altLang="en-US" sz="2000">
                <a:latin typeface="Times New Roman" panose="02020603050405020304" pitchFamily="18" charset="0"/>
              </a:rPr>
              <a:t>A *ptr = &amp;obja;	// ptr is initialized with the address of obja</a:t>
            </a:r>
          </a:p>
          <a:p>
            <a:pPr marL="533400" indent="-533400" algn="just" eaLnBrk="1" hangingPunct="1">
              <a:lnSpc>
                <a:spcPct val="80000"/>
              </a:lnSpc>
              <a:buFontTx/>
              <a:buChar char="•"/>
            </a:pPr>
            <a:r>
              <a:rPr lang="en-US" altLang="en-US" sz="2000">
                <a:latin typeface="Times New Roman" panose="02020603050405020304" pitchFamily="18" charset="0"/>
              </a:rPr>
              <a:t>We can refer to the member functions in 2 ways</a:t>
            </a:r>
          </a:p>
          <a:p>
            <a:pPr marL="914400" lvl="1" indent="-457200" algn="just" eaLnBrk="1" hangingPunct="1">
              <a:lnSpc>
                <a:spcPct val="80000"/>
              </a:lnSpc>
              <a:buFontTx/>
              <a:buAutoNum type="arabicPeriod"/>
            </a:pPr>
            <a:r>
              <a:rPr lang="en-US" altLang="en-US" sz="1800">
                <a:latin typeface="Times New Roman" panose="02020603050405020304" pitchFamily="18" charset="0"/>
              </a:rPr>
              <a:t>Using dot operator and object</a:t>
            </a:r>
          </a:p>
          <a:p>
            <a:pPr marL="1295400" lvl="2" indent="-381000" algn="just" eaLnBrk="1" hangingPunct="1">
              <a:lnSpc>
                <a:spcPct val="80000"/>
              </a:lnSpc>
            </a:pPr>
            <a:r>
              <a:rPr lang="en-US" altLang="en-US" sz="1600">
                <a:latin typeface="Times New Roman" panose="02020603050405020304" pitchFamily="18" charset="0"/>
              </a:rPr>
              <a:t>obja.get(10);</a:t>
            </a:r>
          </a:p>
          <a:p>
            <a:pPr marL="1295400" lvl="2" indent="-381000" algn="just" eaLnBrk="1" hangingPunct="1">
              <a:lnSpc>
                <a:spcPct val="80000"/>
              </a:lnSpc>
            </a:pPr>
            <a:r>
              <a:rPr lang="en-US" altLang="en-US" sz="1600">
                <a:latin typeface="Times New Roman" panose="02020603050405020304" pitchFamily="18" charset="0"/>
              </a:rPr>
              <a:t>obja.show();</a:t>
            </a:r>
          </a:p>
          <a:p>
            <a:pPr marL="914400" lvl="1" indent="-457200" algn="just" eaLnBrk="1" hangingPunct="1">
              <a:lnSpc>
                <a:spcPct val="80000"/>
              </a:lnSpc>
              <a:buFontTx/>
              <a:buAutoNum type="arabicPeriod"/>
            </a:pPr>
            <a:r>
              <a:rPr lang="en-US" altLang="en-US" sz="1800">
                <a:latin typeface="Times New Roman" panose="02020603050405020304" pitchFamily="18" charset="0"/>
              </a:rPr>
              <a:t>Using arrow operator and object pointer</a:t>
            </a:r>
          </a:p>
          <a:p>
            <a:pPr marL="914400" lvl="1" indent="-457200" algn="just" eaLnBrk="1" hangingPunct="1">
              <a:lnSpc>
                <a:spcPct val="80000"/>
              </a:lnSpc>
            </a:pPr>
            <a:r>
              <a:rPr lang="en-US" altLang="en-US" sz="1800">
                <a:latin typeface="Times New Roman" panose="02020603050405020304" pitchFamily="18" charset="0"/>
              </a:rPr>
              <a:t>	ptr-&gt;get(10);</a:t>
            </a:r>
          </a:p>
          <a:p>
            <a:pPr marL="914400" lvl="1" indent="-457200" algn="just" eaLnBrk="1" hangingPunct="1">
              <a:lnSpc>
                <a:spcPct val="80000"/>
              </a:lnSpc>
            </a:pPr>
            <a:r>
              <a:rPr lang="en-US" altLang="en-US" sz="1800">
                <a:latin typeface="Times New Roman" panose="02020603050405020304" pitchFamily="18" charset="0"/>
              </a:rPr>
              <a:t>	ptr-&gt;show();</a:t>
            </a:r>
          </a:p>
          <a:p>
            <a:pPr marL="533400" indent="-533400" algn="just" eaLnBrk="1" hangingPunct="1">
              <a:lnSpc>
                <a:spcPct val="80000"/>
              </a:lnSpc>
              <a:buFontTx/>
              <a:buChar char="–"/>
            </a:pPr>
            <a:r>
              <a:rPr lang="en-US" altLang="en-US" sz="2000">
                <a:latin typeface="Times New Roman" panose="02020603050405020304" pitchFamily="18" charset="0"/>
              </a:rPr>
              <a:t>Since *ptr is alias of obja, we can write as</a:t>
            </a:r>
          </a:p>
          <a:p>
            <a:pPr marL="533400" indent="-533400" algn="just" eaLnBrk="1" hangingPunct="1">
              <a:lnSpc>
                <a:spcPct val="80000"/>
              </a:lnSpc>
            </a:pPr>
            <a:r>
              <a:rPr lang="en-US" altLang="en-US" sz="2000">
                <a:latin typeface="Times New Roman" panose="02020603050405020304" pitchFamily="18" charset="0"/>
              </a:rPr>
              <a:t>		(*ptr).show();</a:t>
            </a:r>
          </a:p>
          <a:p>
            <a:pPr marL="533400" indent="-533400" algn="just" eaLnBrk="1" hangingPunct="1">
              <a:lnSpc>
                <a:spcPct val="80000"/>
              </a:lnSpc>
            </a:pPr>
            <a:r>
              <a:rPr lang="en-US" altLang="en-US" sz="2000">
                <a:latin typeface="Times New Roman" panose="02020603050405020304" pitchFamily="18" charset="0"/>
              </a:rPr>
              <a:t>****( ) is necessary because dot has higher precedence than indirection operator*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38C0BD2-7E6D-0BA8-887B-5D053071E65E}"/>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Pointers to objects</a:t>
            </a:r>
          </a:p>
        </p:txBody>
      </p:sp>
      <p:sp>
        <p:nvSpPr>
          <p:cNvPr id="19459" name="Rectangle 3">
            <a:extLst>
              <a:ext uri="{FF2B5EF4-FFF2-40B4-BE49-F238E27FC236}">
                <a16:creationId xmlns:a16="http://schemas.microsoft.com/office/drawing/2014/main" id="{D1AAA42E-45D7-D80B-78D0-12AE1DEABB31}"/>
              </a:ext>
            </a:extLst>
          </p:cNvPr>
          <p:cNvSpPr>
            <a:spLocks noGrp="1" noChangeArrowheads="1"/>
          </p:cNvSpPr>
          <p:nvPr>
            <p:ph type="subTitle" idx="1"/>
          </p:nvPr>
        </p:nvSpPr>
        <p:spPr>
          <a:xfrm>
            <a:off x="228600" y="609600"/>
            <a:ext cx="8686800" cy="6019800"/>
          </a:xfrm>
        </p:spPr>
        <p:txBody>
          <a:bodyPr/>
          <a:lstStyle/>
          <a:p>
            <a:pPr marL="533400" indent="-533400" algn="just" eaLnBrk="1" hangingPunct="1">
              <a:buFontTx/>
              <a:buChar char="•"/>
            </a:pPr>
            <a:r>
              <a:rPr lang="en-US" altLang="en-US">
                <a:latin typeface="Times New Roman" panose="02020603050405020304" pitchFamily="18" charset="0"/>
              </a:rPr>
              <a:t>Creating the objects using pointers and new operator</a:t>
            </a:r>
          </a:p>
          <a:p>
            <a:pPr marL="533400" indent="-533400" algn="just" eaLnBrk="1" hangingPunct="1"/>
            <a:r>
              <a:rPr lang="en-US" altLang="en-US">
                <a:latin typeface="Times New Roman" panose="02020603050405020304" pitchFamily="18" charset="0"/>
              </a:rPr>
              <a:t>	A *ptr = new A;</a:t>
            </a:r>
          </a:p>
          <a:p>
            <a:pPr marL="533400" indent="-533400" algn="just" eaLnBrk="1" hangingPunct="1">
              <a:buFontTx/>
              <a:buChar char="•"/>
            </a:pPr>
            <a:r>
              <a:rPr lang="en-US" altLang="en-US">
                <a:latin typeface="Times New Roman" panose="02020603050405020304" pitchFamily="18" charset="0"/>
              </a:rPr>
              <a:t>Allocates enough memory for the data members in the object structure and assigns address to ptr</a:t>
            </a:r>
          </a:p>
          <a:p>
            <a:pPr marL="533400" indent="-533400" algn="just" eaLnBrk="1" hangingPunct="1">
              <a:buFontTx/>
              <a:buChar char="•"/>
            </a:pPr>
            <a:r>
              <a:rPr lang="en-US" altLang="en-US">
                <a:latin typeface="Times New Roman" panose="02020603050405020304" pitchFamily="18" charset="0"/>
              </a:rPr>
              <a:t>Creating array of objects using pointers</a:t>
            </a:r>
          </a:p>
          <a:p>
            <a:pPr marL="533400" indent="-533400" algn="just" eaLnBrk="1" hangingPunct="1"/>
            <a:r>
              <a:rPr lang="en-US" altLang="en-US">
                <a:latin typeface="Times New Roman" panose="02020603050405020304" pitchFamily="18" charset="0"/>
              </a:rPr>
              <a:t>	A *ptr =  new A[10];	//array of 10 objects</a:t>
            </a:r>
          </a:p>
          <a:p>
            <a:pPr marL="533400" indent="-533400" algn="just" eaLnBrk="1" hangingPunct="1"/>
            <a:r>
              <a:rPr lang="en-US" altLang="en-US">
                <a:latin typeface="Times New Roman" panose="02020603050405020304" pitchFamily="18" charset="0"/>
              </a:rPr>
              <a:t>	ptr-&gt;show(); //call 0 object show method</a:t>
            </a:r>
          </a:p>
          <a:p>
            <a:pPr marL="533400" indent="-533400" algn="just" eaLnBrk="1" hangingPunct="1"/>
            <a:r>
              <a:rPr lang="en-US" altLang="en-US">
                <a:latin typeface="Times New Roman" panose="02020603050405020304" pitchFamily="18" charset="0"/>
              </a:rPr>
              <a:t>	ptr++;</a:t>
            </a:r>
          </a:p>
          <a:p>
            <a:pPr marL="533400" indent="-533400" algn="just" eaLnBrk="1" hangingPunct="1"/>
            <a:r>
              <a:rPr lang="en-US" altLang="en-US">
                <a:latin typeface="Times New Roman" panose="02020603050405020304" pitchFamily="18" charset="0"/>
              </a:rPr>
              <a:t>	ptr-&gt;show();	//call 1 object show method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C5B2DE2-DA9A-ADAE-3413-540C9C2A1CD4}"/>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Pointers to derived classes</a:t>
            </a:r>
          </a:p>
        </p:txBody>
      </p:sp>
      <p:sp>
        <p:nvSpPr>
          <p:cNvPr id="20483" name="Rectangle 3">
            <a:extLst>
              <a:ext uri="{FF2B5EF4-FFF2-40B4-BE49-F238E27FC236}">
                <a16:creationId xmlns:a16="http://schemas.microsoft.com/office/drawing/2014/main" id="{85817567-7932-F9C5-EE6E-F55F53EA2698}"/>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90000"/>
              </a:lnSpc>
              <a:buFontTx/>
              <a:buChar char="•"/>
            </a:pPr>
            <a:r>
              <a:rPr lang="en-US" altLang="en-US" sz="2400">
                <a:latin typeface="Times New Roman" panose="02020603050405020304" pitchFamily="18" charset="0"/>
              </a:rPr>
              <a:t>Pointers to objects of a base class are type-compatible with pointers to objects of a derived class</a:t>
            </a:r>
          </a:p>
          <a:p>
            <a:pPr marL="533400" indent="-533400" algn="just" eaLnBrk="1" hangingPunct="1">
              <a:lnSpc>
                <a:spcPct val="90000"/>
              </a:lnSpc>
              <a:buFontTx/>
              <a:buChar char="•"/>
            </a:pPr>
            <a:r>
              <a:rPr lang="en-US" altLang="en-US" sz="2400">
                <a:latin typeface="Times New Roman" panose="02020603050405020304" pitchFamily="18" charset="0"/>
              </a:rPr>
              <a:t>A single pointer variable can be made to point to objects belonging to different classes</a:t>
            </a:r>
          </a:p>
          <a:p>
            <a:pPr marL="533400" indent="-533400" algn="just" eaLnBrk="1" hangingPunct="1">
              <a:lnSpc>
                <a:spcPct val="90000"/>
              </a:lnSpc>
            </a:pPr>
            <a:r>
              <a:rPr lang="en-US" altLang="en-US" sz="2400">
                <a:latin typeface="Times New Roman" panose="02020603050405020304" pitchFamily="18" charset="0"/>
              </a:rPr>
              <a:t>Eg:</a:t>
            </a:r>
          </a:p>
          <a:p>
            <a:pPr marL="533400" indent="-533400" algn="just" eaLnBrk="1" hangingPunct="1">
              <a:lnSpc>
                <a:spcPct val="90000"/>
              </a:lnSpc>
            </a:pPr>
            <a:r>
              <a:rPr lang="en-US" altLang="en-US" sz="2400">
                <a:latin typeface="Times New Roman" panose="02020603050405020304" pitchFamily="18" charset="0"/>
              </a:rPr>
              <a:t>	B base class</a:t>
            </a:r>
          </a:p>
          <a:p>
            <a:pPr marL="533400" indent="-533400" algn="just" eaLnBrk="1" hangingPunct="1">
              <a:lnSpc>
                <a:spcPct val="90000"/>
              </a:lnSpc>
            </a:pPr>
            <a:r>
              <a:rPr lang="en-US" altLang="en-US" sz="2400">
                <a:latin typeface="Times New Roman" panose="02020603050405020304" pitchFamily="18" charset="0"/>
              </a:rPr>
              <a:t>	D derived class with B as base class</a:t>
            </a:r>
          </a:p>
          <a:p>
            <a:pPr marL="533400" indent="-533400" algn="just" eaLnBrk="1" hangingPunct="1">
              <a:lnSpc>
                <a:spcPct val="90000"/>
              </a:lnSpc>
            </a:pPr>
            <a:r>
              <a:rPr lang="en-US" altLang="en-US" sz="2400">
                <a:latin typeface="Times New Roman" panose="02020603050405020304" pitchFamily="18" charset="0"/>
              </a:rPr>
              <a:t>	B b;		//base object</a:t>
            </a:r>
          </a:p>
          <a:p>
            <a:pPr marL="533400" indent="-533400" algn="just" eaLnBrk="1" hangingPunct="1">
              <a:lnSpc>
                <a:spcPct val="90000"/>
              </a:lnSpc>
            </a:pPr>
            <a:r>
              <a:rPr lang="en-US" altLang="en-US" sz="2400">
                <a:latin typeface="Times New Roman" panose="02020603050405020304" pitchFamily="18" charset="0"/>
              </a:rPr>
              <a:t>	D d;		//derived object</a:t>
            </a:r>
          </a:p>
          <a:p>
            <a:pPr marL="533400" indent="-533400" algn="just" eaLnBrk="1" hangingPunct="1">
              <a:lnSpc>
                <a:spcPct val="90000"/>
              </a:lnSpc>
            </a:pPr>
            <a:r>
              <a:rPr lang="en-US" altLang="en-US" sz="2400">
                <a:latin typeface="Times New Roman" panose="02020603050405020304" pitchFamily="18" charset="0"/>
              </a:rPr>
              <a:t>	B *bptr;		//base pointer</a:t>
            </a:r>
          </a:p>
          <a:p>
            <a:pPr marL="533400" indent="-533400" algn="just" eaLnBrk="1" hangingPunct="1">
              <a:lnSpc>
                <a:spcPct val="90000"/>
              </a:lnSpc>
            </a:pPr>
            <a:r>
              <a:rPr lang="en-US" altLang="en-US" sz="2400">
                <a:latin typeface="Times New Roman" panose="02020603050405020304" pitchFamily="18" charset="0"/>
              </a:rPr>
              <a:t>	bptr = &amp;d;	//base pointer points to derived object</a:t>
            </a:r>
          </a:p>
          <a:p>
            <a:pPr marL="533400" indent="-533400" algn="just" eaLnBrk="1" hangingPunct="1">
              <a:lnSpc>
                <a:spcPct val="90000"/>
              </a:lnSpc>
            </a:pPr>
            <a:r>
              <a:rPr lang="en-US" altLang="en-US" sz="2400">
                <a:latin typeface="Times New Roman" panose="02020603050405020304" pitchFamily="18" charset="0"/>
              </a:rPr>
              <a:t>***1. using bptr we can access only those members which are inherited from B and not members that originally belongs to D</a:t>
            </a:r>
          </a:p>
          <a:p>
            <a:pPr marL="533400" indent="-533400" algn="just" eaLnBrk="1" hangingPunct="1">
              <a:lnSpc>
                <a:spcPct val="90000"/>
              </a:lnSpc>
            </a:pPr>
            <a:r>
              <a:rPr lang="en-US" altLang="en-US" sz="2400">
                <a:latin typeface="Times New Roman" panose="02020603050405020304" pitchFamily="18" charset="0"/>
              </a:rPr>
              <a:t>	2. if B and D has same name member, then bptr will always access the base class member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3939A480-3D92-4CB8-765E-F701641E4095}"/>
              </a:ext>
            </a:extLst>
          </p:cNvPr>
          <p:cNvSpPr>
            <a:spLocks noGrp="1" noChangeArrowheads="1"/>
          </p:cNvSpPr>
          <p:nvPr>
            <p:ph type="subTitle" idx="1"/>
          </p:nvPr>
        </p:nvSpPr>
        <p:spPr>
          <a:xfrm>
            <a:off x="228600" y="152400"/>
            <a:ext cx="8686800" cy="6477000"/>
          </a:xfrm>
        </p:spPr>
        <p:txBody>
          <a:bodyPr/>
          <a:lstStyle/>
          <a:p>
            <a:pPr marL="533400" indent="-533400" algn="l" eaLnBrk="1" hangingPunct="1">
              <a:lnSpc>
                <a:spcPct val="80000"/>
              </a:lnSpc>
            </a:pPr>
            <a:r>
              <a:rPr lang="en-US" altLang="en-US" sz="2800"/>
              <a:t>#include &lt;iostream&gt;</a:t>
            </a:r>
          </a:p>
          <a:p>
            <a:pPr marL="533400" indent="-533400" algn="l" eaLnBrk="1" hangingPunct="1">
              <a:lnSpc>
                <a:spcPct val="80000"/>
              </a:lnSpc>
            </a:pPr>
            <a:r>
              <a:rPr lang="en-US" altLang="en-US" sz="2800"/>
              <a:t>using namespace std;</a:t>
            </a:r>
          </a:p>
          <a:p>
            <a:pPr marL="533400" indent="-533400" algn="l" eaLnBrk="1" hangingPunct="1">
              <a:lnSpc>
                <a:spcPct val="80000"/>
              </a:lnSpc>
            </a:pPr>
            <a:r>
              <a:rPr lang="en-US" altLang="en-US" sz="2800"/>
              <a:t>class B</a:t>
            </a:r>
          </a:p>
          <a:p>
            <a:pPr marL="533400" indent="-533400" algn="l" eaLnBrk="1" hangingPunct="1">
              <a:lnSpc>
                <a:spcPct val="80000"/>
              </a:lnSpc>
            </a:pPr>
            <a:r>
              <a:rPr lang="en-US" altLang="en-US" sz="2800"/>
              <a:t>{</a:t>
            </a:r>
          </a:p>
          <a:p>
            <a:pPr marL="533400" indent="-533400" algn="l" eaLnBrk="1" hangingPunct="1">
              <a:lnSpc>
                <a:spcPct val="80000"/>
              </a:lnSpc>
            </a:pPr>
            <a:r>
              <a:rPr lang="en-US" altLang="en-US" sz="2800"/>
              <a:t>	public:</a:t>
            </a:r>
          </a:p>
          <a:p>
            <a:pPr marL="533400" indent="-533400" algn="l" eaLnBrk="1" hangingPunct="1">
              <a:lnSpc>
                <a:spcPct val="80000"/>
              </a:lnSpc>
            </a:pPr>
            <a:r>
              <a:rPr lang="en-US" altLang="en-US" sz="2800"/>
              <a:t>		int b;</a:t>
            </a:r>
          </a:p>
          <a:p>
            <a:pPr marL="533400" indent="-533400" algn="l" eaLnBrk="1" hangingPunct="1">
              <a:lnSpc>
                <a:spcPct val="80000"/>
              </a:lnSpc>
            </a:pPr>
            <a:r>
              <a:rPr lang="en-US" altLang="en-US" sz="2800"/>
              <a:t>		void show(void) {cout &lt;&lt;"b="&lt;&lt;b&lt;&lt;"\n";}</a:t>
            </a:r>
          </a:p>
          <a:p>
            <a:pPr marL="533400" indent="-533400" algn="l" eaLnBrk="1" hangingPunct="1">
              <a:lnSpc>
                <a:spcPct val="80000"/>
              </a:lnSpc>
            </a:pPr>
            <a:r>
              <a:rPr lang="en-US" altLang="en-US" sz="2800"/>
              <a:t>};</a:t>
            </a:r>
          </a:p>
          <a:p>
            <a:pPr marL="533400" indent="-533400" algn="l" eaLnBrk="1" hangingPunct="1">
              <a:lnSpc>
                <a:spcPct val="80000"/>
              </a:lnSpc>
            </a:pPr>
            <a:r>
              <a:rPr lang="en-US" altLang="en-US" sz="2800"/>
              <a:t>class D : public B</a:t>
            </a:r>
          </a:p>
          <a:p>
            <a:pPr marL="533400" indent="-533400" algn="l" eaLnBrk="1" hangingPunct="1">
              <a:lnSpc>
                <a:spcPct val="80000"/>
              </a:lnSpc>
            </a:pPr>
            <a:r>
              <a:rPr lang="en-US" altLang="en-US" sz="2800"/>
              <a:t>{</a:t>
            </a:r>
          </a:p>
          <a:p>
            <a:pPr marL="533400" indent="-533400" algn="l" eaLnBrk="1" hangingPunct="1">
              <a:lnSpc>
                <a:spcPct val="80000"/>
              </a:lnSpc>
            </a:pPr>
            <a:r>
              <a:rPr lang="en-US" altLang="en-US" sz="2800"/>
              <a:t>	public:</a:t>
            </a:r>
          </a:p>
          <a:p>
            <a:pPr marL="533400" indent="-533400" algn="l" eaLnBrk="1" hangingPunct="1">
              <a:lnSpc>
                <a:spcPct val="80000"/>
              </a:lnSpc>
            </a:pPr>
            <a:r>
              <a:rPr lang="en-US" altLang="en-US" sz="2800"/>
              <a:t>		int d;</a:t>
            </a:r>
          </a:p>
          <a:p>
            <a:pPr marL="533400" indent="-533400" algn="l" eaLnBrk="1" hangingPunct="1">
              <a:lnSpc>
                <a:spcPct val="80000"/>
              </a:lnSpc>
            </a:pPr>
            <a:r>
              <a:rPr lang="en-US" altLang="en-US" sz="2800"/>
              <a:t>		void show(void) {cout &lt;&lt;"b="&lt;&lt;b&lt;&lt;"\n";cout &lt;&lt;"d="&lt;&lt;d&lt;&lt;"\n";}</a:t>
            </a:r>
          </a:p>
          <a:p>
            <a:pPr marL="533400" indent="-533400" algn="l" eaLnBrk="1" hangingPunct="1">
              <a:lnSpc>
                <a:spcPct val="80000"/>
              </a:lnSpc>
            </a:pPr>
            <a:r>
              <a:rPr lang="en-US" altLang="en-US" sz="280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86096AF-0386-20B8-7D87-707111DAEED7}"/>
              </a:ext>
            </a:extLst>
          </p:cNvPr>
          <p:cNvSpPr>
            <a:spLocks noGrp="1" noChangeArrowheads="1"/>
          </p:cNvSpPr>
          <p:nvPr>
            <p:ph type="subTitle" idx="1"/>
          </p:nvPr>
        </p:nvSpPr>
        <p:spPr>
          <a:xfrm>
            <a:off x="228600" y="152400"/>
            <a:ext cx="8686800" cy="6477000"/>
          </a:xfrm>
        </p:spPr>
        <p:txBody>
          <a:bodyPr/>
          <a:lstStyle/>
          <a:p>
            <a:pPr marL="533400" indent="-533400" algn="l" eaLnBrk="1" hangingPunct="1">
              <a:lnSpc>
                <a:spcPct val="80000"/>
              </a:lnSpc>
            </a:pPr>
            <a:r>
              <a:rPr lang="en-US" altLang="en-US" sz="2000"/>
              <a:t>int main()</a:t>
            </a:r>
          </a:p>
          <a:p>
            <a:pPr marL="533400" indent="-533400" algn="l" eaLnBrk="1" hangingPunct="1">
              <a:lnSpc>
                <a:spcPct val="80000"/>
              </a:lnSpc>
            </a:pPr>
            <a:r>
              <a:rPr lang="en-US" altLang="en-US" sz="2000"/>
              <a:t>{</a:t>
            </a:r>
          </a:p>
          <a:p>
            <a:pPr marL="533400" indent="-533400" algn="l" eaLnBrk="1" hangingPunct="1">
              <a:lnSpc>
                <a:spcPct val="80000"/>
              </a:lnSpc>
            </a:pPr>
            <a:r>
              <a:rPr lang="en-US" altLang="en-US" sz="2000"/>
              <a:t>	B b;</a:t>
            </a:r>
          </a:p>
          <a:p>
            <a:pPr marL="533400" indent="-533400" algn="l" eaLnBrk="1" hangingPunct="1">
              <a:lnSpc>
                <a:spcPct val="80000"/>
              </a:lnSpc>
            </a:pPr>
            <a:r>
              <a:rPr lang="en-US" altLang="en-US" sz="2000"/>
              <a:t>	D d;</a:t>
            </a:r>
          </a:p>
          <a:p>
            <a:pPr marL="533400" indent="-533400" algn="l" eaLnBrk="1" hangingPunct="1">
              <a:lnSpc>
                <a:spcPct val="80000"/>
              </a:lnSpc>
            </a:pPr>
            <a:r>
              <a:rPr lang="en-US" altLang="en-US" sz="2000"/>
              <a:t>	B *bptr = &amp;b;</a:t>
            </a:r>
          </a:p>
          <a:p>
            <a:pPr marL="533400" indent="-533400" algn="l" eaLnBrk="1" hangingPunct="1">
              <a:lnSpc>
                <a:spcPct val="80000"/>
              </a:lnSpc>
            </a:pPr>
            <a:r>
              <a:rPr lang="en-US" altLang="en-US" sz="2000"/>
              <a:t>	bptr-&gt;b = 10;</a:t>
            </a:r>
          </a:p>
          <a:p>
            <a:pPr marL="533400" indent="-533400" algn="l" eaLnBrk="1" hangingPunct="1">
              <a:lnSpc>
                <a:spcPct val="80000"/>
              </a:lnSpc>
            </a:pPr>
            <a:r>
              <a:rPr lang="en-US" altLang="en-US" sz="2000"/>
              <a:t>	</a:t>
            </a:r>
            <a:r>
              <a:rPr lang="en-US" altLang="en-US" sz="2000">
                <a:solidFill>
                  <a:schemeClr val="accent2"/>
                </a:solidFill>
              </a:rPr>
              <a:t>cout&lt;&lt;"using bptr and base object\n";</a:t>
            </a:r>
          </a:p>
          <a:p>
            <a:pPr marL="533400" indent="-533400" algn="l" eaLnBrk="1" hangingPunct="1">
              <a:lnSpc>
                <a:spcPct val="80000"/>
              </a:lnSpc>
            </a:pPr>
            <a:r>
              <a:rPr lang="en-US" altLang="en-US" sz="2000"/>
              <a:t>	bptr-&gt;show();	//calls B's show method</a:t>
            </a:r>
          </a:p>
          <a:p>
            <a:pPr marL="533400" indent="-533400" algn="l" eaLnBrk="1" hangingPunct="1">
              <a:lnSpc>
                <a:spcPct val="80000"/>
              </a:lnSpc>
            </a:pPr>
            <a:r>
              <a:rPr lang="en-US" altLang="en-US" sz="2000"/>
              <a:t>	</a:t>
            </a:r>
            <a:r>
              <a:rPr lang="en-US" altLang="en-US" sz="2000">
                <a:solidFill>
                  <a:schemeClr val="accent2"/>
                </a:solidFill>
              </a:rPr>
              <a:t>cout &lt;&lt;"using bptr and derived object\n";</a:t>
            </a:r>
          </a:p>
          <a:p>
            <a:pPr marL="533400" indent="-533400" algn="l" eaLnBrk="1" hangingPunct="1">
              <a:lnSpc>
                <a:spcPct val="80000"/>
              </a:lnSpc>
            </a:pPr>
            <a:r>
              <a:rPr lang="en-US" altLang="en-US" sz="2000"/>
              <a:t>	bptr = &amp;d;</a:t>
            </a:r>
          </a:p>
          <a:p>
            <a:pPr marL="533400" indent="-533400" algn="l" eaLnBrk="1" hangingPunct="1">
              <a:lnSpc>
                <a:spcPct val="80000"/>
              </a:lnSpc>
            </a:pPr>
            <a:r>
              <a:rPr lang="en-US" altLang="en-US" sz="2000"/>
              <a:t>	bptr-&gt;b = 20;	//access d object via bptr</a:t>
            </a:r>
          </a:p>
          <a:p>
            <a:pPr marL="533400" indent="-533400" algn="l" eaLnBrk="1" hangingPunct="1">
              <a:lnSpc>
                <a:spcPct val="80000"/>
              </a:lnSpc>
            </a:pPr>
            <a:r>
              <a:rPr lang="en-US" altLang="en-US" sz="2000"/>
              <a:t>	</a:t>
            </a:r>
            <a:r>
              <a:rPr lang="en-US" altLang="en-US" sz="2000">
                <a:solidFill>
                  <a:srgbClr val="CC3300"/>
                </a:solidFill>
              </a:rPr>
              <a:t>/*bptr-&gt;d = 100*/ //will not work</a:t>
            </a:r>
          </a:p>
          <a:p>
            <a:pPr marL="533400" indent="-533400" algn="l" eaLnBrk="1" hangingPunct="1">
              <a:lnSpc>
                <a:spcPct val="80000"/>
              </a:lnSpc>
            </a:pPr>
            <a:r>
              <a:rPr lang="en-US" altLang="en-US" sz="2000"/>
              <a:t>	bptr-&gt;show();	//calls B's show method</a:t>
            </a:r>
          </a:p>
          <a:p>
            <a:pPr marL="533400" indent="-533400" algn="l" eaLnBrk="1" hangingPunct="1">
              <a:lnSpc>
                <a:spcPct val="80000"/>
              </a:lnSpc>
            </a:pPr>
            <a:r>
              <a:rPr lang="en-US" altLang="en-US" sz="2000"/>
              <a:t>	</a:t>
            </a:r>
            <a:r>
              <a:rPr lang="en-US" altLang="en-US" sz="2000">
                <a:solidFill>
                  <a:schemeClr val="accent2"/>
                </a:solidFill>
              </a:rPr>
              <a:t>cout &lt;&lt;"using dptr and derived object\n";</a:t>
            </a:r>
          </a:p>
          <a:p>
            <a:pPr marL="533400" indent="-533400" algn="l" eaLnBrk="1" hangingPunct="1">
              <a:lnSpc>
                <a:spcPct val="80000"/>
              </a:lnSpc>
            </a:pPr>
            <a:r>
              <a:rPr lang="en-US" altLang="en-US" sz="2000"/>
              <a:t>	D *dptr = &amp;d;</a:t>
            </a:r>
          </a:p>
          <a:p>
            <a:pPr marL="533400" indent="-533400" algn="l" eaLnBrk="1" hangingPunct="1">
              <a:lnSpc>
                <a:spcPct val="80000"/>
              </a:lnSpc>
            </a:pPr>
            <a:r>
              <a:rPr lang="en-US" altLang="en-US" sz="2000"/>
              <a:t>	dptr-&gt;d=100;</a:t>
            </a:r>
          </a:p>
          <a:p>
            <a:pPr marL="533400" indent="-533400" algn="l" eaLnBrk="1" hangingPunct="1">
              <a:lnSpc>
                <a:spcPct val="80000"/>
              </a:lnSpc>
            </a:pPr>
            <a:r>
              <a:rPr lang="en-US" altLang="en-US" sz="2000"/>
              <a:t>	dptr-&gt;show();</a:t>
            </a:r>
          </a:p>
          <a:p>
            <a:pPr marL="533400" indent="-533400" algn="l" eaLnBrk="1" hangingPunct="1">
              <a:lnSpc>
                <a:spcPct val="80000"/>
              </a:lnSpc>
            </a:pPr>
            <a:r>
              <a:rPr lang="en-US" altLang="en-US" sz="2000"/>
              <a:t>	</a:t>
            </a:r>
            <a:r>
              <a:rPr lang="en-US" altLang="en-US" sz="2000">
                <a:solidFill>
                  <a:schemeClr val="accent2"/>
                </a:solidFill>
              </a:rPr>
              <a:t>cout &lt;&lt;"using (D *)bptr\n";</a:t>
            </a:r>
          </a:p>
          <a:p>
            <a:pPr marL="533400" indent="-533400" algn="l" eaLnBrk="1" hangingPunct="1">
              <a:lnSpc>
                <a:spcPct val="80000"/>
              </a:lnSpc>
            </a:pPr>
            <a:r>
              <a:rPr lang="en-US" altLang="en-US" sz="2000"/>
              <a:t>	((D *)bptr) -&gt; d=200;</a:t>
            </a:r>
          </a:p>
          <a:p>
            <a:pPr marL="533400" indent="-533400" algn="l" eaLnBrk="1" hangingPunct="1">
              <a:lnSpc>
                <a:spcPct val="80000"/>
              </a:lnSpc>
            </a:pPr>
            <a:r>
              <a:rPr lang="en-US" altLang="en-US" sz="2000"/>
              <a:t>	((D *)bptr) -&gt; show();</a:t>
            </a:r>
          </a:p>
          <a:p>
            <a:pPr marL="533400" indent="-533400" algn="l" eaLnBrk="1" hangingPunct="1">
              <a:lnSpc>
                <a:spcPct val="80000"/>
              </a:lnSpc>
            </a:pPr>
            <a:r>
              <a:rPr lang="en-US" altLang="en-US" sz="2000"/>
              <a:t>	return 0;</a:t>
            </a:r>
          </a:p>
          <a:p>
            <a:pPr marL="533400" indent="-533400" algn="l" eaLnBrk="1" hangingPunct="1">
              <a:lnSpc>
                <a:spcPct val="80000"/>
              </a:lnSpc>
            </a:pPr>
            <a:r>
              <a:rPr lang="en-US" altLang="en-US" sz="200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26B3299-5E6F-268C-A0AD-5DA4926486FC}"/>
              </a:ext>
            </a:extLst>
          </p:cNvPr>
          <p:cNvSpPr>
            <a:spLocks noGrp="1" noChangeArrowheads="1"/>
          </p:cNvSpPr>
          <p:nvPr>
            <p:ph type="subTitle" idx="1"/>
          </p:nvPr>
        </p:nvSpPr>
        <p:spPr>
          <a:xfrm>
            <a:off x="228600" y="152400"/>
            <a:ext cx="8686800" cy="6477000"/>
          </a:xfrm>
        </p:spPr>
        <p:txBody>
          <a:bodyPr/>
          <a:lstStyle/>
          <a:p>
            <a:pPr marL="533400" indent="-533400" algn="l" eaLnBrk="1" hangingPunct="1"/>
            <a:r>
              <a:rPr lang="en-US" altLang="en-US"/>
              <a:t>Output:</a:t>
            </a:r>
          </a:p>
          <a:p>
            <a:pPr marL="533400" indent="-533400" algn="l" eaLnBrk="1" hangingPunct="1"/>
            <a:r>
              <a:rPr lang="en-US" altLang="en-US"/>
              <a:t>	</a:t>
            </a:r>
            <a:r>
              <a:rPr lang="en-US" altLang="en-US">
                <a:solidFill>
                  <a:schemeClr val="accent2"/>
                </a:solidFill>
              </a:rPr>
              <a:t>using bptr and base object</a:t>
            </a:r>
          </a:p>
          <a:p>
            <a:pPr marL="533400" indent="-533400" algn="l" eaLnBrk="1" hangingPunct="1"/>
            <a:r>
              <a:rPr lang="en-US" altLang="en-US"/>
              <a:t>	b =10</a:t>
            </a:r>
          </a:p>
          <a:p>
            <a:pPr marL="533400" indent="-533400" algn="l" eaLnBrk="1" hangingPunct="1"/>
            <a:r>
              <a:rPr lang="en-US" altLang="en-US"/>
              <a:t>	</a:t>
            </a:r>
            <a:r>
              <a:rPr lang="en-US" altLang="en-US">
                <a:solidFill>
                  <a:schemeClr val="accent2"/>
                </a:solidFill>
              </a:rPr>
              <a:t>using bptr and derived object</a:t>
            </a:r>
          </a:p>
          <a:p>
            <a:pPr marL="533400" indent="-533400" algn="l" eaLnBrk="1" hangingPunct="1"/>
            <a:r>
              <a:rPr lang="en-US" altLang="en-US"/>
              <a:t>	b = 20</a:t>
            </a:r>
          </a:p>
          <a:p>
            <a:pPr marL="533400" indent="-533400" algn="l" eaLnBrk="1" hangingPunct="1"/>
            <a:r>
              <a:rPr lang="en-US" altLang="en-US">
                <a:solidFill>
                  <a:schemeClr val="accent2"/>
                </a:solidFill>
              </a:rPr>
              <a:t>	using dptr and derived object</a:t>
            </a:r>
          </a:p>
          <a:p>
            <a:pPr marL="533400" indent="-533400" algn="l" eaLnBrk="1" hangingPunct="1"/>
            <a:r>
              <a:rPr lang="en-US" altLang="en-US"/>
              <a:t>	b = 20	</a:t>
            </a:r>
          </a:p>
          <a:p>
            <a:pPr marL="533400" indent="-533400" algn="l" eaLnBrk="1" hangingPunct="1"/>
            <a:r>
              <a:rPr lang="en-US" altLang="en-US"/>
              <a:t>	d=100</a:t>
            </a:r>
          </a:p>
          <a:p>
            <a:pPr marL="533400" indent="-533400" algn="l" eaLnBrk="1" hangingPunct="1"/>
            <a:r>
              <a:rPr lang="en-US" altLang="en-US">
                <a:solidFill>
                  <a:schemeClr val="accent2"/>
                </a:solidFill>
              </a:rPr>
              <a:t>	using (D *)bptr</a:t>
            </a:r>
          </a:p>
          <a:p>
            <a:pPr marL="533400" indent="-533400" algn="l" eaLnBrk="1" hangingPunct="1"/>
            <a:r>
              <a:rPr lang="en-US" altLang="en-US"/>
              <a:t>	b = 20	</a:t>
            </a:r>
          </a:p>
          <a:p>
            <a:pPr marL="533400" indent="-533400" algn="l" eaLnBrk="1" hangingPunct="1"/>
            <a:r>
              <a:rPr lang="en-US" altLang="en-US"/>
              <a:t>	d=200;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CD7428B-02A8-A6F2-0ED5-F8429F71E189}"/>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Virtual functions</a:t>
            </a:r>
          </a:p>
        </p:txBody>
      </p:sp>
      <p:sp>
        <p:nvSpPr>
          <p:cNvPr id="24579" name="Rectangle 3">
            <a:extLst>
              <a:ext uri="{FF2B5EF4-FFF2-40B4-BE49-F238E27FC236}">
                <a16:creationId xmlns:a16="http://schemas.microsoft.com/office/drawing/2014/main" id="{9B62F5B9-503C-B88D-9462-B6F84296B37E}"/>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90000"/>
              </a:lnSpc>
              <a:buFontTx/>
              <a:buChar char="•"/>
            </a:pPr>
            <a:r>
              <a:rPr lang="en-US" altLang="en-US" sz="2400">
                <a:latin typeface="Times New Roman" panose="02020603050405020304" pitchFamily="18" charset="0"/>
              </a:rPr>
              <a:t>We used base pointer to refer to the objects of derived class objects</a:t>
            </a:r>
          </a:p>
          <a:p>
            <a:pPr marL="533400" indent="-533400" algn="just" eaLnBrk="1" hangingPunct="1">
              <a:lnSpc>
                <a:spcPct val="90000"/>
              </a:lnSpc>
              <a:buFontTx/>
              <a:buChar char="•"/>
            </a:pPr>
            <a:r>
              <a:rPr lang="en-US" altLang="en-US" sz="2400">
                <a:latin typeface="Times New Roman" panose="02020603050405020304" pitchFamily="18" charset="0"/>
              </a:rPr>
              <a:t>But we are able to access parts of the base class only</a:t>
            </a:r>
          </a:p>
          <a:p>
            <a:pPr marL="533400" indent="-533400" algn="just" eaLnBrk="1" hangingPunct="1">
              <a:lnSpc>
                <a:spcPct val="90000"/>
              </a:lnSpc>
              <a:buFontTx/>
              <a:buChar char="•"/>
            </a:pPr>
            <a:r>
              <a:rPr lang="en-US" altLang="en-US" sz="2400">
                <a:latin typeface="Times New Roman" panose="02020603050405020304" pitchFamily="18" charset="0"/>
              </a:rPr>
              <a:t>The compiler simply ignores the contents of the pointer and chooses the member function that mathces the type of the pointer</a:t>
            </a:r>
          </a:p>
          <a:p>
            <a:pPr marL="533400" indent="-533400" algn="just" eaLnBrk="1" hangingPunct="1">
              <a:lnSpc>
                <a:spcPct val="90000"/>
              </a:lnSpc>
              <a:buFontTx/>
              <a:buChar char="•"/>
            </a:pPr>
            <a:r>
              <a:rPr lang="en-US" altLang="en-US" sz="2400">
                <a:latin typeface="Times New Roman" panose="02020603050405020304" pitchFamily="18" charset="0"/>
              </a:rPr>
              <a:t>How do we then achieve polymorphism?</a:t>
            </a:r>
          </a:p>
          <a:p>
            <a:pPr marL="533400" indent="-533400" algn="just" eaLnBrk="1" hangingPunct="1">
              <a:lnSpc>
                <a:spcPct val="90000"/>
              </a:lnSpc>
              <a:buFontTx/>
              <a:buChar char="•"/>
            </a:pPr>
            <a:r>
              <a:rPr lang="en-US" altLang="en-US" sz="2400">
                <a:latin typeface="Times New Roman" panose="02020603050405020304" pitchFamily="18" charset="0"/>
              </a:rPr>
              <a:t>Using virtual functions we can achieve</a:t>
            </a:r>
          </a:p>
          <a:p>
            <a:pPr marL="533400" indent="-533400" algn="just" eaLnBrk="1" hangingPunct="1">
              <a:lnSpc>
                <a:spcPct val="90000"/>
              </a:lnSpc>
              <a:buFontTx/>
              <a:buChar char="•"/>
            </a:pPr>
            <a:r>
              <a:rPr lang="en-US" altLang="en-US" sz="2400">
                <a:latin typeface="Times New Roman" panose="02020603050405020304" pitchFamily="18" charset="0"/>
              </a:rPr>
              <a:t>When we use the same function name in both the base and derived classes, the function in base class is declared as virtual using virtual keyword preceding its normal declaration</a:t>
            </a:r>
          </a:p>
          <a:p>
            <a:pPr marL="533400" indent="-533400" algn="just" eaLnBrk="1" hangingPunct="1">
              <a:lnSpc>
                <a:spcPct val="90000"/>
              </a:lnSpc>
              <a:buFontTx/>
              <a:buChar char="•"/>
            </a:pPr>
            <a:r>
              <a:rPr lang="en-US" altLang="en-US" sz="2400">
                <a:latin typeface="Times New Roman" panose="02020603050405020304" pitchFamily="18" charset="0"/>
              </a:rPr>
              <a:t>Then c++ determines which function to use at run time based on the type of object pointed to by the base pointer, rather than type of the pointer</a:t>
            </a:r>
          </a:p>
          <a:p>
            <a:pPr marL="533400" indent="-533400" algn="just" eaLnBrk="1" hangingPunct="1">
              <a:lnSpc>
                <a:spcPct val="90000"/>
              </a:lnSpc>
              <a:buFontTx/>
              <a:buChar char="•"/>
            </a:pPr>
            <a:r>
              <a:rPr lang="en-US" altLang="en-US" sz="2400">
                <a:latin typeface="Times New Roman" panose="02020603050405020304" pitchFamily="18" charset="0"/>
              </a:rPr>
              <a:t>We can execute different versions of virtual functions by making base pointer points to different objects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8EA4420-7469-D331-E2E8-51A31944B56E}"/>
              </a:ext>
            </a:extLst>
          </p:cNvPr>
          <p:cNvSpPr>
            <a:spLocks noGrp="1" noChangeArrowheads="1"/>
          </p:cNvSpPr>
          <p:nvPr>
            <p:ph type="subTitle" idx="1"/>
          </p:nvPr>
        </p:nvSpPr>
        <p:spPr>
          <a:xfrm>
            <a:off x="228600" y="152400"/>
            <a:ext cx="8686800" cy="6477000"/>
          </a:xfrm>
        </p:spPr>
        <p:txBody>
          <a:bodyPr/>
          <a:lstStyle/>
          <a:p>
            <a:pPr marL="533400" indent="-533400" algn="l" eaLnBrk="1" hangingPunct="1">
              <a:lnSpc>
                <a:spcPct val="80000"/>
              </a:lnSpc>
            </a:pPr>
            <a:r>
              <a:rPr lang="en-US" altLang="en-US" sz="1400"/>
              <a:t>#include &lt;iostream.h&gt;</a:t>
            </a:r>
          </a:p>
          <a:p>
            <a:pPr marL="533400" indent="-533400" algn="l" eaLnBrk="1" hangingPunct="1">
              <a:lnSpc>
                <a:spcPct val="80000"/>
              </a:lnSpc>
            </a:pPr>
            <a:r>
              <a:rPr lang="en-US" altLang="en-US" sz="1400"/>
              <a:t>class B</a:t>
            </a:r>
          </a:p>
          <a:p>
            <a:pPr marL="533400" indent="-533400" algn="l" eaLnBrk="1" hangingPunct="1">
              <a:lnSpc>
                <a:spcPct val="80000"/>
              </a:lnSpc>
            </a:pPr>
            <a:r>
              <a:rPr lang="en-US" altLang="en-US" sz="1400"/>
              <a:t>{</a:t>
            </a:r>
          </a:p>
          <a:p>
            <a:pPr marL="533400" indent="-533400" algn="l" eaLnBrk="1" hangingPunct="1">
              <a:lnSpc>
                <a:spcPct val="80000"/>
              </a:lnSpc>
            </a:pPr>
            <a:r>
              <a:rPr lang="en-US" altLang="en-US" sz="1400"/>
              <a:t>	public:</a:t>
            </a:r>
          </a:p>
          <a:p>
            <a:pPr marL="533400" indent="-533400" algn="l" eaLnBrk="1" hangingPunct="1">
              <a:lnSpc>
                <a:spcPct val="80000"/>
              </a:lnSpc>
            </a:pPr>
            <a:r>
              <a:rPr lang="en-US" altLang="en-US" sz="1400"/>
              <a:t>		void disp(void){cout&lt;&lt;"base display\n";}</a:t>
            </a:r>
          </a:p>
          <a:p>
            <a:pPr marL="533400" indent="-533400" algn="l" eaLnBrk="1" hangingPunct="1">
              <a:lnSpc>
                <a:spcPct val="80000"/>
              </a:lnSpc>
            </a:pPr>
            <a:r>
              <a:rPr lang="en-US" altLang="en-US" sz="1400"/>
              <a:t>		virtual void show(void){cout &lt;&lt;"base show\n";}</a:t>
            </a:r>
          </a:p>
          <a:p>
            <a:pPr marL="533400" indent="-533400" algn="l" eaLnBrk="1" hangingPunct="1">
              <a:lnSpc>
                <a:spcPct val="80000"/>
              </a:lnSpc>
            </a:pPr>
            <a:r>
              <a:rPr lang="en-US" altLang="en-US" sz="1400"/>
              <a:t>};</a:t>
            </a:r>
          </a:p>
          <a:p>
            <a:pPr marL="533400" indent="-533400" algn="l" eaLnBrk="1" hangingPunct="1">
              <a:lnSpc>
                <a:spcPct val="80000"/>
              </a:lnSpc>
            </a:pPr>
            <a:r>
              <a:rPr lang="en-US" altLang="en-US" sz="1400"/>
              <a:t>class D : public B</a:t>
            </a:r>
          </a:p>
          <a:p>
            <a:pPr marL="533400" indent="-533400" algn="l" eaLnBrk="1" hangingPunct="1">
              <a:lnSpc>
                <a:spcPct val="80000"/>
              </a:lnSpc>
            </a:pPr>
            <a:r>
              <a:rPr lang="en-US" altLang="en-US" sz="1400"/>
              <a:t>{</a:t>
            </a:r>
          </a:p>
          <a:p>
            <a:pPr marL="533400" indent="-533400" algn="l" eaLnBrk="1" hangingPunct="1">
              <a:lnSpc>
                <a:spcPct val="80000"/>
              </a:lnSpc>
            </a:pPr>
            <a:r>
              <a:rPr lang="en-US" altLang="en-US" sz="1400"/>
              <a:t>	public:</a:t>
            </a:r>
          </a:p>
          <a:p>
            <a:pPr marL="533400" indent="-533400" algn="l" eaLnBrk="1" hangingPunct="1">
              <a:lnSpc>
                <a:spcPct val="80000"/>
              </a:lnSpc>
            </a:pPr>
            <a:r>
              <a:rPr lang="en-US" altLang="en-US" sz="1400"/>
              <a:t>		void disp(void){cout&lt;&lt;"derived display\n";}</a:t>
            </a:r>
          </a:p>
          <a:p>
            <a:pPr marL="533400" indent="-533400" algn="l" eaLnBrk="1" hangingPunct="1">
              <a:lnSpc>
                <a:spcPct val="80000"/>
              </a:lnSpc>
            </a:pPr>
            <a:r>
              <a:rPr lang="en-US" altLang="en-US" sz="1400"/>
              <a:t>		void show(void){cout &lt;&lt;"derived show\n";}</a:t>
            </a:r>
          </a:p>
          <a:p>
            <a:pPr marL="533400" indent="-533400" algn="l" eaLnBrk="1" hangingPunct="1">
              <a:lnSpc>
                <a:spcPct val="80000"/>
              </a:lnSpc>
            </a:pPr>
            <a:r>
              <a:rPr lang="en-US" altLang="en-US" sz="1400"/>
              <a:t>};</a:t>
            </a:r>
          </a:p>
          <a:p>
            <a:pPr marL="533400" indent="-533400" algn="l" eaLnBrk="1" hangingPunct="1">
              <a:lnSpc>
                <a:spcPct val="80000"/>
              </a:lnSpc>
            </a:pPr>
            <a:r>
              <a:rPr lang="en-US" altLang="en-US" sz="1400"/>
              <a:t>int main()</a:t>
            </a:r>
          </a:p>
          <a:p>
            <a:pPr marL="533400" indent="-533400" algn="l" eaLnBrk="1" hangingPunct="1">
              <a:lnSpc>
                <a:spcPct val="80000"/>
              </a:lnSpc>
            </a:pPr>
            <a:r>
              <a:rPr lang="en-US" altLang="en-US" sz="1400"/>
              <a:t>{</a:t>
            </a:r>
          </a:p>
          <a:p>
            <a:pPr marL="533400" indent="-533400" algn="l" eaLnBrk="1" hangingPunct="1">
              <a:lnSpc>
                <a:spcPct val="80000"/>
              </a:lnSpc>
            </a:pPr>
            <a:r>
              <a:rPr lang="en-US" altLang="en-US" sz="1400"/>
              <a:t>	B b;</a:t>
            </a:r>
          </a:p>
          <a:p>
            <a:pPr marL="533400" indent="-533400" algn="l" eaLnBrk="1" hangingPunct="1">
              <a:lnSpc>
                <a:spcPct val="80000"/>
              </a:lnSpc>
            </a:pPr>
            <a:r>
              <a:rPr lang="en-US" altLang="en-US" sz="1400"/>
              <a:t>	D d;</a:t>
            </a:r>
          </a:p>
          <a:p>
            <a:pPr marL="533400" indent="-533400" algn="l" eaLnBrk="1" hangingPunct="1">
              <a:lnSpc>
                <a:spcPct val="80000"/>
              </a:lnSpc>
            </a:pPr>
            <a:r>
              <a:rPr lang="en-US" altLang="en-US" sz="1400"/>
              <a:t>	B *bptr;</a:t>
            </a:r>
          </a:p>
          <a:p>
            <a:pPr marL="533400" indent="-533400" algn="l" eaLnBrk="1" hangingPunct="1">
              <a:lnSpc>
                <a:spcPct val="80000"/>
              </a:lnSpc>
            </a:pPr>
            <a:r>
              <a:rPr lang="en-US" altLang="en-US" sz="1400"/>
              <a:t>	cout &lt;&lt; "bptr points to base\n";</a:t>
            </a:r>
          </a:p>
          <a:p>
            <a:pPr marL="533400" indent="-533400" algn="l" eaLnBrk="1" hangingPunct="1">
              <a:lnSpc>
                <a:spcPct val="80000"/>
              </a:lnSpc>
            </a:pPr>
            <a:r>
              <a:rPr lang="en-US" altLang="en-US" sz="1400"/>
              <a:t>	bptr = &amp;b;</a:t>
            </a:r>
          </a:p>
          <a:p>
            <a:pPr marL="533400" indent="-533400" algn="l" eaLnBrk="1" hangingPunct="1">
              <a:lnSpc>
                <a:spcPct val="80000"/>
              </a:lnSpc>
            </a:pPr>
            <a:r>
              <a:rPr lang="en-US" altLang="en-US" sz="1400"/>
              <a:t>	bptr-&gt;disp();	//calls base version</a:t>
            </a:r>
          </a:p>
          <a:p>
            <a:pPr marL="533400" indent="-533400" algn="l" eaLnBrk="1" hangingPunct="1">
              <a:lnSpc>
                <a:spcPct val="80000"/>
              </a:lnSpc>
            </a:pPr>
            <a:r>
              <a:rPr lang="en-US" altLang="en-US" sz="1400"/>
              <a:t>	bptr-&gt;show();   //calls base version</a:t>
            </a:r>
          </a:p>
          <a:p>
            <a:pPr marL="533400" indent="-533400" algn="l" eaLnBrk="1" hangingPunct="1">
              <a:lnSpc>
                <a:spcPct val="80000"/>
              </a:lnSpc>
            </a:pPr>
            <a:r>
              <a:rPr lang="en-US" altLang="en-US" sz="1400"/>
              <a:t>	cout &lt;&lt; "bptr points to derived\n";</a:t>
            </a:r>
          </a:p>
          <a:p>
            <a:pPr marL="533400" indent="-533400" algn="l" eaLnBrk="1" hangingPunct="1">
              <a:lnSpc>
                <a:spcPct val="80000"/>
              </a:lnSpc>
            </a:pPr>
            <a:r>
              <a:rPr lang="en-US" altLang="en-US" sz="1400"/>
              <a:t>	bptr = &amp;d;</a:t>
            </a:r>
          </a:p>
          <a:p>
            <a:pPr marL="533400" indent="-533400" algn="l" eaLnBrk="1" hangingPunct="1">
              <a:lnSpc>
                <a:spcPct val="80000"/>
              </a:lnSpc>
            </a:pPr>
            <a:r>
              <a:rPr lang="en-US" altLang="en-US" sz="1400"/>
              <a:t>	bptr-&gt;disp();  	//calls base version</a:t>
            </a:r>
          </a:p>
          <a:p>
            <a:pPr marL="533400" indent="-533400" algn="l" eaLnBrk="1" hangingPunct="1">
              <a:lnSpc>
                <a:spcPct val="80000"/>
              </a:lnSpc>
            </a:pPr>
            <a:r>
              <a:rPr lang="en-US" altLang="en-US" sz="1400"/>
              <a:t>	bptr-&gt;show();   //calls derived version</a:t>
            </a:r>
          </a:p>
          <a:p>
            <a:pPr marL="533400" indent="-533400" algn="l" eaLnBrk="1" hangingPunct="1">
              <a:lnSpc>
                <a:spcPct val="80000"/>
              </a:lnSpc>
            </a:pPr>
            <a:r>
              <a:rPr lang="en-US" altLang="en-US" sz="1400"/>
              <a:t>	return 0;</a:t>
            </a:r>
          </a:p>
          <a:p>
            <a:pPr marL="533400" indent="-533400" algn="l" eaLnBrk="1" hangingPunct="1">
              <a:lnSpc>
                <a:spcPct val="80000"/>
              </a:lnSpc>
            </a:pPr>
            <a:r>
              <a:rPr lang="en-US" altLang="en-US" sz="140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53E500A-DEAC-2A2E-83C0-C32EF9EFE7BB}"/>
              </a:ext>
            </a:extLst>
          </p:cNvPr>
          <p:cNvSpPr>
            <a:spLocks noGrp="1" noChangeArrowheads="1"/>
          </p:cNvSpPr>
          <p:nvPr>
            <p:ph type="subTitle" idx="1"/>
          </p:nvPr>
        </p:nvSpPr>
        <p:spPr>
          <a:xfrm>
            <a:off x="228600" y="152400"/>
            <a:ext cx="8686800" cy="6477000"/>
          </a:xfrm>
        </p:spPr>
        <p:txBody>
          <a:bodyPr/>
          <a:lstStyle/>
          <a:p>
            <a:pPr marL="533400" indent="-533400" algn="l" eaLnBrk="1" hangingPunct="1"/>
            <a:r>
              <a:rPr lang="en-US" altLang="en-US" sz="3600">
                <a:solidFill>
                  <a:schemeClr val="accent2"/>
                </a:solidFill>
              </a:rPr>
              <a:t>OUTPUT:</a:t>
            </a:r>
          </a:p>
          <a:p>
            <a:pPr marL="533400" indent="-533400" algn="l" eaLnBrk="1" hangingPunct="1"/>
            <a:r>
              <a:rPr lang="en-US" altLang="en-US" sz="3600"/>
              <a:t>bptr points to base</a:t>
            </a:r>
          </a:p>
          <a:p>
            <a:pPr marL="533400" indent="-533400" algn="l" eaLnBrk="1" hangingPunct="1"/>
            <a:r>
              <a:rPr lang="en-US" altLang="en-US" sz="3600"/>
              <a:t>base display</a:t>
            </a:r>
          </a:p>
          <a:p>
            <a:pPr marL="533400" indent="-533400" algn="l" eaLnBrk="1" hangingPunct="1"/>
            <a:r>
              <a:rPr lang="en-US" altLang="en-US" sz="3600"/>
              <a:t>base show</a:t>
            </a:r>
          </a:p>
          <a:p>
            <a:pPr marL="533400" indent="-533400" algn="l" eaLnBrk="1" hangingPunct="1"/>
            <a:r>
              <a:rPr lang="en-US" altLang="en-US" sz="3600"/>
              <a:t>bptr points to derived</a:t>
            </a:r>
          </a:p>
          <a:p>
            <a:pPr marL="533400" indent="-533400" algn="l" eaLnBrk="1" hangingPunct="1"/>
            <a:r>
              <a:rPr lang="en-US" altLang="en-US" sz="3600"/>
              <a:t>base display</a:t>
            </a:r>
          </a:p>
          <a:p>
            <a:pPr marL="533400" indent="-533400" algn="l" eaLnBrk="1" hangingPunct="1"/>
            <a:r>
              <a:rPr lang="en-US" altLang="en-US" sz="3600"/>
              <a:t>derived show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ED7192F-4317-FCFE-A1BC-EC2D78768EB8}"/>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Rules for Virtual functions</a:t>
            </a:r>
          </a:p>
        </p:txBody>
      </p:sp>
      <p:sp>
        <p:nvSpPr>
          <p:cNvPr id="27651" name="Rectangle 3">
            <a:extLst>
              <a:ext uri="{FF2B5EF4-FFF2-40B4-BE49-F238E27FC236}">
                <a16:creationId xmlns:a16="http://schemas.microsoft.com/office/drawing/2014/main" id="{5E9CA52E-F94D-084B-D680-7C1BABA95552}"/>
              </a:ext>
            </a:extLst>
          </p:cNvPr>
          <p:cNvSpPr>
            <a:spLocks noGrp="1" noChangeArrowheads="1"/>
          </p:cNvSpPr>
          <p:nvPr>
            <p:ph type="subTitle" idx="1"/>
          </p:nvPr>
        </p:nvSpPr>
        <p:spPr>
          <a:xfrm>
            <a:off x="228600" y="609600"/>
            <a:ext cx="8686800" cy="6019800"/>
          </a:xfrm>
        </p:spPr>
        <p:txBody>
          <a:bodyPr/>
          <a:lstStyle/>
          <a:p>
            <a:pPr marL="533400" indent="-533400" algn="just" eaLnBrk="1" hangingPunct="1">
              <a:buFontTx/>
              <a:buAutoNum type="arabicPeriod"/>
            </a:pPr>
            <a:r>
              <a:rPr lang="en-US" altLang="en-US" sz="2800">
                <a:latin typeface="Times New Roman" panose="02020603050405020304" pitchFamily="18" charset="0"/>
              </a:rPr>
              <a:t>The virtual functions must be members of some class</a:t>
            </a:r>
          </a:p>
          <a:p>
            <a:pPr marL="533400" indent="-533400" algn="just" eaLnBrk="1" hangingPunct="1">
              <a:buFontTx/>
              <a:buAutoNum type="arabicPeriod"/>
            </a:pPr>
            <a:r>
              <a:rPr lang="en-US" altLang="en-US" sz="2800">
                <a:latin typeface="Times New Roman" panose="02020603050405020304" pitchFamily="18" charset="0"/>
              </a:rPr>
              <a:t>They cannot be static members</a:t>
            </a:r>
          </a:p>
          <a:p>
            <a:pPr marL="533400" indent="-533400" algn="just" eaLnBrk="1" hangingPunct="1">
              <a:buFontTx/>
              <a:buAutoNum type="arabicPeriod"/>
            </a:pPr>
            <a:r>
              <a:rPr lang="en-US" altLang="en-US" sz="2800">
                <a:latin typeface="Times New Roman" panose="02020603050405020304" pitchFamily="18" charset="0"/>
              </a:rPr>
              <a:t>They are accessed by using object pointers</a:t>
            </a:r>
          </a:p>
          <a:p>
            <a:pPr marL="533400" indent="-533400" algn="just" eaLnBrk="1" hangingPunct="1">
              <a:buFontTx/>
              <a:buAutoNum type="arabicPeriod"/>
            </a:pPr>
            <a:r>
              <a:rPr lang="en-US" altLang="en-US" sz="2800">
                <a:latin typeface="Times New Roman" panose="02020603050405020304" pitchFamily="18" charset="0"/>
              </a:rPr>
              <a:t>A virtual function can be a friend of another class</a:t>
            </a:r>
          </a:p>
          <a:p>
            <a:pPr marL="533400" indent="-533400" algn="just" eaLnBrk="1" hangingPunct="1">
              <a:buFontTx/>
              <a:buAutoNum type="arabicPeriod"/>
            </a:pPr>
            <a:r>
              <a:rPr lang="en-US" altLang="en-US" sz="2800">
                <a:latin typeface="Times New Roman" panose="02020603050405020304" pitchFamily="18" charset="0"/>
              </a:rPr>
              <a:t>A virtual function in a base class must be defined, even though it may not be used</a:t>
            </a:r>
          </a:p>
          <a:p>
            <a:pPr marL="533400" indent="-533400" algn="just" eaLnBrk="1" hangingPunct="1">
              <a:buFontTx/>
              <a:buAutoNum type="arabicPeriod"/>
            </a:pPr>
            <a:r>
              <a:rPr lang="en-US" altLang="en-US" sz="2800">
                <a:latin typeface="Times New Roman" panose="02020603050405020304" pitchFamily="18" charset="0"/>
              </a:rPr>
              <a:t>The prototype of the base class version of a virtual function and all the derived class versions must be identical. If two functions with the same name have different prototypes, C++ considers them as overloaded functions and the virtual function mechanism is ignored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913C6A0-77C1-C8A7-BBE5-267AD7558E8E}"/>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Rules for Virtual functions</a:t>
            </a:r>
          </a:p>
        </p:txBody>
      </p:sp>
      <p:sp>
        <p:nvSpPr>
          <p:cNvPr id="28675" name="Rectangle 3">
            <a:extLst>
              <a:ext uri="{FF2B5EF4-FFF2-40B4-BE49-F238E27FC236}">
                <a16:creationId xmlns:a16="http://schemas.microsoft.com/office/drawing/2014/main" id="{F647E8FF-C82B-0F78-BEB8-402EAAFA88D9}"/>
              </a:ext>
            </a:extLst>
          </p:cNvPr>
          <p:cNvSpPr>
            <a:spLocks noGrp="1" noChangeArrowheads="1"/>
          </p:cNvSpPr>
          <p:nvPr>
            <p:ph type="subTitle" idx="1"/>
          </p:nvPr>
        </p:nvSpPr>
        <p:spPr>
          <a:xfrm>
            <a:off x="228600" y="609600"/>
            <a:ext cx="8686800" cy="6019800"/>
          </a:xfrm>
        </p:spPr>
        <p:txBody>
          <a:bodyPr/>
          <a:lstStyle/>
          <a:p>
            <a:pPr marL="609600" indent="-609600" algn="just" eaLnBrk="1" hangingPunct="1">
              <a:buFontTx/>
              <a:buAutoNum type="arabicPeriod" startAt="7"/>
            </a:pPr>
            <a:r>
              <a:rPr lang="en-US" altLang="en-US" sz="2800">
                <a:latin typeface="Times New Roman" panose="02020603050405020304" pitchFamily="18" charset="0"/>
              </a:rPr>
              <a:t>We cannot have virtual constructors, but we can have virtual destructors</a:t>
            </a:r>
          </a:p>
          <a:p>
            <a:pPr marL="609600" indent="-609600" algn="just" eaLnBrk="1" hangingPunct="1">
              <a:buFontTx/>
              <a:buAutoNum type="arabicPeriod" startAt="7"/>
            </a:pPr>
            <a:r>
              <a:rPr lang="en-US" altLang="en-US" sz="2800">
                <a:latin typeface="Times New Roman" panose="02020603050405020304" pitchFamily="18" charset="0"/>
              </a:rPr>
              <a:t>While a base pointer can point to any type of the derived object, the reverse is not true</a:t>
            </a:r>
          </a:p>
          <a:p>
            <a:pPr marL="609600" indent="-609600" algn="just" eaLnBrk="1" hangingPunct="1">
              <a:buFontTx/>
              <a:buAutoNum type="arabicPeriod" startAt="7"/>
            </a:pPr>
            <a:r>
              <a:rPr lang="en-US" altLang="en-US" sz="2800">
                <a:latin typeface="Times New Roman" panose="02020603050405020304" pitchFamily="18" charset="0"/>
              </a:rPr>
              <a:t>When a base pointer points to a derived class, incrementing or decrementing it will not make it to point to the next object of the derived class. It will do relative to its base type. So we should not use this method to move the pointer to the next object</a:t>
            </a:r>
          </a:p>
          <a:p>
            <a:pPr marL="609600" indent="-609600" algn="just" eaLnBrk="1" hangingPunct="1">
              <a:buFontTx/>
              <a:buAutoNum type="arabicPeriod" startAt="7"/>
            </a:pPr>
            <a:r>
              <a:rPr lang="en-US" altLang="en-US" sz="2800">
                <a:latin typeface="Times New Roman" panose="02020603050405020304" pitchFamily="18" charset="0"/>
              </a:rPr>
              <a:t>If a virtual function is defined in the base class, it need not be necessarily redefined in the derived class. In such cases calls will invoke the base function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A902D2D-37F7-3BFD-1A7E-947ED76707E1}"/>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Pure Virtual functions</a:t>
            </a:r>
          </a:p>
        </p:txBody>
      </p:sp>
      <p:sp>
        <p:nvSpPr>
          <p:cNvPr id="29699" name="Rectangle 3">
            <a:extLst>
              <a:ext uri="{FF2B5EF4-FFF2-40B4-BE49-F238E27FC236}">
                <a16:creationId xmlns:a16="http://schemas.microsoft.com/office/drawing/2014/main" id="{704E83F8-83F7-A2F3-C38A-1AAE3CA680C7}"/>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90000"/>
              </a:lnSpc>
              <a:buFontTx/>
              <a:buChar char="•"/>
            </a:pPr>
            <a:r>
              <a:rPr lang="en-US" altLang="en-US" sz="2400">
                <a:latin typeface="Times New Roman" panose="02020603050405020304" pitchFamily="18" charset="0"/>
              </a:rPr>
              <a:t>The function inside the base class is seldom used for performing any task. It only serves as a place holder.</a:t>
            </a:r>
          </a:p>
          <a:p>
            <a:pPr marL="533400" indent="-533400" algn="just" eaLnBrk="1" hangingPunct="1">
              <a:lnSpc>
                <a:spcPct val="90000"/>
              </a:lnSpc>
              <a:buFontTx/>
              <a:buChar char="•"/>
            </a:pPr>
            <a:r>
              <a:rPr lang="en-US" altLang="en-US" sz="2400">
                <a:latin typeface="Times New Roman" panose="02020603050405020304" pitchFamily="18" charset="0"/>
              </a:rPr>
              <a:t>Eg if we have not created any objects for a base class, then we need not write body for that</a:t>
            </a:r>
          </a:p>
          <a:p>
            <a:pPr marL="533400" indent="-533400" algn="just" eaLnBrk="1" hangingPunct="1">
              <a:lnSpc>
                <a:spcPct val="90000"/>
              </a:lnSpc>
              <a:buFontTx/>
              <a:buChar char="•"/>
            </a:pPr>
            <a:r>
              <a:rPr lang="en-US" altLang="en-US" sz="2400">
                <a:latin typeface="Times New Roman" panose="02020603050405020304" pitchFamily="18" charset="0"/>
              </a:rPr>
              <a:t>Such functions are called the “do-nothing” functions</a:t>
            </a:r>
          </a:p>
          <a:p>
            <a:pPr marL="533400" indent="-533400" algn="just" eaLnBrk="1" hangingPunct="1">
              <a:lnSpc>
                <a:spcPct val="90000"/>
              </a:lnSpc>
              <a:buFontTx/>
              <a:buChar char="•"/>
            </a:pPr>
            <a:r>
              <a:rPr lang="en-US" altLang="en-US" sz="2400">
                <a:latin typeface="Times New Roman" panose="02020603050405020304" pitchFamily="18" charset="0"/>
              </a:rPr>
              <a:t>let Shape be a base class. We cannot provide implementation of function draw() in Shape, but we know every derived class must have implementation of draw(). Similarly an Animal class doesn’t have implementation of move() (assuming that all animals move), but all animals must know how to move</a:t>
            </a:r>
          </a:p>
          <a:p>
            <a:pPr marL="533400" indent="-533400" algn="just" eaLnBrk="1" hangingPunct="1">
              <a:lnSpc>
                <a:spcPct val="90000"/>
              </a:lnSpc>
              <a:buFontTx/>
              <a:buChar char="•"/>
            </a:pPr>
            <a:r>
              <a:rPr lang="en-US" altLang="en-US" sz="2400">
                <a:latin typeface="Times New Roman" panose="02020603050405020304" pitchFamily="18" charset="0"/>
              </a:rPr>
              <a:t>Definition:</a:t>
            </a:r>
          </a:p>
          <a:p>
            <a:pPr marL="533400" indent="-533400" algn="just" eaLnBrk="1" hangingPunct="1">
              <a:lnSpc>
                <a:spcPct val="90000"/>
              </a:lnSpc>
            </a:pPr>
            <a:r>
              <a:rPr lang="en-US" altLang="en-US" sz="2400">
                <a:latin typeface="Times New Roman" panose="02020603050405020304" pitchFamily="18" charset="0"/>
              </a:rPr>
              <a:t>	virtual void disp()=0;</a:t>
            </a:r>
          </a:p>
          <a:p>
            <a:pPr marL="533400" indent="-533400" algn="just" eaLnBrk="1" hangingPunct="1">
              <a:lnSpc>
                <a:spcPct val="90000"/>
              </a:lnSpc>
              <a:buFontTx/>
              <a:buChar char="•"/>
            </a:pPr>
            <a:r>
              <a:rPr lang="en-US" altLang="en-US" sz="2400">
                <a:latin typeface="Times New Roman" panose="02020603050405020304" pitchFamily="18" charset="0"/>
              </a:rPr>
              <a:t>Such functions are called as pure virtual functions</a:t>
            </a:r>
          </a:p>
          <a:p>
            <a:pPr marL="533400" indent="-533400" algn="just" eaLnBrk="1" hangingPunct="1">
              <a:lnSpc>
                <a:spcPct val="90000"/>
              </a:lnSpc>
              <a:buFontTx/>
              <a:buChar char="•"/>
            </a:pPr>
            <a:r>
              <a:rPr lang="en-US" altLang="en-US" sz="2400">
                <a:latin typeface="Times New Roman" panose="02020603050405020304" pitchFamily="18" charset="0"/>
              </a:rPr>
              <a:t>A pure virtual function is a function declared in a base class that has no definition relative to the base class.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6B8EE15-3677-90E8-BC16-C8236A4B4D54}"/>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Pure Virtual functions contd….</a:t>
            </a:r>
          </a:p>
        </p:txBody>
      </p:sp>
      <p:sp>
        <p:nvSpPr>
          <p:cNvPr id="30723" name="Rectangle 3">
            <a:extLst>
              <a:ext uri="{FF2B5EF4-FFF2-40B4-BE49-F238E27FC236}">
                <a16:creationId xmlns:a16="http://schemas.microsoft.com/office/drawing/2014/main" id="{4F665322-CDF9-B4B9-63B9-F67CC5A96676}"/>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90000"/>
              </a:lnSpc>
              <a:buFontTx/>
              <a:buChar char="•"/>
            </a:pPr>
            <a:r>
              <a:rPr lang="en-US" altLang="en-US" sz="2800">
                <a:latin typeface="Times New Roman" panose="02020603050405020304" pitchFamily="18" charset="0"/>
              </a:rPr>
              <a:t>In such cases, the compiler requires each derived class to either define the function or redefine it as a pure virtual function</a:t>
            </a:r>
          </a:p>
          <a:p>
            <a:pPr marL="533400" indent="-533400" algn="just" eaLnBrk="1" hangingPunct="1">
              <a:lnSpc>
                <a:spcPct val="90000"/>
              </a:lnSpc>
              <a:buFontTx/>
              <a:buChar char="•"/>
            </a:pPr>
            <a:r>
              <a:rPr lang="en-US" altLang="en-US" sz="2800">
                <a:latin typeface="Times New Roman" panose="02020603050405020304" pitchFamily="18" charset="0"/>
              </a:rPr>
              <a:t>**a class containing pure virtual functions cannot be used to declare any objects of its own. Such classes are called as abstract classes</a:t>
            </a:r>
          </a:p>
          <a:p>
            <a:pPr marL="533400" indent="-533400" algn="just" eaLnBrk="1" hangingPunct="1">
              <a:lnSpc>
                <a:spcPct val="90000"/>
              </a:lnSpc>
              <a:buFontTx/>
              <a:buChar char="•"/>
            </a:pPr>
            <a:r>
              <a:rPr lang="en-US" altLang="en-US" sz="2800">
                <a:latin typeface="Times New Roman" panose="02020603050405020304" pitchFamily="18" charset="0"/>
              </a:rPr>
              <a:t>A class is abstract if it has at least one pure virtual function. </a:t>
            </a:r>
          </a:p>
          <a:p>
            <a:pPr marL="533400" indent="-533400" algn="just" eaLnBrk="1" hangingPunct="1">
              <a:lnSpc>
                <a:spcPct val="90000"/>
              </a:lnSpc>
              <a:buFontTx/>
              <a:buChar char="•"/>
            </a:pPr>
            <a:r>
              <a:rPr lang="en-US" altLang="en-US" sz="2800">
                <a:latin typeface="Times New Roman" panose="02020603050405020304" pitchFamily="18" charset="0"/>
              </a:rPr>
              <a:t>We can have pointers and references of abstract class type. </a:t>
            </a:r>
          </a:p>
          <a:p>
            <a:pPr marL="533400" indent="-533400" algn="just" eaLnBrk="1" hangingPunct="1">
              <a:lnSpc>
                <a:spcPct val="90000"/>
              </a:lnSpc>
              <a:buFontTx/>
              <a:buChar char="•"/>
            </a:pPr>
            <a:r>
              <a:rPr lang="en-US" altLang="en-US" sz="2800">
                <a:latin typeface="Times New Roman" panose="02020603050405020304" pitchFamily="18" charset="0"/>
              </a:rPr>
              <a:t>If we do not override the pure virtual function in derived class, then derived class also becomes abstract class.</a:t>
            </a:r>
          </a:p>
          <a:p>
            <a:pPr marL="533400" indent="-533400" algn="just" eaLnBrk="1" hangingPunct="1">
              <a:lnSpc>
                <a:spcPct val="90000"/>
              </a:lnSpc>
              <a:buFontTx/>
              <a:buChar char="•"/>
            </a:pPr>
            <a:r>
              <a:rPr lang="en-US" altLang="en-US" sz="2800">
                <a:latin typeface="Times New Roman" panose="02020603050405020304" pitchFamily="18" charset="0"/>
              </a:rPr>
              <a:t>An abstract class can have constructors.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237EB39-1EE9-6E07-D7FC-F47FC82FC475}"/>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Virtual destructor</a:t>
            </a:r>
          </a:p>
        </p:txBody>
      </p:sp>
      <p:sp>
        <p:nvSpPr>
          <p:cNvPr id="30723" name="Rectangle 3">
            <a:extLst>
              <a:ext uri="{FF2B5EF4-FFF2-40B4-BE49-F238E27FC236}">
                <a16:creationId xmlns:a16="http://schemas.microsoft.com/office/drawing/2014/main" id="{FD725C32-DB20-616F-6648-CB769CB260CD}"/>
              </a:ext>
            </a:extLst>
          </p:cNvPr>
          <p:cNvSpPr>
            <a:spLocks noGrp="1" noChangeArrowheads="1"/>
          </p:cNvSpPr>
          <p:nvPr>
            <p:ph type="subTitle" idx="1"/>
          </p:nvPr>
        </p:nvSpPr>
        <p:spPr>
          <a:xfrm>
            <a:off x="228600" y="609600"/>
            <a:ext cx="8686800" cy="6019800"/>
          </a:xfrm>
        </p:spPr>
        <p:txBody>
          <a:bodyPr/>
          <a:lstStyle/>
          <a:p>
            <a:pPr marL="533400" indent="-533400" algn="just" eaLnBrk="1" hangingPunct="1">
              <a:lnSpc>
                <a:spcPct val="90000"/>
              </a:lnSpc>
              <a:buFontTx/>
              <a:buChar char="•"/>
              <a:defRPr/>
            </a:pPr>
            <a:r>
              <a:rPr lang="en-US" sz="2400" dirty="0"/>
              <a:t>Deleting a derived class object using a pointer of base class type that has a non-virtual destructor results in undefined behavior. </a:t>
            </a:r>
          </a:p>
          <a:p>
            <a:pPr marL="533400" indent="-533400" algn="just" eaLnBrk="1" hangingPunct="1">
              <a:lnSpc>
                <a:spcPct val="90000"/>
              </a:lnSpc>
              <a:buFontTx/>
              <a:buChar char="•"/>
              <a:defRPr/>
            </a:pPr>
            <a:r>
              <a:rPr lang="en-US" sz="2400" dirty="0"/>
              <a:t>When destroying instances of a derived class using a base class pointer object, a virtual destructor is used to free up memory space allocated by the derived class object or instance. </a:t>
            </a:r>
          </a:p>
          <a:p>
            <a:pPr>
              <a:defRPr/>
            </a:pPr>
            <a:r>
              <a:rPr lang="en-US" sz="2400" b="1" dirty="0"/>
              <a:t>Note: </a:t>
            </a:r>
            <a:r>
              <a:rPr lang="en-US" sz="2400" dirty="0"/>
              <a:t>Only Destructors can be Virtual. Constructors cannot be declared as virtual.</a:t>
            </a:r>
          </a:p>
          <a:p>
            <a:pPr algn="l">
              <a:defRPr/>
            </a:pPr>
            <a:r>
              <a:rPr lang="en-US" sz="2400" b="1" u="sng" dirty="0"/>
              <a:t>Pure Virtual Destructor</a:t>
            </a:r>
            <a:endParaRPr lang="en-US" sz="2400" u="sng" dirty="0"/>
          </a:p>
          <a:p>
            <a:pPr algn="just">
              <a:defRPr/>
            </a:pPr>
            <a:r>
              <a:rPr lang="en-US" sz="2400" dirty="0"/>
              <a:t>A pure virtual destructor can be declared. After the destructor has been created as a pure virtual object, the destructor body must be provided. This is due to the fact that destructors will not be overridden in derived classes, but will instead be called in reverse order. As a result, for a pure virtual destructor, you must specify a destructor body. Class becomes </a:t>
            </a:r>
            <a:r>
              <a:rPr lang="en-US" sz="2400"/>
              <a:t>abstract class</a:t>
            </a:r>
            <a:endParaRPr lang="en-US" sz="2400" dirty="0"/>
          </a:p>
          <a:p>
            <a:pPr marL="533400" indent="-533400" algn="just" eaLnBrk="1" hangingPunct="1">
              <a:lnSpc>
                <a:spcPct val="90000"/>
              </a:lnSpc>
              <a:buFontTx/>
              <a:buChar char="•"/>
              <a:defRPr/>
            </a:pPr>
            <a:endParaRPr lang="en-US" sz="2400" dirty="0">
              <a:latin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8EFD95DC-27D6-C258-A33C-E1E606FA6BC4}"/>
              </a:ext>
            </a:extLst>
          </p:cNvPr>
          <p:cNvSpPr>
            <a:spLocks noGrp="1" noChangeArrowheads="1"/>
          </p:cNvSpPr>
          <p:nvPr>
            <p:ph type="subTitle" idx="1"/>
          </p:nvPr>
        </p:nvSpPr>
        <p:spPr>
          <a:xfrm>
            <a:off x="228600" y="76200"/>
            <a:ext cx="8686800" cy="6019800"/>
          </a:xfrm>
        </p:spPr>
        <p:txBody>
          <a:bodyPr/>
          <a:lstStyle/>
          <a:p>
            <a:pPr marL="533400" indent="-533400" algn="just" eaLnBrk="1" hangingPunct="1">
              <a:lnSpc>
                <a:spcPct val="90000"/>
              </a:lnSpc>
            </a:pPr>
            <a:r>
              <a:rPr lang="en-US" altLang="en-US" sz="1600">
                <a:latin typeface="Times New Roman" panose="02020603050405020304" pitchFamily="18" charset="0"/>
              </a:rPr>
              <a:t>#include&lt;iostream&gt; </a:t>
            </a:r>
          </a:p>
          <a:p>
            <a:pPr marL="533400" indent="-533400" algn="just" eaLnBrk="1" hangingPunct="1">
              <a:lnSpc>
                <a:spcPct val="90000"/>
              </a:lnSpc>
            </a:pPr>
            <a:r>
              <a:rPr lang="en-US" altLang="en-US" sz="1600">
                <a:latin typeface="Times New Roman" panose="02020603050405020304" pitchFamily="18" charset="0"/>
              </a:rPr>
              <a:t>using namespace std; </a:t>
            </a:r>
          </a:p>
          <a:p>
            <a:pPr marL="533400" indent="-533400" algn="just" eaLnBrk="1" hangingPunct="1">
              <a:lnSpc>
                <a:spcPct val="90000"/>
              </a:lnSpc>
            </a:pPr>
            <a:r>
              <a:rPr lang="en-US" altLang="en-US" sz="1600">
                <a:latin typeface="Times New Roman" panose="02020603050405020304" pitchFamily="18" charset="0"/>
              </a:rPr>
              <a:t>class base { </a:t>
            </a:r>
          </a:p>
          <a:p>
            <a:pPr marL="533400" indent="-533400" algn="just" eaLnBrk="1" hangingPunct="1">
              <a:lnSpc>
                <a:spcPct val="90000"/>
              </a:lnSpc>
            </a:pPr>
            <a:r>
              <a:rPr lang="en-US" altLang="en-US" sz="1600">
                <a:latin typeface="Times New Roman" panose="02020603050405020304" pitchFamily="18" charset="0"/>
              </a:rPr>
              <a:t>public: </a:t>
            </a:r>
          </a:p>
          <a:p>
            <a:pPr marL="533400" indent="-533400" algn="just" eaLnBrk="1" hangingPunct="1">
              <a:lnSpc>
                <a:spcPct val="90000"/>
              </a:lnSpc>
            </a:pPr>
            <a:r>
              <a:rPr lang="en-US" altLang="en-US" sz="1600">
                <a:latin typeface="Times New Roman" panose="02020603050405020304" pitchFamily="18" charset="0"/>
              </a:rPr>
              <a:t>	base()	 </a:t>
            </a:r>
          </a:p>
          <a:p>
            <a:pPr marL="533400" indent="-533400" algn="just" eaLnBrk="1" hangingPunct="1">
              <a:lnSpc>
                <a:spcPct val="90000"/>
              </a:lnSpc>
            </a:pPr>
            <a:r>
              <a:rPr lang="en-US" altLang="en-US" sz="1600">
                <a:latin typeface="Times New Roman" panose="02020603050405020304" pitchFamily="18" charset="0"/>
              </a:rPr>
              <a:t>	{ cout&lt;&lt;"Constructing base \n"; } </a:t>
            </a:r>
          </a:p>
          <a:p>
            <a:pPr marL="533400" indent="-533400" algn="just" eaLnBrk="1" hangingPunct="1">
              <a:lnSpc>
                <a:spcPct val="90000"/>
              </a:lnSpc>
            </a:pPr>
            <a:r>
              <a:rPr lang="en-US" altLang="en-US" sz="1600">
                <a:latin typeface="Times New Roman" panose="02020603050405020304" pitchFamily="18" charset="0"/>
              </a:rPr>
              <a:t>	~base() </a:t>
            </a:r>
          </a:p>
          <a:p>
            <a:pPr marL="533400" indent="-533400" algn="just" eaLnBrk="1" hangingPunct="1">
              <a:lnSpc>
                <a:spcPct val="90000"/>
              </a:lnSpc>
            </a:pPr>
            <a:r>
              <a:rPr lang="en-US" altLang="en-US" sz="1600">
                <a:latin typeface="Times New Roman" panose="02020603050405020304" pitchFamily="18" charset="0"/>
              </a:rPr>
              <a:t>	{ cout&lt;&lt;"Destructing base \n"; }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r>
              <a:rPr lang="en-US" altLang="en-US" sz="1600">
                <a:latin typeface="Times New Roman" panose="02020603050405020304" pitchFamily="18" charset="0"/>
              </a:rPr>
              <a:t>class derived: public base { </a:t>
            </a:r>
          </a:p>
          <a:p>
            <a:pPr marL="533400" indent="-533400" algn="just" eaLnBrk="1" hangingPunct="1">
              <a:lnSpc>
                <a:spcPct val="90000"/>
              </a:lnSpc>
            </a:pPr>
            <a:r>
              <a:rPr lang="en-US" altLang="en-US" sz="1600">
                <a:latin typeface="Times New Roman" panose="02020603050405020304" pitchFamily="18" charset="0"/>
              </a:rPr>
              <a:t>public: </a:t>
            </a:r>
          </a:p>
          <a:p>
            <a:pPr marL="533400" indent="-533400" algn="just" eaLnBrk="1" hangingPunct="1">
              <a:lnSpc>
                <a:spcPct val="90000"/>
              </a:lnSpc>
            </a:pPr>
            <a:r>
              <a:rPr lang="en-US" altLang="en-US" sz="1600">
                <a:latin typeface="Times New Roman" panose="02020603050405020304" pitchFamily="18" charset="0"/>
              </a:rPr>
              <a:t>	derived()	 </a:t>
            </a:r>
          </a:p>
          <a:p>
            <a:pPr marL="533400" indent="-533400" algn="just" eaLnBrk="1" hangingPunct="1">
              <a:lnSpc>
                <a:spcPct val="90000"/>
              </a:lnSpc>
            </a:pPr>
            <a:r>
              <a:rPr lang="en-US" altLang="en-US" sz="1600">
                <a:latin typeface="Times New Roman" panose="02020603050405020304" pitchFamily="18" charset="0"/>
              </a:rPr>
              <a:t>	{ cout&lt;&lt;"Constructing derived \n"; } </a:t>
            </a:r>
          </a:p>
          <a:p>
            <a:pPr marL="533400" indent="-533400" algn="just" eaLnBrk="1" hangingPunct="1">
              <a:lnSpc>
                <a:spcPct val="90000"/>
              </a:lnSpc>
            </a:pPr>
            <a:r>
              <a:rPr lang="en-US" altLang="en-US" sz="1600">
                <a:latin typeface="Times New Roman" panose="02020603050405020304" pitchFamily="18" charset="0"/>
              </a:rPr>
              <a:t>	~derived() </a:t>
            </a:r>
          </a:p>
          <a:p>
            <a:pPr marL="533400" indent="-533400" algn="just" eaLnBrk="1" hangingPunct="1">
              <a:lnSpc>
                <a:spcPct val="90000"/>
              </a:lnSpc>
            </a:pPr>
            <a:r>
              <a:rPr lang="en-US" altLang="en-US" sz="1600">
                <a:latin typeface="Times New Roman" panose="02020603050405020304" pitchFamily="18" charset="0"/>
              </a:rPr>
              <a:t>	{ cout&lt;&lt;"Destructing derived \n"; }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r>
              <a:rPr lang="en-US" altLang="en-US" sz="1600">
                <a:latin typeface="Times New Roman" panose="02020603050405020304" pitchFamily="18" charset="0"/>
              </a:rPr>
              <a:t>int main(void)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r>
              <a:rPr lang="en-US" altLang="en-US" sz="1600">
                <a:latin typeface="Times New Roman" panose="02020603050405020304" pitchFamily="18" charset="0"/>
              </a:rPr>
              <a:t>derived *d = new derived(); </a:t>
            </a:r>
          </a:p>
          <a:p>
            <a:pPr marL="533400" indent="-533400" algn="just" eaLnBrk="1" hangingPunct="1">
              <a:lnSpc>
                <a:spcPct val="90000"/>
              </a:lnSpc>
            </a:pPr>
            <a:r>
              <a:rPr lang="en-US" altLang="en-US" sz="1600">
                <a:latin typeface="Times New Roman" panose="02020603050405020304" pitchFamily="18" charset="0"/>
              </a:rPr>
              <a:t>base *b = d; </a:t>
            </a:r>
          </a:p>
          <a:p>
            <a:pPr marL="533400" indent="-533400" algn="just" eaLnBrk="1" hangingPunct="1">
              <a:lnSpc>
                <a:spcPct val="90000"/>
              </a:lnSpc>
            </a:pPr>
            <a:r>
              <a:rPr lang="en-US" altLang="en-US" sz="1600">
                <a:latin typeface="Times New Roman" panose="02020603050405020304" pitchFamily="18" charset="0"/>
              </a:rPr>
              <a:t>delete b; </a:t>
            </a:r>
          </a:p>
          <a:p>
            <a:pPr marL="533400" indent="-533400" algn="just" eaLnBrk="1" hangingPunct="1">
              <a:lnSpc>
                <a:spcPct val="90000"/>
              </a:lnSpc>
            </a:pPr>
            <a:r>
              <a:rPr lang="en-US" altLang="en-US" sz="1600">
                <a:latin typeface="Times New Roman" panose="02020603050405020304" pitchFamily="18" charset="0"/>
              </a:rPr>
              <a:t>return 0;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endParaRPr lang="en-US" altLang="en-US" sz="160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21900A11-EB26-5380-77D3-90AD2B90DB28}"/>
              </a:ext>
            </a:extLst>
          </p:cNvPr>
          <p:cNvSpPr>
            <a:spLocks noGrp="1" noChangeArrowheads="1"/>
          </p:cNvSpPr>
          <p:nvPr>
            <p:ph type="subTitle" idx="1"/>
          </p:nvPr>
        </p:nvSpPr>
        <p:spPr>
          <a:xfrm>
            <a:off x="228600" y="76200"/>
            <a:ext cx="4114800" cy="6019800"/>
          </a:xfrm>
        </p:spPr>
        <p:txBody>
          <a:bodyPr/>
          <a:lstStyle/>
          <a:p>
            <a:pPr marL="533400" indent="-533400" algn="just" eaLnBrk="1" hangingPunct="1">
              <a:lnSpc>
                <a:spcPct val="90000"/>
              </a:lnSpc>
            </a:pPr>
            <a:r>
              <a:rPr lang="en-US" altLang="en-US" sz="1600">
                <a:latin typeface="Times New Roman" panose="02020603050405020304" pitchFamily="18" charset="0"/>
              </a:rPr>
              <a:t>#include&lt;iostream&gt; </a:t>
            </a:r>
          </a:p>
          <a:p>
            <a:pPr marL="533400" indent="-533400" algn="just" eaLnBrk="1" hangingPunct="1">
              <a:lnSpc>
                <a:spcPct val="90000"/>
              </a:lnSpc>
            </a:pPr>
            <a:r>
              <a:rPr lang="en-US" altLang="en-US" sz="1600">
                <a:latin typeface="Times New Roman" panose="02020603050405020304" pitchFamily="18" charset="0"/>
              </a:rPr>
              <a:t>using namespace std; </a:t>
            </a:r>
          </a:p>
          <a:p>
            <a:pPr marL="533400" indent="-533400" algn="just" eaLnBrk="1" hangingPunct="1">
              <a:lnSpc>
                <a:spcPct val="90000"/>
              </a:lnSpc>
            </a:pPr>
            <a:r>
              <a:rPr lang="en-US" altLang="en-US" sz="1600">
                <a:latin typeface="Times New Roman" panose="02020603050405020304" pitchFamily="18" charset="0"/>
              </a:rPr>
              <a:t>class base { </a:t>
            </a:r>
          </a:p>
          <a:p>
            <a:pPr marL="533400" indent="-533400" algn="just" eaLnBrk="1" hangingPunct="1">
              <a:lnSpc>
                <a:spcPct val="90000"/>
              </a:lnSpc>
            </a:pPr>
            <a:r>
              <a:rPr lang="en-US" altLang="en-US" sz="1600">
                <a:latin typeface="Times New Roman" panose="02020603050405020304" pitchFamily="18" charset="0"/>
              </a:rPr>
              <a:t>public: </a:t>
            </a:r>
          </a:p>
          <a:p>
            <a:pPr marL="533400" indent="-533400" algn="just" eaLnBrk="1" hangingPunct="1">
              <a:lnSpc>
                <a:spcPct val="90000"/>
              </a:lnSpc>
            </a:pPr>
            <a:r>
              <a:rPr lang="en-US" altLang="en-US" sz="1600">
                <a:latin typeface="Times New Roman" panose="02020603050405020304" pitchFamily="18" charset="0"/>
              </a:rPr>
              <a:t>	base()	 </a:t>
            </a:r>
          </a:p>
          <a:p>
            <a:pPr marL="533400" indent="-533400" algn="just" eaLnBrk="1" hangingPunct="1">
              <a:lnSpc>
                <a:spcPct val="90000"/>
              </a:lnSpc>
            </a:pPr>
            <a:r>
              <a:rPr lang="en-US" altLang="en-US" sz="1600">
                <a:latin typeface="Times New Roman" panose="02020603050405020304" pitchFamily="18" charset="0"/>
              </a:rPr>
              <a:t>	{ cout&lt;&lt;"Constructing base \n"; } </a:t>
            </a:r>
          </a:p>
          <a:p>
            <a:pPr marL="533400" indent="-533400" algn="just" eaLnBrk="1" hangingPunct="1">
              <a:lnSpc>
                <a:spcPct val="90000"/>
              </a:lnSpc>
            </a:pPr>
            <a:r>
              <a:rPr lang="en-US" altLang="en-US" sz="1600">
                <a:latin typeface="Times New Roman" panose="02020603050405020304" pitchFamily="18" charset="0"/>
              </a:rPr>
              <a:t>	virtual ~base() </a:t>
            </a:r>
          </a:p>
          <a:p>
            <a:pPr marL="533400" indent="-533400" algn="just" eaLnBrk="1" hangingPunct="1">
              <a:lnSpc>
                <a:spcPct val="90000"/>
              </a:lnSpc>
            </a:pPr>
            <a:r>
              <a:rPr lang="en-US" altLang="en-US" sz="1600">
                <a:latin typeface="Times New Roman" panose="02020603050405020304" pitchFamily="18" charset="0"/>
              </a:rPr>
              <a:t>	{ cout&lt;&lt;"Destructing base \n"; }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r>
              <a:rPr lang="en-US" altLang="en-US" sz="1600">
                <a:latin typeface="Times New Roman" panose="02020603050405020304" pitchFamily="18" charset="0"/>
              </a:rPr>
              <a:t>class derived: public base { </a:t>
            </a:r>
          </a:p>
          <a:p>
            <a:pPr marL="533400" indent="-533400" algn="just" eaLnBrk="1" hangingPunct="1">
              <a:lnSpc>
                <a:spcPct val="90000"/>
              </a:lnSpc>
            </a:pPr>
            <a:r>
              <a:rPr lang="en-US" altLang="en-US" sz="1600">
                <a:latin typeface="Times New Roman" panose="02020603050405020304" pitchFamily="18" charset="0"/>
              </a:rPr>
              <a:t>public: </a:t>
            </a:r>
          </a:p>
          <a:p>
            <a:pPr marL="533400" indent="-533400" algn="just" eaLnBrk="1" hangingPunct="1">
              <a:lnSpc>
                <a:spcPct val="90000"/>
              </a:lnSpc>
            </a:pPr>
            <a:r>
              <a:rPr lang="en-US" altLang="en-US" sz="1600">
                <a:latin typeface="Times New Roman" panose="02020603050405020304" pitchFamily="18" charset="0"/>
              </a:rPr>
              <a:t>	derived()	 </a:t>
            </a:r>
          </a:p>
          <a:p>
            <a:pPr marL="533400" indent="-533400" algn="just" eaLnBrk="1" hangingPunct="1">
              <a:lnSpc>
                <a:spcPct val="90000"/>
              </a:lnSpc>
            </a:pPr>
            <a:r>
              <a:rPr lang="en-US" altLang="en-US" sz="1600">
                <a:latin typeface="Times New Roman" panose="02020603050405020304" pitchFamily="18" charset="0"/>
              </a:rPr>
              <a:t>	{ cout&lt;&lt;"Constructing derived \n"; } </a:t>
            </a:r>
          </a:p>
          <a:p>
            <a:pPr marL="533400" indent="-533400" algn="just" eaLnBrk="1" hangingPunct="1">
              <a:lnSpc>
                <a:spcPct val="90000"/>
              </a:lnSpc>
            </a:pPr>
            <a:r>
              <a:rPr lang="en-US" altLang="en-US" sz="1600">
                <a:latin typeface="Times New Roman" panose="02020603050405020304" pitchFamily="18" charset="0"/>
              </a:rPr>
              <a:t>	~derived() </a:t>
            </a:r>
          </a:p>
          <a:p>
            <a:pPr marL="533400" indent="-533400" algn="just" eaLnBrk="1" hangingPunct="1">
              <a:lnSpc>
                <a:spcPct val="90000"/>
              </a:lnSpc>
            </a:pPr>
            <a:r>
              <a:rPr lang="en-US" altLang="en-US" sz="1600">
                <a:latin typeface="Times New Roman" panose="02020603050405020304" pitchFamily="18" charset="0"/>
              </a:rPr>
              <a:t>	{ cout&lt;&lt;"Destructing derived \n"; }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r>
              <a:rPr lang="en-US" altLang="en-US" sz="1600">
                <a:latin typeface="Times New Roman" panose="02020603050405020304" pitchFamily="18" charset="0"/>
              </a:rPr>
              <a:t>int main(void)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r>
              <a:rPr lang="en-US" altLang="en-US" sz="1600">
                <a:latin typeface="Times New Roman" panose="02020603050405020304" pitchFamily="18" charset="0"/>
              </a:rPr>
              <a:t>derived *d = new derived(); </a:t>
            </a:r>
          </a:p>
          <a:p>
            <a:pPr marL="533400" indent="-533400" algn="just" eaLnBrk="1" hangingPunct="1">
              <a:lnSpc>
                <a:spcPct val="90000"/>
              </a:lnSpc>
            </a:pPr>
            <a:r>
              <a:rPr lang="en-US" altLang="en-US" sz="1600">
                <a:latin typeface="Times New Roman" panose="02020603050405020304" pitchFamily="18" charset="0"/>
              </a:rPr>
              <a:t>base *b = d; </a:t>
            </a:r>
          </a:p>
          <a:p>
            <a:pPr marL="533400" indent="-533400" algn="just" eaLnBrk="1" hangingPunct="1">
              <a:lnSpc>
                <a:spcPct val="90000"/>
              </a:lnSpc>
            </a:pPr>
            <a:r>
              <a:rPr lang="en-US" altLang="en-US" sz="1600">
                <a:latin typeface="Times New Roman" panose="02020603050405020304" pitchFamily="18" charset="0"/>
              </a:rPr>
              <a:t>delete b; </a:t>
            </a:r>
          </a:p>
          <a:p>
            <a:pPr marL="533400" indent="-533400" algn="just" eaLnBrk="1" hangingPunct="1">
              <a:lnSpc>
                <a:spcPct val="90000"/>
              </a:lnSpc>
            </a:pPr>
            <a:r>
              <a:rPr lang="en-US" altLang="en-US" sz="1600">
                <a:latin typeface="Times New Roman" panose="02020603050405020304" pitchFamily="18" charset="0"/>
              </a:rPr>
              <a:t>return 0; </a:t>
            </a:r>
          </a:p>
          <a:p>
            <a:pPr marL="533400" indent="-533400" algn="just" eaLnBrk="1" hangingPunct="1">
              <a:lnSpc>
                <a:spcPct val="90000"/>
              </a:lnSpc>
            </a:pPr>
            <a:r>
              <a:rPr lang="en-US" altLang="en-US" sz="1600">
                <a:latin typeface="Times New Roman" panose="02020603050405020304" pitchFamily="18" charset="0"/>
              </a:rPr>
              <a:t>} </a:t>
            </a:r>
          </a:p>
          <a:p>
            <a:pPr marL="533400" indent="-533400" algn="just" eaLnBrk="1" hangingPunct="1">
              <a:lnSpc>
                <a:spcPct val="90000"/>
              </a:lnSpc>
            </a:pPr>
            <a:endParaRPr lang="en-US" altLang="en-US" sz="1600">
              <a:latin typeface="Times New Roman" panose="02020603050405020304" pitchFamily="18" charset="0"/>
            </a:endParaRPr>
          </a:p>
        </p:txBody>
      </p:sp>
      <p:sp>
        <p:nvSpPr>
          <p:cNvPr id="33795" name="Rectangle 3">
            <a:extLst>
              <a:ext uri="{FF2B5EF4-FFF2-40B4-BE49-F238E27FC236}">
                <a16:creationId xmlns:a16="http://schemas.microsoft.com/office/drawing/2014/main" id="{66605161-A894-6C5B-2DFB-2C4D2207D8A0}"/>
              </a:ext>
            </a:extLst>
          </p:cNvPr>
          <p:cNvSpPr txBox="1">
            <a:spLocks noChangeArrowheads="1"/>
          </p:cNvSpPr>
          <p:nvPr/>
        </p:nvSpPr>
        <p:spPr bwMode="auto">
          <a:xfrm>
            <a:off x="4495800" y="381000"/>
            <a:ext cx="41148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t>Output:</a:t>
            </a:r>
          </a:p>
          <a:p>
            <a:r>
              <a:rPr lang="en-US" altLang="en-US" sz="1600"/>
              <a:t>constructing base                                                                                          </a:t>
            </a:r>
          </a:p>
          <a:p>
            <a:r>
              <a:rPr lang="en-US" altLang="en-US" sz="1600"/>
              <a:t>Constructing derived                                                                               </a:t>
            </a:r>
          </a:p>
          <a:p>
            <a:r>
              <a:rPr lang="en-US" altLang="en-US" sz="1600"/>
              <a:t>Destructing derived                                          Destructing base </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1102</TotalTime>
  <Words>3150</Words>
  <Application>Microsoft Office PowerPoint</Application>
  <PresentationFormat>On-screen Show (4:3)</PresentationFormat>
  <Paragraphs>421</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Default Design</vt:lpstr>
      <vt:lpstr>Ambiguity resolution in inheritance</vt:lpstr>
      <vt:lpstr>Ambiguity resolution in inheritance</vt:lpstr>
      <vt:lpstr>Virtual base classes</vt:lpstr>
      <vt:lpstr>PowerPoint Presentation</vt:lpstr>
      <vt:lpstr>PowerPoint Presentation</vt:lpstr>
      <vt:lpstr>Constructors in derived classes</vt:lpstr>
      <vt:lpstr>Constructors in derived classes</vt:lpstr>
      <vt:lpstr>Constructors in derived classes</vt:lpstr>
      <vt:lpstr>Constructors in derived classes</vt:lpstr>
      <vt:lpstr>PowerPoint Presentation</vt:lpstr>
      <vt:lpstr>PowerPoint Presentation</vt:lpstr>
      <vt:lpstr>PowerPoint Presentation</vt:lpstr>
      <vt:lpstr>Member classes : nesting of classes</vt:lpstr>
      <vt:lpstr>Runtime polymorphism</vt:lpstr>
      <vt:lpstr>PowerPoint Presentation</vt:lpstr>
      <vt:lpstr>Pointers to objects</vt:lpstr>
      <vt:lpstr>Pointers to objects</vt:lpstr>
      <vt:lpstr>Pointers to objects</vt:lpstr>
      <vt:lpstr>Pointers to derived classes</vt:lpstr>
      <vt:lpstr>PowerPoint Presentation</vt:lpstr>
      <vt:lpstr>PowerPoint Presentation</vt:lpstr>
      <vt:lpstr>PowerPoint Presentation</vt:lpstr>
      <vt:lpstr>Virtual functions</vt:lpstr>
      <vt:lpstr>PowerPoint Presentation</vt:lpstr>
      <vt:lpstr>PowerPoint Presentation</vt:lpstr>
      <vt:lpstr>Rules for Virtual functions</vt:lpstr>
      <vt:lpstr>Rules for Virtual functions</vt:lpstr>
      <vt:lpstr>Pure Virtual functions</vt:lpstr>
      <vt:lpstr>Pure Virtual functions contd….</vt:lpstr>
      <vt:lpstr>Virtual destructor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S Bhavani</cp:lastModifiedBy>
  <cp:revision>459</cp:revision>
  <cp:lastPrinted>1601-01-01T00:00:00Z</cp:lastPrinted>
  <dcterms:created xsi:type="dcterms:W3CDTF">1601-01-01T00:00:00Z</dcterms:created>
  <dcterms:modified xsi:type="dcterms:W3CDTF">2026-04-07T06:29:14Z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