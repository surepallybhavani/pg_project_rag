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0" r:id="rId2"/>
    <p:sldId id="285" r:id="rId3"/>
    <p:sldId id="287" r:id="rId4"/>
    <p:sldId id="289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D66227-A556-1EA7-73BB-45733D9914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122C2F-C991-491C-EC06-500F881DF4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AC864CB-575E-4F75-8892-F2F87F685FFE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1949DA-A6B8-1D3A-1AF0-99B6C6B73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B4BD1B-DC25-AAA1-AB30-5982A930B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F0374-7B59-1935-D135-68DCC19CD8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04175-C7B4-09F3-F478-C30AC1208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51E98B-9B1A-4D15-B618-0D6F5BB75D0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E2B5D066-46E4-54E8-21B6-2D182E6469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1B11EC24-45CA-A7AD-5F89-3C921EEBD0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FE573330-F3F4-B530-F79C-E9CF1E772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753A35-FB8E-446D-A466-3B87004472B5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011290-6FD0-18F7-0D33-DDC3228A51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B44F99-5BAB-309A-1C75-CAC54E2E6C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EE6AF0-6074-8C51-6A2F-DA00CD8A6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BA6F1-CAC2-44D8-A002-B321EFDC05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12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BCC50F-6555-D72B-412A-31BAB8211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183EE9-7A7E-BC74-A96E-CB44FE431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2DA878-C0F5-4130-AE43-48D1513C1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F01034-A5AF-42BB-9212-D8B2E2CF59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78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C46677-D980-C83A-D76D-1497E42A6F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3F1BCC-8000-51EE-5736-BBD6B36B1C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F3F69E-4EF2-075D-3C04-449CE02033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132402-E197-4094-88D2-4B25352327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21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10FEB-114E-2802-4DCA-27C37FF7DF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95A5A-B7BD-5A9E-DF59-DC3180A01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B697-5052-2E11-155A-7DF91C354B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FEC74F-1DD5-485E-860B-12F214F7BA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38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42CF0B-EB1C-CD45-2DED-E5E5CF1196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969871-5EAB-733F-7527-9582118D27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4195762-4E1A-18D2-AA1F-EA8ACCEDB7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9F40C-4820-4243-9BB0-26E39A512E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25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207878F-357F-BBEE-A0BF-A89255D45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E882C5-3D22-ABE8-A413-F5E01396CD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369F790-14A5-A2D4-89C5-40F9102312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8F388A-4BB7-4350-A463-1A9F0FEFCA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37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711C090-C963-173A-D528-C44399A129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069BBD8-E7C5-3C29-A056-B861BBEB38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609831-9762-44BB-2439-59285FF35E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D86B52-366A-4B88-91A6-18568002A4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52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9EFEA-4336-FEAB-6455-FF2446A21D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7C62E6-E76B-75B4-9069-809C5600F2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67DEEE-2EFA-A456-3D8F-B68BBC223D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BBA4E-366E-46E0-802B-C4BBBD877C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58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8C3F5-7ACF-D369-5EFD-20E841FE0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66F91B-CB5E-8CC0-109A-BF647EAC20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CCD64-AC54-2F51-D9FA-BCA5E9FB43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0D2E5F-A498-49E4-BE86-62FA16BDA9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29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17603B-424F-E69C-B8BC-5CBFF4B130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509E6B-6BDB-D6E5-900F-762C66E553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5DE4F0-CB28-F3A2-5143-CF880B053D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785417-08AD-4E10-9EBA-12EFC78418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3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9BF4F0-F55D-B925-4496-2DBA4D1040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42330C-8FDB-6572-784D-9C822D71C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9F9FA5-8565-F56F-094F-2F6D60F56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E4EF5-8B45-430C-AA0E-EDD96C7B20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27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148377-01FF-BC25-3568-CE4946235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225C57-AF74-FDFB-C5ED-A28257EC5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AFAC36-58D9-4009-3ADE-F82D38CE2E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E35263-497F-222E-4280-6D4B4F1A618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140FAE3-07F9-94AA-D1A9-37F6528B68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99FD06D-4B2D-4691-96E1-92B1D071366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B7A5EE-2756-32C7-B398-68ECCBFEE7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C-based I/O functions</a:t>
            </a:r>
            <a:br>
              <a:rPr lang="en-US" altLang="en-US" sz="2800">
                <a:solidFill>
                  <a:schemeClr val="accent2"/>
                </a:solidFill>
              </a:rPr>
            </a:br>
            <a:r>
              <a:rPr lang="en-US" altLang="en-US" sz="2800">
                <a:solidFill>
                  <a:schemeClr val="accent2"/>
                </a:solidFill>
              </a:rPr>
              <a:t>clearerr()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29BA519-5C9B-714D-BCC1-34A96344A0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 algn="l"/>
            <a:r>
              <a:rPr lang="en-US" altLang="en-US" sz="2400"/>
              <a:t>#include &lt;cstdio&gt;</a:t>
            </a:r>
          </a:p>
          <a:p>
            <a:pPr algn="l"/>
            <a:r>
              <a:rPr lang="en-US" altLang="en-US" sz="2400"/>
              <a:t>void clearerr(FILE *stream);</a:t>
            </a:r>
          </a:p>
          <a:p>
            <a:pPr algn="l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clearerr( ) function resets (i.e., sets to zero) the error flag associated with the </a:t>
            </a:r>
            <a:r>
              <a:rPr lang="en-US" altLang="en-US" sz="2400"/>
              <a:t>stream pointed to by </a:t>
            </a:r>
            <a:r>
              <a:rPr lang="en-US" altLang="en-US" sz="2400" i="1"/>
              <a:t>stream. </a:t>
            </a:r>
          </a:p>
          <a:p>
            <a:pPr algn="l">
              <a:buFontTx/>
              <a:buChar char="•"/>
            </a:pPr>
            <a:r>
              <a:rPr lang="en-US" altLang="en-US" sz="2400" i="1"/>
              <a:t>The end-of-file indicator is also reset. </a:t>
            </a:r>
          </a:p>
          <a:p>
            <a:pPr algn="l">
              <a:buFontTx/>
              <a:buChar char="•"/>
            </a:pPr>
            <a:r>
              <a:rPr lang="en-US" altLang="en-US" sz="2400"/>
              <a:t>The error flags for each stream are initially set to zero by a successful call to </a:t>
            </a:r>
            <a:r>
              <a:rPr lang="en-US" altLang="en-US" sz="2400" b="1"/>
              <a:t>fopen( ).</a:t>
            </a:r>
          </a:p>
          <a:p>
            <a:pPr algn="l">
              <a:buFontTx/>
              <a:buChar char="•"/>
            </a:pPr>
            <a:r>
              <a:rPr lang="en-US" altLang="en-US" sz="2400"/>
              <a:t>File errors can occur for a wide variety of reasons, many of which are system dependent. </a:t>
            </a:r>
          </a:p>
          <a:p>
            <a:pPr algn="l">
              <a:buFontTx/>
              <a:buChar char="•"/>
            </a:pPr>
            <a:r>
              <a:rPr lang="en-US" altLang="en-US" sz="2400"/>
              <a:t>The exact nature of the error can be determined by calling </a:t>
            </a:r>
            <a:r>
              <a:rPr lang="en-US" altLang="en-US" sz="2400" b="1"/>
              <a:t>perror( ), which </a:t>
            </a:r>
            <a:r>
              <a:rPr lang="en-US" altLang="en-US" sz="2400"/>
              <a:t>displays what error has occurred</a:t>
            </a:r>
            <a:r>
              <a:rPr lang="en-US" altLang="en-US" sz="2400" b="1"/>
              <a:t>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6176D6D-1EE1-DE32-F34E-D1072A1FF8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fclose()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B87C71-5CC2-2CE6-C107-614521FA50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l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l"/>
            <a:r>
              <a:rPr lang="en-US" altLang="en-US" sz="2800">
                <a:solidFill>
                  <a:srgbClr val="0066CC"/>
                </a:solidFill>
              </a:rPr>
              <a:t>int fclose(FILE *stream);</a:t>
            </a:r>
          </a:p>
          <a:p>
            <a:pPr algn="l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fclose( ) function closes the file associated with </a:t>
            </a:r>
            <a:r>
              <a:rPr lang="en-US" altLang="en-US" sz="2800" b="1" i="1"/>
              <a:t>stream and flushes its buffer.</a:t>
            </a:r>
          </a:p>
          <a:p>
            <a:pPr algn="l">
              <a:buFontTx/>
              <a:buChar char="•"/>
            </a:pPr>
            <a:r>
              <a:rPr lang="en-US" altLang="en-US" sz="2800"/>
              <a:t>After an </a:t>
            </a:r>
            <a:r>
              <a:rPr lang="en-US" altLang="en-US" sz="2800" b="1"/>
              <a:t>fclose( ), </a:t>
            </a:r>
            <a:r>
              <a:rPr lang="en-US" altLang="en-US" sz="2800" b="1" i="1"/>
              <a:t>stream is no longer connected with the file, and any automatically </a:t>
            </a:r>
            <a:r>
              <a:rPr lang="en-US" altLang="en-US" sz="2800"/>
              <a:t>allocated buffers are deallocated.</a:t>
            </a:r>
          </a:p>
          <a:p>
            <a:pPr algn="l">
              <a:buFontTx/>
              <a:buChar char="•"/>
            </a:pPr>
            <a:r>
              <a:rPr lang="en-US" altLang="en-US" sz="2800"/>
              <a:t>If </a:t>
            </a:r>
            <a:r>
              <a:rPr lang="en-US" altLang="en-US" sz="2800" b="1"/>
              <a:t>fclose( ) is successful, zero is returned; otherwise EOF is returned. </a:t>
            </a:r>
          </a:p>
          <a:p>
            <a:pPr algn="l">
              <a:buFontTx/>
              <a:buChar char="•"/>
            </a:pPr>
            <a:r>
              <a:rPr lang="en-US" altLang="en-US" sz="2800" b="1"/>
              <a:t>Trying to close </a:t>
            </a:r>
            <a:r>
              <a:rPr lang="en-US" altLang="en-US" sz="2800"/>
              <a:t>a file that has already been closed is an error.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5E9CE87-669C-4847-1A65-82C48D3F50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feof()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0B1ECE3-83BF-6414-18D9-22133AC344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feof(FILE *stream);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feof( ) function checks the file position indicator to determine if the end of the </a:t>
            </a:r>
            <a:r>
              <a:rPr lang="en-US" altLang="en-US" sz="2800"/>
              <a:t>file associated with </a:t>
            </a:r>
            <a:r>
              <a:rPr lang="en-US" altLang="en-US" sz="2800" i="1"/>
              <a:t>stream has been reached. </a:t>
            </a:r>
          </a:p>
          <a:p>
            <a:pPr algn="just">
              <a:buFontTx/>
              <a:buChar char="•"/>
            </a:pPr>
            <a:r>
              <a:rPr lang="en-US" altLang="en-US" sz="2800" i="1"/>
              <a:t>A nonzero value is returned if the file position</a:t>
            </a:r>
          </a:p>
          <a:p>
            <a:pPr algn="just"/>
            <a:r>
              <a:rPr lang="en-US" altLang="en-US" sz="2800"/>
              <a:t>indicator is at end-of-file; zero is returned otherwise.</a:t>
            </a:r>
          </a:p>
          <a:p>
            <a:pPr algn="just">
              <a:buFontTx/>
              <a:buChar char="•"/>
            </a:pPr>
            <a:r>
              <a:rPr lang="en-US" altLang="en-US" sz="2800"/>
              <a:t>Once the end of the file has been reached, subsequent read operations will return </a:t>
            </a:r>
            <a:r>
              <a:rPr lang="en-US" altLang="en-US" sz="2800" b="1"/>
              <a:t>EOF until either rewind( ) is called or the file position indicator is moved using fseek( ).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8530593-3C72-E214-7370-5EBD83E34F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ferror()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C0B8658-AAFC-EEA7-D187-F39B8839F1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>
                <a:solidFill>
                  <a:srgbClr val="0066CC"/>
                </a:solidFill>
              </a:rPr>
              <a:t>int ferror(FILE *stream);</a:t>
            </a:r>
          </a:p>
          <a:p>
            <a:pPr algn="just">
              <a:buFontTx/>
              <a:buChar char="•"/>
            </a:pPr>
            <a:r>
              <a:rPr lang="en-US" altLang="en-US"/>
              <a:t>The </a:t>
            </a:r>
            <a:r>
              <a:rPr lang="en-US" altLang="en-US" b="1"/>
              <a:t>ferror( ) function checks for a file error on the given </a:t>
            </a:r>
            <a:r>
              <a:rPr lang="en-US" altLang="en-US" b="1" i="1"/>
              <a:t>stream. </a:t>
            </a:r>
          </a:p>
          <a:p>
            <a:pPr algn="just">
              <a:buFontTx/>
              <a:buChar char="•"/>
            </a:pPr>
            <a:r>
              <a:rPr lang="en-US" altLang="en-US" b="1" i="1"/>
              <a:t>A return value of </a:t>
            </a:r>
            <a:r>
              <a:rPr lang="en-US" altLang="en-US"/>
              <a:t>zero indicates that no error has occurred, while a nonzero value means an error.</a:t>
            </a:r>
          </a:p>
          <a:p>
            <a:pPr algn="just">
              <a:buFontTx/>
              <a:buChar char="•"/>
            </a:pPr>
            <a:r>
              <a:rPr lang="en-US" altLang="en-US"/>
              <a:t>To determine the exact nature of the error, use the </a:t>
            </a:r>
            <a:r>
              <a:rPr lang="en-US" altLang="en-US" b="1"/>
              <a:t>perror( ) function</a:t>
            </a:r>
            <a:endParaRPr lang="en-US" altLang="en-US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810D33-A698-89DA-4E4B-C3D9FA2DC1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fflush()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9AAD4FD-BFAF-00FB-77AF-B9E2FC044E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fflush(FILE *stream);</a:t>
            </a:r>
          </a:p>
          <a:p>
            <a:pPr algn="just">
              <a:buFontTx/>
              <a:buChar char="•"/>
            </a:pPr>
            <a:r>
              <a:rPr lang="en-US" altLang="en-US" sz="2800"/>
              <a:t>If </a:t>
            </a:r>
            <a:r>
              <a:rPr lang="en-US" altLang="en-US" sz="2800" i="1"/>
              <a:t>stream is associated with a file opened for writing, a call to </a:t>
            </a:r>
            <a:r>
              <a:rPr lang="en-US" altLang="en-US" sz="2800" b="1" i="1"/>
              <a:t>fflush( ) causes the </a:t>
            </a:r>
            <a:r>
              <a:rPr lang="en-US" altLang="en-US" sz="2800"/>
              <a:t>contents of the output buffer to be physically written to the file. The file remains open.</a:t>
            </a:r>
          </a:p>
          <a:p>
            <a:pPr algn="just">
              <a:buFontTx/>
              <a:buChar char="•"/>
            </a:pPr>
            <a:r>
              <a:rPr lang="en-US" altLang="en-US" sz="2800"/>
              <a:t>A return value of zero indicates success; </a:t>
            </a:r>
            <a:r>
              <a:rPr lang="en-US" altLang="en-US" sz="2800" b="1"/>
              <a:t>EOF indicates that a write error has </a:t>
            </a:r>
            <a:r>
              <a:rPr lang="en-US" altLang="en-US" sz="2800"/>
              <a:t>occurred.</a:t>
            </a:r>
          </a:p>
          <a:p>
            <a:pPr algn="just">
              <a:buFontTx/>
              <a:buChar char="•"/>
            </a:pPr>
            <a:r>
              <a:rPr lang="en-US" altLang="en-US" sz="2800"/>
              <a:t>All buffers are automatically flushed upon normal termination of the program or when they are full. Also, closing a file flushes its buffer.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95B1E9B-810F-D1C9-F0CB-CB5C9D239B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fgetc()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F080945-5B45-349E-2644-3B6A942CEC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int fgetc(FILE *stream);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fgetc( ) function returns the next character from the input </a:t>
            </a:r>
            <a:r>
              <a:rPr lang="en-US" altLang="en-US" sz="2400" b="1" i="1"/>
              <a:t>stream from the </a:t>
            </a:r>
            <a:r>
              <a:rPr lang="en-US" altLang="en-US" sz="2400"/>
              <a:t>current position and increments the file position indicator.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character is read as an </a:t>
            </a:r>
            <a:r>
              <a:rPr lang="en-US" altLang="en-US" sz="2400" b="1"/>
              <a:t>unsigned char that is converted to an integer.</a:t>
            </a:r>
          </a:p>
          <a:p>
            <a:pPr algn="just">
              <a:buFontTx/>
              <a:buChar char="•"/>
            </a:pPr>
            <a:r>
              <a:rPr lang="en-US" altLang="en-US" sz="2400"/>
              <a:t>If the end of the file is reached, </a:t>
            </a:r>
            <a:r>
              <a:rPr lang="en-US" altLang="en-US" sz="2400" b="1"/>
              <a:t>fgetc( ) returns EOF. However, since EOF is a valid</a:t>
            </a:r>
          </a:p>
          <a:p>
            <a:pPr algn="just"/>
            <a:r>
              <a:rPr lang="en-US" altLang="en-US" sz="2400"/>
              <a:t>integer value, when working with binary files you must use </a:t>
            </a:r>
            <a:r>
              <a:rPr lang="en-US" altLang="en-US" sz="2400" b="1"/>
              <a:t>feof( ) to check for the end </a:t>
            </a:r>
            <a:r>
              <a:rPr lang="en-US" altLang="en-US" sz="2400"/>
              <a:t>of the file.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4FC5D6-5314-7EBF-47B5-7FD96C54B1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fgets()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CA9B0A5-C903-9B91-6462-12EBDDC403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0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000">
                <a:solidFill>
                  <a:srgbClr val="0066CC"/>
                </a:solidFill>
              </a:rPr>
              <a:t>char *fgets(char *str, int num, FILE *stream);</a:t>
            </a:r>
          </a:p>
          <a:p>
            <a:pPr algn="just">
              <a:buFontTx/>
              <a:buChar char="•"/>
            </a:pPr>
            <a:r>
              <a:rPr lang="en-US" altLang="en-US" sz="2000"/>
              <a:t>The </a:t>
            </a:r>
            <a:r>
              <a:rPr lang="en-US" altLang="en-US" sz="2000" b="1"/>
              <a:t>fgets( ) function reads up to </a:t>
            </a:r>
            <a:r>
              <a:rPr lang="en-US" altLang="en-US" sz="2000" b="1" i="1"/>
              <a:t>num-1 characters from stream and places them into </a:t>
            </a:r>
            <a:r>
              <a:rPr lang="en-US" altLang="en-US" sz="2000"/>
              <a:t>the character array pointed to by </a:t>
            </a:r>
            <a:r>
              <a:rPr lang="en-US" altLang="en-US" sz="2000" i="1"/>
              <a:t>str. </a:t>
            </a:r>
          </a:p>
          <a:p>
            <a:pPr algn="just">
              <a:buFontTx/>
              <a:buChar char="•"/>
            </a:pPr>
            <a:r>
              <a:rPr lang="en-US" altLang="en-US" sz="2000" i="1"/>
              <a:t>Characters are read until either a newline or an </a:t>
            </a:r>
            <a:r>
              <a:rPr lang="en-US" altLang="en-US" sz="2000" b="1"/>
              <a:t>EOF is received or until the specified limit is reached. </a:t>
            </a:r>
          </a:p>
          <a:p>
            <a:pPr algn="just">
              <a:buFontTx/>
              <a:buChar char="•"/>
            </a:pPr>
            <a:r>
              <a:rPr lang="en-US" altLang="en-US" sz="2000" b="1"/>
              <a:t>After the characters have been </a:t>
            </a:r>
            <a:r>
              <a:rPr lang="en-US" altLang="en-US" sz="2000"/>
              <a:t>read, a null is placed in the array immediately after the last character read. </a:t>
            </a:r>
          </a:p>
          <a:p>
            <a:pPr algn="just">
              <a:buFontTx/>
              <a:buChar char="•"/>
            </a:pPr>
            <a:r>
              <a:rPr lang="en-US" altLang="en-US" sz="2000"/>
              <a:t>A newline character will be retained and will be part of the array pointed to by </a:t>
            </a:r>
            <a:r>
              <a:rPr lang="en-US" altLang="en-US" sz="2000" i="1"/>
              <a:t>str. </a:t>
            </a:r>
          </a:p>
          <a:p>
            <a:pPr algn="just">
              <a:buFontTx/>
              <a:buChar char="•"/>
            </a:pPr>
            <a:r>
              <a:rPr lang="en-US" altLang="en-US" sz="2000"/>
              <a:t>If successful, </a:t>
            </a:r>
            <a:r>
              <a:rPr lang="en-US" altLang="en-US" sz="2000" b="1"/>
              <a:t>fgets( ) returns </a:t>
            </a:r>
            <a:r>
              <a:rPr lang="en-US" altLang="en-US" sz="2000" b="1" i="1"/>
              <a:t>str; a null pointer is returned upon failure. </a:t>
            </a:r>
          </a:p>
          <a:p>
            <a:pPr algn="just">
              <a:buFontTx/>
              <a:buChar char="•"/>
            </a:pPr>
            <a:r>
              <a:rPr lang="en-US" altLang="en-US" sz="2000" b="1" i="1"/>
              <a:t>If a read </a:t>
            </a:r>
            <a:r>
              <a:rPr lang="en-US" altLang="en-US" sz="2000"/>
              <a:t>error occurs, the contents of the array pointed to by </a:t>
            </a:r>
            <a:r>
              <a:rPr lang="en-US" altLang="en-US" sz="2000" i="1"/>
              <a:t>str are indeterminate. </a:t>
            </a:r>
          </a:p>
          <a:p>
            <a:pPr algn="just">
              <a:buFontTx/>
              <a:buChar char="•"/>
            </a:pPr>
            <a:r>
              <a:rPr lang="en-US" altLang="en-US" sz="2000" i="1"/>
              <a:t>Because </a:t>
            </a:r>
            <a:r>
              <a:rPr lang="en-US" altLang="en-US" sz="2000"/>
              <a:t>a null pointer will be returned when either an error has occurred or when the end of the file is reached, you should use </a:t>
            </a:r>
            <a:r>
              <a:rPr lang="en-US" altLang="en-US" sz="2000" b="1"/>
              <a:t>feof( ) or ferror( ) to determine what has actually </a:t>
            </a:r>
            <a:r>
              <a:rPr lang="en-US" altLang="en-US" sz="2000"/>
              <a:t>happened.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6B776CC-CD0C-55DF-C77C-5F523A2209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fopen()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B7ABD2-257C-1C16-8EE9-C2A11D5444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fr-FR" altLang="en-US" sz="2800">
                <a:solidFill>
                  <a:srgbClr val="0066CC"/>
                </a:solidFill>
              </a:rPr>
              <a:t>FILE *fopen(const char *fname, const char *mode);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fopen( ) function opens a file whose name is pointed to by </a:t>
            </a:r>
            <a:r>
              <a:rPr lang="en-US" altLang="en-US" sz="2800" b="1" i="1"/>
              <a:t>fname and returns </a:t>
            </a:r>
            <a:r>
              <a:rPr lang="en-US" altLang="en-US" sz="2800"/>
              <a:t>the stream that is associated with it. 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type of operations that will be allowed on the</a:t>
            </a:r>
          </a:p>
          <a:p>
            <a:pPr algn="just"/>
            <a:r>
              <a:rPr lang="en-US" altLang="en-US" sz="2800"/>
              <a:t>file are defined by the value of </a:t>
            </a:r>
            <a:r>
              <a:rPr lang="en-US" altLang="en-US" sz="2800" i="1"/>
              <a:t>mode.</a:t>
            </a:r>
          </a:p>
          <a:p>
            <a:pPr algn="just">
              <a:buFontTx/>
              <a:buChar char="•"/>
            </a:pPr>
            <a:r>
              <a:rPr lang="en-US" altLang="en-US" sz="2800"/>
              <a:t>If </a:t>
            </a:r>
            <a:r>
              <a:rPr lang="en-US" altLang="en-US" sz="2800" b="1"/>
              <a:t>fopen( ) is successful in opening the specified file, a FILE pointer is returned.</a:t>
            </a:r>
          </a:p>
          <a:p>
            <a:pPr algn="just">
              <a:buFontTx/>
              <a:buChar char="•"/>
            </a:pPr>
            <a:r>
              <a:rPr lang="en-US" altLang="en-US" sz="2800"/>
              <a:t>If the file cannot be opened, a null pointer is returned.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ubtitle 3">
            <a:extLst>
              <a:ext uri="{FF2B5EF4-FFF2-40B4-BE49-F238E27FC236}">
                <a16:creationId xmlns:a16="http://schemas.microsoft.com/office/drawing/2014/main" id="{F272A8EC-7E1E-F0B0-19D9-BE0069E292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40BB01E0-8FA3-F3FA-3FC7-8ECA5D8E4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685800"/>
            <a:ext cx="87757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8BBCF9B-345D-F48D-5EA0-3AB993BADE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fprintf()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08FB2B0-3225-1A80-CAF2-793FC3729F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fprintf(FILE *stream, const char *format, ...);</a:t>
            </a:r>
          </a:p>
          <a:p>
            <a:pPr algn="just"/>
            <a:endParaRPr lang="en-US" altLang="en-US" sz="2800">
              <a:solidFill>
                <a:srgbClr val="0066CC"/>
              </a:solidFill>
            </a:endParaRP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fprintf( ) function outputs the values of the arguments that comprise the </a:t>
            </a:r>
            <a:r>
              <a:rPr lang="en-US" altLang="en-US" sz="2800"/>
              <a:t>argument list as specified in the </a:t>
            </a:r>
            <a:r>
              <a:rPr lang="en-US" altLang="en-US" sz="2800" i="1"/>
              <a:t>format string to the stream pointed to by stream.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return value is the number of characters actually printed. If an error occurs, a negative number is returned.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26811F-36A0-D547-32AE-0EDDE34B32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fputc()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C28D1C5-DFE8-4842-2B80-617A026E96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fputc(int ch, FILE *stream);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fputc( ) function writes the character </a:t>
            </a:r>
            <a:r>
              <a:rPr lang="en-US" altLang="en-US" sz="2800" b="1" i="1"/>
              <a:t>ch to the specified stream at the current </a:t>
            </a:r>
            <a:r>
              <a:rPr lang="en-US" altLang="en-US" sz="2800"/>
              <a:t>file position and then advances the file position indicator.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value returned by </a:t>
            </a:r>
            <a:r>
              <a:rPr lang="en-US" altLang="en-US" sz="2800" b="1"/>
              <a:t>fputc( ) is the value of the character written. </a:t>
            </a:r>
          </a:p>
          <a:p>
            <a:pPr algn="just">
              <a:buFontTx/>
              <a:buChar char="•"/>
            </a:pPr>
            <a:r>
              <a:rPr lang="en-US" altLang="en-US" sz="2800" b="1"/>
              <a:t>If an error </a:t>
            </a:r>
            <a:r>
              <a:rPr lang="en-US" altLang="en-US" sz="2800"/>
              <a:t>occurs, </a:t>
            </a:r>
            <a:r>
              <a:rPr lang="en-US" altLang="en-US" sz="2800" b="1"/>
              <a:t>EOF is returned. </a:t>
            </a:r>
          </a:p>
          <a:p>
            <a:pPr algn="just">
              <a:buFontTx/>
              <a:buChar char="•"/>
            </a:pPr>
            <a:r>
              <a:rPr lang="en-US" altLang="en-US" sz="2800" b="1"/>
              <a:t>For files opened for binary operations, an EOF may be a valid </a:t>
            </a:r>
            <a:r>
              <a:rPr lang="en-US" altLang="en-US" sz="2800"/>
              <a:t>character, and the function </a:t>
            </a:r>
            <a:r>
              <a:rPr lang="en-US" altLang="en-US" sz="2800" b="1"/>
              <a:t>ferror( ) will need to be used to determine whether an error </a:t>
            </a:r>
            <a:r>
              <a:rPr lang="en-US" altLang="en-US" sz="2800"/>
              <a:t>has actually occurred.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172C82-47E7-45A3-17DE-E111C7BEA4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fputs()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B28CF61-1F9F-0ADA-EA49-A1284F3CB8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int fputs(const char *str, FILE *stream);</a:t>
            </a:r>
          </a:p>
          <a:p>
            <a:pPr algn="just"/>
            <a:endParaRPr lang="en-US" altLang="en-US" sz="2400">
              <a:solidFill>
                <a:srgbClr val="0066CC"/>
              </a:solidFill>
            </a:endParaRP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fputs( ) function writes the contents of the string pointed to by </a:t>
            </a:r>
            <a:r>
              <a:rPr lang="en-US" altLang="en-US" sz="2400" b="1" i="1"/>
              <a:t>str to the </a:t>
            </a:r>
            <a:r>
              <a:rPr lang="en-US" altLang="en-US" sz="2400"/>
              <a:t>specified stream.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null terminator is not written.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fputs( ) function returns nonnegative on success and EOF on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6A4F56F-A126-5090-B239-C0EF0B64C1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fread()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6193AA4-4870-E290-08DF-E812103B0F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size_t fread(void *buf, size_t size, size_t count, FILE *stream);</a:t>
            </a:r>
          </a:p>
          <a:p>
            <a:pPr algn="just"/>
            <a:endParaRPr lang="en-US" altLang="en-US" sz="2400">
              <a:solidFill>
                <a:srgbClr val="0066CC"/>
              </a:solidFill>
            </a:endParaRP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fread( ) function reads </a:t>
            </a:r>
            <a:r>
              <a:rPr lang="en-US" altLang="en-US" sz="2400" b="1" i="1"/>
              <a:t>count number of objects, each object being size bytes in </a:t>
            </a:r>
            <a:r>
              <a:rPr lang="en-US" altLang="en-US" sz="2400"/>
              <a:t>length, from the stream pointed to by </a:t>
            </a:r>
            <a:r>
              <a:rPr lang="en-US" altLang="en-US" sz="2400" i="1"/>
              <a:t>stream and places them in the array pointed to by buf. </a:t>
            </a:r>
          </a:p>
          <a:p>
            <a:pPr algn="just">
              <a:buFontTx/>
              <a:buChar char="•"/>
            </a:pPr>
            <a:r>
              <a:rPr lang="en-US" altLang="en-US" sz="2400" i="1"/>
              <a:t>The file position indicator is advanced by the number of characters read.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fread( ) function returns the number of items actually read. If fewer items are</a:t>
            </a:r>
          </a:p>
          <a:p>
            <a:pPr algn="just"/>
            <a:r>
              <a:rPr lang="en-US" altLang="en-US" sz="2400"/>
              <a:t>read than are requested in the call, either an error has occurred or the end of the file has been reached.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9EB6D4C-5D32-F374-78CC-4E2A2A5074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fscanf()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DA271CF-BB23-F4CB-3728-CBDDDFCF7B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fscanf(FILE *stream, const char *format, ...);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fscanf( ) function works exactly like the scanf( ) function, except that it reads </a:t>
            </a:r>
            <a:r>
              <a:rPr lang="en-US" altLang="en-US" sz="2800"/>
              <a:t>the information from the stream specified by </a:t>
            </a:r>
            <a:r>
              <a:rPr lang="en-US" altLang="en-US" sz="2800" i="1"/>
              <a:t>stream instead of </a:t>
            </a:r>
            <a:r>
              <a:rPr lang="en-US" altLang="en-US" sz="2800" b="1" i="1"/>
              <a:t>stdin. 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fscanf( ) function returns the number of arguments actually assigned values.</a:t>
            </a:r>
          </a:p>
          <a:p>
            <a:pPr algn="just">
              <a:buFontTx/>
              <a:buChar char="•"/>
            </a:pPr>
            <a:r>
              <a:rPr lang="en-US" altLang="en-US" sz="2800"/>
              <a:t>This number does not include skipped fields. 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4C3C2B5-38CF-2F7C-055C-488CE9C9B0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fseek()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031A25A-DD6E-71FF-99CB-42683D68CC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fseek(FILE *stream, long offset, int origin);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fseek( ) function sets the file position indicator associated with stream according </a:t>
            </a:r>
            <a:r>
              <a:rPr lang="en-US" altLang="en-US" sz="2800"/>
              <a:t>to the values of </a:t>
            </a:r>
            <a:r>
              <a:rPr lang="en-US" altLang="en-US" sz="2800" i="1"/>
              <a:t>offset and origin. </a:t>
            </a:r>
          </a:p>
          <a:p>
            <a:pPr algn="just">
              <a:buFontTx/>
              <a:buChar char="•"/>
            </a:pPr>
            <a:r>
              <a:rPr lang="en-US" altLang="en-US" sz="2800" i="1"/>
              <a:t>Its purpose is to support random-access I/O operations.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i="1"/>
              <a:t>offset is the number of bytes from origin to seek to. </a:t>
            </a:r>
          </a:p>
          <a:p>
            <a:pPr algn="just">
              <a:buFontTx/>
              <a:buChar char="•"/>
            </a:pPr>
            <a:r>
              <a:rPr lang="en-US" altLang="en-US" sz="2800" i="1"/>
              <a:t>The values for origin must be </a:t>
            </a:r>
            <a:r>
              <a:rPr lang="en-US" altLang="en-US" sz="2800"/>
              <a:t>one of these macros (defined in </a:t>
            </a:r>
            <a:r>
              <a:rPr lang="en-US" altLang="en-US" sz="2800" b="1"/>
              <a:t>&lt;cstdio&gt;).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0DABEF-20F5-034C-5527-90D3BC41FA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C9E1932-6170-D862-0DFF-ABE22B1AA0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/>
              <a:t>Name              	 Meaning</a:t>
            </a:r>
          </a:p>
          <a:p>
            <a:pPr algn="just"/>
            <a:r>
              <a:rPr lang="en-US" altLang="en-US" sz="2800"/>
              <a:t>SEEK_SET 	Seek from start of file</a:t>
            </a:r>
          </a:p>
          <a:p>
            <a:pPr algn="just"/>
            <a:r>
              <a:rPr lang="en-US" altLang="en-US" sz="2800"/>
              <a:t>SEEK_CUR 	Seek from current location</a:t>
            </a:r>
          </a:p>
          <a:p>
            <a:pPr algn="just"/>
            <a:r>
              <a:rPr lang="en-US" altLang="en-US" sz="2800"/>
              <a:t>SEEK_END 	Seek from end of file</a:t>
            </a:r>
          </a:p>
          <a:p>
            <a:pPr algn="just">
              <a:buFontTx/>
              <a:buChar char="•"/>
            </a:pPr>
            <a:r>
              <a:rPr lang="en-US" altLang="en-US" sz="2800"/>
              <a:t>A return value of zero means that </a:t>
            </a:r>
            <a:r>
              <a:rPr lang="en-US" altLang="en-US" sz="2800" b="1"/>
              <a:t>fseek( ) succeeded. A nonzero value </a:t>
            </a:r>
            <a:r>
              <a:rPr lang="en-US" altLang="en-US" sz="2800"/>
              <a:t>indicates failure.</a:t>
            </a:r>
          </a:p>
          <a:p>
            <a:pPr algn="just">
              <a:buFontTx/>
              <a:buChar char="•"/>
            </a:pPr>
            <a:r>
              <a:rPr lang="en-US" altLang="en-US" sz="2800"/>
              <a:t>You may use </a:t>
            </a:r>
            <a:r>
              <a:rPr lang="en-US" altLang="en-US" sz="2800" b="1"/>
              <a:t>fseek( ) to move the position indicator anywhere in the file, </a:t>
            </a:r>
            <a:r>
              <a:rPr lang="en-US" altLang="en-US" sz="2800"/>
              <a:t>even beyond the end.</a:t>
            </a:r>
          </a:p>
          <a:p>
            <a:pPr algn="just">
              <a:buFontTx/>
              <a:buChar char="•"/>
            </a:pPr>
            <a:r>
              <a:rPr lang="en-US" altLang="en-US" sz="2800"/>
              <a:t>it is an error to attempt to set the position indicator</a:t>
            </a:r>
          </a:p>
          <a:p>
            <a:pPr algn="just"/>
            <a:r>
              <a:rPr lang="en-US" altLang="en-US" sz="2800"/>
              <a:t>before the beginning of the file.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B287872-F16F-1412-1C9D-BFF8B951AB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ftell()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BFF870B-1003-3756-4D97-5B770B5F68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long ftell(FILE *stream);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ftell( ) function returns the current value of the file position indicator for </a:t>
            </a:r>
            <a:r>
              <a:rPr lang="en-US" altLang="en-US" sz="2400"/>
              <a:t>the specified </a:t>
            </a:r>
            <a:r>
              <a:rPr lang="en-US" altLang="en-US" sz="2400" i="1"/>
              <a:t>stream.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ftell( ) function returns −1 when an error occurs.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1A4E1A0-862B-1198-EA54-E2F6EB382F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fwrite()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B774F04-172B-A7C0-C0DC-384A477432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size_t fwrite(const void *buf, size_t size, size_t count, FILE *stream);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fwrite( ) function writes </a:t>
            </a:r>
            <a:r>
              <a:rPr lang="en-US" altLang="en-US" sz="2400" b="1" i="1"/>
              <a:t>count number of objects, each object being size bytes </a:t>
            </a:r>
            <a:r>
              <a:rPr lang="en-US" altLang="en-US" sz="2400"/>
              <a:t>in length, to the stream pointed to by </a:t>
            </a:r>
            <a:r>
              <a:rPr lang="en-US" altLang="en-US" sz="2400" i="1"/>
              <a:t>stream from the character array pointed to by buf.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file position indicator is advanced by the number of characters written.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fwrite( ) function returns the number of items actually written, which, if the</a:t>
            </a:r>
            <a:r>
              <a:rPr lang="en-US" altLang="en-US" sz="2400"/>
              <a:t>function is successful, will equal the number requested.</a:t>
            </a:r>
          </a:p>
          <a:p>
            <a:pPr algn="just">
              <a:buFontTx/>
              <a:buChar char="•"/>
            </a:pPr>
            <a:r>
              <a:rPr lang="en-US" altLang="en-US" sz="2400"/>
              <a:t>If fewer items are written than are requested, an error has occurred.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F4CFBE6-AF2F-27FC-9D12-424966B189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getchar()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7364C83-DDA2-4519-54E3-E09C2962CD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getchar(void);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getchar( ) function returns the next character from stdin. </a:t>
            </a:r>
          </a:p>
          <a:p>
            <a:pPr algn="just">
              <a:buFontTx/>
              <a:buChar char="•"/>
            </a:pPr>
            <a:r>
              <a:rPr lang="en-US" altLang="en-US" sz="2800" b="1"/>
              <a:t>The character is read </a:t>
            </a:r>
            <a:r>
              <a:rPr lang="en-US" altLang="en-US" sz="2800"/>
              <a:t>as an </a:t>
            </a:r>
            <a:r>
              <a:rPr lang="en-US" altLang="en-US" sz="2800" b="1"/>
              <a:t>unsigned char that is converted to an integer.</a:t>
            </a:r>
          </a:p>
          <a:p>
            <a:pPr algn="just">
              <a:buFontTx/>
              <a:buChar char="•"/>
            </a:pPr>
            <a:r>
              <a:rPr lang="en-US" altLang="en-US" sz="2800"/>
              <a:t>If the end of the file is reached, </a:t>
            </a:r>
            <a:r>
              <a:rPr lang="en-US" altLang="en-US" sz="2800" b="1"/>
              <a:t>getchar( ) returns EOF. </a:t>
            </a:r>
          </a:p>
          <a:p>
            <a:pPr algn="just">
              <a:buFontTx/>
              <a:buChar char="•"/>
            </a:pPr>
            <a:r>
              <a:rPr lang="en-US" altLang="en-US" sz="2800" b="1"/>
              <a:t>If getchar( ) encounters an </a:t>
            </a:r>
            <a:r>
              <a:rPr lang="en-US" altLang="en-US" sz="2800"/>
              <a:t>error, </a:t>
            </a:r>
            <a:r>
              <a:rPr lang="en-US" altLang="en-US" sz="2800" b="1"/>
              <a:t>EOF is also returned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F667CEC-9C23-9FE4-09C9-586254EDD3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gets()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68DFB0D-9846-31A3-8BA8-AE27073F28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400">
                <a:solidFill>
                  <a:srgbClr val="0066CC"/>
                </a:solidFill>
              </a:rPr>
              <a:t>char *gets(char *str);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</a:t>
            </a:r>
            <a:r>
              <a:rPr lang="en-US" altLang="en-US" sz="2400" b="1"/>
              <a:t>gets( ) function reads characters from stdin and places them into the character </a:t>
            </a:r>
            <a:r>
              <a:rPr lang="en-US" altLang="en-US" sz="2400"/>
              <a:t>array pointed to by </a:t>
            </a:r>
            <a:r>
              <a:rPr lang="en-US" altLang="en-US" sz="2400" i="1"/>
              <a:t>str. </a:t>
            </a:r>
          </a:p>
          <a:p>
            <a:pPr algn="just">
              <a:buFontTx/>
              <a:buChar char="•"/>
            </a:pPr>
            <a:r>
              <a:rPr lang="en-US" altLang="en-US" sz="2400" i="1"/>
              <a:t>Characters are read until a newline or an </a:t>
            </a:r>
            <a:r>
              <a:rPr lang="en-US" altLang="en-US" sz="2400" b="1" i="1"/>
              <a:t>EOF is received. </a:t>
            </a:r>
          </a:p>
          <a:p>
            <a:pPr algn="just">
              <a:buFontTx/>
              <a:buChar char="•"/>
            </a:pPr>
            <a:r>
              <a:rPr lang="en-US" altLang="en-US" sz="2400" b="1" i="1"/>
              <a:t>The </a:t>
            </a:r>
            <a:r>
              <a:rPr lang="en-US" altLang="en-US" sz="2400"/>
              <a:t>newline character is not made part of the string; instead, it is translated into a null to terminate the string.</a:t>
            </a:r>
          </a:p>
          <a:p>
            <a:pPr algn="just">
              <a:buFontTx/>
              <a:buChar char="•"/>
            </a:pPr>
            <a:r>
              <a:rPr lang="en-US" altLang="en-US" sz="2400"/>
              <a:t>If successful, </a:t>
            </a:r>
            <a:r>
              <a:rPr lang="en-US" altLang="en-US" sz="2400" b="1"/>
              <a:t>gets( ) returns </a:t>
            </a:r>
            <a:r>
              <a:rPr lang="en-US" altLang="en-US" sz="2400" b="1" i="1"/>
              <a:t>str; a null pointer is returned upon failure. </a:t>
            </a:r>
            <a:endParaRPr lang="en-US" altLang="en-US" sz="2400"/>
          </a:p>
          <a:p>
            <a:pPr algn="just">
              <a:buFontTx/>
              <a:buChar char="•"/>
            </a:pPr>
            <a:r>
              <a:rPr lang="en-US" altLang="en-US" sz="2400"/>
              <a:t>There is no way to limit the number of characters that </a:t>
            </a:r>
            <a:r>
              <a:rPr lang="en-US" altLang="en-US" sz="2400" b="1"/>
              <a:t>gets( ) will read, and </a:t>
            </a:r>
            <a:r>
              <a:rPr lang="en-US" altLang="en-US" sz="2400"/>
              <a:t>it is possible for the array pointed to by </a:t>
            </a:r>
            <a:r>
              <a:rPr lang="en-US" altLang="en-US" sz="2400" i="1"/>
              <a:t>str to be overrun. Thus, </a:t>
            </a:r>
            <a:r>
              <a:rPr lang="en-US" altLang="en-US" sz="2400" b="1" i="1"/>
              <a:t>gets( ) is inherently</a:t>
            </a:r>
          </a:p>
          <a:p>
            <a:pPr algn="just">
              <a:buFontTx/>
              <a:buChar char="•"/>
            </a:pPr>
            <a:r>
              <a:rPr lang="en-US" altLang="en-US" sz="2400"/>
              <a:t>dangerous.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F8F42D4-00AF-4B99-9F99-45F667CA0C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putchar()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F3A336C-9B69-D4CA-3D9A-72A0481B2B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putchar(int ch);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putchar( ) function writes the character contained in the least significant byte </a:t>
            </a:r>
            <a:r>
              <a:rPr lang="en-US" altLang="en-US" sz="2800"/>
              <a:t>of </a:t>
            </a:r>
            <a:r>
              <a:rPr lang="en-US" altLang="en-US" sz="2800" i="1"/>
              <a:t>ch to </a:t>
            </a:r>
            <a:r>
              <a:rPr lang="en-US" altLang="en-US" sz="2800" b="1" i="1"/>
              <a:t>stdout. </a:t>
            </a:r>
          </a:p>
          <a:p>
            <a:pPr algn="just">
              <a:buFontTx/>
              <a:buChar char="•"/>
            </a:pPr>
            <a:r>
              <a:rPr lang="en-US" altLang="en-US" sz="2800" b="1" i="1"/>
              <a:t>It is functionally equivalent to putc(ch, stdout).</a:t>
            </a:r>
          </a:p>
          <a:p>
            <a:pPr algn="just">
              <a:buFontTx/>
              <a:buChar char="•"/>
            </a:pPr>
            <a:r>
              <a:rPr lang="en-US" altLang="en-US" sz="2800" b="1" i="1"/>
              <a:t> </a:t>
            </a:r>
            <a:r>
              <a:rPr lang="en-US" altLang="en-US" sz="2800"/>
              <a:t>The </a:t>
            </a:r>
            <a:r>
              <a:rPr lang="en-US" altLang="en-US" sz="2800" b="1"/>
              <a:t>putchar( ) function returns the character written on success or EOF if an error </a:t>
            </a:r>
            <a:r>
              <a:rPr lang="en-US" altLang="en-US" sz="2800"/>
              <a:t>occurs.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A6C8BFF-E63A-AEE3-0B85-83DCE0B3EB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puts()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C45BEB0-3F85-5935-AAF3-FFD5CC0F0E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puts(const char *str);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puts( ) function writes the string pointed to by </a:t>
            </a:r>
            <a:r>
              <a:rPr lang="en-US" altLang="en-US" sz="2800" b="1" i="1"/>
              <a:t>str to the standard output </a:t>
            </a:r>
            <a:r>
              <a:rPr lang="en-US" altLang="en-US" sz="2800"/>
              <a:t>device. 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null terminator is translated to a newline.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puts( ) function returns a nonnegative value if successful and an EOF </a:t>
            </a:r>
            <a:r>
              <a:rPr lang="en-US" altLang="en-US" sz="2800"/>
              <a:t>upon failure</a:t>
            </a:r>
            <a:r>
              <a:rPr lang="en-US" altLang="en-US" sz="2800" b="1"/>
              <a:t>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F43FDFF-717F-DF7A-D7D3-00A7DC91C9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remove()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943FCF8-92BA-366E-4FDB-BF6F648904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remove(const char *fname);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remove( ) function erases the file specified by </a:t>
            </a:r>
            <a:r>
              <a:rPr lang="en-US" altLang="en-US" sz="2800" b="1" i="1"/>
              <a:t>fname. </a:t>
            </a:r>
          </a:p>
          <a:p>
            <a:pPr algn="just">
              <a:buFontTx/>
              <a:buChar char="•"/>
            </a:pPr>
            <a:r>
              <a:rPr lang="en-US" altLang="en-US" sz="2800" b="1" i="1"/>
              <a:t>It returns zero if the file </a:t>
            </a:r>
            <a:r>
              <a:rPr lang="en-US" altLang="en-US" sz="2800"/>
              <a:t>was successfully deleted and nonzero if an error occurred.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5684E54-AFE1-EAE1-2D56-3805B0D045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rename()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68BD89D-8946-BE77-A4EA-A6CB77BAB2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int rename(const char *oldfname, const char *newfname);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rename( ) function changes the name of the file specified by </a:t>
            </a:r>
            <a:r>
              <a:rPr lang="en-US" altLang="en-US" sz="2800" b="1" i="1"/>
              <a:t>oldfname to </a:t>
            </a:r>
            <a:r>
              <a:rPr lang="en-US" altLang="en-US" sz="2800" i="1"/>
              <a:t>newfname.</a:t>
            </a:r>
          </a:p>
          <a:p>
            <a:pPr algn="just">
              <a:buFontTx/>
              <a:buChar char="•"/>
            </a:pPr>
            <a:r>
              <a:rPr lang="en-US" altLang="en-US" sz="2800" i="1"/>
              <a:t>The newfname must not match any existing directory entry.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rename( ) function returns zero if successful and nonzero if an error </a:t>
            </a:r>
            <a:r>
              <a:rPr lang="en-US" altLang="en-US" sz="2800"/>
              <a:t>has occurred.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CD59B41-69E4-1732-006D-265CCD29B0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rewind()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3FAA957-F894-5F75-F536-992CCB6984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/>
            <a:r>
              <a:rPr lang="en-US" altLang="en-US" sz="2800">
                <a:solidFill>
                  <a:srgbClr val="0066CC"/>
                </a:solidFill>
              </a:rPr>
              <a:t>#include &lt;cstdio&gt;</a:t>
            </a:r>
          </a:p>
          <a:p>
            <a:pPr algn="just"/>
            <a:r>
              <a:rPr lang="en-US" altLang="en-US" sz="2800">
                <a:solidFill>
                  <a:srgbClr val="0066CC"/>
                </a:solidFill>
              </a:rPr>
              <a:t>void rewind(FILE *stream);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</a:t>
            </a:r>
            <a:r>
              <a:rPr lang="en-US" altLang="en-US" sz="2800" b="1"/>
              <a:t>rewind( ) function moves the file position indicator to the start of the specified </a:t>
            </a:r>
            <a:r>
              <a:rPr lang="en-US" altLang="en-US" sz="2800"/>
              <a:t>stream. </a:t>
            </a:r>
          </a:p>
          <a:p>
            <a:pPr algn="just">
              <a:buFontTx/>
              <a:buChar char="•"/>
            </a:pPr>
            <a:r>
              <a:rPr lang="en-US" altLang="en-US" sz="2800"/>
              <a:t>It also clears the end-of-file and error flags associated with </a:t>
            </a:r>
            <a:r>
              <a:rPr lang="en-US" altLang="en-US" sz="2800" i="1"/>
              <a:t>stream. It has no </a:t>
            </a:r>
            <a:r>
              <a:rPr lang="en-US" altLang="en-US" sz="2800"/>
              <a:t>return value.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980</TotalTime>
  <Words>2053</Words>
  <Application>Microsoft Office PowerPoint</Application>
  <PresentationFormat>On-screen Show (4:3)</PresentationFormat>
  <Paragraphs>165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Default Design</vt:lpstr>
      <vt:lpstr>C-based I/O functions clearerr() </vt:lpstr>
      <vt:lpstr>fclose()</vt:lpstr>
      <vt:lpstr>feof()</vt:lpstr>
      <vt:lpstr>ferror()</vt:lpstr>
      <vt:lpstr>fflush()</vt:lpstr>
      <vt:lpstr>fgetc()</vt:lpstr>
      <vt:lpstr>fgets()</vt:lpstr>
      <vt:lpstr>fopen()</vt:lpstr>
      <vt:lpstr>PowerPoint Presentation</vt:lpstr>
      <vt:lpstr>fprintf()</vt:lpstr>
      <vt:lpstr>fputc()</vt:lpstr>
      <vt:lpstr>fputs()</vt:lpstr>
      <vt:lpstr>fread()</vt:lpstr>
      <vt:lpstr>fscanf()</vt:lpstr>
      <vt:lpstr>fseek()</vt:lpstr>
      <vt:lpstr>PowerPoint Presentation</vt:lpstr>
      <vt:lpstr>ftell()</vt:lpstr>
      <vt:lpstr>fwrite()</vt:lpstr>
      <vt:lpstr>getchar()</vt:lpstr>
      <vt:lpstr>gets()</vt:lpstr>
      <vt:lpstr>putchar()</vt:lpstr>
      <vt:lpstr>puts()</vt:lpstr>
      <vt:lpstr>remove()</vt:lpstr>
      <vt:lpstr>rename()</vt:lpstr>
      <vt:lpstr>rewind()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405</cp:revision>
  <cp:lastPrinted>1601-01-01T00:00:00Z</cp:lastPrinted>
  <dcterms:created xsi:type="dcterms:W3CDTF">1601-01-01T00:00:00Z</dcterms:created>
  <dcterms:modified xsi:type="dcterms:W3CDTF">2026-04-07T06:30:50Z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