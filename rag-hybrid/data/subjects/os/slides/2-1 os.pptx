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1"/>
  </p:sldMasterIdLst>
  <p:notesMasterIdLst>
    <p:notesMasterId r:id="rId42"/>
  </p:notesMasterIdLst>
  <p:handoutMasterIdLst>
    <p:handoutMasterId r:id="rId43"/>
  </p:handoutMasterIdLst>
  <p:sldIdLst>
    <p:sldId id="350" r:id="rId2"/>
    <p:sldId id="256" r:id="rId3"/>
    <p:sldId id="335" r:id="rId4"/>
    <p:sldId id="257" r:id="rId5"/>
    <p:sldId id="327" r:id="rId6"/>
    <p:sldId id="258" r:id="rId7"/>
    <p:sldId id="278" r:id="rId8"/>
    <p:sldId id="259" r:id="rId9"/>
    <p:sldId id="279" r:id="rId10"/>
    <p:sldId id="280" r:id="rId11"/>
    <p:sldId id="260" r:id="rId12"/>
    <p:sldId id="281" r:id="rId13"/>
    <p:sldId id="282" r:id="rId14"/>
    <p:sldId id="261" r:id="rId15"/>
    <p:sldId id="283" r:id="rId16"/>
    <p:sldId id="262" r:id="rId17"/>
    <p:sldId id="263" r:id="rId18"/>
    <p:sldId id="264" r:id="rId19"/>
    <p:sldId id="265" r:id="rId20"/>
    <p:sldId id="329" r:id="rId21"/>
    <p:sldId id="309" r:id="rId22"/>
    <p:sldId id="328" r:id="rId23"/>
    <p:sldId id="266" r:id="rId24"/>
    <p:sldId id="267" r:id="rId25"/>
    <p:sldId id="333" r:id="rId26"/>
    <p:sldId id="268" r:id="rId27"/>
    <p:sldId id="344" r:id="rId28"/>
    <p:sldId id="331" r:id="rId29"/>
    <p:sldId id="332" r:id="rId30"/>
    <p:sldId id="310" r:id="rId31"/>
    <p:sldId id="271" r:id="rId32"/>
    <p:sldId id="272" r:id="rId33"/>
    <p:sldId id="352" r:id="rId34"/>
    <p:sldId id="273" r:id="rId35"/>
    <p:sldId id="274" r:id="rId36"/>
    <p:sldId id="298" r:id="rId37"/>
    <p:sldId id="275" r:id="rId38"/>
    <p:sldId id="299" r:id="rId39"/>
    <p:sldId id="276" r:id="rId40"/>
    <p:sldId id="337" r:id="rId41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48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4"/>
        <p:guide pos="22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6EE8B5F-540D-E89C-CC28-7E37BF9410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B9A95A2-41DF-F080-9137-7A84E575B2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511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839C36F3-499A-7AE3-2FC7-EADD1697DB1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D62A6153-D393-0EA5-9789-B448550C6F3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4078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anose="020B0604020202020204" pitchFamily="34" charset="0"/>
              </a:defRPr>
            </a:lvl1pPr>
          </a:lstStyle>
          <a:p>
            <a:fld id="{09C5ECAC-3101-48FF-9ABC-8A967D03C08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5F80496-0D99-15BD-21C2-BCCABCAA58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C469E2B-B3E7-EA79-85F3-36C73D1EB3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511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0F58E365-18D9-85EF-88C6-03E99DA28EF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33475" y="687388"/>
            <a:ext cx="4672013" cy="3503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250F826B-5334-08EC-DE51-F4D581B15C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421188"/>
            <a:ext cx="518636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96621239-3851-2232-8295-BA5EC8DE12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F8A6EAB4-195B-F47D-35F3-87FE2B42F5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4078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anose="020B0604020202020204" pitchFamily="34" charset="0"/>
              </a:defRPr>
            </a:lvl1pPr>
          </a:lstStyle>
          <a:p>
            <a:fld id="{935EF5DB-2F31-4105-8B01-0B99F581B7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4F1535F-749B-564A-3D42-8CB7D89A58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E440928-F47E-548C-37C1-E38A1A1344E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A542F96-0FDE-8F3C-B4D8-BF93E6939E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4B66B86-DCD7-A640-8AAD-95FD79AE6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05002C2-0FD3-72D8-57F3-247FC0F41D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72C0ACA-C52A-C506-9FA3-546933D3A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A72ACE5-DC43-196D-0707-1F847D2487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7747318-2EC6-C809-29B3-7486261C8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36821D9-0FE4-9244-3FC1-3973C06CA1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49EC53-580B-44A1-618E-BAFDCDBEC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C7F9B42-2645-C66D-3225-26EE8280B2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52ACEAD-4B61-6EE3-E53E-8764D4BC6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4E9662C-6B51-3833-E320-1ABCC5BC5D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585C561-6B61-218E-C8DE-AA0ACD9FA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99F5190-DB9F-296A-3624-B87E8D5DE0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7E39F4D-9FCA-96E7-D896-CB858DFC2B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12F202D-1967-94E7-AE1D-F3BAEFDC7A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152F23B-5769-C184-EBAE-0A3945955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438525A-284C-A84B-27ED-6B7284A78B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BD2DD19-1A5E-BB7C-08E2-F3912FF73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0C8E018-9D94-17BB-30F7-F59F26DE28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F12EE93-5984-6424-77B6-A048F98B4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D99A939-A42C-BC37-0DEB-B0449AC082F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95CAF93-B8A7-AF0F-0E9E-2A22243DC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33E828C-CDCC-D732-C824-1BE06C3270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C2C8B23-63AD-8238-EB94-792AC6383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58D022E-C62E-B21D-1FB0-068AD8065E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A7FA0C4-8F29-8A71-0703-D277F9A03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8F00D1B-3FA5-CE12-E201-78DA3E5A0F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C7B5F7B-93A4-A7F1-C567-8B0EDE9BC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D24160E-67D8-0340-7825-0983F2BBD5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70A2544-17B8-E344-3A0D-6747FCBE8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D808ACA-6E21-FB37-50C3-6C0937E4CE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3F332320-B563-AA65-9B40-30D9EEAF0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366C817-6323-FBE2-552F-B3AB55633A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A6B6D92-6EAC-1108-5716-DB410A06E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3997D2B-F6CC-35BB-B0AC-2863DEFA4C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E54B7B7-0224-37E1-F47F-EC1C44C4C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F3BA007-6686-1A0A-0BE9-527C2A520C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F7BAD5B-C970-D16E-7905-3946090D4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B820676-008C-0CF7-BEB7-12094BA616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442A46C-B1AF-8B68-ECC7-80EA2A907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E355A02-7EE8-8DE1-8C3E-3081AC6E976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9DCC6A-5429-BCC9-3B27-2F457F8F9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B61D2C5-3908-1145-4E67-C46B0ECCF6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09D0A9E-A7B5-3F88-8617-59FB7E647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18D5199-72A6-5ADE-3042-7E5258F632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3DC61481-5016-94DD-D683-B4A18E42A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F79ED87-E73A-ED70-9768-0D81ED9C98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EBE1AE9-66A1-05F1-EFA1-555373FC6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E31AF93-CD27-8CA7-E908-B2658B2A4C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A38B3F8-96F9-672A-5FEF-4EE3EE236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C2B67F67-46A5-5485-6B77-E1D7B98E9D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281E13B-8ACC-B860-C47F-0537ED2229C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32EFA65-79D3-EEC5-2319-8D4AD6C0AD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9610ACF-2AC7-C3D4-E3F1-9E72CBDA4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F2CD5E4-701A-04E3-908F-E305BA485B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71DAD1A-0AB2-26F8-E3B9-932243356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BEA0527-547B-C220-B491-2049FFC036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0909E14-3BE3-991C-A306-F708B3826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D579876-F169-7A7F-C614-34B6DCF94CD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BB2B255-76A3-DEA5-99E7-47689993F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172D63B-899D-F386-02F3-A05AA3CBD8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A87C0914-F5A3-2AD7-6C77-50B01ABE6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8D6E1DD-F472-2B9D-867F-7A3F6AD4D8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4F84694-3186-C3D1-A8E3-BC398D462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A679469-FB3F-367C-020C-F50EF3B126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32A9E1E-786E-D2A0-2D47-C1AA49420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8539698-EB50-C8A3-413A-05C7FFE0BB3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26F9443-54E4-5FE9-F33D-7F31CEE9E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CB62119-6BD0-1353-258B-55808B2D65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CE23ECB-6EEA-552C-505E-1FEF313CD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4E5E7F00-5EE4-0346-8AAB-CAA46E35BD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3F48A8C-071C-7518-DE54-1676B42B7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8683E3B5-7B84-521F-8998-C73C6E1641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03D8C94-A79C-CDBE-46D3-2E39F82A6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337A8D6-EB04-801A-56B7-3396ABC45D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D60E8FD-34AB-B623-A99B-424421726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45AD56-D0ED-AF60-F5E5-AA13B0FABC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344F43D-5567-8E07-E68D-A482E8D3C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CD73BDD8-8AD7-C9A2-3911-F31FA3A61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t>3.</a:t>
            </a:r>
            <a:fld id="{33BAF736-E1FE-4061-B078-7C2D8EA6D13A}" type="slidenum"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EE39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ABB32D1B-2E39-5B2C-D630-202243770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621463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Silberschatz, Galvin and Gagne ©2009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2F1C2836-1787-A3FD-521E-A4C33E0A6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6621463"/>
            <a:ext cx="3241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Operating System Concepts with Java – 8</a:t>
            </a:r>
            <a:r>
              <a:rPr lang="en-US" sz="1000" b="1" baseline="30000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th</a:t>
            </a: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5FFA28F-0218-C322-A80D-426BE49BD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9144000" cy="228600"/>
          </a:xfrm>
          <a:prstGeom prst="rect">
            <a:avLst/>
          </a:prstGeom>
          <a:gradFill rotWithShape="1">
            <a:gsLst>
              <a:gs pos="0">
                <a:srgbClr val="FF8A65"/>
              </a:gs>
              <a:gs pos="100000">
                <a:srgbClr val="C02E00"/>
              </a:gs>
            </a:gsLst>
            <a:lin ang="5400000" scaled="1"/>
          </a:gradFill>
          <a:ln w="9525">
            <a:solidFill>
              <a:srgbClr val="D032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90659D1-D38B-E849-D0E5-1DE55099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048000"/>
            <a:ext cx="3200400" cy="228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475E00"/>
              </a:gs>
            </a:gsLst>
            <a:lin ang="5400000" scaled="1"/>
          </a:gradFill>
          <a:ln w="9525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-128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E050D7FD-8631-515A-D34F-1EAC7AD56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4319588"/>
            <a:ext cx="2092325" cy="1403350"/>
          </a:xfrm>
          <a:prstGeom prst="bevel">
            <a:avLst>
              <a:gd name="adj" fmla="val 12500"/>
            </a:avLst>
          </a:prstGeom>
          <a:solidFill>
            <a:srgbClr val="D03200"/>
          </a:solidFill>
          <a:ln w="9525">
            <a:solidFill>
              <a:srgbClr val="D032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solidFill>
                <a:srgbClr val="FF8A65"/>
              </a:solidFill>
              <a:latin typeface="Arial" charset="0"/>
              <a:ea typeface="ＭＳ Ｐゴシック" charset="-128"/>
            </a:endParaRPr>
          </a:p>
        </p:txBody>
      </p:sp>
      <p:pic>
        <p:nvPicPr>
          <p:cNvPr id="8" name="Picture 10" descr="dino_2">
            <a:extLst>
              <a:ext uri="{FF2B5EF4-FFF2-40B4-BE49-F238E27FC236}">
                <a16:creationId xmlns:a16="http://schemas.microsoft.com/office/drawing/2014/main" id="{5E48AA44-05F0-2872-10A3-4E2B2E67B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25" y="4498975"/>
            <a:ext cx="1706563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1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6879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60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463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413" y="1190625"/>
            <a:ext cx="3789362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175" y="1190625"/>
            <a:ext cx="3789363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134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78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80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58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570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992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960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1613"/>
            <a:ext cx="2057400" cy="55197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1613"/>
            <a:ext cx="6019800" cy="55197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884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535D56E-7DA7-AF2E-E0EE-9179367FD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4">
            <a:extLst>
              <a:ext uri="{FF2B5EF4-FFF2-40B4-BE49-F238E27FC236}">
                <a16:creationId xmlns:a16="http://schemas.microsoft.com/office/drawing/2014/main" id="{DF78EFEB-3B18-DFED-5F80-6EE2F67D47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413" y="1190625"/>
            <a:ext cx="77311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0841" name="Text Box 9">
            <a:extLst>
              <a:ext uri="{FF2B5EF4-FFF2-40B4-BE49-F238E27FC236}">
                <a16:creationId xmlns:a16="http://schemas.microsoft.com/office/drawing/2014/main" id="{17687485-BBCF-68FC-13EE-4C65E537B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t>3.</a:t>
            </a:r>
            <a:fld id="{747D2844-C455-41AB-BDCF-107F02BB5241}" type="slidenum"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EE3900"/>
              </a:solidFill>
              <a:latin typeface="Helvetica" panose="020B0604020202020204" pitchFamily="34" charset="0"/>
            </a:endParaRPr>
          </a:p>
        </p:txBody>
      </p:sp>
      <p:sp>
        <p:nvSpPr>
          <p:cNvPr id="120842" name="Text Box 10">
            <a:extLst>
              <a:ext uri="{FF2B5EF4-FFF2-40B4-BE49-F238E27FC236}">
                <a16:creationId xmlns:a16="http://schemas.microsoft.com/office/drawing/2014/main" id="{E11604B8-8518-EAC2-EA00-D42525A91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6262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Silberschatz, Galvin and Gagne ©2009</a:t>
            </a:r>
          </a:p>
        </p:txBody>
      </p:sp>
      <p:sp>
        <p:nvSpPr>
          <p:cNvPr id="120843" name="Text Box 11">
            <a:extLst>
              <a:ext uri="{FF2B5EF4-FFF2-40B4-BE49-F238E27FC236}">
                <a16:creationId xmlns:a16="http://schemas.microsoft.com/office/drawing/2014/main" id="{45B9FAE3-EEC5-406B-DEC7-9B34BE1E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6621463"/>
            <a:ext cx="3241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Operating System Concepts with Java – 8</a:t>
            </a:r>
            <a:r>
              <a:rPr lang="en-US" sz="1000" b="1" baseline="30000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th</a:t>
            </a:r>
            <a:r>
              <a:rPr lang="en-US" sz="1000" b="1">
                <a:solidFill>
                  <a:srgbClr val="EE3900"/>
                </a:solidFill>
                <a:latin typeface="Helvetica" charset="0"/>
                <a:ea typeface="ＭＳ Ｐゴシック" charset="-128"/>
              </a:rPr>
              <a:t> Edition</a:t>
            </a:r>
          </a:p>
        </p:txBody>
      </p:sp>
      <p:pic>
        <p:nvPicPr>
          <p:cNvPr id="1031" name="Picture 7" descr="dino_2">
            <a:extLst>
              <a:ext uri="{FF2B5EF4-FFF2-40B4-BE49-F238E27FC236}">
                <a16:creationId xmlns:a16="http://schemas.microsoft.com/office/drawing/2014/main" id="{FB5EF420-9E43-41EE-ABEE-DC26F6332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825"/>
            <a:ext cx="130651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8" name="Line 6">
            <a:extLst>
              <a:ext uri="{FF2B5EF4-FFF2-40B4-BE49-F238E27FC236}">
                <a16:creationId xmlns:a16="http://schemas.microsoft.com/office/drawing/2014/main" id="{ABB8D92B-8B81-73DE-60A3-2FB2749DB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63" y="846138"/>
            <a:ext cx="8689975" cy="19050"/>
          </a:xfrm>
          <a:prstGeom prst="line">
            <a:avLst/>
          </a:prstGeom>
          <a:noFill/>
          <a:ln w="38100">
            <a:solidFill>
              <a:srgbClr val="D032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-128"/>
            </a:endParaRPr>
          </a:p>
        </p:txBody>
      </p:sp>
      <p:pic>
        <p:nvPicPr>
          <p:cNvPr id="1033" name="Picture 9" descr="dino_5">
            <a:extLst>
              <a:ext uri="{FF2B5EF4-FFF2-40B4-BE49-F238E27FC236}">
                <a16:creationId xmlns:a16="http://schemas.microsoft.com/office/drawing/2014/main" id="{6C60E5A6-96C2-6797-2FDE-E5FED5259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5700713"/>
            <a:ext cx="1076325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bg2"/>
        </a:buClr>
        <a:buSzPct val="90000"/>
        <a:buFont typeface="Wingdings" panose="05000000000000000000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6699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panose="020B0604020202020204" pitchFamily="34" charset="0"/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486C951-2669-9C43-0916-A6FF933523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2888" y="2093913"/>
            <a:ext cx="8626475" cy="719137"/>
          </a:xfrm>
        </p:spPr>
        <p:txBody>
          <a:bodyPr/>
          <a:lstStyle/>
          <a:p>
            <a:pPr eaLnBrk="1" hangingPunct="1"/>
            <a:r>
              <a:rPr lang="en-US" altLang="en-US" sz="3600"/>
              <a:t>Processes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DE2E8515-D996-7470-3CDC-06EDA26F1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24B42CF-D7C0-0B4C-7A8A-90FA8A1464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00088" y="201613"/>
            <a:ext cx="7324725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C40C1B-4B6C-3267-CC9F-58E564DE45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6924675" cy="3822700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  <a:p>
            <a:pPr eaLnBrk="1" hangingPunct="1"/>
            <a:r>
              <a:rPr lang="en-US" altLang="en-US"/>
              <a:t>Process Scheduling</a:t>
            </a:r>
          </a:p>
          <a:p>
            <a:pPr eaLnBrk="1" hangingPunct="1"/>
            <a:r>
              <a:rPr lang="en-US" altLang="en-US"/>
              <a:t>Operations on Processes</a:t>
            </a:r>
          </a:p>
          <a:p>
            <a:pPr eaLnBrk="1" hangingPunct="1"/>
            <a:r>
              <a:rPr lang="en-US" altLang="en-US"/>
              <a:t>Inter process Communication</a:t>
            </a:r>
          </a:p>
          <a:p>
            <a:pPr eaLnBrk="1" hangingPunct="1"/>
            <a:r>
              <a:rPr lang="en-US" altLang="en-US"/>
              <a:t>Examples of IPC Systems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5DC7CD1-A6A5-EAB8-F72F-FAB6DC392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FBC81F1-FB0F-7DC5-F06A-D01BA4D3307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E1AB3B9F-7975-972E-9F93-BB6A56D391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3413" y="1190625"/>
            <a:ext cx="7707312" cy="4530725"/>
          </a:xfrm>
        </p:spPr>
        <p:txBody>
          <a:bodyPr/>
          <a:lstStyle/>
          <a:p>
            <a:pPr eaLnBrk="1" hangingPunct="1"/>
            <a:r>
              <a:rPr lang="en-US" altLang="en-US"/>
              <a:t>To introduce the notion of a process -- a program in execution, which forms the basis of all computation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To describe the various features of processes, including scheduling, creation and termination, and communication</a:t>
            </a:r>
          </a:p>
          <a:p>
            <a:pPr eaLnBrk="1" hangingPunct="1"/>
            <a:endParaRPr lang="en-US" altLang="en-US" sz="80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C405D7E-5118-40B6-9B3A-9E1E40EC1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86B0DF-F935-0679-CE30-E6C4392A28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93800" y="201613"/>
            <a:ext cx="64897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5556E4-229A-B283-D27D-3E914B933C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7643812" cy="4737100"/>
          </a:xfrm>
        </p:spPr>
        <p:txBody>
          <a:bodyPr/>
          <a:lstStyle/>
          <a:p>
            <a:pPr eaLnBrk="1" hangingPunct="1"/>
            <a:r>
              <a:rPr lang="en-US" altLang="en-US"/>
              <a:t>An operating system executes a variety of programs:</a:t>
            </a:r>
          </a:p>
          <a:p>
            <a:pPr lvl="1" eaLnBrk="1" hangingPunct="1"/>
            <a:r>
              <a:rPr lang="en-US" altLang="en-US"/>
              <a:t>Batch system – jobs</a:t>
            </a:r>
          </a:p>
          <a:p>
            <a:pPr lvl="1" eaLnBrk="1" hangingPunct="1"/>
            <a:r>
              <a:rPr lang="en-US" altLang="en-US"/>
              <a:t>Time-shared systems – user programs or tasks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Textbook uses the terms </a:t>
            </a:r>
            <a:r>
              <a:rPr lang="en-US" altLang="en-US" i="1"/>
              <a:t>job</a:t>
            </a:r>
            <a:r>
              <a:rPr lang="en-US" altLang="en-US"/>
              <a:t> and </a:t>
            </a:r>
            <a:r>
              <a:rPr lang="en-US" altLang="en-US" i="1"/>
              <a:t>process</a:t>
            </a:r>
            <a:r>
              <a:rPr lang="en-US" altLang="en-US"/>
              <a:t> almost interchangeably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Process – a program in execution; process execution must progress in sequential fashion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A process includes:</a:t>
            </a:r>
          </a:p>
          <a:p>
            <a:pPr lvl="1" eaLnBrk="1" hangingPunct="1"/>
            <a:r>
              <a:rPr lang="en-US" altLang="en-US"/>
              <a:t>program counter </a:t>
            </a:r>
          </a:p>
          <a:p>
            <a:pPr lvl="1" eaLnBrk="1" hangingPunct="1"/>
            <a:r>
              <a:rPr lang="en-US" altLang="en-US"/>
              <a:t>stack</a:t>
            </a:r>
          </a:p>
          <a:p>
            <a:pPr lvl="1" eaLnBrk="1" hangingPunct="1"/>
            <a:r>
              <a:rPr lang="en-US" altLang="en-US"/>
              <a:t>data section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4A4635C-0888-4AF1-F48D-50494DEEE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90925E-A60E-EDD0-94E6-E3309901F1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BD42282C-B9EC-78E7-0E94-4E2F6D05F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1427163"/>
            <a:ext cx="2911475" cy="459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3">
            <a:extLst>
              <a:ext uri="{FF2B5EF4-FFF2-40B4-BE49-F238E27FC236}">
                <a16:creationId xmlns:a16="http://schemas.microsoft.com/office/drawing/2014/main" id="{0F77DBA4-54D3-E9CA-038D-09EC0275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3616814-31CF-3C80-E18F-12DC79312B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8413" y="201613"/>
            <a:ext cx="634365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9AEB832-F381-7007-B9D4-1B2502FD6E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7773987" cy="3867150"/>
          </a:xfrm>
        </p:spPr>
        <p:txBody>
          <a:bodyPr/>
          <a:lstStyle/>
          <a:p>
            <a:pPr eaLnBrk="1" hangingPunct="1"/>
            <a:r>
              <a:rPr lang="en-US" altLang="en-US"/>
              <a:t>As a process executes, it changes </a:t>
            </a:r>
            <a:r>
              <a:rPr lang="en-US" altLang="en-US" i="1"/>
              <a:t>state</a:t>
            </a:r>
            <a:endParaRPr lang="en-US" altLang="en-US"/>
          </a:p>
          <a:p>
            <a:pPr lvl="1" eaLnBrk="1" hangingPunct="1"/>
            <a:r>
              <a:rPr lang="en-US" altLang="en-US" b="1"/>
              <a:t>new</a:t>
            </a:r>
            <a:r>
              <a:rPr lang="en-US" altLang="en-US"/>
              <a:t>:  The process is being created</a:t>
            </a:r>
          </a:p>
          <a:p>
            <a:pPr lvl="1" eaLnBrk="1" hangingPunct="1"/>
            <a:r>
              <a:rPr lang="en-US" altLang="en-US" b="1"/>
              <a:t>running</a:t>
            </a:r>
            <a:r>
              <a:rPr lang="en-US" altLang="en-US"/>
              <a:t>:  Instructions are being executed</a:t>
            </a:r>
          </a:p>
          <a:p>
            <a:pPr lvl="1" eaLnBrk="1" hangingPunct="1"/>
            <a:r>
              <a:rPr lang="en-US" altLang="en-US" b="1"/>
              <a:t>waiting</a:t>
            </a:r>
            <a:r>
              <a:rPr lang="en-US" altLang="en-US"/>
              <a:t>:  The process is waiting for some event to occur</a:t>
            </a:r>
          </a:p>
          <a:p>
            <a:pPr lvl="1" eaLnBrk="1" hangingPunct="1"/>
            <a:r>
              <a:rPr lang="en-US" altLang="en-US" b="1"/>
              <a:t>ready</a:t>
            </a:r>
            <a:r>
              <a:rPr lang="en-US" altLang="en-US"/>
              <a:t>:  The process is waiting to be assigned to a processor</a:t>
            </a:r>
          </a:p>
          <a:p>
            <a:pPr lvl="1" eaLnBrk="1" hangingPunct="1"/>
            <a:r>
              <a:rPr lang="en-US" altLang="en-US" b="1"/>
              <a:t>terminated</a:t>
            </a:r>
            <a:r>
              <a:rPr lang="en-US" altLang="en-US"/>
              <a:t>:  The process has finished execution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CFB950E-08C8-BB70-A65D-873E977DD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78859BF-D0AC-A642-37E1-67EFC38C0E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2016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9219" name="Picture 9">
            <a:extLst>
              <a:ext uri="{FF2B5EF4-FFF2-40B4-BE49-F238E27FC236}">
                <a16:creationId xmlns:a16="http://schemas.microsoft.com/office/drawing/2014/main" id="{550A7694-F015-FBD6-B617-06D9015C9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2063750"/>
            <a:ext cx="755015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3">
            <a:extLst>
              <a:ext uri="{FF2B5EF4-FFF2-40B4-BE49-F238E27FC236}">
                <a16:creationId xmlns:a16="http://schemas.microsoft.com/office/drawing/2014/main" id="{70C74053-42EF-6977-A534-3ED42AC88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F3A8873-BED7-719B-ADAA-4AA71E8225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4575" y="201613"/>
            <a:ext cx="76422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Control Block (PCB)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3AEAFF8-4F5D-3AFA-4C31-FCB30673BC3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6923087" cy="3822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Information associated with each process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800"/>
          </a:p>
          <a:p>
            <a:pPr eaLnBrk="1" hangingPunct="1"/>
            <a:r>
              <a:rPr lang="en-US" altLang="en-US"/>
              <a:t>Process state</a:t>
            </a:r>
          </a:p>
          <a:p>
            <a:pPr eaLnBrk="1" hangingPunct="1"/>
            <a:r>
              <a:rPr lang="en-US" altLang="en-US"/>
              <a:t>Program counter</a:t>
            </a:r>
          </a:p>
          <a:p>
            <a:pPr eaLnBrk="1" hangingPunct="1"/>
            <a:r>
              <a:rPr lang="en-US" altLang="en-US"/>
              <a:t>CPU registers</a:t>
            </a:r>
          </a:p>
          <a:p>
            <a:pPr eaLnBrk="1" hangingPunct="1"/>
            <a:r>
              <a:rPr lang="en-US" altLang="en-US"/>
              <a:t>CPU scheduling information</a:t>
            </a:r>
          </a:p>
          <a:p>
            <a:pPr eaLnBrk="1" hangingPunct="1"/>
            <a:r>
              <a:rPr lang="en-US" altLang="en-US"/>
              <a:t>Memory-management information</a:t>
            </a:r>
          </a:p>
          <a:p>
            <a:pPr eaLnBrk="1" hangingPunct="1"/>
            <a:r>
              <a:rPr lang="en-US" altLang="en-US"/>
              <a:t>Accounting information</a:t>
            </a:r>
          </a:p>
          <a:p>
            <a:pPr eaLnBrk="1" hangingPunct="1"/>
            <a:r>
              <a:rPr lang="en-US" altLang="en-US"/>
              <a:t>I/O status information</a:t>
            </a:r>
          </a:p>
          <a:p>
            <a:pPr eaLnBrk="1" hangingPunct="1"/>
            <a:endParaRPr lang="en-US" altLang="en-US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17D049E-F779-DB33-2C38-9E85870A5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290F317-6233-2AA0-A605-C1983E1531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Control Block (PCB)</a:t>
            </a:r>
          </a:p>
        </p:txBody>
      </p:sp>
      <p:pic>
        <p:nvPicPr>
          <p:cNvPr id="11267" name="Picture 4" descr="3">
            <a:extLst>
              <a:ext uri="{FF2B5EF4-FFF2-40B4-BE49-F238E27FC236}">
                <a16:creationId xmlns:a16="http://schemas.microsoft.com/office/drawing/2014/main" id="{BA2A2A82-8954-6A81-8F0A-A3C26B5B7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925" y="1300163"/>
            <a:ext cx="2754313" cy="447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784E7A74-8AF0-5AF4-DFF5-C5AB7B04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8837529-D36D-587F-1AD4-32AF842C757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pic>
        <p:nvPicPr>
          <p:cNvPr id="12291" name="Picture 9">
            <a:extLst>
              <a:ext uri="{FF2B5EF4-FFF2-40B4-BE49-F238E27FC236}">
                <a16:creationId xmlns:a16="http://schemas.microsoft.com/office/drawing/2014/main" id="{EF219160-F0F7-2FEF-C95E-BD50DEBF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373188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3">
            <a:extLst>
              <a:ext uri="{FF2B5EF4-FFF2-40B4-BE49-F238E27FC236}">
                <a16:creationId xmlns:a16="http://schemas.microsoft.com/office/drawing/2014/main" id="{B48E2902-C7D4-F323-35F8-FEBF8B5B5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9EB27B5-CD6B-58C8-1C0A-3A8DEE63CD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73150" y="201613"/>
            <a:ext cx="761365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Scheduling Queues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77871BD-C54D-89BC-7A01-9836F4D41C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5000" y="1457325"/>
            <a:ext cx="7477125" cy="3286125"/>
          </a:xfrm>
        </p:spPr>
        <p:txBody>
          <a:bodyPr/>
          <a:lstStyle/>
          <a:p>
            <a:pPr eaLnBrk="1" hangingPunct="1"/>
            <a:r>
              <a:rPr lang="en-US" altLang="en-US" b="1"/>
              <a:t>Job queue</a:t>
            </a:r>
            <a:r>
              <a:rPr lang="en-US" altLang="en-US"/>
              <a:t> – set of all processes in the system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Ready queue </a:t>
            </a:r>
            <a:r>
              <a:rPr lang="en-US" altLang="en-US"/>
              <a:t>– set of all processes residing in main memory, ready and waiting to execute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Device queues </a:t>
            </a:r>
            <a:r>
              <a:rPr lang="en-US" altLang="en-US"/>
              <a:t>– set of processes waiting for an I/O device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Processes migrate among the various queues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0592854-9953-EBD4-BBC1-37017CA0D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F0AAA28-2544-6829-FBB9-7073FCB6A2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17600" y="419100"/>
            <a:ext cx="7331075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Ready Queue And </a:t>
            </a:r>
            <a:br>
              <a:rPr lang="en-US" altLang="en-US" sz="2800"/>
            </a:br>
            <a:r>
              <a:rPr lang="en-US" altLang="en-US" sz="2800"/>
              <a:t>Various I/O Device Queues</a:t>
            </a:r>
          </a:p>
        </p:txBody>
      </p:sp>
      <p:pic>
        <p:nvPicPr>
          <p:cNvPr id="14339" name="Picture 7">
            <a:extLst>
              <a:ext uri="{FF2B5EF4-FFF2-40B4-BE49-F238E27FC236}">
                <a16:creationId xmlns:a16="http://schemas.microsoft.com/office/drawing/2014/main" id="{A3F9E8D8-37F8-88BA-B818-272A165B8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214438"/>
            <a:ext cx="58229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3">
            <a:extLst>
              <a:ext uri="{FF2B5EF4-FFF2-40B4-BE49-F238E27FC236}">
                <a16:creationId xmlns:a16="http://schemas.microsoft.com/office/drawing/2014/main" id="{F6553BCC-1C98-CDE0-7038-253FD1F43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7E9CFAC-DADD-1A59-8786-C648D30DD4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90563" y="277813"/>
            <a:ext cx="8510587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15363" name="Picture 4" descr="3">
            <a:extLst>
              <a:ext uri="{FF2B5EF4-FFF2-40B4-BE49-F238E27FC236}">
                <a16:creationId xmlns:a16="http://schemas.microsoft.com/office/drawing/2014/main" id="{29DE1711-04F0-EB2D-914D-8B165929D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1385888"/>
            <a:ext cx="7138988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3">
            <a:extLst>
              <a:ext uri="{FF2B5EF4-FFF2-40B4-BE49-F238E27FC236}">
                <a16:creationId xmlns:a16="http://schemas.microsoft.com/office/drawing/2014/main" id="{44E38B67-9EAB-E71A-6315-E79447F34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70E7F1A-61F9-75E9-F68E-614994DD4BC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E6E7401-DE6E-84EF-E025-E7C9B4793B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404938"/>
            <a:ext cx="7875587" cy="2589212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Long-term scheduler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/>
              <a:t>(or job scheduler) – selects which processes should be brought into the ready queue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Short-term scheduler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/>
              <a:t>(or CPU scheduler) – selects which process should be executed next and allocates CPU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0A2ED03-C63D-9FE9-FA13-95762C3D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7B69696-F0A8-C1C9-D45C-1BB3A05120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39763" y="277813"/>
            <a:ext cx="8518525" cy="576262"/>
          </a:xfrm>
        </p:spPr>
        <p:txBody>
          <a:bodyPr/>
          <a:lstStyle/>
          <a:p>
            <a:pPr eaLnBrk="1" hangingPunct="1"/>
            <a:r>
              <a:rPr lang="en-US" altLang="en-US"/>
              <a:t>Addition of Medium Term Scheduling</a:t>
            </a:r>
          </a:p>
        </p:txBody>
      </p:sp>
      <p:pic>
        <p:nvPicPr>
          <p:cNvPr id="17411" name="Picture 11">
            <a:extLst>
              <a:ext uri="{FF2B5EF4-FFF2-40B4-BE49-F238E27FC236}">
                <a16:creationId xmlns:a16="http://schemas.microsoft.com/office/drawing/2014/main" id="{CF555DCD-B564-29FC-DA0B-FF15F584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173288"/>
            <a:ext cx="73279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3">
            <a:extLst>
              <a:ext uri="{FF2B5EF4-FFF2-40B4-BE49-F238E27FC236}">
                <a16:creationId xmlns:a16="http://schemas.microsoft.com/office/drawing/2014/main" id="{2FB019DA-9311-01BC-509E-523DC465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BB28726-F6B7-623C-A4BE-3751F10966B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Schedulers (Cont.)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99F0638-27BB-35EA-9DD5-3019A34AED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618412" cy="4530725"/>
          </a:xfrm>
        </p:spPr>
        <p:txBody>
          <a:bodyPr/>
          <a:lstStyle/>
          <a:p>
            <a:pPr eaLnBrk="1" hangingPunct="1"/>
            <a:r>
              <a:rPr lang="en-US" altLang="en-US"/>
              <a:t>Short-term scheduler is invoked very frequently (milliseconds) </a:t>
            </a:r>
            <a:r>
              <a:rPr lang="en-US" altLang="en-US">
                <a:sym typeface="Symbol" panose="05050102010706020507" pitchFamily="18" charset="2"/>
              </a:rPr>
              <a:t> (must be fast)</a:t>
            </a:r>
          </a:p>
          <a:p>
            <a:pPr eaLnBrk="1" hangingPunct="1"/>
            <a:endParaRPr lang="en-US" altLang="en-US" sz="8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Long-term scheduler is invoked very infrequently (seconds, minutes)  (may be slow)</a:t>
            </a:r>
          </a:p>
          <a:p>
            <a:pPr eaLnBrk="1" hangingPunct="1"/>
            <a:endParaRPr lang="en-US" altLang="en-US" sz="8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The long-term scheduler controls the </a:t>
            </a:r>
            <a:r>
              <a:rPr lang="en-US" altLang="en-US" i="1">
                <a:sym typeface="Symbol" panose="05050102010706020507" pitchFamily="18" charset="2"/>
              </a:rPr>
              <a:t>degree of multiprogramming</a:t>
            </a:r>
          </a:p>
          <a:p>
            <a:pPr eaLnBrk="1" hangingPunct="1"/>
            <a:endParaRPr lang="en-US" altLang="en-US" sz="800" i="1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Processes can be described as either:</a:t>
            </a:r>
          </a:p>
          <a:p>
            <a:pPr lvl="1" eaLnBrk="1" hangingPunct="1"/>
            <a:r>
              <a:rPr lang="en-US" altLang="en-US" b="1">
                <a:solidFill>
                  <a:srgbClr val="000000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 eaLnBrk="1" hangingPunct="1"/>
            <a:r>
              <a:rPr lang="en-US" altLang="en-US" b="1">
                <a:solidFill>
                  <a:srgbClr val="000000"/>
                </a:solidFill>
                <a:sym typeface="Symbol" panose="05050102010706020507" pitchFamily="18" charset="2"/>
              </a:rPr>
              <a:t>CPU-bound process</a:t>
            </a:r>
            <a:r>
              <a:rPr lang="en-US" altLang="en-US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– spends more time doing computations; few very long CPU bursts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8FD35DE-CA90-3C0E-DFAF-E8190796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983A5D6-57E5-A9AA-5B24-37EB773841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28E9385-5B6C-DA1E-6073-1539075E23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3582988"/>
          </a:xfrm>
        </p:spPr>
        <p:txBody>
          <a:bodyPr/>
          <a:lstStyle/>
          <a:p>
            <a:pPr eaLnBrk="1" hangingPunct="1"/>
            <a:r>
              <a:rPr lang="en-US" altLang="en-US"/>
              <a:t>When CPU switches to another process, the system must save the state of the old process and load the saved state for the new process via a </a:t>
            </a:r>
            <a:r>
              <a:rPr lang="en-US" altLang="en-US" b="1">
                <a:solidFill>
                  <a:srgbClr val="3366FF"/>
                </a:solidFill>
              </a:rPr>
              <a:t>context switch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800" b="1">
              <a:solidFill>
                <a:srgbClr val="3366FF"/>
              </a:solidFill>
            </a:endParaRPr>
          </a:p>
          <a:p>
            <a:pPr eaLnBrk="1" hangingPunct="1"/>
            <a:r>
              <a:rPr lang="en-US" altLang="en-US" b="1">
                <a:solidFill>
                  <a:srgbClr val="3366FF"/>
                </a:solidFill>
              </a:rPr>
              <a:t>Context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of a process represented in the PCB</a:t>
            </a:r>
          </a:p>
          <a:p>
            <a:pPr eaLnBrk="1" hangingPunct="1"/>
            <a:endParaRPr lang="en-US" altLang="en-US" sz="900"/>
          </a:p>
          <a:p>
            <a:pPr eaLnBrk="1" hangingPunct="1"/>
            <a:r>
              <a:rPr lang="en-US" altLang="en-US"/>
              <a:t>Context-switch time is overhead; the system does no useful work while switching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Time dependent on hardware support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AA64F14-8DA9-2601-E6B1-4CC8116E7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88F8ADA-1003-96E9-2F0F-81BBCEEE21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Creation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3F0CA9B-C46C-6786-5BD0-E1DC8A772E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Parent </a:t>
            </a:r>
            <a:r>
              <a:rPr lang="en-US" altLang="en-US"/>
              <a:t>process create </a:t>
            </a:r>
            <a:r>
              <a:rPr lang="en-US" altLang="en-US" b="1"/>
              <a:t>children </a:t>
            </a:r>
            <a:r>
              <a:rPr lang="en-US" altLang="en-US"/>
              <a:t>processes, which, in turn create other processes, forming a tree of processes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Generally, process identified and managed via </a:t>
            </a:r>
            <a:r>
              <a:rPr lang="en-US" altLang="en-US" b="1"/>
              <a:t>a process identifier </a:t>
            </a:r>
            <a:r>
              <a:rPr lang="en-US" altLang="en-US"/>
              <a:t>(</a:t>
            </a:r>
            <a:r>
              <a:rPr lang="en-US" altLang="en-US" b="1"/>
              <a:t>pid</a:t>
            </a:r>
            <a:r>
              <a:rPr lang="en-US" altLang="en-US"/>
              <a:t>)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Resource sharing</a:t>
            </a:r>
          </a:p>
          <a:p>
            <a:pPr lvl="1" eaLnBrk="1" hangingPunct="1"/>
            <a:r>
              <a:rPr lang="en-US" altLang="en-US"/>
              <a:t>Parent and children share all resources</a:t>
            </a:r>
          </a:p>
          <a:p>
            <a:pPr lvl="1" eaLnBrk="1" hangingPunct="1"/>
            <a:r>
              <a:rPr lang="en-US" altLang="en-US"/>
              <a:t>Children share subset of parent’s resources</a:t>
            </a:r>
          </a:p>
          <a:p>
            <a:pPr lvl="1" eaLnBrk="1" hangingPunct="1"/>
            <a:r>
              <a:rPr lang="en-US" altLang="en-US"/>
              <a:t>Parent and child share no resources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Execution</a:t>
            </a:r>
          </a:p>
          <a:p>
            <a:pPr lvl="1" eaLnBrk="1" hangingPunct="1"/>
            <a:r>
              <a:rPr lang="en-US" altLang="en-US"/>
              <a:t>Parent and children execute concurrently</a:t>
            </a:r>
          </a:p>
          <a:p>
            <a:pPr lvl="1" eaLnBrk="1" hangingPunct="1"/>
            <a:r>
              <a:rPr lang="en-US" altLang="en-US"/>
              <a:t>Parent waits until children terminate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ED3BB6A-C82B-E9F3-B630-449B92F7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97ADE57-994B-9511-3439-A402FF7827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BF7C0FE-B435-A7A9-8AA2-27D0A4875C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space</a:t>
            </a:r>
          </a:p>
          <a:p>
            <a:pPr lvl="1" eaLnBrk="1" hangingPunct="1"/>
            <a:r>
              <a:rPr lang="en-US" altLang="en-US"/>
              <a:t>Child duplicate of parent</a:t>
            </a:r>
          </a:p>
          <a:p>
            <a:pPr lvl="1" eaLnBrk="1" hangingPunct="1"/>
            <a:r>
              <a:rPr lang="en-US" altLang="en-US"/>
              <a:t>Child has a program loaded into it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UNIX examples</a:t>
            </a:r>
          </a:p>
          <a:p>
            <a:pPr lvl="1" eaLnBrk="1" hangingPunct="1"/>
            <a:r>
              <a:rPr lang="en-US" altLang="en-US" b="1"/>
              <a:t>fork</a:t>
            </a:r>
            <a:r>
              <a:rPr lang="en-US" altLang="en-US"/>
              <a:t> system call creates new process</a:t>
            </a:r>
          </a:p>
          <a:p>
            <a:pPr lvl="1" eaLnBrk="1" hangingPunct="1"/>
            <a:r>
              <a:rPr lang="en-US" altLang="en-US" b="1"/>
              <a:t>exec</a:t>
            </a:r>
            <a:r>
              <a:rPr lang="en-US" altLang="en-US"/>
              <a:t> system call used after a </a:t>
            </a:r>
            <a:r>
              <a:rPr lang="en-US" altLang="en-US" b="1"/>
              <a:t>fork</a:t>
            </a:r>
            <a:r>
              <a:rPr lang="en-US" altLang="en-US"/>
              <a:t> to replace the process’ memory space with a new program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6B3EB8E-0577-14D4-42F8-EDCB060C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EAC5348-4A32-6C29-D9F9-08EE91FB12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Creation</a:t>
            </a:r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AA2F39DD-A273-F8AE-D4EF-C50B3AB2C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444750"/>
            <a:ext cx="7546975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3">
            <a:extLst>
              <a:ext uri="{FF2B5EF4-FFF2-40B4-BE49-F238E27FC236}">
                <a16:creationId xmlns:a16="http://schemas.microsoft.com/office/drawing/2014/main" id="{613CB31D-DC4D-49AC-47D1-89F9556F0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BD58DA5-0639-A1DE-6F04-C7D0551F28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FBDB41B-0106-22BE-A1BF-55315F2AB5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700338" y="1282700"/>
            <a:ext cx="4964112" cy="5064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pid_t  pid;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/* fork another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pid = fork();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if (pid &lt; 0) { /* error occurred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fprintf(stderr, "Fork Failed");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exit(-1);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else if (pid == 0) { /* child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execlp("/bin/ls", "ls", NULL);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else { /* parent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/* parent will wait for the child to complete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wait (NULL);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printf ("Child Complete");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	exit(0);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en-US" sz="1400">
                <a:latin typeface="Monaco" charset="0"/>
              </a:rPr>
              <a:t>}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657842E-EF11-0C2B-D42E-280635013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3568A9D-1EAB-4F9C-F3C4-403488EB90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95338" y="2206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on a typical Solaris</a:t>
            </a:r>
          </a:p>
        </p:txBody>
      </p:sp>
      <p:pic>
        <p:nvPicPr>
          <p:cNvPr id="24579" name="Picture 4" descr="3">
            <a:extLst>
              <a:ext uri="{FF2B5EF4-FFF2-40B4-BE49-F238E27FC236}">
                <a16:creationId xmlns:a16="http://schemas.microsoft.com/office/drawing/2014/main" id="{A70B64C5-29E2-FFA0-991F-4E4FC34CE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325" y="1082675"/>
            <a:ext cx="6110288" cy="538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3">
            <a:extLst>
              <a:ext uri="{FF2B5EF4-FFF2-40B4-BE49-F238E27FC236}">
                <a16:creationId xmlns:a16="http://schemas.microsoft.com/office/drawing/2014/main" id="{16E763AF-74B9-A95F-F274-00F6B5916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CD1D13A-46D3-0AFE-E759-1A05F27AC6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91D0BFD-C559-A69B-5C9F-2216C0C1D5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42237" cy="4530725"/>
          </a:xfrm>
        </p:spPr>
        <p:txBody>
          <a:bodyPr/>
          <a:lstStyle/>
          <a:p>
            <a:pPr eaLnBrk="1" hangingPunct="1"/>
            <a:r>
              <a:rPr lang="en-US" altLang="en-US"/>
              <a:t>Process executes last statement and asks the operating system to delete it (</a:t>
            </a:r>
            <a:r>
              <a:rPr lang="en-US" altLang="en-US" b="1"/>
              <a:t>exit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Output data from child to parent (via </a:t>
            </a:r>
            <a:r>
              <a:rPr lang="en-US" altLang="en-US" b="1"/>
              <a:t>wait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Process’ resources are deallocated by operating system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Parent may terminate execution of children processes (</a:t>
            </a:r>
            <a:r>
              <a:rPr lang="en-US" altLang="en-US" b="1"/>
              <a:t>abort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Child has exceeded allocated resources</a:t>
            </a:r>
          </a:p>
          <a:p>
            <a:pPr lvl="1" eaLnBrk="1" hangingPunct="1"/>
            <a:r>
              <a:rPr lang="en-US" altLang="en-US"/>
              <a:t>Task assigned to child is no longer required</a:t>
            </a:r>
          </a:p>
          <a:p>
            <a:pPr lvl="1" eaLnBrk="1" hangingPunct="1"/>
            <a:r>
              <a:rPr lang="en-US" altLang="en-US"/>
              <a:t>If parent is exiting</a:t>
            </a:r>
          </a:p>
          <a:p>
            <a:pPr lvl="2" eaLnBrk="1" hangingPunct="1"/>
            <a:r>
              <a:rPr lang="en-US" altLang="en-US"/>
              <a:t>Some operating system do not allow child to continue if its parent terminates</a:t>
            </a:r>
          </a:p>
          <a:p>
            <a:pPr lvl="3" eaLnBrk="1" hangingPunct="1"/>
            <a:r>
              <a:rPr lang="en-US" altLang="en-US"/>
              <a:t>All children terminated - </a:t>
            </a:r>
            <a:r>
              <a:rPr lang="en-US" altLang="en-US" b="1"/>
              <a:t>cascading termination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A654BB5-03AF-6F70-971F-B0973A77A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6011794-CD43-0B95-3C59-F735A2E8B5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6938" y="201613"/>
            <a:ext cx="7789862" cy="576262"/>
          </a:xfrm>
        </p:spPr>
        <p:txBody>
          <a:bodyPr/>
          <a:lstStyle/>
          <a:p>
            <a:pPr eaLnBrk="1" hangingPunct="1"/>
            <a:r>
              <a:rPr lang="en-US" altLang="en-US"/>
              <a:t>Cooperating Processes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FD22604-71C6-9378-BC0E-14488CA5EF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Independent</a:t>
            </a:r>
            <a:r>
              <a:rPr lang="en-US" altLang="en-US"/>
              <a:t> process cannot affect or be affected by the execution of another process.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Cooperating</a:t>
            </a:r>
            <a:r>
              <a:rPr lang="en-US" altLang="en-US"/>
              <a:t> process can affect or be affected by the execution of another process.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Advantages of process cooperation</a:t>
            </a:r>
          </a:p>
          <a:p>
            <a:pPr lvl="1" eaLnBrk="1" hangingPunct="1"/>
            <a:r>
              <a:rPr lang="en-US" altLang="en-US"/>
              <a:t>Information sharing Eg. Shared file</a:t>
            </a:r>
          </a:p>
          <a:p>
            <a:pPr lvl="1" eaLnBrk="1" hangingPunct="1"/>
            <a:r>
              <a:rPr lang="en-US" altLang="en-US"/>
              <a:t>Computation speed-up (sub tasks executing parallel if multiple cpu or i/o channels)</a:t>
            </a:r>
          </a:p>
          <a:p>
            <a:pPr lvl="1" eaLnBrk="1" hangingPunct="1"/>
            <a:r>
              <a:rPr lang="en-US" altLang="en-US"/>
              <a:t>Modularity (construct the system in modular fashion)</a:t>
            </a:r>
          </a:p>
          <a:p>
            <a:pPr lvl="1" eaLnBrk="1" hangingPunct="1"/>
            <a:r>
              <a:rPr lang="en-US" altLang="en-US"/>
              <a:t>Convenience (eg. Editing, printing compiling parallel)</a:t>
            </a:r>
          </a:p>
          <a:p>
            <a:pPr eaLnBrk="1" hangingPunct="1"/>
            <a:r>
              <a:rPr lang="en-US" altLang="en-US"/>
              <a:t>Cooperating processes need </a:t>
            </a:r>
            <a:r>
              <a:rPr lang="en-US" altLang="en-US" b="1"/>
              <a:t>inter process communication </a:t>
            </a:r>
            <a:r>
              <a:rPr lang="en-US" altLang="en-US"/>
              <a:t>(</a:t>
            </a:r>
            <a:r>
              <a:rPr lang="en-US" altLang="en-US" b="1"/>
              <a:t>IPC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Two models of IPC</a:t>
            </a:r>
          </a:p>
          <a:p>
            <a:pPr lvl="1" eaLnBrk="1" hangingPunct="1"/>
            <a:r>
              <a:rPr lang="en-US" altLang="en-US"/>
              <a:t>Shared memory</a:t>
            </a:r>
          </a:p>
          <a:p>
            <a:pPr lvl="1" eaLnBrk="1" hangingPunct="1"/>
            <a:r>
              <a:rPr lang="en-US" altLang="en-US"/>
              <a:t>Message passing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0B82119-898D-A2FD-69F7-B67F17BC8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0C20CBA-E443-23DC-FA59-69DDEB5E5D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94D6B9B4-8EE6-BB9C-A302-E380225B9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1458913"/>
            <a:ext cx="6453188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3">
            <a:extLst>
              <a:ext uri="{FF2B5EF4-FFF2-40B4-BE49-F238E27FC236}">
                <a16:creationId xmlns:a16="http://schemas.microsoft.com/office/drawing/2014/main" id="{62FC9289-C600-5A80-9F5D-0F93B079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D1AC696-AC3C-C864-979A-2F8A7E7432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7413" y="201613"/>
            <a:ext cx="7799387" cy="576262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FBA16A6-CC36-6A42-2C2B-DEC94ED3CAD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411288"/>
            <a:ext cx="7453312" cy="4497387"/>
          </a:xfrm>
        </p:spPr>
        <p:txBody>
          <a:bodyPr/>
          <a:lstStyle/>
          <a:p>
            <a:pPr algn="just" eaLnBrk="1" hangingPunct="1"/>
            <a:r>
              <a:rPr lang="en-US" altLang="en-US"/>
              <a:t>Paradigm for cooperating processes, </a:t>
            </a:r>
            <a:r>
              <a:rPr lang="en-US" altLang="en-US" i="1"/>
              <a:t>producer</a:t>
            </a:r>
            <a:r>
              <a:rPr lang="en-US" altLang="en-US"/>
              <a:t> process produces information that is consumed by a </a:t>
            </a:r>
            <a:r>
              <a:rPr lang="en-US" altLang="en-US" i="1"/>
              <a:t>consumer</a:t>
            </a:r>
            <a:r>
              <a:rPr lang="en-US" altLang="en-US"/>
              <a:t> process. Eg: print program produce characters and print driver consume, compiler produce assembly code and consumed b assembler etc.</a:t>
            </a:r>
          </a:p>
          <a:p>
            <a:pPr lvl="1" eaLnBrk="1" hangingPunct="1"/>
            <a:r>
              <a:rPr lang="en-US" altLang="en-US" i="1"/>
              <a:t>unbounded-buffer</a:t>
            </a:r>
            <a:r>
              <a:rPr lang="en-US" altLang="en-US"/>
              <a:t> places no practical limit on the size of the buffer</a:t>
            </a:r>
          </a:p>
          <a:p>
            <a:pPr lvl="1" eaLnBrk="1" hangingPunct="1"/>
            <a:r>
              <a:rPr lang="en-US" altLang="en-US" i="1"/>
              <a:t>bounded-buffer</a:t>
            </a:r>
            <a:r>
              <a:rPr lang="en-US" altLang="en-US"/>
              <a:t> assumes that there is a fixed buffer size</a:t>
            </a:r>
          </a:p>
          <a:p>
            <a:pPr algn="just" eaLnBrk="1" hangingPunct="1"/>
            <a:r>
              <a:rPr lang="en-US" altLang="en-US"/>
              <a:t>The buffer may be provided by OS through the use of IPC or explicitly coded by programmer with the use of shared memory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EF4B713-369C-81A9-3E80-E30687C2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C39CA96-D83B-4257-8398-197CBC552E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4875" y="201613"/>
            <a:ext cx="7781925" cy="576262"/>
          </a:xfrm>
        </p:spPr>
        <p:txBody>
          <a:bodyPr/>
          <a:lstStyle/>
          <a:p>
            <a:pPr eaLnBrk="1" hangingPunct="1"/>
            <a:r>
              <a:rPr lang="en-US" altLang="en-US"/>
              <a:t>Simulating Shared Memory in Java</a:t>
            </a:r>
          </a:p>
        </p:txBody>
      </p:sp>
      <p:pic>
        <p:nvPicPr>
          <p:cNvPr id="29699" name="Picture 4" descr="3">
            <a:extLst>
              <a:ext uri="{FF2B5EF4-FFF2-40B4-BE49-F238E27FC236}">
                <a16:creationId xmlns:a16="http://schemas.microsoft.com/office/drawing/2014/main" id="{40E59DE5-5FBD-02C8-3514-6403BD3B0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63" y="1697038"/>
            <a:ext cx="748347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3">
            <a:extLst>
              <a:ext uri="{FF2B5EF4-FFF2-40B4-BE49-F238E27FC236}">
                <a16:creationId xmlns:a16="http://schemas.microsoft.com/office/drawing/2014/main" id="{748E1AE6-3D05-A4FA-9F3F-68420ACB8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49343EA-B228-A178-19EB-83D7E9AC5F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9000" y="354013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3000"/>
              <a:t>Bounded-Buffer – Shared-Memory Solution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FE53667-5803-F1DB-A3F6-A17C461FE2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1150" y="1004888"/>
            <a:ext cx="8604250" cy="4419600"/>
          </a:xfrm>
        </p:spPr>
        <p:txBody>
          <a:bodyPr/>
          <a:lstStyle/>
          <a:p>
            <a:pPr eaLnBrk="1" hangingPunct="1"/>
            <a:r>
              <a:rPr lang="en-US" altLang="en-US"/>
              <a:t>Shared data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#define BUFFER_SIZE 10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typedef struct {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	. . .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} item;</a:t>
            </a:r>
          </a:p>
          <a:p>
            <a:pPr marL="1600200" lvl="3" eaLnBrk="1" hangingPunct="1">
              <a:buFontTx/>
              <a:buNone/>
            </a:pPr>
            <a:endParaRPr lang="en-US" altLang="en-US" sz="1600"/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item buffer[BUFFER_SIZE];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int in = 0;</a:t>
            </a:r>
          </a:p>
          <a:p>
            <a:pPr marL="1600200" lvl="3" eaLnBrk="1" hangingPunct="1">
              <a:buFontTx/>
              <a:buNone/>
            </a:pPr>
            <a:r>
              <a:rPr lang="en-US" altLang="en-US" sz="1600"/>
              <a:t>int out = 0;</a:t>
            </a:r>
            <a:endParaRPr lang="en-US" altLang="en-US" sz="2000"/>
          </a:p>
          <a:p>
            <a:pPr eaLnBrk="1" hangingPunct="1"/>
            <a:r>
              <a:rPr lang="en-US" altLang="en-US"/>
              <a:t>The buffer is implemented as circular array with two logical pointers in and out</a:t>
            </a:r>
          </a:p>
          <a:p>
            <a:pPr eaLnBrk="1" hangingPunct="1"/>
            <a:r>
              <a:rPr lang="en-US" altLang="en-US"/>
              <a:t>In points to the next free position in  buffer and out points to first full position. </a:t>
            </a:r>
          </a:p>
          <a:p>
            <a:pPr eaLnBrk="1" hangingPunct="1"/>
            <a:r>
              <a:rPr lang="en-US" altLang="en-US"/>
              <a:t>Buffer empty if in=out</a:t>
            </a:r>
          </a:p>
          <a:p>
            <a:pPr eaLnBrk="1" hangingPunct="1"/>
            <a:r>
              <a:rPr lang="en-US" altLang="en-US"/>
              <a:t>Buffer full if in+1 mod n=out</a:t>
            </a:r>
          </a:p>
          <a:p>
            <a:pPr eaLnBrk="1" hangingPunct="1"/>
            <a:r>
              <a:rPr lang="en-US" altLang="en-US"/>
              <a:t>Solution is correct, but can only use BUFFER_SIZE-1 elements</a:t>
            </a:r>
          </a:p>
          <a:p>
            <a:pPr marL="1600200" lvl="3" eaLnBrk="1" hangingPunct="1">
              <a:buFontTx/>
              <a:buNone/>
            </a:pPr>
            <a:endParaRPr lang="en-US" altLang="en-US" sz="2000" b="1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0ADB348-E2C3-5805-6E2C-40004190D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B0FCC36-5CE0-5F4B-02A0-DA23AC292C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206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Bounded-Buffer – Producer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7EB2A15-D2C8-AE6B-096D-2758D191B1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42963" y="1428750"/>
            <a:ext cx="7351712" cy="44831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latin typeface="Monaco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	while (true) {</a:t>
            </a:r>
            <a:br>
              <a:rPr lang="en-US" altLang="en-US" sz="2000">
                <a:latin typeface="Monaco" charset="0"/>
              </a:rPr>
            </a:br>
            <a:r>
              <a:rPr lang="en-US" altLang="en-US" sz="2000">
                <a:latin typeface="Monaco" charset="0"/>
              </a:rPr>
              <a:t>   /* Produce an item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        while (((in = (in + 1) % BUFFER SIZE count)  == out)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	     ;   /* do nothing -- no free buffers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	    buffer[in] = item;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	    in = (in + 1) % BUFFER SIZE;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Monaco" charset="0"/>
              </a:rPr>
              <a:t>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latin typeface="Monaco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	</a:t>
            </a:r>
          </a:p>
          <a:p>
            <a:pPr lvl="4"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E5DEDF3-C4DD-A444-16EC-FDEE8EA4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3698C42-207B-B85D-3B2D-F79BA2952E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44C79C2-C677-1C0F-94F0-F5BE28B9E4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09750" y="1500188"/>
            <a:ext cx="6157913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	while (true)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          while (in == out)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                 ; // do nothing -- nothing to consume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latin typeface="Monaco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	     // remove an item from the buffer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	     item = buffer[out];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	     out = (out + 1) % BUFFER SIZE;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Monaco" charset="0"/>
              </a:rPr>
              <a:t>	return item;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>
                <a:latin typeface="Monaco" charset="0"/>
              </a:rPr>
              <a:t>     </a:t>
            </a:r>
            <a:r>
              <a:rPr lang="en-US" altLang="en-US">
                <a:latin typeface="Monaco" charset="0"/>
              </a:rPr>
              <a:t>}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DE0C9B7-8F59-381A-4447-9EE55BF2E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E87330B-0C93-E945-8FC3-E68D9C4248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96888" y="277813"/>
            <a:ext cx="864711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Interprocess Communication – </a:t>
            </a:r>
            <a:br>
              <a:rPr lang="en-US" altLang="en-US" sz="2800"/>
            </a:br>
            <a:r>
              <a:rPr lang="en-US" altLang="en-US" sz="2800"/>
              <a:t>Message Passing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C7CCAEC-6AD2-6C33-7C0B-CBB349F197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5099050"/>
          </a:xfrm>
        </p:spPr>
        <p:txBody>
          <a:bodyPr/>
          <a:lstStyle/>
          <a:p>
            <a:pPr eaLnBrk="1" hangingPunct="1"/>
            <a:r>
              <a:rPr lang="en-US" altLang="en-US"/>
              <a:t>Mechanism for processes to communicate and to synchronize their actions</a:t>
            </a:r>
          </a:p>
          <a:p>
            <a:pPr eaLnBrk="1" hangingPunct="1"/>
            <a:r>
              <a:rPr lang="en-US" altLang="en-US"/>
              <a:t>Message system – processes communicate with each other without resorting to shared variables</a:t>
            </a:r>
          </a:p>
          <a:p>
            <a:pPr eaLnBrk="1" hangingPunct="1"/>
            <a:r>
              <a:rPr lang="en-US" altLang="en-US"/>
              <a:t>IPC facility provides two operations:</a:t>
            </a:r>
          </a:p>
          <a:p>
            <a:pPr lvl="1" eaLnBrk="1" hangingPunct="1"/>
            <a:r>
              <a:rPr lang="en-US" altLang="en-US" b="1"/>
              <a:t>send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 – message size fixed or variable </a:t>
            </a:r>
          </a:p>
          <a:p>
            <a:pPr lvl="1" eaLnBrk="1" hangingPunct="1"/>
            <a:r>
              <a:rPr lang="en-US" altLang="en-US" b="1"/>
              <a:t>receive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P</a:t>
            </a:r>
            <a:r>
              <a:rPr lang="en-US" altLang="en-US"/>
              <a:t> and </a:t>
            </a:r>
            <a:r>
              <a:rPr lang="en-US" altLang="en-US" i="1"/>
              <a:t>Q</a:t>
            </a:r>
            <a:r>
              <a:rPr lang="en-US" altLang="en-US"/>
              <a:t> wish to communicate, they need to:</a:t>
            </a:r>
          </a:p>
          <a:p>
            <a:pPr lvl="1" eaLnBrk="1" hangingPunct="1"/>
            <a:r>
              <a:rPr lang="en-US" altLang="en-US"/>
              <a:t>establish a </a:t>
            </a:r>
            <a:r>
              <a:rPr lang="en-US" altLang="en-US" i="1"/>
              <a:t>communication</a:t>
            </a:r>
            <a:r>
              <a:rPr lang="en-US" altLang="en-US"/>
              <a:t> </a:t>
            </a:r>
            <a:r>
              <a:rPr lang="en-US" altLang="en-US" i="1"/>
              <a:t>link</a:t>
            </a:r>
            <a:r>
              <a:rPr lang="en-US" altLang="en-US"/>
              <a:t> between them</a:t>
            </a:r>
          </a:p>
          <a:p>
            <a:pPr lvl="1" eaLnBrk="1" hangingPunct="1"/>
            <a:r>
              <a:rPr lang="en-US" altLang="en-US"/>
              <a:t>exchange messages via send/receive</a:t>
            </a:r>
          </a:p>
          <a:p>
            <a:pPr eaLnBrk="1" hangingPunct="1"/>
            <a:r>
              <a:rPr lang="en-US" altLang="en-US"/>
              <a:t>Implementation of communication link</a:t>
            </a:r>
          </a:p>
          <a:p>
            <a:pPr lvl="1" eaLnBrk="1" hangingPunct="1"/>
            <a:r>
              <a:rPr lang="en-US" altLang="en-US"/>
              <a:t>physical (e.g., shared memory, hardware bus, network etc)</a:t>
            </a:r>
          </a:p>
          <a:p>
            <a:pPr lvl="1" eaLnBrk="1" hangingPunct="1"/>
            <a:r>
              <a:rPr lang="en-US" altLang="en-US"/>
              <a:t>logical (e.g., logical properties)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E2D0C2C-7308-65C1-3AEC-964C1D29A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AFD895E-2EB4-8C7D-59D4-E013A3C1FB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0161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/>
              <a:t>Implementation Questions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80C11C8-32DF-C355-B860-C576E49CBC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are links established?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Can a link be associated with more than two processes?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How many links can there be between every pair of communicating processes?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What is the capacity of a link?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Is the size of a message that the link can accommodate fixed or variable?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Is a link unidirectional or bi-directional?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3C72240-A5EE-22FC-8AD9-516A42642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66432E3E-4B13-F774-163B-0DA88714CE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38138" y="1190625"/>
            <a:ext cx="8404225" cy="4530725"/>
          </a:xfrm>
        </p:spPr>
        <p:txBody>
          <a:bodyPr/>
          <a:lstStyle/>
          <a:p>
            <a:pPr eaLnBrk="1" hangingPunct="1"/>
            <a:r>
              <a:rPr lang="en-US" altLang="en-US"/>
              <a:t>Several methods for logically implementing a link and send/receive operations</a:t>
            </a:r>
          </a:p>
          <a:p>
            <a:pPr lvl="1" eaLnBrk="1" hangingPunct="1"/>
            <a:r>
              <a:rPr lang="en-US" altLang="en-US"/>
              <a:t>Direct or Indirect communication</a:t>
            </a:r>
          </a:p>
          <a:p>
            <a:pPr lvl="1" eaLnBrk="1" hangingPunct="1"/>
            <a:r>
              <a:rPr lang="en-US" altLang="en-US"/>
              <a:t>Symmetric or asymmetric communication</a:t>
            </a:r>
          </a:p>
          <a:p>
            <a:pPr lvl="1" eaLnBrk="1" hangingPunct="1"/>
            <a:r>
              <a:rPr lang="en-US" altLang="en-US"/>
              <a:t>Automatic or explicit buffering</a:t>
            </a:r>
          </a:p>
          <a:p>
            <a:pPr lvl="1" eaLnBrk="1" hangingPunct="1"/>
            <a:r>
              <a:rPr lang="en-US" altLang="en-US"/>
              <a:t>Send by copy or send by reference</a:t>
            </a:r>
          </a:p>
          <a:p>
            <a:pPr lvl="1" eaLnBrk="1" hangingPunct="1"/>
            <a:r>
              <a:rPr lang="en-US" altLang="en-US"/>
              <a:t>Fixed sized or variable sized messages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507F63C-92CF-06CD-6E66-8E0CE0EE7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33B1356-6D41-F333-3BB8-6DEC3C8481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6775" y="201613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D6F4E3D-1985-8CC5-C4DB-02DD9FE51C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Processes must name each other explicitly:</a:t>
            </a:r>
          </a:p>
          <a:p>
            <a:pPr lvl="1" eaLnBrk="1" hangingPunct="1"/>
            <a:r>
              <a:rPr lang="en-US" altLang="en-US" b="1"/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 eaLnBrk="1" hangingPunct="1"/>
            <a:r>
              <a:rPr lang="en-US" altLang="en-US" b="1"/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Properties of communication link</a:t>
            </a:r>
          </a:p>
          <a:p>
            <a:pPr lvl="1" eaLnBrk="1" hangingPunct="1"/>
            <a:r>
              <a:rPr lang="en-US" altLang="en-US"/>
              <a:t>Links are established automatically</a:t>
            </a:r>
          </a:p>
          <a:p>
            <a:pPr lvl="1" eaLnBrk="1" hangingPunct="1"/>
            <a:r>
              <a:rPr lang="en-US" altLang="en-US"/>
              <a:t>A link is associated with exactly one pair of communicating processes</a:t>
            </a:r>
          </a:p>
          <a:p>
            <a:pPr lvl="1" eaLnBrk="1" hangingPunct="1"/>
            <a:r>
              <a:rPr lang="en-US" altLang="en-US"/>
              <a:t>Between each pair there exists exactly one link</a:t>
            </a:r>
          </a:p>
          <a:p>
            <a:pPr lvl="1" eaLnBrk="1" hangingPunct="1"/>
            <a:r>
              <a:rPr lang="en-US" altLang="en-US"/>
              <a:t>The link may be unidirectional, but is usually bi-directional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F1FFF8D-CF9C-6F0B-EF75-0AE9955CF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5BFD460-1763-DEE9-C053-2343030185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7113" y="201613"/>
            <a:ext cx="7659687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10ED4E2-1376-D03E-2FEE-D5D8D14617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7392987" cy="4159250"/>
          </a:xfrm>
        </p:spPr>
        <p:txBody>
          <a:bodyPr/>
          <a:lstStyle/>
          <a:p>
            <a:pPr eaLnBrk="1" hangingPunct="1"/>
            <a:r>
              <a:rPr lang="en-US" altLang="en-US"/>
              <a:t>Messages are directed and received from mailboxes (also referred to as ports)</a:t>
            </a:r>
          </a:p>
          <a:p>
            <a:pPr lvl="1" eaLnBrk="1" hangingPunct="1"/>
            <a:r>
              <a:rPr lang="en-US" altLang="en-US"/>
              <a:t>Each mailbox has a unique id</a:t>
            </a:r>
          </a:p>
          <a:p>
            <a:pPr lvl="1" eaLnBrk="1" hangingPunct="1"/>
            <a:r>
              <a:rPr lang="en-US" altLang="en-US"/>
              <a:t>Processes can communicate only if they share a mailbox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Properties of communication link</a:t>
            </a:r>
          </a:p>
          <a:p>
            <a:pPr lvl="1" eaLnBrk="1" hangingPunct="1"/>
            <a:r>
              <a:rPr lang="en-US" altLang="en-US"/>
              <a:t>Link established only if processes share a common mailbox</a:t>
            </a:r>
          </a:p>
          <a:p>
            <a:pPr lvl="1" eaLnBrk="1" hangingPunct="1"/>
            <a:r>
              <a:rPr lang="en-US" altLang="en-US"/>
              <a:t>A link may be associated with many processes</a:t>
            </a:r>
          </a:p>
          <a:p>
            <a:pPr lvl="1" eaLnBrk="1" hangingPunct="1"/>
            <a:r>
              <a:rPr lang="en-US" altLang="en-US"/>
              <a:t>Each pair of processes may share several communication links</a:t>
            </a:r>
          </a:p>
          <a:p>
            <a:pPr lvl="1" eaLnBrk="1" hangingPunct="1"/>
            <a:r>
              <a:rPr lang="en-US" altLang="en-US"/>
              <a:t>Link may be unidirectional or bi-directional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9766C78-0980-2E27-62E3-8B3FCF5FD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75425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0DCF79E-BA2C-8523-62B0-F5288C9302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52500" y="201613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2C9AE96-10DC-6F4B-2C93-C40F2C9B98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203325"/>
            <a:ext cx="7121525" cy="3821113"/>
          </a:xfrm>
        </p:spPr>
        <p:txBody>
          <a:bodyPr/>
          <a:lstStyle/>
          <a:p>
            <a:pPr eaLnBrk="1" hangingPunct="1"/>
            <a:r>
              <a:rPr lang="en-US" altLang="en-US"/>
              <a:t>Operations</a:t>
            </a:r>
          </a:p>
          <a:p>
            <a:pPr lvl="1" eaLnBrk="1" hangingPunct="1"/>
            <a:r>
              <a:rPr lang="en-US" altLang="en-US"/>
              <a:t>create a new mailbox</a:t>
            </a:r>
          </a:p>
          <a:p>
            <a:pPr lvl="1" eaLnBrk="1" hangingPunct="1"/>
            <a:r>
              <a:rPr lang="en-US" altLang="en-US"/>
              <a:t>send and receive messages through mailbox</a:t>
            </a:r>
          </a:p>
          <a:p>
            <a:pPr lvl="1" eaLnBrk="1" hangingPunct="1"/>
            <a:r>
              <a:rPr lang="en-US" altLang="en-US"/>
              <a:t>destroy a mailbox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Primitives are defined as: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 b="1"/>
              <a:t>send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send a message to mailbox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 b="1"/>
              <a:t>receive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receive a message from mailbox A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3910355-2A2E-9E24-E57C-E9EADE561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F9676DF-7969-D947-1745-265B5A91C0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08063" y="201613"/>
            <a:ext cx="7678737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D4264C2-909B-C837-FA94-86E531D4DD3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Mailbox sharing</a:t>
            </a:r>
          </a:p>
          <a:p>
            <a:pPr lvl="1" eaLnBrk="1" hangingPunct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 eaLnBrk="1" hangingPunct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 eaLnBrk="1" hangingPunct="1"/>
            <a:r>
              <a:rPr lang="en-US" altLang="en-US"/>
              <a:t>Who gets the message?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Solutions</a:t>
            </a:r>
          </a:p>
          <a:p>
            <a:pPr lvl="1" eaLnBrk="1" hangingPunct="1"/>
            <a:r>
              <a:rPr lang="en-US" altLang="en-US"/>
              <a:t>Allow a link to be associated with at most two processes</a:t>
            </a:r>
          </a:p>
          <a:p>
            <a:pPr lvl="1" eaLnBrk="1" hangingPunct="1"/>
            <a:r>
              <a:rPr lang="en-US" altLang="en-US"/>
              <a:t>Allow only one process at a time to execute a receive operation</a:t>
            </a:r>
          </a:p>
          <a:p>
            <a:pPr lvl="1" eaLnBrk="1" hangingPunct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29892A0-1917-5EA6-93AB-77F86F4ED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6D3AB7F-D832-FE58-4234-F5B37FF246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Synchronization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FAE8ECD-3C5E-FE1D-4A64-EFC647D0AA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26362" cy="4530725"/>
          </a:xfrm>
        </p:spPr>
        <p:txBody>
          <a:bodyPr/>
          <a:lstStyle/>
          <a:p>
            <a:pPr marL="381000" indent="-381000" eaLnBrk="1" hangingPunct="1"/>
            <a:r>
              <a:rPr lang="en-US" altLang="en-US"/>
              <a:t>Message passing may be either blocking or non-blocking</a:t>
            </a:r>
          </a:p>
          <a:p>
            <a:pPr marL="381000" indent="-381000" eaLnBrk="1" hangingPunct="1"/>
            <a:endParaRPr lang="en-US" altLang="en-US" sz="800"/>
          </a:p>
          <a:p>
            <a:pPr marL="381000" indent="-381000" eaLnBrk="1" hangingPunct="1"/>
            <a:r>
              <a:rPr lang="en-US" altLang="en-US" b="1"/>
              <a:t>Blocking</a:t>
            </a:r>
            <a:r>
              <a:rPr lang="en-US" altLang="en-US"/>
              <a:t> is considered </a:t>
            </a:r>
            <a:r>
              <a:rPr lang="en-US" altLang="en-US" b="1"/>
              <a:t>synchronous</a:t>
            </a:r>
          </a:p>
          <a:p>
            <a:pPr marL="800100" lvl="1" indent="-342900" eaLnBrk="1" hangingPunct="1"/>
            <a:r>
              <a:rPr lang="en-US" altLang="en-US" b="1"/>
              <a:t>Blocking send </a:t>
            </a:r>
            <a:r>
              <a:rPr lang="en-US" altLang="en-US"/>
              <a:t>has the sender block until the message is received</a:t>
            </a:r>
          </a:p>
          <a:p>
            <a:pPr marL="800100" lvl="1" indent="-342900" eaLnBrk="1" hangingPunct="1"/>
            <a:r>
              <a:rPr lang="en-US" altLang="en-US" b="1"/>
              <a:t>Blocking receive </a:t>
            </a:r>
            <a:r>
              <a:rPr lang="en-US" altLang="en-US"/>
              <a:t>has the receiver block until a message is available</a:t>
            </a:r>
          </a:p>
          <a:p>
            <a:pPr marL="800100" lvl="1" indent="-342900" eaLnBrk="1" hangingPunct="1"/>
            <a:endParaRPr lang="en-US" altLang="en-US" sz="800"/>
          </a:p>
          <a:p>
            <a:pPr marL="381000" indent="-381000" eaLnBrk="1" hangingPunct="1"/>
            <a:r>
              <a:rPr lang="en-US" altLang="en-US" b="1"/>
              <a:t>Non-blocking</a:t>
            </a:r>
            <a:r>
              <a:rPr lang="en-US" altLang="en-US"/>
              <a:t> is considered </a:t>
            </a:r>
            <a:r>
              <a:rPr lang="en-US" altLang="en-US" b="1"/>
              <a:t>asynchronous</a:t>
            </a:r>
          </a:p>
          <a:p>
            <a:pPr marL="800100" lvl="1" indent="-342900" eaLnBrk="1" hangingPunct="1"/>
            <a:r>
              <a:rPr lang="en-US" altLang="en-US" b="1"/>
              <a:t>Non-blocking </a:t>
            </a:r>
            <a:r>
              <a:rPr lang="en-US" altLang="en-US"/>
              <a:t>send has the sender send the message and continue</a:t>
            </a:r>
          </a:p>
          <a:p>
            <a:pPr marL="800100" lvl="1" indent="-342900" eaLnBrk="1" hangingPunct="1"/>
            <a:r>
              <a:rPr lang="en-US" altLang="en-US" b="1"/>
              <a:t>Non-blocking </a:t>
            </a:r>
            <a:r>
              <a:rPr lang="en-US" altLang="en-US"/>
              <a:t>receive has the receiver receive a valid message or null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8D73332-B53C-CE70-0873-EED6415F6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78875BC-1569-7F1E-E0DB-603B793624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2DC4CF1-68D2-6A32-7BCC-AD8BE91071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070725" cy="4530725"/>
          </a:xfrm>
        </p:spPr>
        <p:txBody>
          <a:bodyPr/>
          <a:lstStyle/>
          <a:p>
            <a:pPr eaLnBrk="1" hangingPunct="1"/>
            <a:r>
              <a:rPr lang="en-US" altLang="en-US"/>
              <a:t>Queue of messages attached to the link; implemented in one of three ways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0 messages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1E2EC3B-05BB-3B54-0833-6F1F3A501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EADEAADA-059C-3BEF-450C-C61344FD22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7213" y="2206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Examples of IPC Systems - POSIX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7701A9E1-974A-6186-6764-042B1F22D5C0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POSIX Shared Memory</a:t>
            </a:r>
          </a:p>
          <a:p>
            <a:pPr lvl="1" eaLnBrk="1" hangingPunct="1"/>
            <a:r>
              <a:rPr lang="en-US" altLang="en-US"/>
              <a:t>Process first creates shared memory segment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segment id = shmget(IPC PRIVATE, size, S IRUSR | S IWUSR);</a:t>
            </a:r>
          </a:p>
          <a:p>
            <a:pPr lvl="1" eaLnBrk="1" hangingPunct="1"/>
            <a:r>
              <a:rPr lang="en-US" altLang="en-US"/>
              <a:t>Process wanting access to that shared memory must attach to it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shared memory = (char *) shmat(id, NULL, 0);</a:t>
            </a:r>
          </a:p>
          <a:p>
            <a:pPr lvl="1" eaLnBrk="1" hangingPunct="1"/>
            <a:r>
              <a:rPr lang="en-US" altLang="en-US"/>
              <a:t>Now the process could write to the shared memory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sprintf(shared memory, "Writing to shared memory");</a:t>
            </a:r>
          </a:p>
          <a:p>
            <a:pPr lvl="1" eaLnBrk="1" hangingPunct="1"/>
            <a:r>
              <a:rPr lang="en-US" altLang="en-US"/>
              <a:t>When done a process can detach the shared memory from its address space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shmdt(shared memory);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BF8BB6D-83E5-8E86-9B30-94BF86D4C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5900"/>
            <a:ext cx="9144000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s-8">
  <a:themeElements>
    <a:clrScheme name="3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3_os-8">
      <a:majorFont>
        <a:latin typeface="Arial"/>
        <a:ea typeface="ＭＳ Ｐゴシック"/>
        <a:cs typeface=""/>
      </a:majorFont>
      <a:minorFont>
        <a:latin typeface="Helvetic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charset="-128"/>
          </a:defRPr>
        </a:defPPr>
      </a:lstStyle>
    </a:lnDef>
  </a:objectDefaults>
  <a:extraClrSchemeLst>
    <a:extraClrScheme>
      <a:clrScheme name="3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3575</TotalTime>
  <Words>1865</Words>
  <Application>Microsoft Office PowerPoint</Application>
  <PresentationFormat>On-screen Show (4:3)</PresentationFormat>
  <Paragraphs>283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Verdana</vt:lpstr>
      <vt:lpstr>ＭＳ Ｐゴシック</vt:lpstr>
      <vt:lpstr>Arial</vt:lpstr>
      <vt:lpstr>Helvetica</vt:lpstr>
      <vt:lpstr>Wingdings</vt:lpstr>
      <vt:lpstr>Webdings</vt:lpstr>
      <vt:lpstr>Times New Roman</vt:lpstr>
      <vt:lpstr>Symbol</vt:lpstr>
      <vt:lpstr>Monaco</vt:lpstr>
      <vt:lpstr>Courier New</vt:lpstr>
      <vt:lpstr>3_os-8</vt:lpstr>
      <vt:lpstr>Processes</vt:lpstr>
      <vt:lpstr>Chapter 3:  Processes</vt:lpstr>
      <vt:lpstr>Objectives</vt:lpstr>
      <vt:lpstr>Process Concept</vt:lpstr>
      <vt:lpstr>Process in Memory</vt:lpstr>
      <vt:lpstr>Process State</vt:lpstr>
      <vt:lpstr>Diagram of Process State</vt:lpstr>
      <vt:lpstr>Process Control Block (PCB)</vt:lpstr>
      <vt:lpstr>Process Control Block (PCB)</vt:lpstr>
      <vt:lpstr>CPU Switch From Process to Process</vt:lpstr>
      <vt:lpstr>Process Scheduling Queues</vt:lpstr>
      <vt:lpstr>Ready Queue And  Various I/O Device Queues</vt:lpstr>
      <vt:lpstr>Representation of Process Scheduling</vt:lpstr>
      <vt:lpstr>Schedulers</vt:lpstr>
      <vt:lpstr>Addition of Medium Term Scheduling</vt:lpstr>
      <vt:lpstr>Schedulers (Cont.)</vt:lpstr>
      <vt:lpstr>Context Switch</vt:lpstr>
      <vt:lpstr>Process Creation</vt:lpstr>
      <vt:lpstr>Process Creation (Cont.)</vt:lpstr>
      <vt:lpstr>Process Creation</vt:lpstr>
      <vt:lpstr>C Program Forking Separate Process</vt:lpstr>
      <vt:lpstr>A tree of processes on a typical Solaris</vt:lpstr>
      <vt:lpstr>Process Termination</vt:lpstr>
      <vt:lpstr>Cooperating Processes</vt:lpstr>
      <vt:lpstr>Communications Models </vt:lpstr>
      <vt:lpstr>Producer-Consumer Problem</vt:lpstr>
      <vt:lpstr>Simulating Shared Memory in Java</vt:lpstr>
      <vt:lpstr>Bounded-Buffer – Shared-Memory Solution</vt:lpstr>
      <vt:lpstr>Bounded-Buffer – Producer</vt:lpstr>
      <vt:lpstr>Bounded Buffer – Consumer</vt:lpstr>
      <vt:lpstr>Interprocess Communication –  Message Passing</vt:lpstr>
      <vt:lpstr>Implementation Questions</vt:lpstr>
      <vt:lpstr>PowerPoint Presentation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  <vt:lpstr>Examples of IPC Systems - POSIX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S Bhavani</cp:lastModifiedBy>
  <cp:revision>152</cp:revision>
  <cp:lastPrinted>2001-06-14T14:14:54Z</cp:lastPrinted>
  <dcterms:created xsi:type="dcterms:W3CDTF">2008-07-20T15:16:37Z</dcterms:created>
  <dcterms:modified xsi:type="dcterms:W3CDTF">2026-04-07T06:33:33Z</dcterms:modified>
</cp:coreProperties>
</file>