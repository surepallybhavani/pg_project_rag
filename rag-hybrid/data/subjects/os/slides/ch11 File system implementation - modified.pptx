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315" r:id="rId2"/>
    <p:sldId id="296" r:id="rId3"/>
    <p:sldId id="316" r:id="rId4"/>
    <p:sldId id="317" r:id="rId5"/>
    <p:sldId id="318" r:id="rId6"/>
    <p:sldId id="297" r:id="rId7"/>
    <p:sldId id="319" r:id="rId8"/>
    <p:sldId id="321" r:id="rId9"/>
    <p:sldId id="298" r:id="rId10"/>
    <p:sldId id="299" r:id="rId11"/>
    <p:sldId id="324" r:id="rId12"/>
    <p:sldId id="300" r:id="rId13"/>
    <p:sldId id="320" r:id="rId14"/>
    <p:sldId id="301" r:id="rId15"/>
    <p:sldId id="302" r:id="rId16"/>
    <p:sldId id="303" r:id="rId17"/>
    <p:sldId id="308" r:id="rId18"/>
    <p:sldId id="309" r:id="rId19"/>
    <p:sldId id="322" r:id="rId20"/>
    <p:sldId id="323" r:id="rId21"/>
    <p:sldId id="325" r:id="rId2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buChar char="•"/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buChar char="•"/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buChar char="•"/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buChar char="•"/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buChar char="•"/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618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B94F5F53-B4FC-A017-D20A-D75595283E0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buFontTx/>
              <a:buNone/>
              <a:defRPr sz="1200" smtClean="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2909FFF4-65FA-C819-5BC9-B423F98382F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buFontTx/>
              <a:buNone/>
              <a:defRPr sz="1200" smtClean="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9332" name="Rectangle 4">
            <a:extLst>
              <a:ext uri="{FF2B5EF4-FFF2-40B4-BE49-F238E27FC236}">
                <a16:creationId xmlns:a16="http://schemas.microsoft.com/office/drawing/2014/main" id="{E87AD8BE-16FF-A756-9C30-F77525D790F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buFontTx/>
              <a:buNone/>
              <a:defRPr sz="1200" smtClean="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9333" name="Rectangle 5">
            <a:extLst>
              <a:ext uri="{FF2B5EF4-FFF2-40B4-BE49-F238E27FC236}">
                <a16:creationId xmlns:a16="http://schemas.microsoft.com/office/drawing/2014/main" id="{B1BFD9FB-7DC3-29D3-667A-E4C2118BF9E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buFontTx/>
              <a:buNone/>
              <a:defRPr sz="1200">
                <a:latin typeface="Helvetica" panose="020B0604020202020204" pitchFamily="34" charset="0"/>
              </a:defRPr>
            </a:lvl1pPr>
          </a:lstStyle>
          <a:p>
            <a:fld id="{1BB4F4EE-E401-4365-B02E-13003DEA053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875C477-73AE-4AF7-E51E-1EEC2E46454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buFontTx/>
              <a:buNone/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1A4ABB6-9756-2E1B-B40F-00647611889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buFontTx/>
              <a:buNone/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820" name="Rectangle 4">
            <a:extLst>
              <a:ext uri="{FF2B5EF4-FFF2-40B4-BE49-F238E27FC236}">
                <a16:creationId xmlns:a16="http://schemas.microsoft.com/office/drawing/2014/main" id="{590D44A1-7DDF-FA3F-53A2-893DBBDDC267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8A7DDDF-B0D2-3D90-9C9C-818FB29EFD0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36C9B0C7-6C34-1C75-035D-F1A3F475180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buFontTx/>
              <a:buNone/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6ED04383-622D-A4A5-511F-C038DF9E2E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buFontTx/>
              <a:buNone/>
              <a:defRPr sz="1200"/>
            </a:lvl1pPr>
          </a:lstStyle>
          <a:p>
            <a:fld id="{E289474A-5F92-4128-927F-45377DE3C6F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4CCBD7-2625-6665-CB47-C6F2D1C1505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Operating System Concepts</a:t>
            </a:r>
          </a:p>
        </p:txBody>
      </p:sp>
    </p:spTree>
    <p:extLst>
      <p:ext uri="{BB962C8B-B14F-4D97-AF65-F5344CB8AC3E}">
        <p14:creationId xmlns:p14="http://schemas.microsoft.com/office/powerpoint/2010/main" val="981550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B58E04-0EF3-AA23-E4A4-27C00AA17C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Operating System Concepts</a:t>
            </a:r>
          </a:p>
        </p:txBody>
      </p:sp>
    </p:spTree>
    <p:extLst>
      <p:ext uri="{BB962C8B-B14F-4D97-AF65-F5344CB8AC3E}">
        <p14:creationId xmlns:p14="http://schemas.microsoft.com/office/powerpoint/2010/main" val="368902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D127F9-B8FE-3776-3FE9-588BA6C379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Operating System Concepts</a:t>
            </a:r>
          </a:p>
        </p:txBody>
      </p:sp>
    </p:spTree>
    <p:extLst>
      <p:ext uri="{BB962C8B-B14F-4D97-AF65-F5344CB8AC3E}">
        <p14:creationId xmlns:p14="http://schemas.microsoft.com/office/powerpoint/2010/main" val="1407245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47750" y="1724025"/>
            <a:ext cx="34385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675" y="1724025"/>
            <a:ext cx="34385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8EC93-9D9E-D6BC-464B-8955058868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Operating System Concepts</a:t>
            </a:r>
          </a:p>
        </p:txBody>
      </p:sp>
    </p:spTree>
    <p:extLst>
      <p:ext uri="{BB962C8B-B14F-4D97-AF65-F5344CB8AC3E}">
        <p14:creationId xmlns:p14="http://schemas.microsoft.com/office/powerpoint/2010/main" val="1962594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6485BA1-BC66-FF9E-16BB-D8CEAA829F7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Operating System Concepts</a:t>
            </a:r>
          </a:p>
        </p:txBody>
      </p:sp>
    </p:spTree>
    <p:extLst>
      <p:ext uri="{BB962C8B-B14F-4D97-AF65-F5344CB8AC3E}">
        <p14:creationId xmlns:p14="http://schemas.microsoft.com/office/powerpoint/2010/main" val="1453846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268613-2B3F-F9A3-034A-96E722154A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Operating System Concepts</a:t>
            </a:r>
          </a:p>
        </p:txBody>
      </p:sp>
    </p:spTree>
    <p:extLst>
      <p:ext uri="{BB962C8B-B14F-4D97-AF65-F5344CB8AC3E}">
        <p14:creationId xmlns:p14="http://schemas.microsoft.com/office/powerpoint/2010/main" val="1132788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086FC1F-A90F-BC64-FEC0-FF35014E59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Operating System Concepts</a:t>
            </a:r>
          </a:p>
        </p:txBody>
      </p:sp>
    </p:spTree>
    <p:extLst>
      <p:ext uri="{BB962C8B-B14F-4D97-AF65-F5344CB8AC3E}">
        <p14:creationId xmlns:p14="http://schemas.microsoft.com/office/powerpoint/2010/main" val="2048420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2E2D7-430C-F02B-DCE0-BC646D3E191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Operating System Concepts</a:t>
            </a:r>
          </a:p>
        </p:txBody>
      </p:sp>
    </p:spTree>
    <p:extLst>
      <p:ext uri="{BB962C8B-B14F-4D97-AF65-F5344CB8AC3E}">
        <p14:creationId xmlns:p14="http://schemas.microsoft.com/office/powerpoint/2010/main" val="2469858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918A3-34D7-3838-C503-044FEF7790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Operating System Concepts</a:t>
            </a:r>
          </a:p>
        </p:txBody>
      </p:sp>
    </p:spTree>
    <p:extLst>
      <p:ext uri="{BB962C8B-B14F-4D97-AF65-F5344CB8AC3E}">
        <p14:creationId xmlns:p14="http://schemas.microsoft.com/office/powerpoint/2010/main" val="337298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D2244A-E5D7-94EB-1F6B-C90DDE56DF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Operating System Concepts</a:t>
            </a:r>
          </a:p>
        </p:txBody>
      </p:sp>
    </p:spTree>
    <p:extLst>
      <p:ext uri="{BB962C8B-B14F-4D97-AF65-F5344CB8AC3E}">
        <p14:creationId xmlns:p14="http://schemas.microsoft.com/office/powerpoint/2010/main" val="332346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19838" y="495300"/>
            <a:ext cx="1757362" cy="5343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47750" y="495300"/>
            <a:ext cx="5119688" cy="5343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00B390-696E-3974-9913-4CCFD4E89E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Operating System Concepts</a:t>
            </a:r>
          </a:p>
        </p:txBody>
      </p:sp>
    </p:spTree>
    <p:extLst>
      <p:ext uri="{BB962C8B-B14F-4D97-AF65-F5344CB8AC3E}">
        <p14:creationId xmlns:p14="http://schemas.microsoft.com/office/powerpoint/2010/main" val="686482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2092D15-3AE2-62DD-0714-6166D63FCF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62050" y="495300"/>
            <a:ext cx="6886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2B12E67-83A8-A81C-BC6F-DCA634151A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47750" y="1724025"/>
            <a:ext cx="70294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55F00CC-AE16-A404-6AA5-89E432339FE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537325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buFontTx/>
              <a:buNone/>
              <a:defRPr sz="1000" smtClean="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Operating System Concepts</a:t>
            </a: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1F7AF166-C7E1-F4A5-9A6C-42C7AE88D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6537325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buFontTx/>
              <a:buNone/>
              <a:defRPr/>
            </a:pPr>
            <a:r>
              <a:rPr lang="en-US" sz="1000">
                <a:latin typeface="Helvetica" pitchFamily="34" charset="0"/>
              </a:rPr>
              <a:t>Silberschatz and Galvin</a:t>
            </a:r>
            <a:r>
              <a:rPr lang="en-US" sz="1000">
                <a:latin typeface="Helvetica" pitchFamily="34" charset="0"/>
                <a:sym typeface="Symbol" pitchFamily="18" charset="2"/>
              </a:rPr>
              <a:t>1999</a:t>
            </a:r>
            <a:r>
              <a:rPr lang="en-US" sz="1400"/>
              <a:t> </a:t>
            </a:r>
          </a:p>
        </p:txBody>
      </p:sp>
      <p:sp>
        <p:nvSpPr>
          <p:cNvPr id="1033" name="AutoShape 9">
            <a:extLst>
              <a:ext uri="{FF2B5EF4-FFF2-40B4-BE49-F238E27FC236}">
                <a16:creationId xmlns:a16="http://schemas.microsoft.com/office/drawing/2014/main" id="{C9B848D7-0CA7-B90D-0038-B3C16634B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" y="95250"/>
            <a:ext cx="8909050" cy="6448425"/>
          </a:xfrm>
          <a:prstGeom prst="roundRect">
            <a:avLst>
              <a:gd name="adj" fmla="val 17278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85016B29-4498-1943-BB6B-74BA4B2FF2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8788" y="6567488"/>
            <a:ext cx="5143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000">
                <a:latin typeface="Helvetica" panose="020B0604020202020204" pitchFamily="34" charset="0"/>
              </a:rPr>
              <a:t>11.</a:t>
            </a:r>
            <a:fld id="{C229A029-7E6A-4F85-8132-E76967EC1D03}" type="slidenum">
              <a:rPr lang="en-US" altLang="en-US" sz="1000">
                <a:latin typeface="Helvetica" panose="020B0604020202020204" pitchFamily="34" charset="0"/>
              </a:rPr>
              <a:pPr algn="ctr">
                <a:spcBef>
                  <a:spcPct val="50000"/>
                </a:spcBef>
                <a:buFontTx/>
                <a:buNone/>
              </a:pPr>
              <a:t>‹#›</a:t>
            </a:fld>
            <a:endParaRPr lang="en-US" altLang="en-US" sz="1000">
              <a:latin typeface="Helvetica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Helvetica" pitchFamily="34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SzPct val="140000"/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85000"/>
        <a:buFont typeface="Monotype Sorts" pitchFamily="2" charset="2"/>
        <a:buChar char="T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21B25A98-90D3-5E06-82BD-1C8C2120F3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 Concepts</a:t>
            </a:r>
          </a:p>
        </p:txBody>
      </p:sp>
      <p:sp>
        <p:nvSpPr>
          <p:cNvPr id="101378" name="Rectangle 2">
            <a:extLst>
              <a:ext uri="{FF2B5EF4-FFF2-40B4-BE49-F238E27FC236}">
                <a16:creationId xmlns:a16="http://schemas.microsoft.com/office/drawing/2014/main" id="{000C3475-578D-5925-0C81-417A252FB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342900"/>
            <a:ext cx="7642225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C8B83673-778B-55F9-AB21-1AA734F28F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File-System Implementation</a:t>
            </a:r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9DFCCA42-696E-F018-7905-86483EAAD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4725" y="1531938"/>
            <a:ext cx="70294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Pct val="140000"/>
            </a:pP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44166648-8E92-6EB9-29AC-803160C33F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sz="3200"/>
              <a:t>File-System Structure </a:t>
            </a:r>
          </a:p>
          <a:p>
            <a:r>
              <a:rPr lang="en-US" altLang="en-US" sz="3200"/>
              <a:t>Allocation Methods</a:t>
            </a:r>
          </a:p>
          <a:p>
            <a:r>
              <a:rPr lang="en-US" altLang="en-US" sz="3200"/>
              <a:t>Free-Space Management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3AD67A-0671-D988-913B-90849156CE8C}"/>
              </a:ext>
            </a:extLst>
          </p:cNvPr>
          <p:cNvSpPr/>
          <p:nvPr/>
        </p:nvSpPr>
        <p:spPr bwMode="auto">
          <a:xfrm>
            <a:off x="401638" y="6556375"/>
            <a:ext cx="8275637" cy="3016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3A949A1-88CE-96D9-D144-8D8028D50B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 Concepts</a:t>
            </a:r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BB17D676-0C20-9D91-D094-1998F8DBD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342900"/>
            <a:ext cx="7642225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4340" name="Rectangle 2">
            <a:extLst>
              <a:ext uri="{FF2B5EF4-FFF2-40B4-BE49-F238E27FC236}">
                <a16:creationId xmlns:a16="http://schemas.microsoft.com/office/drawing/2014/main" id="{57F41CA1-8EDE-6E42-41B0-BCC52F7899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File-System Structure</a:t>
            </a:r>
          </a:p>
        </p:txBody>
      </p:sp>
      <p:sp>
        <p:nvSpPr>
          <p:cNvPr id="14341" name="Rectangle 3">
            <a:extLst>
              <a:ext uri="{FF2B5EF4-FFF2-40B4-BE49-F238E27FC236}">
                <a16:creationId xmlns:a16="http://schemas.microsoft.com/office/drawing/2014/main" id="{97D3B10E-6993-9749-9605-7452790554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File structure</a:t>
            </a:r>
          </a:p>
          <a:p>
            <a:pPr lvl="1"/>
            <a:r>
              <a:rPr lang="en-US" altLang="en-US"/>
              <a:t>Logical storage unit</a:t>
            </a:r>
          </a:p>
          <a:p>
            <a:pPr lvl="1"/>
            <a:r>
              <a:rPr lang="en-US" altLang="en-US"/>
              <a:t>Collection of related information</a:t>
            </a:r>
          </a:p>
          <a:p>
            <a:r>
              <a:rPr lang="en-US" altLang="en-US"/>
              <a:t>File system resides on secondary storage (disks).</a:t>
            </a:r>
          </a:p>
          <a:p>
            <a:r>
              <a:rPr lang="en-US" altLang="en-US"/>
              <a:t>File system organized into layers.</a:t>
            </a:r>
          </a:p>
          <a:p>
            <a:r>
              <a:rPr lang="en-US" altLang="en-US" i="1"/>
              <a:t>File control block</a:t>
            </a:r>
            <a:r>
              <a:rPr lang="en-US" altLang="en-US"/>
              <a:t> – storage structure consisting of information about a file.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A8A479-8E59-CEF6-D3A4-744FDA90C8BD}"/>
              </a:ext>
            </a:extLst>
          </p:cNvPr>
          <p:cNvSpPr/>
          <p:nvPr/>
        </p:nvSpPr>
        <p:spPr bwMode="auto">
          <a:xfrm>
            <a:off x="512763" y="6546850"/>
            <a:ext cx="8174037" cy="3111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4AA99F02-41CD-A2CD-7E2E-41D37036A0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 Concepts</a:t>
            </a:r>
          </a:p>
        </p:txBody>
      </p:sp>
      <p:sp>
        <p:nvSpPr>
          <p:cNvPr id="15363" name="Rectangle 4">
            <a:extLst>
              <a:ext uri="{FF2B5EF4-FFF2-40B4-BE49-F238E27FC236}">
                <a16:creationId xmlns:a16="http://schemas.microsoft.com/office/drawing/2014/main" id="{A1CDFD94-0C11-84DB-F71E-1659673F7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1575" y="0"/>
            <a:ext cx="7772400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Tx/>
              <a:buNone/>
            </a:pPr>
            <a:r>
              <a:rPr lang="en-US" altLang="en-US" sz="2800" b="1">
                <a:solidFill>
                  <a:schemeClr val="tx2"/>
                </a:solidFill>
                <a:latin typeface="Helvetica" panose="020B0604020202020204" pitchFamily="34" charset="0"/>
              </a:rPr>
              <a:t>Layered File System</a:t>
            </a:r>
          </a:p>
        </p:txBody>
      </p:sp>
      <p:pic>
        <p:nvPicPr>
          <p:cNvPr id="15364" name="Picture 5">
            <a:extLst>
              <a:ext uri="{FF2B5EF4-FFF2-40B4-BE49-F238E27FC236}">
                <a16:creationId xmlns:a16="http://schemas.microsoft.com/office/drawing/2014/main" id="{9F8D3F6E-B986-B048-4EC3-FE38A555A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03" t="1251" r="33133" b="2055"/>
          <a:stretch>
            <a:fillRect/>
          </a:stretch>
        </p:blipFill>
        <p:spPr bwMode="auto">
          <a:xfrm>
            <a:off x="1038225" y="927100"/>
            <a:ext cx="2751138" cy="5707063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5" name="Rectangle 7">
            <a:extLst>
              <a:ext uri="{FF2B5EF4-FFF2-40B4-BE49-F238E27FC236}">
                <a16:creationId xmlns:a16="http://schemas.microsoft.com/office/drawing/2014/main" id="{C7685037-D325-6C22-69B8-9BC153E82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7638" y="933450"/>
            <a:ext cx="477202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Pct val="140000"/>
            </a:pPr>
            <a:r>
              <a:rPr lang="en-US" altLang="en-US">
                <a:latin typeface="Helvetica" panose="020B0604020202020204" pitchFamily="34" charset="0"/>
              </a:rPr>
              <a:t>Calls the logical file system eg to create a file</a:t>
            </a:r>
          </a:p>
          <a:p>
            <a:pPr>
              <a:spcBef>
                <a:spcPct val="50000"/>
              </a:spcBef>
              <a:buSzPct val="140000"/>
            </a:pPr>
            <a:endParaRPr lang="en-US" altLang="en-US">
              <a:latin typeface="Helvetica" panose="020B0604020202020204" pitchFamily="34" charset="0"/>
            </a:endParaRPr>
          </a:p>
          <a:p>
            <a:pPr>
              <a:spcBef>
                <a:spcPct val="50000"/>
              </a:spcBef>
              <a:buSzPct val="140000"/>
            </a:pPr>
            <a:r>
              <a:rPr lang="en-US" altLang="en-US">
                <a:latin typeface="Helvetica" panose="020B0604020202020204" pitchFamily="34" charset="0"/>
              </a:rPr>
              <a:t>Uses directory structure</a:t>
            </a:r>
          </a:p>
          <a:p>
            <a:pPr>
              <a:spcBef>
                <a:spcPct val="50000"/>
              </a:spcBef>
              <a:buSzPct val="140000"/>
            </a:pPr>
            <a:r>
              <a:rPr lang="en-US" altLang="en-US">
                <a:latin typeface="Helvetica" panose="020B0604020202020204" pitchFamily="34" charset="0"/>
              </a:rPr>
              <a:t>Responsible for protection and security</a:t>
            </a:r>
          </a:p>
          <a:p>
            <a:pPr>
              <a:spcBef>
                <a:spcPct val="50000"/>
              </a:spcBef>
              <a:buSzPct val="140000"/>
            </a:pPr>
            <a:endParaRPr lang="en-US" altLang="en-US">
              <a:latin typeface="Helvetica" panose="020B0604020202020204" pitchFamily="34" charset="0"/>
            </a:endParaRPr>
          </a:p>
          <a:p>
            <a:pPr>
              <a:spcBef>
                <a:spcPct val="50000"/>
              </a:spcBef>
              <a:buSzPct val="140000"/>
            </a:pPr>
            <a:r>
              <a:rPr lang="en-US" altLang="en-US">
                <a:latin typeface="Helvetica" panose="020B0604020202020204" pitchFamily="34" charset="0"/>
              </a:rPr>
              <a:t>Free space management, </a:t>
            </a:r>
          </a:p>
          <a:p>
            <a:pPr>
              <a:spcBef>
                <a:spcPct val="50000"/>
              </a:spcBef>
              <a:buSzPct val="140000"/>
            </a:pPr>
            <a:r>
              <a:rPr lang="en-US" altLang="en-US">
                <a:latin typeface="Helvetica" panose="020B0604020202020204" pitchFamily="34" charset="0"/>
              </a:rPr>
              <a:t>Knows about files and their logical blocks and physical blocks</a:t>
            </a:r>
          </a:p>
          <a:p>
            <a:pPr>
              <a:spcBef>
                <a:spcPct val="50000"/>
              </a:spcBef>
              <a:buSzPct val="140000"/>
            </a:pPr>
            <a:r>
              <a:rPr lang="en-US" altLang="en-US">
                <a:latin typeface="Helvetica" panose="020B0604020202020204" pitchFamily="34" charset="0"/>
              </a:rPr>
              <a:t>Issue generic cmds</a:t>
            </a:r>
          </a:p>
          <a:p>
            <a:pPr>
              <a:spcBef>
                <a:spcPct val="50000"/>
              </a:spcBef>
              <a:buSzPct val="140000"/>
            </a:pPr>
            <a:endParaRPr lang="en-US" altLang="en-US">
              <a:latin typeface="Helvetica" panose="020B0604020202020204" pitchFamily="34" charset="0"/>
            </a:endParaRPr>
          </a:p>
          <a:p>
            <a:pPr>
              <a:spcBef>
                <a:spcPct val="50000"/>
              </a:spcBef>
              <a:buSzPct val="140000"/>
            </a:pPr>
            <a:r>
              <a:rPr lang="en-US" altLang="en-US">
                <a:latin typeface="Helvetica" panose="020B0604020202020204" pitchFamily="34" charset="0"/>
              </a:rPr>
              <a:t>Device drivers an interrupt handlers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38C57BB7-58CF-D678-283B-244144E4C0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 Concepts</a:t>
            </a:r>
          </a:p>
        </p:txBody>
      </p:sp>
      <p:sp>
        <p:nvSpPr>
          <p:cNvPr id="16387" name="Rectangle 4">
            <a:extLst>
              <a:ext uri="{FF2B5EF4-FFF2-40B4-BE49-F238E27FC236}">
                <a16:creationId xmlns:a16="http://schemas.microsoft.com/office/drawing/2014/main" id="{5B40F136-7A99-430B-AC51-53CB4FD84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1575" y="0"/>
            <a:ext cx="7772400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Tx/>
              <a:buNone/>
            </a:pPr>
            <a:r>
              <a:rPr lang="en-US" altLang="en-US" sz="2800" b="1">
                <a:solidFill>
                  <a:schemeClr val="tx2"/>
                </a:solidFill>
                <a:latin typeface="Helvetica" panose="020B0604020202020204" pitchFamily="34" charset="0"/>
              </a:rPr>
              <a:t>In-Memory File System Structures</a:t>
            </a:r>
            <a:endParaRPr lang="en-US" altLang="en-US" sz="2000" b="1">
              <a:solidFill>
                <a:schemeClr val="tx2"/>
              </a:solidFill>
              <a:latin typeface="Helvetica" panose="020B0604020202020204" pitchFamily="34" charset="0"/>
            </a:endParaRPr>
          </a:p>
        </p:txBody>
      </p:sp>
      <p:pic>
        <p:nvPicPr>
          <p:cNvPr id="16388" name="Picture 5">
            <a:extLst>
              <a:ext uri="{FF2B5EF4-FFF2-40B4-BE49-F238E27FC236}">
                <a16:creationId xmlns:a16="http://schemas.microsoft.com/office/drawing/2014/main" id="{F8F12993-2A65-BE07-CE3A-1B3868427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7" t="919" r="4572" b="716"/>
          <a:stretch>
            <a:fillRect/>
          </a:stretch>
        </p:blipFill>
        <p:spPr bwMode="auto">
          <a:xfrm>
            <a:off x="1658938" y="1141413"/>
            <a:ext cx="5645150" cy="458470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BA1FD417-D523-16A6-9AE1-3241CC3037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 Concepts</a:t>
            </a:r>
          </a:p>
        </p:txBody>
      </p:sp>
      <p:sp>
        <p:nvSpPr>
          <p:cNvPr id="17411" name="Rectangle 4">
            <a:extLst>
              <a:ext uri="{FF2B5EF4-FFF2-40B4-BE49-F238E27FC236}">
                <a16:creationId xmlns:a16="http://schemas.microsoft.com/office/drawing/2014/main" id="{6B55A6DD-C394-F2D1-96DF-610BC6E6C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1575" y="0"/>
            <a:ext cx="7772400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Tx/>
              <a:buNone/>
            </a:pPr>
            <a:r>
              <a:rPr lang="en-US" altLang="en-US" sz="2800" b="1">
                <a:solidFill>
                  <a:schemeClr val="tx2"/>
                </a:solidFill>
                <a:latin typeface="Helvetica" panose="020B0604020202020204" pitchFamily="34" charset="0"/>
              </a:rPr>
              <a:t>Allocation Methods</a:t>
            </a:r>
          </a:p>
        </p:txBody>
      </p:sp>
      <p:sp>
        <p:nvSpPr>
          <p:cNvPr id="17412" name="Rectangle 5">
            <a:extLst>
              <a:ext uri="{FF2B5EF4-FFF2-40B4-BE49-F238E27FC236}">
                <a16:creationId xmlns:a16="http://schemas.microsoft.com/office/drawing/2014/main" id="{888FACB9-8AC4-6CE0-D4DA-250EA06EC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188" y="1366838"/>
            <a:ext cx="830262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Pct val="140000"/>
            </a:pPr>
            <a:r>
              <a:rPr lang="en-US" altLang="en-US" sz="2800">
                <a:latin typeface="Helvetica" panose="020B0604020202020204" pitchFamily="34" charset="0"/>
              </a:rPr>
              <a:t>An allocation method refers to how disk blocks are allocated for files:</a:t>
            </a:r>
          </a:p>
          <a:p>
            <a:pPr lvl="1">
              <a:spcBef>
                <a:spcPct val="50000"/>
              </a:spcBef>
              <a:buSzPct val="140000"/>
            </a:pPr>
            <a:r>
              <a:rPr lang="en-US" altLang="en-US" sz="2800">
                <a:latin typeface="Helvetica" panose="020B0604020202020204" pitchFamily="34" charset="0"/>
              </a:rPr>
              <a:t>Contiguous allocation</a:t>
            </a:r>
          </a:p>
          <a:p>
            <a:pPr lvl="1">
              <a:spcBef>
                <a:spcPct val="50000"/>
              </a:spcBef>
              <a:buSzPct val="140000"/>
            </a:pPr>
            <a:r>
              <a:rPr lang="en-US" altLang="en-US" sz="2800">
                <a:latin typeface="Helvetica" panose="020B0604020202020204" pitchFamily="34" charset="0"/>
              </a:rPr>
              <a:t>Linked allocation</a:t>
            </a:r>
          </a:p>
          <a:p>
            <a:pPr lvl="1">
              <a:spcBef>
                <a:spcPct val="50000"/>
              </a:spcBef>
              <a:buSzPct val="140000"/>
            </a:pPr>
            <a:r>
              <a:rPr lang="en-US" altLang="en-US" sz="2800">
                <a:latin typeface="Helvetica" panose="020B0604020202020204" pitchFamily="34" charset="0"/>
              </a:rPr>
              <a:t>Indexed allocation</a:t>
            </a:r>
          </a:p>
          <a:p>
            <a:pPr>
              <a:spcBef>
                <a:spcPct val="50000"/>
              </a:spcBef>
              <a:buSzPct val="140000"/>
            </a:pPr>
            <a:endParaRPr lang="en-US" altLang="en-US">
              <a:latin typeface="Helvetica" panose="020B0604020202020204" pitchFamily="34" charset="0"/>
            </a:endParaRPr>
          </a:p>
          <a:p>
            <a:pPr>
              <a:spcBef>
                <a:spcPct val="50000"/>
              </a:spcBef>
              <a:buSzPct val="140000"/>
            </a:pPr>
            <a:endParaRPr lang="en-US" altLang="en-US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82C3754-4111-223A-24E6-B4025B13C1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 Concepts</a:t>
            </a:r>
          </a:p>
        </p:txBody>
      </p:sp>
      <p:sp>
        <p:nvSpPr>
          <p:cNvPr id="72715" name="Rectangle 11">
            <a:extLst>
              <a:ext uri="{FF2B5EF4-FFF2-40B4-BE49-F238E27FC236}">
                <a16:creationId xmlns:a16="http://schemas.microsoft.com/office/drawing/2014/main" id="{56BA9A4D-7EEA-71BB-4571-94573D733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342900"/>
            <a:ext cx="7642225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1B2E506D-C2D4-CF5A-5BCB-35B239E306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Contiguous Allocation</a:t>
            </a:r>
          </a:p>
        </p:txBody>
      </p:sp>
      <p:sp>
        <p:nvSpPr>
          <p:cNvPr id="18437" name="Rectangle 3">
            <a:extLst>
              <a:ext uri="{FF2B5EF4-FFF2-40B4-BE49-F238E27FC236}">
                <a16:creationId xmlns:a16="http://schemas.microsoft.com/office/drawing/2014/main" id="{D04FBA75-3787-0EB9-61DE-72EB6E87D6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2650" y="1724025"/>
            <a:ext cx="7029450" cy="2686050"/>
          </a:xfrm>
        </p:spPr>
        <p:txBody>
          <a:bodyPr/>
          <a:lstStyle/>
          <a:p>
            <a:pPr algn="just"/>
            <a:r>
              <a:rPr lang="en-US" altLang="en-US" sz="2400"/>
              <a:t>Each file occupies a set of contiguous blocks on the disk.</a:t>
            </a:r>
          </a:p>
          <a:p>
            <a:pPr algn="just"/>
            <a:r>
              <a:rPr lang="en-US" altLang="en-US" sz="2400"/>
              <a:t>Simple – only starting location (block #) and length (number of blocks) are required.</a:t>
            </a:r>
          </a:p>
          <a:p>
            <a:r>
              <a:rPr lang="en-US" altLang="en-US" sz="2400"/>
              <a:t>Random access.</a:t>
            </a:r>
          </a:p>
          <a:p>
            <a:pPr algn="just"/>
            <a:r>
              <a:rPr lang="en-US" altLang="en-US" sz="2400"/>
              <a:t>Wasteful of space (dynamic storage-allocation problem).</a:t>
            </a:r>
          </a:p>
          <a:p>
            <a:r>
              <a:rPr lang="en-US" altLang="en-US" sz="2400"/>
              <a:t>Files cannot grow.</a:t>
            </a:r>
          </a:p>
          <a:p>
            <a:endParaRPr lang="en-US" altLang="en-US" sz="2400"/>
          </a:p>
        </p:txBody>
      </p:sp>
      <p:sp>
        <p:nvSpPr>
          <p:cNvPr id="18438" name="Rectangle 9">
            <a:extLst>
              <a:ext uri="{FF2B5EF4-FFF2-40B4-BE49-F238E27FC236}">
                <a16:creationId xmlns:a16="http://schemas.microsoft.com/office/drawing/2014/main" id="{F97069C8-076C-885F-BD8B-4E19E08E8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" y="5399088"/>
            <a:ext cx="702945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Pct val="140000"/>
            </a:pPr>
            <a:endParaRPr lang="en-US" altLang="en-US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366EA3FF-6427-20BF-7ED2-F4D6994B77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 Concepts</a:t>
            </a:r>
          </a:p>
        </p:txBody>
      </p:sp>
      <p:sp>
        <p:nvSpPr>
          <p:cNvPr id="19459" name="Rectangle 4">
            <a:extLst>
              <a:ext uri="{FF2B5EF4-FFF2-40B4-BE49-F238E27FC236}">
                <a16:creationId xmlns:a16="http://schemas.microsoft.com/office/drawing/2014/main" id="{C4CA429B-E4D1-BA6A-ED5A-593EBD138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1575" y="0"/>
            <a:ext cx="7772400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Tx/>
              <a:buNone/>
            </a:pPr>
            <a:r>
              <a:rPr lang="en-US" altLang="en-US" sz="2800" b="1">
                <a:solidFill>
                  <a:schemeClr val="tx2"/>
                </a:solidFill>
                <a:latin typeface="Helvetica" panose="020B0604020202020204" pitchFamily="34" charset="0"/>
              </a:rPr>
              <a:t>Contiguous Allocation of Disk Space</a:t>
            </a:r>
            <a:endParaRPr lang="en-US" altLang="en-US" sz="2000" b="1">
              <a:solidFill>
                <a:schemeClr val="tx2"/>
              </a:solidFill>
              <a:latin typeface="Helvetica" panose="020B0604020202020204" pitchFamily="34" charset="0"/>
            </a:endParaRPr>
          </a:p>
        </p:txBody>
      </p:sp>
      <p:pic>
        <p:nvPicPr>
          <p:cNvPr id="19460" name="Picture 5">
            <a:extLst>
              <a:ext uri="{FF2B5EF4-FFF2-40B4-BE49-F238E27FC236}">
                <a16:creationId xmlns:a16="http://schemas.microsoft.com/office/drawing/2014/main" id="{1AFEDCBF-BA91-7DBC-C5A3-418FF6EA2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19" t="5881" r="14653" b="1823"/>
          <a:stretch>
            <a:fillRect/>
          </a:stretch>
        </p:blipFill>
        <p:spPr bwMode="auto">
          <a:xfrm>
            <a:off x="2251075" y="1052513"/>
            <a:ext cx="5160963" cy="5065712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A9913F07-6AD2-DCB9-B250-BC115E8C23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 Concepts</a:t>
            </a:r>
          </a:p>
        </p:txBody>
      </p:sp>
      <p:sp>
        <p:nvSpPr>
          <p:cNvPr id="20483" name="Rectangle 4">
            <a:extLst>
              <a:ext uri="{FF2B5EF4-FFF2-40B4-BE49-F238E27FC236}">
                <a16:creationId xmlns:a16="http://schemas.microsoft.com/office/drawing/2014/main" id="{49D7EF68-9168-61A0-10C5-18760098E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1575" y="0"/>
            <a:ext cx="7772400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Tx/>
              <a:buNone/>
            </a:pPr>
            <a:r>
              <a:rPr lang="en-US" altLang="en-US" sz="2800" b="1">
                <a:solidFill>
                  <a:schemeClr val="tx2"/>
                </a:solidFill>
                <a:latin typeface="Helvetica" panose="020B0604020202020204" pitchFamily="34" charset="0"/>
              </a:rPr>
              <a:t>Extent-Based Systems</a:t>
            </a:r>
          </a:p>
        </p:txBody>
      </p:sp>
      <p:sp>
        <p:nvSpPr>
          <p:cNvPr id="20484" name="Rectangle 5">
            <a:extLst>
              <a:ext uri="{FF2B5EF4-FFF2-40B4-BE49-F238E27FC236}">
                <a16:creationId xmlns:a16="http://schemas.microsoft.com/office/drawing/2014/main" id="{708BC711-1251-8FE4-EBB5-C0C529B512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7275" y="1366838"/>
            <a:ext cx="70294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Pct val="140000"/>
            </a:pPr>
            <a:r>
              <a:rPr lang="en-US" altLang="en-US">
                <a:latin typeface="Helvetica" panose="020B0604020202020204" pitchFamily="34" charset="0"/>
              </a:rPr>
              <a:t>Many newer file systems (I.e. Veritas File System) use a modified contiguous allocation scheme.</a:t>
            </a:r>
          </a:p>
          <a:p>
            <a:pPr>
              <a:spcBef>
                <a:spcPct val="50000"/>
              </a:spcBef>
              <a:buSzPct val="140000"/>
            </a:pPr>
            <a:endParaRPr lang="en-US" altLang="en-US">
              <a:latin typeface="Helvetica" panose="020B0604020202020204" pitchFamily="34" charset="0"/>
            </a:endParaRPr>
          </a:p>
          <a:p>
            <a:pPr>
              <a:spcBef>
                <a:spcPct val="50000"/>
              </a:spcBef>
              <a:buSzPct val="140000"/>
            </a:pPr>
            <a:r>
              <a:rPr lang="en-US" altLang="en-US">
                <a:latin typeface="Helvetica" panose="020B0604020202020204" pitchFamily="34" charset="0"/>
              </a:rPr>
              <a:t>Extent-based file systems allocate disk blocks in </a:t>
            </a:r>
            <a:r>
              <a:rPr lang="en-US" altLang="en-US" b="1">
                <a:latin typeface="Helvetica" panose="020B0604020202020204" pitchFamily="34" charset="0"/>
              </a:rPr>
              <a:t>extents</a:t>
            </a:r>
            <a:r>
              <a:rPr lang="en-US" altLang="en-US">
                <a:latin typeface="Helvetica" panose="020B0604020202020204" pitchFamily="34" charset="0"/>
              </a:rPr>
              <a:t>. </a:t>
            </a:r>
          </a:p>
          <a:p>
            <a:pPr>
              <a:spcBef>
                <a:spcPct val="50000"/>
              </a:spcBef>
              <a:buSzPct val="140000"/>
            </a:pPr>
            <a:endParaRPr lang="en-US" altLang="en-US">
              <a:latin typeface="Helvetica" panose="020B0604020202020204" pitchFamily="34" charset="0"/>
            </a:endParaRPr>
          </a:p>
          <a:p>
            <a:pPr>
              <a:spcBef>
                <a:spcPct val="50000"/>
              </a:spcBef>
              <a:buSzPct val="140000"/>
            </a:pPr>
            <a:r>
              <a:rPr lang="en-US" altLang="en-US">
                <a:latin typeface="Helvetica" panose="020B0604020202020204" pitchFamily="34" charset="0"/>
              </a:rPr>
              <a:t>An </a:t>
            </a:r>
            <a:r>
              <a:rPr lang="en-US" altLang="en-US" b="1">
                <a:latin typeface="Helvetica" panose="020B0604020202020204" pitchFamily="34" charset="0"/>
              </a:rPr>
              <a:t>extent</a:t>
            </a:r>
            <a:r>
              <a:rPr lang="en-US" altLang="en-US">
                <a:latin typeface="Helvetica" panose="020B0604020202020204" pitchFamily="34" charset="0"/>
              </a:rPr>
              <a:t> is a contiguous block of disks. Extents are allocated for file allocation. A file consists of one or more extents.</a:t>
            </a:r>
          </a:p>
          <a:p>
            <a:pPr>
              <a:spcBef>
                <a:spcPct val="50000"/>
              </a:spcBef>
              <a:buSzPct val="140000"/>
            </a:pPr>
            <a:r>
              <a:rPr lang="en-US" altLang="en-US">
                <a:latin typeface="Helvetica" panose="020B0604020202020204" pitchFamily="34" charset="0"/>
              </a:rPr>
              <a:t>Suffers from internal fragmentation if extent size is large</a:t>
            </a:r>
          </a:p>
          <a:p>
            <a:pPr>
              <a:spcBef>
                <a:spcPct val="50000"/>
              </a:spcBef>
              <a:buSzPct val="140000"/>
            </a:pPr>
            <a:r>
              <a:rPr lang="en-US" altLang="en-US">
                <a:latin typeface="Helvetica" panose="020B0604020202020204" pitchFamily="34" charset="0"/>
              </a:rPr>
              <a:t>Suffers from external fragmentation if extent size is variable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76CC62FA-6427-5720-2607-F50527D669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 Concepts</a:t>
            </a:r>
          </a:p>
        </p:txBody>
      </p:sp>
      <p:sp>
        <p:nvSpPr>
          <p:cNvPr id="73735" name="Rectangle 7">
            <a:extLst>
              <a:ext uri="{FF2B5EF4-FFF2-40B4-BE49-F238E27FC236}">
                <a16:creationId xmlns:a16="http://schemas.microsoft.com/office/drawing/2014/main" id="{74F49D4B-C375-3B39-5E9A-074DED82A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342900"/>
            <a:ext cx="7642225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453DD4F9-414A-872F-E712-369F647AC2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Linked Allocation</a:t>
            </a:r>
          </a:p>
        </p:txBody>
      </p:sp>
      <p:sp>
        <p:nvSpPr>
          <p:cNvPr id="21509" name="Rectangle 3">
            <a:extLst>
              <a:ext uri="{FF2B5EF4-FFF2-40B4-BE49-F238E27FC236}">
                <a16:creationId xmlns:a16="http://schemas.microsoft.com/office/drawing/2014/main" id="{986F6053-927F-E219-9822-31B3C1B950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7750" y="1724025"/>
            <a:ext cx="7029450" cy="681038"/>
          </a:xfrm>
        </p:spPr>
        <p:txBody>
          <a:bodyPr/>
          <a:lstStyle/>
          <a:p>
            <a:r>
              <a:rPr lang="en-US" altLang="en-US"/>
              <a:t>Each file is a linked list of disk blocks: blocks may be scattered anywhere on the disk.</a:t>
            </a:r>
          </a:p>
        </p:txBody>
      </p:sp>
      <p:sp>
        <p:nvSpPr>
          <p:cNvPr id="21510" name="Rectangle 4">
            <a:extLst>
              <a:ext uri="{FF2B5EF4-FFF2-40B4-BE49-F238E27FC236}">
                <a16:creationId xmlns:a16="http://schemas.microsoft.com/office/drawing/2014/main" id="{76052BBB-2B1A-E741-03ED-4DEAE8D09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5363" y="2930525"/>
            <a:ext cx="1500187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Tx/>
              <a:buNone/>
            </a:pPr>
            <a:r>
              <a:rPr lang="en-US" altLang="en-US">
                <a:latin typeface="Helvetica" panose="020B0604020202020204" pitchFamily="34" charset="0"/>
              </a:rPr>
              <a:t>pointer</a:t>
            </a:r>
          </a:p>
        </p:txBody>
      </p:sp>
      <p:sp>
        <p:nvSpPr>
          <p:cNvPr id="21511" name="Rectangle 5">
            <a:extLst>
              <a:ext uri="{FF2B5EF4-FFF2-40B4-BE49-F238E27FC236}">
                <a16:creationId xmlns:a16="http://schemas.microsoft.com/office/drawing/2014/main" id="{61871389-DD38-F218-850E-6BFCE3AD5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5363" y="3362325"/>
            <a:ext cx="1500187" cy="10683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1512" name="Text Box 6">
            <a:extLst>
              <a:ext uri="{FF2B5EF4-FFF2-40B4-BE49-F238E27FC236}">
                <a16:creationId xmlns:a16="http://schemas.microsoft.com/office/drawing/2014/main" id="{B651D96B-30EB-C676-265D-1F1CA55482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4888" y="2963863"/>
            <a:ext cx="1231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>
                <a:latin typeface="Helvetica" panose="020B0604020202020204" pitchFamily="34" charset="0"/>
              </a:rPr>
              <a:t>block      =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EA9159-4DF4-41A3-9457-551B4F31B8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 Concepts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CC8FCC64-CAA2-8758-CB8A-AB0BAC4250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19175" y="381000"/>
            <a:ext cx="7029450" cy="565150"/>
          </a:xfrm>
        </p:spPr>
        <p:txBody>
          <a:bodyPr/>
          <a:lstStyle/>
          <a:p>
            <a:r>
              <a:rPr lang="en-US" altLang="en-US"/>
              <a:t>Allocate as needed, link together; e.g., file starts at block 9</a:t>
            </a:r>
          </a:p>
        </p:txBody>
      </p:sp>
      <p:pic>
        <p:nvPicPr>
          <p:cNvPr id="22532" name="Picture 4">
            <a:extLst>
              <a:ext uri="{FF2B5EF4-FFF2-40B4-BE49-F238E27FC236}">
                <a16:creationId xmlns:a16="http://schemas.microsoft.com/office/drawing/2014/main" id="{DBCC7C36-7750-12EC-48D7-8A639A42F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61" t="801" r="10583" b="534"/>
          <a:stretch>
            <a:fillRect/>
          </a:stretch>
        </p:blipFill>
        <p:spPr bwMode="auto">
          <a:xfrm>
            <a:off x="2000250" y="990600"/>
            <a:ext cx="5275263" cy="528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FBAD8E28-2158-B162-F59B-418A6787F2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 Concepts</a:t>
            </a:r>
          </a:p>
        </p:txBody>
      </p:sp>
      <p:sp>
        <p:nvSpPr>
          <p:cNvPr id="75780" name="Rectangle 4">
            <a:extLst>
              <a:ext uri="{FF2B5EF4-FFF2-40B4-BE49-F238E27FC236}">
                <a16:creationId xmlns:a16="http://schemas.microsoft.com/office/drawing/2014/main" id="{1D15C8BF-8329-92B7-DBA2-1B10C3F1E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342900"/>
            <a:ext cx="7642225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621E7F88-22E7-D727-7D53-38E2D64A53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Linked Allocation (Cont.)</a:t>
            </a:r>
          </a:p>
        </p:txBody>
      </p:sp>
      <p:sp>
        <p:nvSpPr>
          <p:cNvPr id="23557" name="Rectangle 3">
            <a:extLst>
              <a:ext uri="{FF2B5EF4-FFF2-40B4-BE49-F238E27FC236}">
                <a16:creationId xmlns:a16="http://schemas.microsoft.com/office/drawing/2014/main" id="{45ACE5E8-6C0B-FFB1-FD6A-BE4559D6B6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54088" y="1739900"/>
            <a:ext cx="7029450" cy="1633538"/>
          </a:xfrm>
        </p:spPr>
        <p:txBody>
          <a:bodyPr/>
          <a:lstStyle/>
          <a:p>
            <a:r>
              <a:rPr lang="en-US" altLang="en-US"/>
              <a:t>Simple – need only starting address</a:t>
            </a:r>
          </a:p>
          <a:p>
            <a:r>
              <a:rPr lang="en-US" altLang="en-US"/>
              <a:t>Free-space management system – no waste of space </a:t>
            </a:r>
          </a:p>
          <a:p>
            <a:r>
              <a:rPr lang="en-US" altLang="en-US"/>
              <a:t>No random access</a:t>
            </a:r>
          </a:p>
          <a:p>
            <a:r>
              <a:rPr lang="en-US" altLang="en-US"/>
              <a:t>Size of the file need not be declared at the time of creation</a:t>
            </a:r>
          </a:p>
          <a:p>
            <a:r>
              <a:rPr lang="en-US" altLang="en-US"/>
              <a:t>No external fragmentation</a:t>
            </a:r>
          </a:p>
          <a:p>
            <a:r>
              <a:rPr lang="en-US" altLang="en-US"/>
              <a:t>No compaction required</a:t>
            </a:r>
          </a:p>
          <a:p>
            <a:r>
              <a:rPr lang="en-US" altLang="en-US"/>
              <a:t>The file can be extended as long as free holes are available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6D9EDCA-8487-D5E0-B8F7-B37C297193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 Concepts</a:t>
            </a:r>
          </a:p>
        </p:txBody>
      </p:sp>
      <p:sp>
        <p:nvSpPr>
          <p:cNvPr id="75780" name="Rectangle 4">
            <a:extLst>
              <a:ext uri="{FF2B5EF4-FFF2-40B4-BE49-F238E27FC236}">
                <a16:creationId xmlns:a16="http://schemas.microsoft.com/office/drawing/2014/main" id="{DC9C2A43-5DFB-20D9-BDEF-F4F161479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342900"/>
            <a:ext cx="7642225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AE88CD87-66C2-DFAA-595A-BB867F7BD1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Linked Allocation (Cont.)</a:t>
            </a:r>
          </a:p>
        </p:txBody>
      </p:sp>
      <p:sp>
        <p:nvSpPr>
          <p:cNvPr id="24581" name="Rectangle 3">
            <a:extLst>
              <a:ext uri="{FF2B5EF4-FFF2-40B4-BE49-F238E27FC236}">
                <a16:creationId xmlns:a16="http://schemas.microsoft.com/office/drawing/2014/main" id="{9DFB665B-7FB1-E7DC-AD43-A3D59605E5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54088" y="1739900"/>
            <a:ext cx="7029450" cy="1633538"/>
          </a:xfrm>
        </p:spPr>
        <p:txBody>
          <a:bodyPr/>
          <a:lstStyle/>
          <a:p>
            <a:r>
              <a:rPr lang="en-US" altLang="en-US"/>
              <a:t>Disadvantages</a:t>
            </a:r>
          </a:p>
          <a:p>
            <a:pPr lvl="1"/>
            <a:r>
              <a:rPr lang="en-US" altLang="en-US"/>
              <a:t>Effective on sequential access</a:t>
            </a:r>
          </a:p>
          <a:p>
            <a:pPr lvl="1"/>
            <a:r>
              <a:rPr lang="en-US" altLang="en-US"/>
              <a:t>Space required for the pointer is waste</a:t>
            </a:r>
          </a:p>
          <a:p>
            <a:pPr lvl="1"/>
            <a:r>
              <a:rPr lang="en-US" altLang="en-US"/>
              <a:t>Reliability is a problem because of pointers because  pointer damaged or lost.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661AB7AC-8DB2-1C33-811B-138336B51E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 Concepts</a:t>
            </a:r>
          </a:p>
        </p:txBody>
      </p:sp>
      <p:sp>
        <p:nvSpPr>
          <p:cNvPr id="25603" name="Rectangle 4">
            <a:extLst>
              <a:ext uri="{FF2B5EF4-FFF2-40B4-BE49-F238E27FC236}">
                <a16:creationId xmlns:a16="http://schemas.microsoft.com/office/drawing/2014/main" id="{A2D56F71-1990-6DE8-ACB7-896DA9D35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1575" y="0"/>
            <a:ext cx="7772400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Tx/>
              <a:buNone/>
            </a:pPr>
            <a:r>
              <a:rPr lang="en-US" altLang="en-US" sz="2800" b="1">
                <a:solidFill>
                  <a:schemeClr val="tx2"/>
                </a:solidFill>
                <a:latin typeface="Helvetica" panose="020B0604020202020204" pitchFamily="34" charset="0"/>
              </a:rPr>
              <a:t>File-Allocation Table</a:t>
            </a:r>
            <a:endParaRPr lang="en-US" altLang="en-US" sz="2000" b="1">
              <a:solidFill>
                <a:schemeClr val="tx2"/>
              </a:solidFill>
              <a:latin typeface="Helvetica" panose="020B0604020202020204" pitchFamily="34" charset="0"/>
            </a:endParaRPr>
          </a:p>
        </p:txBody>
      </p:sp>
      <p:pic>
        <p:nvPicPr>
          <p:cNvPr id="25604" name="Picture 5">
            <a:extLst>
              <a:ext uri="{FF2B5EF4-FFF2-40B4-BE49-F238E27FC236}">
                <a16:creationId xmlns:a16="http://schemas.microsoft.com/office/drawing/2014/main" id="{2251BD88-6338-685B-2943-D55CCAF4B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1" t="1070" r="7158" b="1385"/>
          <a:stretch>
            <a:fillRect/>
          </a:stretch>
        </p:blipFill>
        <p:spPr bwMode="auto">
          <a:xfrm>
            <a:off x="1854200" y="1987550"/>
            <a:ext cx="5380038" cy="4570413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D79E7F67-7D04-7FBA-AC54-E59F05FFC7B8}"/>
              </a:ext>
            </a:extLst>
          </p:cNvPr>
          <p:cNvSpPr txBox="1">
            <a:spLocks noChangeArrowheads="1"/>
          </p:cNvSpPr>
          <p:nvPr/>
        </p:nvSpPr>
        <p:spPr>
          <a:xfrm>
            <a:off x="954088" y="633413"/>
            <a:ext cx="7029450" cy="1633537"/>
          </a:xfrm>
          <a:prstGeom prst="rect">
            <a:avLst/>
          </a:prstGeom>
        </p:spPr>
        <p:txBody>
          <a:bodyPr/>
          <a:lstStyle/>
          <a:p>
            <a:pPr marL="228600" indent="-228600">
              <a:spcBef>
                <a:spcPct val="50000"/>
              </a:spcBef>
              <a:buSzPct val="140000"/>
              <a:defRPr/>
            </a:pPr>
            <a:r>
              <a:rPr lang="en-US" kern="0" dirty="0">
                <a:latin typeface="+mn-lt"/>
              </a:rPr>
              <a:t>Variation of linked allocation</a:t>
            </a:r>
          </a:p>
          <a:p>
            <a:pPr marL="228600" indent="-228600">
              <a:spcBef>
                <a:spcPct val="50000"/>
              </a:spcBef>
              <a:buSzPct val="140000"/>
              <a:defRPr/>
            </a:pPr>
            <a:r>
              <a:rPr lang="en-US" kern="0" dirty="0">
                <a:latin typeface="+mn-lt"/>
              </a:rPr>
              <a:t>It is stored in beginning f volume</a:t>
            </a:r>
          </a:p>
          <a:p>
            <a:pPr marL="228600" indent="-228600">
              <a:spcBef>
                <a:spcPct val="50000"/>
              </a:spcBef>
              <a:buSzPct val="140000"/>
              <a:defRPr/>
            </a:pPr>
            <a:r>
              <a:rPr lang="en-US" kern="0" dirty="0">
                <a:latin typeface="+mn-lt"/>
              </a:rPr>
              <a:t>Table has one entry for each block</a:t>
            </a:r>
          </a:p>
          <a:p>
            <a:pPr marL="228600" indent="-228600">
              <a:spcBef>
                <a:spcPct val="50000"/>
              </a:spcBef>
              <a:buSzPct val="140000"/>
              <a:defRPr/>
            </a:pPr>
            <a:endParaRPr lang="en-US" kern="0" dirty="0">
              <a:latin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1DDABB45-E5AD-EE35-C662-6230DFEE8B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 Concepts</a:t>
            </a:r>
          </a:p>
        </p:txBody>
      </p:sp>
      <p:sp>
        <p:nvSpPr>
          <p:cNvPr id="76804" name="Rectangle 4">
            <a:extLst>
              <a:ext uri="{FF2B5EF4-FFF2-40B4-BE49-F238E27FC236}">
                <a16:creationId xmlns:a16="http://schemas.microsoft.com/office/drawing/2014/main" id="{BC96B979-CB3D-E906-4B85-EEA27646C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342900"/>
            <a:ext cx="7642225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id="{84696E12-FB45-2DD4-F6AD-DCA08BCD7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Indexed Allocation</a:t>
            </a:r>
          </a:p>
        </p:txBody>
      </p:sp>
      <p:sp>
        <p:nvSpPr>
          <p:cNvPr id="26629" name="Rectangle 3">
            <a:extLst>
              <a:ext uri="{FF2B5EF4-FFF2-40B4-BE49-F238E27FC236}">
                <a16:creationId xmlns:a16="http://schemas.microsoft.com/office/drawing/2014/main" id="{378D7D77-FB12-C15A-E787-0CDA33D030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7750" y="1724025"/>
            <a:ext cx="7029450" cy="854075"/>
          </a:xfrm>
        </p:spPr>
        <p:txBody>
          <a:bodyPr/>
          <a:lstStyle/>
          <a:p>
            <a:r>
              <a:rPr lang="en-US" altLang="en-US"/>
              <a:t>Brings all pointers together into the </a:t>
            </a:r>
            <a:r>
              <a:rPr lang="en-US" altLang="en-US" i="1"/>
              <a:t>index block.</a:t>
            </a:r>
            <a:endParaRPr lang="en-US" altLang="en-US"/>
          </a:p>
          <a:p>
            <a:r>
              <a:rPr lang="en-US" altLang="en-US"/>
              <a:t>Logical view.</a:t>
            </a:r>
          </a:p>
        </p:txBody>
      </p:sp>
      <p:sp>
        <p:nvSpPr>
          <p:cNvPr id="26630" name="Rectangle 5">
            <a:extLst>
              <a:ext uri="{FF2B5EF4-FFF2-40B4-BE49-F238E27FC236}">
                <a16:creationId xmlns:a16="http://schemas.microsoft.com/office/drawing/2014/main" id="{CC3D9E7A-0EFA-19CD-3EED-1ED8B068F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7325" y="2843213"/>
            <a:ext cx="606425" cy="3317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6631" name="Rectangle 6">
            <a:extLst>
              <a:ext uri="{FF2B5EF4-FFF2-40B4-BE49-F238E27FC236}">
                <a16:creationId xmlns:a16="http://schemas.microsoft.com/office/drawing/2014/main" id="{5AE6767F-A734-D575-4FDB-E69EC83F9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7325" y="3168650"/>
            <a:ext cx="606425" cy="3317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6632" name="Rectangle 7">
            <a:extLst>
              <a:ext uri="{FF2B5EF4-FFF2-40B4-BE49-F238E27FC236}">
                <a16:creationId xmlns:a16="http://schemas.microsoft.com/office/drawing/2014/main" id="{BD226E3A-1000-82E7-BCB8-3510EEB76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7325" y="3494088"/>
            <a:ext cx="606425" cy="3317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6633" name="Rectangle 8">
            <a:extLst>
              <a:ext uri="{FF2B5EF4-FFF2-40B4-BE49-F238E27FC236}">
                <a16:creationId xmlns:a16="http://schemas.microsoft.com/office/drawing/2014/main" id="{1374308C-4FB4-A3C0-24B0-2B6696BE2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7325" y="3819525"/>
            <a:ext cx="606425" cy="3317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6634" name="Rectangle 9">
            <a:extLst>
              <a:ext uri="{FF2B5EF4-FFF2-40B4-BE49-F238E27FC236}">
                <a16:creationId xmlns:a16="http://schemas.microsoft.com/office/drawing/2014/main" id="{48C364A2-01E7-3A9A-654F-3278F2E89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7325" y="4144963"/>
            <a:ext cx="606425" cy="3317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6635" name="Rectangle 10">
            <a:extLst>
              <a:ext uri="{FF2B5EF4-FFF2-40B4-BE49-F238E27FC236}">
                <a16:creationId xmlns:a16="http://schemas.microsoft.com/office/drawing/2014/main" id="{1FEA49BD-A5C9-CA47-10F3-0BCE9BA87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0" y="2857500"/>
            <a:ext cx="201613" cy="1730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6636" name="Rectangle 15">
            <a:extLst>
              <a:ext uri="{FF2B5EF4-FFF2-40B4-BE49-F238E27FC236}">
                <a16:creationId xmlns:a16="http://schemas.microsoft.com/office/drawing/2014/main" id="{662917D2-B6CB-8E52-DDDF-9D095BBE0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0" y="3225800"/>
            <a:ext cx="201613" cy="1730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6637" name="Rectangle 16">
            <a:extLst>
              <a:ext uri="{FF2B5EF4-FFF2-40B4-BE49-F238E27FC236}">
                <a16:creationId xmlns:a16="http://schemas.microsoft.com/office/drawing/2014/main" id="{DB5089CB-B5E6-34C7-BA14-6698D7B71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0" y="3594100"/>
            <a:ext cx="201613" cy="1730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6638" name="Rectangle 17">
            <a:extLst>
              <a:ext uri="{FF2B5EF4-FFF2-40B4-BE49-F238E27FC236}">
                <a16:creationId xmlns:a16="http://schemas.microsoft.com/office/drawing/2014/main" id="{D56CC24C-E298-77D9-B9E6-38511FBC2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0" y="3962400"/>
            <a:ext cx="201613" cy="1730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6639" name="Rectangle 18">
            <a:extLst>
              <a:ext uri="{FF2B5EF4-FFF2-40B4-BE49-F238E27FC236}">
                <a16:creationId xmlns:a16="http://schemas.microsoft.com/office/drawing/2014/main" id="{B484C88F-A2EF-7107-24CF-78C7130AB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0" y="4330700"/>
            <a:ext cx="201613" cy="1730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6640" name="Line 19">
            <a:extLst>
              <a:ext uri="{FF2B5EF4-FFF2-40B4-BE49-F238E27FC236}">
                <a16:creationId xmlns:a16="http://schemas.microsoft.com/office/drawing/2014/main" id="{C7B46E07-08EA-952A-B155-79B2E8222F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32325" y="2944813"/>
            <a:ext cx="923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41" name="Line 20">
            <a:extLst>
              <a:ext uri="{FF2B5EF4-FFF2-40B4-BE49-F238E27FC236}">
                <a16:creationId xmlns:a16="http://schemas.microsoft.com/office/drawing/2014/main" id="{6D90A516-BA00-2AD9-BF22-51E971B8F93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7400" y="3284538"/>
            <a:ext cx="923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42" name="Line 21">
            <a:extLst>
              <a:ext uri="{FF2B5EF4-FFF2-40B4-BE49-F238E27FC236}">
                <a16:creationId xmlns:a16="http://schemas.microsoft.com/office/drawing/2014/main" id="{29DD3B3F-C288-B8F5-656E-D7B7A9B0423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5338" y="3695700"/>
            <a:ext cx="923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43" name="Line 22">
            <a:extLst>
              <a:ext uri="{FF2B5EF4-FFF2-40B4-BE49-F238E27FC236}">
                <a16:creationId xmlns:a16="http://schemas.microsoft.com/office/drawing/2014/main" id="{1935C3D6-01C9-0C76-04E1-398742A17C2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0413" y="4049713"/>
            <a:ext cx="923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44" name="Line 23">
            <a:extLst>
              <a:ext uri="{FF2B5EF4-FFF2-40B4-BE49-F238E27FC236}">
                <a16:creationId xmlns:a16="http://schemas.microsoft.com/office/drawing/2014/main" id="{526BDEB3-6DEB-C8B8-EFFF-4EFD398D16E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2638" y="4403725"/>
            <a:ext cx="923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45" name="Text Box 24">
            <a:extLst>
              <a:ext uri="{FF2B5EF4-FFF2-40B4-BE49-F238E27FC236}">
                <a16:creationId xmlns:a16="http://schemas.microsoft.com/office/drawing/2014/main" id="{65A8BE3C-220E-1DEC-4F64-E59587C1F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2263" y="4579938"/>
            <a:ext cx="1289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>
                <a:latin typeface="Helvetica" panose="020B0604020202020204" pitchFamily="34" charset="0"/>
              </a:rPr>
              <a:t>index table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9E7CB99B-6482-37FC-29E2-0E585C36F9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 Concepts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752E443D-A498-3813-3E05-0F584385D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342900"/>
            <a:ext cx="7642225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id="{9A226D60-8386-F645-32DC-8D4381D6B4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Indexed Allocation</a:t>
            </a:r>
          </a:p>
        </p:txBody>
      </p:sp>
      <p:pic>
        <p:nvPicPr>
          <p:cNvPr id="27653" name="Picture 4">
            <a:extLst>
              <a:ext uri="{FF2B5EF4-FFF2-40B4-BE49-F238E27FC236}">
                <a16:creationId xmlns:a16="http://schemas.microsoft.com/office/drawing/2014/main" id="{B86A54AF-67C6-E941-BC23-4C959361D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2" t="871" r="4906" b="581"/>
          <a:stretch>
            <a:fillRect/>
          </a:stretch>
        </p:blipFill>
        <p:spPr bwMode="auto">
          <a:xfrm>
            <a:off x="1911350" y="1312863"/>
            <a:ext cx="5543550" cy="4846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19A0948B-2F04-815B-D346-701C50A4B7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 Concepts</a:t>
            </a:r>
          </a:p>
        </p:txBody>
      </p:sp>
      <p:sp>
        <p:nvSpPr>
          <p:cNvPr id="78852" name="Rectangle 4">
            <a:extLst>
              <a:ext uri="{FF2B5EF4-FFF2-40B4-BE49-F238E27FC236}">
                <a16:creationId xmlns:a16="http://schemas.microsoft.com/office/drawing/2014/main" id="{98522EC9-8B57-1BD8-90AC-FD083F8F1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342900"/>
            <a:ext cx="7642225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68460C9A-7B08-A1A9-42CF-CAB17E163B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Indexed Allocation (Cont.)</a:t>
            </a:r>
          </a:p>
        </p:txBody>
      </p:sp>
      <p:sp>
        <p:nvSpPr>
          <p:cNvPr id="28677" name="Rectangle 3">
            <a:extLst>
              <a:ext uri="{FF2B5EF4-FFF2-40B4-BE49-F238E27FC236}">
                <a16:creationId xmlns:a16="http://schemas.microsoft.com/office/drawing/2014/main" id="{65D651CC-049F-D202-7555-5621EEB589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14413" y="1449388"/>
            <a:ext cx="7029450" cy="2497137"/>
          </a:xfrm>
        </p:spPr>
        <p:txBody>
          <a:bodyPr/>
          <a:lstStyle/>
          <a:p>
            <a:r>
              <a:rPr lang="en-US" altLang="en-US"/>
              <a:t>Need index table</a:t>
            </a:r>
          </a:p>
          <a:p>
            <a:r>
              <a:rPr lang="en-US" altLang="en-US"/>
              <a:t>Random access</a:t>
            </a:r>
          </a:p>
          <a:p>
            <a:r>
              <a:rPr lang="en-US" altLang="en-US"/>
              <a:t>Dynamic access without external fragmentation, but have overhead of index block.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A24FBF4C-7242-E8B5-8C1A-4732F93BC0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 Concepts</a:t>
            </a:r>
          </a:p>
        </p:txBody>
      </p:sp>
      <p:sp>
        <p:nvSpPr>
          <p:cNvPr id="83972" name="Rectangle 4">
            <a:extLst>
              <a:ext uri="{FF2B5EF4-FFF2-40B4-BE49-F238E27FC236}">
                <a16:creationId xmlns:a16="http://schemas.microsoft.com/office/drawing/2014/main" id="{19A80865-B755-FB5E-CA01-C4847E2F6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638" y="409575"/>
            <a:ext cx="7642225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9700" name="Rectangle 2">
            <a:extLst>
              <a:ext uri="{FF2B5EF4-FFF2-40B4-BE49-F238E27FC236}">
                <a16:creationId xmlns:a16="http://schemas.microsoft.com/office/drawing/2014/main" id="{D9CCDEAC-420A-26A1-D69C-1D509800D4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Free-Space Management</a:t>
            </a:r>
          </a:p>
        </p:txBody>
      </p:sp>
      <p:sp>
        <p:nvSpPr>
          <p:cNvPr id="29701" name="Rectangle 3">
            <a:extLst>
              <a:ext uri="{FF2B5EF4-FFF2-40B4-BE49-F238E27FC236}">
                <a16:creationId xmlns:a16="http://schemas.microsoft.com/office/drawing/2014/main" id="{9F2461E1-6E27-CFF8-C411-7D2FEB9C8F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7750" y="1349375"/>
            <a:ext cx="7029450" cy="449263"/>
          </a:xfrm>
        </p:spPr>
        <p:txBody>
          <a:bodyPr/>
          <a:lstStyle/>
          <a:p>
            <a:r>
              <a:rPr lang="en-US" altLang="en-US"/>
              <a:t>Bit vector   or bit amp (</a:t>
            </a:r>
            <a:r>
              <a:rPr lang="en-US" altLang="en-US" i="1"/>
              <a:t>n</a:t>
            </a:r>
            <a:r>
              <a:rPr lang="en-US" altLang="en-US"/>
              <a:t> blocks)</a:t>
            </a:r>
          </a:p>
        </p:txBody>
      </p:sp>
      <p:sp>
        <p:nvSpPr>
          <p:cNvPr id="29702" name="Rectangle 5">
            <a:extLst>
              <a:ext uri="{FF2B5EF4-FFF2-40B4-BE49-F238E27FC236}">
                <a16:creationId xmlns:a16="http://schemas.microsoft.com/office/drawing/2014/main" id="{0D370F48-9381-23BF-0887-12CA903B9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1788" y="2085975"/>
            <a:ext cx="360362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03" name="Rectangle 11">
            <a:extLst>
              <a:ext uri="{FF2B5EF4-FFF2-40B4-BE49-F238E27FC236}">
                <a16:creationId xmlns:a16="http://schemas.microsoft.com/office/drawing/2014/main" id="{ADB8B41D-C3BE-7C1D-E4ED-F413B223C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085975"/>
            <a:ext cx="360363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04" name="Rectangle 12">
            <a:extLst>
              <a:ext uri="{FF2B5EF4-FFF2-40B4-BE49-F238E27FC236}">
                <a16:creationId xmlns:a16="http://schemas.microsoft.com/office/drawing/2014/main" id="{15C3C99C-D61F-7E79-B334-1F63E7068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013" y="2085975"/>
            <a:ext cx="360362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05" name="Rectangle 13">
            <a:extLst>
              <a:ext uri="{FF2B5EF4-FFF2-40B4-BE49-F238E27FC236}">
                <a16:creationId xmlns:a16="http://schemas.microsoft.com/office/drawing/2014/main" id="{0B8DD5EA-3290-E04C-6169-A14A049DB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25" y="2085975"/>
            <a:ext cx="360363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06" name="Rectangle 14">
            <a:extLst>
              <a:ext uri="{FF2B5EF4-FFF2-40B4-BE49-F238E27FC236}">
                <a16:creationId xmlns:a16="http://schemas.microsoft.com/office/drawing/2014/main" id="{CC22BE59-77BA-1D99-DE1B-D8CB0DEE7B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6238" y="2085975"/>
            <a:ext cx="360362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07" name="Rectangle 15">
            <a:extLst>
              <a:ext uri="{FF2B5EF4-FFF2-40B4-BE49-F238E27FC236}">
                <a16:creationId xmlns:a16="http://schemas.microsoft.com/office/drawing/2014/main" id="{80BA8AE1-CA62-CEEA-34EB-31066EF07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850" y="2085975"/>
            <a:ext cx="360363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08" name="Rectangle 17">
            <a:extLst>
              <a:ext uri="{FF2B5EF4-FFF2-40B4-BE49-F238E27FC236}">
                <a16:creationId xmlns:a16="http://schemas.microsoft.com/office/drawing/2014/main" id="{ACA0588E-576B-8FC9-BC32-5B77BC4A1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2085975"/>
            <a:ext cx="1219200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Tx/>
              <a:buNone/>
            </a:pPr>
            <a:r>
              <a:rPr lang="en-US" altLang="en-US" sz="2000">
                <a:latin typeface="Helvetica" panose="020B0604020202020204" pitchFamily="34" charset="0"/>
              </a:rPr>
              <a:t>…</a:t>
            </a: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9709" name="Rectangle 18">
            <a:extLst>
              <a:ext uri="{FF2B5EF4-FFF2-40B4-BE49-F238E27FC236}">
                <a16:creationId xmlns:a16="http://schemas.microsoft.com/office/drawing/2014/main" id="{21DD837A-0586-A69F-1077-9D4D20933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085975"/>
            <a:ext cx="360363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10" name="Text Box 19">
            <a:extLst>
              <a:ext uri="{FF2B5EF4-FFF2-40B4-BE49-F238E27FC236}">
                <a16:creationId xmlns:a16="http://schemas.microsoft.com/office/drawing/2014/main" id="{80810D9F-9D4A-794C-23CC-2EB2595AB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1676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>
                <a:latin typeface="Helvetica" panose="020B0604020202020204" pitchFamily="34" charset="0"/>
              </a:rPr>
              <a:t>0</a:t>
            </a:r>
          </a:p>
        </p:txBody>
      </p:sp>
      <p:sp>
        <p:nvSpPr>
          <p:cNvPr id="29711" name="Text Box 20">
            <a:extLst>
              <a:ext uri="{FF2B5EF4-FFF2-40B4-BE49-F238E27FC236}">
                <a16:creationId xmlns:a16="http://schemas.microsoft.com/office/drawing/2014/main" id="{FE8669AD-A038-A06D-8AF7-28F80B7073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676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>
                <a:latin typeface="Helvetica" panose="020B0604020202020204" pitchFamily="34" charset="0"/>
              </a:rPr>
              <a:t>1</a:t>
            </a:r>
          </a:p>
        </p:txBody>
      </p:sp>
      <p:sp>
        <p:nvSpPr>
          <p:cNvPr id="29712" name="Text Box 21">
            <a:extLst>
              <a:ext uri="{FF2B5EF4-FFF2-40B4-BE49-F238E27FC236}">
                <a16:creationId xmlns:a16="http://schemas.microsoft.com/office/drawing/2014/main" id="{5CAD9C68-B6C0-8E5B-73FA-4FB3CF552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676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29713" name="Text Box 22">
            <a:extLst>
              <a:ext uri="{FF2B5EF4-FFF2-40B4-BE49-F238E27FC236}">
                <a16:creationId xmlns:a16="http://schemas.microsoft.com/office/drawing/2014/main" id="{FC0CB988-408A-A0DF-A116-6358B250E3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4400" y="1676400"/>
            <a:ext cx="514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>
                <a:latin typeface="Helvetica" panose="020B0604020202020204" pitchFamily="34" charset="0"/>
              </a:rPr>
              <a:t>n-1</a:t>
            </a:r>
          </a:p>
        </p:txBody>
      </p:sp>
      <p:sp>
        <p:nvSpPr>
          <p:cNvPr id="29714" name="Text Box 24">
            <a:extLst>
              <a:ext uri="{FF2B5EF4-FFF2-40B4-BE49-F238E27FC236}">
                <a16:creationId xmlns:a16="http://schemas.microsoft.com/office/drawing/2014/main" id="{6401D8DE-F088-5799-1DC7-3DA39CBE9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7950" y="2940050"/>
            <a:ext cx="800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>
                <a:latin typeface="Helvetica" panose="020B0604020202020204" pitchFamily="34" charset="0"/>
              </a:rPr>
              <a:t>bit[</a:t>
            </a:r>
            <a:r>
              <a:rPr lang="en-US" altLang="en-US" i="1">
                <a:latin typeface="Helvetica" panose="020B0604020202020204" pitchFamily="34" charset="0"/>
              </a:rPr>
              <a:t>i</a:t>
            </a:r>
            <a:r>
              <a:rPr lang="en-US" altLang="en-US">
                <a:latin typeface="Helvetica" panose="020B0604020202020204" pitchFamily="34" charset="0"/>
              </a:rPr>
              <a:t>] =</a:t>
            </a:r>
          </a:p>
        </p:txBody>
      </p:sp>
      <p:sp>
        <p:nvSpPr>
          <p:cNvPr id="29715" name="Text Box 25">
            <a:extLst>
              <a:ext uri="{FF2B5EF4-FFF2-40B4-BE49-F238E27FC236}">
                <a16:creationId xmlns:a16="http://schemas.microsoft.com/office/drawing/2014/main" id="{E55E67FD-5FBF-06B5-3216-24B332B07A35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3000375" y="2943225"/>
            <a:ext cx="949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000">
                <a:latin typeface="Helvetica" panose="020B0604020202020204" pitchFamily="34" charset="0"/>
                <a:sym typeface="MT Extra" panose="05050102010205020202" pitchFamily="82"/>
              </a:rPr>
              <a:t></a:t>
            </a:r>
            <a:endParaRPr lang="en-US" altLang="en-US" sz="5400">
              <a:latin typeface="Helvetica" panose="020B0604020202020204" pitchFamily="34" charset="0"/>
              <a:sym typeface="Monotype Sorts" pitchFamily="2" charset="2"/>
            </a:endParaRPr>
          </a:p>
        </p:txBody>
      </p:sp>
      <p:sp>
        <p:nvSpPr>
          <p:cNvPr id="29716" name="Text Box 26">
            <a:extLst>
              <a:ext uri="{FF2B5EF4-FFF2-40B4-BE49-F238E27FC236}">
                <a16:creationId xmlns:a16="http://schemas.microsoft.com/office/drawing/2014/main" id="{2158AEDB-E6B4-4113-765F-7D3F7E534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740025"/>
            <a:ext cx="2438400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>
                <a:latin typeface="Helvetica" panose="020B0604020202020204" pitchFamily="34" charset="0"/>
              </a:rPr>
              <a:t>1 </a:t>
            </a:r>
            <a:r>
              <a:rPr lang="en-US" altLang="en-US">
                <a:latin typeface="Helvetica" panose="020B0604020202020204" pitchFamily="34" charset="0"/>
                <a:sym typeface="Symbol" panose="05050102010706020507" pitchFamily="18" charset="2"/>
              </a:rPr>
              <a:t> block[</a:t>
            </a:r>
            <a:r>
              <a:rPr lang="en-US" altLang="en-US" i="1">
                <a:latin typeface="Helvetica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n-US" altLang="en-US">
                <a:latin typeface="Helvetica" panose="020B0604020202020204" pitchFamily="34" charset="0"/>
                <a:sym typeface="Symbol" panose="05050102010706020507" pitchFamily="18" charset="2"/>
              </a:rPr>
              <a:t>] free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>
                <a:latin typeface="Helvetica" panose="020B0604020202020204" pitchFamily="34" charset="0"/>
                <a:sym typeface="Symbol" panose="05050102010706020507" pitchFamily="18" charset="2"/>
              </a:rPr>
              <a:t>0 </a:t>
            </a:r>
            <a:r>
              <a:rPr lang="en-US" altLang="en-US">
                <a:latin typeface="Helvetica" panose="020B0604020202020204" pitchFamily="34" charset="0"/>
              </a:rPr>
              <a:t> </a:t>
            </a:r>
            <a:r>
              <a:rPr lang="en-US" altLang="en-US">
                <a:latin typeface="Helvetica" panose="020B0604020202020204" pitchFamily="34" charset="0"/>
                <a:sym typeface="Symbol" panose="05050102010706020507" pitchFamily="18" charset="2"/>
              </a:rPr>
              <a:t> block[</a:t>
            </a:r>
            <a:r>
              <a:rPr lang="en-US" altLang="en-US" i="1">
                <a:latin typeface="Helvetica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n-US" altLang="en-US">
                <a:latin typeface="Helvetica" panose="020B0604020202020204" pitchFamily="34" charset="0"/>
                <a:sym typeface="Symbol" panose="05050102010706020507" pitchFamily="18" charset="2"/>
              </a:rPr>
              <a:t>] occupied</a:t>
            </a:r>
          </a:p>
        </p:txBody>
      </p:sp>
      <p:sp>
        <p:nvSpPr>
          <p:cNvPr id="29717" name="Rectangle 27">
            <a:extLst>
              <a:ext uri="{FF2B5EF4-FFF2-40B4-BE49-F238E27FC236}">
                <a16:creationId xmlns:a16="http://schemas.microsoft.com/office/drawing/2014/main" id="{728F9F53-11B6-4A7D-FF5E-1BF1E0474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886200"/>
            <a:ext cx="7029450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SzPct val="140000"/>
            </a:pPr>
            <a:endParaRPr lang="en-US" altLang="en-US">
              <a:latin typeface="Helvetica" panose="020B0604020202020204" pitchFamily="34" charset="0"/>
            </a:endParaRPr>
          </a:p>
          <a:p>
            <a:pPr>
              <a:spcBef>
                <a:spcPct val="50000"/>
              </a:spcBef>
              <a:buSzPct val="140000"/>
            </a:pPr>
            <a:endParaRPr lang="en-US" altLang="en-US">
              <a:latin typeface="Helvetica" panose="020B0604020202020204" pitchFamily="34" charset="0"/>
            </a:endParaRPr>
          </a:p>
          <a:p>
            <a:pPr>
              <a:spcBef>
                <a:spcPct val="50000"/>
              </a:spcBef>
              <a:buSzPct val="140000"/>
            </a:pPr>
            <a:endParaRPr lang="en-US" altLang="en-US">
              <a:latin typeface="Helvetica" panose="020B0604020202020204" pitchFamily="34" charset="0"/>
            </a:endParaRPr>
          </a:p>
          <a:p>
            <a:pPr>
              <a:spcBef>
                <a:spcPct val="50000"/>
              </a:spcBef>
              <a:buSzPct val="140000"/>
            </a:pPr>
            <a:endParaRPr lang="en-US" altLang="en-US">
              <a:latin typeface="Helvetica" panose="020B0604020202020204" pitchFamily="34" charset="0"/>
            </a:endParaRPr>
          </a:p>
          <a:p>
            <a:pPr>
              <a:spcBef>
                <a:spcPct val="50000"/>
              </a:spcBef>
              <a:buSzPct val="140000"/>
            </a:pPr>
            <a:endParaRPr lang="en-US" altLang="en-US">
              <a:latin typeface="Helvetica" panose="020B0604020202020204" pitchFamily="34" charset="0"/>
            </a:endParaRPr>
          </a:p>
          <a:p>
            <a:pPr>
              <a:spcBef>
                <a:spcPct val="50000"/>
              </a:spcBef>
              <a:buSzPct val="140000"/>
            </a:pP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9718" name="Text Box 29">
            <a:extLst>
              <a:ext uri="{FF2B5EF4-FFF2-40B4-BE49-F238E27FC236}">
                <a16:creationId xmlns:a16="http://schemas.microsoft.com/office/drawing/2014/main" id="{42C816CC-1BC5-22B0-E8E6-537CB3DF0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475" y="3452813"/>
            <a:ext cx="8380413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400"/>
              <a:t>For example, consider a disk where blocks 2, 3, 4, 5, 8, 9, 10, 11, </a:t>
            </a:r>
          </a:p>
          <a:p>
            <a:pPr>
              <a:buFontTx/>
              <a:buNone/>
            </a:pPr>
            <a:r>
              <a:rPr lang="en-US" altLang="en-US" sz="2400"/>
              <a:t>12, 13, 17, 18,25,26, and 27 are free ard the rest of the blocks are </a:t>
            </a:r>
          </a:p>
          <a:p>
            <a:pPr>
              <a:buFontTx/>
              <a:buNone/>
            </a:pPr>
            <a:r>
              <a:rPr lang="en-US" altLang="en-US" sz="2400"/>
              <a:t>allocated. The free-space bit map would be</a:t>
            </a:r>
          </a:p>
          <a:p>
            <a:pPr>
              <a:buFontTx/>
              <a:buNone/>
            </a:pPr>
            <a:r>
              <a:rPr lang="en-US" altLang="en-US" sz="2400"/>
              <a:t>             001111001111110001100000011100000…….</a:t>
            </a:r>
            <a:endParaRPr lang="en-US" altLang="en-US" sz="240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4965CFDD-3E73-A0EF-2ECB-47D65B7469C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 Concepts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642D2521-B299-CFD4-7411-A91E6189F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638" y="409575"/>
            <a:ext cx="7642225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tx1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2B4A3C2F-1485-A3DC-9232-1C5FA329B6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Free-Space Management (Cont.)</a:t>
            </a:r>
          </a:p>
        </p:txBody>
      </p:sp>
      <p:sp>
        <p:nvSpPr>
          <p:cNvPr id="30725" name="Rectangle 3">
            <a:extLst>
              <a:ext uri="{FF2B5EF4-FFF2-40B4-BE49-F238E27FC236}">
                <a16:creationId xmlns:a16="http://schemas.microsoft.com/office/drawing/2014/main" id="{22EC7B18-0A5D-4D76-78F6-415417FC0D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7750" y="1733550"/>
            <a:ext cx="7029450" cy="4114800"/>
          </a:xfrm>
        </p:spPr>
        <p:txBody>
          <a:bodyPr/>
          <a:lstStyle/>
          <a:p>
            <a:pPr>
              <a:tabLst>
                <a:tab pos="1312863" algn="l"/>
              </a:tabLst>
            </a:pPr>
            <a:r>
              <a:rPr lang="en-US" altLang="en-US"/>
              <a:t>Bit map requires extra space.  Example:</a:t>
            </a:r>
          </a:p>
          <a:p>
            <a:pPr>
              <a:buFontTx/>
              <a:buNone/>
              <a:tabLst>
                <a:tab pos="1312863" algn="l"/>
              </a:tabLst>
            </a:pPr>
            <a:r>
              <a:rPr lang="en-US" altLang="en-US"/>
              <a:t>		block size = 2</a:t>
            </a:r>
            <a:r>
              <a:rPr lang="en-US" altLang="en-US" baseline="30000"/>
              <a:t>12</a:t>
            </a:r>
            <a:r>
              <a:rPr lang="en-US" altLang="en-US"/>
              <a:t> bytes</a:t>
            </a:r>
          </a:p>
          <a:p>
            <a:pPr>
              <a:buFontTx/>
              <a:buNone/>
              <a:tabLst>
                <a:tab pos="1312863" algn="l"/>
              </a:tabLst>
            </a:pPr>
            <a:r>
              <a:rPr lang="en-US" altLang="en-US"/>
              <a:t>		disk size = 2</a:t>
            </a:r>
            <a:r>
              <a:rPr lang="en-US" altLang="en-US" baseline="30000"/>
              <a:t>30</a:t>
            </a:r>
            <a:r>
              <a:rPr lang="en-US" altLang="en-US"/>
              <a:t> bytes (1 gigabyte)</a:t>
            </a:r>
          </a:p>
          <a:p>
            <a:pPr>
              <a:buFontTx/>
              <a:buNone/>
              <a:tabLst>
                <a:tab pos="1312863" algn="l"/>
              </a:tabLst>
            </a:pPr>
            <a:r>
              <a:rPr lang="en-US" altLang="en-US"/>
              <a:t>		</a:t>
            </a:r>
            <a:r>
              <a:rPr lang="en-US" altLang="en-US" i="1"/>
              <a:t>n</a:t>
            </a:r>
            <a:r>
              <a:rPr lang="en-US" altLang="en-US"/>
              <a:t> = 2</a:t>
            </a:r>
            <a:r>
              <a:rPr lang="en-US" altLang="en-US" baseline="30000"/>
              <a:t>30</a:t>
            </a:r>
            <a:r>
              <a:rPr lang="en-US" altLang="en-US"/>
              <a:t>/2</a:t>
            </a:r>
            <a:r>
              <a:rPr lang="en-US" altLang="en-US" baseline="30000"/>
              <a:t>12</a:t>
            </a:r>
            <a:r>
              <a:rPr lang="en-US" altLang="en-US"/>
              <a:t> = 2</a:t>
            </a:r>
            <a:r>
              <a:rPr lang="en-US" altLang="en-US" baseline="30000"/>
              <a:t>18</a:t>
            </a:r>
            <a:r>
              <a:rPr lang="en-US" altLang="en-US"/>
              <a:t> bits (or 32K bytes)</a:t>
            </a:r>
          </a:p>
          <a:p>
            <a:pPr>
              <a:tabLst>
                <a:tab pos="1312863" algn="l"/>
              </a:tabLst>
            </a:pPr>
            <a:r>
              <a:rPr lang="en-US" altLang="en-US"/>
              <a:t>Easy to get contiguous files </a:t>
            </a:r>
          </a:p>
          <a:p>
            <a:pPr>
              <a:buFontTx/>
              <a:buNone/>
              <a:tabLst>
                <a:tab pos="1312863" algn="l"/>
              </a:tabLst>
            </a:pPr>
            <a:endParaRPr lang="en-US" altLang="en-US"/>
          </a:p>
          <a:p>
            <a:pPr>
              <a:buFontTx/>
              <a:buNone/>
              <a:tabLst>
                <a:tab pos="1312863" algn="l"/>
              </a:tabLst>
            </a:pPr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4">
            <a:extLst>
              <a:ext uri="{FF2B5EF4-FFF2-40B4-BE49-F238E27FC236}">
                <a16:creationId xmlns:a16="http://schemas.microsoft.com/office/drawing/2014/main" id="{EE0BE302-9D5F-87CC-F831-56326A684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1575" y="0"/>
            <a:ext cx="7772400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Tx/>
              <a:buNone/>
            </a:pPr>
            <a:r>
              <a:rPr lang="en-US" altLang="en-US" sz="2800" b="1">
                <a:solidFill>
                  <a:schemeClr val="tx2"/>
                </a:solidFill>
                <a:latin typeface="Helvetica" panose="020B0604020202020204" pitchFamily="34" charset="0"/>
              </a:rPr>
              <a:t>Linked Free Space List on Disk</a:t>
            </a:r>
            <a:endParaRPr lang="en-US" altLang="en-US" sz="2000" b="1">
              <a:solidFill>
                <a:schemeClr val="tx2"/>
              </a:solidFill>
              <a:latin typeface="Helvetica" panose="020B0604020202020204" pitchFamily="34" charset="0"/>
            </a:endParaRPr>
          </a:p>
        </p:txBody>
      </p:sp>
      <p:pic>
        <p:nvPicPr>
          <p:cNvPr id="31747" name="Picture 5">
            <a:extLst>
              <a:ext uri="{FF2B5EF4-FFF2-40B4-BE49-F238E27FC236}">
                <a16:creationId xmlns:a16="http://schemas.microsoft.com/office/drawing/2014/main" id="{4CC64894-2188-FEE5-6218-C0FBDEA54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7" t="2734" r="20677" b="1476"/>
          <a:stretch>
            <a:fillRect/>
          </a:stretch>
        </p:blipFill>
        <p:spPr bwMode="auto">
          <a:xfrm>
            <a:off x="3952875" y="974725"/>
            <a:ext cx="4616450" cy="5654675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2CA15D6C-8AD0-0EC7-95A5-2D5AA6521E07}"/>
              </a:ext>
            </a:extLst>
          </p:cNvPr>
          <p:cNvSpPr txBox="1">
            <a:spLocks noChangeArrowheads="1"/>
          </p:cNvSpPr>
          <p:nvPr/>
        </p:nvSpPr>
        <p:spPr>
          <a:xfrm>
            <a:off x="182563" y="2157413"/>
            <a:ext cx="3567112" cy="1636712"/>
          </a:xfrm>
          <a:prstGeom prst="rect">
            <a:avLst/>
          </a:prstGeom>
        </p:spPr>
        <p:txBody>
          <a:bodyPr/>
          <a:lstStyle/>
          <a:p>
            <a:pPr marL="228600" indent="-228600">
              <a:spcBef>
                <a:spcPct val="50000"/>
              </a:spcBef>
              <a:buSzPct val="140000"/>
              <a:tabLst>
                <a:tab pos="1312863" algn="l"/>
              </a:tabLst>
              <a:defRPr/>
            </a:pPr>
            <a:r>
              <a:rPr lang="en-US" kern="0" dirty="0">
                <a:latin typeface="+mn-lt"/>
              </a:rPr>
              <a:t>Linked list (free list)</a:t>
            </a:r>
          </a:p>
          <a:p>
            <a:pPr marL="685800" lvl="1" indent="-228600">
              <a:spcBef>
                <a:spcPct val="50000"/>
              </a:spcBef>
              <a:buSzPct val="140000"/>
              <a:tabLst>
                <a:tab pos="1312863" algn="l"/>
              </a:tabLst>
              <a:defRPr/>
            </a:pPr>
            <a:r>
              <a:rPr lang="en-US" kern="0" dirty="0">
                <a:latin typeface="+mn-lt"/>
              </a:rPr>
              <a:t>Cannot get contiguous space easily</a:t>
            </a:r>
          </a:p>
          <a:p>
            <a:pPr marL="685800" lvl="1" indent="-228600">
              <a:spcBef>
                <a:spcPct val="50000"/>
              </a:spcBef>
              <a:buSzPct val="140000"/>
              <a:tabLst>
                <a:tab pos="1312863" algn="l"/>
              </a:tabLst>
              <a:defRPr/>
            </a:pPr>
            <a:r>
              <a:rPr lang="en-US" kern="0" dirty="0">
                <a:latin typeface="+mn-lt"/>
              </a:rPr>
              <a:t>Less waste of space compared to bit map</a:t>
            </a:r>
          </a:p>
          <a:p>
            <a:pPr marL="228600" indent="-228600">
              <a:spcBef>
                <a:spcPct val="50000"/>
              </a:spcBef>
              <a:buSzPct val="140000"/>
              <a:buFontTx/>
              <a:buNone/>
              <a:tabLst>
                <a:tab pos="1312863" algn="l"/>
              </a:tabLst>
              <a:defRPr/>
            </a:pPr>
            <a:endParaRPr lang="en-US" kern="0" dirty="0">
              <a:latin typeface="+mn-lt"/>
            </a:endParaRPr>
          </a:p>
          <a:p>
            <a:pPr marL="228600" indent="-228600">
              <a:spcBef>
                <a:spcPct val="50000"/>
              </a:spcBef>
              <a:buSzPct val="140000"/>
              <a:buFontTx/>
              <a:buNone/>
              <a:tabLst>
                <a:tab pos="1312863" algn="l"/>
              </a:tabLst>
              <a:defRPr/>
            </a:pPr>
            <a:endParaRPr lang="en-US" kern="0" dirty="0">
              <a:latin typeface="+mn-l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FE673F-8E0F-CB75-591A-30B9EB0222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 Concepts</a:t>
            </a:r>
          </a:p>
        </p:txBody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0650A7DA-24F8-5E27-FA98-500CA1FCDC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7538" y="909638"/>
            <a:ext cx="8013700" cy="4114800"/>
          </a:xfrm>
        </p:spPr>
        <p:txBody>
          <a:bodyPr/>
          <a:lstStyle/>
          <a:p>
            <a:pPr algn="ctr">
              <a:buFontTx/>
              <a:buNone/>
              <a:defRPr/>
            </a:pPr>
            <a:r>
              <a:rPr lang="en-US" sz="3600" dirty="0"/>
              <a:t>Grouping</a:t>
            </a:r>
          </a:p>
          <a:p>
            <a:pPr>
              <a:defRPr/>
            </a:pPr>
            <a:endParaRPr lang="en-US" dirty="0"/>
          </a:p>
          <a:p>
            <a:pPr lvl="1" algn="just">
              <a:defRPr/>
            </a:pPr>
            <a:r>
              <a:rPr lang="en-US" sz="2400" dirty="0">
                <a:ea typeface="+mn-ea"/>
                <a:cs typeface="+mn-cs"/>
              </a:rPr>
              <a:t>is to store the addresses of </a:t>
            </a:r>
            <a:r>
              <a:rPr lang="en-US" sz="2400" i="1" dirty="0">
                <a:ea typeface="+mn-ea"/>
                <a:cs typeface="+mn-cs"/>
              </a:rPr>
              <a:t>n free blocks </a:t>
            </a:r>
            <a:r>
              <a:rPr lang="en-US" sz="2400" dirty="0">
                <a:ea typeface="+mn-ea"/>
                <a:cs typeface="+mn-cs"/>
              </a:rPr>
              <a:t>in the first free block. The first n~1 of these blocks are actually free.</a:t>
            </a:r>
          </a:p>
          <a:p>
            <a:pPr lvl="1" algn="just">
              <a:defRPr/>
            </a:pPr>
            <a:r>
              <a:rPr lang="en-US" sz="2400" dirty="0">
                <a:ea typeface="+mn-ea"/>
                <a:cs typeface="+mn-cs"/>
              </a:rPr>
              <a:t>The last block contains the addresses of another  free blocks, and so on.</a:t>
            </a:r>
          </a:p>
          <a:p>
            <a:pPr lvl="1" algn="just">
              <a:defRPr/>
            </a:pPr>
            <a:r>
              <a:rPr lang="en-US" sz="2400" dirty="0">
                <a:ea typeface="+mn-ea"/>
                <a:cs typeface="+mn-cs"/>
              </a:rPr>
              <a:t>The addresses of a large number of free blocks can now be found quickly, unlike the situation when the standard linked-list approach is used.</a:t>
            </a:r>
          </a:p>
          <a:p>
            <a:pPr>
              <a:buFontTx/>
              <a:buNone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77BDD4-6646-7F54-9326-71DD57701DD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Operating System Concepts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DA803192-1E65-1C1D-F806-8B50AC7E62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7538" y="909638"/>
            <a:ext cx="8013700" cy="41148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en-US" sz="3600"/>
              <a:t>Counting</a:t>
            </a:r>
          </a:p>
          <a:p>
            <a:pPr algn="just"/>
            <a:r>
              <a:rPr lang="en-US" altLang="en-US" sz="2400"/>
              <a:t>rather than keeping a list of free disk addresses, we can keep the address of the first free block and the number</a:t>
            </a:r>
            <a:r>
              <a:rPr lang="en-US" altLang="en-US" sz="1000"/>
              <a:t> </a:t>
            </a:r>
            <a:r>
              <a:rPr lang="en-US" altLang="en-US" sz="2400"/>
              <a:t>of free contiguous blocks that follow the first block.</a:t>
            </a:r>
          </a:p>
          <a:p>
            <a:pPr algn="just"/>
            <a:r>
              <a:rPr lang="en-US" altLang="en-US" sz="2400"/>
              <a:t>Each entry in the free-space list then consists of a disk address and a count. </a:t>
            </a:r>
          </a:p>
          <a:p>
            <a:pPr algn="just"/>
            <a:r>
              <a:rPr lang="en-US" altLang="en-US" sz="2400"/>
              <a:t>Although each entry requires more space than would a simple disk address, the overall list will be shorter, as long as the count is generally greater than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vi">
  <a:themeElements>
    <a:clrScheme name="avi.po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vi.pot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Char char="•"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/>
          </a:outer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Char char="•"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avi.po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vi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vi.po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vi.po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vi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vi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vi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C:\Apps\Microsoft Office\Templates\Presentations\avi.pot</Template>
  <TotalTime>3122</TotalTime>
  <Words>801</Words>
  <Application>Microsoft Office PowerPoint</Application>
  <PresentationFormat>On-screen Show (4:3)</PresentationFormat>
  <Paragraphs>132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Times New Roman</vt:lpstr>
      <vt:lpstr>Arial</vt:lpstr>
      <vt:lpstr>Helvetica</vt:lpstr>
      <vt:lpstr>Monotype Sorts</vt:lpstr>
      <vt:lpstr>Symbol</vt:lpstr>
      <vt:lpstr>MT Extra</vt:lpstr>
      <vt:lpstr>avi</vt:lpstr>
      <vt:lpstr>File-System Implementation</vt:lpstr>
      <vt:lpstr>File-System Structure</vt:lpstr>
      <vt:lpstr>PowerPoint Presentation</vt:lpstr>
      <vt:lpstr>PowerPoint Presentation</vt:lpstr>
      <vt:lpstr>PowerPoint Presentation</vt:lpstr>
      <vt:lpstr>Contiguous Allocation</vt:lpstr>
      <vt:lpstr>PowerPoint Presentation</vt:lpstr>
      <vt:lpstr>PowerPoint Presentation</vt:lpstr>
      <vt:lpstr>Linked Allocation</vt:lpstr>
      <vt:lpstr>PowerPoint Presentation</vt:lpstr>
      <vt:lpstr>Linked Allocation (Cont.)</vt:lpstr>
      <vt:lpstr>Linked Allocation (Cont.)</vt:lpstr>
      <vt:lpstr>PowerPoint Presentation</vt:lpstr>
      <vt:lpstr>Indexed Allocation</vt:lpstr>
      <vt:lpstr>Example of Indexed Allocation</vt:lpstr>
      <vt:lpstr>Indexed Allocation (Cont.)</vt:lpstr>
      <vt:lpstr>Free-Space Management</vt:lpstr>
      <vt:lpstr>Free-Space Management (Cont.)</vt:lpstr>
      <vt:lpstr>PowerPoint Presentation</vt:lpstr>
      <vt:lpstr>PowerPoint Presentation</vt:lpstr>
      <vt:lpstr>PowerPoint Presentation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11.01</dc:title>
  <dc:creator>Marilyn Turnamian</dc:creator>
  <cp:lastModifiedBy>S Bhavani</cp:lastModifiedBy>
  <cp:revision>101</cp:revision>
  <cp:lastPrinted>1999-10-01T15:11:01Z</cp:lastPrinted>
  <dcterms:created xsi:type="dcterms:W3CDTF">1999-08-24T13:56:22Z</dcterms:created>
  <dcterms:modified xsi:type="dcterms:W3CDTF">2026-04-07T06:38:39Z</dcterms:modified>
</cp:coreProperties>
</file>