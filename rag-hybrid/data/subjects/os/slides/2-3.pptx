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3" r:id="rId2"/>
    <p:sldId id="307" r:id="rId3"/>
    <p:sldId id="308" r:id="rId4"/>
    <p:sldId id="309" r:id="rId5"/>
    <p:sldId id="310" r:id="rId6"/>
    <p:sldId id="311" r:id="rId7"/>
    <p:sldId id="312" r:id="rId8"/>
    <p:sldId id="313" r:id="rId9"/>
    <p:sldId id="314" r:id="rId10"/>
    <p:sldId id="315" r:id="rId11"/>
    <p:sldId id="316" r:id="rId12"/>
    <p:sldId id="317" r:id="rId13"/>
    <p:sldId id="318" r:id="rId14"/>
    <p:sldId id="319" r:id="rId15"/>
    <p:sldId id="322" r:id="rId16"/>
    <p:sldId id="323" r:id="rId17"/>
    <p:sldId id="320" r:id="rId18"/>
    <p:sldId id="321" r:id="rId1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7" d="100"/>
          <a:sy n="77" d="100"/>
        </p:scale>
        <p:origin x="1618"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E5CF8285-F5DD-4820-8181-E0935F49802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DD23145-CA8C-71BA-0311-50C65D8CA1E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BC4D618-F7F1-715B-9351-985AF4564DC8}"/>
              </a:ext>
            </a:extLst>
          </p:cNvPr>
          <p:cNvSpPr>
            <a:spLocks noGrp="1" noChangeArrowheads="1"/>
          </p:cNvSpPr>
          <p:nvPr>
            <p:ph type="sldNum" sz="quarter" idx="12"/>
          </p:nvPr>
        </p:nvSpPr>
        <p:spPr>
          <a:ln/>
        </p:spPr>
        <p:txBody>
          <a:bodyPr/>
          <a:lstStyle>
            <a:lvl1pPr>
              <a:defRPr/>
            </a:lvl1pPr>
          </a:lstStyle>
          <a:p>
            <a:fld id="{63F54179-E36F-41B1-80D2-038A7C0936F5}" type="slidenum">
              <a:rPr lang="en-US" altLang="en-US"/>
              <a:pPr/>
              <a:t>‹#›</a:t>
            </a:fld>
            <a:endParaRPr lang="en-US" altLang="en-US"/>
          </a:p>
        </p:txBody>
      </p:sp>
    </p:spTree>
    <p:extLst>
      <p:ext uri="{BB962C8B-B14F-4D97-AF65-F5344CB8AC3E}">
        <p14:creationId xmlns:p14="http://schemas.microsoft.com/office/powerpoint/2010/main" val="3259430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57FE833-9FE3-5B3F-57E3-B95F9EB30C5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386C4547-02F9-45C6-E2D0-D0D8CB7E446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5890FD7-7BB0-FCF8-B2FD-E22B6CAB01DC}"/>
              </a:ext>
            </a:extLst>
          </p:cNvPr>
          <p:cNvSpPr>
            <a:spLocks noGrp="1" noChangeArrowheads="1"/>
          </p:cNvSpPr>
          <p:nvPr>
            <p:ph type="sldNum" sz="quarter" idx="12"/>
          </p:nvPr>
        </p:nvSpPr>
        <p:spPr>
          <a:ln/>
        </p:spPr>
        <p:txBody>
          <a:bodyPr/>
          <a:lstStyle>
            <a:lvl1pPr>
              <a:defRPr/>
            </a:lvl1pPr>
          </a:lstStyle>
          <a:p>
            <a:fld id="{92E68F66-81ED-46CB-B864-C7B1AAF36659}" type="slidenum">
              <a:rPr lang="en-US" altLang="en-US"/>
              <a:pPr/>
              <a:t>‹#›</a:t>
            </a:fld>
            <a:endParaRPr lang="en-US" altLang="en-US"/>
          </a:p>
        </p:txBody>
      </p:sp>
    </p:spTree>
    <p:extLst>
      <p:ext uri="{BB962C8B-B14F-4D97-AF65-F5344CB8AC3E}">
        <p14:creationId xmlns:p14="http://schemas.microsoft.com/office/powerpoint/2010/main" val="759170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1DF5D1CC-09FB-06F1-139E-1C3A6F938A2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2F9508E-DC2E-2E21-85BC-AA1A2ADDDBC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BFAE132-CCA4-0B35-A054-232E34318734}"/>
              </a:ext>
            </a:extLst>
          </p:cNvPr>
          <p:cNvSpPr>
            <a:spLocks noGrp="1" noChangeArrowheads="1"/>
          </p:cNvSpPr>
          <p:nvPr>
            <p:ph type="sldNum" sz="quarter" idx="12"/>
          </p:nvPr>
        </p:nvSpPr>
        <p:spPr>
          <a:ln/>
        </p:spPr>
        <p:txBody>
          <a:bodyPr/>
          <a:lstStyle>
            <a:lvl1pPr>
              <a:defRPr/>
            </a:lvl1pPr>
          </a:lstStyle>
          <a:p>
            <a:fld id="{2332BF20-73EF-4B07-810B-149AB2685190}" type="slidenum">
              <a:rPr lang="en-US" altLang="en-US"/>
              <a:pPr/>
              <a:t>‹#›</a:t>
            </a:fld>
            <a:endParaRPr lang="en-US" altLang="en-US"/>
          </a:p>
        </p:txBody>
      </p:sp>
    </p:spTree>
    <p:extLst>
      <p:ext uri="{BB962C8B-B14F-4D97-AF65-F5344CB8AC3E}">
        <p14:creationId xmlns:p14="http://schemas.microsoft.com/office/powerpoint/2010/main" val="3475322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372C9CB9-565D-F0AE-D5E0-64FF7CD5A79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436CFB79-CDA3-0422-4830-B92D497622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4D5177B5-81C3-3C3E-8DEF-F2AD283DC723}"/>
              </a:ext>
            </a:extLst>
          </p:cNvPr>
          <p:cNvSpPr>
            <a:spLocks noGrp="1" noChangeArrowheads="1"/>
          </p:cNvSpPr>
          <p:nvPr>
            <p:ph type="sldNum" sz="quarter" idx="12"/>
          </p:nvPr>
        </p:nvSpPr>
        <p:spPr>
          <a:ln/>
        </p:spPr>
        <p:txBody>
          <a:bodyPr/>
          <a:lstStyle>
            <a:lvl1pPr>
              <a:defRPr/>
            </a:lvl1pPr>
          </a:lstStyle>
          <a:p>
            <a:fld id="{094B1405-A03B-40DB-9E89-C7681573427F}" type="slidenum">
              <a:rPr lang="en-US" altLang="en-US"/>
              <a:pPr/>
              <a:t>‹#›</a:t>
            </a:fld>
            <a:endParaRPr lang="en-US" altLang="en-US"/>
          </a:p>
        </p:txBody>
      </p:sp>
    </p:spTree>
    <p:extLst>
      <p:ext uri="{BB962C8B-B14F-4D97-AF65-F5344CB8AC3E}">
        <p14:creationId xmlns:p14="http://schemas.microsoft.com/office/powerpoint/2010/main" val="24258456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746EC757-FF74-A2AA-D99A-690D09AF25E4}"/>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5AD1E986-49D0-127D-445D-E4488A79080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B9B9DF81-EACF-DC57-594F-C1EA3760D712}"/>
              </a:ext>
            </a:extLst>
          </p:cNvPr>
          <p:cNvSpPr>
            <a:spLocks noGrp="1" noChangeArrowheads="1"/>
          </p:cNvSpPr>
          <p:nvPr>
            <p:ph type="sldNum" sz="quarter" idx="12"/>
          </p:nvPr>
        </p:nvSpPr>
        <p:spPr>
          <a:ln/>
        </p:spPr>
        <p:txBody>
          <a:bodyPr/>
          <a:lstStyle>
            <a:lvl1pPr>
              <a:defRPr/>
            </a:lvl1pPr>
          </a:lstStyle>
          <a:p>
            <a:fld id="{FA1D3E3A-07E4-4B90-8DC8-3FB536937981}" type="slidenum">
              <a:rPr lang="en-US" altLang="en-US"/>
              <a:pPr/>
              <a:t>‹#›</a:t>
            </a:fld>
            <a:endParaRPr lang="en-US" altLang="en-US"/>
          </a:p>
        </p:txBody>
      </p:sp>
    </p:spTree>
    <p:extLst>
      <p:ext uri="{BB962C8B-B14F-4D97-AF65-F5344CB8AC3E}">
        <p14:creationId xmlns:p14="http://schemas.microsoft.com/office/powerpoint/2010/main" val="4074098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1342ED9E-7B1F-C279-D454-F8400F06D81E}"/>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28116D89-CDE6-186A-5510-C877006CC5D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5457A2E6-6E7A-D11D-0E95-44F6A31D9DB9}"/>
              </a:ext>
            </a:extLst>
          </p:cNvPr>
          <p:cNvSpPr>
            <a:spLocks noGrp="1" noChangeArrowheads="1"/>
          </p:cNvSpPr>
          <p:nvPr>
            <p:ph type="sldNum" sz="quarter" idx="12"/>
          </p:nvPr>
        </p:nvSpPr>
        <p:spPr>
          <a:ln/>
        </p:spPr>
        <p:txBody>
          <a:bodyPr/>
          <a:lstStyle>
            <a:lvl1pPr>
              <a:defRPr/>
            </a:lvl1pPr>
          </a:lstStyle>
          <a:p>
            <a:fld id="{4DC412B7-A96B-4251-A768-DF7DDF193343}" type="slidenum">
              <a:rPr lang="en-US" altLang="en-US"/>
              <a:pPr/>
              <a:t>‹#›</a:t>
            </a:fld>
            <a:endParaRPr lang="en-US" altLang="en-US"/>
          </a:p>
        </p:txBody>
      </p:sp>
    </p:spTree>
    <p:extLst>
      <p:ext uri="{BB962C8B-B14F-4D97-AF65-F5344CB8AC3E}">
        <p14:creationId xmlns:p14="http://schemas.microsoft.com/office/powerpoint/2010/main" val="2056597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5FDEF30-FA84-C3CD-103B-46AE0841D61F}"/>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0E3C1621-2D39-B106-A3D4-611DDE5BE3D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21D744CA-C893-7E9C-EAEE-E954E6471DE3}"/>
              </a:ext>
            </a:extLst>
          </p:cNvPr>
          <p:cNvSpPr>
            <a:spLocks noGrp="1" noChangeArrowheads="1"/>
          </p:cNvSpPr>
          <p:nvPr>
            <p:ph type="sldNum" sz="quarter" idx="12"/>
          </p:nvPr>
        </p:nvSpPr>
        <p:spPr>
          <a:ln/>
        </p:spPr>
        <p:txBody>
          <a:bodyPr/>
          <a:lstStyle>
            <a:lvl1pPr>
              <a:defRPr/>
            </a:lvl1pPr>
          </a:lstStyle>
          <a:p>
            <a:fld id="{5BFFF30C-B3CB-4641-B76C-81C2D4FEE8A9}" type="slidenum">
              <a:rPr lang="en-US" altLang="en-US"/>
              <a:pPr/>
              <a:t>‹#›</a:t>
            </a:fld>
            <a:endParaRPr lang="en-US" altLang="en-US"/>
          </a:p>
        </p:txBody>
      </p:sp>
    </p:spTree>
    <p:extLst>
      <p:ext uri="{BB962C8B-B14F-4D97-AF65-F5344CB8AC3E}">
        <p14:creationId xmlns:p14="http://schemas.microsoft.com/office/powerpoint/2010/main" val="3393183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D8DC99F3-6FD4-BD1F-5548-86AE4680F1D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A21862E-782D-48DC-6259-0A4977ACC27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523256AA-994C-0F89-E80D-B7D83CD137D7}"/>
              </a:ext>
            </a:extLst>
          </p:cNvPr>
          <p:cNvSpPr>
            <a:spLocks noGrp="1" noChangeArrowheads="1"/>
          </p:cNvSpPr>
          <p:nvPr>
            <p:ph type="sldNum" sz="quarter" idx="12"/>
          </p:nvPr>
        </p:nvSpPr>
        <p:spPr>
          <a:ln/>
        </p:spPr>
        <p:txBody>
          <a:bodyPr/>
          <a:lstStyle>
            <a:lvl1pPr>
              <a:defRPr/>
            </a:lvl1pPr>
          </a:lstStyle>
          <a:p>
            <a:fld id="{CF0FE4CB-31A0-4061-B27C-B9EFAAD523DD}" type="slidenum">
              <a:rPr lang="en-US" altLang="en-US"/>
              <a:pPr/>
              <a:t>‹#›</a:t>
            </a:fld>
            <a:endParaRPr lang="en-US" altLang="en-US"/>
          </a:p>
        </p:txBody>
      </p:sp>
    </p:spTree>
    <p:extLst>
      <p:ext uri="{BB962C8B-B14F-4D97-AF65-F5344CB8AC3E}">
        <p14:creationId xmlns:p14="http://schemas.microsoft.com/office/powerpoint/2010/main" val="2502385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C70F2CBD-2A04-EBDC-23BC-AD14B641939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7095206C-D0B4-011A-5D3D-26C4291302D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7BB98936-81E2-EF94-4B92-D2C7D6444DB1}"/>
              </a:ext>
            </a:extLst>
          </p:cNvPr>
          <p:cNvSpPr>
            <a:spLocks noGrp="1" noChangeArrowheads="1"/>
          </p:cNvSpPr>
          <p:nvPr>
            <p:ph type="sldNum" sz="quarter" idx="12"/>
          </p:nvPr>
        </p:nvSpPr>
        <p:spPr>
          <a:ln/>
        </p:spPr>
        <p:txBody>
          <a:bodyPr/>
          <a:lstStyle>
            <a:lvl1pPr>
              <a:defRPr/>
            </a:lvl1pPr>
          </a:lstStyle>
          <a:p>
            <a:fld id="{CBB116CE-F0BC-4C34-AE80-66D8893954FF}" type="slidenum">
              <a:rPr lang="en-US" altLang="en-US"/>
              <a:pPr/>
              <a:t>‹#›</a:t>
            </a:fld>
            <a:endParaRPr lang="en-US" altLang="en-US"/>
          </a:p>
        </p:txBody>
      </p:sp>
    </p:spTree>
    <p:extLst>
      <p:ext uri="{BB962C8B-B14F-4D97-AF65-F5344CB8AC3E}">
        <p14:creationId xmlns:p14="http://schemas.microsoft.com/office/powerpoint/2010/main" val="263826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AA324EA-2740-F8E7-5C90-0B8ECB331DD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C5B5FF8-FD23-1A8D-736F-40A15B9688E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0EF0B103-2D35-C887-875C-847CECF8FC7B}"/>
              </a:ext>
            </a:extLst>
          </p:cNvPr>
          <p:cNvSpPr>
            <a:spLocks noGrp="1" noChangeArrowheads="1"/>
          </p:cNvSpPr>
          <p:nvPr>
            <p:ph type="sldNum" sz="quarter" idx="12"/>
          </p:nvPr>
        </p:nvSpPr>
        <p:spPr>
          <a:ln/>
        </p:spPr>
        <p:txBody>
          <a:bodyPr/>
          <a:lstStyle>
            <a:lvl1pPr>
              <a:defRPr/>
            </a:lvl1pPr>
          </a:lstStyle>
          <a:p>
            <a:fld id="{62AAB227-290E-4FA8-8C26-1B3CE302356E}" type="slidenum">
              <a:rPr lang="en-US" altLang="en-US"/>
              <a:pPr/>
              <a:t>‹#›</a:t>
            </a:fld>
            <a:endParaRPr lang="en-US" altLang="en-US"/>
          </a:p>
        </p:txBody>
      </p:sp>
    </p:spTree>
    <p:extLst>
      <p:ext uri="{BB962C8B-B14F-4D97-AF65-F5344CB8AC3E}">
        <p14:creationId xmlns:p14="http://schemas.microsoft.com/office/powerpoint/2010/main" val="3962269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F22C4C7-1034-1F17-AD50-306AE1E5F79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3323DBC-83FD-03C1-F4C6-507A3B864FE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8FBEFF9-2871-CC89-8AD3-7796E8C3E5DE}"/>
              </a:ext>
            </a:extLst>
          </p:cNvPr>
          <p:cNvSpPr>
            <a:spLocks noGrp="1" noChangeArrowheads="1"/>
          </p:cNvSpPr>
          <p:nvPr>
            <p:ph type="sldNum" sz="quarter" idx="12"/>
          </p:nvPr>
        </p:nvSpPr>
        <p:spPr>
          <a:ln/>
        </p:spPr>
        <p:txBody>
          <a:bodyPr/>
          <a:lstStyle>
            <a:lvl1pPr>
              <a:defRPr/>
            </a:lvl1pPr>
          </a:lstStyle>
          <a:p>
            <a:fld id="{9EC14AC3-99C6-4310-9C05-163B0DC0211F}" type="slidenum">
              <a:rPr lang="en-US" altLang="en-US"/>
              <a:pPr/>
              <a:t>‹#›</a:t>
            </a:fld>
            <a:endParaRPr lang="en-US" altLang="en-US"/>
          </a:p>
        </p:txBody>
      </p:sp>
    </p:spTree>
    <p:extLst>
      <p:ext uri="{BB962C8B-B14F-4D97-AF65-F5344CB8AC3E}">
        <p14:creationId xmlns:p14="http://schemas.microsoft.com/office/powerpoint/2010/main" val="2109428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2F61E28-15C7-A4C9-3ABD-C8BB372CB479}"/>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2D69B85B-7A87-E740-0158-47FBB204BD41}"/>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C8582A6C-CC28-292D-B588-0AD01001C230}"/>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a:defRPr/>
            </a:pPr>
            <a:endParaRPr lang="en-US"/>
          </a:p>
        </p:txBody>
      </p:sp>
      <p:sp>
        <p:nvSpPr>
          <p:cNvPr id="1029" name="Rectangle 5">
            <a:extLst>
              <a:ext uri="{FF2B5EF4-FFF2-40B4-BE49-F238E27FC236}">
                <a16:creationId xmlns:a16="http://schemas.microsoft.com/office/drawing/2014/main" id="{AFB00297-3AF6-E8C2-1F0E-563169205DBC}"/>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a:defRPr/>
            </a:pPr>
            <a:endParaRPr lang="en-US"/>
          </a:p>
        </p:txBody>
      </p:sp>
      <p:sp>
        <p:nvSpPr>
          <p:cNvPr id="1030" name="Rectangle 6">
            <a:extLst>
              <a:ext uri="{FF2B5EF4-FFF2-40B4-BE49-F238E27FC236}">
                <a16:creationId xmlns:a16="http://schemas.microsoft.com/office/drawing/2014/main" id="{149D5A93-D4DA-5598-CB49-AA6D5A6F69CB}"/>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FEDA9DAE-C3D8-413B-8CCD-E7830B4DCA14}"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Box 4">
            <a:extLst>
              <a:ext uri="{FF2B5EF4-FFF2-40B4-BE49-F238E27FC236}">
                <a16:creationId xmlns:a16="http://schemas.microsoft.com/office/drawing/2014/main" id="{14CFF3AA-AF4F-D196-3D76-84B0973C000E}"/>
              </a:ext>
            </a:extLst>
          </p:cNvPr>
          <p:cNvSpPr txBox="1">
            <a:spLocks noChangeArrowheads="1"/>
          </p:cNvSpPr>
          <p:nvPr/>
        </p:nvSpPr>
        <p:spPr bwMode="auto">
          <a:xfrm>
            <a:off x="381000" y="1524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051" name="TextBox 5">
            <a:extLst>
              <a:ext uri="{FF2B5EF4-FFF2-40B4-BE49-F238E27FC236}">
                <a16:creationId xmlns:a16="http://schemas.microsoft.com/office/drawing/2014/main" id="{6F164501-D707-84D4-B2D1-5CAB674D6940}"/>
              </a:ext>
            </a:extLst>
          </p:cNvPr>
          <p:cNvSpPr txBox="1">
            <a:spLocks noChangeArrowheads="1"/>
          </p:cNvSpPr>
          <p:nvPr/>
        </p:nvSpPr>
        <p:spPr bwMode="auto">
          <a:xfrm>
            <a:off x="533400" y="3048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052" name="TextBox 6">
            <a:extLst>
              <a:ext uri="{FF2B5EF4-FFF2-40B4-BE49-F238E27FC236}">
                <a16:creationId xmlns:a16="http://schemas.microsoft.com/office/drawing/2014/main" id="{4B127C8B-507A-8A7A-7B66-63D696EF58CC}"/>
              </a:ext>
            </a:extLst>
          </p:cNvPr>
          <p:cNvSpPr txBox="1">
            <a:spLocks noChangeArrowheads="1"/>
          </p:cNvSpPr>
          <p:nvPr/>
        </p:nvSpPr>
        <p:spPr bwMode="auto">
          <a:xfrm>
            <a:off x="228600" y="304800"/>
            <a:ext cx="8686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3200">
                <a:solidFill>
                  <a:srgbClr val="0066FF"/>
                </a:solidFill>
              </a:rPr>
              <a:t>stat family</a:t>
            </a:r>
          </a:p>
        </p:txBody>
      </p:sp>
      <p:sp>
        <p:nvSpPr>
          <p:cNvPr id="9" name="Rectangle 2">
            <a:extLst>
              <a:ext uri="{FF2B5EF4-FFF2-40B4-BE49-F238E27FC236}">
                <a16:creationId xmlns:a16="http://schemas.microsoft.com/office/drawing/2014/main" id="{BB72A06D-67DB-BEE9-0000-3CF1DEA71385}"/>
              </a:ext>
            </a:extLst>
          </p:cNvPr>
          <p:cNvSpPr txBox="1">
            <a:spLocks noChangeArrowheads="1"/>
          </p:cNvSpPr>
          <p:nvPr/>
        </p:nvSpPr>
        <p:spPr>
          <a:xfrm>
            <a:off x="838200" y="419100"/>
            <a:ext cx="7778750" cy="1104900"/>
          </a:xfrm>
          <a:prstGeom prst="rect">
            <a:avLst/>
          </a:prstGeom>
          <a:noFill/>
          <a:ln/>
        </p:spPr>
        <p:txBody>
          <a:bodyPr/>
          <a:lstStyle/>
          <a:p>
            <a:pPr algn="ctr">
              <a:defRPr/>
            </a:pPr>
            <a:endParaRPr lang="en-US" sz="4400" kern="0" dirty="0">
              <a:solidFill>
                <a:schemeClr val="tx2"/>
              </a:solidFill>
              <a:latin typeface="+mj-lt"/>
              <a:ea typeface="+mj-ea"/>
              <a:cs typeface="+mj-cs"/>
            </a:endParaRPr>
          </a:p>
        </p:txBody>
      </p:sp>
      <p:sp>
        <p:nvSpPr>
          <p:cNvPr id="10" name="Rectangle 3">
            <a:extLst>
              <a:ext uri="{FF2B5EF4-FFF2-40B4-BE49-F238E27FC236}">
                <a16:creationId xmlns:a16="http://schemas.microsoft.com/office/drawing/2014/main" id="{57106E56-895B-F41E-E0F7-5CAEA5060633}"/>
              </a:ext>
            </a:extLst>
          </p:cNvPr>
          <p:cNvSpPr txBox="1">
            <a:spLocks noChangeArrowheads="1"/>
          </p:cNvSpPr>
          <p:nvPr/>
        </p:nvSpPr>
        <p:spPr>
          <a:xfrm>
            <a:off x="381000" y="914400"/>
            <a:ext cx="8534400" cy="5638800"/>
          </a:xfrm>
          <a:prstGeom prst="rect">
            <a:avLst/>
          </a:prstGeom>
          <a:noFill/>
          <a:ln/>
        </p:spPr>
        <p:txBody>
          <a:bodyPr/>
          <a:lstStyle>
            <a:lvl1pPr marL="342900" indent="-342900" eaLnBrk="0" hangingPunct="0">
              <a:defRPr>
                <a:solidFill>
                  <a:schemeClr val="tx1"/>
                </a:solidFill>
                <a:latin typeface="Arial" panose="020B0604020202020204" pitchFamily="34" charset="0"/>
              </a:defRPr>
            </a:lvl1pPr>
            <a:lvl2pPr marL="971550" indent="-514350" eaLnBrk="0" hangingPunct="0">
              <a:defRPr>
                <a:solidFill>
                  <a:schemeClr val="tx1"/>
                </a:solidFill>
                <a:latin typeface="Arial" panose="020B0604020202020204" pitchFamily="34" charset="0"/>
              </a:defRPr>
            </a:lvl2pPr>
            <a:lvl3pPr marL="1428750" indent="-51435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20000"/>
              </a:spcBef>
            </a:pPr>
            <a:r>
              <a:rPr lang="en-US" altLang="en-US" sz="2400"/>
              <a:t>#include &lt;sys/stat.h&gt;</a:t>
            </a:r>
          </a:p>
          <a:p>
            <a:pPr algn="just" eaLnBrk="1" hangingPunct="1">
              <a:spcBef>
                <a:spcPct val="20000"/>
              </a:spcBef>
            </a:pPr>
            <a:r>
              <a:rPr lang="en-US" altLang="en-US" sz="2400">
                <a:solidFill>
                  <a:srgbClr val="CC3300"/>
                </a:solidFill>
              </a:rPr>
              <a:t>int stat (const char *restrict pathname, struct stat *restrict buf);</a:t>
            </a:r>
          </a:p>
          <a:p>
            <a:pPr algn="just" eaLnBrk="1" hangingPunct="1">
              <a:spcBef>
                <a:spcPct val="20000"/>
              </a:spcBef>
            </a:pPr>
            <a:r>
              <a:rPr lang="en-US" altLang="en-US" sz="2400">
                <a:solidFill>
                  <a:srgbClr val="CC3300"/>
                </a:solidFill>
              </a:rPr>
              <a:t>int fstat (int filedes, struct stat *buf);</a:t>
            </a:r>
          </a:p>
          <a:p>
            <a:pPr algn="just" eaLnBrk="1" hangingPunct="1">
              <a:spcBef>
                <a:spcPct val="20000"/>
              </a:spcBef>
            </a:pPr>
            <a:r>
              <a:rPr lang="en-US" altLang="en-US" sz="2400">
                <a:solidFill>
                  <a:srgbClr val="CC3300"/>
                </a:solidFill>
              </a:rPr>
              <a:t>int lstat(const char *restrict pathname, struct stat *restrict buf);</a:t>
            </a:r>
          </a:p>
          <a:p>
            <a:pPr algn="just" eaLnBrk="1" hangingPunct="1">
              <a:spcBef>
                <a:spcPct val="20000"/>
              </a:spcBef>
            </a:pPr>
            <a:r>
              <a:rPr lang="en-US" altLang="en-US" sz="2400"/>
              <a:t>		</a:t>
            </a:r>
            <a:r>
              <a:rPr lang="en-US" altLang="en-US" sz="2400">
                <a:solidFill>
                  <a:srgbClr val="0066FF"/>
                </a:solidFill>
              </a:rPr>
              <a:t>all return 0 if ok, -1 on error</a:t>
            </a:r>
          </a:p>
          <a:p>
            <a:pPr algn="just" eaLnBrk="1" hangingPunct="1">
              <a:spcBef>
                <a:spcPct val="20000"/>
              </a:spcBef>
              <a:buFontTx/>
              <a:buChar char="•"/>
            </a:pPr>
            <a:r>
              <a:rPr lang="en-US" altLang="en-US" sz="2400"/>
              <a:t>stat function returns a structure of information about the named file</a:t>
            </a:r>
          </a:p>
          <a:p>
            <a:pPr algn="just" eaLnBrk="1" hangingPunct="1">
              <a:spcBef>
                <a:spcPct val="20000"/>
              </a:spcBef>
              <a:buFontTx/>
              <a:buChar char="•"/>
            </a:pPr>
            <a:r>
              <a:rPr lang="en-US" altLang="en-US" sz="2400"/>
              <a:t>fstat function obtains information about the already opened file on the file descriptor filedes</a:t>
            </a:r>
          </a:p>
          <a:p>
            <a:pPr algn="just" eaLnBrk="1" hangingPunct="1">
              <a:spcBef>
                <a:spcPct val="20000"/>
              </a:spcBef>
              <a:buFontTx/>
              <a:buChar char="•"/>
            </a:pPr>
            <a:r>
              <a:rPr lang="en-US" altLang="en-US" sz="2400"/>
              <a:t>lstat function obtains information about the symbolic link, not the file referenced by the link</a:t>
            </a:r>
          </a:p>
          <a:p>
            <a:pPr algn="just" eaLnBrk="1" hangingPunct="1">
              <a:spcBef>
                <a:spcPct val="20000"/>
              </a:spcBef>
              <a:buFontTx/>
              <a:buChar char="•"/>
            </a:pPr>
            <a:r>
              <a:rPr lang="en-US" altLang="en-US" sz="2400"/>
              <a:t>The function fills in the structure pointed to by buf</a:t>
            </a:r>
          </a:p>
          <a:p>
            <a:pPr algn="just" eaLnBrk="1" hangingPunct="1">
              <a:spcBef>
                <a:spcPct val="20000"/>
              </a:spcBef>
              <a:buFontTx/>
              <a:buChar char="•"/>
            </a:pPr>
            <a:r>
              <a:rPr lang="en-US" altLang="en-US" sz="2400"/>
              <a:t>The biggest user of stat family is ls –l command</a:t>
            </a:r>
          </a:p>
          <a:p>
            <a:pPr algn="just" eaLnBrk="1" hangingPunct="1">
              <a:spcBef>
                <a:spcPct val="20000"/>
              </a:spcBef>
              <a:buFontTx/>
              <a:buChar char="•"/>
            </a:pPr>
            <a:endParaRPr lang="en-US" altLang="en-US"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dissolve">
                                      <p:cBhvr>
                                        <p:cTn id="12" dur="500"/>
                                        <p:tgtEl>
                                          <p:spTgt spid="1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dissolve">
                                      <p:cBhvr>
                                        <p:cTn id="17" dur="500"/>
                                        <p:tgtEl>
                                          <p:spTgt spid="1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dissolve">
                                      <p:cBhvr>
                                        <p:cTn id="22" dur="500"/>
                                        <p:tgtEl>
                                          <p:spTgt spid="1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dissolve">
                                      <p:cBhvr>
                                        <p:cTn id="27" dur="500"/>
                                        <p:tgtEl>
                                          <p:spTgt spid="1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
                                            <p:txEl>
                                              <p:pRg st="5" end="5"/>
                                            </p:txEl>
                                          </p:spTgt>
                                        </p:tgtEl>
                                        <p:attrNameLst>
                                          <p:attrName>style.visibility</p:attrName>
                                        </p:attrNameLst>
                                      </p:cBhvr>
                                      <p:to>
                                        <p:strVal val="visible"/>
                                      </p:to>
                                    </p:set>
                                    <p:animEffect transition="in" filter="dissolve">
                                      <p:cBhvr>
                                        <p:cTn id="32" dur="500"/>
                                        <p:tgtEl>
                                          <p:spTgt spid="10">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0">
                                            <p:txEl>
                                              <p:pRg st="6" end="6"/>
                                            </p:txEl>
                                          </p:spTgt>
                                        </p:tgtEl>
                                        <p:attrNameLst>
                                          <p:attrName>style.visibility</p:attrName>
                                        </p:attrNameLst>
                                      </p:cBhvr>
                                      <p:to>
                                        <p:strVal val="visible"/>
                                      </p:to>
                                    </p:set>
                                    <p:animEffect transition="in" filter="dissolve">
                                      <p:cBhvr>
                                        <p:cTn id="37" dur="500"/>
                                        <p:tgtEl>
                                          <p:spTgt spid="10">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0">
                                            <p:txEl>
                                              <p:pRg st="7" end="7"/>
                                            </p:txEl>
                                          </p:spTgt>
                                        </p:tgtEl>
                                        <p:attrNameLst>
                                          <p:attrName>style.visibility</p:attrName>
                                        </p:attrNameLst>
                                      </p:cBhvr>
                                      <p:to>
                                        <p:strVal val="visible"/>
                                      </p:to>
                                    </p:set>
                                    <p:animEffect transition="in" filter="dissolve">
                                      <p:cBhvr>
                                        <p:cTn id="42" dur="500"/>
                                        <p:tgtEl>
                                          <p:spTgt spid="10">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0">
                                            <p:txEl>
                                              <p:pRg st="8" end="8"/>
                                            </p:txEl>
                                          </p:spTgt>
                                        </p:tgtEl>
                                        <p:attrNameLst>
                                          <p:attrName>style.visibility</p:attrName>
                                        </p:attrNameLst>
                                      </p:cBhvr>
                                      <p:to>
                                        <p:strVal val="visible"/>
                                      </p:to>
                                    </p:set>
                                    <p:animEffect transition="in" filter="dissolve">
                                      <p:cBhvr>
                                        <p:cTn id="47" dur="500"/>
                                        <p:tgtEl>
                                          <p:spTgt spid="10">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0">
                                            <p:txEl>
                                              <p:pRg st="9" end="9"/>
                                            </p:txEl>
                                          </p:spTgt>
                                        </p:tgtEl>
                                        <p:attrNameLst>
                                          <p:attrName>style.visibility</p:attrName>
                                        </p:attrNameLst>
                                      </p:cBhvr>
                                      <p:to>
                                        <p:strVal val="visible"/>
                                      </p:to>
                                    </p:set>
                                    <p:animEffect transition="in" filter="dissolve">
                                      <p:cBhvr>
                                        <p:cTn id="52" dur="500"/>
                                        <p:tgtEl>
                                          <p:spTgt spid="10">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3477404F-9474-05CB-2D8A-8DF07EC92FB9}"/>
              </a:ext>
            </a:extLst>
          </p:cNvPr>
          <p:cNvSpPr txBox="1">
            <a:spLocks noChangeArrowheads="1"/>
          </p:cNvSpPr>
          <p:nvPr/>
        </p:nvSpPr>
        <p:spPr>
          <a:xfrm>
            <a:off x="609600" y="152400"/>
            <a:ext cx="7772400" cy="4114800"/>
          </a:xfrm>
          <a:prstGeom prst="rect">
            <a:avLst/>
          </a:prstGeom>
          <a:noFill/>
          <a:ln/>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20000"/>
              </a:spcBef>
            </a:pPr>
            <a:r>
              <a:rPr lang="en-US" altLang="en-US" sz="2400"/>
              <a:t>struct stat	{</a:t>
            </a:r>
          </a:p>
          <a:p>
            <a:pPr algn="just" eaLnBrk="1" hangingPunct="1">
              <a:spcBef>
                <a:spcPct val="20000"/>
              </a:spcBef>
            </a:pPr>
            <a:r>
              <a:rPr lang="en-US" altLang="en-US" sz="2400"/>
              <a:t>mode _t st_mode;	//file type and mode (perms)</a:t>
            </a:r>
          </a:p>
          <a:p>
            <a:pPr algn="just" eaLnBrk="1" hangingPunct="1">
              <a:spcBef>
                <a:spcPct val="20000"/>
              </a:spcBef>
            </a:pPr>
            <a:r>
              <a:rPr lang="en-US" altLang="en-US" sz="2400"/>
              <a:t>ino_t	st_ino;		//i-node number</a:t>
            </a:r>
          </a:p>
          <a:p>
            <a:pPr algn="just" eaLnBrk="1" hangingPunct="1">
              <a:spcBef>
                <a:spcPct val="20000"/>
              </a:spcBef>
            </a:pPr>
            <a:r>
              <a:rPr lang="en-US" altLang="en-US" sz="2400"/>
              <a:t>dev_t st_dev;		//dev no. (file system)</a:t>
            </a:r>
          </a:p>
          <a:p>
            <a:pPr algn="just" eaLnBrk="1" hangingPunct="1">
              <a:spcBef>
                <a:spcPct val="20000"/>
              </a:spcBef>
            </a:pPr>
            <a:r>
              <a:rPr lang="en-US" altLang="en-US" sz="2400"/>
              <a:t>Dev_t st_rdev;	// dev no. for special files</a:t>
            </a:r>
            <a:endParaRPr lang="en-US" altLang="en-US" sz="3200"/>
          </a:p>
          <a:p>
            <a:pPr algn="just" eaLnBrk="1" hangingPunct="1">
              <a:spcBef>
                <a:spcPct val="20000"/>
              </a:spcBef>
            </a:pPr>
            <a:r>
              <a:rPr lang="en-US" altLang="en-US" sz="2400"/>
              <a:t>nlink_t st_nlink;	//no. of links</a:t>
            </a:r>
          </a:p>
          <a:p>
            <a:pPr algn="just" eaLnBrk="1" hangingPunct="1">
              <a:spcBef>
                <a:spcPct val="20000"/>
              </a:spcBef>
            </a:pPr>
            <a:r>
              <a:rPr lang="en-US" altLang="en-US" sz="2400"/>
              <a:t>uid_t st_uid;		//user ID of owner</a:t>
            </a:r>
          </a:p>
          <a:p>
            <a:pPr algn="just" eaLnBrk="1" hangingPunct="1">
              <a:spcBef>
                <a:spcPct val="20000"/>
              </a:spcBef>
            </a:pPr>
            <a:r>
              <a:rPr lang="en-US" altLang="en-US" sz="2400"/>
              <a:t>gid_t st_gid;		//group ID of owner</a:t>
            </a:r>
          </a:p>
          <a:p>
            <a:pPr algn="just" eaLnBrk="1" hangingPunct="1">
              <a:spcBef>
                <a:spcPct val="20000"/>
              </a:spcBef>
            </a:pPr>
            <a:r>
              <a:rPr lang="en-US" altLang="en-US" sz="2400"/>
              <a:t>off_t st_size;		//size in bytes for regular files</a:t>
            </a:r>
          </a:p>
          <a:p>
            <a:pPr algn="just" eaLnBrk="1" hangingPunct="1">
              <a:spcBef>
                <a:spcPct val="20000"/>
              </a:spcBef>
            </a:pPr>
            <a:r>
              <a:rPr lang="en-US" altLang="en-US" sz="2400"/>
              <a:t>time_t st_atime;	//time of last access</a:t>
            </a:r>
          </a:p>
          <a:p>
            <a:pPr algn="just" eaLnBrk="1" hangingPunct="1">
              <a:spcBef>
                <a:spcPct val="20000"/>
              </a:spcBef>
            </a:pPr>
            <a:r>
              <a:rPr lang="en-US" altLang="en-US" sz="2400"/>
              <a:t>time_t st_mtime;	 //time of last last modification</a:t>
            </a:r>
            <a:endParaRPr lang="en-US" altLang="en-US" sz="3200"/>
          </a:p>
          <a:p>
            <a:pPr algn="just" eaLnBrk="1" hangingPunct="1">
              <a:spcBef>
                <a:spcPct val="20000"/>
              </a:spcBef>
            </a:pPr>
            <a:r>
              <a:rPr lang="en-US" altLang="en-US" sz="2400"/>
              <a:t>time_t st_ctime;	 //time of last file status change</a:t>
            </a:r>
            <a:endParaRPr lang="en-US" altLang="en-US" sz="3200"/>
          </a:p>
          <a:p>
            <a:pPr algn="just" eaLnBrk="1" hangingPunct="1">
              <a:spcBef>
                <a:spcPct val="20000"/>
              </a:spcBef>
            </a:pPr>
            <a:r>
              <a:rPr lang="en-US" altLang="en-US" sz="2400"/>
              <a:t>blksize_t st_blksize;	//best I/O block size</a:t>
            </a:r>
          </a:p>
          <a:p>
            <a:pPr algn="just" eaLnBrk="1" hangingPunct="1">
              <a:spcBef>
                <a:spcPct val="20000"/>
              </a:spcBef>
            </a:pPr>
            <a:r>
              <a:rPr lang="en-US" altLang="en-US" sz="2400"/>
              <a:t>blkcnt_t st_blocks;	//no. of disk blocks allocated</a:t>
            </a:r>
          </a:p>
          <a:p>
            <a:pPr algn="just" eaLnBrk="1" hangingPunct="1">
              <a:spcBef>
                <a:spcPct val="20000"/>
              </a:spcBef>
            </a:pPr>
            <a:r>
              <a:rPr lang="en-US" altLang="en-US" sz="240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Box 4">
            <a:extLst>
              <a:ext uri="{FF2B5EF4-FFF2-40B4-BE49-F238E27FC236}">
                <a16:creationId xmlns:a16="http://schemas.microsoft.com/office/drawing/2014/main" id="{0FD322C6-D62C-EFA2-8A95-1527A2B27382}"/>
              </a:ext>
            </a:extLst>
          </p:cNvPr>
          <p:cNvSpPr txBox="1">
            <a:spLocks noChangeArrowheads="1"/>
          </p:cNvSpPr>
          <p:nvPr/>
        </p:nvSpPr>
        <p:spPr bwMode="auto">
          <a:xfrm>
            <a:off x="381000" y="1524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3555" name="TextBox 5">
            <a:extLst>
              <a:ext uri="{FF2B5EF4-FFF2-40B4-BE49-F238E27FC236}">
                <a16:creationId xmlns:a16="http://schemas.microsoft.com/office/drawing/2014/main" id="{93EE9853-BD7A-93F3-8D39-BABC586958A8}"/>
              </a:ext>
            </a:extLst>
          </p:cNvPr>
          <p:cNvSpPr txBox="1">
            <a:spLocks noChangeArrowheads="1"/>
          </p:cNvSpPr>
          <p:nvPr/>
        </p:nvSpPr>
        <p:spPr bwMode="auto">
          <a:xfrm>
            <a:off x="533400" y="3048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3556" name="TextBox 6">
            <a:extLst>
              <a:ext uri="{FF2B5EF4-FFF2-40B4-BE49-F238E27FC236}">
                <a16:creationId xmlns:a16="http://schemas.microsoft.com/office/drawing/2014/main" id="{B1AC47DE-E46E-13A3-35D6-2FEA1A87DC11}"/>
              </a:ext>
            </a:extLst>
          </p:cNvPr>
          <p:cNvSpPr txBox="1">
            <a:spLocks noChangeArrowheads="1"/>
          </p:cNvSpPr>
          <p:nvPr/>
        </p:nvSpPr>
        <p:spPr bwMode="auto">
          <a:xfrm>
            <a:off x="228600" y="304800"/>
            <a:ext cx="8686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3200">
                <a:solidFill>
                  <a:srgbClr val="0066FF"/>
                </a:solidFill>
              </a:rPr>
              <a:t>File types</a:t>
            </a:r>
          </a:p>
        </p:txBody>
      </p:sp>
      <p:sp>
        <p:nvSpPr>
          <p:cNvPr id="9" name="Rectangle 2">
            <a:extLst>
              <a:ext uri="{FF2B5EF4-FFF2-40B4-BE49-F238E27FC236}">
                <a16:creationId xmlns:a16="http://schemas.microsoft.com/office/drawing/2014/main" id="{98FEB9B1-1891-8D23-80AB-CA3AD2BB0CCF}"/>
              </a:ext>
            </a:extLst>
          </p:cNvPr>
          <p:cNvSpPr txBox="1">
            <a:spLocks noChangeArrowheads="1"/>
          </p:cNvSpPr>
          <p:nvPr/>
        </p:nvSpPr>
        <p:spPr>
          <a:xfrm>
            <a:off x="838200" y="419100"/>
            <a:ext cx="7778750" cy="1104900"/>
          </a:xfrm>
          <a:prstGeom prst="rect">
            <a:avLst/>
          </a:prstGeom>
          <a:noFill/>
          <a:ln/>
        </p:spPr>
        <p:txBody>
          <a:bodyPr/>
          <a:lstStyle/>
          <a:p>
            <a:pPr algn="ctr">
              <a:defRPr/>
            </a:pPr>
            <a:endParaRPr lang="en-US" sz="4400" kern="0" dirty="0">
              <a:solidFill>
                <a:schemeClr val="tx2"/>
              </a:solidFill>
              <a:latin typeface="+mj-lt"/>
              <a:ea typeface="+mj-ea"/>
              <a:cs typeface="+mj-cs"/>
            </a:endParaRPr>
          </a:p>
        </p:txBody>
      </p:sp>
      <p:sp>
        <p:nvSpPr>
          <p:cNvPr id="10" name="Rectangle 3">
            <a:extLst>
              <a:ext uri="{FF2B5EF4-FFF2-40B4-BE49-F238E27FC236}">
                <a16:creationId xmlns:a16="http://schemas.microsoft.com/office/drawing/2014/main" id="{E803BB1F-794B-C419-456D-78F3927A46B4}"/>
              </a:ext>
            </a:extLst>
          </p:cNvPr>
          <p:cNvSpPr txBox="1">
            <a:spLocks noChangeArrowheads="1"/>
          </p:cNvSpPr>
          <p:nvPr/>
        </p:nvSpPr>
        <p:spPr>
          <a:xfrm>
            <a:off x="381000" y="914400"/>
            <a:ext cx="8534400" cy="5638800"/>
          </a:xfrm>
          <a:prstGeom prst="rect">
            <a:avLst/>
          </a:prstGeom>
          <a:noFill/>
          <a:ln/>
        </p:spPr>
        <p:txBody>
          <a:bodyPr/>
          <a:lstStyle>
            <a:lvl1pPr marL="342900" indent="-342900" eaLnBrk="0" hangingPunct="0">
              <a:defRPr>
                <a:solidFill>
                  <a:schemeClr val="tx1"/>
                </a:solidFill>
                <a:latin typeface="Arial" panose="020B0604020202020204" pitchFamily="34" charset="0"/>
              </a:defRPr>
            </a:lvl1pPr>
            <a:lvl2pPr marL="971550" indent="-514350" eaLnBrk="0" hangingPunct="0">
              <a:defRPr>
                <a:solidFill>
                  <a:schemeClr val="tx1"/>
                </a:solidFill>
                <a:latin typeface="Arial" panose="020B0604020202020204" pitchFamily="34" charset="0"/>
              </a:defRPr>
            </a:lvl2pPr>
            <a:lvl3pPr marL="1428750" indent="-51435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20000"/>
              </a:spcBef>
              <a:buFontTx/>
              <a:buChar char="•"/>
            </a:pPr>
            <a:r>
              <a:rPr lang="en-US" altLang="en-US" sz="2400"/>
              <a:t>The type of a file is encoded in the st_mode member of the stat structure</a:t>
            </a:r>
          </a:p>
          <a:p>
            <a:pPr algn="just" eaLnBrk="1" hangingPunct="1">
              <a:spcBef>
                <a:spcPct val="20000"/>
              </a:spcBef>
              <a:buFontTx/>
              <a:buChar char="•"/>
            </a:pPr>
            <a:r>
              <a:rPr lang="en-US" altLang="en-US" sz="2400"/>
              <a:t>We can determine the file type with the macros by sending st_mode member as an argument</a:t>
            </a:r>
          </a:p>
          <a:p>
            <a:pPr algn="just" eaLnBrk="1" hangingPunct="1">
              <a:spcBef>
                <a:spcPct val="20000"/>
              </a:spcBef>
            </a:pPr>
            <a:r>
              <a:rPr lang="en-US" altLang="en-US" sz="2400"/>
              <a:t>	macro		type of file</a:t>
            </a:r>
          </a:p>
          <a:p>
            <a:pPr algn="just" eaLnBrk="1" hangingPunct="1">
              <a:spcBef>
                <a:spcPct val="20000"/>
              </a:spcBef>
            </a:pPr>
            <a:r>
              <a:rPr lang="en-US" altLang="en-US" sz="2400"/>
              <a:t>	S_ISREG( )	Regular file</a:t>
            </a:r>
          </a:p>
          <a:p>
            <a:pPr algn="just" eaLnBrk="1" hangingPunct="1">
              <a:spcBef>
                <a:spcPct val="20000"/>
              </a:spcBef>
            </a:pPr>
            <a:r>
              <a:rPr lang="en-US" altLang="en-US" sz="2400"/>
              <a:t>	S_ISDIR( )		directory file</a:t>
            </a:r>
          </a:p>
          <a:p>
            <a:pPr algn="just" eaLnBrk="1" hangingPunct="1">
              <a:spcBef>
                <a:spcPct val="20000"/>
              </a:spcBef>
            </a:pPr>
            <a:r>
              <a:rPr lang="en-US" altLang="en-US"/>
              <a:t>	</a:t>
            </a:r>
            <a:r>
              <a:rPr lang="en-US" altLang="en-US" sz="2400"/>
              <a:t>S_ISCHR( )	character special file</a:t>
            </a:r>
          </a:p>
          <a:p>
            <a:pPr algn="just" eaLnBrk="1" hangingPunct="1">
              <a:spcBef>
                <a:spcPct val="20000"/>
              </a:spcBef>
            </a:pPr>
            <a:r>
              <a:rPr lang="en-US" altLang="en-US" sz="2400"/>
              <a:t>	S_ISBLK( )	block special file</a:t>
            </a:r>
          </a:p>
          <a:p>
            <a:pPr algn="just" eaLnBrk="1" hangingPunct="1">
              <a:spcBef>
                <a:spcPct val="20000"/>
              </a:spcBef>
            </a:pPr>
            <a:r>
              <a:rPr lang="en-US" altLang="en-US" sz="2400"/>
              <a:t>	S_ISFIFO( )	pipe or FIFO</a:t>
            </a:r>
          </a:p>
          <a:p>
            <a:pPr algn="just" eaLnBrk="1" hangingPunct="1">
              <a:spcBef>
                <a:spcPct val="20000"/>
              </a:spcBef>
            </a:pPr>
            <a:r>
              <a:rPr lang="en-US" altLang="en-US" sz="2400"/>
              <a:t>	S_ISLNK( )	symbolic link</a:t>
            </a:r>
          </a:p>
          <a:p>
            <a:pPr algn="just" eaLnBrk="1" hangingPunct="1">
              <a:spcBef>
                <a:spcPct val="20000"/>
              </a:spcBef>
            </a:pPr>
            <a:r>
              <a:rPr lang="en-US" altLang="en-US" sz="2400"/>
              <a:t>	S_ISSOCK( )	socket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dissolve">
                                      <p:cBhvr>
                                        <p:cTn id="12" dur="500"/>
                                        <p:tgtEl>
                                          <p:spTgt spid="1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dissolve">
                                      <p:cBhvr>
                                        <p:cTn id="17" dur="500"/>
                                        <p:tgtEl>
                                          <p:spTgt spid="1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dissolve">
                                      <p:cBhvr>
                                        <p:cTn id="22" dur="500"/>
                                        <p:tgtEl>
                                          <p:spTgt spid="1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dissolve">
                                      <p:cBhvr>
                                        <p:cTn id="27" dur="500"/>
                                        <p:tgtEl>
                                          <p:spTgt spid="1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
                                            <p:txEl>
                                              <p:pRg st="5" end="5"/>
                                            </p:txEl>
                                          </p:spTgt>
                                        </p:tgtEl>
                                        <p:attrNameLst>
                                          <p:attrName>style.visibility</p:attrName>
                                        </p:attrNameLst>
                                      </p:cBhvr>
                                      <p:to>
                                        <p:strVal val="visible"/>
                                      </p:to>
                                    </p:set>
                                    <p:animEffect transition="in" filter="dissolve">
                                      <p:cBhvr>
                                        <p:cTn id="32" dur="500"/>
                                        <p:tgtEl>
                                          <p:spTgt spid="10">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0">
                                            <p:txEl>
                                              <p:pRg st="6" end="6"/>
                                            </p:txEl>
                                          </p:spTgt>
                                        </p:tgtEl>
                                        <p:attrNameLst>
                                          <p:attrName>style.visibility</p:attrName>
                                        </p:attrNameLst>
                                      </p:cBhvr>
                                      <p:to>
                                        <p:strVal val="visible"/>
                                      </p:to>
                                    </p:set>
                                    <p:animEffect transition="in" filter="dissolve">
                                      <p:cBhvr>
                                        <p:cTn id="37" dur="500"/>
                                        <p:tgtEl>
                                          <p:spTgt spid="10">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0">
                                            <p:txEl>
                                              <p:pRg st="7" end="7"/>
                                            </p:txEl>
                                          </p:spTgt>
                                        </p:tgtEl>
                                        <p:attrNameLst>
                                          <p:attrName>style.visibility</p:attrName>
                                        </p:attrNameLst>
                                      </p:cBhvr>
                                      <p:to>
                                        <p:strVal val="visible"/>
                                      </p:to>
                                    </p:set>
                                    <p:animEffect transition="in" filter="dissolve">
                                      <p:cBhvr>
                                        <p:cTn id="42" dur="500"/>
                                        <p:tgtEl>
                                          <p:spTgt spid="10">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0">
                                            <p:txEl>
                                              <p:pRg st="8" end="8"/>
                                            </p:txEl>
                                          </p:spTgt>
                                        </p:tgtEl>
                                        <p:attrNameLst>
                                          <p:attrName>style.visibility</p:attrName>
                                        </p:attrNameLst>
                                      </p:cBhvr>
                                      <p:to>
                                        <p:strVal val="visible"/>
                                      </p:to>
                                    </p:set>
                                    <p:animEffect transition="in" filter="dissolve">
                                      <p:cBhvr>
                                        <p:cTn id="47" dur="500"/>
                                        <p:tgtEl>
                                          <p:spTgt spid="10">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0">
                                            <p:txEl>
                                              <p:pRg st="9" end="9"/>
                                            </p:txEl>
                                          </p:spTgt>
                                        </p:tgtEl>
                                        <p:attrNameLst>
                                          <p:attrName>style.visibility</p:attrName>
                                        </p:attrNameLst>
                                      </p:cBhvr>
                                      <p:to>
                                        <p:strVal val="visible"/>
                                      </p:to>
                                    </p:set>
                                    <p:animEffect transition="in" filter="dissolve">
                                      <p:cBhvr>
                                        <p:cTn id="52" dur="500"/>
                                        <p:tgtEl>
                                          <p:spTgt spid="10">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Box 4">
            <a:extLst>
              <a:ext uri="{FF2B5EF4-FFF2-40B4-BE49-F238E27FC236}">
                <a16:creationId xmlns:a16="http://schemas.microsoft.com/office/drawing/2014/main" id="{2AC4BBF6-DC7A-538A-9CC6-47D6330DECFA}"/>
              </a:ext>
            </a:extLst>
          </p:cNvPr>
          <p:cNvSpPr txBox="1">
            <a:spLocks noChangeArrowheads="1"/>
          </p:cNvSpPr>
          <p:nvPr/>
        </p:nvSpPr>
        <p:spPr bwMode="auto">
          <a:xfrm>
            <a:off x="381000" y="1524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4579" name="TextBox 5">
            <a:extLst>
              <a:ext uri="{FF2B5EF4-FFF2-40B4-BE49-F238E27FC236}">
                <a16:creationId xmlns:a16="http://schemas.microsoft.com/office/drawing/2014/main" id="{43651103-091F-8266-F4ED-4CFE40F2CE55}"/>
              </a:ext>
            </a:extLst>
          </p:cNvPr>
          <p:cNvSpPr txBox="1">
            <a:spLocks noChangeArrowheads="1"/>
          </p:cNvSpPr>
          <p:nvPr/>
        </p:nvSpPr>
        <p:spPr bwMode="auto">
          <a:xfrm>
            <a:off x="533400" y="3048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4580" name="TextBox 6">
            <a:extLst>
              <a:ext uri="{FF2B5EF4-FFF2-40B4-BE49-F238E27FC236}">
                <a16:creationId xmlns:a16="http://schemas.microsoft.com/office/drawing/2014/main" id="{D8F3C502-4B8F-4D53-A08D-AB39CED1D056}"/>
              </a:ext>
            </a:extLst>
          </p:cNvPr>
          <p:cNvSpPr txBox="1">
            <a:spLocks noChangeArrowheads="1"/>
          </p:cNvSpPr>
          <p:nvPr/>
        </p:nvSpPr>
        <p:spPr bwMode="auto">
          <a:xfrm>
            <a:off x="228600" y="304800"/>
            <a:ext cx="8686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3200">
                <a:solidFill>
                  <a:srgbClr val="0066FF"/>
                </a:solidFill>
              </a:rPr>
              <a:t>File types</a:t>
            </a:r>
          </a:p>
        </p:txBody>
      </p:sp>
      <p:sp>
        <p:nvSpPr>
          <p:cNvPr id="9" name="Rectangle 2">
            <a:extLst>
              <a:ext uri="{FF2B5EF4-FFF2-40B4-BE49-F238E27FC236}">
                <a16:creationId xmlns:a16="http://schemas.microsoft.com/office/drawing/2014/main" id="{BA97E9DC-B8AD-8A20-FAB8-091F7A78DCF0}"/>
              </a:ext>
            </a:extLst>
          </p:cNvPr>
          <p:cNvSpPr txBox="1">
            <a:spLocks noChangeArrowheads="1"/>
          </p:cNvSpPr>
          <p:nvPr/>
        </p:nvSpPr>
        <p:spPr>
          <a:xfrm>
            <a:off x="838200" y="419100"/>
            <a:ext cx="7778750" cy="1104900"/>
          </a:xfrm>
          <a:prstGeom prst="rect">
            <a:avLst/>
          </a:prstGeom>
          <a:noFill/>
          <a:ln/>
        </p:spPr>
        <p:txBody>
          <a:bodyPr/>
          <a:lstStyle/>
          <a:p>
            <a:pPr algn="ctr">
              <a:defRPr/>
            </a:pPr>
            <a:endParaRPr lang="en-US" sz="4400" kern="0" dirty="0">
              <a:solidFill>
                <a:schemeClr val="tx2"/>
              </a:solidFill>
              <a:latin typeface="+mj-lt"/>
              <a:ea typeface="+mj-ea"/>
              <a:cs typeface="+mj-cs"/>
            </a:endParaRPr>
          </a:p>
        </p:txBody>
      </p:sp>
      <p:sp>
        <p:nvSpPr>
          <p:cNvPr id="10" name="Rectangle 3">
            <a:extLst>
              <a:ext uri="{FF2B5EF4-FFF2-40B4-BE49-F238E27FC236}">
                <a16:creationId xmlns:a16="http://schemas.microsoft.com/office/drawing/2014/main" id="{F6597A86-1359-B071-8199-DA2F6FB939F8}"/>
              </a:ext>
            </a:extLst>
          </p:cNvPr>
          <p:cNvSpPr txBox="1">
            <a:spLocks noChangeArrowheads="1"/>
          </p:cNvSpPr>
          <p:nvPr/>
        </p:nvSpPr>
        <p:spPr>
          <a:xfrm>
            <a:off x="381000" y="914400"/>
            <a:ext cx="8534400" cy="5638800"/>
          </a:xfrm>
          <a:prstGeom prst="rect">
            <a:avLst/>
          </a:prstGeom>
          <a:noFill/>
          <a:ln/>
        </p:spPr>
        <p:txBody>
          <a:bodyPr/>
          <a:lstStyle>
            <a:lvl1pPr marL="342900" indent="-342900" eaLnBrk="0" hangingPunct="0">
              <a:defRPr>
                <a:solidFill>
                  <a:schemeClr val="tx1"/>
                </a:solidFill>
                <a:latin typeface="Arial" panose="020B0604020202020204" pitchFamily="34" charset="0"/>
              </a:defRPr>
            </a:lvl1pPr>
            <a:lvl2pPr marL="971550" indent="-514350" eaLnBrk="0" hangingPunct="0">
              <a:defRPr>
                <a:solidFill>
                  <a:schemeClr val="tx1"/>
                </a:solidFill>
                <a:latin typeface="Arial" panose="020B0604020202020204" pitchFamily="34" charset="0"/>
              </a:defRPr>
            </a:lvl2pPr>
            <a:lvl3pPr marL="1428750" indent="-51435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20000"/>
              </a:spcBef>
              <a:buFontTx/>
              <a:buChar char="•"/>
            </a:pPr>
            <a:r>
              <a:rPr lang="en-US" altLang="en-US" sz="2400"/>
              <a:t>We can determine the type of the IPC object with the macros by sending stat structure pointer as an argument</a:t>
            </a:r>
          </a:p>
          <a:p>
            <a:pPr algn="just" eaLnBrk="1" hangingPunct="1">
              <a:spcBef>
                <a:spcPct val="20000"/>
              </a:spcBef>
            </a:pPr>
            <a:r>
              <a:rPr lang="en-US" altLang="en-US" sz="2400"/>
              <a:t>	macro			type of object</a:t>
            </a:r>
          </a:p>
          <a:p>
            <a:pPr algn="just" eaLnBrk="1" hangingPunct="1">
              <a:spcBef>
                <a:spcPct val="20000"/>
              </a:spcBef>
            </a:pPr>
            <a:r>
              <a:rPr lang="en-US" altLang="en-US" sz="2400"/>
              <a:t>	S_TYPEISMQ( )		message queue</a:t>
            </a:r>
          </a:p>
          <a:p>
            <a:pPr algn="just" eaLnBrk="1" hangingPunct="1">
              <a:spcBef>
                <a:spcPct val="20000"/>
              </a:spcBef>
            </a:pPr>
            <a:r>
              <a:rPr lang="en-US" altLang="en-US" sz="2400"/>
              <a:t>	S_TYPEISSEM( ) 	Semaphore</a:t>
            </a:r>
          </a:p>
          <a:p>
            <a:pPr algn="just" eaLnBrk="1" hangingPunct="1">
              <a:spcBef>
                <a:spcPct val="20000"/>
              </a:spcBef>
            </a:pPr>
            <a:r>
              <a:rPr lang="en-US" altLang="en-US" sz="2400"/>
              <a:t>	S_TYPEISSHM( )	shared memory object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dissolve">
                                      <p:cBhvr>
                                        <p:cTn id="12" dur="500"/>
                                        <p:tgtEl>
                                          <p:spTgt spid="1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dissolve">
                                      <p:cBhvr>
                                        <p:cTn id="17" dur="500"/>
                                        <p:tgtEl>
                                          <p:spTgt spid="1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dissolve">
                                      <p:cBhvr>
                                        <p:cTn id="22" dur="500"/>
                                        <p:tgtEl>
                                          <p:spTgt spid="1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dissolve">
                                      <p:cBhvr>
                                        <p:cTn id="27"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4">
            <a:extLst>
              <a:ext uri="{FF2B5EF4-FFF2-40B4-BE49-F238E27FC236}">
                <a16:creationId xmlns:a16="http://schemas.microsoft.com/office/drawing/2014/main" id="{2B146371-4DF8-07DA-881C-9F8CD56871E4}"/>
              </a:ext>
            </a:extLst>
          </p:cNvPr>
          <p:cNvSpPr txBox="1">
            <a:spLocks noChangeArrowheads="1"/>
          </p:cNvSpPr>
          <p:nvPr/>
        </p:nvSpPr>
        <p:spPr bwMode="auto">
          <a:xfrm>
            <a:off x="381000" y="1524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5603" name="TextBox 5">
            <a:extLst>
              <a:ext uri="{FF2B5EF4-FFF2-40B4-BE49-F238E27FC236}">
                <a16:creationId xmlns:a16="http://schemas.microsoft.com/office/drawing/2014/main" id="{735C311A-615B-52DF-91AA-83B759D85F2F}"/>
              </a:ext>
            </a:extLst>
          </p:cNvPr>
          <p:cNvSpPr txBox="1">
            <a:spLocks noChangeArrowheads="1"/>
          </p:cNvSpPr>
          <p:nvPr/>
        </p:nvSpPr>
        <p:spPr bwMode="auto">
          <a:xfrm>
            <a:off x="533400" y="3048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5604" name="TextBox 6">
            <a:extLst>
              <a:ext uri="{FF2B5EF4-FFF2-40B4-BE49-F238E27FC236}">
                <a16:creationId xmlns:a16="http://schemas.microsoft.com/office/drawing/2014/main" id="{36D7B3DB-426E-7605-278E-FBB3F22DF8BC}"/>
              </a:ext>
            </a:extLst>
          </p:cNvPr>
          <p:cNvSpPr txBox="1">
            <a:spLocks noChangeArrowheads="1"/>
          </p:cNvSpPr>
          <p:nvPr/>
        </p:nvSpPr>
        <p:spPr bwMode="auto">
          <a:xfrm>
            <a:off x="228600" y="152400"/>
            <a:ext cx="8686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3200">
                <a:solidFill>
                  <a:srgbClr val="0066FF"/>
                </a:solidFill>
              </a:rPr>
              <a:t>File access permissions</a:t>
            </a:r>
          </a:p>
        </p:txBody>
      </p:sp>
      <p:sp>
        <p:nvSpPr>
          <p:cNvPr id="9" name="Rectangle 2">
            <a:extLst>
              <a:ext uri="{FF2B5EF4-FFF2-40B4-BE49-F238E27FC236}">
                <a16:creationId xmlns:a16="http://schemas.microsoft.com/office/drawing/2014/main" id="{77461BB6-ABE8-7752-65A6-232598E12718}"/>
              </a:ext>
            </a:extLst>
          </p:cNvPr>
          <p:cNvSpPr txBox="1">
            <a:spLocks noChangeArrowheads="1"/>
          </p:cNvSpPr>
          <p:nvPr/>
        </p:nvSpPr>
        <p:spPr>
          <a:xfrm>
            <a:off x="838200" y="419100"/>
            <a:ext cx="7778750" cy="1104900"/>
          </a:xfrm>
          <a:prstGeom prst="rect">
            <a:avLst/>
          </a:prstGeom>
          <a:noFill/>
          <a:ln/>
        </p:spPr>
        <p:txBody>
          <a:bodyPr/>
          <a:lstStyle/>
          <a:p>
            <a:pPr algn="ctr">
              <a:defRPr/>
            </a:pPr>
            <a:endParaRPr lang="en-US" sz="4400" kern="0" dirty="0">
              <a:solidFill>
                <a:schemeClr val="tx2"/>
              </a:solidFill>
              <a:latin typeface="+mj-lt"/>
              <a:ea typeface="+mj-ea"/>
              <a:cs typeface="+mj-cs"/>
            </a:endParaRPr>
          </a:p>
        </p:txBody>
      </p:sp>
      <p:sp>
        <p:nvSpPr>
          <p:cNvPr id="10" name="Rectangle 3">
            <a:extLst>
              <a:ext uri="{FF2B5EF4-FFF2-40B4-BE49-F238E27FC236}">
                <a16:creationId xmlns:a16="http://schemas.microsoft.com/office/drawing/2014/main" id="{36C9566E-C2D7-EC81-CB60-69E86237681E}"/>
              </a:ext>
            </a:extLst>
          </p:cNvPr>
          <p:cNvSpPr txBox="1">
            <a:spLocks noChangeArrowheads="1"/>
          </p:cNvSpPr>
          <p:nvPr/>
        </p:nvSpPr>
        <p:spPr>
          <a:xfrm>
            <a:off x="381000" y="762000"/>
            <a:ext cx="8534400" cy="5791200"/>
          </a:xfrm>
          <a:prstGeom prst="rect">
            <a:avLst/>
          </a:prstGeom>
          <a:noFill/>
          <a:ln/>
        </p:spPr>
        <p:txBody>
          <a:bodyPr/>
          <a:lstStyle>
            <a:lvl1pPr marL="342900" indent="-342900" eaLnBrk="0" hangingPunct="0">
              <a:defRPr>
                <a:solidFill>
                  <a:schemeClr val="tx1"/>
                </a:solidFill>
                <a:latin typeface="Arial" panose="020B0604020202020204" pitchFamily="34" charset="0"/>
              </a:defRPr>
            </a:lvl1pPr>
            <a:lvl2pPr marL="971550" indent="-514350" eaLnBrk="0" hangingPunct="0">
              <a:defRPr>
                <a:solidFill>
                  <a:schemeClr val="tx1"/>
                </a:solidFill>
                <a:latin typeface="Arial" panose="020B0604020202020204" pitchFamily="34" charset="0"/>
              </a:defRPr>
            </a:lvl2pPr>
            <a:lvl3pPr marL="1428750" indent="-51435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20000"/>
              </a:spcBef>
              <a:buFontTx/>
              <a:buChar char="•"/>
            </a:pPr>
            <a:r>
              <a:rPr lang="en-US" altLang="en-US" sz="2400"/>
              <a:t>st_mode value also contains the access permission bits for the file</a:t>
            </a:r>
          </a:p>
          <a:p>
            <a:pPr algn="just" eaLnBrk="1" hangingPunct="1">
              <a:spcBef>
                <a:spcPct val="20000"/>
              </a:spcBef>
              <a:buFontTx/>
              <a:buChar char="•"/>
            </a:pPr>
            <a:r>
              <a:rPr lang="en-US" altLang="en-US" sz="2400"/>
              <a:t>There are 9 permission bits for each file, divided into 3 categories</a:t>
            </a:r>
          </a:p>
          <a:p>
            <a:pPr algn="just" eaLnBrk="1" hangingPunct="1">
              <a:spcBef>
                <a:spcPct val="20000"/>
              </a:spcBef>
            </a:pPr>
            <a:r>
              <a:rPr lang="en-US" altLang="en-US" sz="2400"/>
              <a:t>	st_mode mask		meaning</a:t>
            </a:r>
          </a:p>
          <a:p>
            <a:pPr algn="just" eaLnBrk="1" hangingPunct="1">
              <a:spcBef>
                <a:spcPct val="20000"/>
              </a:spcBef>
            </a:pPr>
            <a:r>
              <a:rPr lang="en-US" altLang="en-US" sz="2400"/>
              <a:t>	S_IRUSR			Owner-read</a:t>
            </a:r>
          </a:p>
          <a:p>
            <a:pPr algn="just" eaLnBrk="1" hangingPunct="1">
              <a:spcBef>
                <a:spcPct val="20000"/>
              </a:spcBef>
            </a:pPr>
            <a:r>
              <a:rPr lang="en-US" altLang="en-US" sz="2400"/>
              <a:t>	S_IWUSR			Owner-write</a:t>
            </a:r>
          </a:p>
          <a:p>
            <a:pPr algn="just" eaLnBrk="1" hangingPunct="1">
              <a:spcBef>
                <a:spcPct val="20000"/>
              </a:spcBef>
            </a:pPr>
            <a:r>
              <a:rPr lang="en-US" altLang="en-US" sz="2400"/>
              <a:t>	S_IXUSR			Owner-execute</a:t>
            </a:r>
          </a:p>
          <a:p>
            <a:pPr algn="just" eaLnBrk="1" hangingPunct="1">
              <a:spcBef>
                <a:spcPct val="20000"/>
              </a:spcBef>
            </a:pPr>
            <a:r>
              <a:rPr lang="en-US" altLang="en-US" sz="2400"/>
              <a:t>	S_IRGRP			group-read</a:t>
            </a:r>
          </a:p>
          <a:p>
            <a:pPr algn="just" eaLnBrk="1" hangingPunct="1">
              <a:spcBef>
                <a:spcPct val="20000"/>
              </a:spcBef>
            </a:pPr>
            <a:r>
              <a:rPr lang="en-US" altLang="en-US" sz="2400"/>
              <a:t>	S_IWGRP			group-write</a:t>
            </a:r>
          </a:p>
          <a:p>
            <a:pPr algn="just" eaLnBrk="1" hangingPunct="1">
              <a:spcBef>
                <a:spcPct val="20000"/>
              </a:spcBef>
            </a:pPr>
            <a:r>
              <a:rPr lang="en-US" altLang="en-US" sz="2400"/>
              <a:t>	S_IXGRP			group-execute</a:t>
            </a:r>
          </a:p>
          <a:p>
            <a:pPr algn="just" eaLnBrk="1" hangingPunct="1">
              <a:spcBef>
                <a:spcPct val="20000"/>
              </a:spcBef>
            </a:pPr>
            <a:r>
              <a:rPr lang="en-US" altLang="en-US" sz="2400"/>
              <a:t>	S_IROTH			other-read</a:t>
            </a:r>
          </a:p>
          <a:p>
            <a:pPr algn="just" eaLnBrk="1" hangingPunct="1">
              <a:spcBef>
                <a:spcPct val="20000"/>
              </a:spcBef>
            </a:pPr>
            <a:r>
              <a:rPr lang="en-US" altLang="en-US" sz="2400"/>
              <a:t>	S_IWOTH			other-write</a:t>
            </a:r>
          </a:p>
          <a:p>
            <a:pPr algn="just" eaLnBrk="1" hangingPunct="1">
              <a:spcBef>
                <a:spcPct val="20000"/>
              </a:spcBef>
            </a:pPr>
            <a:r>
              <a:rPr lang="en-US" altLang="en-US" sz="2400"/>
              <a:t>	S_IXOTH			other-execute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dissolve">
                                      <p:cBhvr>
                                        <p:cTn id="12" dur="500"/>
                                        <p:tgtEl>
                                          <p:spTgt spid="1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dissolve">
                                      <p:cBhvr>
                                        <p:cTn id="17" dur="500"/>
                                        <p:tgtEl>
                                          <p:spTgt spid="1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dissolve">
                                      <p:cBhvr>
                                        <p:cTn id="22" dur="500"/>
                                        <p:tgtEl>
                                          <p:spTgt spid="1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dissolve">
                                      <p:cBhvr>
                                        <p:cTn id="27" dur="500"/>
                                        <p:tgtEl>
                                          <p:spTgt spid="1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
                                            <p:txEl>
                                              <p:pRg st="5" end="5"/>
                                            </p:txEl>
                                          </p:spTgt>
                                        </p:tgtEl>
                                        <p:attrNameLst>
                                          <p:attrName>style.visibility</p:attrName>
                                        </p:attrNameLst>
                                      </p:cBhvr>
                                      <p:to>
                                        <p:strVal val="visible"/>
                                      </p:to>
                                    </p:set>
                                    <p:animEffect transition="in" filter="dissolve">
                                      <p:cBhvr>
                                        <p:cTn id="32" dur="500"/>
                                        <p:tgtEl>
                                          <p:spTgt spid="10">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0">
                                            <p:txEl>
                                              <p:pRg st="6" end="6"/>
                                            </p:txEl>
                                          </p:spTgt>
                                        </p:tgtEl>
                                        <p:attrNameLst>
                                          <p:attrName>style.visibility</p:attrName>
                                        </p:attrNameLst>
                                      </p:cBhvr>
                                      <p:to>
                                        <p:strVal val="visible"/>
                                      </p:to>
                                    </p:set>
                                    <p:animEffect transition="in" filter="dissolve">
                                      <p:cBhvr>
                                        <p:cTn id="37" dur="500"/>
                                        <p:tgtEl>
                                          <p:spTgt spid="10">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0">
                                            <p:txEl>
                                              <p:pRg st="7" end="7"/>
                                            </p:txEl>
                                          </p:spTgt>
                                        </p:tgtEl>
                                        <p:attrNameLst>
                                          <p:attrName>style.visibility</p:attrName>
                                        </p:attrNameLst>
                                      </p:cBhvr>
                                      <p:to>
                                        <p:strVal val="visible"/>
                                      </p:to>
                                    </p:set>
                                    <p:animEffect transition="in" filter="dissolve">
                                      <p:cBhvr>
                                        <p:cTn id="42" dur="500"/>
                                        <p:tgtEl>
                                          <p:spTgt spid="10">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0">
                                            <p:txEl>
                                              <p:pRg st="8" end="8"/>
                                            </p:txEl>
                                          </p:spTgt>
                                        </p:tgtEl>
                                        <p:attrNameLst>
                                          <p:attrName>style.visibility</p:attrName>
                                        </p:attrNameLst>
                                      </p:cBhvr>
                                      <p:to>
                                        <p:strVal val="visible"/>
                                      </p:to>
                                    </p:set>
                                    <p:animEffect transition="in" filter="dissolve">
                                      <p:cBhvr>
                                        <p:cTn id="47" dur="500"/>
                                        <p:tgtEl>
                                          <p:spTgt spid="10">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0">
                                            <p:txEl>
                                              <p:pRg st="9" end="9"/>
                                            </p:txEl>
                                          </p:spTgt>
                                        </p:tgtEl>
                                        <p:attrNameLst>
                                          <p:attrName>style.visibility</p:attrName>
                                        </p:attrNameLst>
                                      </p:cBhvr>
                                      <p:to>
                                        <p:strVal val="visible"/>
                                      </p:to>
                                    </p:set>
                                    <p:animEffect transition="in" filter="dissolve">
                                      <p:cBhvr>
                                        <p:cTn id="52" dur="500"/>
                                        <p:tgtEl>
                                          <p:spTgt spid="10">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0">
                                            <p:txEl>
                                              <p:pRg st="10" end="10"/>
                                            </p:txEl>
                                          </p:spTgt>
                                        </p:tgtEl>
                                        <p:attrNameLst>
                                          <p:attrName>style.visibility</p:attrName>
                                        </p:attrNameLst>
                                      </p:cBhvr>
                                      <p:to>
                                        <p:strVal val="visible"/>
                                      </p:to>
                                    </p:set>
                                    <p:animEffect transition="in" filter="dissolve">
                                      <p:cBhvr>
                                        <p:cTn id="57" dur="500"/>
                                        <p:tgtEl>
                                          <p:spTgt spid="10">
                                            <p:txEl>
                                              <p:pRg st="10" end="1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10">
                                            <p:txEl>
                                              <p:pRg st="11" end="11"/>
                                            </p:txEl>
                                          </p:spTgt>
                                        </p:tgtEl>
                                        <p:attrNameLst>
                                          <p:attrName>style.visibility</p:attrName>
                                        </p:attrNameLst>
                                      </p:cBhvr>
                                      <p:to>
                                        <p:strVal val="visible"/>
                                      </p:to>
                                    </p:set>
                                    <p:animEffect transition="in" filter="dissolve">
                                      <p:cBhvr>
                                        <p:cTn id="62" dur="500"/>
                                        <p:tgtEl>
                                          <p:spTgt spid="10">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4C003F89-C440-FAC8-3DC1-1D6B9B3BD4AE}"/>
              </a:ext>
            </a:extLst>
          </p:cNvPr>
          <p:cNvSpPr txBox="1">
            <a:spLocks noChangeArrowheads="1"/>
          </p:cNvSpPr>
          <p:nvPr/>
        </p:nvSpPr>
        <p:spPr>
          <a:xfrm>
            <a:off x="609600" y="152400"/>
            <a:ext cx="7772400" cy="4114800"/>
          </a:xfrm>
          <a:prstGeom prst="rect">
            <a:avLst/>
          </a:prstGeom>
          <a:noFill/>
          <a:ln/>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20000"/>
              </a:spcBef>
              <a:buFontTx/>
              <a:buChar char="•"/>
            </a:pPr>
            <a:r>
              <a:rPr lang="en-US" altLang="en-US" sz="2700">
                <a:latin typeface="Times New Roman" panose="02020603050405020304" pitchFamily="18" charset="0"/>
              </a:rPr>
              <a:t>Whenever we want </a:t>
            </a:r>
            <a:r>
              <a:rPr lang="en-US" altLang="en-US" sz="2700">
                <a:solidFill>
                  <a:srgbClr val="0066FF"/>
                </a:solidFill>
                <a:latin typeface="Times New Roman" panose="02020603050405020304" pitchFamily="18" charset="0"/>
              </a:rPr>
              <a:t>to open any type of file by name</a:t>
            </a:r>
            <a:r>
              <a:rPr lang="en-US" altLang="en-US" sz="2700">
                <a:latin typeface="Times New Roman" panose="02020603050405020304" pitchFamily="18" charset="0"/>
              </a:rPr>
              <a:t>, we must have </a:t>
            </a:r>
            <a:r>
              <a:rPr lang="en-US" altLang="en-US" sz="2700">
                <a:solidFill>
                  <a:srgbClr val="0066FF"/>
                </a:solidFill>
                <a:latin typeface="Times New Roman" panose="02020603050405020304" pitchFamily="18" charset="0"/>
              </a:rPr>
              <a:t>execute permissions in each directory mentioned in the name</a:t>
            </a:r>
            <a:r>
              <a:rPr lang="en-US" altLang="en-US" sz="2700">
                <a:latin typeface="Times New Roman" panose="02020603050405020304" pitchFamily="18" charset="0"/>
              </a:rPr>
              <a:t> including the current working directory.</a:t>
            </a:r>
          </a:p>
          <a:p>
            <a:pPr algn="just" eaLnBrk="1" hangingPunct="1">
              <a:spcBef>
                <a:spcPct val="20000"/>
              </a:spcBef>
              <a:buFontTx/>
              <a:buChar char="•"/>
            </a:pPr>
            <a:r>
              <a:rPr lang="en-US" altLang="en-US" sz="2700">
                <a:solidFill>
                  <a:srgbClr val="0066FF"/>
                </a:solidFill>
                <a:latin typeface="Times New Roman" panose="02020603050405020304" pitchFamily="18" charset="0"/>
              </a:rPr>
              <a:t>Read </a:t>
            </a:r>
            <a:r>
              <a:rPr lang="en-US" altLang="en-US" sz="2700">
                <a:latin typeface="Times New Roman" panose="02020603050405020304" pitchFamily="18" charset="0"/>
              </a:rPr>
              <a:t>permission for a </a:t>
            </a:r>
            <a:r>
              <a:rPr lang="en-US" altLang="en-US" sz="2700">
                <a:solidFill>
                  <a:srgbClr val="0066FF"/>
                </a:solidFill>
                <a:latin typeface="Times New Roman" panose="02020603050405020304" pitchFamily="18" charset="0"/>
              </a:rPr>
              <a:t>directory</a:t>
            </a:r>
            <a:r>
              <a:rPr lang="en-US" altLang="en-US" sz="2700">
                <a:latin typeface="Times New Roman" panose="02020603050405020304" pitchFamily="18" charset="0"/>
              </a:rPr>
              <a:t> is used to obtain the </a:t>
            </a:r>
            <a:r>
              <a:rPr lang="en-US" altLang="en-US" sz="2700">
                <a:solidFill>
                  <a:srgbClr val="0066FF"/>
                </a:solidFill>
                <a:latin typeface="Times New Roman" panose="02020603050405020304" pitchFamily="18" charset="0"/>
              </a:rPr>
              <a:t>list</a:t>
            </a:r>
            <a:r>
              <a:rPr lang="en-US" altLang="en-US" sz="2700">
                <a:latin typeface="Times New Roman" panose="02020603050405020304" pitchFamily="18" charset="0"/>
              </a:rPr>
              <a:t> of all the file names in the directory</a:t>
            </a:r>
          </a:p>
          <a:p>
            <a:pPr algn="just" eaLnBrk="1" hangingPunct="1">
              <a:spcBef>
                <a:spcPct val="20000"/>
              </a:spcBef>
              <a:buFontTx/>
              <a:buChar char="•"/>
            </a:pPr>
            <a:r>
              <a:rPr lang="en-US" altLang="en-US" sz="2700">
                <a:latin typeface="Times New Roman" panose="02020603050405020304" pitchFamily="18" charset="0"/>
              </a:rPr>
              <a:t>The </a:t>
            </a:r>
            <a:r>
              <a:rPr lang="en-US" altLang="en-US" sz="2700">
                <a:solidFill>
                  <a:srgbClr val="0066FF"/>
                </a:solidFill>
                <a:latin typeface="Times New Roman" panose="02020603050405020304" pitchFamily="18" charset="0"/>
              </a:rPr>
              <a:t>read permission for a file</a:t>
            </a:r>
            <a:r>
              <a:rPr lang="en-US" altLang="en-US" sz="2700">
                <a:latin typeface="Times New Roman" panose="02020603050405020304" pitchFamily="18" charset="0"/>
              </a:rPr>
              <a:t> determines we can open an existing file for </a:t>
            </a:r>
            <a:r>
              <a:rPr lang="en-US" altLang="en-US" sz="2700">
                <a:solidFill>
                  <a:srgbClr val="0066FF"/>
                </a:solidFill>
                <a:latin typeface="Times New Roman" panose="02020603050405020304" pitchFamily="18" charset="0"/>
              </a:rPr>
              <a:t>reading</a:t>
            </a:r>
            <a:r>
              <a:rPr lang="en-US" altLang="en-US" sz="2700">
                <a:latin typeface="Times New Roman" panose="02020603050405020304" pitchFamily="18" charset="0"/>
              </a:rPr>
              <a:t>: the </a:t>
            </a:r>
            <a:r>
              <a:rPr lang="en-US" altLang="en-US" sz="2700">
                <a:solidFill>
                  <a:srgbClr val="0066FF"/>
                </a:solidFill>
                <a:latin typeface="Times New Roman" panose="02020603050405020304" pitchFamily="18" charset="0"/>
              </a:rPr>
              <a:t>O_RDONLY </a:t>
            </a:r>
            <a:r>
              <a:rPr lang="en-US" altLang="en-US" sz="2700">
                <a:latin typeface="Times New Roman" panose="02020603050405020304" pitchFamily="18" charset="0"/>
              </a:rPr>
              <a:t>and </a:t>
            </a:r>
            <a:r>
              <a:rPr lang="en-US" altLang="en-US" sz="2700">
                <a:solidFill>
                  <a:srgbClr val="0066FF"/>
                </a:solidFill>
                <a:latin typeface="Times New Roman" panose="02020603050405020304" pitchFamily="18" charset="0"/>
              </a:rPr>
              <a:t>O_RDWR</a:t>
            </a:r>
            <a:r>
              <a:rPr lang="en-US" altLang="en-US" sz="2700">
                <a:latin typeface="Times New Roman" panose="02020603050405020304" pitchFamily="18" charset="0"/>
              </a:rPr>
              <a:t> flags for the open function</a:t>
            </a:r>
          </a:p>
          <a:p>
            <a:pPr algn="just" eaLnBrk="1" hangingPunct="1">
              <a:spcBef>
                <a:spcPct val="20000"/>
              </a:spcBef>
              <a:buFontTx/>
              <a:buChar char="•"/>
            </a:pPr>
            <a:r>
              <a:rPr lang="en-US" altLang="en-US" sz="2700">
                <a:latin typeface="Times New Roman" panose="02020603050405020304" pitchFamily="18" charset="0"/>
              </a:rPr>
              <a:t>The </a:t>
            </a:r>
            <a:r>
              <a:rPr lang="en-US" altLang="en-US" sz="2700">
                <a:solidFill>
                  <a:srgbClr val="0066FF"/>
                </a:solidFill>
                <a:latin typeface="Times New Roman" panose="02020603050405020304" pitchFamily="18" charset="0"/>
              </a:rPr>
              <a:t>write permission for a file</a:t>
            </a:r>
            <a:r>
              <a:rPr lang="en-US" altLang="en-US" sz="2700">
                <a:latin typeface="Times New Roman" panose="02020603050405020304" pitchFamily="18" charset="0"/>
              </a:rPr>
              <a:t> determines we can open an existing file for </a:t>
            </a:r>
            <a:r>
              <a:rPr lang="en-US" altLang="en-US" sz="2700">
                <a:solidFill>
                  <a:srgbClr val="0066FF"/>
                </a:solidFill>
                <a:latin typeface="Times New Roman" panose="02020603050405020304" pitchFamily="18" charset="0"/>
              </a:rPr>
              <a:t>writing</a:t>
            </a:r>
            <a:r>
              <a:rPr lang="en-US" altLang="en-US" sz="2700">
                <a:latin typeface="Times New Roman" panose="02020603050405020304" pitchFamily="18" charset="0"/>
              </a:rPr>
              <a:t>: the </a:t>
            </a:r>
            <a:r>
              <a:rPr lang="en-US" altLang="en-US" sz="2700">
                <a:solidFill>
                  <a:srgbClr val="0066FF"/>
                </a:solidFill>
                <a:latin typeface="Times New Roman" panose="02020603050405020304" pitchFamily="18" charset="0"/>
              </a:rPr>
              <a:t>O_WRONLY</a:t>
            </a:r>
            <a:r>
              <a:rPr lang="en-US" altLang="en-US" sz="2700">
                <a:latin typeface="Times New Roman" panose="02020603050405020304" pitchFamily="18" charset="0"/>
              </a:rPr>
              <a:t> and </a:t>
            </a:r>
            <a:r>
              <a:rPr lang="en-US" altLang="en-US" sz="2700">
                <a:solidFill>
                  <a:srgbClr val="0066FF"/>
                </a:solidFill>
                <a:latin typeface="Times New Roman" panose="02020603050405020304" pitchFamily="18" charset="0"/>
              </a:rPr>
              <a:t>O_RDWR</a:t>
            </a:r>
            <a:r>
              <a:rPr lang="en-US" altLang="en-US" sz="2700">
                <a:latin typeface="Times New Roman" panose="02020603050405020304" pitchFamily="18" charset="0"/>
              </a:rPr>
              <a:t> flags for the open function</a:t>
            </a:r>
          </a:p>
          <a:p>
            <a:pPr algn="just" eaLnBrk="1" hangingPunct="1">
              <a:spcBef>
                <a:spcPct val="20000"/>
              </a:spcBef>
              <a:buFontTx/>
              <a:buChar char="•"/>
            </a:pPr>
            <a:r>
              <a:rPr lang="en-US" altLang="en-US" sz="2700">
                <a:latin typeface="Times New Roman" panose="02020603050405020304" pitchFamily="18" charset="0"/>
              </a:rPr>
              <a:t>We must have </a:t>
            </a:r>
            <a:r>
              <a:rPr lang="en-US" altLang="en-US" sz="2700">
                <a:solidFill>
                  <a:srgbClr val="0066FF"/>
                </a:solidFill>
                <a:latin typeface="Times New Roman" panose="02020603050405020304" pitchFamily="18" charset="0"/>
              </a:rPr>
              <a:t>write permission for a file</a:t>
            </a:r>
            <a:r>
              <a:rPr lang="en-US" altLang="en-US" sz="2700">
                <a:latin typeface="Times New Roman" panose="02020603050405020304" pitchFamily="18" charset="0"/>
              </a:rPr>
              <a:t> to specify the </a:t>
            </a:r>
            <a:r>
              <a:rPr lang="en-US" altLang="en-US" sz="2700">
                <a:solidFill>
                  <a:srgbClr val="0066FF"/>
                </a:solidFill>
                <a:latin typeface="Times New Roman" panose="02020603050405020304" pitchFamily="18" charset="0"/>
              </a:rPr>
              <a:t>O_TRUNC</a:t>
            </a:r>
            <a:r>
              <a:rPr lang="en-US" altLang="en-US" sz="2700">
                <a:latin typeface="Times New Roman" panose="02020603050405020304" pitchFamily="18" charset="0"/>
              </a:rPr>
              <a:t> flag in the open function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0368035-12D0-8445-77C6-C0BD22586A2E}"/>
              </a:ext>
            </a:extLst>
          </p:cNvPr>
          <p:cNvSpPr txBox="1">
            <a:spLocks noChangeArrowheads="1"/>
          </p:cNvSpPr>
          <p:nvPr/>
        </p:nvSpPr>
        <p:spPr>
          <a:xfrm>
            <a:off x="609600" y="152400"/>
            <a:ext cx="7772400" cy="4114800"/>
          </a:xfrm>
          <a:prstGeom prst="rect">
            <a:avLst/>
          </a:prstGeom>
          <a:noFill/>
          <a:ln/>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20000"/>
              </a:spcBef>
              <a:buFontTx/>
              <a:buChar char="•"/>
            </a:pPr>
            <a:r>
              <a:rPr lang="en-US" altLang="en-US" sz="2800"/>
              <a:t>We </a:t>
            </a:r>
            <a:r>
              <a:rPr lang="en-US" altLang="en-US" sz="2800">
                <a:solidFill>
                  <a:srgbClr val="0066FF"/>
                </a:solidFill>
              </a:rPr>
              <a:t>cannot create a new file</a:t>
            </a:r>
            <a:r>
              <a:rPr lang="en-US" altLang="en-US" sz="2800"/>
              <a:t> in a directory unless we have </a:t>
            </a:r>
            <a:r>
              <a:rPr lang="en-US" altLang="en-US" sz="2800">
                <a:solidFill>
                  <a:srgbClr val="0066FF"/>
                </a:solidFill>
              </a:rPr>
              <a:t>write permission and execute permission in the directory</a:t>
            </a:r>
          </a:p>
          <a:p>
            <a:pPr algn="just" eaLnBrk="1" hangingPunct="1">
              <a:spcBef>
                <a:spcPct val="20000"/>
              </a:spcBef>
              <a:buFontTx/>
              <a:buChar char="•"/>
            </a:pPr>
            <a:r>
              <a:rPr lang="en-US" altLang="en-US" sz="2800"/>
              <a:t>To </a:t>
            </a:r>
            <a:r>
              <a:rPr lang="en-US" altLang="en-US" sz="2800">
                <a:solidFill>
                  <a:srgbClr val="0066FF"/>
                </a:solidFill>
              </a:rPr>
              <a:t>delete an existing file</a:t>
            </a:r>
            <a:r>
              <a:rPr lang="en-US" altLang="en-US" sz="2800"/>
              <a:t>, we need </a:t>
            </a:r>
            <a:r>
              <a:rPr lang="en-US" altLang="en-US" sz="2800">
                <a:solidFill>
                  <a:srgbClr val="0066FF"/>
                </a:solidFill>
              </a:rPr>
              <a:t>write permission and execute permission in the directory containing the file</a:t>
            </a:r>
            <a:r>
              <a:rPr lang="en-US" altLang="en-US" sz="2800"/>
              <a:t>. We </a:t>
            </a:r>
            <a:r>
              <a:rPr lang="en-US" altLang="en-US" sz="2800">
                <a:solidFill>
                  <a:srgbClr val="0066FF"/>
                </a:solidFill>
              </a:rPr>
              <a:t>do not need read and write permission for the file itself</a:t>
            </a:r>
          </a:p>
          <a:p>
            <a:pPr algn="just" eaLnBrk="1" hangingPunct="1">
              <a:spcBef>
                <a:spcPct val="20000"/>
              </a:spcBef>
              <a:buFontTx/>
              <a:buChar char="•"/>
            </a:pPr>
            <a:r>
              <a:rPr lang="en-US" altLang="en-US" sz="2800">
                <a:solidFill>
                  <a:srgbClr val="0066FF"/>
                </a:solidFill>
              </a:rPr>
              <a:t>Execute permission for a file</a:t>
            </a:r>
            <a:r>
              <a:rPr lang="en-US" altLang="en-US" sz="2800"/>
              <a:t> must be on if we want to </a:t>
            </a:r>
            <a:r>
              <a:rPr lang="en-US" altLang="en-US" sz="2800">
                <a:solidFill>
                  <a:srgbClr val="0066FF"/>
                </a:solidFill>
              </a:rPr>
              <a:t>execute</a:t>
            </a:r>
            <a:r>
              <a:rPr lang="en-US" altLang="en-US" sz="2800"/>
              <a:t> the file using any of the </a:t>
            </a:r>
            <a:r>
              <a:rPr lang="en-US" altLang="en-US" sz="2800">
                <a:solidFill>
                  <a:srgbClr val="0066FF"/>
                </a:solidFill>
              </a:rPr>
              <a:t>six exec functions</a:t>
            </a:r>
            <a:r>
              <a:rPr lang="en-US" altLang="en-US" sz="2800"/>
              <a:t> and the file also has to be </a:t>
            </a:r>
            <a:r>
              <a:rPr lang="en-US" altLang="en-US" sz="2800">
                <a:solidFill>
                  <a:srgbClr val="0066FF"/>
                </a:solidFill>
              </a:rPr>
              <a:t>regular file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Box 4">
            <a:extLst>
              <a:ext uri="{FF2B5EF4-FFF2-40B4-BE49-F238E27FC236}">
                <a16:creationId xmlns:a16="http://schemas.microsoft.com/office/drawing/2014/main" id="{C09FAA64-B050-E97B-6F4E-2153B53083A1}"/>
              </a:ext>
            </a:extLst>
          </p:cNvPr>
          <p:cNvSpPr txBox="1">
            <a:spLocks noChangeArrowheads="1"/>
          </p:cNvSpPr>
          <p:nvPr/>
        </p:nvSpPr>
        <p:spPr bwMode="auto">
          <a:xfrm>
            <a:off x="381000" y="1524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9699" name="TextBox 5">
            <a:extLst>
              <a:ext uri="{FF2B5EF4-FFF2-40B4-BE49-F238E27FC236}">
                <a16:creationId xmlns:a16="http://schemas.microsoft.com/office/drawing/2014/main" id="{A083F765-0450-ADEA-9AB9-AA6E6DA2F36D}"/>
              </a:ext>
            </a:extLst>
          </p:cNvPr>
          <p:cNvSpPr txBox="1">
            <a:spLocks noChangeArrowheads="1"/>
          </p:cNvSpPr>
          <p:nvPr/>
        </p:nvSpPr>
        <p:spPr bwMode="auto">
          <a:xfrm>
            <a:off x="533400" y="3048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9700" name="TextBox 6">
            <a:extLst>
              <a:ext uri="{FF2B5EF4-FFF2-40B4-BE49-F238E27FC236}">
                <a16:creationId xmlns:a16="http://schemas.microsoft.com/office/drawing/2014/main" id="{698F0A13-16DF-6BB0-4741-B10F62A8B1FC}"/>
              </a:ext>
            </a:extLst>
          </p:cNvPr>
          <p:cNvSpPr txBox="1">
            <a:spLocks noChangeArrowheads="1"/>
          </p:cNvSpPr>
          <p:nvPr/>
        </p:nvSpPr>
        <p:spPr bwMode="auto">
          <a:xfrm>
            <a:off x="228600" y="0"/>
            <a:ext cx="8686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3200">
                <a:solidFill>
                  <a:srgbClr val="0066FF"/>
                </a:solidFill>
              </a:rPr>
              <a:t>umask function</a:t>
            </a:r>
          </a:p>
        </p:txBody>
      </p:sp>
      <p:sp>
        <p:nvSpPr>
          <p:cNvPr id="9" name="Rectangle 2">
            <a:extLst>
              <a:ext uri="{FF2B5EF4-FFF2-40B4-BE49-F238E27FC236}">
                <a16:creationId xmlns:a16="http://schemas.microsoft.com/office/drawing/2014/main" id="{3D802E14-41CB-4C75-47E1-52976C6E414C}"/>
              </a:ext>
            </a:extLst>
          </p:cNvPr>
          <p:cNvSpPr txBox="1">
            <a:spLocks noChangeArrowheads="1"/>
          </p:cNvSpPr>
          <p:nvPr/>
        </p:nvSpPr>
        <p:spPr>
          <a:xfrm>
            <a:off x="838200" y="419100"/>
            <a:ext cx="7778750" cy="1104900"/>
          </a:xfrm>
          <a:prstGeom prst="rect">
            <a:avLst/>
          </a:prstGeom>
          <a:noFill/>
          <a:ln/>
        </p:spPr>
        <p:txBody>
          <a:bodyPr/>
          <a:lstStyle/>
          <a:p>
            <a:pPr algn="ctr">
              <a:defRPr/>
            </a:pPr>
            <a:endParaRPr lang="en-US" sz="4400" kern="0" dirty="0">
              <a:solidFill>
                <a:schemeClr val="tx2"/>
              </a:solidFill>
              <a:latin typeface="+mj-lt"/>
              <a:ea typeface="+mj-ea"/>
              <a:cs typeface="+mj-cs"/>
            </a:endParaRPr>
          </a:p>
        </p:txBody>
      </p:sp>
      <p:sp>
        <p:nvSpPr>
          <p:cNvPr id="10" name="Rectangle 3">
            <a:extLst>
              <a:ext uri="{FF2B5EF4-FFF2-40B4-BE49-F238E27FC236}">
                <a16:creationId xmlns:a16="http://schemas.microsoft.com/office/drawing/2014/main" id="{72484BE2-BF20-72FC-54D1-281259A365CA}"/>
              </a:ext>
            </a:extLst>
          </p:cNvPr>
          <p:cNvSpPr txBox="1">
            <a:spLocks noChangeArrowheads="1"/>
          </p:cNvSpPr>
          <p:nvPr/>
        </p:nvSpPr>
        <p:spPr>
          <a:xfrm>
            <a:off x="228600" y="533400"/>
            <a:ext cx="8915400" cy="6019800"/>
          </a:xfrm>
          <a:prstGeom prst="rect">
            <a:avLst/>
          </a:prstGeom>
          <a:noFill/>
          <a:ln/>
        </p:spPr>
        <p:txBody>
          <a:bodyPr/>
          <a:lstStyle>
            <a:lvl1pPr marL="342900" indent="-342900" eaLnBrk="0" hangingPunct="0">
              <a:defRPr>
                <a:solidFill>
                  <a:schemeClr val="tx1"/>
                </a:solidFill>
                <a:latin typeface="Arial" panose="020B0604020202020204" pitchFamily="34" charset="0"/>
              </a:defRPr>
            </a:lvl1pPr>
            <a:lvl2pPr marL="971550" indent="-514350" eaLnBrk="0" hangingPunct="0">
              <a:defRPr>
                <a:solidFill>
                  <a:schemeClr val="tx1"/>
                </a:solidFill>
                <a:latin typeface="Arial" panose="020B0604020202020204" pitchFamily="34" charset="0"/>
              </a:defRPr>
            </a:lvl2pPr>
            <a:lvl3pPr marL="1428750" indent="-51435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20000"/>
              </a:spcBef>
              <a:buFontTx/>
              <a:buChar char="•"/>
            </a:pPr>
            <a:r>
              <a:rPr lang="en-US" altLang="en-US" sz="2400"/>
              <a:t>Sets the file mode creation mask for the process and returns the previous value</a:t>
            </a:r>
          </a:p>
          <a:p>
            <a:pPr algn="just" eaLnBrk="1" hangingPunct="1">
              <a:spcBef>
                <a:spcPct val="20000"/>
              </a:spcBef>
            </a:pPr>
            <a:r>
              <a:rPr lang="en-US" altLang="en-US" sz="2400"/>
              <a:t>#include &lt;sys/stat.h&gt;</a:t>
            </a:r>
          </a:p>
          <a:p>
            <a:pPr algn="just" eaLnBrk="1" hangingPunct="1">
              <a:spcBef>
                <a:spcPct val="20000"/>
              </a:spcBef>
            </a:pPr>
            <a:r>
              <a:rPr lang="en-US" altLang="en-US" sz="2400">
                <a:solidFill>
                  <a:srgbClr val="CC3300"/>
                </a:solidFill>
              </a:rPr>
              <a:t>mode_t umask (mode_t cmask);</a:t>
            </a:r>
          </a:p>
          <a:p>
            <a:pPr algn="just" eaLnBrk="1" hangingPunct="1">
              <a:spcBef>
                <a:spcPct val="20000"/>
              </a:spcBef>
            </a:pPr>
            <a:r>
              <a:rPr lang="en-US" altLang="en-US" sz="2400"/>
              <a:t>			</a:t>
            </a:r>
            <a:r>
              <a:rPr lang="en-US" altLang="en-US" sz="2400">
                <a:solidFill>
                  <a:srgbClr val="0066FF"/>
                </a:solidFill>
              </a:rPr>
              <a:t>returns the file mode creation mask</a:t>
            </a:r>
          </a:p>
          <a:p>
            <a:pPr algn="just" eaLnBrk="1" hangingPunct="1">
              <a:spcBef>
                <a:spcPct val="20000"/>
              </a:spcBef>
              <a:buFontTx/>
              <a:buChar char="•"/>
            </a:pPr>
            <a:r>
              <a:rPr lang="en-US" altLang="en-US" sz="2400"/>
              <a:t>The cmask arg is formed as the bitwise OR of any 9 constants</a:t>
            </a:r>
          </a:p>
          <a:p>
            <a:pPr algn="just" eaLnBrk="1" hangingPunct="1">
              <a:spcBef>
                <a:spcPct val="20000"/>
              </a:spcBef>
              <a:buFontTx/>
              <a:buChar char="•"/>
            </a:pPr>
            <a:r>
              <a:rPr lang="en-US" altLang="en-US" sz="2400"/>
              <a:t>It is used whenever the process creates a new file or a new directory</a:t>
            </a:r>
          </a:p>
          <a:p>
            <a:pPr algn="just" eaLnBrk="1" hangingPunct="1">
              <a:spcBef>
                <a:spcPct val="20000"/>
              </a:spcBef>
              <a:buFontTx/>
              <a:buChar char="•"/>
            </a:pPr>
            <a:r>
              <a:rPr lang="en-US" altLang="en-US" sz="2400"/>
              <a:t>Any bits that are on in the file mode creation mask are turned off in the file’s mode</a:t>
            </a:r>
          </a:p>
          <a:p>
            <a:pPr algn="just" eaLnBrk="1" hangingPunct="1">
              <a:spcBef>
                <a:spcPct val="20000"/>
              </a:spcBef>
              <a:buFontTx/>
              <a:buChar char="•"/>
            </a:pPr>
            <a:r>
              <a:rPr lang="en-US" altLang="en-US" sz="2400"/>
              <a:t>Eg:	002 	-	prevents others from writing files</a:t>
            </a:r>
          </a:p>
          <a:p>
            <a:pPr algn="just" eaLnBrk="1" hangingPunct="1">
              <a:spcBef>
                <a:spcPct val="20000"/>
              </a:spcBef>
            </a:pPr>
            <a:r>
              <a:rPr lang="en-US" altLang="en-US" sz="2400"/>
              <a:t>		027	-	prevents group members from writing</a:t>
            </a:r>
          </a:p>
          <a:p>
            <a:pPr algn="just" eaLnBrk="1" hangingPunct="1">
              <a:spcBef>
                <a:spcPct val="20000"/>
              </a:spcBef>
            </a:pPr>
            <a:r>
              <a:rPr lang="en-US" altLang="en-US" sz="2400"/>
              <a:t>				files and others from reading, writing and</a:t>
            </a:r>
          </a:p>
          <a:p>
            <a:pPr algn="just" eaLnBrk="1" hangingPunct="1">
              <a:spcBef>
                <a:spcPct val="20000"/>
              </a:spcBef>
            </a:pPr>
            <a:r>
              <a:rPr lang="en-US" altLang="en-US" sz="2400"/>
              <a:t>				executing files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dissolve">
                                      <p:cBhvr>
                                        <p:cTn id="12" dur="500"/>
                                        <p:tgtEl>
                                          <p:spTgt spid="1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dissolve">
                                      <p:cBhvr>
                                        <p:cTn id="17" dur="500"/>
                                        <p:tgtEl>
                                          <p:spTgt spid="1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dissolve">
                                      <p:cBhvr>
                                        <p:cTn id="22" dur="500"/>
                                        <p:tgtEl>
                                          <p:spTgt spid="1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dissolve">
                                      <p:cBhvr>
                                        <p:cTn id="27" dur="500"/>
                                        <p:tgtEl>
                                          <p:spTgt spid="1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
                                            <p:txEl>
                                              <p:pRg st="5" end="5"/>
                                            </p:txEl>
                                          </p:spTgt>
                                        </p:tgtEl>
                                        <p:attrNameLst>
                                          <p:attrName>style.visibility</p:attrName>
                                        </p:attrNameLst>
                                      </p:cBhvr>
                                      <p:to>
                                        <p:strVal val="visible"/>
                                      </p:to>
                                    </p:set>
                                    <p:animEffect transition="in" filter="dissolve">
                                      <p:cBhvr>
                                        <p:cTn id="32" dur="500"/>
                                        <p:tgtEl>
                                          <p:spTgt spid="10">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0">
                                            <p:txEl>
                                              <p:pRg st="6" end="6"/>
                                            </p:txEl>
                                          </p:spTgt>
                                        </p:tgtEl>
                                        <p:attrNameLst>
                                          <p:attrName>style.visibility</p:attrName>
                                        </p:attrNameLst>
                                      </p:cBhvr>
                                      <p:to>
                                        <p:strVal val="visible"/>
                                      </p:to>
                                    </p:set>
                                    <p:animEffect transition="in" filter="dissolve">
                                      <p:cBhvr>
                                        <p:cTn id="37" dur="500"/>
                                        <p:tgtEl>
                                          <p:spTgt spid="10">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0">
                                            <p:txEl>
                                              <p:pRg st="7" end="7"/>
                                            </p:txEl>
                                          </p:spTgt>
                                        </p:tgtEl>
                                        <p:attrNameLst>
                                          <p:attrName>style.visibility</p:attrName>
                                        </p:attrNameLst>
                                      </p:cBhvr>
                                      <p:to>
                                        <p:strVal val="visible"/>
                                      </p:to>
                                    </p:set>
                                    <p:animEffect transition="in" filter="dissolve">
                                      <p:cBhvr>
                                        <p:cTn id="42" dur="500"/>
                                        <p:tgtEl>
                                          <p:spTgt spid="10">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0">
                                            <p:txEl>
                                              <p:pRg st="8" end="8"/>
                                            </p:txEl>
                                          </p:spTgt>
                                        </p:tgtEl>
                                        <p:attrNameLst>
                                          <p:attrName>style.visibility</p:attrName>
                                        </p:attrNameLst>
                                      </p:cBhvr>
                                      <p:to>
                                        <p:strVal val="visible"/>
                                      </p:to>
                                    </p:set>
                                    <p:animEffect transition="in" filter="dissolve">
                                      <p:cBhvr>
                                        <p:cTn id="47" dur="500"/>
                                        <p:tgtEl>
                                          <p:spTgt spid="10">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0">
                                            <p:txEl>
                                              <p:pRg st="9" end="9"/>
                                            </p:txEl>
                                          </p:spTgt>
                                        </p:tgtEl>
                                        <p:attrNameLst>
                                          <p:attrName>style.visibility</p:attrName>
                                        </p:attrNameLst>
                                      </p:cBhvr>
                                      <p:to>
                                        <p:strVal val="visible"/>
                                      </p:to>
                                    </p:set>
                                    <p:animEffect transition="in" filter="dissolve">
                                      <p:cBhvr>
                                        <p:cTn id="52" dur="500"/>
                                        <p:tgtEl>
                                          <p:spTgt spid="10">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0">
                                            <p:txEl>
                                              <p:pRg st="10" end="10"/>
                                            </p:txEl>
                                          </p:spTgt>
                                        </p:tgtEl>
                                        <p:attrNameLst>
                                          <p:attrName>style.visibility</p:attrName>
                                        </p:attrNameLst>
                                      </p:cBhvr>
                                      <p:to>
                                        <p:strVal val="visible"/>
                                      </p:to>
                                    </p:set>
                                    <p:animEffect transition="in" filter="dissolve">
                                      <p:cBhvr>
                                        <p:cTn id="57" dur="500"/>
                                        <p:tgtEl>
                                          <p:spTgt spid="10">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Box 4">
            <a:extLst>
              <a:ext uri="{FF2B5EF4-FFF2-40B4-BE49-F238E27FC236}">
                <a16:creationId xmlns:a16="http://schemas.microsoft.com/office/drawing/2014/main" id="{F0545AE7-143E-ACA0-7463-6D122EBC0BAE}"/>
              </a:ext>
            </a:extLst>
          </p:cNvPr>
          <p:cNvSpPr txBox="1">
            <a:spLocks noChangeArrowheads="1"/>
          </p:cNvSpPr>
          <p:nvPr/>
        </p:nvSpPr>
        <p:spPr bwMode="auto">
          <a:xfrm>
            <a:off x="381000" y="1524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0723" name="TextBox 5">
            <a:extLst>
              <a:ext uri="{FF2B5EF4-FFF2-40B4-BE49-F238E27FC236}">
                <a16:creationId xmlns:a16="http://schemas.microsoft.com/office/drawing/2014/main" id="{4D45CEB6-9312-10CD-BE19-F740723CC116}"/>
              </a:ext>
            </a:extLst>
          </p:cNvPr>
          <p:cNvSpPr txBox="1">
            <a:spLocks noChangeArrowheads="1"/>
          </p:cNvSpPr>
          <p:nvPr/>
        </p:nvSpPr>
        <p:spPr bwMode="auto">
          <a:xfrm>
            <a:off x="533400" y="3048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0724" name="TextBox 6">
            <a:extLst>
              <a:ext uri="{FF2B5EF4-FFF2-40B4-BE49-F238E27FC236}">
                <a16:creationId xmlns:a16="http://schemas.microsoft.com/office/drawing/2014/main" id="{C0E9EE3B-6B24-D031-51C7-FCE35F37CD49}"/>
              </a:ext>
            </a:extLst>
          </p:cNvPr>
          <p:cNvSpPr txBox="1">
            <a:spLocks noChangeArrowheads="1"/>
          </p:cNvSpPr>
          <p:nvPr/>
        </p:nvSpPr>
        <p:spPr bwMode="auto">
          <a:xfrm>
            <a:off x="228600" y="0"/>
            <a:ext cx="8686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3200">
                <a:solidFill>
                  <a:srgbClr val="0066FF"/>
                </a:solidFill>
              </a:rPr>
              <a:t>chmod and fchmod function</a:t>
            </a:r>
          </a:p>
        </p:txBody>
      </p:sp>
      <p:sp>
        <p:nvSpPr>
          <p:cNvPr id="9" name="Rectangle 2">
            <a:extLst>
              <a:ext uri="{FF2B5EF4-FFF2-40B4-BE49-F238E27FC236}">
                <a16:creationId xmlns:a16="http://schemas.microsoft.com/office/drawing/2014/main" id="{33E920BB-FC81-6D7B-AF0B-C03A36DC7088}"/>
              </a:ext>
            </a:extLst>
          </p:cNvPr>
          <p:cNvSpPr txBox="1">
            <a:spLocks noChangeArrowheads="1"/>
          </p:cNvSpPr>
          <p:nvPr/>
        </p:nvSpPr>
        <p:spPr>
          <a:xfrm>
            <a:off x="838200" y="419100"/>
            <a:ext cx="7778750" cy="1104900"/>
          </a:xfrm>
          <a:prstGeom prst="rect">
            <a:avLst/>
          </a:prstGeom>
          <a:noFill/>
          <a:ln/>
        </p:spPr>
        <p:txBody>
          <a:bodyPr/>
          <a:lstStyle/>
          <a:p>
            <a:pPr algn="ctr">
              <a:defRPr/>
            </a:pPr>
            <a:endParaRPr lang="en-US" sz="4400" kern="0" dirty="0">
              <a:solidFill>
                <a:schemeClr val="tx2"/>
              </a:solidFill>
              <a:latin typeface="+mj-lt"/>
              <a:ea typeface="+mj-ea"/>
              <a:cs typeface="+mj-cs"/>
            </a:endParaRPr>
          </a:p>
        </p:txBody>
      </p:sp>
      <p:sp>
        <p:nvSpPr>
          <p:cNvPr id="10" name="Rectangle 3">
            <a:extLst>
              <a:ext uri="{FF2B5EF4-FFF2-40B4-BE49-F238E27FC236}">
                <a16:creationId xmlns:a16="http://schemas.microsoft.com/office/drawing/2014/main" id="{AC26B9D4-8941-6AF5-59B6-EDC8FE0A7CE6}"/>
              </a:ext>
            </a:extLst>
          </p:cNvPr>
          <p:cNvSpPr txBox="1">
            <a:spLocks noChangeArrowheads="1"/>
          </p:cNvSpPr>
          <p:nvPr/>
        </p:nvSpPr>
        <p:spPr>
          <a:xfrm>
            <a:off x="228600" y="533400"/>
            <a:ext cx="8915400" cy="6019800"/>
          </a:xfrm>
          <a:prstGeom prst="rect">
            <a:avLst/>
          </a:prstGeom>
          <a:noFill/>
          <a:ln/>
        </p:spPr>
        <p:txBody>
          <a:bodyPr/>
          <a:lstStyle>
            <a:lvl1pPr marL="342900" indent="-342900" eaLnBrk="0" hangingPunct="0">
              <a:defRPr>
                <a:solidFill>
                  <a:schemeClr val="tx1"/>
                </a:solidFill>
                <a:latin typeface="Arial" panose="020B0604020202020204" pitchFamily="34" charset="0"/>
              </a:defRPr>
            </a:lvl1pPr>
            <a:lvl2pPr marL="971550" indent="-514350" eaLnBrk="0" hangingPunct="0">
              <a:defRPr>
                <a:solidFill>
                  <a:schemeClr val="tx1"/>
                </a:solidFill>
                <a:latin typeface="Arial" panose="020B0604020202020204" pitchFamily="34" charset="0"/>
              </a:defRPr>
            </a:lvl2pPr>
            <a:lvl3pPr marL="1428750" indent="-51435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20000"/>
              </a:spcBef>
              <a:buFontTx/>
              <a:buChar char="•"/>
            </a:pPr>
            <a:r>
              <a:rPr lang="en-US" altLang="en-US" sz="2800"/>
              <a:t>Allow us to change file access permissions for an existing file</a:t>
            </a:r>
          </a:p>
          <a:p>
            <a:pPr algn="just" eaLnBrk="1" hangingPunct="1">
              <a:spcBef>
                <a:spcPct val="20000"/>
              </a:spcBef>
            </a:pPr>
            <a:r>
              <a:rPr lang="en-US" altLang="en-US" sz="2800"/>
              <a:t>#include &lt;sys/stat.h&gt;</a:t>
            </a:r>
          </a:p>
          <a:p>
            <a:pPr algn="just" eaLnBrk="1" hangingPunct="1">
              <a:spcBef>
                <a:spcPct val="20000"/>
              </a:spcBef>
            </a:pPr>
            <a:r>
              <a:rPr lang="en-US" altLang="en-US" sz="2800">
                <a:solidFill>
                  <a:srgbClr val="CC3300"/>
                </a:solidFill>
              </a:rPr>
              <a:t>int chmod (const char *pathname, mode_t mode);</a:t>
            </a:r>
          </a:p>
          <a:p>
            <a:pPr algn="just" eaLnBrk="1" hangingPunct="1">
              <a:spcBef>
                <a:spcPct val="20000"/>
              </a:spcBef>
            </a:pPr>
            <a:r>
              <a:rPr lang="en-US" altLang="en-US" sz="2800">
                <a:solidFill>
                  <a:srgbClr val="CC3300"/>
                </a:solidFill>
              </a:rPr>
              <a:t>int fchmod (int filedes, mode_t mode);</a:t>
            </a:r>
            <a:endParaRPr lang="en-US" altLang="en-US" sz="3600">
              <a:solidFill>
                <a:srgbClr val="CC3300"/>
              </a:solidFill>
            </a:endParaRPr>
          </a:p>
          <a:p>
            <a:pPr algn="just" eaLnBrk="1" hangingPunct="1">
              <a:spcBef>
                <a:spcPct val="20000"/>
              </a:spcBef>
            </a:pPr>
            <a:r>
              <a:rPr lang="en-US" altLang="en-US" sz="2800"/>
              <a:t>			</a:t>
            </a:r>
            <a:r>
              <a:rPr lang="en-US" altLang="en-US" sz="2800">
                <a:solidFill>
                  <a:srgbClr val="0066FF"/>
                </a:solidFill>
              </a:rPr>
              <a:t>returns 0 if ok, -1 on error</a:t>
            </a:r>
          </a:p>
          <a:p>
            <a:pPr algn="just" eaLnBrk="1" hangingPunct="1">
              <a:spcBef>
                <a:spcPct val="20000"/>
              </a:spcBef>
              <a:buFontTx/>
              <a:buChar char="•"/>
            </a:pPr>
            <a:r>
              <a:rPr lang="en-US" altLang="en-US" sz="2800"/>
              <a:t>The mode is specified as bitwise OR of the constants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dissolve">
                                      <p:cBhvr>
                                        <p:cTn id="12" dur="500"/>
                                        <p:tgtEl>
                                          <p:spTgt spid="1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dissolve">
                                      <p:cBhvr>
                                        <p:cTn id="17" dur="500"/>
                                        <p:tgtEl>
                                          <p:spTgt spid="1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dissolve">
                                      <p:cBhvr>
                                        <p:cTn id="22" dur="500"/>
                                        <p:tgtEl>
                                          <p:spTgt spid="1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dissolve">
                                      <p:cBhvr>
                                        <p:cTn id="27" dur="500"/>
                                        <p:tgtEl>
                                          <p:spTgt spid="1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
                                            <p:txEl>
                                              <p:pRg st="5" end="5"/>
                                            </p:txEl>
                                          </p:spTgt>
                                        </p:tgtEl>
                                        <p:attrNameLst>
                                          <p:attrName>style.visibility</p:attrName>
                                        </p:attrNameLst>
                                      </p:cBhvr>
                                      <p:to>
                                        <p:strVal val="visible"/>
                                      </p:to>
                                    </p:set>
                                    <p:animEffect transition="in" filter="dissolve">
                                      <p:cBhvr>
                                        <p:cTn id="32" dur="500"/>
                                        <p:tgtEl>
                                          <p:spTgt spid="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6C5CA108-5AC1-7657-2783-919D3EE59277}"/>
              </a:ext>
            </a:extLst>
          </p:cNvPr>
          <p:cNvSpPr txBox="1">
            <a:spLocks noChangeArrowheads="1"/>
          </p:cNvSpPr>
          <p:nvPr/>
        </p:nvSpPr>
        <p:spPr>
          <a:xfrm>
            <a:off x="533400" y="762000"/>
            <a:ext cx="7772400" cy="4114800"/>
          </a:xfrm>
          <a:prstGeom prst="rect">
            <a:avLst/>
          </a:prstGeom>
          <a:noFill/>
          <a:ln/>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20000"/>
              </a:spcBef>
              <a:buFontTx/>
              <a:buChar char="•"/>
            </a:pPr>
            <a:endParaRPr lang="en-US" altLang="en-US" sz="2400"/>
          </a:p>
        </p:txBody>
      </p:sp>
      <p:sp>
        <p:nvSpPr>
          <p:cNvPr id="31747" name="Rectangle 3">
            <a:extLst>
              <a:ext uri="{FF2B5EF4-FFF2-40B4-BE49-F238E27FC236}">
                <a16:creationId xmlns:a16="http://schemas.microsoft.com/office/drawing/2014/main" id="{350CF185-1034-5231-A53E-36561685E72A}"/>
              </a:ext>
            </a:extLst>
          </p:cNvPr>
          <p:cNvSpPr>
            <a:spLocks noChangeArrowheads="1"/>
          </p:cNvSpPr>
          <p:nvPr/>
        </p:nvSpPr>
        <p:spPr bwMode="auto">
          <a:xfrm>
            <a:off x="228600" y="228600"/>
            <a:ext cx="8686800" cy="588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a:t>	   mode 			meaning</a:t>
            </a:r>
          </a:p>
          <a:p>
            <a:r>
              <a:rPr lang="en-US" altLang="en-US" sz="2000"/>
              <a:t>	S_ISUID		set user-ID on execution</a:t>
            </a:r>
          </a:p>
          <a:p>
            <a:r>
              <a:rPr lang="en-US" altLang="en-US" sz="2000"/>
              <a:t>	S_ISGID		set group-ID on execution</a:t>
            </a:r>
          </a:p>
          <a:p>
            <a:r>
              <a:rPr lang="en-US" altLang="en-US" sz="2000"/>
              <a:t>	S_ISVTX		saved text (sticky bit)</a:t>
            </a:r>
          </a:p>
          <a:p>
            <a:r>
              <a:rPr lang="en-US" altLang="en-US" sz="2000"/>
              <a:t>	</a:t>
            </a:r>
          </a:p>
          <a:p>
            <a:r>
              <a:rPr lang="en-US" altLang="en-US" sz="2000"/>
              <a:t>	S_IRWXU		Read,write,execute by owner</a:t>
            </a:r>
          </a:p>
          <a:p>
            <a:r>
              <a:rPr lang="en-US" altLang="en-US" sz="2000"/>
              <a:t>	S_IRUSR		Owner-read</a:t>
            </a:r>
          </a:p>
          <a:p>
            <a:r>
              <a:rPr lang="en-US" altLang="en-US" sz="2000"/>
              <a:t>	S_IWUSR		Owner-write</a:t>
            </a:r>
          </a:p>
          <a:p>
            <a:r>
              <a:rPr lang="en-US" altLang="en-US" sz="2000"/>
              <a:t>	S_IXUSR		Owner-execute</a:t>
            </a:r>
          </a:p>
          <a:p>
            <a:r>
              <a:rPr lang="en-US" altLang="en-US" sz="2000"/>
              <a:t>	</a:t>
            </a:r>
          </a:p>
          <a:p>
            <a:r>
              <a:rPr lang="en-US" altLang="en-US" sz="2000"/>
              <a:t>	S_IRWXG		Read,write,execute by group 	</a:t>
            </a:r>
          </a:p>
          <a:p>
            <a:r>
              <a:rPr lang="en-US" altLang="en-US" sz="2000"/>
              <a:t>	S_IRGRP		group-read</a:t>
            </a:r>
          </a:p>
          <a:p>
            <a:r>
              <a:rPr lang="en-US" altLang="en-US" sz="2000"/>
              <a:t>	S_IWGRP		group-write</a:t>
            </a:r>
          </a:p>
          <a:p>
            <a:r>
              <a:rPr lang="en-US" altLang="en-US" sz="2000"/>
              <a:t>	S_IXGRP		group-execute</a:t>
            </a:r>
          </a:p>
          <a:p>
            <a:r>
              <a:rPr lang="en-US" altLang="en-US" sz="2000"/>
              <a:t>	</a:t>
            </a:r>
          </a:p>
          <a:p>
            <a:r>
              <a:rPr lang="en-US" altLang="en-US" sz="2000"/>
              <a:t>	S_IRWXO		Read,write,execute by others</a:t>
            </a:r>
          </a:p>
          <a:p>
            <a:r>
              <a:rPr lang="en-US" altLang="en-US" sz="2000"/>
              <a:t>	S_IROTH		other-read</a:t>
            </a:r>
          </a:p>
          <a:p>
            <a:r>
              <a:rPr lang="en-US" altLang="en-US" sz="2000"/>
              <a:t>	S_IWOTH		other-write</a:t>
            </a:r>
          </a:p>
          <a:p>
            <a:r>
              <a:rPr lang="en-US" altLang="en-US" sz="2000"/>
              <a:t>	S_IXOTH		other-execute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Box 4">
            <a:extLst>
              <a:ext uri="{FF2B5EF4-FFF2-40B4-BE49-F238E27FC236}">
                <a16:creationId xmlns:a16="http://schemas.microsoft.com/office/drawing/2014/main" id="{DFEAED57-420E-FD00-4BE1-10D9884D5946}"/>
              </a:ext>
            </a:extLst>
          </p:cNvPr>
          <p:cNvSpPr txBox="1">
            <a:spLocks noChangeArrowheads="1"/>
          </p:cNvSpPr>
          <p:nvPr/>
        </p:nvSpPr>
        <p:spPr bwMode="auto">
          <a:xfrm>
            <a:off x="381000" y="1524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2771" name="TextBox 5">
            <a:extLst>
              <a:ext uri="{FF2B5EF4-FFF2-40B4-BE49-F238E27FC236}">
                <a16:creationId xmlns:a16="http://schemas.microsoft.com/office/drawing/2014/main" id="{099B4F93-E251-7F53-C456-5E175149E677}"/>
              </a:ext>
            </a:extLst>
          </p:cNvPr>
          <p:cNvSpPr txBox="1">
            <a:spLocks noChangeArrowheads="1"/>
          </p:cNvSpPr>
          <p:nvPr/>
        </p:nvSpPr>
        <p:spPr bwMode="auto">
          <a:xfrm>
            <a:off x="533400" y="3048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2772" name="TextBox 6">
            <a:extLst>
              <a:ext uri="{FF2B5EF4-FFF2-40B4-BE49-F238E27FC236}">
                <a16:creationId xmlns:a16="http://schemas.microsoft.com/office/drawing/2014/main" id="{5A8786AA-0612-8FCF-CEE5-CE367A72871C}"/>
              </a:ext>
            </a:extLst>
          </p:cNvPr>
          <p:cNvSpPr txBox="1">
            <a:spLocks noChangeArrowheads="1"/>
          </p:cNvSpPr>
          <p:nvPr/>
        </p:nvSpPr>
        <p:spPr bwMode="auto">
          <a:xfrm>
            <a:off x="228600" y="0"/>
            <a:ext cx="8686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3200">
                <a:solidFill>
                  <a:srgbClr val="0066FF"/>
                </a:solidFill>
              </a:rPr>
              <a:t>chown, fchown, lchown functions</a:t>
            </a:r>
          </a:p>
        </p:txBody>
      </p:sp>
      <p:sp>
        <p:nvSpPr>
          <p:cNvPr id="9" name="Rectangle 2">
            <a:extLst>
              <a:ext uri="{FF2B5EF4-FFF2-40B4-BE49-F238E27FC236}">
                <a16:creationId xmlns:a16="http://schemas.microsoft.com/office/drawing/2014/main" id="{D1AAD51D-1893-4EF0-34AC-27812CCE0B1F}"/>
              </a:ext>
            </a:extLst>
          </p:cNvPr>
          <p:cNvSpPr txBox="1">
            <a:spLocks noChangeArrowheads="1"/>
          </p:cNvSpPr>
          <p:nvPr/>
        </p:nvSpPr>
        <p:spPr>
          <a:xfrm>
            <a:off x="838200" y="419100"/>
            <a:ext cx="7778750" cy="1104900"/>
          </a:xfrm>
          <a:prstGeom prst="rect">
            <a:avLst/>
          </a:prstGeom>
          <a:noFill/>
          <a:ln/>
        </p:spPr>
        <p:txBody>
          <a:bodyPr/>
          <a:lstStyle/>
          <a:p>
            <a:pPr algn="ctr">
              <a:defRPr/>
            </a:pPr>
            <a:endParaRPr lang="en-US" sz="4400" kern="0" dirty="0">
              <a:solidFill>
                <a:schemeClr val="tx2"/>
              </a:solidFill>
              <a:latin typeface="+mj-lt"/>
              <a:ea typeface="+mj-ea"/>
              <a:cs typeface="+mj-cs"/>
            </a:endParaRPr>
          </a:p>
        </p:txBody>
      </p:sp>
      <p:sp>
        <p:nvSpPr>
          <p:cNvPr id="10" name="Rectangle 3">
            <a:extLst>
              <a:ext uri="{FF2B5EF4-FFF2-40B4-BE49-F238E27FC236}">
                <a16:creationId xmlns:a16="http://schemas.microsoft.com/office/drawing/2014/main" id="{1BF19A57-2041-41A3-4D79-89850E130AFB}"/>
              </a:ext>
            </a:extLst>
          </p:cNvPr>
          <p:cNvSpPr txBox="1">
            <a:spLocks noChangeArrowheads="1"/>
          </p:cNvSpPr>
          <p:nvPr/>
        </p:nvSpPr>
        <p:spPr>
          <a:xfrm>
            <a:off x="228600" y="533400"/>
            <a:ext cx="8915400" cy="6019800"/>
          </a:xfrm>
          <a:prstGeom prst="rect">
            <a:avLst/>
          </a:prstGeom>
          <a:noFill/>
          <a:ln/>
        </p:spPr>
        <p:txBody>
          <a:bodyPr/>
          <a:lstStyle>
            <a:lvl1pPr marL="342900" indent="-342900" eaLnBrk="0" hangingPunct="0">
              <a:defRPr>
                <a:solidFill>
                  <a:schemeClr val="tx1"/>
                </a:solidFill>
                <a:latin typeface="Arial" panose="020B0604020202020204" pitchFamily="34" charset="0"/>
              </a:defRPr>
            </a:lvl1pPr>
            <a:lvl2pPr marL="971550" indent="-514350" eaLnBrk="0" hangingPunct="0">
              <a:defRPr>
                <a:solidFill>
                  <a:schemeClr val="tx1"/>
                </a:solidFill>
                <a:latin typeface="Arial" panose="020B0604020202020204" pitchFamily="34" charset="0"/>
              </a:defRPr>
            </a:lvl2pPr>
            <a:lvl3pPr marL="1428750" indent="-51435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20000"/>
              </a:spcBef>
              <a:buFontTx/>
              <a:buChar char="•"/>
            </a:pPr>
            <a:r>
              <a:rPr lang="en-US" altLang="en-US" sz="2800"/>
              <a:t>Allows us to change the user ID and group ID of a file</a:t>
            </a:r>
          </a:p>
          <a:p>
            <a:pPr algn="just" eaLnBrk="1" hangingPunct="1">
              <a:spcBef>
                <a:spcPct val="20000"/>
              </a:spcBef>
            </a:pPr>
            <a:r>
              <a:rPr lang="en-US" altLang="en-US" sz="2800"/>
              <a:t>#include &lt;unistd.h&gt;</a:t>
            </a:r>
          </a:p>
          <a:p>
            <a:pPr algn="just" eaLnBrk="1" hangingPunct="1">
              <a:spcBef>
                <a:spcPct val="20000"/>
              </a:spcBef>
            </a:pPr>
            <a:r>
              <a:rPr lang="en-US" altLang="en-US" sz="2400">
                <a:solidFill>
                  <a:srgbClr val="CC3300"/>
                </a:solidFill>
              </a:rPr>
              <a:t>int chown (const char *pathname, uid_t owner, gid_t group);</a:t>
            </a:r>
          </a:p>
          <a:p>
            <a:pPr algn="just" eaLnBrk="1" hangingPunct="1">
              <a:spcBef>
                <a:spcPct val="20000"/>
              </a:spcBef>
            </a:pPr>
            <a:r>
              <a:rPr lang="en-US" altLang="en-US" sz="2800">
                <a:solidFill>
                  <a:srgbClr val="CC3300"/>
                </a:solidFill>
              </a:rPr>
              <a:t>int fchown (int filedes, uid_t owner, gid_t group);</a:t>
            </a:r>
          </a:p>
          <a:p>
            <a:pPr algn="just" eaLnBrk="1" hangingPunct="1">
              <a:spcBef>
                <a:spcPct val="20000"/>
              </a:spcBef>
            </a:pPr>
            <a:r>
              <a:rPr lang="en-US" altLang="en-US" sz="2400">
                <a:solidFill>
                  <a:srgbClr val="CC3300"/>
                </a:solidFill>
              </a:rPr>
              <a:t>int lchown (const char *pathname, uid_t owner, gid_t group);</a:t>
            </a:r>
            <a:endParaRPr lang="en-US" altLang="en-US" sz="3200">
              <a:solidFill>
                <a:srgbClr val="CC3300"/>
              </a:solidFill>
            </a:endParaRPr>
          </a:p>
          <a:p>
            <a:pPr algn="just" eaLnBrk="1" hangingPunct="1">
              <a:spcBef>
                <a:spcPct val="20000"/>
              </a:spcBef>
            </a:pPr>
            <a:r>
              <a:rPr lang="en-US" altLang="en-US" sz="2800"/>
              <a:t>			</a:t>
            </a:r>
            <a:r>
              <a:rPr lang="en-US" altLang="en-US" sz="2800">
                <a:solidFill>
                  <a:srgbClr val="0066FF"/>
                </a:solidFill>
              </a:rPr>
              <a:t>returns 0 on ok, -1 on error</a:t>
            </a:r>
          </a:p>
          <a:p>
            <a:pPr algn="just" eaLnBrk="1" hangingPunct="1">
              <a:spcBef>
                <a:spcPct val="20000"/>
              </a:spcBef>
              <a:buFontTx/>
              <a:buChar char="•"/>
            </a:pPr>
            <a:r>
              <a:rPr lang="en-US" altLang="en-US" sz="2800"/>
              <a:t>lchown change the owners of the symbolic link itself, not the file pointed to by the symbolic link</a:t>
            </a:r>
          </a:p>
          <a:p>
            <a:pPr algn="just" eaLnBrk="1" hangingPunct="1">
              <a:spcBef>
                <a:spcPct val="20000"/>
              </a:spcBef>
              <a:buFontTx/>
              <a:buChar char="•"/>
            </a:pPr>
            <a:r>
              <a:rPr lang="en-US" altLang="en-US" sz="2800"/>
              <a:t>In either of the arguments owner or group is -1, corresponing ID if left unchanged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dissolve">
                                      <p:cBhvr>
                                        <p:cTn id="12" dur="500"/>
                                        <p:tgtEl>
                                          <p:spTgt spid="1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dissolve">
                                      <p:cBhvr>
                                        <p:cTn id="17" dur="500"/>
                                        <p:tgtEl>
                                          <p:spTgt spid="1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dissolve">
                                      <p:cBhvr>
                                        <p:cTn id="22" dur="500"/>
                                        <p:tgtEl>
                                          <p:spTgt spid="1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dissolve">
                                      <p:cBhvr>
                                        <p:cTn id="27" dur="500"/>
                                        <p:tgtEl>
                                          <p:spTgt spid="1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
                                            <p:txEl>
                                              <p:pRg st="5" end="5"/>
                                            </p:txEl>
                                          </p:spTgt>
                                        </p:tgtEl>
                                        <p:attrNameLst>
                                          <p:attrName>style.visibility</p:attrName>
                                        </p:attrNameLst>
                                      </p:cBhvr>
                                      <p:to>
                                        <p:strVal val="visible"/>
                                      </p:to>
                                    </p:set>
                                    <p:animEffect transition="in" filter="dissolve">
                                      <p:cBhvr>
                                        <p:cTn id="32" dur="500"/>
                                        <p:tgtEl>
                                          <p:spTgt spid="10">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0">
                                            <p:txEl>
                                              <p:pRg st="6" end="6"/>
                                            </p:txEl>
                                          </p:spTgt>
                                        </p:tgtEl>
                                        <p:attrNameLst>
                                          <p:attrName>style.visibility</p:attrName>
                                        </p:attrNameLst>
                                      </p:cBhvr>
                                      <p:to>
                                        <p:strVal val="visible"/>
                                      </p:to>
                                    </p:set>
                                    <p:animEffect transition="in" filter="dissolve">
                                      <p:cBhvr>
                                        <p:cTn id="37" dur="500"/>
                                        <p:tgtEl>
                                          <p:spTgt spid="10">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0">
                                            <p:txEl>
                                              <p:pRg st="7" end="7"/>
                                            </p:txEl>
                                          </p:spTgt>
                                        </p:tgtEl>
                                        <p:attrNameLst>
                                          <p:attrName>style.visibility</p:attrName>
                                        </p:attrNameLst>
                                      </p:cBhvr>
                                      <p:to>
                                        <p:strVal val="visible"/>
                                      </p:to>
                                    </p:set>
                                    <p:animEffect transition="in" filter="dissolve">
                                      <p:cBhvr>
                                        <p:cTn id="42" dur="500"/>
                                        <p:tgtEl>
                                          <p:spTgt spid="1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Box 4">
            <a:extLst>
              <a:ext uri="{FF2B5EF4-FFF2-40B4-BE49-F238E27FC236}">
                <a16:creationId xmlns:a16="http://schemas.microsoft.com/office/drawing/2014/main" id="{95D0252B-111D-F5BA-78E7-21A2FBB24D31}"/>
              </a:ext>
            </a:extLst>
          </p:cNvPr>
          <p:cNvSpPr txBox="1">
            <a:spLocks noChangeArrowheads="1"/>
          </p:cNvSpPr>
          <p:nvPr/>
        </p:nvSpPr>
        <p:spPr bwMode="auto">
          <a:xfrm>
            <a:off x="381000" y="1524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3795" name="TextBox 5">
            <a:extLst>
              <a:ext uri="{FF2B5EF4-FFF2-40B4-BE49-F238E27FC236}">
                <a16:creationId xmlns:a16="http://schemas.microsoft.com/office/drawing/2014/main" id="{19F6632F-AF98-1660-264A-58AE0BF45690}"/>
              </a:ext>
            </a:extLst>
          </p:cNvPr>
          <p:cNvSpPr txBox="1">
            <a:spLocks noChangeArrowheads="1"/>
          </p:cNvSpPr>
          <p:nvPr/>
        </p:nvSpPr>
        <p:spPr bwMode="auto">
          <a:xfrm>
            <a:off x="533400" y="3048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3796" name="TextBox 6">
            <a:extLst>
              <a:ext uri="{FF2B5EF4-FFF2-40B4-BE49-F238E27FC236}">
                <a16:creationId xmlns:a16="http://schemas.microsoft.com/office/drawing/2014/main" id="{86B10183-507A-11B6-46CD-291CDCDB006C}"/>
              </a:ext>
            </a:extLst>
          </p:cNvPr>
          <p:cNvSpPr txBox="1">
            <a:spLocks noChangeArrowheads="1"/>
          </p:cNvSpPr>
          <p:nvPr/>
        </p:nvSpPr>
        <p:spPr bwMode="auto">
          <a:xfrm>
            <a:off x="228600" y="0"/>
            <a:ext cx="8686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3200">
                <a:solidFill>
                  <a:srgbClr val="0066FF"/>
                </a:solidFill>
              </a:rPr>
              <a:t>File truncation</a:t>
            </a:r>
          </a:p>
        </p:txBody>
      </p:sp>
      <p:sp>
        <p:nvSpPr>
          <p:cNvPr id="9" name="Rectangle 2">
            <a:extLst>
              <a:ext uri="{FF2B5EF4-FFF2-40B4-BE49-F238E27FC236}">
                <a16:creationId xmlns:a16="http://schemas.microsoft.com/office/drawing/2014/main" id="{DA2C2745-2E28-1168-60AD-7644D941E359}"/>
              </a:ext>
            </a:extLst>
          </p:cNvPr>
          <p:cNvSpPr txBox="1">
            <a:spLocks noChangeArrowheads="1"/>
          </p:cNvSpPr>
          <p:nvPr/>
        </p:nvSpPr>
        <p:spPr>
          <a:xfrm>
            <a:off x="838200" y="419100"/>
            <a:ext cx="7778750" cy="1104900"/>
          </a:xfrm>
          <a:prstGeom prst="rect">
            <a:avLst/>
          </a:prstGeom>
          <a:noFill/>
          <a:ln/>
        </p:spPr>
        <p:txBody>
          <a:bodyPr/>
          <a:lstStyle/>
          <a:p>
            <a:pPr algn="ctr">
              <a:defRPr/>
            </a:pPr>
            <a:endParaRPr lang="en-US" sz="4400" kern="0" dirty="0">
              <a:solidFill>
                <a:schemeClr val="tx2"/>
              </a:solidFill>
              <a:latin typeface="+mj-lt"/>
              <a:ea typeface="+mj-ea"/>
              <a:cs typeface="+mj-cs"/>
            </a:endParaRPr>
          </a:p>
        </p:txBody>
      </p:sp>
      <p:sp>
        <p:nvSpPr>
          <p:cNvPr id="10" name="Rectangle 3">
            <a:extLst>
              <a:ext uri="{FF2B5EF4-FFF2-40B4-BE49-F238E27FC236}">
                <a16:creationId xmlns:a16="http://schemas.microsoft.com/office/drawing/2014/main" id="{1C80C39B-3988-FF57-033C-F462BFFE383E}"/>
              </a:ext>
            </a:extLst>
          </p:cNvPr>
          <p:cNvSpPr txBox="1">
            <a:spLocks noChangeArrowheads="1"/>
          </p:cNvSpPr>
          <p:nvPr/>
        </p:nvSpPr>
        <p:spPr>
          <a:xfrm>
            <a:off x="228600" y="533400"/>
            <a:ext cx="8915400" cy="6019800"/>
          </a:xfrm>
          <a:prstGeom prst="rect">
            <a:avLst/>
          </a:prstGeom>
          <a:noFill/>
          <a:ln/>
        </p:spPr>
        <p:txBody>
          <a:bodyPr/>
          <a:lstStyle>
            <a:lvl1pPr marL="342900" indent="-342900" eaLnBrk="0" hangingPunct="0">
              <a:defRPr>
                <a:solidFill>
                  <a:schemeClr val="tx1"/>
                </a:solidFill>
                <a:latin typeface="Arial" panose="020B0604020202020204" pitchFamily="34" charset="0"/>
              </a:defRPr>
            </a:lvl1pPr>
            <a:lvl2pPr marL="971550" indent="-514350" eaLnBrk="0" hangingPunct="0">
              <a:defRPr>
                <a:solidFill>
                  <a:schemeClr val="tx1"/>
                </a:solidFill>
                <a:latin typeface="Arial" panose="020B0604020202020204" pitchFamily="34" charset="0"/>
              </a:defRPr>
            </a:lvl2pPr>
            <a:lvl3pPr marL="1428750" indent="-51435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20000"/>
              </a:spcBef>
              <a:buFontTx/>
              <a:buChar char="•"/>
            </a:pPr>
            <a:r>
              <a:rPr lang="en-US" altLang="en-US" sz="2800">
                <a:latin typeface="Times New Roman" panose="02020603050405020304" pitchFamily="18" charset="0"/>
              </a:rPr>
              <a:t>It is used to chopping of the data of a file</a:t>
            </a:r>
          </a:p>
          <a:p>
            <a:pPr algn="just" eaLnBrk="1" hangingPunct="1">
              <a:spcBef>
                <a:spcPct val="20000"/>
              </a:spcBef>
            </a:pPr>
            <a:r>
              <a:rPr lang="en-US" altLang="en-US" sz="2800">
                <a:latin typeface="Times New Roman" panose="02020603050405020304" pitchFamily="18" charset="0"/>
              </a:rPr>
              <a:t>#include &lt;unistd.h&gt;</a:t>
            </a:r>
          </a:p>
          <a:p>
            <a:pPr algn="just" eaLnBrk="1" hangingPunct="1">
              <a:spcBef>
                <a:spcPct val="20000"/>
              </a:spcBef>
            </a:pPr>
            <a:r>
              <a:rPr lang="en-US" altLang="en-US" sz="2800">
                <a:solidFill>
                  <a:srgbClr val="CC3300"/>
                </a:solidFill>
                <a:latin typeface="Times New Roman" panose="02020603050405020304" pitchFamily="18" charset="0"/>
              </a:rPr>
              <a:t>int truncate(const char *pathname, off_t length);</a:t>
            </a:r>
          </a:p>
          <a:p>
            <a:pPr algn="just" eaLnBrk="1" hangingPunct="1">
              <a:spcBef>
                <a:spcPct val="20000"/>
              </a:spcBef>
            </a:pPr>
            <a:r>
              <a:rPr lang="en-US" altLang="en-US" sz="2800">
                <a:solidFill>
                  <a:srgbClr val="CC3300"/>
                </a:solidFill>
                <a:latin typeface="Times New Roman" panose="02020603050405020304" pitchFamily="18" charset="0"/>
              </a:rPr>
              <a:t>int truncate (int filedes, off_t length);</a:t>
            </a:r>
          </a:p>
          <a:p>
            <a:pPr algn="just" eaLnBrk="1" hangingPunct="1">
              <a:spcBef>
                <a:spcPct val="20000"/>
              </a:spcBef>
            </a:pPr>
            <a:r>
              <a:rPr lang="en-US" altLang="en-US" sz="2800">
                <a:latin typeface="Times New Roman" panose="02020603050405020304" pitchFamily="18" charset="0"/>
              </a:rPr>
              <a:t>			</a:t>
            </a:r>
            <a:r>
              <a:rPr lang="en-US" altLang="en-US" sz="2800">
                <a:solidFill>
                  <a:srgbClr val="0066FF"/>
                </a:solidFill>
                <a:latin typeface="Times New Roman" panose="02020603050405020304" pitchFamily="18" charset="0"/>
              </a:rPr>
              <a:t>returns 0 on ok, -1 on error</a:t>
            </a:r>
          </a:p>
          <a:p>
            <a:pPr algn="just" eaLnBrk="1" hangingPunct="1">
              <a:spcBef>
                <a:spcPct val="20000"/>
              </a:spcBef>
              <a:buFontTx/>
              <a:buChar char="•"/>
            </a:pPr>
            <a:r>
              <a:rPr lang="en-US" altLang="en-US" sz="2800">
                <a:latin typeface="Times New Roman" panose="02020603050405020304" pitchFamily="18" charset="0"/>
              </a:rPr>
              <a:t>Truncate an existing file to length bytes</a:t>
            </a:r>
          </a:p>
          <a:p>
            <a:pPr algn="just" eaLnBrk="1" hangingPunct="1">
              <a:spcBef>
                <a:spcPct val="20000"/>
              </a:spcBef>
              <a:buFontTx/>
              <a:buChar char="•"/>
            </a:pPr>
            <a:r>
              <a:rPr lang="en-US" altLang="en-US" sz="2800">
                <a:latin typeface="Times New Roman" panose="02020603050405020304" pitchFamily="18" charset="0"/>
              </a:rPr>
              <a:t>If the previous size of the </a:t>
            </a:r>
            <a:r>
              <a:rPr lang="en-US" altLang="en-US" sz="2800">
                <a:solidFill>
                  <a:schemeClr val="accent2"/>
                </a:solidFill>
                <a:latin typeface="Times New Roman" panose="02020603050405020304" pitchFamily="18" charset="0"/>
              </a:rPr>
              <a:t>file &gt; length</a:t>
            </a:r>
            <a:r>
              <a:rPr lang="en-US" altLang="en-US" sz="2800">
                <a:latin typeface="Times New Roman" panose="02020603050405020304" pitchFamily="18" charset="0"/>
              </a:rPr>
              <a:t>, the data beyond length is no longer accessible</a:t>
            </a:r>
          </a:p>
          <a:p>
            <a:pPr algn="just" eaLnBrk="1" hangingPunct="1">
              <a:spcBef>
                <a:spcPct val="20000"/>
              </a:spcBef>
              <a:buFontTx/>
              <a:buChar char="•"/>
            </a:pPr>
            <a:r>
              <a:rPr lang="en-US" altLang="en-US" sz="2800">
                <a:latin typeface="Times New Roman" panose="02020603050405020304" pitchFamily="18" charset="0"/>
              </a:rPr>
              <a:t>If the previous size of the file &lt; length, the effect is system dependent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dissolve">
                                      <p:cBhvr>
                                        <p:cTn id="12" dur="500"/>
                                        <p:tgtEl>
                                          <p:spTgt spid="1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dissolve">
                                      <p:cBhvr>
                                        <p:cTn id="17" dur="500"/>
                                        <p:tgtEl>
                                          <p:spTgt spid="1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dissolve">
                                      <p:cBhvr>
                                        <p:cTn id="22" dur="500"/>
                                        <p:tgtEl>
                                          <p:spTgt spid="1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dissolve">
                                      <p:cBhvr>
                                        <p:cTn id="27" dur="500"/>
                                        <p:tgtEl>
                                          <p:spTgt spid="1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
                                            <p:txEl>
                                              <p:pRg st="5" end="5"/>
                                            </p:txEl>
                                          </p:spTgt>
                                        </p:tgtEl>
                                        <p:attrNameLst>
                                          <p:attrName>style.visibility</p:attrName>
                                        </p:attrNameLst>
                                      </p:cBhvr>
                                      <p:to>
                                        <p:strVal val="visible"/>
                                      </p:to>
                                    </p:set>
                                    <p:animEffect transition="in" filter="dissolve">
                                      <p:cBhvr>
                                        <p:cTn id="32" dur="500"/>
                                        <p:tgtEl>
                                          <p:spTgt spid="10">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0">
                                            <p:txEl>
                                              <p:pRg st="6" end="6"/>
                                            </p:txEl>
                                          </p:spTgt>
                                        </p:tgtEl>
                                        <p:attrNameLst>
                                          <p:attrName>style.visibility</p:attrName>
                                        </p:attrNameLst>
                                      </p:cBhvr>
                                      <p:to>
                                        <p:strVal val="visible"/>
                                      </p:to>
                                    </p:set>
                                    <p:animEffect transition="in" filter="dissolve">
                                      <p:cBhvr>
                                        <p:cTn id="37" dur="500"/>
                                        <p:tgtEl>
                                          <p:spTgt spid="10">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0">
                                            <p:txEl>
                                              <p:pRg st="7" end="7"/>
                                            </p:txEl>
                                          </p:spTgt>
                                        </p:tgtEl>
                                        <p:attrNameLst>
                                          <p:attrName>style.visibility</p:attrName>
                                        </p:attrNameLst>
                                      </p:cBhvr>
                                      <p:to>
                                        <p:strVal val="visible"/>
                                      </p:to>
                                    </p:set>
                                    <p:animEffect transition="in" filter="dissolve">
                                      <p:cBhvr>
                                        <p:cTn id="42" dur="500"/>
                                        <p:tgtEl>
                                          <p:spTgt spid="1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Box 4">
            <a:extLst>
              <a:ext uri="{FF2B5EF4-FFF2-40B4-BE49-F238E27FC236}">
                <a16:creationId xmlns:a16="http://schemas.microsoft.com/office/drawing/2014/main" id="{ECBCEF8E-5B6F-433D-5506-ABA88FC576F7}"/>
              </a:ext>
            </a:extLst>
          </p:cNvPr>
          <p:cNvSpPr txBox="1">
            <a:spLocks noChangeArrowheads="1"/>
          </p:cNvSpPr>
          <p:nvPr/>
        </p:nvSpPr>
        <p:spPr bwMode="auto">
          <a:xfrm>
            <a:off x="381000" y="1524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4819" name="TextBox 5">
            <a:extLst>
              <a:ext uri="{FF2B5EF4-FFF2-40B4-BE49-F238E27FC236}">
                <a16:creationId xmlns:a16="http://schemas.microsoft.com/office/drawing/2014/main" id="{648FB97A-DB35-7501-FE7B-A6F53FC45694}"/>
              </a:ext>
            </a:extLst>
          </p:cNvPr>
          <p:cNvSpPr txBox="1">
            <a:spLocks noChangeArrowheads="1"/>
          </p:cNvSpPr>
          <p:nvPr/>
        </p:nvSpPr>
        <p:spPr bwMode="auto">
          <a:xfrm>
            <a:off x="533400" y="3048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4820" name="TextBox 6">
            <a:extLst>
              <a:ext uri="{FF2B5EF4-FFF2-40B4-BE49-F238E27FC236}">
                <a16:creationId xmlns:a16="http://schemas.microsoft.com/office/drawing/2014/main" id="{826D7CEB-A463-9DCC-DECA-347E098AF789}"/>
              </a:ext>
            </a:extLst>
          </p:cNvPr>
          <p:cNvSpPr txBox="1">
            <a:spLocks noChangeArrowheads="1"/>
          </p:cNvSpPr>
          <p:nvPr/>
        </p:nvSpPr>
        <p:spPr bwMode="auto">
          <a:xfrm>
            <a:off x="228600" y="0"/>
            <a:ext cx="8686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3200">
                <a:solidFill>
                  <a:srgbClr val="0066FF"/>
                </a:solidFill>
              </a:rPr>
              <a:t>link, unlink, remove and rename functions</a:t>
            </a:r>
          </a:p>
        </p:txBody>
      </p:sp>
      <p:sp>
        <p:nvSpPr>
          <p:cNvPr id="9" name="Rectangle 2">
            <a:extLst>
              <a:ext uri="{FF2B5EF4-FFF2-40B4-BE49-F238E27FC236}">
                <a16:creationId xmlns:a16="http://schemas.microsoft.com/office/drawing/2014/main" id="{5C54E6C5-FFE7-C6C4-8939-6CC6EFCAF051}"/>
              </a:ext>
            </a:extLst>
          </p:cNvPr>
          <p:cNvSpPr txBox="1">
            <a:spLocks noChangeArrowheads="1"/>
          </p:cNvSpPr>
          <p:nvPr/>
        </p:nvSpPr>
        <p:spPr>
          <a:xfrm>
            <a:off x="838200" y="419100"/>
            <a:ext cx="7778750" cy="1104900"/>
          </a:xfrm>
          <a:prstGeom prst="rect">
            <a:avLst/>
          </a:prstGeom>
          <a:noFill/>
          <a:ln/>
        </p:spPr>
        <p:txBody>
          <a:bodyPr/>
          <a:lstStyle/>
          <a:p>
            <a:pPr algn="ctr">
              <a:defRPr/>
            </a:pPr>
            <a:endParaRPr lang="en-US" sz="4400" kern="0" dirty="0">
              <a:solidFill>
                <a:schemeClr val="tx2"/>
              </a:solidFill>
              <a:latin typeface="+mj-lt"/>
              <a:ea typeface="+mj-ea"/>
              <a:cs typeface="+mj-cs"/>
            </a:endParaRPr>
          </a:p>
        </p:txBody>
      </p:sp>
      <p:sp>
        <p:nvSpPr>
          <p:cNvPr id="10" name="Rectangle 3">
            <a:extLst>
              <a:ext uri="{FF2B5EF4-FFF2-40B4-BE49-F238E27FC236}">
                <a16:creationId xmlns:a16="http://schemas.microsoft.com/office/drawing/2014/main" id="{A0110F76-1287-B503-19B8-655A341F21F5}"/>
              </a:ext>
            </a:extLst>
          </p:cNvPr>
          <p:cNvSpPr txBox="1">
            <a:spLocks noChangeArrowheads="1"/>
          </p:cNvSpPr>
          <p:nvPr/>
        </p:nvSpPr>
        <p:spPr>
          <a:xfrm>
            <a:off x="228600" y="533400"/>
            <a:ext cx="8915400" cy="6019800"/>
          </a:xfrm>
          <a:prstGeom prst="rect">
            <a:avLst/>
          </a:prstGeom>
          <a:noFill/>
          <a:ln/>
        </p:spPr>
        <p:txBody>
          <a:bodyPr/>
          <a:lstStyle>
            <a:lvl1pPr marL="342900" indent="-342900" eaLnBrk="0" hangingPunct="0">
              <a:defRPr>
                <a:solidFill>
                  <a:schemeClr val="tx1"/>
                </a:solidFill>
                <a:latin typeface="Arial" panose="020B0604020202020204" pitchFamily="34" charset="0"/>
              </a:defRPr>
            </a:lvl1pPr>
            <a:lvl2pPr marL="971550" indent="-514350" eaLnBrk="0" hangingPunct="0">
              <a:defRPr>
                <a:solidFill>
                  <a:schemeClr val="tx1"/>
                </a:solidFill>
                <a:latin typeface="Arial" panose="020B0604020202020204" pitchFamily="34" charset="0"/>
              </a:defRPr>
            </a:lvl2pPr>
            <a:lvl3pPr marL="1428750" indent="-51435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20000"/>
              </a:spcBef>
              <a:buFontTx/>
              <a:buChar char="•"/>
            </a:pPr>
            <a:r>
              <a:rPr lang="en-US" altLang="en-US" sz="2700">
                <a:latin typeface="Times New Roman" panose="02020603050405020304" pitchFamily="18" charset="0"/>
              </a:rPr>
              <a:t>A file can have multiple directory entries pointing to its i-node</a:t>
            </a:r>
          </a:p>
          <a:p>
            <a:pPr algn="just" eaLnBrk="1" hangingPunct="1">
              <a:spcBef>
                <a:spcPct val="20000"/>
              </a:spcBef>
              <a:buFontTx/>
              <a:buChar char="•"/>
            </a:pPr>
            <a:r>
              <a:rPr lang="en-US" altLang="en-US" sz="2700">
                <a:latin typeface="Times New Roman" panose="02020603050405020304" pitchFamily="18" charset="0"/>
              </a:rPr>
              <a:t>We create a link to an existing file using link function</a:t>
            </a:r>
          </a:p>
          <a:p>
            <a:pPr algn="just" eaLnBrk="1" hangingPunct="1">
              <a:spcBef>
                <a:spcPct val="20000"/>
              </a:spcBef>
            </a:pPr>
            <a:r>
              <a:rPr lang="en-US" altLang="en-US" sz="2700">
                <a:solidFill>
                  <a:srgbClr val="CC3300"/>
                </a:solidFill>
                <a:latin typeface="Times New Roman" panose="02020603050405020304" pitchFamily="18" charset="0"/>
              </a:rPr>
              <a:t>#include &lt;unistd.h&gt;</a:t>
            </a:r>
          </a:p>
          <a:p>
            <a:pPr algn="just" eaLnBrk="1" hangingPunct="1">
              <a:spcBef>
                <a:spcPct val="20000"/>
              </a:spcBef>
            </a:pPr>
            <a:r>
              <a:rPr lang="en-US" altLang="en-US" sz="2700">
                <a:solidFill>
                  <a:srgbClr val="CC3300"/>
                </a:solidFill>
                <a:latin typeface="Times New Roman" panose="02020603050405020304" pitchFamily="18" charset="0"/>
              </a:rPr>
              <a:t>int link (const char *existingpath, const char *newpath);</a:t>
            </a:r>
          </a:p>
          <a:p>
            <a:pPr algn="just" eaLnBrk="1" hangingPunct="1">
              <a:spcBef>
                <a:spcPct val="20000"/>
              </a:spcBef>
            </a:pPr>
            <a:r>
              <a:rPr lang="en-US" altLang="en-US" sz="2700">
                <a:latin typeface="Times New Roman" panose="02020603050405020304" pitchFamily="18" charset="0"/>
              </a:rPr>
              <a:t>			</a:t>
            </a:r>
            <a:r>
              <a:rPr lang="en-US" altLang="en-US" sz="2700">
                <a:solidFill>
                  <a:srgbClr val="0066FF"/>
                </a:solidFill>
                <a:latin typeface="Times New Roman" panose="02020603050405020304" pitchFamily="18" charset="0"/>
              </a:rPr>
              <a:t>returns 0 on ok, -1 on error</a:t>
            </a:r>
          </a:p>
          <a:p>
            <a:pPr algn="just" eaLnBrk="1" hangingPunct="1">
              <a:spcBef>
                <a:spcPct val="20000"/>
              </a:spcBef>
              <a:buFontTx/>
              <a:buChar char="•"/>
            </a:pPr>
            <a:r>
              <a:rPr lang="en-US" altLang="en-US" sz="2700">
                <a:latin typeface="Times New Roman" panose="02020603050405020304" pitchFamily="18" charset="0"/>
              </a:rPr>
              <a:t>It creates a new directory entry in newpath, that references the existing file existingpath</a:t>
            </a:r>
          </a:p>
          <a:p>
            <a:pPr algn="just" eaLnBrk="1" hangingPunct="1">
              <a:spcBef>
                <a:spcPct val="20000"/>
              </a:spcBef>
              <a:buFontTx/>
              <a:buChar char="•"/>
            </a:pPr>
            <a:r>
              <a:rPr lang="en-US" altLang="en-US" sz="2700">
                <a:latin typeface="Times New Roman" panose="02020603050405020304" pitchFamily="18" charset="0"/>
              </a:rPr>
              <a:t>If newpath is already exists, an error is returned</a:t>
            </a:r>
          </a:p>
          <a:p>
            <a:pPr algn="just" eaLnBrk="1" hangingPunct="1">
              <a:spcBef>
                <a:spcPct val="20000"/>
              </a:spcBef>
              <a:buFontTx/>
              <a:buChar char="•"/>
            </a:pPr>
            <a:r>
              <a:rPr lang="en-US" altLang="en-US" sz="2700">
                <a:latin typeface="Times New Roman" panose="02020603050405020304" pitchFamily="18" charset="0"/>
              </a:rPr>
              <a:t>Only the last component of the newpath is created. Rest of the path must already exist</a:t>
            </a:r>
          </a:p>
          <a:p>
            <a:pPr algn="just" eaLnBrk="1" hangingPunct="1">
              <a:spcBef>
                <a:spcPct val="20000"/>
              </a:spcBef>
              <a:buFontTx/>
              <a:buChar char="•"/>
            </a:pPr>
            <a:r>
              <a:rPr lang="en-US" altLang="en-US" sz="2700">
                <a:latin typeface="Times New Roman" panose="02020603050405020304" pitchFamily="18" charset="0"/>
              </a:rPr>
              <a:t>The creation of the new directory entry and increment of the link count must be an atomic operation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dissolve">
                                      <p:cBhvr>
                                        <p:cTn id="12" dur="500"/>
                                        <p:tgtEl>
                                          <p:spTgt spid="1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dissolve">
                                      <p:cBhvr>
                                        <p:cTn id="17" dur="500"/>
                                        <p:tgtEl>
                                          <p:spTgt spid="1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dissolve">
                                      <p:cBhvr>
                                        <p:cTn id="22" dur="500"/>
                                        <p:tgtEl>
                                          <p:spTgt spid="1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dissolve">
                                      <p:cBhvr>
                                        <p:cTn id="27" dur="500"/>
                                        <p:tgtEl>
                                          <p:spTgt spid="1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
                                            <p:txEl>
                                              <p:pRg st="5" end="5"/>
                                            </p:txEl>
                                          </p:spTgt>
                                        </p:tgtEl>
                                        <p:attrNameLst>
                                          <p:attrName>style.visibility</p:attrName>
                                        </p:attrNameLst>
                                      </p:cBhvr>
                                      <p:to>
                                        <p:strVal val="visible"/>
                                      </p:to>
                                    </p:set>
                                    <p:animEffect transition="in" filter="dissolve">
                                      <p:cBhvr>
                                        <p:cTn id="32" dur="500"/>
                                        <p:tgtEl>
                                          <p:spTgt spid="10">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0">
                                            <p:txEl>
                                              <p:pRg st="6" end="6"/>
                                            </p:txEl>
                                          </p:spTgt>
                                        </p:tgtEl>
                                        <p:attrNameLst>
                                          <p:attrName>style.visibility</p:attrName>
                                        </p:attrNameLst>
                                      </p:cBhvr>
                                      <p:to>
                                        <p:strVal val="visible"/>
                                      </p:to>
                                    </p:set>
                                    <p:animEffect transition="in" filter="dissolve">
                                      <p:cBhvr>
                                        <p:cTn id="37" dur="500"/>
                                        <p:tgtEl>
                                          <p:spTgt spid="10">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0">
                                            <p:txEl>
                                              <p:pRg st="7" end="7"/>
                                            </p:txEl>
                                          </p:spTgt>
                                        </p:tgtEl>
                                        <p:attrNameLst>
                                          <p:attrName>style.visibility</p:attrName>
                                        </p:attrNameLst>
                                      </p:cBhvr>
                                      <p:to>
                                        <p:strVal val="visible"/>
                                      </p:to>
                                    </p:set>
                                    <p:animEffect transition="in" filter="dissolve">
                                      <p:cBhvr>
                                        <p:cTn id="42" dur="500"/>
                                        <p:tgtEl>
                                          <p:spTgt spid="10">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0">
                                            <p:txEl>
                                              <p:pRg st="8" end="8"/>
                                            </p:txEl>
                                          </p:spTgt>
                                        </p:tgtEl>
                                        <p:attrNameLst>
                                          <p:attrName>style.visibility</p:attrName>
                                        </p:attrNameLst>
                                      </p:cBhvr>
                                      <p:to>
                                        <p:strVal val="visible"/>
                                      </p:to>
                                    </p:set>
                                    <p:animEffect transition="in" filter="dissolve">
                                      <p:cBhvr>
                                        <p:cTn id="47" dur="500"/>
                                        <p:tgtEl>
                                          <p:spTgt spid="1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Box 4">
            <a:extLst>
              <a:ext uri="{FF2B5EF4-FFF2-40B4-BE49-F238E27FC236}">
                <a16:creationId xmlns:a16="http://schemas.microsoft.com/office/drawing/2014/main" id="{063EC1DD-E7EE-5264-2E0B-665195943357}"/>
              </a:ext>
            </a:extLst>
          </p:cNvPr>
          <p:cNvSpPr txBox="1">
            <a:spLocks noChangeArrowheads="1"/>
          </p:cNvSpPr>
          <p:nvPr/>
        </p:nvSpPr>
        <p:spPr bwMode="auto">
          <a:xfrm>
            <a:off x="381000" y="1524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5843" name="TextBox 5">
            <a:extLst>
              <a:ext uri="{FF2B5EF4-FFF2-40B4-BE49-F238E27FC236}">
                <a16:creationId xmlns:a16="http://schemas.microsoft.com/office/drawing/2014/main" id="{B3EFA46D-CEF3-7C9B-5572-B7F3C0B2A73D}"/>
              </a:ext>
            </a:extLst>
          </p:cNvPr>
          <p:cNvSpPr txBox="1">
            <a:spLocks noChangeArrowheads="1"/>
          </p:cNvSpPr>
          <p:nvPr/>
        </p:nvSpPr>
        <p:spPr bwMode="auto">
          <a:xfrm>
            <a:off x="533400" y="3048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 name="Rectangle 2">
            <a:extLst>
              <a:ext uri="{FF2B5EF4-FFF2-40B4-BE49-F238E27FC236}">
                <a16:creationId xmlns:a16="http://schemas.microsoft.com/office/drawing/2014/main" id="{1937CFC3-0B8B-64F5-7153-39A735CF805F}"/>
              </a:ext>
            </a:extLst>
          </p:cNvPr>
          <p:cNvSpPr txBox="1">
            <a:spLocks noChangeArrowheads="1"/>
          </p:cNvSpPr>
          <p:nvPr/>
        </p:nvSpPr>
        <p:spPr>
          <a:xfrm>
            <a:off x="838200" y="419100"/>
            <a:ext cx="7778750" cy="1104900"/>
          </a:xfrm>
          <a:prstGeom prst="rect">
            <a:avLst/>
          </a:prstGeom>
          <a:noFill/>
          <a:ln/>
        </p:spPr>
        <p:txBody>
          <a:bodyPr/>
          <a:lstStyle/>
          <a:p>
            <a:pPr algn="ctr">
              <a:defRPr/>
            </a:pPr>
            <a:endParaRPr lang="en-US" sz="4400" kern="0" dirty="0">
              <a:solidFill>
                <a:schemeClr val="tx2"/>
              </a:solidFill>
              <a:latin typeface="+mj-lt"/>
              <a:ea typeface="+mj-ea"/>
              <a:cs typeface="+mj-cs"/>
            </a:endParaRPr>
          </a:p>
        </p:txBody>
      </p:sp>
      <p:sp>
        <p:nvSpPr>
          <p:cNvPr id="10" name="Rectangle 3">
            <a:extLst>
              <a:ext uri="{FF2B5EF4-FFF2-40B4-BE49-F238E27FC236}">
                <a16:creationId xmlns:a16="http://schemas.microsoft.com/office/drawing/2014/main" id="{A9C2BCAE-4935-9110-34FB-7BEB8C65A38D}"/>
              </a:ext>
            </a:extLst>
          </p:cNvPr>
          <p:cNvSpPr txBox="1">
            <a:spLocks noChangeArrowheads="1"/>
          </p:cNvSpPr>
          <p:nvPr/>
        </p:nvSpPr>
        <p:spPr>
          <a:xfrm>
            <a:off x="228600" y="152400"/>
            <a:ext cx="8915400" cy="6400800"/>
          </a:xfrm>
          <a:prstGeom prst="rect">
            <a:avLst/>
          </a:prstGeom>
          <a:noFill/>
          <a:ln/>
        </p:spPr>
        <p:txBody>
          <a:bodyPr/>
          <a:lstStyle>
            <a:lvl1pPr marL="342900" indent="-342900" eaLnBrk="0" hangingPunct="0">
              <a:defRPr>
                <a:solidFill>
                  <a:schemeClr val="tx1"/>
                </a:solidFill>
                <a:latin typeface="Arial" panose="020B0604020202020204" pitchFamily="34" charset="0"/>
              </a:defRPr>
            </a:lvl1pPr>
            <a:lvl2pPr marL="971550" indent="-514350" eaLnBrk="0" hangingPunct="0">
              <a:defRPr>
                <a:solidFill>
                  <a:schemeClr val="tx1"/>
                </a:solidFill>
                <a:latin typeface="Arial" panose="020B0604020202020204" pitchFamily="34" charset="0"/>
              </a:defRPr>
            </a:lvl2pPr>
            <a:lvl3pPr marL="1428750" indent="-51435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20000"/>
              </a:spcBef>
              <a:buFontTx/>
              <a:buChar char="•"/>
            </a:pPr>
            <a:r>
              <a:rPr lang="en-US" altLang="en-US" sz="2800">
                <a:latin typeface="Times New Roman" panose="02020603050405020304" pitchFamily="18" charset="0"/>
              </a:rPr>
              <a:t>To remove an existing directory entry, we can use unlink function</a:t>
            </a:r>
          </a:p>
          <a:p>
            <a:pPr algn="just" eaLnBrk="1" hangingPunct="1">
              <a:spcBef>
                <a:spcPct val="20000"/>
              </a:spcBef>
            </a:pPr>
            <a:r>
              <a:rPr lang="en-US" altLang="en-US" sz="2800">
                <a:solidFill>
                  <a:srgbClr val="CC3300"/>
                </a:solidFill>
                <a:latin typeface="Times New Roman" panose="02020603050405020304" pitchFamily="18" charset="0"/>
              </a:rPr>
              <a:t>#include &lt;unistd.h&gt;</a:t>
            </a:r>
          </a:p>
          <a:p>
            <a:pPr algn="just" eaLnBrk="1" hangingPunct="1">
              <a:spcBef>
                <a:spcPct val="20000"/>
              </a:spcBef>
            </a:pPr>
            <a:r>
              <a:rPr lang="en-US" altLang="en-US" sz="2800">
                <a:solidFill>
                  <a:srgbClr val="CC3300"/>
                </a:solidFill>
                <a:latin typeface="Times New Roman" panose="02020603050405020304" pitchFamily="18" charset="0"/>
              </a:rPr>
              <a:t>int unlink (const char *existingpath);</a:t>
            </a:r>
          </a:p>
          <a:p>
            <a:pPr algn="just" eaLnBrk="1" hangingPunct="1">
              <a:spcBef>
                <a:spcPct val="20000"/>
              </a:spcBef>
            </a:pPr>
            <a:r>
              <a:rPr lang="en-US" altLang="en-US" sz="2800">
                <a:latin typeface="Times New Roman" panose="02020603050405020304" pitchFamily="18" charset="0"/>
              </a:rPr>
              <a:t>			</a:t>
            </a:r>
            <a:r>
              <a:rPr lang="en-US" altLang="en-US" sz="2800">
                <a:solidFill>
                  <a:srgbClr val="0066FF"/>
                </a:solidFill>
                <a:latin typeface="Times New Roman" panose="02020603050405020304" pitchFamily="18" charset="0"/>
              </a:rPr>
              <a:t>returns 0 on ok, -1 on error</a:t>
            </a:r>
          </a:p>
          <a:p>
            <a:pPr algn="just" eaLnBrk="1" hangingPunct="1">
              <a:spcBef>
                <a:spcPct val="20000"/>
              </a:spcBef>
              <a:buFontTx/>
              <a:buChar char="•"/>
            </a:pPr>
            <a:r>
              <a:rPr lang="en-US" altLang="en-US" sz="2800">
                <a:latin typeface="Times New Roman" panose="02020603050405020304" pitchFamily="18" charset="0"/>
              </a:rPr>
              <a:t>It removes the directory entry and decrements the link count of the file referenced by existingpath</a:t>
            </a:r>
          </a:p>
          <a:p>
            <a:pPr algn="just" eaLnBrk="1" hangingPunct="1">
              <a:spcBef>
                <a:spcPct val="20000"/>
              </a:spcBef>
              <a:buFontTx/>
              <a:buChar char="•"/>
            </a:pPr>
            <a:r>
              <a:rPr lang="en-US" altLang="en-US" sz="2800">
                <a:latin typeface="Times New Roman" panose="02020603050405020304" pitchFamily="18" charset="0"/>
              </a:rPr>
              <a:t>If there are other links to the file, the data in the file is still accessible through other links</a:t>
            </a:r>
          </a:p>
          <a:p>
            <a:pPr algn="just" eaLnBrk="1" hangingPunct="1">
              <a:spcBef>
                <a:spcPct val="20000"/>
              </a:spcBef>
              <a:buFontTx/>
              <a:buChar char="•"/>
            </a:pPr>
            <a:r>
              <a:rPr lang="en-US" altLang="en-US" sz="2800">
                <a:latin typeface="Times New Roman" panose="02020603050405020304" pitchFamily="18" charset="0"/>
              </a:rPr>
              <a:t>When the link count reaches 0 can the contents of the file be deleted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dissolve">
                                      <p:cBhvr>
                                        <p:cTn id="12" dur="500"/>
                                        <p:tgtEl>
                                          <p:spTgt spid="1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dissolve">
                                      <p:cBhvr>
                                        <p:cTn id="17" dur="500"/>
                                        <p:tgtEl>
                                          <p:spTgt spid="1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dissolve">
                                      <p:cBhvr>
                                        <p:cTn id="22" dur="500"/>
                                        <p:tgtEl>
                                          <p:spTgt spid="1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dissolve">
                                      <p:cBhvr>
                                        <p:cTn id="27" dur="500"/>
                                        <p:tgtEl>
                                          <p:spTgt spid="1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
                                            <p:txEl>
                                              <p:pRg st="5" end="5"/>
                                            </p:txEl>
                                          </p:spTgt>
                                        </p:tgtEl>
                                        <p:attrNameLst>
                                          <p:attrName>style.visibility</p:attrName>
                                        </p:attrNameLst>
                                      </p:cBhvr>
                                      <p:to>
                                        <p:strVal val="visible"/>
                                      </p:to>
                                    </p:set>
                                    <p:animEffect transition="in" filter="dissolve">
                                      <p:cBhvr>
                                        <p:cTn id="32" dur="500"/>
                                        <p:tgtEl>
                                          <p:spTgt spid="10">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0">
                                            <p:txEl>
                                              <p:pRg st="6" end="6"/>
                                            </p:txEl>
                                          </p:spTgt>
                                        </p:tgtEl>
                                        <p:attrNameLst>
                                          <p:attrName>style.visibility</p:attrName>
                                        </p:attrNameLst>
                                      </p:cBhvr>
                                      <p:to>
                                        <p:strVal val="visible"/>
                                      </p:to>
                                    </p:set>
                                    <p:animEffect transition="in" filter="dissolve">
                                      <p:cBhvr>
                                        <p:cTn id="37" dur="5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Box 4">
            <a:extLst>
              <a:ext uri="{FF2B5EF4-FFF2-40B4-BE49-F238E27FC236}">
                <a16:creationId xmlns:a16="http://schemas.microsoft.com/office/drawing/2014/main" id="{19DAEBB6-8185-914C-4475-1EC7F7564B77}"/>
              </a:ext>
            </a:extLst>
          </p:cNvPr>
          <p:cNvSpPr txBox="1">
            <a:spLocks noChangeArrowheads="1"/>
          </p:cNvSpPr>
          <p:nvPr/>
        </p:nvSpPr>
        <p:spPr bwMode="auto">
          <a:xfrm>
            <a:off x="381000" y="1524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8915" name="TextBox 5">
            <a:extLst>
              <a:ext uri="{FF2B5EF4-FFF2-40B4-BE49-F238E27FC236}">
                <a16:creationId xmlns:a16="http://schemas.microsoft.com/office/drawing/2014/main" id="{20FE7084-A143-FA23-2803-A44D9F7391DA}"/>
              </a:ext>
            </a:extLst>
          </p:cNvPr>
          <p:cNvSpPr txBox="1">
            <a:spLocks noChangeArrowheads="1"/>
          </p:cNvSpPr>
          <p:nvPr/>
        </p:nvSpPr>
        <p:spPr bwMode="auto">
          <a:xfrm>
            <a:off x="533400" y="3048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 name="Rectangle 2">
            <a:extLst>
              <a:ext uri="{FF2B5EF4-FFF2-40B4-BE49-F238E27FC236}">
                <a16:creationId xmlns:a16="http://schemas.microsoft.com/office/drawing/2014/main" id="{1EF76E1B-3A15-9AE8-33F4-0193FFF6771A}"/>
              </a:ext>
            </a:extLst>
          </p:cNvPr>
          <p:cNvSpPr txBox="1">
            <a:spLocks noChangeArrowheads="1"/>
          </p:cNvSpPr>
          <p:nvPr/>
        </p:nvSpPr>
        <p:spPr>
          <a:xfrm>
            <a:off x="838200" y="419100"/>
            <a:ext cx="7778750" cy="1104900"/>
          </a:xfrm>
          <a:prstGeom prst="rect">
            <a:avLst/>
          </a:prstGeom>
          <a:noFill/>
          <a:ln/>
        </p:spPr>
        <p:txBody>
          <a:bodyPr/>
          <a:lstStyle/>
          <a:p>
            <a:pPr algn="ctr">
              <a:defRPr/>
            </a:pPr>
            <a:endParaRPr lang="en-US" sz="4400" kern="0" dirty="0">
              <a:solidFill>
                <a:schemeClr val="tx2"/>
              </a:solidFill>
              <a:latin typeface="+mj-lt"/>
              <a:ea typeface="+mj-ea"/>
              <a:cs typeface="+mj-cs"/>
            </a:endParaRPr>
          </a:p>
        </p:txBody>
      </p:sp>
      <p:sp>
        <p:nvSpPr>
          <p:cNvPr id="10" name="Rectangle 3">
            <a:extLst>
              <a:ext uri="{FF2B5EF4-FFF2-40B4-BE49-F238E27FC236}">
                <a16:creationId xmlns:a16="http://schemas.microsoft.com/office/drawing/2014/main" id="{0E735E8C-F50A-7A22-65A5-B5BE0B3124C1}"/>
              </a:ext>
            </a:extLst>
          </p:cNvPr>
          <p:cNvSpPr txBox="1">
            <a:spLocks noChangeArrowheads="1"/>
          </p:cNvSpPr>
          <p:nvPr/>
        </p:nvSpPr>
        <p:spPr>
          <a:xfrm>
            <a:off x="228600" y="152400"/>
            <a:ext cx="8915400" cy="6400800"/>
          </a:xfrm>
          <a:prstGeom prst="rect">
            <a:avLst/>
          </a:prstGeom>
          <a:noFill/>
          <a:ln/>
        </p:spPr>
        <p:txBody>
          <a:bodyPr/>
          <a:lstStyle>
            <a:lvl1pPr marL="342900" indent="-342900" eaLnBrk="0" hangingPunct="0">
              <a:defRPr>
                <a:solidFill>
                  <a:schemeClr val="tx1"/>
                </a:solidFill>
                <a:latin typeface="Arial" panose="020B0604020202020204" pitchFamily="34" charset="0"/>
              </a:defRPr>
            </a:lvl1pPr>
            <a:lvl2pPr marL="971550" indent="-514350" eaLnBrk="0" hangingPunct="0">
              <a:defRPr>
                <a:solidFill>
                  <a:schemeClr val="tx1"/>
                </a:solidFill>
                <a:latin typeface="Arial" panose="020B0604020202020204" pitchFamily="34" charset="0"/>
              </a:defRPr>
            </a:lvl2pPr>
            <a:lvl3pPr marL="1428750" indent="-51435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20000"/>
              </a:spcBef>
              <a:buFontTx/>
              <a:buChar char="•"/>
            </a:pPr>
            <a:r>
              <a:rPr lang="en-US" altLang="en-US" sz="3400">
                <a:latin typeface="Times New Roman" panose="02020603050405020304" pitchFamily="18" charset="0"/>
              </a:rPr>
              <a:t>As long as the some process has the file open, its contents will not be deleted</a:t>
            </a:r>
          </a:p>
          <a:p>
            <a:pPr algn="just" eaLnBrk="1" hangingPunct="1">
              <a:spcBef>
                <a:spcPct val="20000"/>
              </a:spcBef>
              <a:buFontTx/>
              <a:buChar char="•"/>
            </a:pPr>
            <a:r>
              <a:rPr lang="en-US" altLang="en-US" sz="3400">
                <a:latin typeface="Times New Roman" panose="02020603050405020304" pitchFamily="18" charset="0"/>
              </a:rPr>
              <a:t>When the file is closed, the kernel first checks the count of the number of processes that have the file open. If this is reached 0, the kernel checks the link count, if it is 0, the file contents are deleted</a:t>
            </a:r>
          </a:p>
          <a:p>
            <a:pPr algn="just" eaLnBrk="1" hangingPunct="1">
              <a:spcBef>
                <a:spcPct val="20000"/>
              </a:spcBef>
              <a:buFontTx/>
              <a:buChar char="•"/>
            </a:pPr>
            <a:r>
              <a:rPr lang="en-US" altLang="en-US" sz="3400">
                <a:latin typeface="Times New Roman" panose="02020603050405020304" pitchFamily="18" charset="0"/>
              </a:rPr>
              <a:t>If the pathname is a symbolic link, unlink removes link only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dissolve">
                                      <p:cBhvr>
                                        <p:cTn id="12" dur="500"/>
                                        <p:tgtEl>
                                          <p:spTgt spid="1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dissolve">
                                      <p:cBhvr>
                                        <p:cTn id="17"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Box 4">
            <a:extLst>
              <a:ext uri="{FF2B5EF4-FFF2-40B4-BE49-F238E27FC236}">
                <a16:creationId xmlns:a16="http://schemas.microsoft.com/office/drawing/2014/main" id="{DA3775FF-909C-9239-86B8-F276A838539F}"/>
              </a:ext>
            </a:extLst>
          </p:cNvPr>
          <p:cNvSpPr txBox="1">
            <a:spLocks noChangeArrowheads="1"/>
          </p:cNvSpPr>
          <p:nvPr/>
        </p:nvSpPr>
        <p:spPr bwMode="auto">
          <a:xfrm>
            <a:off x="381000" y="1524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9939" name="TextBox 5">
            <a:extLst>
              <a:ext uri="{FF2B5EF4-FFF2-40B4-BE49-F238E27FC236}">
                <a16:creationId xmlns:a16="http://schemas.microsoft.com/office/drawing/2014/main" id="{3D973925-01C8-1F4B-3E35-1863BDA30B29}"/>
              </a:ext>
            </a:extLst>
          </p:cNvPr>
          <p:cNvSpPr txBox="1">
            <a:spLocks noChangeArrowheads="1"/>
          </p:cNvSpPr>
          <p:nvPr/>
        </p:nvSpPr>
        <p:spPr bwMode="auto">
          <a:xfrm>
            <a:off x="533400" y="3048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 name="Rectangle 2">
            <a:extLst>
              <a:ext uri="{FF2B5EF4-FFF2-40B4-BE49-F238E27FC236}">
                <a16:creationId xmlns:a16="http://schemas.microsoft.com/office/drawing/2014/main" id="{51461E18-C61A-D598-A98A-278A48EAB3B8}"/>
              </a:ext>
            </a:extLst>
          </p:cNvPr>
          <p:cNvSpPr txBox="1">
            <a:spLocks noChangeArrowheads="1"/>
          </p:cNvSpPr>
          <p:nvPr/>
        </p:nvSpPr>
        <p:spPr>
          <a:xfrm>
            <a:off x="838200" y="419100"/>
            <a:ext cx="7778750" cy="1104900"/>
          </a:xfrm>
          <a:prstGeom prst="rect">
            <a:avLst/>
          </a:prstGeom>
          <a:noFill/>
          <a:ln/>
        </p:spPr>
        <p:txBody>
          <a:bodyPr/>
          <a:lstStyle/>
          <a:p>
            <a:pPr algn="ctr">
              <a:defRPr/>
            </a:pPr>
            <a:endParaRPr lang="en-US" sz="4400" kern="0" dirty="0">
              <a:solidFill>
                <a:schemeClr val="tx2"/>
              </a:solidFill>
              <a:latin typeface="+mj-lt"/>
              <a:ea typeface="+mj-ea"/>
              <a:cs typeface="+mj-cs"/>
            </a:endParaRPr>
          </a:p>
        </p:txBody>
      </p:sp>
      <p:sp>
        <p:nvSpPr>
          <p:cNvPr id="10" name="Rectangle 3">
            <a:extLst>
              <a:ext uri="{FF2B5EF4-FFF2-40B4-BE49-F238E27FC236}">
                <a16:creationId xmlns:a16="http://schemas.microsoft.com/office/drawing/2014/main" id="{28F70244-BB75-A23B-57AE-F65AA706D914}"/>
              </a:ext>
            </a:extLst>
          </p:cNvPr>
          <p:cNvSpPr txBox="1">
            <a:spLocks noChangeArrowheads="1"/>
          </p:cNvSpPr>
          <p:nvPr/>
        </p:nvSpPr>
        <p:spPr>
          <a:xfrm>
            <a:off x="228600" y="152400"/>
            <a:ext cx="8915400" cy="6400800"/>
          </a:xfrm>
          <a:prstGeom prst="rect">
            <a:avLst/>
          </a:prstGeom>
          <a:noFill/>
          <a:ln/>
        </p:spPr>
        <p:txBody>
          <a:bodyPr/>
          <a:lstStyle>
            <a:lvl1pPr marL="342900" indent="-342900" eaLnBrk="0" hangingPunct="0">
              <a:defRPr>
                <a:solidFill>
                  <a:schemeClr val="tx1"/>
                </a:solidFill>
                <a:latin typeface="Arial" panose="020B0604020202020204" pitchFamily="34" charset="0"/>
              </a:defRPr>
            </a:lvl1pPr>
            <a:lvl2pPr marL="971550" indent="-514350" eaLnBrk="0" hangingPunct="0">
              <a:defRPr>
                <a:solidFill>
                  <a:schemeClr val="tx1"/>
                </a:solidFill>
                <a:latin typeface="Arial" panose="020B0604020202020204" pitchFamily="34" charset="0"/>
              </a:defRPr>
            </a:lvl2pPr>
            <a:lvl3pPr marL="1428750" indent="-51435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20000"/>
              </a:spcBef>
              <a:buFontTx/>
              <a:buChar char="•"/>
            </a:pPr>
            <a:r>
              <a:rPr lang="en-US" altLang="en-US" sz="3600">
                <a:latin typeface="Times New Roman" panose="02020603050405020304" pitchFamily="18" charset="0"/>
              </a:rPr>
              <a:t>We can also unlink a file or directory with the remove funciton</a:t>
            </a:r>
          </a:p>
          <a:p>
            <a:pPr algn="just" eaLnBrk="1" hangingPunct="1">
              <a:spcBef>
                <a:spcPct val="20000"/>
              </a:spcBef>
            </a:pPr>
            <a:r>
              <a:rPr lang="en-US" altLang="en-US" sz="3600">
                <a:solidFill>
                  <a:srgbClr val="CC3300"/>
                </a:solidFill>
                <a:latin typeface="Times New Roman" panose="02020603050405020304" pitchFamily="18" charset="0"/>
              </a:rPr>
              <a:t>#include &lt;stdio.h&gt;</a:t>
            </a:r>
          </a:p>
          <a:p>
            <a:pPr algn="just" eaLnBrk="1" hangingPunct="1">
              <a:spcBef>
                <a:spcPct val="20000"/>
              </a:spcBef>
            </a:pPr>
            <a:r>
              <a:rPr lang="en-US" altLang="en-US" sz="3600">
                <a:solidFill>
                  <a:srgbClr val="CC3300"/>
                </a:solidFill>
                <a:latin typeface="Times New Roman" panose="02020603050405020304" pitchFamily="18" charset="0"/>
              </a:rPr>
              <a:t>int remove (const char *pathname);</a:t>
            </a:r>
          </a:p>
          <a:p>
            <a:pPr algn="just" eaLnBrk="1" hangingPunct="1">
              <a:spcBef>
                <a:spcPct val="20000"/>
              </a:spcBef>
            </a:pPr>
            <a:r>
              <a:rPr lang="en-US" altLang="en-US" sz="3600">
                <a:latin typeface="Times New Roman" panose="02020603050405020304" pitchFamily="18" charset="0"/>
              </a:rPr>
              <a:t>			</a:t>
            </a:r>
            <a:r>
              <a:rPr lang="en-US" altLang="en-US" sz="3600">
                <a:solidFill>
                  <a:srgbClr val="0066FF"/>
                </a:solidFill>
                <a:latin typeface="Times New Roman" panose="02020603050405020304" pitchFamily="18" charset="0"/>
              </a:rPr>
              <a:t>returns 0 on ok, -1 on error</a:t>
            </a:r>
          </a:p>
          <a:p>
            <a:pPr algn="just" eaLnBrk="1" hangingPunct="1">
              <a:spcBef>
                <a:spcPct val="20000"/>
              </a:spcBef>
              <a:buFontTx/>
              <a:buChar char="•"/>
            </a:pPr>
            <a:r>
              <a:rPr lang="en-US" altLang="en-US" sz="3600">
                <a:latin typeface="Times New Roman" panose="02020603050405020304" pitchFamily="18" charset="0"/>
              </a:rPr>
              <a:t>For a file remove is identical to unlink</a:t>
            </a:r>
          </a:p>
          <a:p>
            <a:pPr algn="just" eaLnBrk="1" hangingPunct="1">
              <a:spcBef>
                <a:spcPct val="20000"/>
              </a:spcBef>
              <a:buFontTx/>
              <a:buChar char="•"/>
            </a:pPr>
            <a:r>
              <a:rPr lang="en-US" altLang="en-US" sz="3600">
                <a:latin typeface="Times New Roman" panose="02020603050405020304" pitchFamily="18" charset="0"/>
              </a:rPr>
              <a:t>For a directory remove is identical to rmdir</a:t>
            </a:r>
          </a:p>
          <a:p>
            <a:pPr algn="just" eaLnBrk="1" hangingPunct="1">
              <a:spcBef>
                <a:spcPct val="20000"/>
              </a:spcBef>
            </a:pPr>
            <a:endParaRPr lang="en-US" altLang="en-US" sz="36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dissolve">
                                      <p:cBhvr>
                                        <p:cTn id="12" dur="500"/>
                                        <p:tgtEl>
                                          <p:spTgt spid="1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dissolve">
                                      <p:cBhvr>
                                        <p:cTn id="17" dur="500"/>
                                        <p:tgtEl>
                                          <p:spTgt spid="1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dissolve">
                                      <p:cBhvr>
                                        <p:cTn id="22" dur="500"/>
                                        <p:tgtEl>
                                          <p:spTgt spid="1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dissolve">
                                      <p:cBhvr>
                                        <p:cTn id="27" dur="500"/>
                                        <p:tgtEl>
                                          <p:spTgt spid="1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
                                            <p:txEl>
                                              <p:pRg st="5" end="5"/>
                                            </p:txEl>
                                          </p:spTgt>
                                        </p:tgtEl>
                                        <p:attrNameLst>
                                          <p:attrName>style.visibility</p:attrName>
                                        </p:attrNameLst>
                                      </p:cBhvr>
                                      <p:to>
                                        <p:strVal val="visible"/>
                                      </p:to>
                                    </p:set>
                                    <p:animEffect transition="in" filter="dissolve">
                                      <p:cBhvr>
                                        <p:cTn id="32" dur="500"/>
                                        <p:tgtEl>
                                          <p:spTgt spid="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Box 4">
            <a:extLst>
              <a:ext uri="{FF2B5EF4-FFF2-40B4-BE49-F238E27FC236}">
                <a16:creationId xmlns:a16="http://schemas.microsoft.com/office/drawing/2014/main" id="{A6D2B61D-D865-379F-607B-1898EE35F2A0}"/>
              </a:ext>
            </a:extLst>
          </p:cNvPr>
          <p:cNvSpPr txBox="1">
            <a:spLocks noChangeArrowheads="1"/>
          </p:cNvSpPr>
          <p:nvPr/>
        </p:nvSpPr>
        <p:spPr bwMode="auto">
          <a:xfrm>
            <a:off x="381000" y="1524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6867" name="TextBox 5">
            <a:extLst>
              <a:ext uri="{FF2B5EF4-FFF2-40B4-BE49-F238E27FC236}">
                <a16:creationId xmlns:a16="http://schemas.microsoft.com/office/drawing/2014/main" id="{0080FA19-0574-C934-667B-6C2B12A6EC0E}"/>
              </a:ext>
            </a:extLst>
          </p:cNvPr>
          <p:cNvSpPr txBox="1">
            <a:spLocks noChangeArrowheads="1"/>
          </p:cNvSpPr>
          <p:nvPr/>
        </p:nvSpPr>
        <p:spPr bwMode="auto">
          <a:xfrm>
            <a:off x="533400" y="3048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 name="Rectangle 2">
            <a:extLst>
              <a:ext uri="{FF2B5EF4-FFF2-40B4-BE49-F238E27FC236}">
                <a16:creationId xmlns:a16="http://schemas.microsoft.com/office/drawing/2014/main" id="{5FEE4E20-5807-FC05-218D-740AA0E52442}"/>
              </a:ext>
            </a:extLst>
          </p:cNvPr>
          <p:cNvSpPr txBox="1">
            <a:spLocks noChangeArrowheads="1"/>
          </p:cNvSpPr>
          <p:nvPr/>
        </p:nvSpPr>
        <p:spPr>
          <a:xfrm>
            <a:off x="838200" y="419100"/>
            <a:ext cx="7778750" cy="1104900"/>
          </a:xfrm>
          <a:prstGeom prst="rect">
            <a:avLst/>
          </a:prstGeom>
          <a:noFill/>
          <a:ln/>
        </p:spPr>
        <p:txBody>
          <a:bodyPr/>
          <a:lstStyle/>
          <a:p>
            <a:pPr algn="ctr">
              <a:defRPr/>
            </a:pPr>
            <a:endParaRPr lang="en-US" sz="4400" kern="0" dirty="0">
              <a:solidFill>
                <a:schemeClr val="tx2"/>
              </a:solidFill>
              <a:latin typeface="+mj-lt"/>
              <a:ea typeface="+mj-ea"/>
              <a:cs typeface="+mj-cs"/>
            </a:endParaRPr>
          </a:p>
        </p:txBody>
      </p:sp>
      <p:sp>
        <p:nvSpPr>
          <p:cNvPr id="10" name="Rectangle 3">
            <a:extLst>
              <a:ext uri="{FF2B5EF4-FFF2-40B4-BE49-F238E27FC236}">
                <a16:creationId xmlns:a16="http://schemas.microsoft.com/office/drawing/2014/main" id="{E1ADAB73-6583-8AC2-5FD3-557CE3BCDBD7}"/>
              </a:ext>
            </a:extLst>
          </p:cNvPr>
          <p:cNvSpPr txBox="1">
            <a:spLocks noChangeArrowheads="1"/>
          </p:cNvSpPr>
          <p:nvPr/>
        </p:nvSpPr>
        <p:spPr>
          <a:xfrm>
            <a:off x="228600" y="152400"/>
            <a:ext cx="8915400" cy="6400800"/>
          </a:xfrm>
          <a:prstGeom prst="rect">
            <a:avLst/>
          </a:prstGeom>
          <a:noFill/>
          <a:ln/>
        </p:spPr>
        <p:txBody>
          <a:bodyPr/>
          <a:lstStyle>
            <a:lvl1pPr marL="342900" indent="-342900" eaLnBrk="0" hangingPunct="0">
              <a:defRPr>
                <a:solidFill>
                  <a:schemeClr val="tx1"/>
                </a:solidFill>
                <a:latin typeface="Arial" panose="020B0604020202020204" pitchFamily="34" charset="0"/>
              </a:defRPr>
            </a:lvl1pPr>
            <a:lvl2pPr marL="971550" indent="-514350" eaLnBrk="0" hangingPunct="0">
              <a:defRPr>
                <a:solidFill>
                  <a:schemeClr val="tx1"/>
                </a:solidFill>
                <a:latin typeface="Arial" panose="020B0604020202020204" pitchFamily="34" charset="0"/>
              </a:defRPr>
            </a:lvl2pPr>
            <a:lvl3pPr marL="1428750" indent="-51435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20000"/>
              </a:spcBef>
              <a:buFontTx/>
              <a:buChar char="•"/>
            </a:pPr>
            <a:r>
              <a:rPr lang="en-US" altLang="en-US" sz="3200">
                <a:latin typeface="Times New Roman" panose="02020603050405020304" pitchFamily="18" charset="0"/>
              </a:rPr>
              <a:t>A file or directory is renamed with the rename function</a:t>
            </a:r>
          </a:p>
          <a:p>
            <a:pPr algn="just" eaLnBrk="1" hangingPunct="1"/>
            <a:r>
              <a:rPr lang="en-US" altLang="en-US" sz="3200">
                <a:solidFill>
                  <a:srgbClr val="CC3300"/>
                </a:solidFill>
                <a:latin typeface="Times New Roman" panose="02020603050405020304" pitchFamily="18" charset="0"/>
              </a:rPr>
              <a:t>#include &lt;stdio.h&gt;</a:t>
            </a:r>
          </a:p>
          <a:p>
            <a:pPr algn="just" eaLnBrk="1" hangingPunct="1"/>
            <a:r>
              <a:rPr lang="en-US" altLang="en-US" sz="2800">
                <a:solidFill>
                  <a:srgbClr val="CC3300"/>
                </a:solidFill>
                <a:latin typeface="Times New Roman" panose="02020603050405020304" pitchFamily="18" charset="0"/>
              </a:rPr>
              <a:t>int rename (const char *oldname, const char *newname);</a:t>
            </a:r>
          </a:p>
          <a:p>
            <a:pPr algn="just" eaLnBrk="1" hangingPunct="1"/>
            <a:r>
              <a:rPr lang="en-US" altLang="en-US" sz="3200">
                <a:latin typeface="Times New Roman" panose="02020603050405020304" pitchFamily="18" charset="0"/>
              </a:rPr>
              <a:t>			</a:t>
            </a:r>
            <a:r>
              <a:rPr lang="en-US" altLang="en-US" sz="3200">
                <a:solidFill>
                  <a:srgbClr val="0066FF"/>
                </a:solidFill>
                <a:latin typeface="Times New Roman" panose="02020603050405020304" pitchFamily="18" charset="0"/>
              </a:rPr>
              <a:t>returns 0 on ok, -1 on error</a:t>
            </a:r>
          </a:p>
          <a:p>
            <a:pPr algn="just" eaLnBrk="1" hangingPunct="1"/>
            <a:endParaRPr lang="en-US" altLang="en-US" sz="3200">
              <a:solidFill>
                <a:srgbClr val="0066FF"/>
              </a:solidFill>
              <a:latin typeface="Times New Roman" panose="02020603050405020304" pitchFamily="18" charset="0"/>
            </a:endParaRPr>
          </a:p>
          <a:p>
            <a:pPr algn="just" eaLnBrk="1" hangingPunct="1">
              <a:spcBef>
                <a:spcPct val="20000"/>
              </a:spcBef>
              <a:buFontTx/>
              <a:buChar char="•"/>
            </a:pPr>
            <a:r>
              <a:rPr lang="en-US" altLang="en-US" sz="3200">
                <a:latin typeface="Times New Roman" panose="02020603050405020304" pitchFamily="18" charset="0"/>
              </a:rPr>
              <a:t>If oldname specifies a file, then we are renaming a file or symlink. If newname exists and it is not a directory, it is removed and oldname is renamed to newname</a:t>
            </a:r>
          </a:p>
          <a:p>
            <a:pPr algn="just" eaLnBrk="1" hangingPunct="1"/>
            <a:endParaRPr lang="en-US" altLang="en-US" sz="4800">
              <a:solidFill>
                <a:srgbClr val="0066FF"/>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dissolve">
                                      <p:cBhvr>
                                        <p:cTn id="12" dur="500"/>
                                        <p:tgtEl>
                                          <p:spTgt spid="1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dissolve">
                                      <p:cBhvr>
                                        <p:cTn id="17" dur="500"/>
                                        <p:tgtEl>
                                          <p:spTgt spid="1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dissolve">
                                      <p:cBhvr>
                                        <p:cTn id="22" dur="500"/>
                                        <p:tgtEl>
                                          <p:spTgt spid="1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animEffect transition="in" filter="dissolve">
                                      <p:cBhvr>
                                        <p:cTn id="27" dur="500"/>
                                        <p:tgtEl>
                                          <p:spTgt spid="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Box 4">
            <a:extLst>
              <a:ext uri="{FF2B5EF4-FFF2-40B4-BE49-F238E27FC236}">
                <a16:creationId xmlns:a16="http://schemas.microsoft.com/office/drawing/2014/main" id="{3B064A4B-3B8B-05A3-0D46-DF417E958C97}"/>
              </a:ext>
            </a:extLst>
          </p:cNvPr>
          <p:cNvSpPr txBox="1">
            <a:spLocks noChangeArrowheads="1"/>
          </p:cNvSpPr>
          <p:nvPr/>
        </p:nvSpPr>
        <p:spPr bwMode="auto">
          <a:xfrm>
            <a:off x="381000" y="1524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7891" name="TextBox 5">
            <a:extLst>
              <a:ext uri="{FF2B5EF4-FFF2-40B4-BE49-F238E27FC236}">
                <a16:creationId xmlns:a16="http://schemas.microsoft.com/office/drawing/2014/main" id="{A10866B1-A263-1628-5BC8-F751C262460C}"/>
              </a:ext>
            </a:extLst>
          </p:cNvPr>
          <p:cNvSpPr txBox="1">
            <a:spLocks noChangeArrowheads="1"/>
          </p:cNvSpPr>
          <p:nvPr/>
        </p:nvSpPr>
        <p:spPr bwMode="auto">
          <a:xfrm>
            <a:off x="533400" y="3048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 name="Rectangle 2">
            <a:extLst>
              <a:ext uri="{FF2B5EF4-FFF2-40B4-BE49-F238E27FC236}">
                <a16:creationId xmlns:a16="http://schemas.microsoft.com/office/drawing/2014/main" id="{39BC076F-89C0-C717-4170-EFE5EDD96B93}"/>
              </a:ext>
            </a:extLst>
          </p:cNvPr>
          <p:cNvSpPr txBox="1">
            <a:spLocks noChangeArrowheads="1"/>
          </p:cNvSpPr>
          <p:nvPr/>
        </p:nvSpPr>
        <p:spPr>
          <a:xfrm>
            <a:off x="838200" y="419100"/>
            <a:ext cx="7778750" cy="1104900"/>
          </a:xfrm>
          <a:prstGeom prst="rect">
            <a:avLst/>
          </a:prstGeom>
          <a:noFill/>
          <a:ln/>
        </p:spPr>
        <p:txBody>
          <a:bodyPr/>
          <a:lstStyle/>
          <a:p>
            <a:pPr algn="ctr">
              <a:defRPr/>
            </a:pPr>
            <a:endParaRPr lang="en-US" sz="4400" kern="0" dirty="0">
              <a:solidFill>
                <a:schemeClr val="tx2"/>
              </a:solidFill>
              <a:latin typeface="+mj-lt"/>
              <a:ea typeface="+mj-ea"/>
              <a:cs typeface="+mj-cs"/>
            </a:endParaRPr>
          </a:p>
        </p:txBody>
      </p:sp>
      <p:sp>
        <p:nvSpPr>
          <p:cNvPr id="10" name="Rectangle 3">
            <a:extLst>
              <a:ext uri="{FF2B5EF4-FFF2-40B4-BE49-F238E27FC236}">
                <a16:creationId xmlns:a16="http://schemas.microsoft.com/office/drawing/2014/main" id="{060C79D9-9793-A7A8-6296-9B3918418BF4}"/>
              </a:ext>
            </a:extLst>
          </p:cNvPr>
          <p:cNvSpPr txBox="1">
            <a:spLocks noChangeArrowheads="1"/>
          </p:cNvSpPr>
          <p:nvPr/>
        </p:nvSpPr>
        <p:spPr>
          <a:xfrm>
            <a:off x="228600" y="152400"/>
            <a:ext cx="8915400" cy="6400800"/>
          </a:xfrm>
          <a:prstGeom prst="rect">
            <a:avLst/>
          </a:prstGeom>
          <a:noFill/>
          <a:ln/>
        </p:spPr>
        <p:txBody>
          <a:bodyPr/>
          <a:lstStyle>
            <a:lvl1pPr marL="342900" indent="-342900" eaLnBrk="0" hangingPunct="0">
              <a:defRPr>
                <a:solidFill>
                  <a:schemeClr val="tx1"/>
                </a:solidFill>
                <a:latin typeface="Arial" panose="020B0604020202020204" pitchFamily="34" charset="0"/>
              </a:defRPr>
            </a:lvl1pPr>
            <a:lvl2pPr marL="971550" indent="-514350" eaLnBrk="0" hangingPunct="0">
              <a:defRPr>
                <a:solidFill>
                  <a:schemeClr val="tx1"/>
                </a:solidFill>
                <a:latin typeface="Arial" panose="020B0604020202020204" pitchFamily="34" charset="0"/>
              </a:defRPr>
            </a:lvl2pPr>
            <a:lvl3pPr marL="1428750" indent="-51435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20000"/>
              </a:spcBef>
              <a:buFontTx/>
              <a:buChar char="•"/>
            </a:pPr>
            <a:r>
              <a:rPr lang="en-US" altLang="en-US" sz="3400">
                <a:latin typeface="Times New Roman" panose="02020603050405020304" pitchFamily="18" charset="0"/>
              </a:rPr>
              <a:t>If oldname specifies a directory, then we are renaming a directory. If newname exists and it is a directory and the directory must be empty then it is removed and oldname is renamed to newname</a:t>
            </a:r>
          </a:p>
          <a:p>
            <a:pPr algn="just" eaLnBrk="1" hangingPunct="1">
              <a:spcBef>
                <a:spcPct val="20000"/>
              </a:spcBef>
              <a:buFontTx/>
              <a:buChar char="•"/>
            </a:pPr>
            <a:r>
              <a:rPr lang="en-US" altLang="en-US" sz="3400">
                <a:latin typeface="Times New Roman" panose="02020603050405020304" pitchFamily="18" charset="0"/>
              </a:rPr>
              <a:t>If either oldname or newname refers to a symlink, then the link itself is processed, not the file</a:t>
            </a:r>
          </a:p>
          <a:p>
            <a:pPr algn="just" eaLnBrk="1" hangingPunct="1">
              <a:spcBef>
                <a:spcPct val="20000"/>
              </a:spcBef>
              <a:buFontTx/>
              <a:buChar char="•"/>
            </a:pPr>
            <a:r>
              <a:rPr lang="en-US" altLang="en-US" sz="3400">
                <a:latin typeface="Times New Roman" panose="02020603050405020304" pitchFamily="18" charset="0"/>
              </a:rPr>
              <a:t>As a special case if the  oldname and newname refers to the same file, the function returns successfully without changing anything</a:t>
            </a:r>
          </a:p>
          <a:p>
            <a:pPr algn="just" eaLnBrk="1" hangingPunct="1">
              <a:spcBef>
                <a:spcPct val="20000"/>
              </a:spcBef>
              <a:buFontTx/>
              <a:buChar char="•"/>
            </a:pPr>
            <a:endParaRPr lang="en-US" altLang="en-US" sz="3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dissolve">
                                      <p:cBhvr>
                                        <p:cTn id="12" dur="500"/>
                                        <p:tgtEl>
                                          <p:spTgt spid="1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dissolve">
                                      <p:cBhvr>
                                        <p:cTn id="17"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372</TotalTime>
  <Words>1872</Words>
  <Application>Microsoft Office PowerPoint</Application>
  <PresentationFormat>On-screen Show (4:3)</PresentationFormat>
  <Paragraphs>155</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Kamalika</dc:creator>
  <cp:lastModifiedBy>S Bhavani</cp:lastModifiedBy>
  <cp:revision>227</cp:revision>
  <dcterms:created xsi:type="dcterms:W3CDTF">2011-04-12T16:02:31Z</dcterms:created>
  <dcterms:modified xsi:type="dcterms:W3CDTF">2026-04-07T06:37:45Z</dcterms:modified>
</cp:coreProperties>
</file>