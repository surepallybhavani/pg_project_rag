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3" r:id="rId2"/>
    <p:sldId id="274" r:id="rId3"/>
    <p:sldId id="276" r:id="rId4"/>
    <p:sldId id="277" r:id="rId5"/>
    <p:sldId id="278" r:id="rId6"/>
    <p:sldId id="295" r:id="rId7"/>
    <p:sldId id="279" r:id="rId8"/>
    <p:sldId id="296" r:id="rId9"/>
    <p:sldId id="297" r:id="rId10"/>
    <p:sldId id="299" r:id="rId11"/>
    <p:sldId id="280" r:id="rId12"/>
    <p:sldId id="298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300" r:id="rId27"/>
    <p:sldId id="294" r:id="rId28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61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E38BFB45-B35E-F533-D163-B01A260638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05206D59-9ECA-87F2-3B16-D038162E45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4F637DBA-DF77-39C5-FA3B-DB48E3E7BEC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id="{8A11ABD4-A0AC-9C85-D539-33BBB95683D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7D37050-DC0E-4458-8DBF-2FF220759C8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97E0B1C-834A-173E-0E62-5F594141637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46DC8D3-C823-FFCD-DBCA-365130CACB7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CC88B045-3ED6-43BB-E921-C4BC6F6DEFDD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2A86FD9-95EE-8F67-BA2A-91B4B12121F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2E45857B-9844-FBB3-DE49-2D88804E80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037F326-DB0D-4B4F-08FB-61BAB1F25D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DF9665FF-723F-4B10-9EC0-8E1DB1A763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8A70D74B-3DA0-2737-C92A-B40E7B1F5D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07648F26-ACFA-AA7B-D6D3-49E607948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CCA2920A-A69B-1C54-9E55-8BC59DA2D0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F069F2C5-C348-2501-F754-FF24F83D8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3DE80A2B-9BA3-8CD8-BBA9-D8278506F7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1FE0213E-B89C-8ED7-F9E6-E6543362F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D186D238-32FF-A520-6DB1-4C138F2CF5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E44A8BED-8E4D-B92F-DE51-50227AE88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2FFBBAE5-DA0B-8903-72CE-EB8EE77087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3ECA9E32-9D33-4AB3-9E42-3A47F48C6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DC9237E-0C09-1FB2-D706-72C85698CC2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1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4C1A418-8F58-CB4E-6C40-EADAAC618F2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5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D01DCB7-067C-F8C9-0749-E9C23562D57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7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750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675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73B1CF-F723-ECFA-3F80-7634E9DF02D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0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643D19F-4661-771B-C47E-28F938A4971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99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BF946B5-CE31-A49C-5B21-85F262BF236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1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C8CC233-8CE9-562A-03AE-BC8C98E57E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47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ED03FB-6C9A-DD3C-258E-F7AC8036849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5FC4D1-AAAA-886A-C9B1-B1DF379C3C6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2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2858BA-3CFA-8E66-EFE7-4F8146866C5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7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19838" y="495300"/>
            <a:ext cx="1757362" cy="5343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750" y="495300"/>
            <a:ext cx="5119688" cy="5343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BE07B5D-D56C-413A-4FA3-6B9A8F72B57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94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2050" y="495300"/>
            <a:ext cx="6886575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047750" y="1724025"/>
            <a:ext cx="702945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B01BB9-7A20-50A3-3616-7F06F89E3A8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4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72E84DA-B5A0-3F23-B7A1-088B3F3BF7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62050" y="495300"/>
            <a:ext cx="688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62DC9AF-DC59-5A69-7611-EC8B4C0BE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7750" y="1724025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697DBD0-A5F5-D5E8-1C75-DE49EA9CDF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E13D6D3E-0399-F19E-D785-F827300F4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sz="1000"/>
              <a:t>Silberschatz and Galvin</a:t>
            </a:r>
            <a:r>
              <a:rPr lang="en-US" sz="1000">
                <a:sym typeface="Symbol" pitchFamily="18" charset="2"/>
              </a:rPr>
              <a:t>1999</a:t>
            </a:r>
            <a:r>
              <a:rPr lang="en-US" sz="1400">
                <a:latin typeface="Times New Roman" pitchFamily="18" charset="0"/>
              </a:rPr>
              <a:t> </a:t>
            </a:r>
          </a:p>
        </p:txBody>
      </p:sp>
      <p:sp>
        <p:nvSpPr>
          <p:cNvPr id="1033" name="AutoShape 9">
            <a:extLst>
              <a:ext uri="{FF2B5EF4-FFF2-40B4-BE49-F238E27FC236}">
                <a16:creationId xmlns:a16="http://schemas.microsoft.com/office/drawing/2014/main" id="{C4570B32-18AF-23E8-203B-87D685196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95250"/>
            <a:ext cx="8909050" cy="6448425"/>
          </a:xfrm>
          <a:prstGeom prst="roundRect">
            <a:avLst>
              <a:gd name="adj" fmla="val 17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BF474443-465F-D420-2C37-A86166FA5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8788" y="6567488"/>
            <a:ext cx="514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/>
              <a:t>10.</a:t>
            </a:r>
            <a:fld id="{6E346B1C-4883-40A1-BE19-C9CF07EF0FF8}" type="slidenum">
              <a:rPr lang="en-US" altLang="en-US" sz="1000"/>
              <a:pPr>
                <a:spcBef>
                  <a:spcPct val="50000"/>
                </a:spcBef>
              </a:pPr>
              <a:t>‹#›</a:t>
            </a:fld>
            <a:endParaRPr lang="en-US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SzPct val="14000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5000"/>
        <a:buFont typeface="Monotype Sorts" pitchFamily="2" charset="2"/>
        <a:buChar char="T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>
            <a:extLst>
              <a:ext uri="{FF2B5EF4-FFF2-40B4-BE49-F238E27FC236}">
                <a16:creationId xmlns:a16="http://schemas.microsoft.com/office/drawing/2014/main" id="{0C0D03C1-B43C-32A4-E706-9E58E34F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209B7FC3-3D3F-8DA5-A817-065E76F49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File-System Interface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851CDDF8-1315-E44D-4DAC-69B7D6380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File Concept</a:t>
            </a:r>
          </a:p>
          <a:p>
            <a:r>
              <a:rPr lang="en-US" altLang="en-US"/>
              <a:t>Access :Methods</a:t>
            </a:r>
          </a:p>
          <a:p>
            <a:r>
              <a:rPr lang="en-US" altLang="en-US"/>
              <a:t>Directory Structure </a:t>
            </a:r>
          </a:p>
          <a:p>
            <a:r>
              <a:rPr lang="en-US" altLang="en-US"/>
              <a:t>Protection</a:t>
            </a:r>
          </a:p>
          <a:p>
            <a:r>
              <a:rPr lang="en-US" altLang="en-US"/>
              <a:t>Consistency Semantics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27325A-031A-8B32-F547-267575C22067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4">
            <a:extLst>
              <a:ext uri="{FF2B5EF4-FFF2-40B4-BE49-F238E27FC236}">
                <a16:creationId xmlns:a16="http://schemas.microsoft.com/office/drawing/2014/main" id="{91CC8E45-60DB-D60D-3D3C-C4EDF8537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28523FF9-0AAB-062A-38E4-ABDCF771D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 Concept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9A7C55F0-68FE-7BA6-A626-C9FBCE270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7538" y="1230313"/>
            <a:ext cx="8083550" cy="4627562"/>
          </a:xfrm>
        </p:spPr>
        <p:txBody>
          <a:bodyPr/>
          <a:lstStyle/>
          <a:p>
            <a:r>
              <a:rPr lang="en-US" altLang="en-US" sz="2400"/>
              <a:t>The OS abstracts from the properties of its storage device to define a logical storage unit called the file</a:t>
            </a:r>
          </a:p>
          <a:p>
            <a:r>
              <a:rPr lang="en-US" altLang="en-US" sz="2400"/>
              <a:t>Contiguous logical address space</a:t>
            </a:r>
          </a:p>
          <a:p>
            <a:r>
              <a:rPr lang="en-US" altLang="en-US" sz="2400"/>
              <a:t>Types: </a:t>
            </a:r>
          </a:p>
          <a:p>
            <a:pPr lvl="1"/>
            <a:r>
              <a:rPr lang="en-US" altLang="en-US" sz="2400"/>
              <a:t>Data</a:t>
            </a:r>
          </a:p>
          <a:p>
            <a:pPr lvl="2"/>
            <a:r>
              <a:rPr lang="en-US" altLang="en-US" sz="2400"/>
              <a:t>numeric</a:t>
            </a:r>
          </a:p>
          <a:p>
            <a:pPr lvl="2"/>
            <a:r>
              <a:rPr lang="en-US" altLang="en-US" sz="2400"/>
              <a:t>Character  (alphabetic or alphanumeric)</a:t>
            </a:r>
          </a:p>
          <a:p>
            <a:pPr lvl="2"/>
            <a:r>
              <a:rPr lang="en-US" altLang="en-US" sz="2400"/>
              <a:t>binary</a:t>
            </a:r>
          </a:p>
          <a:p>
            <a:pPr lvl="1"/>
            <a:r>
              <a:rPr lang="en-US" altLang="en-US" sz="2400"/>
              <a:t>Program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3FDA8F-C790-4D77-2AE8-146273DB9AA1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4">
            <a:extLst>
              <a:ext uri="{FF2B5EF4-FFF2-40B4-BE49-F238E27FC236}">
                <a16:creationId xmlns:a16="http://schemas.microsoft.com/office/drawing/2014/main" id="{99E16286-F2E4-0711-2930-B1DF6AB96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7A63009A-803F-AEE9-5296-C9BC98AE0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 Attributes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2C9B948-F0BE-A4D4-F5BE-F102D260D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444625"/>
            <a:ext cx="7135813" cy="4394200"/>
          </a:xfrm>
        </p:spPr>
        <p:txBody>
          <a:bodyPr/>
          <a:lstStyle/>
          <a:p>
            <a:r>
              <a:rPr lang="en-US" altLang="en-US" sz="2000" b="1"/>
              <a:t>Name</a:t>
            </a:r>
            <a:r>
              <a:rPr lang="en-US" altLang="en-US" sz="2000"/>
              <a:t> – only information kept in human-readable form.</a:t>
            </a:r>
          </a:p>
          <a:p>
            <a:r>
              <a:rPr lang="en-US" altLang="en-US" sz="2000" b="1"/>
              <a:t>Type</a:t>
            </a:r>
            <a:r>
              <a:rPr lang="en-US" altLang="en-US" sz="2000"/>
              <a:t> – needed for systems that support different types.</a:t>
            </a:r>
          </a:p>
          <a:p>
            <a:r>
              <a:rPr lang="en-US" altLang="en-US" sz="2000" b="1"/>
              <a:t>Location</a:t>
            </a:r>
            <a:r>
              <a:rPr lang="en-US" altLang="en-US" sz="2000"/>
              <a:t> – pointer to file location on device.</a:t>
            </a:r>
          </a:p>
          <a:p>
            <a:r>
              <a:rPr lang="en-US" altLang="en-US" sz="2000" b="1"/>
              <a:t>Size</a:t>
            </a:r>
            <a:r>
              <a:rPr lang="en-US" altLang="en-US" sz="2000"/>
              <a:t> – current file size.</a:t>
            </a:r>
          </a:p>
          <a:p>
            <a:r>
              <a:rPr lang="en-US" altLang="en-US" sz="2000" b="1"/>
              <a:t>Protection</a:t>
            </a:r>
            <a:r>
              <a:rPr lang="en-US" altLang="en-US" sz="2000"/>
              <a:t> – controls who can do reading, writing, executing.</a:t>
            </a:r>
          </a:p>
          <a:p>
            <a:r>
              <a:rPr lang="en-US" altLang="en-US" sz="2000" b="1"/>
              <a:t>Time</a:t>
            </a:r>
            <a:r>
              <a:rPr lang="en-US" altLang="en-US" sz="2000"/>
              <a:t>, </a:t>
            </a:r>
            <a:r>
              <a:rPr lang="en-US" altLang="en-US" sz="2000" b="1"/>
              <a:t>date</a:t>
            </a:r>
            <a:r>
              <a:rPr lang="en-US" altLang="en-US" sz="2000"/>
              <a:t>, </a:t>
            </a:r>
            <a:r>
              <a:rPr lang="en-US" altLang="en-US" sz="2000" b="1"/>
              <a:t>and user identification</a:t>
            </a:r>
            <a:r>
              <a:rPr lang="en-US" altLang="en-US" sz="2000"/>
              <a:t> – data for protection, security, and usage monitoring.</a:t>
            </a:r>
          </a:p>
          <a:p>
            <a:r>
              <a:rPr lang="en-US" altLang="en-US" sz="2000"/>
              <a:t>Information about files are kept in the directory structure, which is maintained on the disk.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603275-CD96-9E37-DA80-B54224D785AF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4">
            <a:extLst>
              <a:ext uri="{FF2B5EF4-FFF2-40B4-BE49-F238E27FC236}">
                <a16:creationId xmlns:a16="http://schemas.microsoft.com/office/drawing/2014/main" id="{1398EBC8-3943-9C5E-4866-4F229C70A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BD72430-CA0C-F46B-28B1-CC696E7259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 Operations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8F2F4408-A744-9C51-1257-D1054FAA3D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create</a:t>
            </a:r>
          </a:p>
          <a:p>
            <a:r>
              <a:rPr lang="en-US" altLang="en-US"/>
              <a:t>write</a:t>
            </a:r>
          </a:p>
          <a:p>
            <a:r>
              <a:rPr lang="en-US" altLang="en-US"/>
              <a:t>read</a:t>
            </a:r>
          </a:p>
          <a:p>
            <a:r>
              <a:rPr lang="en-US" altLang="en-US"/>
              <a:t>reposition within file – file seek</a:t>
            </a:r>
          </a:p>
          <a:p>
            <a:r>
              <a:rPr lang="en-US" altLang="en-US"/>
              <a:t>delete</a:t>
            </a:r>
          </a:p>
          <a:p>
            <a:r>
              <a:rPr lang="en-US" altLang="en-US"/>
              <a:t>truncate</a:t>
            </a:r>
          </a:p>
          <a:p>
            <a:r>
              <a:rPr lang="en-US" altLang="en-US"/>
              <a:t>open(</a:t>
            </a:r>
            <a:r>
              <a:rPr lang="en-US" altLang="en-US" i="1"/>
              <a:t>F</a:t>
            </a:r>
            <a:r>
              <a:rPr lang="en-US" altLang="en-US" i="1" baseline="-25000"/>
              <a:t>i</a:t>
            </a:r>
            <a:r>
              <a:rPr lang="en-US" altLang="en-US"/>
              <a:t>) – search the directory structure on disk for entry </a:t>
            </a:r>
            <a:r>
              <a:rPr lang="en-US" altLang="en-US" i="1"/>
              <a:t>F</a:t>
            </a:r>
            <a:r>
              <a:rPr lang="en-US" altLang="en-US" i="1" baseline="-25000"/>
              <a:t>i</a:t>
            </a:r>
            <a:r>
              <a:rPr lang="en-US" altLang="en-US"/>
              <a:t>, and move the content of entry to memory.</a:t>
            </a:r>
          </a:p>
          <a:p>
            <a:r>
              <a:rPr lang="en-US" altLang="en-US"/>
              <a:t>close (</a:t>
            </a:r>
            <a:r>
              <a:rPr lang="en-US" altLang="en-US" i="1"/>
              <a:t>F</a:t>
            </a:r>
            <a:r>
              <a:rPr lang="en-US" altLang="en-US" i="1" baseline="-25000"/>
              <a:t>i</a:t>
            </a:r>
            <a:r>
              <a:rPr lang="en-US" altLang="en-US"/>
              <a:t>) – move the content of entry </a:t>
            </a:r>
            <a:r>
              <a:rPr lang="en-US" altLang="en-US" i="1"/>
              <a:t>F</a:t>
            </a:r>
            <a:r>
              <a:rPr lang="en-US" altLang="en-US" i="1" baseline="-25000"/>
              <a:t>i</a:t>
            </a:r>
            <a:r>
              <a:rPr lang="en-US" altLang="en-US"/>
              <a:t> in memory to directory structure on disk.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6B1B6C-80DD-CEA3-AE4F-588EDC67C53B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>
            <a:extLst>
              <a:ext uri="{FF2B5EF4-FFF2-40B4-BE49-F238E27FC236}">
                <a16:creationId xmlns:a16="http://schemas.microsoft.com/office/drawing/2014/main" id="{BD9D95FF-CEEC-DE3E-8CE9-0BA376890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564E847B-47EB-081F-0AF8-AECBFD640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 Types – name, extension</a:t>
            </a:r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FED0E756-69B2-8EBA-CA46-22D78E1D8E4E}"/>
              </a:ext>
            </a:extLst>
          </p:cNvPr>
          <p:cNvGraphicFramePr>
            <a:graphicFrameLocks noChangeAspect="1"/>
          </p:cNvGraphicFramePr>
          <p:nvPr>
            <p:ph type="tbl" idx="1"/>
          </p:nvPr>
        </p:nvGraphicFramePr>
        <p:xfrm>
          <a:off x="1143000" y="1752600"/>
          <a:ext cx="7759700" cy="476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977600" imgH="4896720" progId="Word.Document.8">
                  <p:embed/>
                </p:oleObj>
              </mc:Choice>
              <mc:Fallback>
                <p:oleObj name="Document" r:id="rId3" imgW="7977600" imgH="48967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52600"/>
                        <a:ext cx="7759700" cy="476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4">
            <a:extLst>
              <a:ext uri="{FF2B5EF4-FFF2-40B4-BE49-F238E27FC236}">
                <a16:creationId xmlns:a16="http://schemas.microsoft.com/office/drawing/2014/main" id="{E08FD49A-3BC1-83B7-16DF-F1041D615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5538" y="1298575"/>
          <a:ext cx="71294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7176240" imgH="519120" progId="Word.Document.8">
                  <p:embed/>
                </p:oleObj>
              </mc:Choice>
              <mc:Fallback>
                <p:oleObj name="Document" r:id="rId5" imgW="7176240" imgH="5191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1298575"/>
                        <a:ext cx="71294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C263A05-133A-ED20-F0AA-F87D40A1674C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728BD05F-9F2F-2A47-1DC6-D2FB4DD87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49A7BD6-59F9-A4C3-CC3F-80D20DB5B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 Structure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32D996D1-2374-5B86-8470-A26EA77AD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None - sequence of words, bytes</a:t>
            </a:r>
          </a:p>
          <a:p>
            <a:r>
              <a:rPr lang="en-US" altLang="en-US"/>
              <a:t>Simple record structure</a:t>
            </a:r>
          </a:p>
          <a:p>
            <a:pPr lvl="1"/>
            <a:r>
              <a:rPr lang="en-US" altLang="en-US"/>
              <a:t>Lines </a:t>
            </a:r>
          </a:p>
          <a:p>
            <a:pPr lvl="1"/>
            <a:r>
              <a:rPr lang="en-US" altLang="en-US"/>
              <a:t>Fixed length</a:t>
            </a:r>
          </a:p>
          <a:p>
            <a:pPr lvl="1"/>
            <a:r>
              <a:rPr lang="en-US" altLang="en-US"/>
              <a:t>Variable length</a:t>
            </a:r>
          </a:p>
          <a:p>
            <a:r>
              <a:rPr lang="en-US" altLang="en-US"/>
              <a:t>Complex Structures</a:t>
            </a:r>
          </a:p>
          <a:p>
            <a:pPr lvl="1"/>
            <a:r>
              <a:rPr lang="en-US" altLang="en-US"/>
              <a:t>Formatted document</a:t>
            </a:r>
          </a:p>
          <a:p>
            <a:pPr lvl="1"/>
            <a:r>
              <a:rPr lang="en-US" altLang="en-US"/>
              <a:t>Relocatable load file	</a:t>
            </a:r>
          </a:p>
          <a:p>
            <a:r>
              <a:rPr lang="en-US" altLang="en-US"/>
              <a:t>Can simulate last two with first method by inserting appropriate control characters.</a:t>
            </a:r>
          </a:p>
          <a:p>
            <a:r>
              <a:rPr lang="en-US" altLang="en-US"/>
              <a:t>Who decides:</a:t>
            </a:r>
          </a:p>
          <a:p>
            <a:pPr lvl="1"/>
            <a:r>
              <a:rPr lang="en-US" altLang="en-US"/>
              <a:t>Operating system</a:t>
            </a:r>
          </a:p>
          <a:p>
            <a:pPr lvl="1"/>
            <a:r>
              <a:rPr lang="en-US" altLang="en-US"/>
              <a:t>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137EBE-B027-0B9C-A877-2C09FD28C704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4">
            <a:extLst>
              <a:ext uri="{FF2B5EF4-FFF2-40B4-BE49-F238E27FC236}">
                <a16:creationId xmlns:a16="http://schemas.microsoft.com/office/drawing/2014/main" id="{D5B8CB94-2CB8-E4C2-120A-09BD5287C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DA6BF77-DE56-6F1D-5492-EA97BD553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Access Methods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FD1EECF-905E-13E1-91B2-FEB23C03E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724025"/>
            <a:ext cx="7029450" cy="2119313"/>
          </a:xfrm>
        </p:spPr>
        <p:txBody>
          <a:bodyPr/>
          <a:lstStyle/>
          <a:p>
            <a:pPr>
              <a:tabLst>
                <a:tab pos="3203575" algn="l"/>
                <a:tab pos="4056063" algn="l"/>
              </a:tabLst>
              <a:defRPr/>
            </a:pPr>
            <a:r>
              <a:rPr lang="en-US" dirty="0"/>
              <a:t>File store information. When it is used, this information must be accessed and read in to the computer memory. </a:t>
            </a:r>
          </a:p>
          <a:p>
            <a:pPr marL="342900" indent="-342900">
              <a:buFontTx/>
              <a:buAutoNum type="alphaLcParenBoth"/>
              <a:tabLst>
                <a:tab pos="3203575" algn="l"/>
                <a:tab pos="4056063" algn="l"/>
              </a:tabLst>
              <a:defRPr/>
            </a:pPr>
            <a:r>
              <a:rPr lang="en-US" dirty="0"/>
              <a:t>Sequential access</a:t>
            </a:r>
          </a:p>
          <a:p>
            <a:pPr marL="342900" indent="-342900">
              <a:buFontTx/>
              <a:buAutoNum type="alphaLcParenBoth"/>
              <a:tabLst>
                <a:tab pos="3203575" algn="l"/>
                <a:tab pos="4056063" algn="l"/>
              </a:tabLst>
              <a:defRPr/>
            </a:pPr>
            <a:r>
              <a:rPr lang="en-US" dirty="0"/>
              <a:t> direct access or relative access</a:t>
            </a:r>
          </a:p>
          <a:p>
            <a:pPr>
              <a:tabLst>
                <a:tab pos="3203575" algn="l"/>
                <a:tab pos="4056063" algn="l"/>
              </a:tabLst>
              <a:defRPr/>
            </a:pPr>
            <a:r>
              <a:rPr lang="en-US" dirty="0"/>
              <a:t>Sequential Access :</a:t>
            </a:r>
          </a:p>
          <a:p>
            <a:pPr lvl="1">
              <a:tabLst>
                <a:tab pos="3203575" algn="l"/>
                <a:tab pos="4056063" algn="l"/>
              </a:tabLst>
              <a:defRPr/>
            </a:pPr>
            <a:r>
              <a:rPr lang="en-US" dirty="0"/>
              <a:t>The information in the file is accessed in order record by record</a:t>
            </a:r>
          </a:p>
          <a:p>
            <a:pPr lvl="1">
              <a:tabLst>
                <a:tab pos="3203575" algn="l"/>
                <a:tab pos="4056063" algn="l"/>
              </a:tabLst>
              <a:defRPr/>
            </a:pPr>
            <a:r>
              <a:rPr lang="en-US" dirty="0"/>
              <a:t>Most common access method</a:t>
            </a:r>
          </a:p>
          <a:p>
            <a:pPr lvl="1">
              <a:tabLst>
                <a:tab pos="3203575" algn="l"/>
                <a:tab pos="4056063" algn="l"/>
              </a:tabLst>
              <a:defRPr/>
            </a:pPr>
            <a:r>
              <a:rPr lang="en-US" dirty="0" err="1"/>
              <a:t>Eg</a:t>
            </a:r>
            <a:r>
              <a:rPr lang="en-US" dirty="0"/>
              <a:t>: editors. Compilers use this method</a:t>
            </a:r>
          </a:p>
          <a:p>
            <a:pPr>
              <a:spcBef>
                <a:spcPct val="10000"/>
              </a:spcBef>
              <a:buFontTx/>
              <a:buNone/>
              <a:tabLst>
                <a:tab pos="3203575" algn="l"/>
                <a:tab pos="4056063" algn="l"/>
              </a:tabLst>
              <a:defRPr/>
            </a:pPr>
            <a:r>
              <a:rPr lang="en-US" dirty="0"/>
              <a:t>	 </a:t>
            </a:r>
          </a:p>
          <a:p>
            <a:pPr>
              <a:spcBef>
                <a:spcPct val="10000"/>
              </a:spcBef>
              <a:buFontTx/>
              <a:buNone/>
              <a:tabLst>
                <a:tab pos="3203575" algn="l"/>
                <a:tab pos="4056063" algn="l"/>
              </a:tabLst>
              <a:defRPr/>
            </a:pPr>
            <a:r>
              <a:rPr lang="en-US" i="1" dirty="0"/>
              <a:t>	      read next	</a:t>
            </a:r>
          </a:p>
          <a:p>
            <a:pPr>
              <a:spcBef>
                <a:spcPct val="10000"/>
              </a:spcBef>
              <a:buFontTx/>
              <a:buNone/>
              <a:tabLst>
                <a:tab pos="3203575" algn="l"/>
                <a:tab pos="4056063" algn="l"/>
              </a:tabLst>
              <a:defRPr/>
            </a:pPr>
            <a:r>
              <a:rPr lang="en-US" i="1" dirty="0"/>
              <a:t>	      write next </a:t>
            </a:r>
          </a:p>
          <a:p>
            <a:pPr>
              <a:spcBef>
                <a:spcPct val="10000"/>
              </a:spcBef>
              <a:buFontTx/>
              <a:buNone/>
              <a:tabLst>
                <a:tab pos="3203575" algn="l"/>
                <a:tab pos="4056063" algn="l"/>
              </a:tabLst>
              <a:defRPr/>
            </a:pPr>
            <a:r>
              <a:rPr lang="en-US" i="1" dirty="0"/>
              <a:t>	       rewind 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C1304-7CFB-C245-9FB6-3E5E26B7D565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A114AB3E-64FF-1403-0515-E84D0858E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300" y="249238"/>
            <a:ext cx="77724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chemeClr val="tx2"/>
                </a:solidFill>
              </a:rPr>
              <a:t>Sequential-access File</a:t>
            </a:r>
          </a:p>
        </p:txBody>
      </p:sp>
      <p:pic>
        <p:nvPicPr>
          <p:cNvPr id="9219" name="Picture 5">
            <a:extLst>
              <a:ext uri="{FF2B5EF4-FFF2-40B4-BE49-F238E27FC236}">
                <a16:creationId xmlns:a16="http://schemas.microsoft.com/office/drawing/2014/main" id="{EC826CB4-412F-6909-652B-E6148DCF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" t="32547" r="2740" b="34142"/>
          <a:stretch>
            <a:fillRect/>
          </a:stretch>
        </p:blipFill>
        <p:spPr bwMode="auto">
          <a:xfrm>
            <a:off x="652463" y="2016125"/>
            <a:ext cx="7570787" cy="2008188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06EEE8-95DB-076A-E76A-FD1E2163C9F0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33D31522-8CE4-2239-4E11-89EADCAD2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 Access Method</a:t>
            </a:r>
          </a:p>
        </p:txBody>
      </p:sp>
      <p:sp>
        <p:nvSpPr>
          <p:cNvPr id="10243" name="Rectangle 4">
            <a:extLst>
              <a:ext uri="{FF2B5EF4-FFF2-40B4-BE49-F238E27FC236}">
                <a16:creationId xmlns:a16="http://schemas.microsoft.com/office/drawing/2014/main" id="{A733E733-21FD-51EA-B9C3-AE93D2E04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25" y="1182688"/>
            <a:ext cx="7029450" cy="4114800"/>
          </a:xfrm>
        </p:spPr>
        <p:txBody>
          <a:bodyPr/>
          <a:lstStyle/>
          <a:p>
            <a:pPr>
              <a:tabLst>
                <a:tab pos="3203575" algn="l"/>
                <a:tab pos="4056063" algn="l"/>
              </a:tabLst>
            </a:pPr>
            <a:r>
              <a:rPr lang="en-US" altLang="en-US"/>
              <a:t>A file is made up of fixed length logical records</a:t>
            </a:r>
          </a:p>
          <a:p>
            <a:pPr>
              <a:tabLst>
                <a:tab pos="3203575" algn="l"/>
                <a:tab pos="4056063" algn="l"/>
              </a:tabLst>
            </a:pPr>
            <a:r>
              <a:rPr lang="en-US" altLang="en-US"/>
              <a:t>Allow programs to read or write in no particular order	</a:t>
            </a:r>
          </a:p>
          <a:p>
            <a:pPr>
              <a:tabLst>
                <a:tab pos="3203575" algn="l"/>
                <a:tab pos="4056063" algn="l"/>
              </a:tabLst>
            </a:pPr>
            <a:r>
              <a:rPr lang="en-US" altLang="en-US"/>
              <a:t>Based on disk model of file</a:t>
            </a:r>
          </a:p>
          <a:p>
            <a:pPr>
              <a:buFontTx/>
              <a:buNone/>
              <a:tabLst>
                <a:tab pos="3203575" algn="l"/>
                <a:tab pos="4056063" algn="l"/>
              </a:tabLst>
            </a:pPr>
            <a:r>
              <a:rPr lang="en-US" altLang="en-US"/>
              <a:t>    Eg:databases</a:t>
            </a:r>
          </a:p>
          <a:p>
            <a:pPr>
              <a:spcBef>
                <a:spcPct val="10000"/>
              </a:spcBef>
              <a:buFontTx/>
              <a:buNone/>
              <a:tabLst>
                <a:tab pos="3203575" algn="l"/>
                <a:tab pos="4056063" algn="l"/>
              </a:tabLst>
            </a:pPr>
            <a:r>
              <a:rPr lang="en-US" altLang="en-US"/>
              <a:t>		</a:t>
            </a:r>
            <a:r>
              <a:rPr lang="en-US" altLang="en-US" i="1"/>
              <a:t>read n</a:t>
            </a:r>
          </a:p>
          <a:p>
            <a:pPr>
              <a:spcBef>
                <a:spcPct val="10000"/>
              </a:spcBef>
              <a:buFontTx/>
              <a:buNone/>
              <a:tabLst>
                <a:tab pos="3203575" algn="l"/>
                <a:tab pos="4056063" algn="l"/>
              </a:tabLst>
            </a:pPr>
            <a:r>
              <a:rPr lang="en-US" altLang="en-US" i="1"/>
              <a:t>		write n</a:t>
            </a:r>
          </a:p>
          <a:p>
            <a:pPr>
              <a:spcBef>
                <a:spcPct val="10000"/>
              </a:spcBef>
              <a:buFontTx/>
              <a:buNone/>
              <a:tabLst>
                <a:tab pos="3203575" algn="l"/>
                <a:tab pos="4056063" algn="l"/>
              </a:tabLst>
            </a:pPr>
            <a:r>
              <a:rPr lang="en-US" altLang="en-US" i="1"/>
              <a:t>		position to n</a:t>
            </a:r>
          </a:p>
          <a:p>
            <a:pPr>
              <a:spcBef>
                <a:spcPct val="10000"/>
              </a:spcBef>
              <a:buFontTx/>
              <a:buNone/>
              <a:tabLst>
                <a:tab pos="3203575" algn="l"/>
                <a:tab pos="4056063" algn="l"/>
              </a:tabLst>
            </a:pPr>
            <a:r>
              <a:rPr lang="en-US" altLang="en-US" i="1"/>
              <a:t>			read next</a:t>
            </a:r>
          </a:p>
          <a:p>
            <a:pPr>
              <a:spcBef>
                <a:spcPct val="10000"/>
              </a:spcBef>
              <a:buFontTx/>
              <a:buNone/>
              <a:tabLst>
                <a:tab pos="3203575" algn="l"/>
                <a:tab pos="4056063" algn="l"/>
              </a:tabLst>
            </a:pPr>
            <a:r>
              <a:rPr lang="en-US" altLang="en-US" i="1"/>
              <a:t>			write next </a:t>
            </a:r>
          </a:p>
          <a:p>
            <a:pPr>
              <a:spcBef>
                <a:spcPct val="10000"/>
              </a:spcBef>
              <a:buFontTx/>
              <a:buNone/>
              <a:tabLst>
                <a:tab pos="3203575" algn="l"/>
                <a:tab pos="4056063" algn="l"/>
              </a:tabLst>
            </a:pPr>
            <a:r>
              <a:rPr lang="en-US" altLang="en-US"/>
              <a:t>		</a:t>
            </a:r>
            <a:r>
              <a:rPr lang="en-US" altLang="en-US" i="1"/>
              <a:t>rewrite n</a:t>
            </a:r>
          </a:p>
          <a:p>
            <a:pPr>
              <a:buFontTx/>
              <a:buNone/>
              <a:tabLst>
                <a:tab pos="3203575" algn="l"/>
                <a:tab pos="4056063" algn="l"/>
              </a:tabLst>
            </a:pPr>
            <a:r>
              <a:rPr lang="en-US" altLang="en-US"/>
              <a:t>	</a:t>
            </a:r>
            <a:r>
              <a:rPr lang="en-US" altLang="en-US" i="1"/>
              <a:t>n</a:t>
            </a:r>
            <a:r>
              <a:rPr lang="en-US" altLang="en-US"/>
              <a:t> = relative block number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5B451C-2A81-7045-EBED-0292F32546CC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5">
            <a:extLst>
              <a:ext uri="{FF2B5EF4-FFF2-40B4-BE49-F238E27FC236}">
                <a16:creationId xmlns:a16="http://schemas.microsoft.com/office/drawing/2014/main" id="{F10A4522-CC4B-43C7-9D03-3C18C79C7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" t="26750" r="804" b="26971"/>
          <a:stretch>
            <a:fillRect/>
          </a:stretch>
        </p:blipFill>
        <p:spPr bwMode="auto">
          <a:xfrm>
            <a:off x="1200150" y="2600325"/>
            <a:ext cx="6589713" cy="232886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Rectangle 6">
            <a:extLst>
              <a:ext uri="{FF2B5EF4-FFF2-40B4-BE49-F238E27FC236}">
                <a16:creationId xmlns:a16="http://schemas.microsoft.com/office/drawing/2014/main" id="{E48BA0F2-97A5-9966-CCA8-20648EF7A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1308100"/>
            <a:ext cx="84693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chemeClr val="tx2"/>
                </a:solidFill>
              </a:rPr>
              <a:t>Simulation of Sequential Access on a Direct-access File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F4B90-09B4-D7B9-B875-39940AC5049D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25" name="Rectangle 29">
            <a:extLst>
              <a:ext uri="{FF2B5EF4-FFF2-40B4-BE49-F238E27FC236}">
                <a16:creationId xmlns:a16="http://schemas.microsoft.com/office/drawing/2014/main" id="{31676581-C5EC-9F99-0D1F-996FC60DA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4D655C7-7C89-6024-A91F-44BB30E70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Directory Structure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526FF179-7752-475C-1756-C7A507E49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295400"/>
            <a:ext cx="7029450" cy="381000"/>
          </a:xfrm>
        </p:spPr>
        <p:txBody>
          <a:bodyPr/>
          <a:lstStyle/>
          <a:p>
            <a:r>
              <a:rPr lang="en-US" altLang="en-US"/>
              <a:t>A collection of nodes containing information about all files.</a:t>
            </a:r>
          </a:p>
        </p:txBody>
      </p:sp>
      <p:sp>
        <p:nvSpPr>
          <p:cNvPr id="12293" name="Oval 4">
            <a:extLst>
              <a:ext uri="{FF2B5EF4-FFF2-40B4-BE49-F238E27FC236}">
                <a16:creationId xmlns:a16="http://schemas.microsoft.com/office/drawing/2014/main" id="{63BB9298-30B5-D95D-D1AD-AF3CC57A3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4" name="Oval 5">
            <a:extLst>
              <a:ext uri="{FF2B5EF4-FFF2-40B4-BE49-F238E27FC236}">
                <a16:creationId xmlns:a16="http://schemas.microsoft.com/office/drawing/2014/main" id="{BADE39ED-DAB3-AE83-C867-0E5239187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5" name="Oval 6">
            <a:extLst>
              <a:ext uri="{FF2B5EF4-FFF2-40B4-BE49-F238E27FC236}">
                <a16:creationId xmlns:a16="http://schemas.microsoft.com/office/drawing/2014/main" id="{76B86C94-C5F8-6D63-09C6-5C4ACA962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6" name="Oval 7">
            <a:extLst>
              <a:ext uri="{FF2B5EF4-FFF2-40B4-BE49-F238E27FC236}">
                <a16:creationId xmlns:a16="http://schemas.microsoft.com/office/drawing/2014/main" id="{50F8861C-9BA1-3A4C-A232-EE47B012C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7" name="Oval 8">
            <a:extLst>
              <a:ext uri="{FF2B5EF4-FFF2-40B4-BE49-F238E27FC236}">
                <a16:creationId xmlns:a16="http://schemas.microsoft.com/office/drawing/2014/main" id="{DEB2EBAA-DC5B-D351-6A59-7ACFC7B5E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908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8" name="Rectangle 10">
            <a:extLst>
              <a:ext uri="{FF2B5EF4-FFF2-40B4-BE49-F238E27FC236}">
                <a16:creationId xmlns:a16="http://schemas.microsoft.com/office/drawing/2014/main" id="{774945D8-FAF3-801F-D5D3-2F435C4A6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267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F 1</a:t>
            </a:r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AF716CA4-312B-46C8-11D7-F01AC796F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2672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F 2</a:t>
            </a:r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9C71536E-4C7A-6784-A1F2-C1590D196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267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F 3</a:t>
            </a:r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C353B0D8-2EC7-0110-AE07-DA0E17FEB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672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F 4</a:t>
            </a:r>
          </a:p>
        </p:txBody>
      </p:sp>
      <p:sp>
        <p:nvSpPr>
          <p:cNvPr id="12302" name="Rectangle 14">
            <a:extLst>
              <a:ext uri="{FF2B5EF4-FFF2-40B4-BE49-F238E27FC236}">
                <a16:creationId xmlns:a16="http://schemas.microsoft.com/office/drawing/2014/main" id="{E00D1A61-D420-986C-E510-66E194861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48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F n</a:t>
            </a:r>
          </a:p>
        </p:txBody>
      </p:sp>
      <p:sp>
        <p:nvSpPr>
          <p:cNvPr id="12303" name="Line 16">
            <a:extLst>
              <a:ext uri="{FF2B5EF4-FFF2-40B4-BE49-F238E27FC236}">
                <a16:creationId xmlns:a16="http://schemas.microsoft.com/office/drawing/2014/main" id="{E4CEDD5B-D9D7-9BC1-4E98-F101CE6BD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8575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4" name="Line 17">
            <a:extLst>
              <a:ext uri="{FF2B5EF4-FFF2-40B4-BE49-F238E27FC236}">
                <a16:creationId xmlns:a16="http://schemas.microsoft.com/office/drawing/2014/main" id="{4B3E9E80-38BF-5361-CA0F-6DC43DF8B9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5" name="Line 21">
            <a:extLst>
              <a:ext uri="{FF2B5EF4-FFF2-40B4-BE49-F238E27FC236}">
                <a16:creationId xmlns:a16="http://schemas.microsoft.com/office/drawing/2014/main" id="{72E62751-0E56-7889-61B8-F28FE77487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048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6" name="Line 22">
            <a:extLst>
              <a:ext uri="{FF2B5EF4-FFF2-40B4-BE49-F238E27FC236}">
                <a16:creationId xmlns:a16="http://schemas.microsoft.com/office/drawing/2014/main" id="{968D6BE7-40CA-B7E1-DCB1-3A09029B7E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7" name="Line 23">
            <a:extLst>
              <a:ext uri="{FF2B5EF4-FFF2-40B4-BE49-F238E27FC236}">
                <a16:creationId xmlns:a16="http://schemas.microsoft.com/office/drawing/2014/main" id="{F45BED18-032F-3D70-5A2B-F9B0C6D351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8" name="Freeform 24">
            <a:extLst>
              <a:ext uri="{FF2B5EF4-FFF2-40B4-BE49-F238E27FC236}">
                <a16:creationId xmlns:a16="http://schemas.microsoft.com/office/drawing/2014/main" id="{E29E753E-47BF-499F-1553-925104A15B58}"/>
              </a:ext>
            </a:extLst>
          </p:cNvPr>
          <p:cNvSpPr>
            <a:spLocks/>
          </p:cNvSpPr>
          <p:nvPr/>
        </p:nvSpPr>
        <p:spPr bwMode="auto">
          <a:xfrm>
            <a:off x="2538413" y="1962150"/>
            <a:ext cx="4186237" cy="1473200"/>
          </a:xfrm>
          <a:custGeom>
            <a:avLst/>
            <a:gdLst>
              <a:gd name="T0" fmla="*/ 15875 w 2637"/>
              <a:gd name="T1" fmla="*/ 520700 h 928"/>
              <a:gd name="T2" fmla="*/ 44450 w 2637"/>
              <a:gd name="T3" fmla="*/ 347663 h 928"/>
              <a:gd name="T4" fmla="*/ 650875 w 2637"/>
              <a:gd name="T5" fmla="*/ 58738 h 928"/>
              <a:gd name="T6" fmla="*/ 925512 w 2637"/>
              <a:gd name="T7" fmla="*/ 15875 h 928"/>
              <a:gd name="T8" fmla="*/ 1617662 w 2637"/>
              <a:gd name="T9" fmla="*/ 0 h 928"/>
              <a:gd name="T10" fmla="*/ 2224087 w 2637"/>
              <a:gd name="T11" fmla="*/ 15875 h 928"/>
              <a:gd name="T12" fmla="*/ 2627312 w 2637"/>
              <a:gd name="T13" fmla="*/ 87313 h 928"/>
              <a:gd name="T14" fmla="*/ 3017837 w 2637"/>
              <a:gd name="T15" fmla="*/ 203200 h 928"/>
              <a:gd name="T16" fmla="*/ 3205162 w 2637"/>
              <a:gd name="T17" fmla="*/ 260350 h 928"/>
              <a:gd name="T18" fmla="*/ 3565525 w 2637"/>
              <a:gd name="T19" fmla="*/ 333375 h 928"/>
              <a:gd name="T20" fmla="*/ 3781425 w 2637"/>
              <a:gd name="T21" fmla="*/ 404812 h 928"/>
              <a:gd name="T22" fmla="*/ 3998912 w 2637"/>
              <a:gd name="T23" fmla="*/ 620713 h 928"/>
              <a:gd name="T24" fmla="*/ 4084637 w 2637"/>
              <a:gd name="T25" fmla="*/ 708025 h 928"/>
              <a:gd name="T26" fmla="*/ 4157662 w 2637"/>
              <a:gd name="T27" fmla="*/ 909638 h 928"/>
              <a:gd name="T28" fmla="*/ 4186237 w 2637"/>
              <a:gd name="T29" fmla="*/ 996950 h 928"/>
              <a:gd name="T30" fmla="*/ 4157662 w 2637"/>
              <a:gd name="T31" fmla="*/ 1169988 h 928"/>
              <a:gd name="T32" fmla="*/ 3811587 w 2637"/>
              <a:gd name="T33" fmla="*/ 1385888 h 928"/>
              <a:gd name="T34" fmla="*/ 3494087 w 2637"/>
              <a:gd name="T35" fmla="*/ 1458913 h 928"/>
              <a:gd name="T36" fmla="*/ 1819275 w 2637"/>
              <a:gd name="T37" fmla="*/ 1385888 h 928"/>
              <a:gd name="T38" fmla="*/ 752475 w 2637"/>
              <a:gd name="T39" fmla="*/ 1111250 h 928"/>
              <a:gd name="T40" fmla="*/ 708025 w 2637"/>
              <a:gd name="T41" fmla="*/ 1096963 h 928"/>
              <a:gd name="T42" fmla="*/ 650875 w 2637"/>
              <a:gd name="T43" fmla="*/ 1068388 h 928"/>
              <a:gd name="T44" fmla="*/ 131762 w 2637"/>
              <a:gd name="T45" fmla="*/ 895350 h 928"/>
              <a:gd name="T46" fmla="*/ 44450 w 2637"/>
              <a:gd name="T47" fmla="*/ 635000 h 928"/>
              <a:gd name="T48" fmla="*/ 1587 w 2637"/>
              <a:gd name="T49" fmla="*/ 506413 h 928"/>
              <a:gd name="T50" fmla="*/ 15875 w 2637"/>
              <a:gd name="T51" fmla="*/ 520700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9" name="Freeform 25">
            <a:extLst>
              <a:ext uri="{FF2B5EF4-FFF2-40B4-BE49-F238E27FC236}">
                <a16:creationId xmlns:a16="http://schemas.microsoft.com/office/drawing/2014/main" id="{A6AE39B9-FF27-4E8D-776C-80ACD27DF086}"/>
              </a:ext>
            </a:extLst>
          </p:cNvPr>
          <p:cNvSpPr>
            <a:spLocks/>
          </p:cNvSpPr>
          <p:nvPr/>
        </p:nvSpPr>
        <p:spPr bwMode="auto">
          <a:xfrm>
            <a:off x="2362200" y="3886200"/>
            <a:ext cx="4262438" cy="1600200"/>
          </a:xfrm>
          <a:custGeom>
            <a:avLst/>
            <a:gdLst>
              <a:gd name="T0" fmla="*/ 16164 w 2637"/>
              <a:gd name="T1" fmla="*/ 565588 h 928"/>
              <a:gd name="T2" fmla="*/ 45259 w 2637"/>
              <a:gd name="T3" fmla="*/ 377633 h 928"/>
              <a:gd name="T4" fmla="*/ 662723 w 2637"/>
              <a:gd name="T5" fmla="*/ 63801 h 928"/>
              <a:gd name="T6" fmla="*/ 942359 w 2637"/>
              <a:gd name="T7" fmla="*/ 17244 h 928"/>
              <a:gd name="T8" fmla="*/ 1647108 w 2637"/>
              <a:gd name="T9" fmla="*/ 0 h 928"/>
              <a:gd name="T10" fmla="*/ 2264572 w 2637"/>
              <a:gd name="T11" fmla="*/ 17244 h 928"/>
              <a:gd name="T12" fmla="*/ 2675136 w 2637"/>
              <a:gd name="T13" fmla="*/ 94839 h 928"/>
              <a:gd name="T14" fmla="*/ 3072770 w 2637"/>
              <a:gd name="T15" fmla="*/ 220717 h 928"/>
              <a:gd name="T16" fmla="*/ 3263504 w 2637"/>
              <a:gd name="T17" fmla="*/ 282794 h 928"/>
              <a:gd name="T18" fmla="*/ 3630427 w 2637"/>
              <a:gd name="T19" fmla="*/ 362114 h 928"/>
              <a:gd name="T20" fmla="*/ 3850257 w 2637"/>
              <a:gd name="T21" fmla="*/ 439710 h 928"/>
              <a:gd name="T22" fmla="*/ 4071703 w 2637"/>
              <a:gd name="T23" fmla="*/ 674222 h 928"/>
              <a:gd name="T24" fmla="*/ 4158989 w 2637"/>
              <a:gd name="T25" fmla="*/ 769062 h 928"/>
              <a:gd name="T26" fmla="*/ 4233343 w 2637"/>
              <a:gd name="T27" fmla="*/ 988055 h 928"/>
              <a:gd name="T28" fmla="*/ 4262438 w 2637"/>
              <a:gd name="T29" fmla="*/ 1082894 h 928"/>
              <a:gd name="T30" fmla="*/ 4233343 w 2637"/>
              <a:gd name="T31" fmla="*/ 1270849 h 928"/>
              <a:gd name="T32" fmla="*/ 3880969 w 2637"/>
              <a:gd name="T33" fmla="*/ 1505361 h 928"/>
              <a:gd name="T34" fmla="*/ 3557689 w 2637"/>
              <a:gd name="T35" fmla="*/ 1584681 h 928"/>
              <a:gd name="T36" fmla="*/ 1852391 w 2637"/>
              <a:gd name="T37" fmla="*/ 1505361 h 928"/>
              <a:gd name="T38" fmla="*/ 766172 w 2637"/>
              <a:gd name="T39" fmla="*/ 1207048 h 928"/>
              <a:gd name="T40" fmla="*/ 720913 w 2637"/>
              <a:gd name="T41" fmla="*/ 1191528 h 928"/>
              <a:gd name="T42" fmla="*/ 662723 w 2637"/>
              <a:gd name="T43" fmla="*/ 1160490 h 928"/>
              <a:gd name="T44" fmla="*/ 134161 w 2637"/>
              <a:gd name="T45" fmla="*/ 972536 h 928"/>
              <a:gd name="T46" fmla="*/ 45259 w 2637"/>
              <a:gd name="T47" fmla="*/ 689741 h 928"/>
              <a:gd name="T48" fmla="*/ 1616 w 2637"/>
              <a:gd name="T49" fmla="*/ 550069 h 928"/>
              <a:gd name="T50" fmla="*/ 16164 w 2637"/>
              <a:gd name="T51" fmla="*/ 565588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10" name="Text Box 26">
            <a:extLst>
              <a:ext uri="{FF2B5EF4-FFF2-40B4-BE49-F238E27FC236}">
                <a16:creationId xmlns:a16="http://schemas.microsoft.com/office/drawing/2014/main" id="{59F69B83-0E80-22E4-3443-8273F8355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286000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Directory</a:t>
            </a:r>
          </a:p>
        </p:txBody>
      </p:sp>
      <p:sp>
        <p:nvSpPr>
          <p:cNvPr id="12311" name="Text Box 27">
            <a:extLst>
              <a:ext uri="{FF2B5EF4-FFF2-40B4-BE49-F238E27FC236}">
                <a16:creationId xmlns:a16="http://schemas.microsoft.com/office/drawing/2014/main" id="{2A97C49C-FC44-2CB7-C367-2BE197EAA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4191000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Files</a:t>
            </a:r>
          </a:p>
        </p:txBody>
      </p:sp>
      <p:sp>
        <p:nvSpPr>
          <p:cNvPr id="12312" name="Rectangle 28">
            <a:extLst>
              <a:ext uri="{FF2B5EF4-FFF2-40B4-BE49-F238E27FC236}">
                <a16:creationId xmlns:a16="http://schemas.microsoft.com/office/drawing/2014/main" id="{2A543A0A-70F9-4BE1-4C36-5A4FDB3E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638800"/>
            <a:ext cx="70294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/>
              <a:t>Both the directory structure and the files reside on disk.</a:t>
            </a:r>
          </a:p>
          <a:p>
            <a:pPr algn="l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/>
              <a:t>Backups of these two structures are kept on tapes.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39809-053B-8E58-7252-2373223FCD8B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B37B546B-3FE2-615F-6DDD-668A26FC7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1BAAB403-CF63-D47B-CE70-3458DDF20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0"/>
            <a:ext cx="77724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chemeClr val="tx2"/>
                </a:solidFill>
              </a:rPr>
              <a:t>A Typical File-system Organization</a:t>
            </a:r>
          </a:p>
        </p:txBody>
      </p:sp>
      <p:pic>
        <p:nvPicPr>
          <p:cNvPr id="13316" name="Picture 5">
            <a:extLst>
              <a:ext uri="{FF2B5EF4-FFF2-40B4-BE49-F238E27FC236}">
                <a16:creationId xmlns:a16="http://schemas.microsoft.com/office/drawing/2014/main" id="{6E51DE5D-A18F-53A5-EA99-E952DF7E6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3" t="14006" r="888" b="15189"/>
          <a:stretch>
            <a:fillRect/>
          </a:stretch>
        </p:blipFill>
        <p:spPr bwMode="auto">
          <a:xfrm>
            <a:off x="1047750" y="1347788"/>
            <a:ext cx="6684963" cy="370681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381219-5C8E-F47E-E36E-8F86F16AFA12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4">
            <a:extLst>
              <a:ext uri="{FF2B5EF4-FFF2-40B4-BE49-F238E27FC236}">
                <a16:creationId xmlns:a16="http://schemas.microsoft.com/office/drawing/2014/main" id="{108F88DA-834B-ECF8-84C6-7DC22DD92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4F76B19-2CD9-4032-EE0D-E102D7B29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Information in a Device Directory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E74F9D4-378B-C4C8-EEA2-78A82361D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Name </a:t>
            </a:r>
          </a:p>
          <a:p>
            <a:r>
              <a:rPr lang="en-US" altLang="en-US"/>
              <a:t>Type</a:t>
            </a:r>
          </a:p>
          <a:p>
            <a:r>
              <a:rPr lang="en-US" altLang="en-US"/>
              <a:t>Address </a:t>
            </a:r>
          </a:p>
          <a:p>
            <a:r>
              <a:rPr lang="en-US" altLang="en-US"/>
              <a:t>Current length</a:t>
            </a:r>
          </a:p>
          <a:p>
            <a:r>
              <a:rPr lang="en-US" altLang="en-US"/>
              <a:t>Maximum length</a:t>
            </a:r>
          </a:p>
          <a:p>
            <a:r>
              <a:rPr lang="en-US" altLang="en-US"/>
              <a:t>Date last accessed (for archival)</a:t>
            </a:r>
          </a:p>
          <a:p>
            <a:r>
              <a:rPr lang="en-US" altLang="en-US"/>
              <a:t>Date last updated (for dump)</a:t>
            </a:r>
          </a:p>
          <a:p>
            <a:r>
              <a:rPr lang="en-US" altLang="en-US"/>
              <a:t>Owner ID (who pays)</a:t>
            </a:r>
          </a:p>
          <a:p>
            <a:r>
              <a:rPr lang="en-US" altLang="en-US"/>
              <a:t>Protection information (discuss later)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AC3A4B-242C-03EE-7F1D-EB0B2696CE11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4">
            <a:extLst>
              <a:ext uri="{FF2B5EF4-FFF2-40B4-BE49-F238E27FC236}">
                <a16:creationId xmlns:a16="http://schemas.microsoft.com/office/drawing/2014/main" id="{B4930DC0-A8C3-392A-6A65-CB88326B5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0A3008C-F59D-B232-8B60-AF4005A98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Operations Performed on Directory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6D60F40-A9D7-E784-1310-F53079C9D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Search for a file</a:t>
            </a:r>
          </a:p>
          <a:p>
            <a:r>
              <a:rPr lang="en-US" altLang="en-US"/>
              <a:t>Create a file</a:t>
            </a:r>
          </a:p>
          <a:p>
            <a:r>
              <a:rPr lang="en-US" altLang="en-US"/>
              <a:t>Delete a file</a:t>
            </a:r>
          </a:p>
          <a:p>
            <a:r>
              <a:rPr lang="en-US" altLang="en-US"/>
              <a:t>List a directory</a:t>
            </a:r>
          </a:p>
          <a:p>
            <a:r>
              <a:rPr lang="en-US" altLang="en-US"/>
              <a:t>Rename a file</a:t>
            </a:r>
          </a:p>
          <a:p>
            <a:r>
              <a:rPr lang="en-US" altLang="en-US"/>
              <a:t>Traverse the file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2A69D2-51CC-1288-5740-75C4CB5176DD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4">
            <a:extLst>
              <a:ext uri="{FF2B5EF4-FFF2-40B4-BE49-F238E27FC236}">
                <a16:creationId xmlns:a16="http://schemas.microsoft.com/office/drawing/2014/main" id="{6DB70D76-27F7-6D76-C914-851E43D23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9381A0F-5ECE-9EA5-F5FD-06490A386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8175" y="495300"/>
            <a:ext cx="7743825" cy="457200"/>
          </a:xfrm>
        </p:spPr>
        <p:txBody>
          <a:bodyPr/>
          <a:lstStyle/>
          <a:p>
            <a:r>
              <a:rPr lang="en-US" altLang="en-US"/>
              <a:t>Organize the Directory (Logically) to Obtain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03F3C320-3DF1-40F2-4343-4D095B9A0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Efficiency – locating a file quickly.</a:t>
            </a:r>
          </a:p>
          <a:p>
            <a:r>
              <a:rPr lang="en-US" altLang="en-US"/>
              <a:t>Naming – convenient to users.</a:t>
            </a:r>
          </a:p>
          <a:p>
            <a:pPr lvl="1"/>
            <a:r>
              <a:rPr lang="en-US" altLang="en-US"/>
              <a:t>Two users can have same name for different files.</a:t>
            </a:r>
          </a:p>
          <a:p>
            <a:pPr lvl="1"/>
            <a:r>
              <a:rPr lang="en-US" altLang="en-US"/>
              <a:t>The same file can have several different names.</a:t>
            </a:r>
          </a:p>
          <a:p>
            <a:r>
              <a:rPr lang="en-US" altLang="en-US"/>
              <a:t>Grouping – logical grouping of files by properties, (e.g., all Pascal programs, all games, …)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2C7E6-14BB-768D-1E93-45BDD13A48E5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8" name="Rectangle 6">
            <a:extLst>
              <a:ext uri="{FF2B5EF4-FFF2-40B4-BE49-F238E27FC236}">
                <a16:creationId xmlns:a16="http://schemas.microsoft.com/office/drawing/2014/main" id="{25FA6293-9B43-C87D-9B46-419235CCF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6EB1E2CD-CF1E-D0ED-ADFA-4B11EEF91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Single-Level Directory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3725AC24-2257-557E-C086-3C0EFBB831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1225" y="1724025"/>
            <a:ext cx="7029450" cy="561975"/>
          </a:xfrm>
        </p:spPr>
        <p:txBody>
          <a:bodyPr/>
          <a:lstStyle/>
          <a:p>
            <a:r>
              <a:rPr lang="en-US" altLang="en-US"/>
              <a:t>A single directory for all users.</a:t>
            </a:r>
          </a:p>
        </p:txBody>
      </p:sp>
      <p:pic>
        <p:nvPicPr>
          <p:cNvPr id="17413" name="Picture 4">
            <a:extLst>
              <a:ext uri="{FF2B5EF4-FFF2-40B4-BE49-F238E27FC236}">
                <a16:creationId xmlns:a16="http://schemas.microsoft.com/office/drawing/2014/main" id="{D214148F-A284-8E9E-0801-40F930CFB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37015" r="401" b="36288"/>
          <a:stretch>
            <a:fillRect/>
          </a:stretch>
        </p:blipFill>
        <p:spPr bwMode="auto">
          <a:xfrm>
            <a:off x="815975" y="2416175"/>
            <a:ext cx="6635750" cy="143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Rectangle 5">
            <a:extLst>
              <a:ext uri="{FF2B5EF4-FFF2-40B4-BE49-F238E27FC236}">
                <a16:creationId xmlns:a16="http://schemas.microsoft.com/office/drawing/2014/main" id="{A2C49698-02E1-318B-706D-1B5D8D0EA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" y="4213225"/>
            <a:ext cx="70294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/>
              <a:t>Naming problem</a:t>
            </a:r>
          </a:p>
          <a:p>
            <a:pPr algn="l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/>
              <a:t>Grouping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EB06E-19DE-7C61-4DDB-5E341D7F171B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2" name="Rectangle 6">
            <a:extLst>
              <a:ext uri="{FF2B5EF4-FFF2-40B4-BE49-F238E27FC236}">
                <a16:creationId xmlns:a16="http://schemas.microsoft.com/office/drawing/2014/main" id="{30080525-3B19-898F-C283-82D0279F9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3460C3D-FE4B-A008-A551-28CE0CF87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Two-Level Directory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33F01FA-FE74-EBC8-41F9-EE3B437EB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3463" y="1347788"/>
            <a:ext cx="7029450" cy="549275"/>
          </a:xfrm>
        </p:spPr>
        <p:txBody>
          <a:bodyPr/>
          <a:lstStyle/>
          <a:p>
            <a:r>
              <a:rPr lang="en-US" altLang="en-US"/>
              <a:t>Separate directory for each user.</a:t>
            </a:r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A26F42DB-81EE-4A6C-6EFF-BE964470F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" t="30074" r="604" b="29224"/>
          <a:stretch>
            <a:fillRect/>
          </a:stretch>
        </p:blipFill>
        <p:spPr bwMode="auto">
          <a:xfrm>
            <a:off x="1101725" y="2041525"/>
            <a:ext cx="7099300" cy="231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Rectangle 5">
            <a:extLst>
              <a:ext uri="{FF2B5EF4-FFF2-40B4-BE49-F238E27FC236}">
                <a16:creationId xmlns:a16="http://schemas.microsoft.com/office/drawing/2014/main" id="{BC27BACA-30D3-77CD-2F83-209C36C1A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4575175"/>
            <a:ext cx="70294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/>
              <a:t>Path name</a:t>
            </a:r>
          </a:p>
          <a:p>
            <a:pPr algn="l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/>
              <a:t>Can have the same file name for different user</a:t>
            </a:r>
          </a:p>
          <a:p>
            <a:pPr algn="l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/>
              <a:t>Efficient searching</a:t>
            </a:r>
          </a:p>
          <a:p>
            <a:pPr algn="l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/>
              <a:t>No grouping capability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ECC66-2B43-6085-45AA-C818EC5DC44A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5">
            <a:extLst>
              <a:ext uri="{FF2B5EF4-FFF2-40B4-BE49-F238E27FC236}">
                <a16:creationId xmlns:a16="http://schemas.microsoft.com/office/drawing/2014/main" id="{9E566B92-F5B5-7223-9612-37E6C8ED0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AA42A221-9B9A-D001-3BEB-3782B3698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Tree-Structured Directories</a:t>
            </a: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670EC160-32EE-908D-6922-7302F1116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" t="7208" r="423" b="7057"/>
          <a:stretch>
            <a:fillRect/>
          </a:stretch>
        </p:blipFill>
        <p:spPr bwMode="auto">
          <a:xfrm>
            <a:off x="1331913" y="1377950"/>
            <a:ext cx="667385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93A59FB-0763-D9CA-54F3-3520B39968FE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4">
            <a:extLst>
              <a:ext uri="{FF2B5EF4-FFF2-40B4-BE49-F238E27FC236}">
                <a16:creationId xmlns:a16="http://schemas.microsoft.com/office/drawing/2014/main" id="{6EA1DFA0-4F38-F9ED-5A4F-C257D628B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3FC87BF-1B5A-54F7-233D-F2BC8E39D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Tree-Structured Directories (Cont.)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BADE0E0-EA0A-813D-F348-494CE2F0A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Efficient searching</a:t>
            </a:r>
          </a:p>
          <a:p>
            <a:r>
              <a:rPr lang="en-US" altLang="en-US"/>
              <a:t>Grouping Capability</a:t>
            </a:r>
          </a:p>
          <a:p>
            <a:r>
              <a:rPr lang="en-US" altLang="en-US"/>
              <a:t>Current directory (working directory)</a:t>
            </a:r>
          </a:p>
          <a:p>
            <a:pPr lvl="1"/>
            <a:r>
              <a:rPr lang="en-US" altLang="en-US"/>
              <a:t>cd /spell/mail/prog</a:t>
            </a:r>
          </a:p>
          <a:p>
            <a:pPr lvl="1"/>
            <a:r>
              <a:rPr lang="en-US" altLang="en-US"/>
              <a:t>type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90124A-2EF1-E942-DD9B-265301491CBD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01" name="Rectangle 13">
            <a:extLst>
              <a:ext uri="{FF2B5EF4-FFF2-40B4-BE49-F238E27FC236}">
                <a16:creationId xmlns:a16="http://schemas.microsoft.com/office/drawing/2014/main" id="{187118EF-D394-FD05-B63C-BD6984082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23CBEEA-7A98-516A-DAC7-0B1E873BB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Tree-Structured Directories (Cont.)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6DCEE26-99AB-4F93-7EA3-A78175692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488" y="1204913"/>
            <a:ext cx="7029450" cy="3221037"/>
          </a:xfrm>
        </p:spPr>
        <p:txBody>
          <a:bodyPr/>
          <a:lstStyle/>
          <a:p>
            <a:pPr>
              <a:tabLst>
                <a:tab pos="2857500" algn="ctr"/>
              </a:tabLst>
            </a:pPr>
            <a:r>
              <a:rPr lang="en-US" altLang="en-US"/>
              <a:t>Absolute or relative path name</a:t>
            </a:r>
          </a:p>
          <a:p>
            <a:pPr>
              <a:tabLst>
                <a:tab pos="2857500" algn="ctr"/>
              </a:tabLst>
            </a:pPr>
            <a:r>
              <a:rPr lang="en-US" altLang="en-US"/>
              <a:t>Creating a new file is done in current directory.</a:t>
            </a:r>
          </a:p>
          <a:p>
            <a:pPr>
              <a:tabLst>
                <a:tab pos="2857500" algn="ctr"/>
              </a:tabLst>
            </a:pPr>
            <a:r>
              <a:rPr lang="en-US" altLang="en-US"/>
              <a:t>Delete a file</a:t>
            </a:r>
          </a:p>
          <a:p>
            <a:pPr>
              <a:buFontTx/>
              <a:buNone/>
              <a:tabLst>
                <a:tab pos="2857500" algn="ctr"/>
              </a:tabLst>
            </a:pPr>
            <a:r>
              <a:rPr lang="en-US" altLang="en-US"/>
              <a:t>		</a:t>
            </a:r>
            <a:r>
              <a:rPr lang="en-US" altLang="en-US" b="1"/>
              <a:t>rm</a:t>
            </a:r>
            <a:r>
              <a:rPr lang="en-US" altLang="en-US"/>
              <a:t> &lt;file-name&gt;</a:t>
            </a:r>
          </a:p>
          <a:p>
            <a:pPr>
              <a:tabLst>
                <a:tab pos="2857500" algn="ctr"/>
              </a:tabLst>
            </a:pPr>
            <a:r>
              <a:rPr lang="en-US" altLang="en-US"/>
              <a:t>Creating a new subdirectory is done in current directory.</a:t>
            </a:r>
          </a:p>
          <a:p>
            <a:pPr marL="628650" lvl="1">
              <a:buFontTx/>
              <a:buNone/>
              <a:tabLst>
                <a:tab pos="2857500" algn="ctr"/>
              </a:tabLst>
            </a:pPr>
            <a:r>
              <a:rPr lang="en-US" altLang="en-US"/>
              <a:t>		</a:t>
            </a:r>
            <a:r>
              <a:rPr lang="en-US" altLang="en-US" b="1"/>
              <a:t>mkdir</a:t>
            </a:r>
            <a:r>
              <a:rPr lang="en-US" altLang="en-US"/>
              <a:t> &lt;dir-name&gt;</a:t>
            </a:r>
          </a:p>
          <a:p>
            <a:pPr>
              <a:buFontTx/>
              <a:buNone/>
              <a:tabLst>
                <a:tab pos="2857500" algn="ctr"/>
              </a:tabLst>
            </a:pPr>
            <a:r>
              <a:rPr lang="en-US" altLang="en-US"/>
              <a:t>	Example:  if in current directory   /spell/mail</a:t>
            </a:r>
          </a:p>
          <a:p>
            <a:pPr>
              <a:buFontTx/>
              <a:buNone/>
              <a:tabLst>
                <a:tab pos="2857500" algn="ctr"/>
              </a:tabLst>
            </a:pPr>
            <a:r>
              <a:rPr lang="en-US" altLang="en-US"/>
              <a:t>		</a:t>
            </a:r>
            <a:r>
              <a:rPr lang="en-US" altLang="en-US" b="1"/>
              <a:t>mkdir</a:t>
            </a:r>
            <a:r>
              <a:rPr lang="en-US" altLang="en-US"/>
              <a:t> count</a:t>
            </a: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86278AAC-6AAB-3287-9C55-2634B02A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4589463"/>
            <a:ext cx="879475" cy="331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mail</a:t>
            </a: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C20B2E81-5ED7-9E05-D1AE-D974CEDDE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5232400"/>
            <a:ext cx="720725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prog</a:t>
            </a:r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F16D3C9F-1814-164F-FB6F-F78347C10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5232400"/>
            <a:ext cx="720725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copy</a:t>
            </a:r>
          </a:p>
        </p:txBody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54C0096E-893A-ADAC-B18C-F943BE05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5232400"/>
            <a:ext cx="446088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prt</a:t>
            </a:r>
          </a:p>
        </p:txBody>
      </p:sp>
      <p:sp>
        <p:nvSpPr>
          <p:cNvPr id="21513" name="Rectangle 8">
            <a:extLst>
              <a:ext uri="{FF2B5EF4-FFF2-40B4-BE49-F238E27FC236}">
                <a16:creationId xmlns:a16="http://schemas.microsoft.com/office/drawing/2014/main" id="{141C5412-6CEB-6BB7-3F9E-4A861DF06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5232400"/>
            <a:ext cx="446088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exp</a:t>
            </a:r>
          </a:p>
        </p:txBody>
      </p:sp>
      <p:sp>
        <p:nvSpPr>
          <p:cNvPr id="21514" name="Rectangle 9">
            <a:extLst>
              <a:ext uri="{FF2B5EF4-FFF2-40B4-BE49-F238E27FC236}">
                <a16:creationId xmlns:a16="http://schemas.microsoft.com/office/drawing/2014/main" id="{C616AA6B-E628-7EAB-B588-2623F2750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5232400"/>
            <a:ext cx="706437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count</a:t>
            </a:r>
          </a:p>
        </p:txBody>
      </p:sp>
      <p:sp>
        <p:nvSpPr>
          <p:cNvPr id="21515" name="Line 11">
            <a:extLst>
              <a:ext uri="{FF2B5EF4-FFF2-40B4-BE49-F238E27FC236}">
                <a16:creationId xmlns:a16="http://schemas.microsoft.com/office/drawing/2014/main" id="{8DD298D2-6490-9051-E618-3C7B045C3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1438" y="4921250"/>
            <a:ext cx="0" cy="307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FC378E3E-17E5-7731-F16C-E87F266A2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88" y="5902325"/>
            <a:ext cx="702945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/>
              <a:t>Deleting “mail” </a:t>
            </a:r>
            <a:r>
              <a:rPr lang="en-US" altLang="en-US">
                <a:sym typeface="Symbol" panose="05050102010706020507" pitchFamily="18" charset="2"/>
              </a:rPr>
              <a:t> deleting the entire subtree rooted by “mail”.</a:t>
            </a:r>
            <a:endParaRPr lang="en-US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353223-0C52-A5FE-852A-318E720497B8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7" name="Rectangle 5">
            <a:extLst>
              <a:ext uri="{FF2B5EF4-FFF2-40B4-BE49-F238E27FC236}">
                <a16:creationId xmlns:a16="http://schemas.microsoft.com/office/drawing/2014/main" id="{6AEF2102-08CA-10A6-BA88-E225A41CE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F24F005-4380-2A83-81CE-E41903A80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Acyclic-Graph Directories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02DA5EB-2A47-C50F-4B94-9E8F4F78D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363663"/>
            <a:ext cx="7029450" cy="522287"/>
          </a:xfrm>
        </p:spPr>
        <p:txBody>
          <a:bodyPr/>
          <a:lstStyle/>
          <a:p>
            <a:r>
              <a:rPr lang="en-US" altLang="en-US"/>
              <a:t>Have shared subdirectories and files.</a:t>
            </a:r>
          </a:p>
        </p:txBody>
      </p:sp>
      <p:pic>
        <p:nvPicPr>
          <p:cNvPr id="22533" name="Picture 4">
            <a:extLst>
              <a:ext uri="{FF2B5EF4-FFF2-40B4-BE49-F238E27FC236}">
                <a16:creationId xmlns:a16="http://schemas.microsoft.com/office/drawing/2014/main" id="{C073A35F-A342-E6FC-FB3F-121A9505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" t="563" r="1436" b="638"/>
          <a:stretch>
            <a:fillRect/>
          </a:stretch>
        </p:blipFill>
        <p:spPr bwMode="auto">
          <a:xfrm>
            <a:off x="1754188" y="1857375"/>
            <a:ext cx="483235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EA83276-9B0F-38BD-753E-1473120A0FD4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4">
            <a:extLst>
              <a:ext uri="{FF2B5EF4-FFF2-40B4-BE49-F238E27FC236}">
                <a16:creationId xmlns:a16="http://schemas.microsoft.com/office/drawing/2014/main" id="{9F94F332-1C1D-EB1C-EAF6-C2E8E67D8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252BD2DC-D3F6-18C3-02F7-EB2D1998C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Acyclic-Graph Directories (Cont.)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C81C0F7-1993-B4E9-2930-DC5EE7FEA4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Two different names (aliasing)</a:t>
            </a:r>
          </a:p>
          <a:p>
            <a:r>
              <a:rPr lang="en-US" altLang="en-US"/>
              <a:t>If </a:t>
            </a:r>
            <a:r>
              <a:rPr lang="en-US" altLang="en-US" i="1"/>
              <a:t>dict</a:t>
            </a:r>
            <a:r>
              <a:rPr lang="en-US" altLang="en-US"/>
              <a:t> deletes </a:t>
            </a:r>
            <a:r>
              <a:rPr lang="en-US" altLang="en-US" i="1"/>
              <a:t>list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 dangling pointer.</a:t>
            </a:r>
          </a:p>
          <a:p>
            <a:pPr>
              <a:buFontTx/>
              <a:buNone/>
            </a:pPr>
            <a:r>
              <a:rPr lang="en-US" altLang="en-US"/>
              <a:t>	Solutions:</a:t>
            </a:r>
          </a:p>
          <a:p>
            <a:pPr lvl="1"/>
            <a:r>
              <a:rPr lang="en-US" altLang="en-US"/>
              <a:t>Backpointers, so we can delete all pointers.</a:t>
            </a:r>
            <a:br>
              <a:rPr lang="en-US" altLang="en-US"/>
            </a:br>
            <a:r>
              <a:rPr lang="en-US" altLang="en-US"/>
              <a:t>Variable size records a problem.</a:t>
            </a:r>
          </a:p>
          <a:p>
            <a:pPr lvl="1"/>
            <a:r>
              <a:rPr lang="en-US" altLang="en-US"/>
              <a:t>Backpointers using a daisy chain organization.</a:t>
            </a:r>
          </a:p>
          <a:p>
            <a:pPr lvl="1"/>
            <a:r>
              <a:rPr lang="en-US" altLang="en-US"/>
              <a:t>Entry-hold-count solution.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40BAB-39ED-0113-7E0C-757B0FA03234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Rectangle 5">
            <a:extLst>
              <a:ext uri="{FF2B5EF4-FFF2-40B4-BE49-F238E27FC236}">
                <a16:creationId xmlns:a16="http://schemas.microsoft.com/office/drawing/2014/main" id="{9CB98434-E9BE-84DE-8D28-B24B8D147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EE43C56-51D1-1F35-C22D-6E70F1D00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General Graph Directory</a:t>
            </a:r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6080E10D-66D3-3953-D1C9-55AB80132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" t="13356" r="481" b="13055"/>
          <a:stretch>
            <a:fillRect/>
          </a:stretch>
        </p:blipFill>
        <p:spPr bwMode="auto">
          <a:xfrm>
            <a:off x="1651000" y="1954213"/>
            <a:ext cx="5872163" cy="349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F88EE3-62A1-B363-4D1D-81C523E80822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4">
            <a:extLst>
              <a:ext uri="{FF2B5EF4-FFF2-40B4-BE49-F238E27FC236}">
                <a16:creationId xmlns:a16="http://schemas.microsoft.com/office/drawing/2014/main" id="{15322155-34F9-D858-DD95-6C4A1FE6D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E3CA1288-5FFF-0CFE-78B6-794EABC44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General Graph Directory (Cont.)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64B61BB-A5AF-E602-2A74-A1D12B6226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How do we guarantee no cycles?</a:t>
            </a:r>
          </a:p>
          <a:p>
            <a:pPr lvl="1"/>
            <a:r>
              <a:rPr lang="en-US" altLang="en-US"/>
              <a:t>Allow only links to file not subdirectories.</a:t>
            </a:r>
          </a:p>
          <a:p>
            <a:pPr lvl="1"/>
            <a:r>
              <a:rPr lang="en-US" altLang="en-US"/>
              <a:t>Garbage collection.</a:t>
            </a:r>
          </a:p>
          <a:p>
            <a:pPr lvl="1"/>
            <a:r>
              <a:rPr lang="en-US" altLang="en-US"/>
              <a:t>Every time a new link is added use a cycle detection</a:t>
            </a:r>
            <a:br>
              <a:rPr lang="en-US" altLang="en-US"/>
            </a:br>
            <a:r>
              <a:rPr lang="en-US" altLang="en-US"/>
              <a:t>algorithm to determine whether it is OK.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4A7604-32CA-ADC6-C08B-D39785007706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4">
            <a:extLst>
              <a:ext uri="{FF2B5EF4-FFF2-40B4-BE49-F238E27FC236}">
                <a16:creationId xmlns:a16="http://schemas.microsoft.com/office/drawing/2014/main" id="{795F6C8B-3410-EB9E-75A0-3630D0561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C195EBA-2491-630B-C48E-20EF3631E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Protection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F757BA6-FB40-52A6-D7B8-DB2BF4862E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47775"/>
            <a:ext cx="8239125" cy="4114800"/>
          </a:xfrm>
        </p:spPr>
        <p:txBody>
          <a:bodyPr/>
          <a:lstStyle/>
          <a:p>
            <a:pPr algn="just"/>
            <a:endParaRPr lang="en-US" altLang="en-US"/>
          </a:p>
          <a:p>
            <a:pPr algn="just"/>
            <a:r>
              <a:rPr lang="en-US" altLang="en-US"/>
              <a:t>When information stored in a computer system it should be safe from physical damage(reliability) and improper access (protection)</a:t>
            </a:r>
          </a:p>
          <a:p>
            <a:pPr algn="just"/>
            <a:r>
              <a:rPr lang="en-US" altLang="en-US"/>
              <a:t>Reliability can be provided by copies of files</a:t>
            </a:r>
          </a:p>
          <a:p>
            <a:pPr algn="just"/>
            <a:r>
              <a:rPr lang="en-US" altLang="en-US"/>
              <a:t>Protection can be provided by many ways</a:t>
            </a:r>
          </a:p>
          <a:p>
            <a:pPr algn="just"/>
            <a:r>
              <a:rPr lang="en-US" altLang="en-US"/>
              <a:t>File owner/creator should be able to control:</a:t>
            </a:r>
          </a:p>
          <a:p>
            <a:pPr lvl="1" algn="just"/>
            <a:r>
              <a:rPr lang="en-US" altLang="en-US"/>
              <a:t>what can be done</a:t>
            </a:r>
          </a:p>
          <a:p>
            <a:pPr lvl="1" algn="just"/>
            <a:r>
              <a:rPr lang="en-US" altLang="en-US"/>
              <a:t>by whom</a:t>
            </a:r>
          </a:p>
          <a:p>
            <a:pPr algn="just"/>
            <a:r>
              <a:rPr lang="en-US" altLang="en-US"/>
              <a:t>Types of access</a:t>
            </a:r>
          </a:p>
          <a:p>
            <a:pPr lvl="1" algn="just"/>
            <a:r>
              <a:rPr lang="en-US" altLang="en-US"/>
              <a:t>Read</a:t>
            </a:r>
          </a:p>
          <a:p>
            <a:pPr lvl="1" algn="just"/>
            <a:r>
              <a:rPr lang="en-US" altLang="en-US"/>
              <a:t>Write</a:t>
            </a:r>
          </a:p>
          <a:p>
            <a:pPr lvl="1" algn="just"/>
            <a:r>
              <a:rPr lang="en-US" altLang="en-US"/>
              <a:t>Execute</a:t>
            </a:r>
          </a:p>
          <a:p>
            <a:pPr lvl="1" algn="just"/>
            <a:r>
              <a:rPr lang="en-US" altLang="en-US"/>
              <a:t>Append</a:t>
            </a:r>
          </a:p>
          <a:p>
            <a:pPr lvl="1" algn="just"/>
            <a:r>
              <a:rPr lang="en-US" altLang="en-US"/>
              <a:t>Delete</a:t>
            </a:r>
          </a:p>
          <a:p>
            <a:pPr lvl="1" algn="just"/>
            <a:r>
              <a:rPr lang="en-US" altLang="en-US"/>
              <a:t>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3BA57B-AAA4-065F-FAAD-ED2DA526ACC4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4">
            <a:extLst>
              <a:ext uri="{FF2B5EF4-FFF2-40B4-BE49-F238E27FC236}">
                <a16:creationId xmlns:a16="http://schemas.microsoft.com/office/drawing/2014/main" id="{3B2A564C-92D9-9930-F92D-C893B46AB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4864D0D-B336-CD25-B723-AA46C1706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Access Control Lists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A14A712-5385-E8A1-7072-4C60027307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6350"/>
            <a:ext cx="8239125" cy="4114800"/>
          </a:xfrm>
        </p:spPr>
        <p:txBody>
          <a:bodyPr/>
          <a:lstStyle/>
          <a:p>
            <a:pPr algn="just"/>
            <a:endParaRPr lang="en-US" altLang="en-US"/>
          </a:p>
          <a:p>
            <a:pPr algn="just"/>
            <a:r>
              <a:rPr lang="en-US" altLang="en-US"/>
              <a:t>The most general scheme to implement identity dependent access is to associate with each file and directory an access-control list (ACL) specifying user names and the types of access allowed for each user.</a:t>
            </a:r>
          </a:p>
          <a:p>
            <a:pPr algn="just"/>
            <a:r>
              <a:rPr lang="en-US" altLang="en-US"/>
              <a:t>When a user requests access to a particular file, the operating system checks the access list </a:t>
            </a:r>
          </a:p>
          <a:p>
            <a:pPr algn="just"/>
            <a:r>
              <a:rPr lang="en-US" altLang="en-US"/>
              <a:t>If that user is listed for the requested access, the access is allowed. Otherwise, a protection violation occurs, and the user job is denied access to the file.</a:t>
            </a:r>
          </a:p>
          <a:p>
            <a:r>
              <a:rPr lang="en-US" altLang="en-US"/>
              <a:t>For this scheme to work properly, permissions and access lists must be controlled tightly.</a:t>
            </a:r>
          </a:p>
          <a:p>
            <a:pPr algn="just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D74289-DC42-0069-3DD2-AF24280787BF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6" name="Rectangle 14">
            <a:extLst>
              <a:ext uri="{FF2B5EF4-FFF2-40B4-BE49-F238E27FC236}">
                <a16:creationId xmlns:a16="http://schemas.microsoft.com/office/drawing/2014/main" id="{1CEC2372-CCAD-7F63-1DBF-209E8F7FF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4FB98DB-1FB6-D06F-356A-5270C1E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5605DF18-3040-6396-21D2-9F3F7F435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9163" y="1247775"/>
            <a:ext cx="7029450" cy="3738563"/>
          </a:xfrm>
        </p:spPr>
        <p:txBody>
          <a:bodyPr/>
          <a:lstStyle/>
          <a:p>
            <a:pPr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/>
              <a:t>Mode of access:  read, write, execute</a:t>
            </a:r>
          </a:p>
          <a:p>
            <a:pPr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/>
              <a:t>Three classes of users</a:t>
            </a:r>
          </a:p>
          <a:p>
            <a:pPr>
              <a:spcBef>
                <a:spcPct val="10000"/>
              </a:spcBef>
              <a:buFontTx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/>
              <a:t>					RWX</a:t>
            </a:r>
          </a:p>
          <a:p>
            <a:pPr>
              <a:spcBef>
                <a:spcPct val="10000"/>
              </a:spcBef>
              <a:buFontTx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/>
              <a:t>		a) owner access 	7	</a:t>
            </a:r>
            <a:r>
              <a:rPr lang="en-US" altLang="en-US">
                <a:sym typeface="Symbol" panose="05050102010706020507" pitchFamily="18" charset="2"/>
              </a:rPr>
              <a:t>	1 1 1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				RWX</a:t>
            </a:r>
          </a:p>
          <a:p>
            <a:pPr>
              <a:spcBef>
                <a:spcPct val="10000"/>
              </a:spcBef>
              <a:buFontTx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>
                <a:sym typeface="Symbol" panose="05050102010706020507" pitchFamily="18" charset="2"/>
              </a:rPr>
              <a:t>		b) groups access 	6	 	1 1 0</a:t>
            </a:r>
          </a:p>
          <a:p>
            <a:pPr>
              <a:spcBef>
                <a:spcPct val="10000"/>
              </a:spcBef>
              <a:buFontTx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>
                <a:sym typeface="Symbol" panose="05050102010706020507" pitchFamily="18" charset="2"/>
              </a:rPr>
              <a:t>					RWX</a:t>
            </a:r>
          </a:p>
          <a:p>
            <a:pPr>
              <a:spcBef>
                <a:spcPct val="10000"/>
              </a:spcBef>
              <a:buFontTx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>
                <a:sym typeface="Symbol" panose="05050102010706020507" pitchFamily="18" charset="2"/>
              </a:rPr>
              <a:t>		c) public access	1	 	0 0 1</a:t>
            </a:r>
          </a:p>
          <a:p>
            <a:pPr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>
                <a:sym typeface="Symbol" panose="05050102010706020507" pitchFamily="18" charset="2"/>
              </a:rPr>
              <a:t>Ask manager to create a group (unique name), say G, and add some users to the group.</a:t>
            </a:r>
          </a:p>
          <a:p>
            <a:pPr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>
                <a:sym typeface="Symbol" panose="05050102010706020507" pitchFamily="18" charset="2"/>
              </a:rPr>
              <a:t>For a particular file (say </a:t>
            </a:r>
            <a:r>
              <a:rPr lang="en-US" altLang="en-US" i="1">
                <a:sym typeface="Symbol" panose="05050102010706020507" pitchFamily="18" charset="2"/>
              </a:rPr>
              <a:t>game</a:t>
            </a:r>
            <a:r>
              <a:rPr lang="en-US" altLang="en-US">
                <a:sym typeface="Symbol" panose="05050102010706020507" pitchFamily="18" charset="2"/>
              </a:rPr>
              <a:t>) or subdirectory, define an appropriate access.</a:t>
            </a:r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F931DBDF-3181-2DDF-3BBC-AE992A2A5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300" y="4884738"/>
            <a:ext cx="596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owner</a:t>
            </a:r>
          </a:p>
        </p:txBody>
      </p:sp>
      <p:sp>
        <p:nvSpPr>
          <p:cNvPr id="28678" name="Text Box 5">
            <a:extLst>
              <a:ext uri="{FF2B5EF4-FFF2-40B4-BE49-F238E27FC236}">
                <a16:creationId xmlns:a16="http://schemas.microsoft.com/office/drawing/2014/main" id="{E3CB1154-39F9-9EAD-F825-4DFF4D12B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4884738"/>
            <a:ext cx="571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group</a:t>
            </a:r>
          </a:p>
        </p:txBody>
      </p:sp>
      <p:sp>
        <p:nvSpPr>
          <p:cNvPr id="28679" name="Text Box 6">
            <a:extLst>
              <a:ext uri="{FF2B5EF4-FFF2-40B4-BE49-F238E27FC236}">
                <a16:creationId xmlns:a16="http://schemas.microsoft.com/office/drawing/2014/main" id="{28CE601E-3867-C496-8C86-9F63E6227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4888" y="4884738"/>
            <a:ext cx="5794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public</a:t>
            </a:r>
          </a:p>
        </p:txBody>
      </p:sp>
      <p:sp>
        <p:nvSpPr>
          <p:cNvPr id="28680" name="Text Box 7">
            <a:extLst>
              <a:ext uri="{FF2B5EF4-FFF2-40B4-BE49-F238E27FC236}">
                <a16:creationId xmlns:a16="http://schemas.microsoft.com/office/drawing/2014/main" id="{EC0F1510-8619-E622-D8AC-DCB4EC19B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038" y="5399088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chmod</a:t>
            </a:r>
          </a:p>
        </p:txBody>
      </p:sp>
      <p:sp>
        <p:nvSpPr>
          <p:cNvPr id="28681" name="Text Box 8">
            <a:extLst>
              <a:ext uri="{FF2B5EF4-FFF2-40B4-BE49-F238E27FC236}">
                <a16:creationId xmlns:a16="http://schemas.microsoft.com/office/drawing/2014/main" id="{B56F13BE-3D3D-0BA7-F6B8-4FBC67A09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8450" y="5399088"/>
            <a:ext cx="436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761</a:t>
            </a:r>
          </a:p>
        </p:txBody>
      </p:sp>
      <p:sp>
        <p:nvSpPr>
          <p:cNvPr id="28682" name="Text Box 9">
            <a:extLst>
              <a:ext uri="{FF2B5EF4-FFF2-40B4-BE49-F238E27FC236}">
                <a16:creationId xmlns:a16="http://schemas.microsoft.com/office/drawing/2014/main" id="{D83BD8D9-8760-FECF-7FE1-0034275C6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5399088"/>
            <a:ext cx="563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game</a:t>
            </a:r>
          </a:p>
        </p:txBody>
      </p:sp>
      <p:sp>
        <p:nvSpPr>
          <p:cNvPr id="28683" name="Line 10">
            <a:extLst>
              <a:ext uri="{FF2B5EF4-FFF2-40B4-BE49-F238E27FC236}">
                <a16:creationId xmlns:a16="http://schemas.microsoft.com/office/drawing/2014/main" id="{951D386D-21AC-50A6-DF89-9077A5BF9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6975" y="5065713"/>
            <a:ext cx="461963" cy="33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4" name="Line 11">
            <a:extLst>
              <a:ext uri="{FF2B5EF4-FFF2-40B4-BE49-F238E27FC236}">
                <a16:creationId xmlns:a16="http://schemas.microsoft.com/office/drawing/2014/main" id="{AE7350D1-6D83-8A15-AF99-74F81236D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108575"/>
            <a:ext cx="0" cy="274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5" name="Line 12">
            <a:extLst>
              <a:ext uri="{FF2B5EF4-FFF2-40B4-BE49-F238E27FC236}">
                <a16:creationId xmlns:a16="http://schemas.microsoft.com/office/drawing/2014/main" id="{39DFDB57-AAF8-14B6-5F11-B524F26C58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4213" y="5080000"/>
            <a:ext cx="600075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6" name="Rectangle 13">
            <a:extLst>
              <a:ext uri="{FF2B5EF4-FFF2-40B4-BE49-F238E27FC236}">
                <a16:creationId xmlns:a16="http://schemas.microsoft.com/office/drawing/2014/main" id="{F63D4DA7-6229-3B24-E9A6-3F31CD818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5643563"/>
            <a:ext cx="7029450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>
                <a:sym typeface="Symbol" panose="05050102010706020507" pitchFamily="18" charset="2"/>
              </a:rPr>
              <a:t>Attach a group to a file</a:t>
            </a:r>
          </a:p>
          <a:p>
            <a:pPr algn="l">
              <a:spcBef>
                <a:spcPct val="50000"/>
              </a:spcBef>
              <a:buSzPct val="140000"/>
            </a:pPr>
            <a:r>
              <a:rPr lang="en-US" altLang="en-US">
                <a:sym typeface="Symbol" panose="05050102010706020507" pitchFamily="18" charset="2"/>
              </a:rPr>
              <a:t>		         </a:t>
            </a:r>
            <a:r>
              <a:rPr lang="en-US" altLang="en-US" b="1">
                <a:sym typeface="Symbol" panose="05050102010706020507" pitchFamily="18" charset="2"/>
              </a:rPr>
              <a:t>chgrp</a:t>
            </a:r>
            <a:r>
              <a:rPr lang="en-US" altLang="en-US">
                <a:sym typeface="Symbol" panose="05050102010706020507" pitchFamily="18" charset="2"/>
              </a:rPr>
              <a:t>     </a:t>
            </a:r>
            <a:r>
              <a:rPr lang="en-US" altLang="en-US" i="1">
                <a:sym typeface="Symbol" panose="05050102010706020507" pitchFamily="18" charset="2"/>
              </a:rPr>
              <a:t>G    game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71EA27-BB76-1C68-94A3-5143125176B1}"/>
              </a:ext>
            </a:extLst>
          </p:cNvPr>
          <p:cNvSpPr/>
          <p:nvPr/>
        </p:nvSpPr>
        <p:spPr bwMode="auto">
          <a:xfrm>
            <a:off x="128588" y="6629400"/>
            <a:ext cx="9015412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i">
  <a:themeElements>
    <a:clrScheme name="avi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vi.po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avi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vi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C:\Apps\Microsoft Office\Templates\Presentations\avi.pot</Template>
  <TotalTime>3192</TotalTime>
  <Words>1107</Words>
  <Application>Microsoft Office PowerPoint</Application>
  <PresentationFormat>On-screen Show (4:3)</PresentationFormat>
  <Paragraphs>194</Paragraphs>
  <Slides>27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Helvetica</vt:lpstr>
      <vt:lpstr>Arial</vt:lpstr>
      <vt:lpstr>Monotype Sorts</vt:lpstr>
      <vt:lpstr>Times New Roman</vt:lpstr>
      <vt:lpstr>Symbol</vt:lpstr>
      <vt:lpstr>avi</vt:lpstr>
      <vt:lpstr>Microsoft Word Document</vt:lpstr>
      <vt:lpstr>File-System Interface</vt:lpstr>
      <vt:lpstr>File Concept</vt:lpstr>
      <vt:lpstr>File Attributes</vt:lpstr>
      <vt:lpstr>File Operations</vt:lpstr>
      <vt:lpstr>File Types – name, extension</vt:lpstr>
      <vt:lpstr>File Structure</vt:lpstr>
      <vt:lpstr>Access Methods</vt:lpstr>
      <vt:lpstr>PowerPoint Presentation</vt:lpstr>
      <vt:lpstr>Direct Access Method</vt:lpstr>
      <vt:lpstr>PowerPoint Presentation</vt:lpstr>
      <vt:lpstr>Directory Structure</vt:lpstr>
      <vt:lpstr>PowerPoint Presentation</vt:lpstr>
      <vt:lpstr>Information in a Device Directory</vt:lpstr>
      <vt:lpstr>Operations Performed on Directory</vt:lpstr>
      <vt:lpstr>Organize the Directory (Logically) to Obtain</vt:lpstr>
      <vt:lpstr>Single-Level Directory</vt:lpstr>
      <vt:lpstr>Two-Level Directory</vt:lpstr>
      <vt:lpstr>Tree-Structured Directories</vt:lpstr>
      <vt:lpstr>Tree-Structured Directories (Cont.)</vt:lpstr>
      <vt:lpstr>Tree-Structured Directories (Cont.)</vt:lpstr>
      <vt:lpstr>Acyclic-Graph Directories</vt:lpstr>
      <vt:lpstr>Acyclic-Graph Directories (Cont.)</vt:lpstr>
      <vt:lpstr>General Graph Directory</vt:lpstr>
      <vt:lpstr>General Graph Directory (Cont.)</vt:lpstr>
      <vt:lpstr>Protection</vt:lpstr>
      <vt:lpstr>Access Control Lists</vt:lpstr>
      <vt:lpstr>Groups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11.01</dc:title>
  <dc:creator>Marilyn Turnamian</dc:creator>
  <cp:lastModifiedBy>S Bhavani</cp:lastModifiedBy>
  <cp:revision>88</cp:revision>
  <cp:lastPrinted>1999-10-01T15:11:01Z</cp:lastPrinted>
  <dcterms:created xsi:type="dcterms:W3CDTF">1999-08-24T13:56:22Z</dcterms:created>
  <dcterms:modified xsi:type="dcterms:W3CDTF">2026-04-07T06:38:23Z</dcterms:modified>
</cp:coreProperties>
</file>