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76" r:id="rId3"/>
    <p:sldId id="278" r:id="rId4"/>
    <p:sldId id="296" r:id="rId5"/>
    <p:sldId id="297" r:id="rId6"/>
    <p:sldId id="298" r:id="rId7"/>
    <p:sldId id="299" r:id="rId8"/>
    <p:sldId id="300" r:id="rId9"/>
    <p:sldId id="279" r:id="rId10"/>
    <p:sldId id="280" r:id="rId11"/>
    <p:sldId id="281" r:id="rId12"/>
    <p:sldId id="282" r:id="rId13"/>
    <p:sldId id="284" r:id="rId14"/>
    <p:sldId id="301" r:id="rId15"/>
    <p:sldId id="302" r:id="rId16"/>
    <p:sldId id="303" r:id="rId17"/>
    <p:sldId id="304" r:id="rId1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33"/>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62" autoAdjust="0"/>
    <p:restoredTop sz="94660"/>
  </p:normalViewPr>
  <p:slideViewPr>
    <p:cSldViewPr>
      <p:cViewPr varScale="1">
        <p:scale>
          <a:sx n="77" d="100"/>
          <a:sy n="77" d="100"/>
        </p:scale>
        <p:origin x="1618"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DF0CD432-A0C3-0056-773D-501E684FF3FD}"/>
              </a:ext>
            </a:extLst>
          </p:cNvPr>
          <p:cNvSpPr>
            <a:spLocks noGrp="1"/>
          </p:cNvSpPr>
          <p:nvPr>
            <p:ph type="dt" sz="half" idx="10"/>
          </p:nvPr>
        </p:nvSpPr>
        <p:spPr/>
        <p:txBody>
          <a:bodyPr/>
          <a:lstStyle>
            <a:lvl1pPr>
              <a:defRPr/>
            </a:lvl1pPr>
          </a:lstStyle>
          <a:p>
            <a:pPr>
              <a:defRPr/>
            </a:pPr>
            <a:fld id="{0FEE5B96-4D86-42FD-9CEF-D959D4CD9F6F}" type="datetimeFigureOut">
              <a:rPr lang="en-US"/>
              <a:pPr>
                <a:defRPr/>
              </a:pPr>
              <a:t>4/7/2026</a:t>
            </a:fld>
            <a:endParaRPr lang="en-US"/>
          </a:p>
        </p:txBody>
      </p:sp>
      <p:sp>
        <p:nvSpPr>
          <p:cNvPr id="5" name="Footer Placeholder 4">
            <a:extLst>
              <a:ext uri="{FF2B5EF4-FFF2-40B4-BE49-F238E27FC236}">
                <a16:creationId xmlns:a16="http://schemas.microsoft.com/office/drawing/2014/main" id="{CB60C910-AEC1-AB96-7BAB-3C757E27501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FA80BE6-BD80-39BD-D0C5-4AB19A59B88D}"/>
              </a:ext>
            </a:extLst>
          </p:cNvPr>
          <p:cNvSpPr>
            <a:spLocks noGrp="1"/>
          </p:cNvSpPr>
          <p:nvPr>
            <p:ph type="sldNum" sz="quarter" idx="12"/>
          </p:nvPr>
        </p:nvSpPr>
        <p:spPr/>
        <p:txBody>
          <a:bodyPr/>
          <a:lstStyle>
            <a:lvl1pPr>
              <a:defRPr/>
            </a:lvl1pPr>
          </a:lstStyle>
          <a:p>
            <a:fld id="{EF03A727-1912-45E3-84FD-46AEC176D27C}" type="slidenum">
              <a:rPr lang="en-US" altLang="en-US"/>
              <a:pPr/>
              <a:t>‹#›</a:t>
            </a:fld>
            <a:endParaRPr lang="en-US" altLang="en-US"/>
          </a:p>
        </p:txBody>
      </p:sp>
    </p:spTree>
    <p:extLst>
      <p:ext uri="{BB962C8B-B14F-4D97-AF65-F5344CB8AC3E}">
        <p14:creationId xmlns:p14="http://schemas.microsoft.com/office/powerpoint/2010/main" val="24922338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A9DEAB-E6BC-6785-B15D-89510CFD49BF}"/>
              </a:ext>
            </a:extLst>
          </p:cNvPr>
          <p:cNvSpPr>
            <a:spLocks noGrp="1"/>
          </p:cNvSpPr>
          <p:nvPr>
            <p:ph type="dt" sz="half" idx="10"/>
          </p:nvPr>
        </p:nvSpPr>
        <p:spPr/>
        <p:txBody>
          <a:bodyPr/>
          <a:lstStyle>
            <a:lvl1pPr>
              <a:defRPr/>
            </a:lvl1pPr>
          </a:lstStyle>
          <a:p>
            <a:pPr>
              <a:defRPr/>
            </a:pPr>
            <a:fld id="{4B1C7511-E70C-4B9D-AC8D-666070436FFB}" type="datetimeFigureOut">
              <a:rPr lang="en-US"/>
              <a:pPr>
                <a:defRPr/>
              </a:pPr>
              <a:t>4/7/2026</a:t>
            </a:fld>
            <a:endParaRPr lang="en-US"/>
          </a:p>
        </p:txBody>
      </p:sp>
      <p:sp>
        <p:nvSpPr>
          <p:cNvPr id="5" name="Footer Placeholder 4">
            <a:extLst>
              <a:ext uri="{FF2B5EF4-FFF2-40B4-BE49-F238E27FC236}">
                <a16:creationId xmlns:a16="http://schemas.microsoft.com/office/drawing/2014/main" id="{43AD864C-35DF-5277-2A50-44D11FA4A4B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4EA18CD-7089-1B7B-4DA1-32016EEC25B2}"/>
              </a:ext>
            </a:extLst>
          </p:cNvPr>
          <p:cNvSpPr>
            <a:spLocks noGrp="1"/>
          </p:cNvSpPr>
          <p:nvPr>
            <p:ph type="sldNum" sz="quarter" idx="12"/>
          </p:nvPr>
        </p:nvSpPr>
        <p:spPr/>
        <p:txBody>
          <a:bodyPr/>
          <a:lstStyle>
            <a:lvl1pPr>
              <a:defRPr/>
            </a:lvl1pPr>
          </a:lstStyle>
          <a:p>
            <a:fld id="{62D3BAFD-C3CA-4ECE-9345-76E2EA3E3845}" type="slidenum">
              <a:rPr lang="en-US" altLang="en-US"/>
              <a:pPr/>
              <a:t>‹#›</a:t>
            </a:fld>
            <a:endParaRPr lang="en-US" altLang="en-US"/>
          </a:p>
        </p:txBody>
      </p:sp>
    </p:spTree>
    <p:extLst>
      <p:ext uri="{BB962C8B-B14F-4D97-AF65-F5344CB8AC3E}">
        <p14:creationId xmlns:p14="http://schemas.microsoft.com/office/powerpoint/2010/main" val="428737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A47A4E-FD75-8991-4A36-46FEE8CC20F3}"/>
              </a:ext>
            </a:extLst>
          </p:cNvPr>
          <p:cNvSpPr>
            <a:spLocks noGrp="1"/>
          </p:cNvSpPr>
          <p:nvPr>
            <p:ph type="dt" sz="half" idx="10"/>
          </p:nvPr>
        </p:nvSpPr>
        <p:spPr/>
        <p:txBody>
          <a:bodyPr/>
          <a:lstStyle>
            <a:lvl1pPr>
              <a:defRPr/>
            </a:lvl1pPr>
          </a:lstStyle>
          <a:p>
            <a:pPr>
              <a:defRPr/>
            </a:pPr>
            <a:fld id="{2806C560-CD3F-47C6-8AE6-3B7B568F31D2}" type="datetimeFigureOut">
              <a:rPr lang="en-US"/>
              <a:pPr>
                <a:defRPr/>
              </a:pPr>
              <a:t>4/7/2026</a:t>
            </a:fld>
            <a:endParaRPr lang="en-US"/>
          </a:p>
        </p:txBody>
      </p:sp>
      <p:sp>
        <p:nvSpPr>
          <p:cNvPr id="5" name="Footer Placeholder 4">
            <a:extLst>
              <a:ext uri="{FF2B5EF4-FFF2-40B4-BE49-F238E27FC236}">
                <a16:creationId xmlns:a16="http://schemas.microsoft.com/office/drawing/2014/main" id="{964742C2-2CCA-5D35-4DC8-F7E80C37259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E49758C-04C1-1039-C22F-3F1A27AC2518}"/>
              </a:ext>
            </a:extLst>
          </p:cNvPr>
          <p:cNvSpPr>
            <a:spLocks noGrp="1"/>
          </p:cNvSpPr>
          <p:nvPr>
            <p:ph type="sldNum" sz="quarter" idx="12"/>
          </p:nvPr>
        </p:nvSpPr>
        <p:spPr/>
        <p:txBody>
          <a:bodyPr/>
          <a:lstStyle>
            <a:lvl1pPr>
              <a:defRPr/>
            </a:lvl1pPr>
          </a:lstStyle>
          <a:p>
            <a:fld id="{244FD924-750A-4366-9CD2-DEB50040E377}" type="slidenum">
              <a:rPr lang="en-US" altLang="en-US"/>
              <a:pPr/>
              <a:t>‹#›</a:t>
            </a:fld>
            <a:endParaRPr lang="en-US" altLang="en-US"/>
          </a:p>
        </p:txBody>
      </p:sp>
    </p:spTree>
    <p:extLst>
      <p:ext uri="{BB962C8B-B14F-4D97-AF65-F5344CB8AC3E}">
        <p14:creationId xmlns:p14="http://schemas.microsoft.com/office/powerpoint/2010/main" val="3664050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48CE75DD-41B0-BF5B-B66B-3DE44B012898}"/>
              </a:ext>
            </a:extLst>
          </p:cNvPr>
          <p:cNvSpPr>
            <a:spLocks noGrp="1"/>
          </p:cNvSpPr>
          <p:nvPr>
            <p:ph type="dt" sz="half" idx="10"/>
          </p:nvPr>
        </p:nvSpPr>
        <p:spPr/>
        <p:txBody>
          <a:bodyPr/>
          <a:lstStyle>
            <a:lvl1pPr>
              <a:defRPr/>
            </a:lvl1pPr>
          </a:lstStyle>
          <a:p>
            <a:pPr>
              <a:defRPr/>
            </a:pPr>
            <a:fld id="{E47245D5-825D-455F-B44C-ACCAC785A970}" type="datetimeFigureOut">
              <a:rPr lang="en-US"/>
              <a:pPr>
                <a:defRPr/>
              </a:pPr>
              <a:t>4/7/2026</a:t>
            </a:fld>
            <a:endParaRPr lang="en-US"/>
          </a:p>
        </p:txBody>
      </p:sp>
      <p:sp>
        <p:nvSpPr>
          <p:cNvPr id="6" name="Footer Placeholder 4">
            <a:extLst>
              <a:ext uri="{FF2B5EF4-FFF2-40B4-BE49-F238E27FC236}">
                <a16:creationId xmlns:a16="http://schemas.microsoft.com/office/drawing/2014/main" id="{E8544CC5-18AE-082B-CD76-FD36291B4C6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EC34969-A9FD-A74A-8250-02879C2A603F}"/>
              </a:ext>
            </a:extLst>
          </p:cNvPr>
          <p:cNvSpPr>
            <a:spLocks noGrp="1"/>
          </p:cNvSpPr>
          <p:nvPr>
            <p:ph type="sldNum" sz="quarter" idx="12"/>
          </p:nvPr>
        </p:nvSpPr>
        <p:spPr/>
        <p:txBody>
          <a:bodyPr/>
          <a:lstStyle>
            <a:lvl1pPr>
              <a:defRPr/>
            </a:lvl1pPr>
          </a:lstStyle>
          <a:p>
            <a:fld id="{BA0714C6-8B1D-4D9D-BF7E-D20C01A75F7E}" type="slidenum">
              <a:rPr lang="en-US" altLang="en-US"/>
              <a:pPr/>
              <a:t>‹#›</a:t>
            </a:fld>
            <a:endParaRPr lang="en-US" altLang="en-US"/>
          </a:p>
        </p:txBody>
      </p:sp>
    </p:spTree>
    <p:extLst>
      <p:ext uri="{BB962C8B-B14F-4D97-AF65-F5344CB8AC3E}">
        <p14:creationId xmlns:p14="http://schemas.microsoft.com/office/powerpoint/2010/main" val="18193573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46405F77-2175-717A-0E3A-304FDA3A4D09}"/>
              </a:ext>
            </a:extLst>
          </p:cNvPr>
          <p:cNvSpPr>
            <a:spLocks noGrp="1"/>
          </p:cNvSpPr>
          <p:nvPr>
            <p:ph type="dt" sz="half" idx="10"/>
          </p:nvPr>
        </p:nvSpPr>
        <p:spPr/>
        <p:txBody>
          <a:bodyPr/>
          <a:lstStyle>
            <a:lvl1pPr>
              <a:defRPr/>
            </a:lvl1pPr>
          </a:lstStyle>
          <a:p>
            <a:pPr>
              <a:defRPr/>
            </a:pPr>
            <a:fld id="{162F7BD1-D593-4EFF-AD7D-04AC4EEFEE2F}" type="datetimeFigureOut">
              <a:rPr lang="en-US"/>
              <a:pPr>
                <a:defRPr/>
              </a:pPr>
              <a:t>4/7/2026</a:t>
            </a:fld>
            <a:endParaRPr lang="en-US"/>
          </a:p>
        </p:txBody>
      </p:sp>
      <p:sp>
        <p:nvSpPr>
          <p:cNvPr id="8" name="Footer Placeholder 4">
            <a:extLst>
              <a:ext uri="{FF2B5EF4-FFF2-40B4-BE49-F238E27FC236}">
                <a16:creationId xmlns:a16="http://schemas.microsoft.com/office/drawing/2014/main" id="{BEB369B9-ADCC-083C-6FEF-B3697AED7401}"/>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0A8ACDE1-802C-B54D-0537-4907F84F8101}"/>
              </a:ext>
            </a:extLst>
          </p:cNvPr>
          <p:cNvSpPr>
            <a:spLocks noGrp="1"/>
          </p:cNvSpPr>
          <p:nvPr>
            <p:ph type="sldNum" sz="quarter" idx="12"/>
          </p:nvPr>
        </p:nvSpPr>
        <p:spPr/>
        <p:txBody>
          <a:bodyPr/>
          <a:lstStyle>
            <a:lvl1pPr>
              <a:defRPr/>
            </a:lvl1pPr>
          </a:lstStyle>
          <a:p>
            <a:fld id="{E62F32AA-A589-41D4-A46A-2EFFFAED17BB}" type="slidenum">
              <a:rPr lang="en-US" altLang="en-US"/>
              <a:pPr/>
              <a:t>‹#›</a:t>
            </a:fld>
            <a:endParaRPr lang="en-US" altLang="en-US"/>
          </a:p>
        </p:txBody>
      </p:sp>
    </p:spTree>
    <p:extLst>
      <p:ext uri="{BB962C8B-B14F-4D97-AF65-F5344CB8AC3E}">
        <p14:creationId xmlns:p14="http://schemas.microsoft.com/office/powerpoint/2010/main" val="9358382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AC44C9CE-882B-834B-1454-AFDA4D6931CC}"/>
              </a:ext>
            </a:extLst>
          </p:cNvPr>
          <p:cNvSpPr>
            <a:spLocks noGrp="1"/>
          </p:cNvSpPr>
          <p:nvPr>
            <p:ph type="dt" sz="half" idx="10"/>
          </p:nvPr>
        </p:nvSpPr>
        <p:spPr/>
        <p:txBody>
          <a:bodyPr/>
          <a:lstStyle>
            <a:lvl1pPr>
              <a:defRPr/>
            </a:lvl1pPr>
          </a:lstStyle>
          <a:p>
            <a:pPr>
              <a:defRPr/>
            </a:pPr>
            <a:fld id="{BA7DF2AF-9CD1-4F00-9116-4338556104D1}" type="datetimeFigureOut">
              <a:rPr lang="en-US"/>
              <a:pPr>
                <a:defRPr/>
              </a:pPr>
              <a:t>4/7/2026</a:t>
            </a:fld>
            <a:endParaRPr lang="en-US"/>
          </a:p>
        </p:txBody>
      </p:sp>
      <p:sp>
        <p:nvSpPr>
          <p:cNvPr id="4" name="Footer Placeholder 4">
            <a:extLst>
              <a:ext uri="{FF2B5EF4-FFF2-40B4-BE49-F238E27FC236}">
                <a16:creationId xmlns:a16="http://schemas.microsoft.com/office/drawing/2014/main" id="{6084EB69-8252-8AE3-5857-F2CF740BB75F}"/>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6D6FA0D9-E9EA-1A4C-9E98-92C54ED84DFD}"/>
              </a:ext>
            </a:extLst>
          </p:cNvPr>
          <p:cNvSpPr>
            <a:spLocks noGrp="1"/>
          </p:cNvSpPr>
          <p:nvPr>
            <p:ph type="sldNum" sz="quarter" idx="12"/>
          </p:nvPr>
        </p:nvSpPr>
        <p:spPr/>
        <p:txBody>
          <a:bodyPr/>
          <a:lstStyle>
            <a:lvl1pPr>
              <a:defRPr/>
            </a:lvl1pPr>
          </a:lstStyle>
          <a:p>
            <a:fld id="{D8251477-B61A-496B-A9FB-0FAEEA80B9DD}" type="slidenum">
              <a:rPr lang="en-US" altLang="en-US"/>
              <a:pPr/>
              <a:t>‹#›</a:t>
            </a:fld>
            <a:endParaRPr lang="en-US" altLang="en-US"/>
          </a:p>
        </p:txBody>
      </p:sp>
    </p:spTree>
    <p:extLst>
      <p:ext uri="{BB962C8B-B14F-4D97-AF65-F5344CB8AC3E}">
        <p14:creationId xmlns:p14="http://schemas.microsoft.com/office/powerpoint/2010/main" val="1649362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094B8FDD-4D5E-C81C-3B15-6F39A2EE53E8}"/>
              </a:ext>
            </a:extLst>
          </p:cNvPr>
          <p:cNvSpPr>
            <a:spLocks noGrp="1"/>
          </p:cNvSpPr>
          <p:nvPr>
            <p:ph type="dt" sz="half" idx="10"/>
          </p:nvPr>
        </p:nvSpPr>
        <p:spPr/>
        <p:txBody>
          <a:bodyPr/>
          <a:lstStyle>
            <a:lvl1pPr>
              <a:defRPr/>
            </a:lvl1pPr>
          </a:lstStyle>
          <a:p>
            <a:pPr>
              <a:defRPr/>
            </a:pPr>
            <a:fld id="{63DB63BF-EC64-44C8-AC81-F86989A14A2F}" type="datetimeFigureOut">
              <a:rPr lang="en-US"/>
              <a:pPr>
                <a:defRPr/>
              </a:pPr>
              <a:t>4/7/2026</a:t>
            </a:fld>
            <a:endParaRPr lang="en-US"/>
          </a:p>
        </p:txBody>
      </p:sp>
      <p:sp>
        <p:nvSpPr>
          <p:cNvPr id="3" name="Footer Placeholder 4">
            <a:extLst>
              <a:ext uri="{FF2B5EF4-FFF2-40B4-BE49-F238E27FC236}">
                <a16:creationId xmlns:a16="http://schemas.microsoft.com/office/drawing/2014/main" id="{663D4B05-20D9-4CD0-8763-026EFBFB0922}"/>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D080D925-DE5B-A71C-92E8-0C112DEB4ECF}"/>
              </a:ext>
            </a:extLst>
          </p:cNvPr>
          <p:cNvSpPr>
            <a:spLocks noGrp="1"/>
          </p:cNvSpPr>
          <p:nvPr>
            <p:ph type="sldNum" sz="quarter" idx="12"/>
          </p:nvPr>
        </p:nvSpPr>
        <p:spPr/>
        <p:txBody>
          <a:bodyPr/>
          <a:lstStyle>
            <a:lvl1pPr>
              <a:defRPr/>
            </a:lvl1pPr>
          </a:lstStyle>
          <a:p>
            <a:fld id="{DE5FD166-DB92-4711-BC6A-105E86E55ED8}" type="slidenum">
              <a:rPr lang="en-US" altLang="en-US"/>
              <a:pPr/>
              <a:t>‹#›</a:t>
            </a:fld>
            <a:endParaRPr lang="en-US" altLang="en-US"/>
          </a:p>
        </p:txBody>
      </p:sp>
    </p:spTree>
    <p:extLst>
      <p:ext uri="{BB962C8B-B14F-4D97-AF65-F5344CB8AC3E}">
        <p14:creationId xmlns:p14="http://schemas.microsoft.com/office/powerpoint/2010/main" val="1769339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02D1816F-7188-15EC-6D50-B8AFF0F9805D}"/>
              </a:ext>
            </a:extLst>
          </p:cNvPr>
          <p:cNvSpPr>
            <a:spLocks noGrp="1"/>
          </p:cNvSpPr>
          <p:nvPr>
            <p:ph type="dt" sz="half" idx="10"/>
          </p:nvPr>
        </p:nvSpPr>
        <p:spPr/>
        <p:txBody>
          <a:bodyPr/>
          <a:lstStyle>
            <a:lvl1pPr>
              <a:defRPr/>
            </a:lvl1pPr>
          </a:lstStyle>
          <a:p>
            <a:pPr>
              <a:defRPr/>
            </a:pPr>
            <a:fld id="{6449ED36-7990-4112-BC24-3546310C5127}" type="datetimeFigureOut">
              <a:rPr lang="en-US"/>
              <a:pPr>
                <a:defRPr/>
              </a:pPr>
              <a:t>4/7/2026</a:t>
            </a:fld>
            <a:endParaRPr lang="en-US"/>
          </a:p>
        </p:txBody>
      </p:sp>
      <p:sp>
        <p:nvSpPr>
          <p:cNvPr id="6" name="Footer Placeholder 4">
            <a:extLst>
              <a:ext uri="{FF2B5EF4-FFF2-40B4-BE49-F238E27FC236}">
                <a16:creationId xmlns:a16="http://schemas.microsoft.com/office/drawing/2014/main" id="{0826F132-3FBD-CBF9-3B05-FBFF4958B95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7E2261D1-3332-7756-3B70-EC5E9C1B14D6}"/>
              </a:ext>
            </a:extLst>
          </p:cNvPr>
          <p:cNvSpPr>
            <a:spLocks noGrp="1"/>
          </p:cNvSpPr>
          <p:nvPr>
            <p:ph type="sldNum" sz="quarter" idx="12"/>
          </p:nvPr>
        </p:nvSpPr>
        <p:spPr/>
        <p:txBody>
          <a:bodyPr/>
          <a:lstStyle>
            <a:lvl1pPr>
              <a:defRPr/>
            </a:lvl1pPr>
          </a:lstStyle>
          <a:p>
            <a:fld id="{31E9C85A-DAF6-4E5F-99CA-00E59D949844}" type="slidenum">
              <a:rPr lang="en-US" altLang="en-US"/>
              <a:pPr/>
              <a:t>‹#›</a:t>
            </a:fld>
            <a:endParaRPr lang="en-US" altLang="en-US"/>
          </a:p>
        </p:txBody>
      </p:sp>
    </p:spTree>
    <p:extLst>
      <p:ext uri="{BB962C8B-B14F-4D97-AF65-F5344CB8AC3E}">
        <p14:creationId xmlns:p14="http://schemas.microsoft.com/office/powerpoint/2010/main" val="22086436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DC39AD44-EAEF-AAFC-68D7-9017B60B8AB3}"/>
              </a:ext>
            </a:extLst>
          </p:cNvPr>
          <p:cNvSpPr>
            <a:spLocks noGrp="1"/>
          </p:cNvSpPr>
          <p:nvPr>
            <p:ph type="dt" sz="half" idx="10"/>
          </p:nvPr>
        </p:nvSpPr>
        <p:spPr/>
        <p:txBody>
          <a:bodyPr/>
          <a:lstStyle>
            <a:lvl1pPr>
              <a:defRPr/>
            </a:lvl1pPr>
          </a:lstStyle>
          <a:p>
            <a:pPr>
              <a:defRPr/>
            </a:pPr>
            <a:fld id="{74BA4E5C-0CE9-4A32-A943-C9820C693118}" type="datetimeFigureOut">
              <a:rPr lang="en-US"/>
              <a:pPr>
                <a:defRPr/>
              </a:pPr>
              <a:t>4/7/2026</a:t>
            </a:fld>
            <a:endParaRPr lang="en-US"/>
          </a:p>
        </p:txBody>
      </p:sp>
      <p:sp>
        <p:nvSpPr>
          <p:cNvPr id="6" name="Footer Placeholder 4">
            <a:extLst>
              <a:ext uri="{FF2B5EF4-FFF2-40B4-BE49-F238E27FC236}">
                <a16:creationId xmlns:a16="http://schemas.microsoft.com/office/drawing/2014/main" id="{78D9D5AF-3281-11ED-7567-1B348E92A27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FCBC6D0-0863-AF1E-A877-CDD8BBEB9375}"/>
              </a:ext>
            </a:extLst>
          </p:cNvPr>
          <p:cNvSpPr>
            <a:spLocks noGrp="1"/>
          </p:cNvSpPr>
          <p:nvPr>
            <p:ph type="sldNum" sz="quarter" idx="12"/>
          </p:nvPr>
        </p:nvSpPr>
        <p:spPr/>
        <p:txBody>
          <a:bodyPr/>
          <a:lstStyle>
            <a:lvl1pPr>
              <a:defRPr/>
            </a:lvl1pPr>
          </a:lstStyle>
          <a:p>
            <a:fld id="{7CF51197-39AA-415A-B43A-7BB2D2F3690B}" type="slidenum">
              <a:rPr lang="en-US" altLang="en-US"/>
              <a:pPr/>
              <a:t>‹#›</a:t>
            </a:fld>
            <a:endParaRPr lang="en-US" altLang="en-US"/>
          </a:p>
        </p:txBody>
      </p:sp>
    </p:spTree>
    <p:extLst>
      <p:ext uri="{BB962C8B-B14F-4D97-AF65-F5344CB8AC3E}">
        <p14:creationId xmlns:p14="http://schemas.microsoft.com/office/powerpoint/2010/main" val="2832228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F8E1CD-CB4F-88E5-B46B-77D852233114}"/>
              </a:ext>
            </a:extLst>
          </p:cNvPr>
          <p:cNvSpPr>
            <a:spLocks noGrp="1"/>
          </p:cNvSpPr>
          <p:nvPr>
            <p:ph type="dt" sz="half" idx="10"/>
          </p:nvPr>
        </p:nvSpPr>
        <p:spPr/>
        <p:txBody>
          <a:bodyPr/>
          <a:lstStyle>
            <a:lvl1pPr>
              <a:defRPr/>
            </a:lvl1pPr>
          </a:lstStyle>
          <a:p>
            <a:pPr>
              <a:defRPr/>
            </a:pPr>
            <a:fld id="{B9E38EF1-3647-404C-8986-FD7D9FA4270D}" type="datetimeFigureOut">
              <a:rPr lang="en-US"/>
              <a:pPr>
                <a:defRPr/>
              </a:pPr>
              <a:t>4/7/2026</a:t>
            </a:fld>
            <a:endParaRPr lang="en-US"/>
          </a:p>
        </p:txBody>
      </p:sp>
      <p:sp>
        <p:nvSpPr>
          <p:cNvPr id="5" name="Footer Placeholder 4">
            <a:extLst>
              <a:ext uri="{FF2B5EF4-FFF2-40B4-BE49-F238E27FC236}">
                <a16:creationId xmlns:a16="http://schemas.microsoft.com/office/drawing/2014/main" id="{3D25DC88-5972-CBF1-0CB6-50210C39371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ACE7A36-4E33-406A-46A5-167ED8105811}"/>
              </a:ext>
            </a:extLst>
          </p:cNvPr>
          <p:cNvSpPr>
            <a:spLocks noGrp="1"/>
          </p:cNvSpPr>
          <p:nvPr>
            <p:ph type="sldNum" sz="quarter" idx="12"/>
          </p:nvPr>
        </p:nvSpPr>
        <p:spPr/>
        <p:txBody>
          <a:bodyPr/>
          <a:lstStyle>
            <a:lvl1pPr>
              <a:defRPr/>
            </a:lvl1pPr>
          </a:lstStyle>
          <a:p>
            <a:fld id="{A0BCD6F4-954A-4691-A5D8-AF8D0CD8EBE3}" type="slidenum">
              <a:rPr lang="en-US" altLang="en-US"/>
              <a:pPr/>
              <a:t>‹#›</a:t>
            </a:fld>
            <a:endParaRPr lang="en-US" altLang="en-US"/>
          </a:p>
        </p:txBody>
      </p:sp>
    </p:spTree>
    <p:extLst>
      <p:ext uri="{BB962C8B-B14F-4D97-AF65-F5344CB8AC3E}">
        <p14:creationId xmlns:p14="http://schemas.microsoft.com/office/powerpoint/2010/main" val="1389335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CC317D-4388-6CE5-8C2D-6EF86E3A4F3C}"/>
              </a:ext>
            </a:extLst>
          </p:cNvPr>
          <p:cNvSpPr>
            <a:spLocks noGrp="1"/>
          </p:cNvSpPr>
          <p:nvPr>
            <p:ph type="dt" sz="half" idx="10"/>
          </p:nvPr>
        </p:nvSpPr>
        <p:spPr/>
        <p:txBody>
          <a:bodyPr/>
          <a:lstStyle>
            <a:lvl1pPr>
              <a:defRPr/>
            </a:lvl1pPr>
          </a:lstStyle>
          <a:p>
            <a:pPr>
              <a:defRPr/>
            </a:pPr>
            <a:fld id="{F0C65A04-1CD5-4351-B8B2-37837EE68A16}" type="datetimeFigureOut">
              <a:rPr lang="en-US"/>
              <a:pPr>
                <a:defRPr/>
              </a:pPr>
              <a:t>4/7/2026</a:t>
            </a:fld>
            <a:endParaRPr lang="en-US"/>
          </a:p>
        </p:txBody>
      </p:sp>
      <p:sp>
        <p:nvSpPr>
          <p:cNvPr id="5" name="Footer Placeholder 4">
            <a:extLst>
              <a:ext uri="{FF2B5EF4-FFF2-40B4-BE49-F238E27FC236}">
                <a16:creationId xmlns:a16="http://schemas.microsoft.com/office/drawing/2014/main" id="{D0441520-6A6F-C917-A1B2-89AF9F7B6B6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935B9F0-E2ED-5188-D65C-7FA6A8453964}"/>
              </a:ext>
            </a:extLst>
          </p:cNvPr>
          <p:cNvSpPr>
            <a:spLocks noGrp="1"/>
          </p:cNvSpPr>
          <p:nvPr>
            <p:ph type="sldNum" sz="quarter" idx="12"/>
          </p:nvPr>
        </p:nvSpPr>
        <p:spPr/>
        <p:txBody>
          <a:bodyPr/>
          <a:lstStyle>
            <a:lvl1pPr>
              <a:defRPr/>
            </a:lvl1pPr>
          </a:lstStyle>
          <a:p>
            <a:fld id="{65E476E4-D2F4-45BE-A717-13A035D3C947}" type="slidenum">
              <a:rPr lang="en-US" altLang="en-US"/>
              <a:pPr/>
              <a:t>‹#›</a:t>
            </a:fld>
            <a:endParaRPr lang="en-US" altLang="en-US"/>
          </a:p>
        </p:txBody>
      </p:sp>
    </p:spTree>
    <p:extLst>
      <p:ext uri="{BB962C8B-B14F-4D97-AF65-F5344CB8AC3E}">
        <p14:creationId xmlns:p14="http://schemas.microsoft.com/office/powerpoint/2010/main" val="2687369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EF23EBAF-9D7B-21F7-6692-D44D63CC2371}"/>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92F1A9E9-2B0C-9971-78C5-B878A3F72079}"/>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3737C3F1-EFCE-A858-341E-CE97EFDB6C3C}"/>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defRPr>
            </a:lvl1pPr>
          </a:lstStyle>
          <a:p>
            <a:pPr>
              <a:defRPr/>
            </a:pPr>
            <a:fld id="{B542AD8F-4149-4AB6-835B-DCE100C13AFC}" type="datetimeFigureOut">
              <a:rPr lang="en-US"/>
              <a:pPr>
                <a:defRPr/>
              </a:pPr>
              <a:t>4/7/2026</a:t>
            </a:fld>
            <a:endParaRPr lang="en-US"/>
          </a:p>
        </p:txBody>
      </p:sp>
      <p:sp>
        <p:nvSpPr>
          <p:cNvPr id="5" name="Footer Placeholder 4">
            <a:extLst>
              <a:ext uri="{FF2B5EF4-FFF2-40B4-BE49-F238E27FC236}">
                <a16:creationId xmlns:a16="http://schemas.microsoft.com/office/drawing/2014/main" id="{E3D18218-A61A-8441-A932-49D27C2113ED}"/>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0957E21D-9C2D-B3C7-D102-9DAD840DC158}"/>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F331BC1C-313A-429C-9CC5-0CD9362C43A8}"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defRPr>
      </a:lvl2pPr>
      <a:lvl3pPr algn="ctr" rtl="0" fontAlgn="base">
        <a:spcBef>
          <a:spcPct val="0"/>
        </a:spcBef>
        <a:spcAft>
          <a:spcPct val="0"/>
        </a:spcAft>
        <a:defRPr sz="4400">
          <a:solidFill>
            <a:schemeClr val="tx1"/>
          </a:solidFill>
          <a:latin typeface="Calibri" panose="020F0502020204030204" pitchFamily="34" charset="0"/>
        </a:defRPr>
      </a:lvl3pPr>
      <a:lvl4pPr algn="ctr" rtl="0" fontAlgn="base">
        <a:spcBef>
          <a:spcPct val="0"/>
        </a:spcBef>
        <a:spcAft>
          <a:spcPct val="0"/>
        </a:spcAft>
        <a:defRPr sz="4400">
          <a:solidFill>
            <a:schemeClr val="tx1"/>
          </a:solidFill>
          <a:latin typeface="Calibri" panose="020F0502020204030204" pitchFamily="34" charset="0"/>
        </a:defRPr>
      </a:lvl4pPr>
      <a:lvl5pPr algn="ctr" rtl="0" fontAlgn="base">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F5BA5-B155-D964-947F-7611BC1AC821}"/>
              </a:ext>
            </a:extLst>
          </p:cNvPr>
          <p:cNvSpPr>
            <a:spLocks noGrp="1"/>
          </p:cNvSpPr>
          <p:nvPr>
            <p:ph type="ctrTitle"/>
          </p:nvPr>
        </p:nvSpPr>
        <p:spPr>
          <a:xfrm>
            <a:off x="685800" y="304800"/>
            <a:ext cx="7772400" cy="457200"/>
          </a:xfrm>
        </p:spPr>
        <p:txBody>
          <a:bodyPr>
            <a:normAutofit/>
          </a:bodyPr>
          <a:lstStyle/>
          <a:p>
            <a:r>
              <a:rPr lang="en-US" altLang="en-US" sz="3200">
                <a:solidFill>
                  <a:srgbClr val="0000FF"/>
                </a:solidFill>
              </a:rPr>
              <a:t>Handling directories</a:t>
            </a:r>
            <a:br>
              <a:rPr lang="en-US" altLang="en-US" sz="3200">
                <a:solidFill>
                  <a:srgbClr val="0000FF"/>
                </a:solidFill>
              </a:rPr>
            </a:br>
            <a:r>
              <a:rPr lang="en-US" altLang="en-US" sz="3200">
                <a:solidFill>
                  <a:srgbClr val="0000FF"/>
                </a:solidFill>
              </a:rPr>
              <a:t>Directory structure</a:t>
            </a:r>
          </a:p>
        </p:txBody>
      </p:sp>
      <p:sp>
        <p:nvSpPr>
          <p:cNvPr id="3" name="Title 1">
            <a:extLst>
              <a:ext uri="{FF2B5EF4-FFF2-40B4-BE49-F238E27FC236}">
                <a16:creationId xmlns:a16="http://schemas.microsoft.com/office/drawing/2014/main" id="{972934E2-B241-AA14-40DF-367FE47597CA}"/>
              </a:ext>
            </a:extLst>
          </p:cNvPr>
          <p:cNvSpPr txBox="1">
            <a:spLocks/>
          </p:cNvSpPr>
          <p:nvPr/>
        </p:nvSpPr>
        <p:spPr>
          <a:xfrm>
            <a:off x="304800" y="1066800"/>
            <a:ext cx="8534400" cy="1190625"/>
          </a:xfrm>
          <a:prstGeom prst="rect">
            <a:avLst/>
          </a:prstGeom>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pPr>
              <a:buFontTx/>
              <a:buChar char="•"/>
            </a:pPr>
            <a:r>
              <a:rPr lang="en-US" altLang="en-US">
                <a:latin typeface="Arial" panose="020B0604020202020204" pitchFamily="34" charset="0"/>
              </a:rPr>
              <a:t>A collection of nodes containing information about a set of</a:t>
            </a:r>
          </a:p>
          <a:p>
            <a:pPr>
              <a:buFontTx/>
              <a:buChar char="•"/>
            </a:pPr>
            <a:r>
              <a:rPr lang="en-US" altLang="en-US">
                <a:latin typeface="Arial" panose="020B0604020202020204" pitchFamily="34" charset="0"/>
              </a:rPr>
              <a:t>files.</a:t>
            </a:r>
          </a:p>
          <a:p>
            <a:pPr>
              <a:buFontTx/>
              <a:buChar char="•"/>
            </a:pPr>
            <a:r>
              <a:rPr lang="en-US" altLang="en-US">
                <a:latin typeface="Arial" panose="020B0604020202020204" pitchFamily="34" charset="0"/>
              </a:rPr>
              <a:t>Both the directory structure and the files reside on disk.</a:t>
            </a:r>
          </a:p>
          <a:p>
            <a:pPr>
              <a:buFontTx/>
              <a:buChar char="•"/>
            </a:pPr>
            <a:endParaRPr lang="en-US" altLang="en-US">
              <a:latin typeface="Arial" panose="020B0604020202020204" pitchFamily="34" charset="0"/>
            </a:endParaRPr>
          </a:p>
        </p:txBody>
      </p:sp>
      <p:pic>
        <p:nvPicPr>
          <p:cNvPr id="3077" name="Picture 5">
            <a:extLst>
              <a:ext uri="{FF2B5EF4-FFF2-40B4-BE49-F238E27FC236}">
                <a16:creationId xmlns:a16="http://schemas.microsoft.com/office/drawing/2014/main" id="{F9379A38-9765-9A23-4DCD-4018393771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981200"/>
            <a:ext cx="6257925" cy="4095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2C4FC-CFAC-6317-2957-0772050640B0}"/>
              </a:ext>
            </a:extLst>
          </p:cNvPr>
          <p:cNvSpPr>
            <a:spLocks noGrp="1"/>
          </p:cNvSpPr>
          <p:nvPr>
            <p:ph type="ctrTitle" idx="4294967295"/>
          </p:nvPr>
        </p:nvSpPr>
        <p:spPr>
          <a:xfrm>
            <a:off x="685800" y="152400"/>
            <a:ext cx="7772400" cy="457200"/>
          </a:xfrm>
        </p:spPr>
        <p:txBody>
          <a:bodyPr>
            <a:normAutofit/>
          </a:bodyPr>
          <a:lstStyle/>
          <a:p>
            <a:r>
              <a:rPr lang="en-US" altLang="en-US" sz="4000">
                <a:solidFill>
                  <a:srgbClr val="0000FF"/>
                </a:solidFill>
              </a:rPr>
              <a:t>A typical file system organization</a:t>
            </a:r>
          </a:p>
        </p:txBody>
      </p:sp>
      <p:pic>
        <p:nvPicPr>
          <p:cNvPr id="33796" name="Picture 4">
            <a:extLst>
              <a:ext uri="{FF2B5EF4-FFF2-40B4-BE49-F238E27FC236}">
                <a16:creationId xmlns:a16="http://schemas.microsoft.com/office/drawing/2014/main" id="{6102F655-1C86-EAA6-DB48-431FEADB34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650" y="1138238"/>
            <a:ext cx="7888288" cy="45815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7B730-A243-FCFF-5327-FBF65350B362}"/>
              </a:ext>
            </a:extLst>
          </p:cNvPr>
          <p:cNvSpPr>
            <a:spLocks noGrp="1"/>
          </p:cNvSpPr>
          <p:nvPr>
            <p:ph type="ctrTitle" idx="4294967295"/>
          </p:nvPr>
        </p:nvSpPr>
        <p:spPr>
          <a:xfrm>
            <a:off x="685800" y="152400"/>
            <a:ext cx="7772400" cy="457200"/>
          </a:xfrm>
        </p:spPr>
        <p:txBody>
          <a:bodyPr>
            <a:normAutofit/>
          </a:bodyPr>
          <a:lstStyle/>
          <a:p>
            <a:r>
              <a:rPr lang="en-US" altLang="en-US" sz="3600">
                <a:solidFill>
                  <a:srgbClr val="0000FF"/>
                </a:solidFill>
              </a:rPr>
              <a:t>Operations performed on a directory</a:t>
            </a:r>
          </a:p>
        </p:txBody>
      </p:sp>
      <p:sp>
        <p:nvSpPr>
          <p:cNvPr id="3" name="Title 1">
            <a:extLst>
              <a:ext uri="{FF2B5EF4-FFF2-40B4-BE49-F238E27FC236}">
                <a16:creationId xmlns:a16="http://schemas.microsoft.com/office/drawing/2014/main" id="{12981955-3EE2-D055-029C-3C4704FCFD99}"/>
              </a:ext>
            </a:extLst>
          </p:cNvPr>
          <p:cNvSpPr txBox="1">
            <a:spLocks/>
          </p:cNvSpPr>
          <p:nvPr/>
        </p:nvSpPr>
        <p:spPr>
          <a:xfrm>
            <a:off x="304800" y="914400"/>
            <a:ext cx="8534400" cy="5203825"/>
          </a:xfrm>
          <a:prstGeom prst="rect">
            <a:avLst/>
          </a:prstGeom>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pPr>
              <a:buFontTx/>
              <a:buChar char="•"/>
            </a:pPr>
            <a:r>
              <a:rPr lang="en-US" altLang="en-US" sz="2400">
                <a:latin typeface="Arial" panose="020B0604020202020204" pitchFamily="34" charset="0"/>
              </a:rPr>
              <a:t>Search for a file</a:t>
            </a:r>
          </a:p>
          <a:p>
            <a:pPr>
              <a:buFontTx/>
              <a:buChar char="•"/>
            </a:pPr>
            <a:r>
              <a:rPr lang="en-US" altLang="en-US" sz="2400">
                <a:latin typeface="Arial" panose="020B0604020202020204" pitchFamily="34" charset="0"/>
              </a:rPr>
              <a:t>Create a file</a:t>
            </a:r>
          </a:p>
          <a:p>
            <a:pPr>
              <a:buFontTx/>
              <a:buChar char="•"/>
            </a:pPr>
            <a:r>
              <a:rPr lang="en-US" altLang="en-US" sz="2400">
                <a:latin typeface="Arial" panose="020B0604020202020204" pitchFamily="34" charset="0"/>
              </a:rPr>
              <a:t>Delete a file</a:t>
            </a:r>
          </a:p>
          <a:p>
            <a:pPr>
              <a:buFontTx/>
              <a:buChar char="•"/>
            </a:pPr>
            <a:r>
              <a:rPr lang="en-US" altLang="en-US" sz="2400">
                <a:latin typeface="Arial" panose="020B0604020202020204" pitchFamily="34" charset="0"/>
              </a:rPr>
              <a:t>List a directory</a:t>
            </a:r>
          </a:p>
          <a:p>
            <a:pPr>
              <a:buFontTx/>
              <a:buChar char="•"/>
            </a:pPr>
            <a:r>
              <a:rPr lang="en-US" altLang="en-US" sz="2400">
                <a:latin typeface="Arial" panose="020B0604020202020204" pitchFamily="34" charset="0"/>
              </a:rPr>
              <a:t>Rename a file</a:t>
            </a:r>
          </a:p>
          <a:p>
            <a:pPr>
              <a:buFontTx/>
              <a:buChar char="•"/>
            </a:pPr>
            <a:r>
              <a:rPr lang="en-US" altLang="en-US" sz="2400">
                <a:latin typeface="Arial" panose="020B0604020202020204" pitchFamily="34" charset="0"/>
              </a:rPr>
              <a:t>Traverse the file system</a:t>
            </a:r>
          </a:p>
          <a:p>
            <a:pPr>
              <a:buFontTx/>
              <a:buChar char="•"/>
            </a:pPr>
            <a:r>
              <a:rPr lang="en-US" altLang="en-US" sz="2400">
                <a:latin typeface="Arial" panose="020B0604020202020204" pitchFamily="34" charset="0"/>
              </a:rPr>
              <a:t>Organize (logically) directory for:</a:t>
            </a:r>
          </a:p>
          <a:p>
            <a:pPr lvl="1"/>
            <a:r>
              <a:rPr lang="en-US" altLang="en-US" sz="2400" b="1">
                <a:latin typeface="Arial" panose="020B0604020202020204" pitchFamily="34" charset="0"/>
              </a:rPr>
              <a:t>– Efficiency </a:t>
            </a:r>
            <a:r>
              <a:rPr lang="en-US" altLang="en-US" sz="2400">
                <a:latin typeface="Arial" panose="020B0604020202020204" pitchFamily="34" charset="0"/>
              </a:rPr>
              <a:t>– locating a file quickly.</a:t>
            </a:r>
          </a:p>
          <a:p>
            <a:pPr lvl="1"/>
            <a:r>
              <a:rPr lang="en-US" altLang="en-US" sz="2400" b="1">
                <a:latin typeface="Arial" panose="020B0604020202020204" pitchFamily="34" charset="0"/>
              </a:rPr>
              <a:t>– Naming </a:t>
            </a:r>
            <a:r>
              <a:rPr lang="en-US" altLang="en-US" sz="2400">
                <a:latin typeface="Arial" panose="020B0604020202020204" pitchFamily="34" charset="0"/>
              </a:rPr>
              <a:t>– convenient to users.</a:t>
            </a:r>
          </a:p>
          <a:p>
            <a:r>
              <a:rPr lang="en-US" altLang="en-US" sz="2400">
                <a:latin typeface="Arial" panose="020B0604020202020204" pitchFamily="34" charset="0"/>
              </a:rPr>
              <a:t>	Two users can have same name for different files.</a:t>
            </a:r>
          </a:p>
          <a:p>
            <a:r>
              <a:rPr lang="en-US" altLang="en-US" sz="2400">
                <a:latin typeface="Arial" panose="020B0604020202020204" pitchFamily="34" charset="0"/>
              </a:rPr>
              <a:t>	The same file can have several different names.</a:t>
            </a:r>
          </a:p>
          <a:p>
            <a:r>
              <a:rPr lang="en-US" altLang="en-US" sz="2400" b="1">
                <a:latin typeface="Arial" panose="020B0604020202020204" pitchFamily="34" charset="0"/>
              </a:rPr>
              <a:t>        – Grouping </a:t>
            </a:r>
            <a:r>
              <a:rPr lang="en-US" altLang="en-US" sz="2400">
                <a:latin typeface="Arial" panose="020B0604020202020204" pitchFamily="34" charset="0"/>
              </a:rPr>
              <a:t>– logical grouping of files by properties, </a:t>
            </a:r>
          </a:p>
          <a:p>
            <a:r>
              <a:rPr lang="en-US" altLang="en-US" sz="2400">
                <a:latin typeface="Arial" panose="020B0604020202020204" pitchFamily="34" charset="0"/>
              </a:rPr>
              <a:t>	(e.g., all Java programs, all games, …)</a:t>
            </a:r>
          </a:p>
          <a:p>
            <a:endParaRPr lang="en-US" altLang="en-US" sz="2400" b="1">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300" name="Picture 4">
            <a:extLst>
              <a:ext uri="{FF2B5EF4-FFF2-40B4-BE49-F238E27FC236}">
                <a16:creationId xmlns:a16="http://schemas.microsoft.com/office/drawing/2014/main" id="{6A7081F7-32A7-7D32-105C-108A379F6A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838" y="168275"/>
            <a:ext cx="9847263" cy="65230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4" name="Picture 4">
            <a:extLst>
              <a:ext uri="{FF2B5EF4-FFF2-40B4-BE49-F238E27FC236}">
                <a16:creationId xmlns:a16="http://schemas.microsoft.com/office/drawing/2014/main" id="{B5796484-2BB3-0F86-CF89-A7750506D8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463" y="-28575"/>
            <a:ext cx="9686926" cy="69151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8" name="Picture 4">
            <a:extLst>
              <a:ext uri="{FF2B5EF4-FFF2-40B4-BE49-F238E27FC236}">
                <a16:creationId xmlns:a16="http://schemas.microsoft.com/office/drawing/2014/main" id="{4E7054DC-A4B8-9FAC-F12F-DED7292FDF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00" y="-3175"/>
            <a:ext cx="9018588" cy="68659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2" name="Picture 4">
            <a:extLst>
              <a:ext uri="{FF2B5EF4-FFF2-40B4-BE49-F238E27FC236}">
                <a16:creationId xmlns:a16="http://schemas.microsoft.com/office/drawing/2014/main" id="{6597E384-C6B0-BEEA-82EE-B55C20D6CD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63" y="-28575"/>
            <a:ext cx="8982075" cy="69151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6" name="Picture 4">
            <a:extLst>
              <a:ext uri="{FF2B5EF4-FFF2-40B4-BE49-F238E27FC236}">
                <a16:creationId xmlns:a16="http://schemas.microsoft.com/office/drawing/2014/main" id="{9EFC88A4-BF31-8FDE-4864-2805F5CD1C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25" y="-7938"/>
            <a:ext cx="8999538" cy="68754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D65A3-B277-C495-1146-596983647127}"/>
              </a:ext>
            </a:extLst>
          </p:cNvPr>
          <p:cNvSpPr>
            <a:spLocks noGrp="1"/>
          </p:cNvSpPr>
          <p:nvPr>
            <p:ph type="ctrTitle" idx="4294967295"/>
          </p:nvPr>
        </p:nvSpPr>
        <p:spPr>
          <a:xfrm>
            <a:off x="685800" y="152400"/>
            <a:ext cx="7772400" cy="457200"/>
          </a:xfrm>
        </p:spPr>
        <p:txBody>
          <a:bodyPr>
            <a:normAutofit/>
          </a:bodyPr>
          <a:lstStyle/>
          <a:p>
            <a:r>
              <a:rPr lang="en-US" altLang="en-US" sz="4000">
                <a:solidFill>
                  <a:srgbClr val="0000FF"/>
                </a:solidFill>
              </a:rPr>
              <a:t>mkdir and rmdir functions</a:t>
            </a:r>
          </a:p>
        </p:txBody>
      </p:sp>
      <p:sp>
        <p:nvSpPr>
          <p:cNvPr id="3" name="Title 1">
            <a:extLst>
              <a:ext uri="{FF2B5EF4-FFF2-40B4-BE49-F238E27FC236}">
                <a16:creationId xmlns:a16="http://schemas.microsoft.com/office/drawing/2014/main" id="{AFEE98CC-D0A3-4934-D503-E13034A600B8}"/>
              </a:ext>
            </a:extLst>
          </p:cNvPr>
          <p:cNvSpPr txBox="1">
            <a:spLocks/>
          </p:cNvSpPr>
          <p:nvPr/>
        </p:nvSpPr>
        <p:spPr>
          <a:xfrm>
            <a:off x="304800" y="914400"/>
            <a:ext cx="8686800" cy="5216525"/>
          </a:xfrm>
          <a:prstGeom prst="rect">
            <a:avLst/>
          </a:prstGeom>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pPr>
              <a:buFontTx/>
              <a:buChar char="•"/>
            </a:pPr>
            <a:r>
              <a:rPr lang="en-US" altLang="en-US" sz="2800">
                <a:latin typeface="Times New Roman" panose="02020603050405020304" pitchFamily="18" charset="0"/>
                <a:ea typeface="Arial Unicode MS" pitchFamily="34" charset="-128"/>
              </a:rPr>
              <a:t>Directories are created with the mkdir function and deleted with the rmdir function.</a:t>
            </a:r>
          </a:p>
          <a:p>
            <a:r>
              <a:rPr lang="en-US" altLang="en-US" sz="2800">
                <a:solidFill>
                  <a:schemeClr val="accent2"/>
                </a:solidFill>
                <a:latin typeface="Times New Roman" panose="02020603050405020304" pitchFamily="18" charset="0"/>
                <a:ea typeface="Arial Unicode MS" pitchFamily="34" charset="-128"/>
              </a:rPr>
              <a:t>#include &lt;sys/stat.h&gt;</a:t>
            </a:r>
          </a:p>
          <a:p>
            <a:r>
              <a:rPr lang="en-US" altLang="en-US" sz="2800">
                <a:solidFill>
                  <a:schemeClr val="accent2"/>
                </a:solidFill>
                <a:latin typeface="Times New Roman" panose="02020603050405020304" pitchFamily="18" charset="0"/>
                <a:ea typeface="Arial Unicode MS" pitchFamily="34" charset="-128"/>
              </a:rPr>
              <a:t>int mkdir(const char *</a:t>
            </a:r>
            <a:r>
              <a:rPr lang="en-US" altLang="en-US" sz="2800" i="1">
                <a:solidFill>
                  <a:schemeClr val="accent2"/>
                </a:solidFill>
                <a:latin typeface="Times New Roman" panose="02020603050405020304" pitchFamily="18" charset="0"/>
                <a:ea typeface="Arial Unicode MS" pitchFamily="34" charset="-128"/>
              </a:rPr>
              <a:t>pathname</a:t>
            </a:r>
            <a:r>
              <a:rPr lang="en-US" altLang="en-US" sz="2800">
                <a:solidFill>
                  <a:schemeClr val="accent2"/>
                </a:solidFill>
                <a:latin typeface="Times New Roman" panose="02020603050405020304" pitchFamily="18" charset="0"/>
                <a:ea typeface="Arial Unicode MS" pitchFamily="34" charset="-128"/>
              </a:rPr>
              <a:t>, mode_t </a:t>
            </a:r>
            <a:r>
              <a:rPr lang="en-US" altLang="en-US" sz="2800" i="1">
                <a:solidFill>
                  <a:schemeClr val="accent2"/>
                </a:solidFill>
                <a:latin typeface="Times New Roman" panose="02020603050405020304" pitchFamily="18" charset="0"/>
                <a:ea typeface="Arial Unicode MS" pitchFamily="34" charset="-128"/>
              </a:rPr>
              <a:t>mode</a:t>
            </a:r>
            <a:r>
              <a:rPr lang="en-US" altLang="en-US" sz="2800">
                <a:solidFill>
                  <a:schemeClr val="accent2"/>
                </a:solidFill>
                <a:latin typeface="Times New Roman" panose="02020603050405020304" pitchFamily="18" charset="0"/>
                <a:ea typeface="Arial Unicode MS" pitchFamily="34" charset="-128"/>
              </a:rPr>
              <a:t>);</a:t>
            </a:r>
          </a:p>
          <a:p>
            <a:r>
              <a:rPr lang="en-US" altLang="en-US" sz="2800">
                <a:solidFill>
                  <a:schemeClr val="hlink"/>
                </a:solidFill>
                <a:latin typeface="Times New Roman" panose="02020603050405020304" pitchFamily="18" charset="0"/>
                <a:ea typeface="Arial Unicode MS" pitchFamily="34" charset="-128"/>
              </a:rPr>
              <a:t>	Returns: 0 if OK, 1 on error</a:t>
            </a:r>
          </a:p>
          <a:p>
            <a:pPr>
              <a:buFontTx/>
              <a:buChar char="•"/>
            </a:pPr>
            <a:r>
              <a:rPr lang="en-US" altLang="en-US" sz="2800">
                <a:latin typeface="Times New Roman" panose="02020603050405020304" pitchFamily="18" charset="0"/>
                <a:ea typeface="Arial Unicode MS" pitchFamily="34" charset="-128"/>
              </a:rPr>
              <a:t>This function creates a new, empty directory. </a:t>
            </a:r>
          </a:p>
          <a:p>
            <a:pPr>
              <a:buFontTx/>
              <a:buChar char="•"/>
            </a:pPr>
            <a:r>
              <a:rPr lang="en-US" altLang="en-US" sz="2800">
                <a:latin typeface="Times New Roman" panose="02020603050405020304" pitchFamily="18" charset="0"/>
                <a:ea typeface="Arial Unicode MS" pitchFamily="34" charset="-128"/>
              </a:rPr>
              <a:t>The entries for dot and dot-dot are automatically created. </a:t>
            </a:r>
          </a:p>
          <a:p>
            <a:pPr>
              <a:buFontTx/>
              <a:buChar char="•"/>
            </a:pPr>
            <a:r>
              <a:rPr lang="en-US" altLang="en-US" sz="2800">
                <a:latin typeface="Times New Roman" panose="02020603050405020304" pitchFamily="18" charset="0"/>
                <a:ea typeface="Arial Unicode MS" pitchFamily="34" charset="-128"/>
              </a:rPr>
              <a:t>A common mistake is to specify the same </a:t>
            </a:r>
            <a:r>
              <a:rPr lang="en-US" altLang="en-US" sz="2800" i="1">
                <a:latin typeface="Times New Roman" panose="02020603050405020304" pitchFamily="18" charset="0"/>
                <a:ea typeface="Arial Unicode MS" pitchFamily="34" charset="-128"/>
              </a:rPr>
              <a:t>mode </a:t>
            </a:r>
            <a:r>
              <a:rPr lang="en-US" altLang="en-US" sz="2800">
                <a:latin typeface="Times New Roman" panose="02020603050405020304" pitchFamily="18" charset="0"/>
                <a:ea typeface="Arial Unicode MS" pitchFamily="34" charset="-128"/>
              </a:rPr>
              <a:t>as for a file: read and write permissions only. </a:t>
            </a:r>
          </a:p>
          <a:p>
            <a:pPr>
              <a:buFontTx/>
              <a:buChar char="•"/>
            </a:pPr>
            <a:r>
              <a:rPr lang="en-US" altLang="en-US" sz="2800">
                <a:latin typeface="Times New Roman" panose="02020603050405020304" pitchFamily="18" charset="0"/>
                <a:ea typeface="Arial Unicode MS" pitchFamily="34" charset="-128"/>
              </a:rPr>
              <a:t>But for a directory, we normally want at least one of the execute bits enabled, to allow access to filenames</a:t>
            </a:r>
          </a:p>
          <a:p>
            <a:r>
              <a:rPr lang="en-US" altLang="en-US" sz="2800">
                <a:latin typeface="Times New Roman" panose="02020603050405020304" pitchFamily="18" charset="0"/>
                <a:ea typeface="Arial Unicode MS" pitchFamily="34" charset="-128"/>
              </a:rPr>
              <a:t>within the directory.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416683A-6846-5CC0-634A-C908397DC583}"/>
              </a:ext>
            </a:extLst>
          </p:cNvPr>
          <p:cNvSpPr txBox="1">
            <a:spLocks/>
          </p:cNvSpPr>
          <p:nvPr/>
        </p:nvSpPr>
        <p:spPr>
          <a:xfrm>
            <a:off x="304800" y="152400"/>
            <a:ext cx="8534400" cy="6045200"/>
          </a:xfrm>
          <a:prstGeom prst="rect">
            <a:avLst/>
          </a:prstGeom>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pPr>
              <a:buFontTx/>
              <a:buChar char="•"/>
            </a:pPr>
            <a:r>
              <a:rPr lang="en-US" altLang="en-US" sz="2600">
                <a:latin typeface="Times New Roman" panose="02020603050405020304" pitchFamily="18" charset="0"/>
              </a:rPr>
              <a:t>An empty directory is deleted with the rmdir function. </a:t>
            </a:r>
          </a:p>
          <a:p>
            <a:pPr>
              <a:buFontTx/>
              <a:buChar char="•"/>
            </a:pPr>
            <a:r>
              <a:rPr lang="en-US" altLang="en-US" sz="2600">
                <a:latin typeface="Times New Roman" panose="02020603050405020304" pitchFamily="18" charset="0"/>
              </a:rPr>
              <a:t>Recall that an empty directory is one that contains entries only for dot and dot-dot.</a:t>
            </a:r>
          </a:p>
          <a:p>
            <a:r>
              <a:rPr lang="en-US" altLang="en-US" sz="2600">
                <a:solidFill>
                  <a:schemeClr val="accent2"/>
                </a:solidFill>
                <a:latin typeface="Times New Roman" panose="02020603050405020304" pitchFamily="18" charset="0"/>
              </a:rPr>
              <a:t>#include &lt;unistd.h&gt;</a:t>
            </a:r>
          </a:p>
          <a:p>
            <a:r>
              <a:rPr lang="en-US" altLang="en-US" sz="2600">
                <a:solidFill>
                  <a:schemeClr val="accent2"/>
                </a:solidFill>
                <a:latin typeface="Times New Roman" panose="02020603050405020304" pitchFamily="18" charset="0"/>
              </a:rPr>
              <a:t>int rmdir(const char *</a:t>
            </a:r>
            <a:r>
              <a:rPr lang="en-US" altLang="en-US" sz="2600" i="1">
                <a:solidFill>
                  <a:schemeClr val="accent2"/>
                </a:solidFill>
                <a:latin typeface="Times New Roman" panose="02020603050405020304" pitchFamily="18" charset="0"/>
              </a:rPr>
              <a:t>pathname</a:t>
            </a:r>
            <a:r>
              <a:rPr lang="en-US" altLang="en-US" sz="2600">
                <a:solidFill>
                  <a:schemeClr val="accent2"/>
                </a:solidFill>
                <a:latin typeface="Times New Roman" panose="02020603050405020304" pitchFamily="18" charset="0"/>
              </a:rPr>
              <a:t>);</a:t>
            </a:r>
          </a:p>
          <a:p>
            <a:r>
              <a:rPr lang="en-US" altLang="en-US" sz="2600">
                <a:latin typeface="Times New Roman" panose="02020603050405020304" pitchFamily="18" charset="0"/>
              </a:rPr>
              <a:t>	</a:t>
            </a:r>
            <a:r>
              <a:rPr lang="en-US" altLang="en-US" sz="2600">
                <a:solidFill>
                  <a:schemeClr val="hlink"/>
                </a:solidFill>
                <a:latin typeface="Times New Roman" panose="02020603050405020304" pitchFamily="18" charset="0"/>
              </a:rPr>
              <a:t>Returns: 0 if OK, 1 on error</a:t>
            </a:r>
          </a:p>
          <a:p>
            <a:pPr>
              <a:buFontTx/>
              <a:buChar char="•"/>
            </a:pPr>
            <a:r>
              <a:rPr lang="en-US" altLang="en-US" sz="2600">
                <a:latin typeface="Times New Roman" panose="02020603050405020304" pitchFamily="18" charset="0"/>
              </a:rPr>
              <a:t>If the link count of the directory becomes 0 with this call, and if no other process has the directory open, then the space occupied by the directory is freed. </a:t>
            </a:r>
          </a:p>
          <a:p>
            <a:pPr>
              <a:buFontTx/>
              <a:buChar char="•"/>
            </a:pPr>
            <a:r>
              <a:rPr lang="en-US" altLang="en-US" sz="2600">
                <a:latin typeface="Times New Roman" panose="02020603050405020304" pitchFamily="18" charset="0"/>
              </a:rPr>
              <a:t>If one or more processes have the directory open when the link count reaches 0, the last link is removed and the dot and dot-dot entries are removed before this function returns.</a:t>
            </a:r>
          </a:p>
          <a:p>
            <a:pPr>
              <a:buFontTx/>
              <a:buChar char="•"/>
            </a:pPr>
            <a:r>
              <a:rPr lang="en-US" altLang="en-US" sz="2600">
                <a:latin typeface="Times New Roman" panose="02020603050405020304" pitchFamily="18" charset="0"/>
              </a:rPr>
              <a:t>Additionally, no new files can be created in the directory. </a:t>
            </a:r>
          </a:p>
          <a:p>
            <a:pPr>
              <a:buFontTx/>
              <a:buChar char="•"/>
            </a:pPr>
            <a:r>
              <a:rPr lang="en-US" altLang="en-US" sz="2600">
                <a:latin typeface="Times New Roman" panose="02020603050405020304" pitchFamily="18" charset="0"/>
              </a:rPr>
              <a:t>The directory is not freed, however, until the last process closes it.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07A40-8978-F3C5-6A2B-5B10E10B9F39}"/>
              </a:ext>
            </a:extLst>
          </p:cNvPr>
          <p:cNvSpPr>
            <a:spLocks noGrp="1"/>
          </p:cNvSpPr>
          <p:nvPr>
            <p:ph type="ctrTitle" idx="4294967295"/>
          </p:nvPr>
        </p:nvSpPr>
        <p:spPr>
          <a:xfrm>
            <a:off x="685800" y="152400"/>
            <a:ext cx="7772400" cy="457200"/>
          </a:xfrm>
        </p:spPr>
        <p:txBody>
          <a:bodyPr>
            <a:normAutofit/>
          </a:bodyPr>
          <a:lstStyle/>
          <a:p>
            <a:r>
              <a:rPr lang="en-US" altLang="en-US" sz="4000">
                <a:solidFill>
                  <a:srgbClr val="0000FF"/>
                </a:solidFill>
              </a:rPr>
              <a:t>Reading directories</a:t>
            </a:r>
          </a:p>
        </p:txBody>
      </p:sp>
      <p:sp>
        <p:nvSpPr>
          <p:cNvPr id="3" name="Title 1">
            <a:extLst>
              <a:ext uri="{FF2B5EF4-FFF2-40B4-BE49-F238E27FC236}">
                <a16:creationId xmlns:a16="http://schemas.microsoft.com/office/drawing/2014/main" id="{B8044211-119A-E723-AA64-9358FDABA1AF}"/>
              </a:ext>
            </a:extLst>
          </p:cNvPr>
          <p:cNvSpPr txBox="1">
            <a:spLocks/>
          </p:cNvSpPr>
          <p:nvPr/>
        </p:nvSpPr>
        <p:spPr>
          <a:xfrm>
            <a:off x="304800" y="685800"/>
            <a:ext cx="8686800" cy="5578475"/>
          </a:xfrm>
          <a:prstGeom prst="rect">
            <a:avLst/>
          </a:prstGeom>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pPr algn="just">
              <a:buFontTx/>
              <a:buChar char="•"/>
            </a:pPr>
            <a:r>
              <a:rPr lang="en-US" altLang="en-US" sz="3000">
                <a:latin typeface="Arial" panose="020B0604020202020204" pitchFamily="34" charset="0"/>
              </a:rPr>
              <a:t>Directories can be read by anyone who has access permission to read the directory. </a:t>
            </a:r>
          </a:p>
          <a:p>
            <a:pPr algn="just">
              <a:buFontTx/>
              <a:buChar char="•"/>
            </a:pPr>
            <a:r>
              <a:rPr lang="en-US" altLang="en-US" sz="3000">
                <a:latin typeface="Arial" panose="020B0604020202020204" pitchFamily="34" charset="0"/>
              </a:rPr>
              <a:t>But only the kernel can write to a directory, to preserve file system sanity.</a:t>
            </a:r>
          </a:p>
          <a:p>
            <a:pPr algn="just">
              <a:buFontTx/>
              <a:buChar char="•"/>
            </a:pPr>
            <a:r>
              <a:rPr lang="en-US" altLang="en-US" sz="3000">
                <a:latin typeface="Arial" panose="020B0604020202020204" pitchFamily="34" charset="0"/>
              </a:rPr>
              <a:t>Write permission bits and execute permission bits for a directory determine if we can create new files in the</a:t>
            </a:r>
          </a:p>
          <a:p>
            <a:pPr algn="just">
              <a:buFontTx/>
              <a:buChar char="•"/>
            </a:pPr>
            <a:r>
              <a:rPr lang="en-US" altLang="en-US" sz="3000">
                <a:latin typeface="Arial" panose="020B0604020202020204" pitchFamily="34" charset="0"/>
              </a:rPr>
              <a:t>directory and remove files from the directory they don't specify if we can write to the directory itself.</a:t>
            </a:r>
          </a:p>
          <a:p>
            <a:pPr algn="just">
              <a:buFontTx/>
              <a:buChar char="•"/>
            </a:pPr>
            <a:r>
              <a:rPr lang="en-US" altLang="en-US" sz="3000">
                <a:latin typeface="Arial" panose="020B0604020202020204" pitchFamily="34" charset="0"/>
              </a:rPr>
              <a:t>The actual format of a directory depends on the UNIX System implementation and the design of the file system.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71437DE-8297-E79A-7E91-858049C30BDC}"/>
              </a:ext>
            </a:extLst>
          </p:cNvPr>
          <p:cNvSpPr txBox="1">
            <a:spLocks/>
          </p:cNvSpPr>
          <p:nvPr/>
        </p:nvSpPr>
        <p:spPr>
          <a:xfrm>
            <a:off x="304800" y="152400"/>
            <a:ext cx="8839200" cy="6134100"/>
          </a:xfrm>
          <a:prstGeom prst="rect">
            <a:avLst/>
          </a:prstGeom>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r>
              <a:rPr lang="en-US" altLang="en-US" sz="3600">
                <a:latin typeface="Times New Roman" panose="02020603050405020304" pitchFamily="18" charset="0"/>
              </a:rPr>
              <a:t>#include &lt;dirent.h&gt;</a:t>
            </a:r>
          </a:p>
          <a:p>
            <a:r>
              <a:rPr lang="en-US" altLang="en-US" sz="3600">
                <a:solidFill>
                  <a:schemeClr val="hlink"/>
                </a:solidFill>
                <a:latin typeface="Times New Roman" panose="02020603050405020304" pitchFamily="18" charset="0"/>
              </a:rPr>
              <a:t>DIR *opendir(const char *</a:t>
            </a:r>
            <a:r>
              <a:rPr lang="en-US" altLang="en-US" sz="3600" i="1">
                <a:solidFill>
                  <a:schemeClr val="hlink"/>
                </a:solidFill>
                <a:latin typeface="Times New Roman" panose="02020603050405020304" pitchFamily="18" charset="0"/>
              </a:rPr>
              <a:t>pathname</a:t>
            </a:r>
            <a:r>
              <a:rPr lang="en-US" altLang="en-US" sz="3600">
                <a:solidFill>
                  <a:schemeClr val="hlink"/>
                </a:solidFill>
                <a:latin typeface="Times New Roman" panose="02020603050405020304" pitchFamily="18" charset="0"/>
              </a:rPr>
              <a:t>);</a:t>
            </a:r>
          </a:p>
          <a:p>
            <a:r>
              <a:rPr lang="en-US" altLang="en-US" sz="3600">
                <a:latin typeface="Times New Roman" panose="02020603050405020304" pitchFamily="18" charset="0"/>
              </a:rPr>
              <a:t>	</a:t>
            </a:r>
            <a:r>
              <a:rPr lang="en-US" altLang="en-US" sz="2800">
                <a:latin typeface="Times New Roman" panose="02020603050405020304" pitchFamily="18" charset="0"/>
              </a:rPr>
              <a:t>Returns: pointer if OK, NULL on error</a:t>
            </a:r>
          </a:p>
          <a:p>
            <a:r>
              <a:rPr lang="en-US" altLang="en-US" sz="3600">
                <a:solidFill>
                  <a:schemeClr val="hlink"/>
                </a:solidFill>
                <a:latin typeface="Times New Roman" panose="02020603050405020304" pitchFamily="18" charset="0"/>
              </a:rPr>
              <a:t>struct dirent *readdir(DIR *</a:t>
            </a:r>
            <a:r>
              <a:rPr lang="en-US" altLang="en-US" sz="3600" i="1">
                <a:solidFill>
                  <a:schemeClr val="hlink"/>
                </a:solidFill>
                <a:latin typeface="Times New Roman" panose="02020603050405020304" pitchFamily="18" charset="0"/>
              </a:rPr>
              <a:t>dp</a:t>
            </a:r>
            <a:r>
              <a:rPr lang="en-US" altLang="en-US" sz="3600">
                <a:solidFill>
                  <a:schemeClr val="hlink"/>
                </a:solidFill>
                <a:latin typeface="Times New Roman" panose="02020603050405020304" pitchFamily="18" charset="0"/>
              </a:rPr>
              <a:t>);</a:t>
            </a:r>
          </a:p>
          <a:p>
            <a:r>
              <a:rPr lang="en-US" altLang="en-US" sz="3600">
                <a:latin typeface="Times New Roman" panose="02020603050405020304" pitchFamily="18" charset="0"/>
              </a:rPr>
              <a:t>   </a:t>
            </a:r>
            <a:r>
              <a:rPr lang="en-US" altLang="en-US" sz="2800">
                <a:latin typeface="Times New Roman" panose="02020603050405020304" pitchFamily="18" charset="0"/>
              </a:rPr>
              <a:t>Returns: pointer if OK, NULL at end of directory or error</a:t>
            </a:r>
          </a:p>
          <a:p>
            <a:r>
              <a:rPr lang="en-US" altLang="en-US" sz="3600">
                <a:solidFill>
                  <a:schemeClr val="hlink"/>
                </a:solidFill>
                <a:latin typeface="Times New Roman" panose="02020603050405020304" pitchFamily="18" charset="0"/>
              </a:rPr>
              <a:t>void rewinddir(DIR *</a:t>
            </a:r>
            <a:r>
              <a:rPr lang="en-US" altLang="en-US" sz="3600" i="1">
                <a:solidFill>
                  <a:schemeClr val="hlink"/>
                </a:solidFill>
                <a:latin typeface="Times New Roman" panose="02020603050405020304" pitchFamily="18" charset="0"/>
              </a:rPr>
              <a:t>dp</a:t>
            </a:r>
            <a:r>
              <a:rPr lang="en-US" altLang="en-US" sz="3600">
                <a:solidFill>
                  <a:schemeClr val="hlink"/>
                </a:solidFill>
                <a:latin typeface="Times New Roman" panose="02020603050405020304" pitchFamily="18" charset="0"/>
              </a:rPr>
              <a:t>);</a:t>
            </a:r>
          </a:p>
          <a:p>
            <a:r>
              <a:rPr lang="en-US" altLang="en-US" sz="3600">
                <a:solidFill>
                  <a:schemeClr val="hlink"/>
                </a:solidFill>
                <a:latin typeface="Times New Roman" panose="02020603050405020304" pitchFamily="18" charset="0"/>
              </a:rPr>
              <a:t>int closedir(DIR *</a:t>
            </a:r>
            <a:r>
              <a:rPr lang="en-US" altLang="en-US" sz="3600" i="1">
                <a:solidFill>
                  <a:schemeClr val="hlink"/>
                </a:solidFill>
                <a:latin typeface="Times New Roman" panose="02020603050405020304" pitchFamily="18" charset="0"/>
              </a:rPr>
              <a:t>dp</a:t>
            </a:r>
            <a:r>
              <a:rPr lang="en-US" altLang="en-US" sz="3600">
                <a:solidFill>
                  <a:schemeClr val="hlink"/>
                </a:solidFill>
                <a:latin typeface="Times New Roman" panose="02020603050405020304" pitchFamily="18" charset="0"/>
              </a:rPr>
              <a:t>);</a:t>
            </a:r>
          </a:p>
          <a:p>
            <a:r>
              <a:rPr lang="en-US" altLang="en-US" sz="3600">
                <a:latin typeface="Times New Roman" panose="02020603050405020304" pitchFamily="18" charset="0"/>
              </a:rPr>
              <a:t>	</a:t>
            </a:r>
            <a:r>
              <a:rPr lang="en-US" altLang="en-US" sz="3200">
                <a:latin typeface="Times New Roman" panose="02020603050405020304" pitchFamily="18" charset="0"/>
              </a:rPr>
              <a:t>Returns: 0 if OK, 1 on error</a:t>
            </a:r>
          </a:p>
          <a:p>
            <a:r>
              <a:rPr lang="en-US" altLang="en-US" sz="3600">
                <a:solidFill>
                  <a:schemeClr val="hlink"/>
                </a:solidFill>
                <a:latin typeface="Times New Roman" panose="02020603050405020304" pitchFamily="18" charset="0"/>
              </a:rPr>
              <a:t>long telldir(DIR *</a:t>
            </a:r>
            <a:r>
              <a:rPr lang="en-US" altLang="en-US" sz="3600" i="1">
                <a:solidFill>
                  <a:schemeClr val="hlink"/>
                </a:solidFill>
                <a:latin typeface="Times New Roman" panose="02020603050405020304" pitchFamily="18" charset="0"/>
              </a:rPr>
              <a:t>dp</a:t>
            </a:r>
            <a:r>
              <a:rPr lang="en-US" altLang="en-US" sz="3600">
                <a:solidFill>
                  <a:schemeClr val="hlink"/>
                </a:solidFill>
                <a:latin typeface="Times New Roman" panose="02020603050405020304" pitchFamily="18" charset="0"/>
              </a:rPr>
              <a:t>);</a:t>
            </a:r>
          </a:p>
          <a:p>
            <a:r>
              <a:rPr lang="en-US" altLang="en-US" sz="3600">
                <a:latin typeface="Times New Roman" panose="02020603050405020304" pitchFamily="18" charset="0"/>
              </a:rPr>
              <a:t>     </a:t>
            </a:r>
            <a:r>
              <a:rPr lang="en-US" altLang="en-US" sz="2800">
                <a:latin typeface="Times New Roman" panose="02020603050405020304" pitchFamily="18" charset="0"/>
              </a:rPr>
              <a:t>Returns: current location in directory associated with </a:t>
            </a:r>
            <a:r>
              <a:rPr lang="en-US" altLang="en-US" sz="2800" i="1">
                <a:latin typeface="Times New Roman" panose="02020603050405020304" pitchFamily="18" charset="0"/>
              </a:rPr>
              <a:t>dp</a:t>
            </a:r>
          </a:p>
          <a:p>
            <a:r>
              <a:rPr lang="en-US" altLang="en-US" sz="3600">
                <a:solidFill>
                  <a:schemeClr val="hlink"/>
                </a:solidFill>
                <a:latin typeface="Times New Roman" panose="02020603050405020304" pitchFamily="18" charset="0"/>
              </a:rPr>
              <a:t>void seekdir(DIR *</a:t>
            </a:r>
            <a:r>
              <a:rPr lang="en-US" altLang="en-US" sz="3600" i="1">
                <a:solidFill>
                  <a:schemeClr val="hlink"/>
                </a:solidFill>
                <a:latin typeface="Times New Roman" panose="02020603050405020304" pitchFamily="18" charset="0"/>
              </a:rPr>
              <a:t>dp</a:t>
            </a:r>
            <a:r>
              <a:rPr lang="en-US" altLang="en-US" sz="3600">
                <a:solidFill>
                  <a:schemeClr val="hlink"/>
                </a:solidFill>
                <a:latin typeface="Times New Roman" panose="02020603050405020304" pitchFamily="18" charset="0"/>
              </a:rPr>
              <a:t>, long </a:t>
            </a:r>
            <a:r>
              <a:rPr lang="en-US" altLang="en-US" sz="3600" i="1">
                <a:solidFill>
                  <a:schemeClr val="hlink"/>
                </a:solidFill>
                <a:latin typeface="Times New Roman" panose="02020603050405020304" pitchFamily="18" charset="0"/>
              </a:rPr>
              <a:t>loc</a:t>
            </a:r>
            <a:r>
              <a:rPr lang="en-US" altLang="en-US" sz="3600">
                <a:solidFill>
                  <a:schemeClr val="hlink"/>
                </a:solidFill>
                <a:latin typeface="Times New Roman" panose="02020603050405020304" pitchFamily="18" charset="0"/>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08CDBD4-7A40-DD75-DC6F-5994C9896473}"/>
              </a:ext>
            </a:extLst>
          </p:cNvPr>
          <p:cNvSpPr txBox="1">
            <a:spLocks/>
          </p:cNvSpPr>
          <p:nvPr/>
        </p:nvSpPr>
        <p:spPr>
          <a:xfrm>
            <a:off x="304800" y="228600"/>
            <a:ext cx="8686800" cy="6456363"/>
          </a:xfrm>
          <a:prstGeom prst="rect">
            <a:avLst/>
          </a:prstGeom>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pPr algn="just">
              <a:buFontTx/>
              <a:buChar char="•"/>
            </a:pPr>
            <a:r>
              <a:rPr lang="en-US" altLang="en-US" sz="2200">
                <a:latin typeface="Arial" panose="020B0604020202020204" pitchFamily="34" charset="0"/>
              </a:rPr>
              <a:t>The dirent structure defined in the file &lt;dirent.h&gt; is implementation dependent.</a:t>
            </a:r>
          </a:p>
          <a:p>
            <a:pPr algn="just">
              <a:buFontTx/>
              <a:buChar char="•"/>
            </a:pPr>
            <a:r>
              <a:rPr lang="en-US" altLang="en-US" sz="2200">
                <a:latin typeface="Arial" panose="020B0604020202020204" pitchFamily="34" charset="0"/>
              </a:rPr>
              <a:t>Implementations define the structure to contain at least the following two members:</a:t>
            </a:r>
          </a:p>
          <a:p>
            <a:pPr algn="just"/>
            <a:r>
              <a:rPr lang="en-US" altLang="en-US" sz="2200">
                <a:solidFill>
                  <a:schemeClr val="hlink"/>
                </a:solidFill>
                <a:latin typeface="Arial" panose="020B0604020202020204" pitchFamily="34" charset="0"/>
              </a:rPr>
              <a:t>struct dirent</a:t>
            </a:r>
          </a:p>
          <a:p>
            <a:pPr algn="just"/>
            <a:r>
              <a:rPr lang="en-US" altLang="en-US" sz="2200">
                <a:solidFill>
                  <a:schemeClr val="hlink"/>
                </a:solidFill>
                <a:latin typeface="Arial" panose="020B0604020202020204" pitchFamily="34" charset="0"/>
              </a:rPr>
              <a:t> {</a:t>
            </a:r>
          </a:p>
          <a:p>
            <a:pPr algn="just"/>
            <a:r>
              <a:rPr lang="en-US" altLang="en-US" sz="2200">
                <a:solidFill>
                  <a:schemeClr val="hlink"/>
                </a:solidFill>
                <a:latin typeface="Arial" panose="020B0604020202020204" pitchFamily="34" charset="0"/>
              </a:rPr>
              <a:t>	ino_t d_ino; /* i-node number */</a:t>
            </a:r>
          </a:p>
          <a:p>
            <a:pPr algn="just"/>
            <a:r>
              <a:rPr lang="en-US" altLang="en-US" sz="2200">
                <a:solidFill>
                  <a:schemeClr val="hlink"/>
                </a:solidFill>
                <a:latin typeface="Arial" panose="020B0604020202020204" pitchFamily="34" charset="0"/>
              </a:rPr>
              <a:t>	char d_name[NAME_MAX + 1]; /* null-terminated filename */</a:t>
            </a:r>
          </a:p>
          <a:p>
            <a:pPr algn="just"/>
            <a:r>
              <a:rPr lang="en-US" altLang="en-US" sz="2200">
                <a:solidFill>
                  <a:schemeClr val="hlink"/>
                </a:solidFill>
                <a:latin typeface="Arial" panose="020B0604020202020204" pitchFamily="34" charset="0"/>
              </a:rPr>
              <a:t>}</a:t>
            </a:r>
          </a:p>
          <a:p>
            <a:pPr algn="just">
              <a:buFontTx/>
              <a:buChar char="•"/>
            </a:pPr>
            <a:r>
              <a:rPr lang="en-US" altLang="en-US" sz="2200">
                <a:latin typeface="Arial" panose="020B0604020202020204" pitchFamily="34" charset="0"/>
              </a:rPr>
              <a:t>The DIR structure is an internal structure used by these six functions to maintain information about the directory being read. The purpose of the DIR structure is similar to that of the FILE structure maintained by the standard I/O library, </a:t>
            </a:r>
          </a:p>
          <a:p>
            <a:pPr algn="just">
              <a:buFontTx/>
              <a:buChar char="•"/>
            </a:pPr>
            <a:r>
              <a:rPr lang="en-US" altLang="en-US" sz="2200">
                <a:latin typeface="Arial" panose="020B0604020202020204" pitchFamily="34" charset="0"/>
              </a:rPr>
              <a:t>The pointer to a DIR structure that is returned by opendir is then used with the other five functions.</a:t>
            </a:r>
          </a:p>
          <a:p>
            <a:pPr algn="just">
              <a:buFontTx/>
              <a:buChar char="•"/>
            </a:pPr>
            <a:r>
              <a:rPr lang="en-US" altLang="en-US" sz="2200">
                <a:latin typeface="Arial" panose="020B0604020202020204" pitchFamily="34" charset="0"/>
              </a:rPr>
              <a:t>The opendir function initializes things so that the first readdir reads the first entry in the directory.</a:t>
            </a:r>
          </a:p>
          <a:p>
            <a:pPr algn="just">
              <a:buFontTx/>
              <a:buChar char="•"/>
            </a:pPr>
            <a:r>
              <a:rPr lang="en-US" altLang="en-US" sz="2200">
                <a:latin typeface="Arial" panose="020B0604020202020204" pitchFamily="34" charset="0"/>
              </a:rPr>
              <a:t>The ordering of entries within the directory is implementation dependent and is usually not alphabetical.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B7EB3-496D-AC70-BC19-DC49C593B7EE}"/>
              </a:ext>
            </a:extLst>
          </p:cNvPr>
          <p:cNvSpPr>
            <a:spLocks noGrp="1"/>
          </p:cNvSpPr>
          <p:nvPr>
            <p:ph type="ctrTitle" idx="4294967295"/>
          </p:nvPr>
        </p:nvSpPr>
        <p:spPr>
          <a:xfrm>
            <a:off x="685800" y="152400"/>
            <a:ext cx="7772400" cy="457200"/>
          </a:xfrm>
        </p:spPr>
        <p:txBody>
          <a:bodyPr>
            <a:normAutofit/>
          </a:bodyPr>
          <a:lstStyle/>
          <a:p>
            <a:r>
              <a:rPr lang="en-US" altLang="en-US" sz="4000">
                <a:solidFill>
                  <a:srgbClr val="0000FF"/>
                </a:solidFill>
              </a:rPr>
              <a:t>chdir, fchdir, getcwd functions</a:t>
            </a:r>
          </a:p>
        </p:txBody>
      </p:sp>
      <p:sp>
        <p:nvSpPr>
          <p:cNvPr id="3" name="Title 1">
            <a:extLst>
              <a:ext uri="{FF2B5EF4-FFF2-40B4-BE49-F238E27FC236}">
                <a16:creationId xmlns:a16="http://schemas.microsoft.com/office/drawing/2014/main" id="{F4AA9CC8-9FBD-5723-92A9-EAD1510D237D}"/>
              </a:ext>
            </a:extLst>
          </p:cNvPr>
          <p:cNvSpPr txBox="1">
            <a:spLocks/>
          </p:cNvSpPr>
          <p:nvPr/>
        </p:nvSpPr>
        <p:spPr>
          <a:xfrm>
            <a:off x="304800" y="685800"/>
            <a:ext cx="8686800" cy="5934075"/>
          </a:xfrm>
          <a:prstGeom prst="rect">
            <a:avLst/>
          </a:prstGeom>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pPr algn="just">
              <a:buFontTx/>
              <a:buChar char="•"/>
            </a:pPr>
            <a:r>
              <a:rPr lang="en-US" altLang="en-US" sz="2400">
                <a:latin typeface="Arial" panose="020B0604020202020204" pitchFamily="34" charset="0"/>
              </a:rPr>
              <a:t>Every process has a current working directory. </a:t>
            </a:r>
          </a:p>
          <a:p>
            <a:pPr algn="just">
              <a:buFontTx/>
              <a:buChar char="•"/>
            </a:pPr>
            <a:r>
              <a:rPr lang="en-US" altLang="en-US" sz="2400">
                <a:latin typeface="Arial" panose="020B0604020202020204" pitchFamily="34" charset="0"/>
              </a:rPr>
              <a:t>This directory is where the search for all relative pathnames starts </a:t>
            </a:r>
          </a:p>
          <a:p>
            <a:pPr algn="just">
              <a:buFontTx/>
              <a:buChar char="•"/>
            </a:pPr>
            <a:r>
              <a:rPr lang="en-US" altLang="en-US" sz="2400">
                <a:latin typeface="Arial" panose="020B0604020202020204" pitchFamily="34" charset="0"/>
              </a:rPr>
              <a:t>When a user logs in to a UNIX system, the current working directory normally starts at the directory specified by the sixth field in the /etc/passwd filethe user's home directory. </a:t>
            </a:r>
          </a:p>
          <a:p>
            <a:pPr algn="just">
              <a:buFontTx/>
              <a:buChar char="•"/>
            </a:pPr>
            <a:r>
              <a:rPr lang="en-US" altLang="en-US" sz="2400">
                <a:latin typeface="Arial" panose="020B0604020202020204" pitchFamily="34" charset="0"/>
              </a:rPr>
              <a:t>The current working directory is an attribute of a process</a:t>
            </a:r>
          </a:p>
          <a:p>
            <a:pPr algn="just">
              <a:buFontTx/>
              <a:buChar char="•"/>
            </a:pPr>
            <a:r>
              <a:rPr lang="en-US" altLang="en-US" sz="2400">
                <a:latin typeface="Arial" panose="020B0604020202020204" pitchFamily="34" charset="0"/>
              </a:rPr>
              <a:t>The home directory is an attribute of a login name.</a:t>
            </a:r>
          </a:p>
          <a:p>
            <a:pPr algn="just">
              <a:buFontTx/>
              <a:buChar char="•"/>
            </a:pPr>
            <a:r>
              <a:rPr lang="en-US" altLang="en-US" sz="2400">
                <a:latin typeface="Arial" panose="020B0604020202020204" pitchFamily="34" charset="0"/>
              </a:rPr>
              <a:t>We can change the current working directory of the calling process by calling the chdir or fchdir functions.</a:t>
            </a:r>
          </a:p>
          <a:p>
            <a:pPr algn="just"/>
            <a:r>
              <a:rPr lang="en-US" altLang="en-US" sz="2400">
                <a:solidFill>
                  <a:schemeClr val="hlink"/>
                </a:solidFill>
                <a:latin typeface="Arial" panose="020B0604020202020204" pitchFamily="34" charset="0"/>
              </a:rPr>
              <a:t>#include &lt;unistd.h&gt;</a:t>
            </a:r>
          </a:p>
          <a:p>
            <a:pPr algn="just"/>
            <a:r>
              <a:rPr lang="en-US" altLang="en-US" sz="2400">
                <a:solidFill>
                  <a:schemeClr val="hlink"/>
                </a:solidFill>
                <a:latin typeface="Arial" panose="020B0604020202020204" pitchFamily="34" charset="0"/>
              </a:rPr>
              <a:t>int chdir(const char *</a:t>
            </a:r>
            <a:r>
              <a:rPr lang="en-US" altLang="en-US" sz="2400" i="1">
                <a:solidFill>
                  <a:schemeClr val="hlink"/>
                </a:solidFill>
                <a:latin typeface="Arial" panose="020B0604020202020204" pitchFamily="34" charset="0"/>
              </a:rPr>
              <a:t>pathname</a:t>
            </a:r>
            <a:r>
              <a:rPr lang="en-US" altLang="en-US" sz="2400">
                <a:solidFill>
                  <a:schemeClr val="hlink"/>
                </a:solidFill>
                <a:latin typeface="Arial" panose="020B0604020202020204" pitchFamily="34" charset="0"/>
              </a:rPr>
              <a:t>);</a:t>
            </a:r>
          </a:p>
          <a:p>
            <a:pPr algn="just"/>
            <a:r>
              <a:rPr lang="en-US" altLang="en-US" sz="2400">
                <a:solidFill>
                  <a:schemeClr val="hlink"/>
                </a:solidFill>
                <a:latin typeface="Arial" panose="020B0604020202020204" pitchFamily="34" charset="0"/>
              </a:rPr>
              <a:t>int fchdir(int </a:t>
            </a:r>
            <a:r>
              <a:rPr lang="en-US" altLang="en-US" sz="2400" i="1">
                <a:solidFill>
                  <a:schemeClr val="hlink"/>
                </a:solidFill>
                <a:latin typeface="Arial" panose="020B0604020202020204" pitchFamily="34" charset="0"/>
              </a:rPr>
              <a:t>filedes</a:t>
            </a:r>
            <a:r>
              <a:rPr lang="en-US" altLang="en-US" sz="2400">
                <a:solidFill>
                  <a:schemeClr val="hlink"/>
                </a:solidFill>
                <a:latin typeface="Arial" panose="020B0604020202020204" pitchFamily="34" charset="0"/>
              </a:rPr>
              <a:t>);</a:t>
            </a:r>
          </a:p>
          <a:p>
            <a:pPr algn="just"/>
            <a:r>
              <a:rPr lang="en-US" altLang="en-US" sz="2400">
                <a:solidFill>
                  <a:schemeClr val="accent2"/>
                </a:solidFill>
                <a:latin typeface="Arial" panose="020B0604020202020204" pitchFamily="34" charset="0"/>
              </a:rPr>
              <a:t>Both return: 0 if OK, 1 on error</a:t>
            </a:r>
          </a:p>
          <a:p>
            <a:pPr algn="just">
              <a:buFontTx/>
              <a:buChar char="•"/>
            </a:pPr>
            <a:r>
              <a:rPr lang="en-US" altLang="en-US" sz="2400">
                <a:latin typeface="Arial" panose="020B0604020202020204" pitchFamily="34" charset="0"/>
              </a:rPr>
              <a:t>We can specify the new current working directory either as a </a:t>
            </a:r>
            <a:r>
              <a:rPr lang="en-US" altLang="en-US" sz="2400" i="1">
                <a:latin typeface="Arial" panose="020B0604020202020204" pitchFamily="34" charset="0"/>
              </a:rPr>
              <a:t>pathname </a:t>
            </a:r>
            <a:r>
              <a:rPr lang="en-US" altLang="en-US" sz="2400">
                <a:latin typeface="Arial" panose="020B0604020202020204" pitchFamily="34" charset="0"/>
              </a:rPr>
              <a:t>or through an open file descriptor.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257E28F-BE14-AA95-877D-B98998CDD7CB}"/>
              </a:ext>
            </a:extLst>
          </p:cNvPr>
          <p:cNvSpPr txBox="1">
            <a:spLocks/>
          </p:cNvSpPr>
          <p:nvPr/>
        </p:nvSpPr>
        <p:spPr>
          <a:xfrm>
            <a:off x="304800" y="152400"/>
            <a:ext cx="8534400" cy="5337175"/>
          </a:xfrm>
          <a:prstGeom prst="rect">
            <a:avLst/>
          </a:prstGeom>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r>
              <a:rPr lang="en-US" altLang="en-US" sz="3200">
                <a:solidFill>
                  <a:schemeClr val="accent2"/>
                </a:solidFill>
                <a:latin typeface="Times New Roman" panose="02020603050405020304" pitchFamily="18" charset="0"/>
              </a:rPr>
              <a:t>#include &lt;unistd.h&gt;</a:t>
            </a:r>
          </a:p>
          <a:p>
            <a:r>
              <a:rPr lang="en-US" altLang="en-US" sz="3200">
                <a:solidFill>
                  <a:schemeClr val="accent2"/>
                </a:solidFill>
                <a:latin typeface="Times New Roman" panose="02020603050405020304" pitchFamily="18" charset="0"/>
              </a:rPr>
              <a:t>#include &lt;stdio.h&gt;</a:t>
            </a:r>
          </a:p>
          <a:p>
            <a:r>
              <a:rPr lang="en-US" altLang="en-US" sz="2800">
                <a:latin typeface="Times New Roman" panose="02020603050405020304" pitchFamily="18" charset="0"/>
              </a:rPr>
              <a:t>int main(void)</a:t>
            </a:r>
          </a:p>
          <a:p>
            <a:r>
              <a:rPr lang="en-US" altLang="en-US" sz="2800">
                <a:latin typeface="Times New Roman" panose="02020603050405020304" pitchFamily="18" charset="0"/>
              </a:rPr>
              <a:t>{</a:t>
            </a:r>
          </a:p>
          <a:p>
            <a:r>
              <a:rPr lang="en-US" altLang="en-US" sz="2800">
                <a:latin typeface="Times New Roman" panose="02020603050405020304" pitchFamily="18" charset="0"/>
              </a:rPr>
              <a:t>	if (chdir("/tmp") &lt; 0)</a:t>
            </a:r>
          </a:p>
          <a:p>
            <a:r>
              <a:rPr lang="en-US" altLang="en-US" sz="2800">
                <a:latin typeface="Times New Roman" panose="02020603050405020304" pitchFamily="18" charset="0"/>
              </a:rPr>
              <a:t>	{</a:t>
            </a:r>
          </a:p>
          <a:p>
            <a:r>
              <a:rPr lang="en-US" altLang="en-US" sz="2800">
                <a:latin typeface="Times New Roman" panose="02020603050405020304" pitchFamily="18" charset="0"/>
              </a:rPr>
              <a:t>		printf ("chdir failed");</a:t>
            </a:r>
          </a:p>
          <a:p>
            <a:r>
              <a:rPr lang="en-US" altLang="en-US" sz="2800">
                <a:latin typeface="Times New Roman" panose="02020603050405020304" pitchFamily="18" charset="0"/>
              </a:rPr>
              <a:t>		exit (0);</a:t>
            </a:r>
          </a:p>
          <a:p>
            <a:r>
              <a:rPr lang="en-US" altLang="en-US" sz="2800">
                <a:latin typeface="Times New Roman" panose="02020603050405020304" pitchFamily="18" charset="0"/>
              </a:rPr>
              <a:t>	}</a:t>
            </a:r>
          </a:p>
          <a:p>
            <a:r>
              <a:rPr lang="en-US" altLang="en-US" sz="2800">
                <a:latin typeface="Times New Roman" panose="02020603050405020304" pitchFamily="18" charset="0"/>
              </a:rPr>
              <a:t>	printf("chdir to /tmp succeeded\n");</a:t>
            </a:r>
          </a:p>
          <a:p>
            <a:r>
              <a:rPr lang="en-US" altLang="en-US" sz="2800">
                <a:latin typeface="Times New Roman" panose="02020603050405020304" pitchFamily="18" charset="0"/>
              </a:rPr>
              <a:t>	exit(0);</a:t>
            </a:r>
          </a:p>
          <a:p>
            <a:r>
              <a:rPr lang="en-US" altLang="en-US" sz="2800">
                <a:latin typeface="Times New Roman" panose="02020603050405020304" pitchFamily="18" charset="0"/>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9C6DB3B-F18F-8B1C-3F7D-76DE8C93CC69}"/>
              </a:ext>
            </a:extLst>
          </p:cNvPr>
          <p:cNvSpPr txBox="1">
            <a:spLocks/>
          </p:cNvSpPr>
          <p:nvPr/>
        </p:nvSpPr>
        <p:spPr>
          <a:xfrm>
            <a:off x="304800" y="152400"/>
            <a:ext cx="8534400" cy="4478338"/>
          </a:xfrm>
          <a:prstGeom prst="rect">
            <a:avLst/>
          </a:prstGeom>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pPr algn="just"/>
            <a:r>
              <a:rPr lang="en-US" altLang="en-US" sz="3200">
                <a:latin typeface="Times New Roman" panose="02020603050405020304" pitchFamily="18" charset="0"/>
              </a:rPr>
              <a:t>#include &lt;unistd.h&gt;</a:t>
            </a:r>
          </a:p>
          <a:p>
            <a:pPr algn="just"/>
            <a:r>
              <a:rPr lang="en-US" altLang="en-US" sz="3200">
                <a:latin typeface="Times New Roman" panose="02020603050405020304" pitchFamily="18" charset="0"/>
              </a:rPr>
              <a:t>char *getcwd(char *</a:t>
            </a:r>
            <a:r>
              <a:rPr lang="en-US" altLang="en-US" sz="3200" i="1">
                <a:latin typeface="Times New Roman" panose="02020603050405020304" pitchFamily="18" charset="0"/>
              </a:rPr>
              <a:t>buf</a:t>
            </a:r>
            <a:r>
              <a:rPr lang="en-US" altLang="en-US" sz="3200">
                <a:latin typeface="Times New Roman" panose="02020603050405020304" pitchFamily="18" charset="0"/>
              </a:rPr>
              <a:t>, size_t </a:t>
            </a:r>
            <a:r>
              <a:rPr lang="en-US" altLang="en-US" sz="3200" i="1">
                <a:latin typeface="Times New Roman" panose="02020603050405020304" pitchFamily="18" charset="0"/>
              </a:rPr>
              <a:t>size</a:t>
            </a:r>
            <a:r>
              <a:rPr lang="en-US" altLang="en-US" sz="3200">
                <a:latin typeface="Times New Roman" panose="02020603050405020304" pitchFamily="18" charset="0"/>
              </a:rPr>
              <a:t>);</a:t>
            </a:r>
          </a:p>
          <a:p>
            <a:pPr algn="just"/>
            <a:r>
              <a:rPr lang="en-US" altLang="en-US" sz="3200">
                <a:latin typeface="Times New Roman" panose="02020603050405020304" pitchFamily="18" charset="0"/>
              </a:rPr>
              <a:t>	Returns: </a:t>
            </a:r>
            <a:r>
              <a:rPr lang="en-US" altLang="en-US" sz="3200" i="1">
                <a:latin typeface="Times New Roman" panose="02020603050405020304" pitchFamily="18" charset="0"/>
              </a:rPr>
              <a:t>buf </a:t>
            </a:r>
            <a:r>
              <a:rPr lang="en-US" altLang="en-US" sz="3200">
                <a:latin typeface="Times New Roman" panose="02020603050405020304" pitchFamily="18" charset="0"/>
              </a:rPr>
              <a:t>if OK, NULL on error</a:t>
            </a:r>
          </a:p>
          <a:p>
            <a:pPr algn="just">
              <a:buFontTx/>
              <a:buChar char="•"/>
            </a:pPr>
            <a:r>
              <a:rPr lang="en-US" altLang="en-US" sz="3200">
                <a:latin typeface="Times New Roman" panose="02020603050405020304" pitchFamily="18" charset="0"/>
              </a:rPr>
              <a:t>We must pass to this function the address of a buffer, </a:t>
            </a:r>
            <a:r>
              <a:rPr lang="en-US" altLang="en-US" sz="3200" i="1">
                <a:latin typeface="Times New Roman" panose="02020603050405020304" pitchFamily="18" charset="0"/>
              </a:rPr>
              <a:t>buf</a:t>
            </a:r>
            <a:r>
              <a:rPr lang="en-US" altLang="en-US" sz="3200">
                <a:latin typeface="Times New Roman" panose="02020603050405020304" pitchFamily="18" charset="0"/>
              </a:rPr>
              <a:t>, and its </a:t>
            </a:r>
            <a:r>
              <a:rPr lang="en-US" altLang="en-US" sz="3200" i="1">
                <a:latin typeface="Times New Roman" panose="02020603050405020304" pitchFamily="18" charset="0"/>
              </a:rPr>
              <a:t>size </a:t>
            </a:r>
            <a:r>
              <a:rPr lang="en-US" altLang="en-US" sz="3200">
                <a:latin typeface="Times New Roman" panose="02020603050405020304" pitchFamily="18" charset="0"/>
              </a:rPr>
              <a:t>(in bytes). </a:t>
            </a:r>
          </a:p>
          <a:p>
            <a:pPr algn="just">
              <a:buFontTx/>
              <a:buChar char="•"/>
            </a:pPr>
            <a:r>
              <a:rPr lang="en-US" altLang="en-US" sz="3200">
                <a:latin typeface="Times New Roman" panose="02020603050405020304" pitchFamily="18" charset="0"/>
              </a:rPr>
              <a:t>The buffer must belarge enough to accommodate the absolute pathname plus a terminating null byte, or an error is returned.</a:t>
            </a:r>
          </a:p>
          <a:p>
            <a:pPr algn="just"/>
            <a:endParaRPr lang="en-US" altLang="en-US" sz="3200">
              <a:latin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F023-284F-E7AD-EFAC-216D9ED7D08C}"/>
              </a:ext>
            </a:extLst>
          </p:cNvPr>
          <p:cNvSpPr txBox="1">
            <a:spLocks/>
          </p:cNvSpPr>
          <p:nvPr/>
        </p:nvSpPr>
        <p:spPr>
          <a:xfrm>
            <a:off x="304800" y="152400"/>
            <a:ext cx="8534400" cy="6003925"/>
          </a:xfrm>
          <a:prstGeom prst="rect">
            <a:avLst/>
          </a:prstGeom>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r>
              <a:rPr lang="en-US" altLang="en-US" sz="2400">
                <a:solidFill>
                  <a:schemeClr val="accent2"/>
                </a:solidFill>
                <a:latin typeface="Times New Roman" panose="02020603050405020304" pitchFamily="18" charset="0"/>
              </a:rPr>
              <a:t>#include &lt;unistd.h&gt;</a:t>
            </a:r>
          </a:p>
          <a:p>
            <a:r>
              <a:rPr lang="en-US" altLang="en-US" sz="2400">
                <a:solidFill>
                  <a:schemeClr val="accent2"/>
                </a:solidFill>
                <a:latin typeface="Times New Roman" panose="02020603050405020304" pitchFamily="18" charset="0"/>
              </a:rPr>
              <a:t>#include &lt;stdio.h&gt;</a:t>
            </a:r>
          </a:p>
          <a:p>
            <a:r>
              <a:rPr lang="en-US" altLang="en-US" sz="2000">
                <a:latin typeface="Arial" panose="020B0604020202020204" pitchFamily="34" charset="0"/>
              </a:rPr>
              <a:t>Int main(void)</a:t>
            </a:r>
          </a:p>
          <a:p>
            <a:r>
              <a:rPr lang="en-US" altLang="en-US" sz="2000">
                <a:latin typeface="Arial" panose="020B0604020202020204" pitchFamily="34" charset="0"/>
              </a:rPr>
              <a:t>{</a:t>
            </a:r>
          </a:p>
          <a:p>
            <a:r>
              <a:rPr lang="en-US" altLang="en-US" sz="2000">
                <a:latin typeface="Arial" panose="020B0604020202020204" pitchFamily="34" charset="0"/>
              </a:rPr>
              <a:t>	char *ptr;</a:t>
            </a:r>
          </a:p>
          <a:p>
            <a:r>
              <a:rPr lang="en-US" altLang="en-US" sz="2000">
                <a:latin typeface="Arial" panose="020B0604020202020204" pitchFamily="34" charset="0"/>
              </a:rPr>
              <a:t>	int size;</a:t>
            </a:r>
          </a:p>
          <a:p>
            <a:r>
              <a:rPr lang="en-US" altLang="en-US" sz="2000">
                <a:latin typeface="Arial" panose="020B0604020202020204" pitchFamily="34" charset="0"/>
              </a:rPr>
              <a:t>	if (chdir("/usr/spool/uucppublic") &lt; 0)</a:t>
            </a:r>
          </a:p>
          <a:p>
            <a:r>
              <a:rPr lang="en-US" altLang="en-US" sz="2000">
                <a:latin typeface="Arial" panose="020B0604020202020204" pitchFamily="34" charset="0"/>
              </a:rPr>
              <a:t>	{	</a:t>
            </a:r>
          </a:p>
          <a:p>
            <a:r>
              <a:rPr lang="en-US" altLang="en-US" sz="2000">
                <a:latin typeface="Arial" panose="020B0604020202020204" pitchFamily="34" charset="0"/>
              </a:rPr>
              <a:t>		printf("chdir failed");</a:t>
            </a:r>
          </a:p>
          <a:p>
            <a:r>
              <a:rPr lang="en-US" altLang="en-US" sz="2000">
                <a:latin typeface="Arial" panose="020B0604020202020204" pitchFamily="34" charset="0"/>
              </a:rPr>
              <a:t>		exit (0);</a:t>
            </a:r>
          </a:p>
          <a:p>
            <a:r>
              <a:rPr lang="en-US" altLang="en-US" sz="2000">
                <a:latin typeface="Arial" panose="020B0604020202020204" pitchFamily="34" charset="0"/>
              </a:rPr>
              <a:t>	}	</a:t>
            </a:r>
          </a:p>
          <a:p>
            <a:r>
              <a:rPr lang="en-US" altLang="en-US" sz="2000">
                <a:latin typeface="Arial" panose="020B0604020202020204" pitchFamily="34" charset="0"/>
              </a:rPr>
              <a:t>		if (getcwd(ptr, sizeof(ptr)) == NULL)</a:t>
            </a:r>
          </a:p>
          <a:p>
            <a:r>
              <a:rPr lang="en-US" altLang="en-US" sz="2000">
                <a:latin typeface="Arial" panose="020B0604020202020204" pitchFamily="34" charset="0"/>
              </a:rPr>
              <a:t>	{</a:t>
            </a:r>
          </a:p>
          <a:p>
            <a:r>
              <a:rPr lang="en-US" altLang="en-US" sz="2000">
                <a:latin typeface="Arial" panose="020B0604020202020204" pitchFamily="34" charset="0"/>
              </a:rPr>
              <a:t>		printf("getcwd failed");</a:t>
            </a:r>
          </a:p>
          <a:p>
            <a:r>
              <a:rPr lang="en-US" altLang="en-US" sz="2000">
                <a:latin typeface="Arial" panose="020B0604020202020204" pitchFamily="34" charset="0"/>
              </a:rPr>
              <a:t>		exit (0);</a:t>
            </a:r>
          </a:p>
          <a:p>
            <a:r>
              <a:rPr lang="en-US" altLang="en-US" sz="2000">
                <a:latin typeface="Arial" panose="020B0604020202020204" pitchFamily="34" charset="0"/>
              </a:rPr>
              <a:t>	}</a:t>
            </a:r>
          </a:p>
          <a:p>
            <a:r>
              <a:rPr lang="en-US" altLang="en-US" sz="2000">
                <a:latin typeface="Arial" panose="020B0604020202020204" pitchFamily="34" charset="0"/>
              </a:rPr>
              <a:t>	printf("cwd = %s\n", ptr);</a:t>
            </a:r>
          </a:p>
          <a:p>
            <a:r>
              <a:rPr lang="en-US" altLang="en-US" sz="2000">
                <a:latin typeface="Arial" panose="020B0604020202020204" pitchFamily="34" charset="0"/>
              </a:rPr>
              <a:t>	exit(0);</a:t>
            </a:r>
          </a:p>
          <a:p>
            <a:r>
              <a:rPr lang="en-US" altLang="en-US" sz="2000">
                <a:latin typeface="Arial" panose="020B0604020202020204" pitchFamily="34" charset="0"/>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184</TotalTime>
  <Words>1136</Words>
  <Application>Microsoft Office PowerPoint</Application>
  <PresentationFormat>On-screen Show (4:3)</PresentationFormat>
  <Paragraphs>114</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Calibri</vt:lpstr>
      <vt:lpstr>Arial</vt:lpstr>
      <vt:lpstr>Times New Roman</vt:lpstr>
      <vt:lpstr>Arial Unicode MS</vt:lpstr>
      <vt:lpstr>Office Theme</vt:lpstr>
      <vt:lpstr>Handling directories Directory structure</vt:lpstr>
      <vt:lpstr>A typical file system organization</vt:lpstr>
      <vt:lpstr>Operations performed on a directory</vt:lpstr>
      <vt:lpstr>PowerPoint Presentation</vt:lpstr>
      <vt:lpstr>PowerPoint Presentation</vt:lpstr>
      <vt:lpstr>PowerPoint Presentation</vt:lpstr>
      <vt:lpstr>PowerPoint Presentation</vt:lpstr>
      <vt:lpstr>PowerPoint Presentation</vt:lpstr>
      <vt:lpstr>mkdir and rmdir functions</vt:lpstr>
      <vt:lpstr>PowerPoint Presentation</vt:lpstr>
      <vt:lpstr>Reading directories</vt:lpstr>
      <vt:lpstr>PowerPoint Presentation</vt:lpstr>
      <vt:lpstr>PowerPoint Presentation</vt:lpstr>
      <vt:lpstr>chdir, fchdir, getcwd functions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SHELL PROGRAMMING</dc:title>
  <dc:creator>Administrator</dc:creator>
  <cp:lastModifiedBy>S Bhavani</cp:lastModifiedBy>
  <cp:revision>216</cp:revision>
  <dcterms:created xsi:type="dcterms:W3CDTF">2006-08-16T00:00:00Z</dcterms:created>
  <dcterms:modified xsi:type="dcterms:W3CDTF">2026-04-07T06:38:01Z</dcterms:modified>
</cp:coreProperties>
</file>