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90" r:id="rId14"/>
    <p:sldId id="267" r:id="rId15"/>
    <p:sldId id="289" r:id="rId16"/>
    <p:sldId id="288" r:id="rId17"/>
    <p:sldId id="268" r:id="rId18"/>
    <p:sldId id="291" r:id="rId19"/>
    <p:sldId id="269" r:id="rId20"/>
    <p:sldId id="295" r:id="rId21"/>
    <p:sldId id="296" r:id="rId22"/>
    <p:sldId id="297" r:id="rId23"/>
    <p:sldId id="298" r:id="rId24"/>
    <p:sldId id="299" r:id="rId25"/>
    <p:sldId id="302" r:id="rId26"/>
    <p:sldId id="303" r:id="rId27"/>
    <p:sldId id="304" r:id="rId28"/>
    <p:sldId id="282" r:id="rId29"/>
    <p:sldId id="292" r:id="rId30"/>
    <p:sldId id="293" r:id="rId31"/>
    <p:sldId id="301" r:id="rId32"/>
  </p:sldIdLst>
  <p:sldSz cx="9144000" cy="6858000" type="screen4x3"/>
  <p:notesSz cx="6991350" cy="92821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2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FA2C9D3-7A98-33BD-3DCE-5B26FA8E47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4844631-DAE1-0E2B-D036-82B323DCAF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FD9FCCF7-6771-0E9E-A027-9C4B2F67372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510AF2CC-3820-57E2-815D-42814CA1683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2A1C374-3BCF-4B97-86EC-DEE65B837D7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2D2BF6-0477-F32E-A32E-B13E5ED6FE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CC10DD3-4B57-9361-F676-6D6DB413E0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8412406A-7AED-7464-0610-20BA3330277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6338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F6BC0DA-465B-53CB-1CEC-1DCD5A58CC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76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E36E9FE-14C4-D9E3-BEF2-2FAAC6F254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838E24FC-78BF-DFC0-FE47-115621B06F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7565551E-2727-43DC-AB74-79EBA07443F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3F0FF689-F836-9014-D39E-7BA47CF742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8F613668-262B-3D2D-61AB-F1A4EF930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5D2D230-F394-1377-4E11-6E01981B0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0790AC3-CA03-4525-9A10-C33DA3FB6478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CE883B8-262D-6875-BC15-E86B33319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66C12F8-44C1-4C0D-92ED-D3A291FDD937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69958EB-5E94-D439-2393-9FCC4715A5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E0150D0-6C16-4C3C-455A-37E0A04B1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895BF94-35EC-FBBC-EA16-BA1FE4B9CF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0FC6BBB-D14B-4EB9-9BF4-1D21B0774848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E350C6F-B573-44C6-DBA9-025FBEC20DF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593AC9B-5BF6-459A-04D2-31B7B725A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3330A59-2E1E-6B35-2462-C5A25F9664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6E92094-39D5-5CF1-4BF5-2C01BEB90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0172CE-5CCC-F5AF-0CAA-9F9EB43DA6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52593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FC414-AE7D-ED05-0AEB-0C1E2AA141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394834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24A38D6-BB3F-94A2-9DA1-B9FE5D488C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66794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C81A53-C697-0025-93D4-D0EAAFF8A8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24736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798EBC4-8500-08E9-4FD3-53F4E04DAF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340276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1BF69A9-5FED-81AD-359E-1EC4AD00CB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96397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BDEC3FE-989C-28A9-3FA7-74F7A30E41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14521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5E05B3-B580-B8A8-0BC0-EE521D718D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25054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940949-A9CA-82E6-8D5B-3B21810846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13530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D7AC8F-3A0A-C816-F1DE-C2155A16A2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96853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CA1957-668C-BD14-EE54-51CE0F7F6E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57575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>
            <a:extLst>
              <a:ext uri="{FF2B5EF4-FFF2-40B4-BE49-F238E27FC236}">
                <a16:creationId xmlns:a16="http://schemas.microsoft.com/office/drawing/2014/main" id="{6AD75F22-37B4-7A75-5B63-9FCB40DA5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D6D1DC97-9A5F-5719-182B-7AAFDCC92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A95C9C1-4E9C-21DC-FF8D-6F1BCA472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5CE43EA-FEF9-9759-625B-0E0436CE1E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AAA028D-51E4-DA97-D43B-93C2A954A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000"/>
              <a:t>Silberschatz and Galvin 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>
            <a:extLst>
              <a:ext uri="{FF2B5EF4-FFF2-40B4-BE49-F238E27FC236}">
                <a16:creationId xmlns:a16="http://schemas.microsoft.com/office/drawing/2014/main" id="{2A28282C-67D6-1024-3496-A459E2211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175F5138-A302-47CA-DBA7-C6012652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553200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/>
              <a:t>3.</a:t>
            </a:r>
            <a:fld id="{E2C9F97C-DE03-4A20-AD4D-E7EC95F64FA8}" type="slidenum">
              <a:rPr lang="en-US" altLang="en-US" sz="1000"/>
              <a:pPr>
                <a:spcBef>
                  <a:spcPct val="50000"/>
                </a:spcBef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3">
            <a:extLst>
              <a:ext uri="{FF2B5EF4-FFF2-40B4-BE49-F238E27FC236}">
                <a16:creationId xmlns:a16="http://schemas.microsoft.com/office/drawing/2014/main" id="{0C9A01CA-A71F-FCBA-6834-D414677DF9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A023CD17-59BF-7623-1D11-A23BE5BC7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0575" y="495300"/>
            <a:ext cx="7515225" cy="457200"/>
          </a:xfrm>
        </p:spPr>
        <p:txBody>
          <a:bodyPr/>
          <a:lstStyle/>
          <a:p>
            <a:r>
              <a:rPr lang="en-US" altLang="en-US"/>
              <a:t>Operating-System Structures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C9DA4037-CA3D-4811-7FF5-BCD57370B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600"/>
              <a:t>System Components</a:t>
            </a:r>
          </a:p>
          <a:p>
            <a:r>
              <a:rPr lang="en-US" altLang="en-US" sz="3600"/>
              <a:t>Operating System Services</a:t>
            </a:r>
          </a:p>
          <a:p>
            <a:r>
              <a:rPr lang="en-US" altLang="en-US" sz="3600"/>
              <a:t>System Calls</a:t>
            </a:r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7E8E62F7-B9A5-5658-0C19-D1697492F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C64EDFDC-829E-0689-E3C1-E5AC9B144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5E5C0670-4497-EFF8-E132-12E9F266B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Common System Components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3318B613-188F-2A3A-8798-61702904D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Process Management </a:t>
            </a:r>
          </a:p>
          <a:p>
            <a:r>
              <a:rPr lang="en-US" altLang="en-US"/>
              <a:t>Main Memory Management</a:t>
            </a:r>
          </a:p>
          <a:p>
            <a:r>
              <a:rPr lang="en-US" altLang="en-US"/>
              <a:t>Secondary-Storage Management</a:t>
            </a:r>
          </a:p>
          <a:p>
            <a:r>
              <a:rPr lang="en-US" altLang="en-US"/>
              <a:t>I/O System Management</a:t>
            </a:r>
          </a:p>
          <a:p>
            <a:r>
              <a:rPr lang="en-US" altLang="en-US"/>
              <a:t>File Management</a:t>
            </a:r>
          </a:p>
          <a:p>
            <a:r>
              <a:rPr lang="en-US" altLang="en-US"/>
              <a:t>Protection System</a:t>
            </a:r>
          </a:p>
          <a:p>
            <a:r>
              <a:rPr lang="en-US" altLang="en-US"/>
              <a:t>Networking</a:t>
            </a:r>
          </a:p>
          <a:p>
            <a:r>
              <a:rPr lang="en-US" altLang="en-US"/>
              <a:t>Command-Interpreter System</a:t>
            </a: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BEC4ED97-DA65-7FBA-587A-7746CEFC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DE2357E0-DE96-085D-AB3B-E8E30906DF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7F58BFA-57A7-FD31-6F6C-41A9703E6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Management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B30CFA65-0DB1-B0D6-CA88-D2F9A761B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</a:t>
            </a:r>
            <a:r>
              <a:rPr lang="en-US" altLang="en-US" i="1"/>
              <a:t>process</a:t>
            </a:r>
            <a:r>
              <a:rPr lang="en-US" altLang="en-US"/>
              <a:t> is a program in execution.  A process needs certain resources, including CPU time, memory, files, and I/O devices, to accomplish its task.</a:t>
            </a:r>
          </a:p>
          <a:p>
            <a:r>
              <a:rPr lang="en-US" altLang="en-US"/>
              <a:t>The operating system is responsible for the following activities in connection with process management.</a:t>
            </a:r>
          </a:p>
          <a:p>
            <a:pPr lvl="1"/>
            <a:r>
              <a:rPr lang="en-US" altLang="en-US"/>
              <a:t>Process creation and deletion.</a:t>
            </a:r>
          </a:p>
          <a:p>
            <a:pPr lvl="1"/>
            <a:r>
              <a:rPr lang="en-US" altLang="en-US"/>
              <a:t>process suspension and resumption.</a:t>
            </a:r>
          </a:p>
          <a:p>
            <a:pPr lvl="1"/>
            <a:r>
              <a:rPr lang="en-US" altLang="en-US"/>
              <a:t>Provision of mechanisms for:</a:t>
            </a:r>
          </a:p>
          <a:p>
            <a:pPr lvl="2"/>
            <a:r>
              <a:rPr lang="en-US" altLang="en-US"/>
              <a:t>process synchronization</a:t>
            </a:r>
          </a:p>
          <a:p>
            <a:pPr lvl="2"/>
            <a:r>
              <a:rPr lang="en-US" altLang="en-US"/>
              <a:t>process communication</a:t>
            </a:r>
          </a:p>
          <a:p>
            <a:pPr lvl="2"/>
            <a:r>
              <a:rPr lang="en-US" altLang="en-US"/>
              <a:t>Deadlock handling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9710221F-F2EA-F62B-EBD7-8FD1F2008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B430318C-7D93-B3FC-9679-EFCE1C492C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4D4E7B8-22CE-7FE1-EBBA-863E25F68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Main-Memory Management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BAA2D63-8474-80B3-3111-162409396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Memory is a large array of words or bytes, each with its own address.  It is a repository of quickly accessible data shared by the CPU and I/O devices.</a:t>
            </a:r>
          </a:p>
          <a:p>
            <a:r>
              <a:rPr lang="en-US" altLang="en-US"/>
              <a:t>Main memory is a volatile storage device.  It loses its contents in the case of system failure.</a:t>
            </a:r>
          </a:p>
          <a:p>
            <a:r>
              <a:rPr lang="en-US" altLang="en-US"/>
              <a:t>The operating system is responsible for the following activities in connections with memory management:</a:t>
            </a:r>
          </a:p>
          <a:p>
            <a:pPr lvl="1"/>
            <a:r>
              <a:rPr lang="en-US" altLang="en-US"/>
              <a:t>Keep track of which parts of memory are currently being used and by whom.</a:t>
            </a:r>
          </a:p>
          <a:p>
            <a:pPr lvl="1"/>
            <a:r>
              <a:rPr lang="en-US" altLang="en-US"/>
              <a:t>Decide which processes to load when memory space becomes available.</a:t>
            </a:r>
          </a:p>
          <a:p>
            <a:pPr lvl="1"/>
            <a:r>
              <a:rPr lang="en-US" altLang="en-US"/>
              <a:t>Allocate and deallocate memory space as needed.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AFB56F05-2B7F-0F8F-FF13-7BB470D89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D79C61EE-30BF-2AB2-BC0A-65A9DC8A5F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6F00865-89F7-5CD4-9AF0-A4E5B568F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Secondary-Storage Management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3FC18DA-1D31-50A7-5972-FE41CBB64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Since main memory (</a:t>
            </a:r>
            <a:r>
              <a:rPr lang="en-US" altLang="en-US" i="1"/>
              <a:t>primary storage</a:t>
            </a:r>
            <a:r>
              <a:rPr lang="en-US" altLang="en-US"/>
              <a:t>) is volatile and too small to accommodate all data and programs permanently, the computer system must provide </a:t>
            </a:r>
            <a:r>
              <a:rPr lang="en-US" altLang="en-US" i="1"/>
              <a:t>secondary storage</a:t>
            </a:r>
            <a:r>
              <a:rPr lang="en-US" altLang="en-US"/>
              <a:t> to back up main memory.</a:t>
            </a:r>
          </a:p>
          <a:p>
            <a:r>
              <a:rPr lang="en-US" altLang="en-US"/>
              <a:t>Most modern computer systems use disks as the principle on-line storage medium, for both programs and data.</a:t>
            </a:r>
          </a:p>
          <a:p>
            <a:r>
              <a:rPr lang="en-US" altLang="en-US"/>
              <a:t>The operating system is responsible for the following activities in connection with disk management: </a:t>
            </a:r>
          </a:p>
          <a:p>
            <a:pPr marL="628650" lvl="1"/>
            <a:r>
              <a:rPr lang="en-US" altLang="en-US"/>
              <a:t>Free space management</a:t>
            </a:r>
          </a:p>
          <a:p>
            <a:pPr marL="628650" lvl="1"/>
            <a:r>
              <a:rPr lang="en-US" altLang="en-US"/>
              <a:t>Storage allocation</a:t>
            </a:r>
          </a:p>
          <a:p>
            <a:pPr marL="628650" lvl="1"/>
            <a:r>
              <a:rPr lang="en-US" altLang="en-US"/>
              <a:t>Disk scheduling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15CE6D90-666B-4CFA-0C65-A7E86B4EC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F3FFF7FB-8AAA-FBCF-AA3A-D0242F9F21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AF79577-5F6B-F55B-BD3B-77AFA850C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I/O System Management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E4F2E9D-41F6-4D46-865F-05D41C992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I/O system consists of:</a:t>
            </a:r>
          </a:p>
          <a:p>
            <a:pPr marL="628650" lvl="1"/>
            <a:r>
              <a:rPr lang="en-US" altLang="en-US"/>
              <a:t>A buffer-caching system </a:t>
            </a:r>
          </a:p>
          <a:p>
            <a:pPr marL="628650" lvl="1"/>
            <a:r>
              <a:rPr lang="en-US" altLang="en-US"/>
              <a:t>A general device-driver interface</a:t>
            </a:r>
          </a:p>
          <a:p>
            <a:pPr marL="628650" lvl="1"/>
            <a:r>
              <a:rPr lang="en-US" altLang="en-US"/>
              <a:t>Drivers for specific hardware devices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6828698-3255-B1C6-B3EA-3B21435C3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01DABD77-9786-3967-D218-DC0474AE3F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4644433-6FE2-6A9D-3E9C-6A8D45FD6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Management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B35715D-EF48-6A16-F516-18A7D739A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file is a collection of related information defined by its creator.  Commonly, files represent programs (both source and object forms) and data.</a:t>
            </a:r>
          </a:p>
          <a:p>
            <a:r>
              <a:rPr lang="en-US" altLang="en-US"/>
              <a:t>The operating system is responsible for the following activities in connections with file management:</a:t>
            </a:r>
          </a:p>
          <a:p>
            <a:pPr lvl="1"/>
            <a:r>
              <a:rPr lang="en-US" altLang="en-US"/>
              <a:t>File creation and deletion.</a:t>
            </a:r>
          </a:p>
          <a:p>
            <a:pPr lvl="1"/>
            <a:r>
              <a:rPr lang="en-US" altLang="en-US"/>
              <a:t>Directory creation and deletion.</a:t>
            </a:r>
          </a:p>
          <a:p>
            <a:pPr lvl="1"/>
            <a:r>
              <a:rPr lang="en-US" altLang="en-US"/>
              <a:t>Support of primitives for manipulating files and directories.</a:t>
            </a:r>
          </a:p>
          <a:p>
            <a:pPr lvl="1"/>
            <a:r>
              <a:rPr lang="en-US" altLang="en-US"/>
              <a:t>Mapping files onto secondary storage.</a:t>
            </a:r>
          </a:p>
          <a:p>
            <a:pPr lvl="1"/>
            <a:r>
              <a:rPr lang="en-US" altLang="en-US"/>
              <a:t>File backup on stable (nonvolatile) storage media.</a:t>
            </a: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E9A96B3E-B236-B711-9BA6-08629E319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D286BC63-1802-9DA0-EC10-8F6C645817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598FB7D1-B04E-7B6A-EF19-B3F7BC424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 System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59D5E92-77EE-4B1A-7AAE-F2D3FEB5A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/>
              <a:t>Protection</a:t>
            </a:r>
            <a:r>
              <a:rPr lang="en-US" altLang="en-US"/>
              <a:t> refers to a mechanism for controlling access by programs, processes, or users to both system and user resources.</a:t>
            </a:r>
          </a:p>
          <a:p>
            <a:r>
              <a:rPr lang="en-US" altLang="en-US"/>
              <a:t>Multiple users</a:t>
            </a:r>
          </a:p>
          <a:p>
            <a:r>
              <a:rPr lang="en-US" altLang="en-US"/>
              <a:t>Concurrent execution of processes</a:t>
            </a:r>
          </a:p>
          <a:p>
            <a:r>
              <a:rPr lang="en-US" altLang="en-US"/>
              <a:t>The protection mechanism must: </a:t>
            </a:r>
          </a:p>
          <a:p>
            <a:pPr lvl="1"/>
            <a:r>
              <a:rPr lang="en-US" altLang="en-US"/>
              <a:t>distinguish between authorized and unauthorized usage.</a:t>
            </a:r>
          </a:p>
          <a:p>
            <a:pPr lvl="1"/>
            <a:r>
              <a:rPr lang="en-US" altLang="en-US"/>
              <a:t>specify the controls to be imposed.</a:t>
            </a:r>
          </a:p>
          <a:p>
            <a:pPr lvl="1"/>
            <a:r>
              <a:rPr lang="en-US" altLang="en-US"/>
              <a:t>provide a means of enforcement.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09E4937F-0EAC-440E-E304-FE1490C67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9BEF8C28-C42B-5C8F-F41C-DE5230660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812590A-FEED-471C-F96F-AB3EC5140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Networking (Distributed Systems)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74884D2-0D69-DD64-0E96-69EA0917D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</a:t>
            </a:r>
            <a:r>
              <a:rPr lang="en-US" altLang="en-US" i="1"/>
              <a:t>distributed</a:t>
            </a:r>
            <a:r>
              <a:rPr lang="en-US" altLang="en-US"/>
              <a:t> system is a collection processors that do not share memory or a clock.  Each processor has its own local memory.</a:t>
            </a:r>
          </a:p>
          <a:p>
            <a:r>
              <a:rPr lang="en-US" altLang="en-US"/>
              <a:t>The processors in the system are connected through a communication network.</a:t>
            </a:r>
          </a:p>
          <a:p>
            <a:r>
              <a:rPr lang="en-US" altLang="en-US"/>
              <a:t>A distributed system provides user access to various system resources.</a:t>
            </a:r>
          </a:p>
          <a:p>
            <a:r>
              <a:rPr lang="en-US" altLang="en-US"/>
              <a:t>Access to a shared resource allows:</a:t>
            </a:r>
          </a:p>
          <a:p>
            <a:pPr lvl="1"/>
            <a:r>
              <a:rPr lang="en-US" altLang="en-US"/>
              <a:t>Computation speed-up </a:t>
            </a:r>
          </a:p>
          <a:p>
            <a:pPr lvl="1"/>
            <a:r>
              <a:rPr lang="en-US" altLang="en-US"/>
              <a:t>Increased data availability</a:t>
            </a:r>
          </a:p>
          <a:p>
            <a:pPr lvl="1"/>
            <a:r>
              <a:rPr lang="en-US" altLang="en-US"/>
              <a:t>Enhanced reliability</a:t>
            </a: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78A9F039-CE37-DB9B-1F0D-E22B337A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74577252-B86F-7A22-8B34-7A714C474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EBA7AD9-7E42-B575-9B26-5626D83F0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Command-Interpreter System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F63D4F9-1122-296C-01B1-30C6C1A1E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Many commands are given to the operating system by control statements which deal with:</a:t>
            </a:r>
          </a:p>
          <a:p>
            <a:pPr lvl="1"/>
            <a:r>
              <a:rPr lang="en-US" altLang="en-US"/>
              <a:t>process creation and management</a:t>
            </a:r>
          </a:p>
          <a:p>
            <a:pPr lvl="1"/>
            <a:r>
              <a:rPr lang="en-US" altLang="en-US"/>
              <a:t>I/O handling</a:t>
            </a:r>
          </a:p>
          <a:p>
            <a:pPr lvl="1"/>
            <a:r>
              <a:rPr lang="en-US" altLang="en-US"/>
              <a:t>secondary-storage management</a:t>
            </a:r>
          </a:p>
          <a:p>
            <a:pPr lvl="1"/>
            <a:r>
              <a:rPr lang="en-US" altLang="en-US"/>
              <a:t>main-memory management</a:t>
            </a:r>
          </a:p>
          <a:p>
            <a:pPr lvl="1"/>
            <a:r>
              <a:rPr lang="en-US" altLang="en-US"/>
              <a:t>file-system access </a:t>
            </a:r>
          </a:p>
          <a:p>
            <a:pPr lvl="1"/>
            <a:r>
              <a:rPr lang="en-US" altLang="en-US"/>
              <a:t>protection </a:t>
            </a:r>
          </a:p>
          <a:p>
            <a:pPr lvl="1"/>
            <a:r>
              <a:rPr lang="en-US" altLang="en-US"/>
              <a:t>networking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CB98E087-6A99-8586-05A4-5BDA740A3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23483792-32AD-7F05-D1F0-38F97C2A77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6F5B69A-0062-8E1D-B67D-8A2061E5E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Command-Interpreter System (Cont.)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A2F2AF9-0672-FA00-752A-4087AFD4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program that reads and interprets control statements is called variously:</a:t>
            </a:r>
          </a:p>
          <a:p>
            <a:pPr lvl="1"/>
            <a:r>
              <a:rPr lang="en-US" altLang="en-US"/>
              <a:t>control-card interpreter</a:t>
            </a:r>
          </a:p>
          <a:p>
            <a:pPr lvl="1"/>
            <a:r>
              <a:rPr lang="en-US" altLang="en-US"/>
              <a:t>command-line interpreter</a:t>
            </a:r>
          </a:p>
          <a:p>
            <a:pPr lvl="1"/>
            <a:r>
              <a:rPr lang="en-US" altLang="en-US"/>
              <a:t>shell (in UNIX)</a:t>
            </a:r>
          </a:p>
          <a:p>
            <a:pPr>
              <a:buFontTx/>
              <a:buNone/>
            </a:pPr>
            <a:r>
              <a:rPr lang="en-US" altLang="en-US"/>
              <a:t>    Its function is to get and execute the next command statement.</a:t>
            </a:r>
          </a:p>
          <a:p>
            <a:endParaRPr lang="en-US" altLang="en-US"/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B6A15E4C-9646-D601-A009-142D2AC50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7962160-74E7-35C6-ED4F-E15F300F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view of OS services</a:t>
            </a:r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0DA5302A-2B9D-B5E0-E863-B528655633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pic>
        <p:nvPicPr>
          <p:cNvPr id="13316" name="Picture 4" descr="2">
            <a:extLst>
              <a:ext uri="{FF2B5EF4-FFF2-40B4-BE49-F238E27FC236}">
                <a16:creationId xmlns:a16="http://schemas.microsoft.com/office/drawing/2014/main" id="{D11285AB-D6C6-AEB9-FE73-BBC45C568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601788"/>
            <a:ext cx="721836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FAEF0DF-B1F6-2E10-D4AD-69734C9DE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A710862-C623-D8EB-8D35-B4F5E1831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Services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F1C289F-EB66-BCB3-D022-0F76E1F15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68413"/>
            <a:ext cx="7029450" cy="4570412"/>
          </a:xfrm>
        </p:spPr>
        <p:txBody>
          <a:bodyPr/>
          <a:lstStyle/>
          <a:p>
            <a:r>
              <a:rPr lang="en-US" altLang="en-US"/>
              <a:t>One set of operating-system services provides functions that are helpful to the user:</a:t>
            </a:r>
          </a:p>
          <a:p>
            <a:pPr lvl="1"/>
            <a:r>
              <a:rPr lang="en-US" altLang="en-US"/>
              <a:t>User interface - Almost all operating systems have a user interface (UI)</a:t>
            </a:r>
          </a:p>
          <a:p>
            <a:pPr lvl="2"/>
            <a:r>
              <a:rPr lang="en-US" altLang="en-US"/>
              <a:t>Varies between </a:t>
            </a:r>
            <a:r>
              <a:rPr lang="en-US" altLang="en-US" b="1">
                <a:solidFill>
                  <a:srgbClr val="3366FF"/>
                </a:solidFill>
              </a:rPr>
              <a:t>Command-Line (CLI)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Graphics User Interface (GUI)</a:t>
            </a:r>
            <a:r>
              <a:rPr lang="en-US" altLang="en-US"/>
              <a:t>,</a:t>
            </a:r>
            <a:r>
              <a:rPr lang="en-US" altLang="en-US" b="1">
                <a:solidFill>
                  <a:srgbClr val="3366FF"/>
                </a:solidFill>
              </a:rPr>
              <a:t> Batch</a:t>
            </a:r>
          </a:p>
          <a:p>
            <a:r>
              <a:rPr lang="en-US" altLang="en-US"/>
              <a:t>User-friendly </a:t>
            </a:r>
            <a:r>
              <a:rPr lang="en-US" altLang="en-US" b="1">
                <a:solidFill>
                  <a:srgbClr val="3366FF"/>
                </a:solidFill>
              </a:rPr>
              <a:t>desktop</a:t>
            </a:r>
            <a:r>
              <a:rPr lang="en-US" altLang="en-US"/>
              <a:t> metaphor interface</a:t>
            </a:r>
          </a:p>
          <a:p>
            <a:pPr lvl="1"/>
            <a:r>
              <a:rPr lang="en-US" altLang="en-US"/>
              <a:t>Usually mouse, keyboard, and monitor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Icons</a:t>
            </a:r>
            <a:r>
              <a:rPr lang="en-US" altLang="en-US" b="1"/>
              <a:t> </a:t>
            </a:r>
            <a:r>
              <a:rPr lang="en-US" altLang="en-US"/>
              <a:t>represent files, programs, actions, etc</a:t>
            </a:r>
          </a:p>
          <a:p>
            <a:pPr lvl="1"/>
            <a:r>
              <a:rPr lang="en-US" altLang="en-US"/>
              <a:t>Various mouse buttons over objects in the interface cause various actions (provide information, options, execute function, open directory (known as a </a:t>
            </a:r>
            <a:r>
              <a:rPr lang="en-US" altLang="en-US" b="1">
                <a:solidFill>
                  <a:srgbClr val="3366FF"/>
                </a:solidFill>
              </a:rPr>
              <a:t>folder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Invented at Xerox PARC</a:t>
            </a:r>
          </a:p>
          <a:p>
            <a:pPr lvl="1"/>
            <a:endParaRPr lang="en-US" altLang="en-US" sz="800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11942FBB-06D2-7FC2-88F6-5749853A7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2D256D4D-3E36-8FB4-CF7D-6DD6FAC3DB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E322192-EE0B-BD21-2AE7-891BB05C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Services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B3346CA-A2FC-EF9D-B3E2-3649C9DC3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68413"/>
            <a:ext cx="7029450" cy="4570412"/>
          </a:xfrm>
        </p:spPr>
        <p:txBody>
          <a:bodyPr/>
          <a:lstStyle/>
          <a:p>
            <a:pPr lvl="1"/>
            <a:endParaRPr lang="en-US" altLang="en-US" sz="800"/>
          </a:p>
          <a:p>
            <a:r>
              <a:rPr lang="en-US" altLang="en-US"/>
              <a:t>Many systems now include both CLI and GUI interfaces</a:t>
            </a:r>
          </a:p>
          <a:p>
            <a:pPr lvl="1"/>
            <a:r>
              <a:rPr lang="en-US" altLang="en-US"/>
              <a:t>Microsoft Windows is GUI with CLI “command” shell</a:t>
            </a:r>
          </a:p>
          <a:p>
            <a:pPr lvl="1"/>
            <a:r>
              <a:rPr lang="en-US" altLang="en-US"/>
              <a:t>Apple Mac OS X as “Aqua” GUI interface with UNIX kernel underneath and shells available</a:t>
            </a:r>
          </a:p>
          <a:p>
            <a:pPr lvl="1"/>
            <a:r>
              <a:rPr lang="en-US" altLang="en-US"/>
              <a:t>Solaris is CLI with optional GUI interfaces (Java Desktop, KDE)</a:t>
            </a:r>
            <a:endParaRPr lang="en-US" altLang="en-US" b="1">
              <a:solidFill>
                <a:srgbClr val="3366FF"/>
              </a:solidFill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9A3BB63B-1001-3F56-8D79-FA93897AF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4E38ED2B-8951-6608-CA60-FEF913B56C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41529FF-EB91-C63B-6243-4795061B9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Services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2D88D57-DD59-AA1D-C438-BE282B862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68413"/>
            <a:ext cx="7029450" cy="4570412"/>
          </a:xfrm>
        </p:spPr>
        <p:txBody>
          <a:bodyPr/>
          <a:lstStyle/>
          <a:p>
            <a:r>
              <a:rPr lang="en-US" altLang="en-US"/>
              <a:t>Program execution – system capability to load a program into memory and to run it.</a:t>
            </a:r>
          </a:p>
          <a:p>
            <a:r>
              <a:rPr lang="en-US" altLang="en-US"/>
              <a:t>I/O operations –  since user programs cannot execute I/O operations directly, the operating system must provide some means to perform I/O.</a:t>
            </a:r>
          </a:p>
          <a:p>
            <a:r>
              <a:rPr lang="en-US" altLang="en-US"/>
              <a:t>File-system manipulation – program capability to read, write, create, and delete files.</a:t>
            </a: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16D1B12B-B7E9-4B13-26FB-35556F0F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834CD92A-216F-5B5F-953B-68474AEF9C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BA87D2C-1A80-45BA-66D0-E1D298538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Services (contd..)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FF66F72-AA57-0020-04D6-BBE64382A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68413"/>
            <a:ext cx="7029450" cy="4570412"/>
          </a:xfrm>
        </p:spPr>
        <p:txBody>
          <a:bodyPr/>
          <a:lstStyle/>
          <a:p>
            <a:pPr algn="just"/>
            <a:r>
              <a:rPr lang="en-US" altLang="en-US"/>
              <a:t>One set of operating-system services provides functions that are helpful to the user (cont.):</a:t>
            </a:r>
          </a:p>
          <a:p>
            <a:pPr lvl="1" algn="just"/>
            <a:r>
              <a:rPr lang="en-US" altLang="en-US"/>
              <a:t>Communications – Processes may exchange information, on the same computer or between computers over a network</a:t>
            </a:r>
          </a:p>
          <a:p>
            <a:pPr lvl="2" algn="just"/>
            <a:r>
              <a:rPr lang="en-US" altLang="en-US"/>
              <a:t>Communications may be via shared memory or through message passing (packets moved by the OS)</a:t>
            </a:r>
          </a:p>
          <a:p>
            <a:pPr lvl="1" algn="just"/>
            <a:r>
              <a:rPr lang="en-US" altLang="en-US"/>
              <a:t>Error detection – OS needs to be constantly aware of possible errors</a:t>
            </a:r>
          </a:p>
          <a:p>
            <a:pPr lvl="2" algn="just"/>
            <a:r>
              <a:rPr lang="en-US" altLang="en-US"/>
              <a:t>May occur in the CPU and memory hardware, in I/O devices, in user program</a:t>
            </a:r>
          </a:p>
          <a:p>
            <a:pPr lvl="2" algn="just"/>
            <a:r>
              <a:rPr lang="en-US" altLang="en-US"/>
              <a:t>For each type of error, OS should take the appropriate action to ensure correct and consistent computing</a:t>
            </a:r>
          </a:p>
          <a:p>
            <a:pPr lvl="2" algn="just"/>
            <a:r>
              <a:rPr lang="en-US" altLang="en-US"/>
              <a:t>Debugging facilities can greatly enhance the user’s and programmer’s abilities to efficiently use the system</a:t>
            </a:r>
          </a:p>
          <a:p>
            <a:pPr algn="just"/>
            <a:endParaRPr lang="en-US" altLang="en-US"/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C7C20E7A-CB8A-7E32-62E6-1B99DF2FA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E1E6F2E9-2529-9891-A157-8F3B1A950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3ABC258-C5AE-5EF6-BEB4-BEB602599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Additional Operating System Functions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F53F070-4EB8-0308-9D5B-A927A9C2D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351837" cy="496887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Another set of 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b="1" dirty="0"/>
              <a:t>Resource allocation - </a:t>
            </a:r>
            <a:r>
              <a:rPr lang="en-US" sz="2400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dirty="0"/>
              <a:t>Many types of resources -  Some (such as CPU cycles, main memory, and file storage) may have special allocation code, others (such as I/O devices) may have general request and release code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b="1" dirty="0"/>
              <a:t>Accounting -</a:t>
            </a:r>
            <a:r>
              <a:rPr lang="en-US" sz="2400" dirty="0"/>
              <a:t> To keep track of which users use how much and what kinds of computer resources</a:t>
            </a:r>
          </a:p>
          <a:p>
            <a:pPr>
              <a:lnSpc>
                <a:spcPct val="90000"/>
              </a:lnSpc>
              <a:defRPr/>
            </a:pPr>
            <a:endParaRPr lang="en-US" sz="2400" dirty="0"/>
          </a:p>
          <a:p>
            <a:pPr marL="0" indent="0">
              <a:defRPr/>
            </a:pPr>
            <a:endParaRPr lang="en-US" sz="2800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DD3AB413-9DE3-8E0D-D825-06682776A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C524B7DB-0592-DD86-DE87-29EF797F02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10E37D9-85C3-99C6-BD4D-2EBC6223D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/>
              <a:t>Additional Operating System Functions (contd..)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9D636-FAB7-04A7-D4CB-2099C9AD7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351837" cy="4968875"/>
          </a:xfrm>
        </p:spPr>
        <p:txBody>
          <a:bodyPr/>
          <a:lstStyle/>
          <a:p>
            <a:pPr lvl="1" algn="just">
              <a:lnSpc>
                <a:spcPct val="90000"/>
              </a:lnSpc>
              <a:defRPr/>
            </a:pPr>
            <a:r>
              <a:rPr lang="en-US" sz="2400" b="1" dirty="0"/>
              <a:t>Protection and security - </a:t>
            </a:r>
            <a:r>
              <a:rPr lang="en-US" sz="24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 algn="just">
              <a:lnSpc>
                <a:spcPct val="90000"/>
              </a:lnSpc>
              <a:defRPr/>
            </a:pPr>
            <a:r>
              <a:rPr lang="en-US" sz="2400" b="1" dirty="0"/>
              <a:t>Protection</a:t>
            </a:r>
            <a:r>
              <a:rPr lang="en-US" sz="2400" dirty="0"/>
              <a:t> involves ensuring that all access to system resources is controlled</a:t>
            </a:r>
          </a:p>
          <a:p>
            <a:pPr lvl="2" algn="just">
              <a:lnSpc>
                <a:spcPct val="90000"/>
              </a:lnSpc>
              <a:defRPr/>
            </a:pPr>
            <a:r>
              <a:rPr lang="en-US" sz="2400" b="1" dirty="0"/>
              <a:t>Security</a:t>
            </a:r>
            <a:r>
              <a:rPr lang="en-US" sz="2400" dirty="0"/>
              <a:t> of the system from outsiders requires user authentication, extends to defending external I/O devices from invalid access attempts</a:t>
            </a:r>
          </a:p>
          <a:p>
            <a:pPr lvl="2" algn="just">
              <a:lnSpc>
                <a:spcPct val="90000"/>
              </a:lnSpc>
              <a:defRPr/>
            </a:pPr>
            <a:r>
              <a:rPr lang="en-US" sz="2400" dirty="0"/>
              <a:t>If a system is to be protected and secure, precautions must be instituted throughout it. A chain is only as strong as its weakest link.</a:t>
            </a:r>
          </a:p>
          <a:p>
            <a:pPr algn="just">
              <a:lnSpc>
                <a:spcPct val="90000"/>
              </a:lnSpc>
              <a:defRPr/>
            </a:pPr>
            <a:endParaRPr lang="en-US" sz="2400" dirty="0"/>
          </a:p>
          <a:p>
            <a:pPr marL="0" indent="0" algn="just">
              <a:defRPr/>
            </a:pPr>
            <a:endParaRPr lang="en-US" sz="2800" dirty="0"/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C80467A8-2967-CBE9-4902-0B5293544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B389EFE0-425F-32AE-2F8A-38A01BB31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C67EE71-EC18-B0A8-A15C-45DAD4891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Calls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88C04429-08E6-9A6D-235B-4C5FCDCFB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5" name="Text Placeholder 9">
            <a:extLst>
              <a:ext uri="{FF2B5EF4-FFF2-40B4-BE49-F238E27FC236}">
                <a16:creationId xmlns:a16="http://schemas.microsoft.com/office/drawing/2014/main" id="{FD9E7DA2-60D4-8F96-300D-8BA54627E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 anchor="ctr"/>
          <a:lstStyle/>
          <a:p>
            <a:r>
              <a:rPr lang="en-US" altLang="en-US"/>
              <a:t>Programming interface to the services provided by the OS</a:t>
            </a:r>
          </a:p>
          <a:p>
            <a:endParaRPr lang="en-US" altLang="en-US" sz="800"/>
          </a:p>
          <a:p>
            <a:r>
              <a:rPr lang="en-US" altLang="en-US"/>
              <a:t>Typically written in a high-level language (C or C++)</a:t>
            </a:r>
          </a:p>
          <a:p>
            <a:endParaRPr lang="en-US" altLang="en-US" sz="800"/>
          </a:p>
          <a:p>
            <a:r>
              <a:rPr lang="en-US" altLang="en-US"/>
              <a:t>Mostly accessed by programs via a high-level </a:t>
            </a:r>
            <a:r>
              <a:rPr lang="en-US" altLang="en-US" b="1">
                <a:solidFill>
                  <a:srgbClr val="3366FF"/>
                </a:solidFill>
              </a:rPr>
              <a:t>Application Program Interface (API)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rather than direct system call use</a:t>
            </a:r>
          </a:p>
          <a:p>
            <a:endParaRPr lang="en-US" altLang="en-US" sz="800"/>
          </a:p>
          <a:p>
            <a:r>
              <a:rPr lang="en-US" altLang="en-US"/>
              <a:t>Three most common APIs are Win32 API for Windows, POSIX API for POSIX-based systems (including virtually all versions of UNIX, Linux, and Mac OS X), and Java API for the Java virtual machine (JVM)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52046D8E-617D-F23A-2208-0DDD3BAD0E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024236A-91DB-FB2F-FD71-D7F2E35D5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System Calls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A333D4F-825F-046A-1A70-95A6D84D8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85F653-7FE2-E35A-81CA-8CAA9B0A5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1724025"/>
            <a:ext cx="7029450" cy="409575"/>
          </a:xfrm>
          <a:solidFill>
            <a:schemeClr val="bg1"/>
          </a:solidFill>
          <a:ln cap="flat" algn="ctr">
            <a:round/>
            <a:headEnd type="none" w="med" len="med"/>
            <a:tailEnd type="none" w="med" len="med"/>
          </a:ln>
        </p:spPr>
        <p:txBody>
          <a:bodyPr rtlCol="0" anchor="ctr">
            <a:normAutofit fontScale="92500"/>
          </a:bodyPr>
          <a:lstStyle/>
          <a:p>
            <a:pPr>
              <a:defRPr/>
            </a:pPr>
            <a:r>
              <a:rPr lang="en-US" dirty="0"/>
              <a:t>System call sequence to copy the contents of one file to another file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21510" name="Picture 5" descr="2">
            <a:extLst>
              <a:ext uri="{FF2B5EF4-FFF2-40B4-BE49-F238E27FC236}">
                <a16:creationId xmlns:a16="http://schemas.microsoft.com/office/drawing/2014/main" id="{F0C8242B-11D6-6B46-4B73-12F690F9D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349500"/>
            <a:ext cx="5772150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21CBB751-D3BA-9B1B-E165-814478FD8A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0003508-D814-8F40-11E4-471F69AE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Call implementation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B07E0BA3-7505-4843-BB7F-CCB6A73D9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07EE9F-6EEC-A6B2-9989-32D095D78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  <a:ln cap="flat" algn="ctr">
            <a:round/>
            <a:headEnd type="none" w="med" len="med"/>
            <a:tailEnd type="none" w="med" len="med"/>
          </a:ln>
        </p:spPr>
        <p:txBody>
          <a:bodyPr rtlCol="0" anchor="ctr">
            <a:normAutofit lnSpcReduction="10000"/>
          </a:bodyPr>
          <a:lstStyle/>
          <a:p>
            <a:pPr>
              <a:defRPr/>
            </a:pPr>
            <a:r>
              <a:rPr lang="en-US" dirty="0"/>
              <a:t>Typically, a number associated with each system call</a:t>
            </a:r>
          </a:p>
          <a:p>
            <a:pPr lvl="1">
              <a:defRPr/>
            </a:pPr>
            <a:r>
              <a:rPr lang="en-US" dirty="0"/>
              <a:t>System-call interface maintains a table indexed according to these numbers</a:t>
            </a:r>
          </a:p>
          <a:p>
            <a:pPr lvl="1">
              <a:defRPr/>
            </a:pPr>
            <a:endParaRPr lang="en-US" sz="800" dirty="0"/>
          </a:p>
          <a:p>
            <a:pPr>
              <a:defRPr/>
            </a:pPr>
            <a:r>
              <a:rPr lang="en-US" dirty="0"/>
              <a:t>The system call interface invokes intended system call in OS kernel and returns status of the system call and any return values</a:t>
            </a:r>
          </a:p>
          <a:p>
            <a:pPr>
              <a:defRPr/>
            </a:pPr>
            <a:endParaRPr lang="en-US" sz="800" dirty="0"/>
          </a:p>
          <a:p>
            <a:pPr>
              <a:defRPr/>
            </a:pPr>
            <a:r>
              <a:rPr lang="en-US" dirty="0"/>
              <a:t>The caller need know nothing about how the system call is implemented</a:t>
            </a:r>
          </a:p>
          <a:p>
            <a:pPr lvl="1">
              <a:defRPr/>
            </a:pPr>
            <a:r>
              <a:rPr lang="en-US" dirty="0"/>
              <a:t>Just needs to obey API and understand what OS will do as a result call</a:t>
            </a:r>
          </a:p>
          <a:p>
            <a:pPr lvl="1">
              <a:defRPr/>
            </a:pPr>
            <a:r>
              <a:rPr lang="en-US" dirty="0"/>
              <a:t>Most details of  OS interface hidden from programmer by API  </a:t>
            </a:r>
          </a:p>
          <a:p>
            <a:pPr lvl="2">
              <a:defRPr/>
            </a:pPr>
            <a:r>
              <a:rPr lang="en-US" dirty="0"/>
              <a:t>Managed by run-time support library (set of functions built into libraries included with compiler)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38334FA7-DF44-44F6-22C6-85A2952E5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FE4C216-217F-B88D-C74C-C60E26A37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API-System call-OS relationship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159A0403-24D1-2A1E-629C-1E0047F6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FDD6BF-DB42-AF65-5316-2DBCCD615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  <a:ln cap="flat" algn="ctr">
            <a:round/>
            <a:headEnd type="none" w="med" len="med"/>
            <a:tailEnd type="none" w="med" len="med"/>
          </a:ln>
        </p:spPr>
        <p:txBody>
          <a:bodyPr rtlCol="0" anchor="ctr">
            <a:normAutofit lnSpcReduction="10000"/>
          </a:bodyPr>
          <a:lstStyle/>
          <a:p>
            <a:pPr>
              <a:defRPr/>
            </a:pPr>
            <a:r>
              <a:rPr lang="en-US" dirty="0"/>
              <a:t>Typically, a number associated with each system call</a:t>
            </a:r>
          </a:p>
          <a:p>
            <a:pPr lvl="1">
              <a:defRPr/>
            </a:pPr>
            <a:r>
              <a:rPr lang="en-US" dirty="0"/>
              <a:t>System-call interface maintains a table indexed according to these numbers</a:t>
            </a:r>
          </a:p>
          <a:p>
            <a:pPr lvl="1">
              <a:defRPr/>
            </a:pPr>
            <a:endParaRPr lang="en-US" sz="800" dirty="0"/>
          </a:p>
          <a:p>
            <a:pPr>
              <a:defRPr/>
            </a:pPr>
            <a:r>
              <a:rPr lang="en-US" dirty="0"/>
              <a:t>The system call interface invokes intended system call in OS kernel and returns status of the system call and any return values</a:t>
            </a:r>
          </a:p>
          <a:p>
            <a:pPr>
              <a:defRPr/>
            </a:pPr>
            <a:endParaRPr lang="en-US" sz="800" dirty="0"/>
          </a:p>
          <a:p>
            <a:pPr>
              <a:defRPr/>
            </a:pPr>
            <a:r>
              <a:rPr lang="en-US" dirty="0"/>
              <a:t>The caller need know nothing about how the system call is implemented</a:t>
            </a:r>
          </a:p>
          <a:p>
            <a:pPr lvl="1">
              <a:defRPr/>
            </a:pPr>
            <a:r>
              <a:rPr lang="en-US" dirty="0"/>
              <a:t>Just needs to obey API and understand what OS will do as a result call</a:t>
            </a:r>
          </a:p>
          <a:p>
            <a:pPr lvl="1">
              <a:defRPr/>
            </a:pPr>
            <a:r>
              <a:rPr lang="en-US" dirty="0"/>
              <a:t>Most details of  OS interface hidden from programmer by API  </a:t>
            </a:r>
          </a:p>
          <a:p>
            <a:pPr lvl="2">
              <a:defRPr/>
            </a:pPr>
            <a:r>
              <a:rPr lang="en-US" dirty="0"/>
              <a:t>Managed by run-time support library (set of functions built into libraries included with compiler)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23558" name="Picture 4" descr="2">
            <a:extLst>
              <a:ext uri="{FF2B5EF4-FFF2-40B4-BE49-F238E27FC236}">
                <a16:creationId xmlns:a16="http://schemas.microsoft.com/office/drawing/2014/main" id="{C3249D79-13F0-9DD2-329C-6CED8FE61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1268413"/>
            <a:ext cx="7758112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9BB4C9B9-F997-BE1D-3BE1-053403F548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65112C6-FE59-8BE6-0985-A14DAB659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C library example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016F2CCE-7CB6-9B7B-8AA2-80F184D41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4581" name="Picture 5" descr="2">
            <a:extLst>
              <a:ext uri="{FF2B5EF4-FFF2-40B4-BE49-F238E27FC236}">
                <a16:creationId xmlns:a16="http://schemas.microsoft.com/office/drawing/2014/main" id="{770844D9-E2E2-4BE0-7850-1A08EF8A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625600"/>
            <a:ext cx="4089400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Rectangle 8">
            <a:extLst>
              <a:ext uri="{FF2B5EF4-FFF2-40B4-BE49-F238E27FC236}">
                <a16:creationId xmlns:a16="http://schemas.microsoft.com/office/drawing/2014/main" id="{A14A4167-46FF-9727-9795-C4A711C3A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125538"/>
            <a:ext cx="75612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C program invoking printf() library call, which calls write() system call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FD2408F-CE80-C29D-F199-BCE5D8FE34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17550" y="201613"/>
            <a:ext cx="7969250" cy="576262"/>
          </a:xfrm>
        </p:spPr>
        <p:txBody>
          <a:bodyPr/>
          <a:lstStyle/>
          <a:p>
            <a:r>
              <a:rPr lang="en-US" altLang="en-US"/>
              <a:t>System Call Parameter Passing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1FDF65F-12B8-1586-0829-231EF95D07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Often, more information is required than simply identity of desired system call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Exact type and amount of information vary according to OS and call</a:t>
            </a:r>
          </a:p>
          <a:p>
            <a:pPr lvl="1">
              <a:lnSpc>
                <a:spcPct val="90000"/>
              </a:lnSpc>
            </a:pPr>
            <a:endParaRPr lang="en-US" altLang="en-US" sz="900"/>
          </a:p>
          <a:p>
            <a:pPr>
              <a:lnSpc>
                <a:spcPct val="90000"/>
              </a:lnSpc>
            </a:pPr>
            <a:r>
              <a:rPr lang="en-US" altLang="en-US"/>
              <a:t>Three general methods used to pass parameters to the OS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Simplest:  pass the parameters in </a:t>
            </a:r>
            <a:r>
              <a:rPr lang="en-US" altLang="en-US" i="1"/>
              <a:t>registers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In some cases, may be more parameters than registers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Parameters stored in a </a:t>
            </a:r>
            <a:r>
              <a:rPr lang="en-US" altLang="en-US" i="1"/>
              <a:t>block, </a:t>
            </a:r>
            <a:r>
              <a:rPr lang="en-US" altLang="en-US"/>
              <a:t>or table,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This approach taken by Linux and Solaris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Parameters placed, or </a:t>
            </a:r>
            <a:r>
              <a:rPr lang="en-US" altLang="en-US" i="1"/>
              <a:t>pushed, </a:t>
            </a:r>
            <a:r>
              <a:rPr lang="en-US" altLang="en-US"/>
              <a:t>onto the </a:t>
            </a:r>
            <a:r>
              <a:rPr lang="en-US" altLang="en-US" i="1"/>
              <a:t>stack </a:t>
            </a:r>
            <a:r>
              <a:rPr lang="en-US" altLang="en-US"/>
              <a:t>by the program and </a:t>
            </a:r>
            <a:r>
              <a:rPr lang="en-US" altLang="en-US" i="1"/>
              <a:t>popped </a:t>
            </a:r>
            <a:r>
              <a:rPr lang="en-US" altLang="en-US"/>
              <a:t>off the stack by the 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Block and stack methods do not limit the number or length of parameters being passed</a:t>
            </a:r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2">
            <a:extLst>
              <a:ext uri="{FF2B5EF4-FFF2-40B4-BE49-F238E27FC236}">
                <a16:creationId xmlns:a16="http://schemas.microsoft.com/office/drawing/2014/main" id="{9D11BC02-18F6-C748-E1A6-33D32ED15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46DA607-7184-53FC-6AE3-9CC9DA026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MS-DOS Execution</a:t>
            </a:r>
          </a:p>
        </p:txBody>
      </p:sp>
      <p:pic>
        <p:nvPicPr>
          <p:cNvPr id="26628" name="Picture 4" descr="J:\aos-dir\mt-dir\aw-figures\ch3\fig03.03.eps">
            <a:extLst>
              <a:ext uri="{FF2B5EF4-FFF2-40B4-BE49-F238E27FC236}">
                <a16:creationId xmlns:a16="http://schemas.microsoft.com/office/drawing/2014/main" id="{71EC74F6-E179-BD72-288C-1FBB25F30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525" y="2273300"/>
            <a:ext cx="3548063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5">
            <a:extLst>
              <a:ext uri="{FF2B5EF4-FFF2-40B4-BE49-F238E27FC236}">
                <a16:creationId xmlns:a16="http://schemas.microsoft.com/office/drawing/2014/main" id="{D9E3A676-1971-8AD4-388F-2E3CCA243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1804988"/>
            <a:ext cx="14636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At System Start-up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F2812B4C-B728-E0A4-2B70-D89D89821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773238"/>
            <a:ext cx="15001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Running a Program</a:t>
            </a: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2E0D3CA9-DFDC-390E-1650-283F37252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>
            <a:extLst>
              <a:ext uri="{FF2B5EF4-FFF2-40B4-BE49-F238E27FC236}">
                <a16:creationId xmlns:a16="http://schemas.microsoft.com/office/drawing/2014/main" id="{EDF92543-D579-41C1-9BA1-7DC08250DF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7651" name="Rectangle 1026">
            <a:extLst>
              <a:ext uri="{FF2B5EF4-FFF2-40B4-BE49-F238E27FC236}">
                <a16:creationId xmlns:a16="http://schemas.microsoft.com/office/drawing/2014/main" id="{77153CB1-809D-F52D-87FF-EE2768057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Communication Models</a:t>
            </a:r>
          </a:p>
        </p:txBody>
      </p:sp>
      <p:pic>
        <p:nvPicPr>
          <p:cNvPr id="27652" name="Picture 1028" descr="J:\aos-dir\mt-dir\aw-figures\ch3\fig03.05.eps">
            <a:extLst>
              <a:ext uri="{FF2B5EF4-FFF2-40B4-BE49-F238E27FC236}">
                <a16:creationId xmlns:a16="http://schemas.microsoft.com/office/drawing/2014/main" id="{D110CAA7-D9CC-51B5-3053-DB59B9A29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159000"/>
            <a:ext cx="388620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 Box 1029">
            <a:extLst>
              <a:ext uri="{FF2B5EF4-FFF2-40B4-BE49-F238E27FC236}">
                <a16:creationId xmlns:a16="http://schemas.microsoft.com/office/drawing/2014/main" id="{5480CDA2-DAD8-8F63-6F90-3F629DCDF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1600200"/>
            <a:ext cx="149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Msg Passing</a:t>
            </a:r>
          </a:p>
        </p:txBody>
      </p:sp>
      <p:sp>
        <p:nvSpPr>
          <p:cNvPr id="27654" name="Text Box 1030">
            <a:extLst>
              <a:ext uri="{FF2B5EF4-FFF2-40B4-BE49-F238E27FC236}">
                <a16:creationId xmlns:a16="http://schemas.microsoft.com/office/drawing/2014/main" id="{82EB6FC2-4A65-9AD8-F400-73834CBCF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1600200"/>
            <a:ext cx="180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Shared Memory</a:t>
            </a: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79424C3B-830B-970C-1383-08131597A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8399B53-26CD-D9E0-9F07-F04A8F4697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2013" y="220663"/>
            <a:ext cx="8229600" cy="576262"/>
          </a:xfrm>
        </p:spPr>
        <p:txBody>
          <a:bodyPr/>
          <a:lstStyle/>
          <a:p>
            <a:r>
              <a:rPr lang="en-US" altLang="en-US"/>
              <a:t>FreeBSD Running Multiple Programs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1B4BE869-1DB6-FBAF-079D-9E9D992F4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1" t="500" r="31691" b="500"/>
          <a:stretch>
            <a:fillRect/>
          </a:stretch>
        </p:blipFill>
        <p:spPr bwMode="auto">
          <a:xfrm>
            <a:off x="3533775" y="1468438"/>
            <a:ext cx="2305050" cy="4676775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6" name="Rectangle 6">
            <a:extLst>
              <a:ext uri="{FF2B5EF4-FFF2-40B4-BE49-F238E27FC236}">
                <a16:creationId xmlns:a16="http://schemas.microsoft.com/office/drawing/2014/main" id="{6C0DA344-60C6-BEBB-31E3-F3C85A37E12D}"/>
              </a:ext>
            </a:extLst>
          </p:cNvPr>
          <p:cNvSpPr>
            <a:spLocks noChangeArrowheads="1"/>
          </p:cNvSpPr>
          <p:nvPr/>
        </p:nvSpPr>
        <p:spPr bwMode="auto">
          <a:xfrm rot="-900000"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>
            <a:extLst>
              <a:ext uri="{FF2B5EF4-FFF2-40B4-BE49-F238E27FC236}">
                <a16:creationId xmlns:a16="http://schemas.microsoft.com/office/drawing/2014/main" id="{AB2E9472-63D1-151F-ED92-920F3233C5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7CE255B-B1D3-CF18-207F-4A798A620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of Parameters As A Table</a:t>
            </a:r>
          </a:p>
        </p:txBody>
      </p:sp>
      <p:pic>
        <p:nvPicPr>
          <p:cNvPr id="29700" name="Picture 4" descr="J:\aos-dir\mt-dir\aw-figures\ch3\fig03.01.eps">
            <a:extLst>
              <a:ext uri="{FF2B5EF4-FFF2-40B4-BE49-F238E27FC236}">
                <a16:creationId xmlns:a16="http://schemas.microsoft.com/office/drawing/2014/main" id="{71667B9A-FC5A-2FE5-FC93-51A3E5B16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060575"/>
            <a:ext cx="5400675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4">
            <a:extLst>
              <a:ext uri="{FF2B5EF4-FFF2-40B4-BE49-F238E27FC236}">
                <a16:creationId xmlns:a16="http://schemas.microsoft.com/office/drawing/2014/main" id="{99384A4D-ED0B-4BD6-8724-772805F1D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9702" name="Picture 6" descr="2">
            <a:extLst>
              <a:ext uri="{FF2B5EF4-FFF2-40B4-BE49-F238E27FC236}">
                <a16:creationId xmlns:a16="http://schemas.microsoft.com/office/drawing/2014/main" id="{E31F4190-C81B-DDD8-5C3B-99292C230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479550"/>
            <a:ext cx="76898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654C4CA-6842-E71B-F8F0-99D4CB46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system calls</a:t>
            </a:r>
          </a:p>
        </p:txBody>
      </p:sp>
      <p:sp>
        <p:nvSpPr>
          <p:cNvPr id="30723" name="Footer Placeholder 2">
            <a:extLst>
              <a:ext uri="{FF2B5EF4-FFF2-40B4-BE49-F238E27FC236}">
                <a16:creationId xmlns:a16="http://schemas.microsoft.com/office/drawing/2014/main" id="{B4F50CDF-8593-102A-CCF6-E1B80734FD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18A7250-36FD-39E1-EF69-7712B51C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341438"/>
            <a:ext cx="7489825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altLang="en-US"/>
              <a:t>Process control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end, abort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 load, execute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create process, terminate process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get process attributes, set process attributes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wait for time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wait event, signal event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allocate and free memory</a:t>
            </a:r>
          </a:p>
          <a:p>
            <a:pPr algn="l"/>
            <a:r>
              <a:rPr lang="en-US" altLang="en-US"/>
              <a:t>• File manipulation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 </a:t>
            </a:r>
            <a:r>
              <a:rPr lang="it-IT" altLang="en-US"/>
              <a:t>create file, delete file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it-IT" altLang="en-US"/>
              <a:t> </a:t>
            </a:r>
            <a:r>
              <a:rPr lang="en-US" altLang="en-US"/>
              <a:t>open, close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read, write, reposition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get file attributes, set file attributes</a:t>
            </a:r>
          </a:p>
          <a:p>
            <a:pPr algn="l"/>
            <a:r>
              <a:rPr lang="en-US" altLang="en-US"/>
              <a:t>• Device manipulation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 request device, release device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 read, write, reposition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get device attributes, set device attributes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/>
              <a:t>logically attach or detach devices</a:t>
            </a: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20545D50-BC85-1DCD-84C5-2E676C207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F31A78A-97FA-A074-E01F-745A9830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system calls</a:t>
            </a:r>
          </a:p>
        </p:txBody>
      </p:sp>
      <p:sp>
        <p:nvSpPr>
          <p:cNvPr id="31747" name="Footer Placeholder 2">
            <a:extLst>
              <a:ext uri="{FF2B5EF4-FFF2-40B4-BE49-F238E27FC236}">
                <a16:creationId xmlns:a16="http://schemas.microsoft.com/office/drawing/2014/main" id="{3CCD354F-796C-B522-00EC-4BDDF382BD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/>
              <a:t>Operating System Concepts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71C4A0E-171A-7B14-FE9C-A51D9519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341438"/>
            <a:ext cx="74898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l"/>
            <a:r>
              <a:rPr lang="en-US" altLang="en-US" sz="2000"/>
              <a:t>• Information maintenance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	get time or date, set time or date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	get system data, set system data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	get process, file, or device attributes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	set process, file, or device attributes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2000"/>
              <a:t>Communications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create, delete communication connection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send, receive messages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transfer status information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000"/>
              <a:t>attach or detach remote devices</a:t>
            </a: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4F9E726B-83E2-A10F-EAEE-72137B8A2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597650"/>
            <a:ext cx="1871662" cy="260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2D605607-BAF8-9FE4-9083-E6401D3C65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8988" y="211138"/>
            <a:ext cx="8388350" cy="576262"/>
          </a:xfrm>
        </p:spPr>
        <p:txBody>
          <a:bodyPr/>
          <a:lstStyle/>
          <a:p>
            <a:r>
              <a:rPr lang="en-US" altLang="en-US"/>
              <a:t>Examples of Windows and Unix System Calls</a:t>
            </a:r>
          </a:p>
        </p:txBody>
      </p:sp>
      <p:pic>
        <p:nvPicPr>
          <p:cNvPr id="32771" name="Picture 6" descr="OS8-p61">
            <a:extLst>
              <a:ext uri="{FF2B5EF4-FFF2-40B4-BE49-F238E27FC236}">
                <a16:creationId xmlns:a16="http://schemas.microsoft.com/office/drawing/2014/main" id="{4F6E9828-0B4F-53A9-4C37-3115DCC50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203325"/>
            <a:ext cx="5395912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vi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2301</TotalTime>
  <Words>1819</Words>
  <Application>Microsoft Office PowerPoint</Application>
  <PresentationFormat>On-screen Show (4:3)</PresentationFormat>
  <Paragraphs>231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Helvetica</vt:lpstr>
      <vt:lpstr>Arial</vt:lpstr>
      <vt:lpstr>Monotype Sorts</vt:lpstr>
      <vt:lpstr>Times New Roman</vt:lpstr>
      <vt:lpstr>Symbol</vt:lpstr>
      <vt:lpstr>ＭＳ Ｐゴシック</vt:lpstr>
      <vt:lpstr>avi</vt:lpstr>
      <vt:lpstr>Operating-System Structures</vt:lpstr>
      <vt:lpstr>Common System Components</vt:lpstr>
      <vt:lpstr>Process Management</vt:lpstr>
      <vt:lpstr>Main-Memory Management</vt:lpstr>
      <vt:lpstr>Secondary-Storage Management</vt:lpstr>
      <vt:lpstr>I/O System Management</vt:lpstr>
      <vt:lpstr>File Management</vt:lpstr>
      <vt:lpstr>Protection System</vt:lpstr>
      <vt:lpstr>Networking (Distributed Systems)</vt:lpstr>
      <vt:lpstr>Command-Interpreter System</vt:lpstr>
      <vt:lpstr>Command-Interpreter System (Cont.)</vt:lpstr>
      <vt:lpstr>A view of OS services</vt:lpstr>
      <vt:lpstr>Operating System Services</vt:lpstr>
      <vt:lpstr>Operating System Services</vt:lpstr>
      <vt:lpstr>Operating System Services</vt:lpstr>
      <vt:lpstr>Operating System Services (contd..)</vt:lpstr>
      <vt:lpstr>Additional Operating System Functions</vt:lpstr>
      <vt:lpstr>Additional Operating System Functions (contd..)</vt:lpstr>
      <vt:lpstr>System Calls</vt:lpstr>
      <vt:lpstr>Example of System Calls</vt:lpstr>
      <vt:lpstr>System Call implementation</vt:lpstr>
      <vt:lpstr>API-System call-OS relationship</vt:lpstr>
      <vt:lpstr>Standard C library example</vt:lpstr>
      <vt:lpstr>System Call Parameter Passing</vt:lpstr>
      <vt:lpstr>MS-DOS Execution</vt:lpstr>
      <vt:lpstr>Communication Models</vt:lpstr>
      <vt:lpstr>FreeBSD Running Multiple Programs</vt:lpstr>
      <vt:lpstr>Passing of Parameters As A Table</vt:lpstr>
      <vt:lpstr>Types of system calls</vt:lpstr>
      <vt:lpstr>Types of system calls</vt:lpstr>
      <vt:lpstr>Examples of Windows and Unix System Calls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 Operating-System Structures</dc:title>
  <dc:creator>Marilyn Turnamian</dc:creator>
  <cp:lastModifiedBy>S Bhavani</cp:lastModifiedBy>
  <cp:revision>54</cp:revision>
  <cp:lastPrinted>1999-07-20T18:42:43Z</cp:lastPrinted>
  <dcterms:created xsi:type="dcterms:W3CDTF">1999-06-30T20:09:32Z</dcterms:created>
  <dcterms:modified xsi:type="dcterms:W3CDTF">2026-04-07T06:33:02Z</dcterms:modified>
</cp:coreProperties>
</file>