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5" r:id="rId2"/>
    <p:sldId id="306" r:id="rId3"/>
    <p:sldId id="307" r:id="rId4"/>
    <p:sldId id="309" r:id="rId5"/>
    <p:sldId id="280" r:id="rId6"/>
    <p:sldId id="281" r:id="rId7"/>
    <p:sldId id="310" r:id="rId8"/>
    <p:sldId id="286" r:id="rId9"/>
    <p:sldId id="287" r:id="rId10"/>
    <p:sldId id="288" r:id="rId11"/>
    <p:sldId id="289" r:id="rId12"/>
    <p:sldId id="290" r:id="rId13"/>
    <p:sldId id="291" r:id="rId14"/>
    <p:sldId id="295" r:id="rId15"/>
    <p:sldId id="292" r:id="rId16"/>
    <p:sldId id="293" r:id="rId17"/>
    <p:sldId id="296" r:id="rId18"/>
    <p:sldId id="294" r:id="rId19"/>
    <p:sldId id="297" r:id="rId20"/>
    <p:sldId id="298" r:id="rId21"/>
    <p:sldId id="299" r:id="rId22"/>
    <p:sldId id="313" r:id="rId2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60"/>
  </p:normalViewPr>
  <p:slideViewPr>
    <p:cSldViewPr>
      <p:cViewPr varScale="1">
        <p:scale>
          <a:sx n="77" d="100"/>
          <a:sy n="77" d="100"/>
        </p:scale>
        <p:origin x="161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F3AD4C57-185B-F12E-463A-129A3011C94F}"/>
              </a:ext>
            </a:extLst>
          </p:cNvPr>
          <p:cNvSpPr>
            <a:spLocks noGrp="1"/>
          </p:cNvSpPr>
          <p:nvPr>
            <p:ph type="dt" sz="half" idx="10"/>
          </p:nvPr>
        </p:nvSpPr>
        <p:spPr/>
        <p:txBody>
          <a:bodyPr/>
          <a:lstStyle>
            <a:lvl1pPr>
              <a:defRPr/>
            </a:lvl1pPr>
          </a:lstStyle>
          <a:p>
            <a:pPr>
              <a:defRPr/>
            </a:pPr>
            <a:fld id="{681D9A7C-2F19-4FFD-88A7-41C489CDF33D}" type="datetimeFigureOut">
              <a:rPr lang="en-US"/>
              <a:pPr>
                <a:defRPr/>
              </a:pPr>
              <a:t>4/7/2026</a:t>
            </a:fld>
            <a:endParaRPr lang="en-US"/>
          </a:p>
        </p:txBody>
      </p:sp>
      <p:sp>
        <p:nvSpPr>
          <p:cNvPr id="5" name="Footer Placeholder 4">
            <a:extLst>
              <a:ext uri="{FF2B5EF4-FFF2-40B4-BE49-F238E27FC236}">
                <a16:creationId xmlns:a16="http://schemas.microsoft.com/office/drawing/2014/main" id="{3E8AB620-DACF-E1F6-6B9F-D36C4B9A686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6626D35-5E0B-4AAD-ABDA-902D8CE9A6B5}"/>
              </a:ext>
            </a:extLst>
          </p:cNvPr>
          <p:cNvSpPr>
            <a:spLocks noGrp="1"/>
          </p:cNvSpPr>
          <p:nvPr>
            <p:ph type="sldNum" sz="quarter" idx="12"/>
          </p:nvPr>
        </p:nvSpPr>
        <p:spPr/>
        <p:txBody>
          <a:bodyPr/>
          <a:lstStyle>
            <a:lvl1pPr>
              <a:defRPr/>
            </a:lvl1pPr>
          </a:lstStyle>
          <a:p>
            <a:fld id="{7FD17C14-7FA1-487A-BE07-49BE957B3449}" type="slidenum">
              <a:rPr lang="en-US" altLang="en-US"/>
              <a:pPr/>
              <a:t>‹#›</a:t>
            </a:fld>
            <a:endParaRPr lang="en-US" altLang="en-US"/>
          </a:p>
        </p:txBody>
      </p:sp>
    </p:spTree>
    <p:extLst>
      <p:ext uri="{BB962C8B-B14F-4D97-AF65-F5344CB8AC3E}">
        <p14:creationId xmlns:p14="http://schemas.microsoft.com/office/powerpoint/2010/main" val="1225997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16E6A4-ECAB-1BB4-14BC-034004EE2719}"/>
              </a:ext>
            </a:extLst>
          </p:cNvPr>
          <p:cNvSpPr>
            <a:spLocks noGrp="1"/>
          </p:cNvSpPr>
          <p:nvPr>
            <p:ph type="dt" sz="half" idx="10"/>
          </p:nvPr>
        </p:nvSpPr>
        <p:spPr/>
        <p:txBody>
          <a:bodyPr/>
          <a:lstStyle>
            <a:lvl1pPr>
              <a:defRPr/>
            </a:lvl1pPr>
          </a:lstStyle>
          <a:p>
            <a:pPr>
              <a:defRPr/>
            </a:pPr>
            <a:fld id="{17AA57E2-8793-4602-BDA1-AB13DE81E4B4}" type="datetimeFigureOut">
              <a:rPr lang="en-US"/>
              <a:pPr>
                <a:defRPr/>
              </a:pPr>
              <a:t>4/7/2026</a:t>
            </a:fld>
            <a:endParaRPr lang="en-US"/>
          </a:p>
        </p:txBody>
      </p:sp>
      <p:sp>
        <p:nvSpPr>
          <p:cNvPr id="5" name="Footer Placeholder 4">
            <a:extLst>
              <a:ext uri="{FF2B5EF4-FFF2-40B4-BE49-F238E27FC236}">
                <a16:creationId xmlns:a16="http://schemas.microsoft.com/office/drawing/2014/main" id="{7DC93A04-5B9D-9C95-41A3-F0EACED37B7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80C0374-9FC0-5208-64F6-BEC61B2536FE}"/>
              </a:ext>
            </a:extLst>
          </p:cNvPr>
          <p:cNvSpPr>
            <a:spLocks noGrp="1"/>
          </p:cNvSpPr>
          <p:nvPr>
            <p:ph type="sldNum" sz="quarter" idx="12"/>
          </p:nvPr>
        </p:nvSpPr>
        <p:spPr/>
        <p:txBody>
          <a:bodyPr/>
          <a:lstStyle>
            <a:lvl1pPr>
              <a:defRPr/>
            </a:lvl1pPr>
          </a:lstStyle>
          <a:p>
            <a:fld id="{C690B11E-BEBA-44CD-B31B-52AA87A1E356}" type="slidenum">
              <a:rPr lang="en-US" altLang="en-US"/>
              <a:pPr/>
              <a:t>‹#›</a:t>
            </a:fld>
            <a:endParaRPr lang="en-US" altLang="en-US"/>
          </a:p>
        </p:txBody>
      </p:sp>
    </p:spTree>
    <p:extLst>
      <p:ext uri="{BB962C8B-B14F-4D97-AF65-F5344CB8AC3E}">
        <p14:creationId xmlns:p14="http://schemas.microsoft.com/office/powerpoint/2010/main" val="3633450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1E5201-6F20-1E0E-7698-6B45B214ABB7}"/>
              </a:ext>
            </a:extLst>
          </p:cNvPr>
          <p:cNvSpPr>
            <a:spLocks noGrp="1"/>
          </p:cNvSpPr>
          <p:nvPr>
            <p:ph type="dt" sz="half" idx="10"/>
          </p:nvPr>
        </p:nvSpPr>
        <p:spPr/>
        <p:txBody>
          <a:bodyPr/>
          <a:lstStyle>
            <a:lvl1pPr>
              <a:defRPr/>
            </a:lvl1pPr>
          </a:lstStyle>
          <a:p>
            <a:pPr>
              <a:defRPr/>
            </a:pPr>
            <a:fld id="{F0B76BCB-E1A0-45BF-AC5C-B5CEAE354063}" type="datetimeFigureOut">
              <a:rPr lang="en-US"/>
              <a:pPr>
                <a:defRPr/>
              </a:pPr>
              <a:t>4/7/2026</a:t>
            </a:fld>
            <a:endParaRPr lang="en-US"/>
          </a:p>
        </p:txBody>
      </p:sp>
      <p:sp>
        <p:nvSpPr>
          <p:cNvPr id="5" name="Footer Placeholder 4">
            <a:extLst>
              <a:ext uri="{FF2B5EF4-FFF2-40B4-BE49-F238E27FC236}">
                <a16:creationId xmlns:a16="http://schemas.microsoft.com/office/drawing/2014/main" id="{3F719370-2C31-20DC-BE8F-A6AF49CFE93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7070FCE-C0DE-E3B8-6EE1-E3751CD337CD}"/>
              </a:ext>
            </a:extLst>
          </p:cNvPr>
          <p:cNvSpPr>
            <a:spLocks noGrp="1"/>
          </p:cNvSpPr>
          <p:nvPr>
            <p:ph type="sldNum" sz="quarter" idx="12"/>
          </p:nvPr>
        </p:nvSpPr>
        <p:spPr/>
        <p:txBody>
          <a:bodyPr/>
          <a:lstStyle>
            <a:lvl1pPr>
              <a:defRPr/>
            </a:lvl1pPr>
          </a:lstStyle>
          <a:p>
            <a:fld id="{9992DAF5-F9AF-4C40-BFFC-43A6B850E525}" type="slidenum">
              <a:rPr lang="en-US" altLang="en-US"/>
              <a:pPr/>
              <a:t>‹#›</a:t>
            </a:fld>
            <a:endParaRPr lang="en-US" altLang="en-US"/>
          </a:p>
        </p:txBody>
      </p:sp>
    </p:spTree>
    <p:extLst>
      <p:ext uri="{BB962C8B-B14F-4D97-AF65-F5344CB8AC3E}">
        <p14:creationId xmlns:p14="http://schemas.microsoft.com/office/powerpoint/2010/main" val="1429495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84E2040C-8A30-7E2A-43D8-9C3C3474A57B}"/>
              </a:ext>
            </a:extLst>
          </p:cNvPr>
          <p:cNvSpPr>
            <a:spLocks noGrp="1"/>
          </p:cNvSpPr>
          <p:nvPr>
            <p:ph type="dt" sz="half" idx="10"/>
          </p:nvPr>
        </p:nvSpPr>
        <p:spPr/>
        <p:txBody>
          <a:bodyPr/>
          <a:lstStyle>
            <a:lvl1pPr>
              <a:defRPr/>
            </a:lvl1pPr>
          </a:lstStyle>
          <a:p>
            <a:pPr>
              <a:defRPr/>
            </a:pPr>
            <a:fld id="{2DCB6C62-F751-415E-90A3-EBE8C507183A}" type="datetimeFigureOut">
              <a:rPr lang="en-US"/>
              <a:pPr>
                <a:defRPr/>
              </a:pPr>
              <a:t>4/7/2026</a:t>
            </a:fld>
            <a:endParaRPr lang="en-US"/>
          </a:p>
        </p:txBody>
      </p:sp>
      <p:sp>
        <p:nvSpPr>
          <p:cNvPr id="6" name="Footer Placeholder 4">
            <a:extLst>
              <a:ext uri="{FF2B5EF4-FFF2-40B4-BE49-F238E27FC236}">
                <a16:creationId xmlns:a16="http://schemas.microsoft.com/office/drawing/2014/main" id="{7E5E3EE2-73EE-92FC-39CD-ED0F33B8D03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368A0FB-9C4E-E0B6-4EE2-198FFA94B748}"/>
              </a:ext>
            </a:extLst>
          </p:cNvPr>
          <p:cNvSpPr>
            <a:spLocks noGrp="1"/>
          </p:cNvSpPr>
          <p:nvPr>
            <p:ph type="sldNum" sz="quarter" idx="12"/>
          </p:nvPr>
        </p:nvSpPr>
        <p:spPr/>
        <p:txBody>
          <a:bodyPr/>
          <a:lstStyle>
            <a:lvl1pPr>
              <a:defRPr/>
            </a:lvl1pPr>
          </a:lstStyle>
          <a:p>
            <a:fld id="{BB7FBEAE-588C-4499-ABD7-7BA272A3E958}" type="slidenum">
              <a:rPr lang="en-US" altLang="en-US"/>
              <a:pPr/>
              <a:t>‹#›</a:t>
            </a:fld>
            <a:endParaRPr lang="en-US" altLang="en-US"/>
          </a:p>
        </p:txBody>
      </p:sp>
    </p:spTree>
    <p:extLst>
      <p:ext uri="{BB962C8B-B14F-4D97-AF65-F5344CB8AC3E}">
        <p14:creationId xmlns:p14="http://schemas.microsoft.com/office/powerpoint/2010/main" val="1779047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D4F9B9F2-5A79-441F-DA7E-0857DFB805C3}"/>
              </a:ext>
            </a:extLst>
          </p:cNvPr>
          <p:cNvSpPr>
            <a:spLocks noGrp="1"/>
          </p:cNvSpPr>
          <p:nvPr>
            <p:ph type="dt" sz="half" idx="10"/>
          </p:nvPr>
        </p:nvSpPr>
        <p:spPr/>
        <p:txBody>
          <a:bodyPr/>
          <a:lstStyle>
            <a:lvl1pPr>
              <a:defRPr/>
            </a:lvl1pPr>
          </a:lstStyle>
          <a:p>
            <a:pPr>
              <a:defRPr/>
            </a:pPr>
            <a:fld id="{CCEA0AD7-7B07-4B9F-812A-0AAFDF6F018A}" type="datetimeFigureOut">
              <a:rPr lang="en-US"/>
              <a:pPr>
                <a:defRPr/>
              </a:pPr>
              <a:t>4/7/2026</a:t>
            </a:fld>
            <a:endParaRPr lang="en-US"/>
          </a:p>
        </p:txBody>
      </p:sp>
      <p:sp>
        <p:nvSpPr>
          <p:cNvPr id="8" name="Footer Placeholder 4">
            <a:extLst>
              <a:ext uri="{FF2B5EF4-FFF2-40B4-BE49-F238E27FC236}">
                <a16:creationId xmlns:a16="http://schemas.microsoft.com/office/drawing/2014/main" id="{B0B3CC63-D124-F88F-3CC3-75700087A57F}"/>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D4CFEF8C-48DA-5418-526E-0316B732AC70}"/>
              </a:ext>
            </a:extLst>
          </p:cNvPr>
          <p:cNvSpPr>
            <a:spLocks noGrp="1"/>
          </p:cNvSpPr>
          <p:nvPr>
            <p:ph type="sldNum" sz="quarter" idx="12"/>
          </p:nvPr>
        </p:nvSpPr>
        <p:spPr/>
        <p:txBody>
          <a:bodyPr/>
          <a:lstStyle>
            <a:lvl1pPr>
              <a:defRPr/>
            </a:lvl1pPr>
          </a:lstStyle>
          <a:p>
            <a:fld id="{7E16B618-AE39-4550-9EAF-02E23366C63C}" type="slidenum">
              <a:rPr lang="en-US" altLang="en-US"/>
              <a:pPr/>
              <a:t>‹#›</a:t>
            </a:fld>
            <a:endParaRPr lang="en-US" altLang="en-US"/>
          </a:p>
        </p:txBody>
      </p:sp>
    </p:spTree>
    <p:extLst>
      <p:ext uri="{BB962C8B-B14F-4D97-AF65-F5344CB8AC3E}">
        <p14:creationId xmlns:p14="http://schemas.microsoft.com/office/powerpoint/2010/main" val="3831931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0FC84D3E-51FA-7748-8687-168E59632696}"/>
              </a:ext>
            </a:extLst>
          </p:cNvPr>
          <p:cNvSpPr>
            <a:spLocks noGrp="1"/>
          </p:cNvSpPr>
          <p:nvPr>
            <p:ph type="dt" sz="half" idx="10"/>
          </p:nvPr>
        </p:nvSpPr>
        <p:spPr/>
        <p:txBody>
          <a:bodyPr/>
          <a:lstStyle>
            <a:lvl1pPr>
              <a:defRPr/>
            </a:lvl1pPr>
          </a:lstStyle>
          <a:p>
            <a:pPr>
              <a:defRPr/>
            </a:pPr>
            <a:fld id="{3F673EE2-6F5A-4170-9061-174FAE966B2A}" type="datetimeFigureOut">
              <a:rPr lang="en-US"/>
              <a:pPr>
                <a:defRPr/>
              </a:pPr>
              <a:t>4/7/2026</a:t>
            </a:fld>
            <a:endParaRPr lang="en-US"/>
          </a:p>
        </p:txBody>
      </p:sp>
      <p:sp>
        <p:nvSpPr>
          <p:cNvPr id="4" name="Footer Placeholder 4">
            <a:extLst>
              <a:ext uri="{FF2B5EF4-FFF2-40B4-BE49-F238E27FC236}">
                <a16:creationId xmlns:a16="http://schemas.microsoft.com/office/drawing/2014/main" id="{DC5BF662-8E2E-3E60-2555-050A6B17148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91300B83-E57B-5E5D-359E-80EA26A2A30D}"/>
              </a:ext>
            </a:extLst>
          </p:cNvPr>
          <p:cNvSpPr>
            <a:spLocks noGrp="1"/>
          </p:cNvSpPr>
          <p:nvPr>
            <p:ph type="sldNum" sz="quarter" idx="12"/>
          </p:nvPr>
        </p:nvSpPr>
        <p:spPr/>
        <p:txBody>
          <a:bodyPr/>
          <a:lstStyle>
            <a:lvl1pPr>
              <a:defRPr/>
            </a:lvl1pPr>
          </a:lstStyle>
          <a:p>
            <a:fld id="{A6E05DF0-1B25-4DFF-B957-B7D4C1AFC99D}" type="slidenum">
              <a:rPr lang="en-US" altLang="en-US"/>
              <a:pPr/>
              <a:t>‹#›</a:t>
            </a:fld>
            <a:endParaRPr lang="en-US" altLang="en-US"/>
          </a:p>
        </p:txBody>
      </p:sp>
    </p:spTree>
    <p:extLst>
      <p:ext uri="{BB962C8B-B14F-4D97-AF65-F5344CB8AC3E}">
        <p14:creationId xmlns:p14="http://schemas.microsoft.com/office/powerpoint/2010/main" val="4039693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1BB7A65-F67B-81FA-5628-866DF9F2D6BE}"/>
              </a:ext>
            </a:extLst>
          </p:cNvPr>
          <p:cNvSpPr>
            <a:spLocks noGrp="1"/>
          </p:cNvSpPr>
          <p:nvPr>
            <p:ph type="dt" sz="half" idx="10"/>
          </p:nvPr>
        </p:nvSpPr>
        <p:spPr/>
        <p:txBody>
          <a:bodyPr/>
          <a:lstStyle>
            <a:lvl1pPr>
              <a:defRPr/>
            </a:lvl1pPr>
          </a:lstStyle>
          <a:p>
            <a:pPr>
              <a:defRPr/>
            </a:pPr>
            <a:fld id="{B3397AEA-03B9-41FD-A691-96C5C23679D9}" type="datetimeFigureOut">
              <a:rPr lang="en-US"/>
              <a:pPr>
                <a:defRPr/>
              </a:pPr>
              <a:t>4/7/2026</a:t>
            </a:fld>
            <a:endParaRPr lang="en-US"/>
          </a:p>
        </p:txBody>
      </p:sp>
      <p:sp>
        <p:nvSpPr>
          <p:cNvPr id="3" name="Footer Placeholder 4">
            <a:extLst>
              <a:ext uri="{FF2B5EF4-FFF2-40B4-BE49-F238E27FC236}">
                <a16:creationId xmlns:a16="http://schemas.microsoft.com/office/drawing/2014/main" id="{22312F64-8C3F-834C-BFD4-5A2D788850B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C89ED9C-5554-0FE7-71CA-1BABC23716A3}"/>
              </a:ext>
            </a:extLst>
          </p:cNvPr>
          <p:cNvSpPr>
            <a:spLocks noGrp="1"/>
          </p:cNvSpPr>
          <p:nvPr>
            <p:ph type="sldNum" sz="quarter" idx="12"/>
          </p:nvPr>
        </p:nvSpPr>
        <p:spPr/>
        <p:txBody>
          <a:bodyPr/>
          <a:lstStyle>
            <a:lvl1pPr>
              <a:defRPr/>
            </a:lvl1pPr>
          </a:lstStyle>
          <a:p>
            <a:fld id="{9868407A-03FB-46BC-9FF7-877259797899}" type="slidenum">
              <a:rPr lang="en-US" altLang="en-US"/>
              <a:pPr/>
              <a:t>‹#›</a:t>
            </a:fld>
            <a:endParaRPr lang="en-US" altLang="en-US"/>
          </a:p>
        </p:txBody>
      </p:sp>
    </p:spTree>
    <p:extLst>
      <p:ext uri="{BB962C8B-B14F-4D97-AF65-F5344CB8AC3E}">
        <p14:creationId xmlns:p14="http://schemas.microsoft.com/office/powerpoint/2010/main" val="2419233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F0CE0672-4B24-EEE4-043E-53E42A519681}"/>
              </a:ext>
            </a:extLst>
          </p:cNvPr>
          <p:cNvSpPr>
            <a:spLocks noGrp="1"/>
          </p:cNvSpPr>
          <p:nvPr>
            <p:ph type="dt" sz="half" idx="10"/>
          </p:nvPr>
        </p:nvSpPr>
        <p:spPr/>
        <p:txBody>
          <a:bodyPr/>
          <a:lstStyle>
            <a:lvl1pPr>
              <a:defRPr/>
            </a:lvl1pPr>
          </a:lstStyle>
          <a:p>
            <a:pPr>
              <a:defRPr/>
            </a:pPr>
            <a:fld id="{B4A85E34-115A-40E0-A485-5D176D38AA54}" type="datetimeFigureOut">
              <a:rPr lang="en-US"/>
              <a:pPr>
                <a:defRPr/>
              </a:pPr>
              <a:t>4/7/2026</a:t>
            </a:fld>
            <a:endParaRPr lang="en-US"/>
          </a:p>
        </p:txBody>
      </p:sp>
      <p:sp>
        <p:nvSpPr>
          <p:cNvPr id="6" name="Footer Placeholder 4">
            <a:extLst>
              <a:ext uri="{FF2B5EF4-FFF2-40B4-BE49-F238E27FC236}">
                <a16:creationId xmlns:a16="http://schemas.microsoft.com/office/drawing/2014/main" id="{539655D8-3601-CEE5-A363-D151B1FE5D5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333FD34-8216-1B1E-3F3A-86CD34D792D3}"/>
              </a:ext>
            </a:extLst>
          </p:cNvPr>
          <p:cNvSpPr>
            <a:spLocks noGrp="1"/>
          </p:cNvSpPr>
          <p:nvPr>
            <p:ph type="sldNum" sz="quarter" idx="12"/>
          </p:nvPr>
        </p:nvSpPr>
        <p:spPr/>
        <p:txBody>
          <a:bodyPr/>
          <a:lstStyle>
            <a:lvl1pPr>
              <a:defRPr/>
            </a:lvl1pPr>
          </a:lstStyle>
          <a:p>
            <a:fld id="{8322FD07-7C79-48D0-9401-F663697AD87A}" type="slidenum">
              <a:rPr lang="en-US" altLang="en-US"/>
              <a:pPr/>
              <a:t>‹#›</a:t>
            </a:fld>
            <a:endParaRPr lang="en-US" altLang="en-US"/>
          </a:p>
        </p:txBody>
      </p:sp>
    </p:spTree>
    <p:extLst>
      <p:ext uri="{BB962C8B-B14F-4D97-AF65-F5344CB8AC3E}">
        <p14:creationId xmlns:p14="http://schemas.microsoft.com/office/powerpoint/2010/main" val="3618299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EF16AD5-4C95-07F7-B29A-7E3ED02DAC0C}"/>
              </a:ext>
            </a:extLst>
          </p:cNvPr>
          <p:cNvSpPr>
            <a:spLocks noGrp="1"/>
          </p:cNvSpPr>
          <p:nvPr>
            <p:ph type="dt" sz="half" idx="10"/>
          </p:nvPr>
        </p:nvSpPr>
        <p:spPr/>
        <p:txBody>
          <a:bodyPr/>
          <a:lstStyle>
            <a:lvl1pPr>
              <a:defRPr/>
            </a:lvl1pPr>
          </a:lstStyle>
          <a:p>
            <a:pPr>
              <a:defRPr/>
            </a:pPr>
            <a:fld id="{E9F289E6-93D1-4D04-B6DE-3026B8AC6D6B}" type="datetimeFigureOut">
              <a:rPr lang="en-US"/>
              <a:pPr>
                <a:defRPr/>
              </a:pPr>
              <a:t>4/7/2026</a:t>
            </a:fld>
            <a:endParaRPr lang="en-US"/>
          </a:p>
        </p:txBody>
      </p:sp>
      <p:sp>
        <p:nvSpPr>
          <p:cNvPr id="6" name="Footer Placeholder 4">
            <a:extLst>
              <a:ext uri="{FF2B5EF4-FFF2-40B4-BE49-F238E27FC236}">
                <a16:creationId xmlns:a16="http://schemas.microsoft.com/office/drawing/2014/main" id="{31E13C72-E3C6-BD91-0688-71F2688E55B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3B0F2DE-A208-8AD6-D0BF-7F1B829D4EA2}"/>
              </a:ext>
            </a:extLst>
          </p:cNvPr>
          <p:cNvSpPr>
            <a:spLocks noGrp="1"/>
          </p:cNvSpPr>
          <p:nvPr>
            <p:ph type="sldNum" sz="quarter" idx="12"/>
          </p:nvPr>
        </p:nvSpPr>
        <p:spPr/>
        <p:txBody>
          <a:bodyPr/>
          <a:lstStyle>
            <a:lvl1pPr>
              <a:defRPr/>
            </a:lvl1pPr>
          </a:lstStyle>
          <a:p>
            <a:fld id="{62B076BA-B5E2-4C8B-A157-059C6EF3307A}" type="slidenum">
              <a:rPr lang="en-US" altLang="en-US"/>
              <a:pPr/>
              <a:t>‹#›</a:t>
            </a:fld>
            <a:endParaRPr lang="en-US" altLang="en-US"/>
          </a:p>
        </p:txBody>
      </p:sp>
    </p:spTree>
    <p:extLst>
      <p:ext uri="{BB962C8B-B14F-4D97-AF65-F5344CB8AC3E}">
        <p14:creationId xmlns:p14="http://schemas.microsoft.com/office/powerpoint/2010/main" val="3517187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9EB7D8-0785-423E-D51E-7573896DA4D8}"/>
              </a:ext>
            </a:extLst>
          </p:cNvPr>
          <p:cNvSpPr>
            <a:spLocks noGrp="1"/>
          </p:cNvSpPr>
          <p:nvPr>
            <p:ph type="dt" sz="half" idx="10"/>
          </p:nvPr>
        </p:nvSpPr>
        <p:spPr/>
        <p:txBody>
          <a:bodyPr/>
          <a:lstStyle>
            <a:lvl1pPr>
              <a:defRPr/>
            </a:lvl1pPr>
          </a:lstStyle>
          <a:p>
            <a:pPr>
              <a:defRPr/>
            </a:pPr>
            <a:fld id="{1B33A110-4EB7-4227-8700-1682CE86ACD8}" type="datetimeFigureOut">
              <a:rPr lang="en-US"/>
              <a:pPr>
                <a:defRPr/>
              </a:pPr>
              <a:t>4/7/2026</a:t>
            </a:fld>
            <a:endParaRPr lang="en-US"/>
          </a:p>
        </p:txBody>
      </p:sp>
      <p:sp>
        <p:nvSpPr>
          <p:cNvPr id="5" name="Footer Placeholder 4">
            <a:extLst>
              <a:ext uri="{FF2B5EF4-FFF2-40B4-BE49-F238E27FC236}">
                <a16:creationId xmlns:a16="http://schemas.microsoft.com/office/drawing/2014/main" id="{20D098DC-1944-AFE0-05EF-33AD425E710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17DA15A-12A8-A68A-7D55-0FF0817352B5}"/>
              </a:ext>
            </a:extLst>
          </p:cNvPr>
          <p:cNvSpPr>
            <a:spLocks noGrp="1"/>
          </p:cNvSpPr>
          <p:nvPr>
            <p:ph type="sldNum" sz="quarter" idx="12"/>
          </p:nvPr>
        </p:nvSpPr>
        <p:spPr/>
        <p:txBody>
          <a:bodyPr/>
          <a:lstStyle>
            <a:lvl1pPr>
              <a:defRPr/>
            </a:lvl1pPr>
          </a:lstStyle>
          <a:p>
            <a:fld id="{EEC7EE85-C20C-4180-B24B-E791B8285580}" type="slidenum">
              <a:rPr lang="en-US" altLang="en-US"/>
              <a:pPr/>
              <a:t>‹#›</a:t>
            </a:fld>
            <a:endParaRPr lang="en-US" altLang="en-US"/>
          </a:p>
        </p:txBody>
      </p:sp>
    </p:spTree>
    <p:extLst>
      <p:ext uri="{BB962C8B-B14F-4D97-AF65-F5344CB8AC3E}">
        <p14:creationId xmlns:p14="http://schemas.microsoft.com/office/powerpoint/2010/main" val="2415043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D9FCE1-4345-2825-0F40-B40637C7EF1C}"/>
              </a:ext>
            </a:extLst>
          </p:cNvPr>
          <p:cNvSpPr>
            <a:spLocks noGrp="1"/>
          </p:cNvSpPr>
          <p:nvPr>
            <p:ph type="dt" sz="half" idx="10"/>
          </p:nvPr>
        </p:nvSpPr>
        <p:spPr/>
        <p:txBody>
          <a:bodyPr/>
          <a:lstStyle>
            <a:lvl1pPr>
              <a:defRPr/>
            </a:lvl1pPr>
          </a:lstStyle>
          <a:p>
            <a:pPr>
              <a:defRPr/>
            </a:pPr>
            <a:fld id="{4D5E0564-E7DB-441D-9357-C167E53CC4FE}" type="datetimeFigureOut">
              <a:rPr lang="en-US"/>
              <a:pPr>
                <a:defRPr/>
              </a:pPr>
              <a:t>4/7/2026</a:t>
            </a:fld>
            <a:endParaRPr lang="en-US"/>
          </a:p>
        </p:txBody>
      </p:sp>
      <p:sp>
        <p:nvSpPr>
          <p:cNvPr id="5" name="Footer Placeholder 4">
            <a:extLst>
              <a:ext uri="{FF2B5EF4-FFF2-40B4-BE49-F238E27FC236}">
                <a16:creationId xmlns:a16="http://schemas.microsoft.com/office/drawing/2014/main" id="{A1F5E9EB-19F1-8C3D-DEE2-632E7869111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1EFC17A-398E-986D-56AE-8BC13585BE05}"/>
              </a:ext>
            </a:extLst>
          </p:cNvPr>
          <p:cNvSpPr>
            <a:spLocks noGrp="1"/>
          </p:cNvSpPr>
          <p:nvPr>
            <p:ph type="sldNum" sz="quarter" idx="12"/>
          </p:nvPr>
        </p:nvSpPr>
        <p:spPr/>
        <p:txBody>
          <a:bodyPr/>
          <a:lstStyle>
            <a:lvl1pPr>
              <a:defRPr/>
            </a:lvl1pPr>
          </a:lstStyle>
          <a:p>
            <a:fld id="{137B2504-19CE-496D-947B-16F3EF9DFE62}" type="slidenum">
              <a:rPr lang="en-US" altLang="en-US"/>
              <a:pPr/>
              <a:t>‹#›</a:t>
            </a:fld>
            <a:endParaRPr lang="en-US" altLang="en-US"/>
          </a:p>
        </p:txBody>
      </p:sp>
    </p:spTree>
    <p:extLst>
      <p:ext uri="{BB962C8B-B14F-4D97-AF65-F5344CB8AC3E}">
        <p14:creationId xmlns:p14="http://schemas.microsoft.com/office/powerpoint/2010/main" val="170085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70B1AC7-35A8-EFB1-E251-3AAA7362403B}"/>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D55F14A-05A3-3625-BEDE-81341FE96ABD}"/>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A06D3CE-0182-02E9-D631-353F706B6AEB}"/>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457FA16C-DAD7-4A4A-93A6-20DA51319202}" type="datetimeFigureOut">
              <a:rPr lang="en-US"/>
              <a:pPr>
                <a:defRPr/>
              </a:pPr>
              <a:t>4/7/2026</a:t>
            </a:fld>
            <a:endParaRPr lang="en-US"/>
          </a:p>
        </p:txBody>
      </p:sp>
      <p:sp>
        <p:nvSpPr>
          <p:cNvPr id="5" name="Footer Placeholder 4">
            <a:extLst>
              <a:ext uri="{FF2B5EF4-FFF2-40B4-BE49-F238E27FC236}">
                <a16:creationId xmlns:a16="http://schemas.microsoft.com/office/drawing/2014/main" id="{7913A57B-9CF6-088A-795A-F328BAEC499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295AC2DB-22C6-F45C-2A79-28ECF53B31C9}"/>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56BC255D-8AD9-49B5-9AE2-E67B2FFB907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C370A-4B62-CE58-03D7-F6D652476F28}"/>
              </a:ext>
            </a:extLst>
          </p:cNvPr>
          <p:cNvSpPr>
            <a:spLocks noGrp="1"/>
          </p:cNvSpPr>
          <p:nvPr>
            <p:ph type="ctrTitle" idx="4294967295"/>
          </p:nvPr>
        </p:nvSpPr>
        <p:spPr>
          <a:xfrm>
            <a:off x="685800" y="152400"/>
            <a:ext cx="7772400" cy="457200"/>
          </a:xfrm>
        </p:spPr>
        <p:txBody>
          <a:bodyPr>
            <a:normAutofit fontScale="90000"/>
          </a:bodyPr>
          <a:lstStyle/>
          <a:p>
            <a:pPr eaLnBrk="1" hangingPunct="1">
              <a:defRPr/>
            </a:pPr>
            <a:r>
              <a:rPr lang="en-US" sz="3600">
                <a:solidFill>
                  <a:srgbClr val="0000FF"/>
                </a:solidFill>
              </a:rPr>
              <a:t>Process identifiers</a:t>
            </a:r>
          </a:p>
        </p:txBody>
      </p:sp>
      <p:sp>
        <p:nvSpPr>
          <p:cNvPr id="2051" name="Title 1">
            <a:extLst>
              <a:ext uri="{FF2B5EF4-FFF2-40B4-BE49-F238E27FC236}">
                <a16:creationId xmlns:a16="http://schemas.microsoft.com/office/drawing/2014/main" id="{91CA000F-4448-7C96-D73C-0E92C196370B}"/>
              </a:ext>
            </a:extLst>
          </p:cNvPr>
          <p:cNvSpPr txBox="1">
            <a:spLocks/>
          </p:cNvSpPr>
          <p:nvPr/>
        </p:nvSpPr>
        <p:spPr bwMode="auto">
          <a:xfrm>
            <a:off x="304800" y="914400"/>
            <a:ext cx="85344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2800">
                <a:latin typeface="Times New Roman" panose="02020603050405020304" pitchFamily="18" charset="0"/>
              </a:rPr>
              <a:t>Every process has a unique process ID, a non-negative integer called PID ranges from </a:t>
            </a:r>
            <a:r>
              <a:rPr lang="en-US" altLang="en-US" sz="2800">
                <a:solidFill>
                  <a:schemeClr val="accent2"/>
                </a:solidFill>
                <a:latin typeface="Times New Roman" panose="02020603050405020304" pitchFamily="18" charset="0"/>
              </a:rPr>
              <a:t>0 to 30,000</a:t>
            </a:r>
          </a:p>
          <a:p>
            <a:pPr algn="just" eaLnBrk="1" hangingPunct="1">
              <a:buFontTx/>
              <a:buChar char="•"/>
            </a:pPr>
            <a:r>
              <a:rPr lang="en-US" altLang="en-US" sz="2800">
                <a:solidFill>
                  <a:schemeClr val="accent2"/>
                </a:solidFill>
                <a:latin typeface="Times New Roman" panose="02020603050405020304" pitchFamily="18" charset="0"/>
              </a:rPr>
              <a:t>Kernel assigns the PID</a:t>
            </a:r>
            <a:r>
              <a:rPr lang="en-US" altLang="en-US" sz="2800">
                <a:latin typeface="Times New Roman" panose="02020603050405020304" pitchFamily="18" charset="0"/>
              </a:rPr>
              <a:t> when a new process is created</a:t>
            </a:r>
          </a:p>
          <a:p>
            <a:pPr algn="just" eaLnBrk="1" hangingPunct="1">
              <a:buFontTx/>
              <a:buChar char="•"/>
            </a:pPr>
            <a:r>
              <a:rPr lang="en-US" altLang="en-US" sz="2800">
                <a:latin typeface="Times New Roman" panose="02020603050405020304" pitchFamily="18" charset="0"/>
              </a:rPr>
              <a:t>Although unique, process IDs are reused. </a:t>
            </a:r>
          </a:p>
          <a:p>
            <a:pPr algn="just" eaLnBrk="1" hangingPunct="1">
              <a:buFontTx/>
              <a:buChar char="•"/>
            </a:pPr>
            <a:r>
              <a:rPr lang="en-US" altLang="en-US" sz="2800">
                <a:latin typeface="Times New Roman" panose="02020603050405020304" pitchFamily="18" charset="0"/>
              </a:rPr>
              <a:t>As processes terminate, their IDs become candidates for reuse. </a:t>
            </a:r>
          </a:p>
          <a:p>
            <a:pPr algn="just" eaLnBrk="1" hangingPunct="1">
              <a:buFontTx/>
              <a:buChar char="•"/>
            </a:pPr>
            <a:r>
              <a:rPr lang="en-US" altLang="en-US" sz="2800">
                <a:latin typeface="Times New Roman" panose="02020603050405020304" pitchFamily="18" charset="0"/>
              </a:rPr>
              <a:t>Special process IDs</a:t>
            </a:r>
          </a:p>
          <a:p>
            <a:pPr algn="just" eaLnBrk="1" hangingPunct="1"/>
            <a:r>
              <a:rPr lang="en-US" altLang="en-US" sz="2800">
                <a:solidFill>
                  <a:schemeClr val="accent2"/>
                </a:solidFill>
                <a:latin typeface="Times New Roman" panose="02020603050405020304" pitchFamily="18" charset="0"/>
              </a:rPr>
              <a:t>0</a:t>
            </a:r>
            <a:r>
              <a:rPr lang="en-US" altLang="en-US" sz="2800">
                <a:latin typeface="Times New Roman" panose="02020603050405020304" pitchFamily="18" charset="0"/>
              </a:rPr>
              <a:t>	swapper or scheduler(system process)</a:t>
            </a:r>
          </a:p>
          <a:p>
            <a:pPr algn="just" eaLnBrk="1" hangingPunct="1"/>
            <a:r>
              <a:rPr lang="en-US" altLang="en-US" sz="2800">
                <a:solidFill>
                  <a:schemeClr val="accent2"/>
                </a:solidFill>
                <a:latin typeface="Times New Roman" panose="02020603050405020304" pitchFamily="18" charset="0"/>
              </a:rPr>
              <a:t>1</a:t>
            </a:r>
            <a:r>
              <a:rPr lang="en-US" altLang="en-US" sz="2800">
                <a:latin typeface="Times New Roman" panose="02020603050405020304" pitchFamily="18" charset="0"/>
              </a:rPr>
              <a:t>  init process </a:t>
            </a:r>
            <a:r>
              <a:rPr lang="en-US" altLang="en-US" sz="2000">
                <a:latin typeface="Times New Roman" panose="02020603050405020304" pitchFamily="18" charset="0"/>
              </a:rPr>
              <a:t>(</a:t>
            </a:r>
            <a:r>
              <a:rPr lang="en-US" altLang="en-US" sz="2000">
                <a:solidFill>
                  <a:schemeClr val="accent2"/>
                </a:solidFill>
                <a:latin typeface="Times New Roman" panose="02020603050405020304" pitchFamily="18" charset="0"/>
              </a:rPr>
              <a:t>invoked by the kernel at the end of the bootstrap procedure</a:t>
            </a:r>
            <a:r>
              <a:rPr lang="en-US" altLang="en-US">
                <a:latin typeface="Times New Roman" panose="02020603050405020304" pitchFamily="18" charset="0"/>
              </a:rPr>
              <a:t>)</a:t>
            </a:r>
            <a:endParaRPr lang="en-US" altLang="en-US" sz="2800">
              <a:latin typeface="Times New Roman" panose="02020603050405020304" pitchFamily="18" charset="0"/>
            </a:endParaRPr>
          </a:p>
          <a:p>
            <a:pPr algn="just" eaLnBrk="1" hangingPunct="1"/>
            <a:r>
              <a:rPr lang="en-US" altLang="en-US" sz="2800">
                <a:solidFill>
                  <a:schemeClr val="accent2"/>
                </a:solidFill>
                <a:latin typeface="Times New Roman" panose="02020603050405020304" pitchFamily="18" charset="0"/>
              </a:rPr>
              <a:t>2</a:t>
            </a:r>
            <a:r>
              <a:rPr lang="en-US" altLang="en-US" sz="2800">
                <a:latin typeface="Times New Roman" panose="02020603050405020304" pitchFamily="18" charset="0"/>
              </a:rPr>
              <a:t>	Page daemon </a:t>
            </a:r>
            <a:r>
              <a:rPr lang="en-US" altLang="en-US" sz="2000">
                <a:latin typeface="Times New Roman" panose="02020603050405020304" pitchFamily="18" charset="0"/>
              </a:rPr>
              <a:t>(</a:t>
            </a:r>
            <a:r>
              <a:rPr lang="en-US" altLang="en-US" sz="2400">
                <a:solidFill>
                  <a:schemeClr val="accent2"/>
                </a:solidFill>
                <a:latin typeface="Times New Roman" panose="02020603050405020304" pitchFamily="18" charset="0"/>
              </a:rPr>
              <a:t>responsible for supporting the paging of the virtual memory system.)</a:t>
            </a:r>
          </a:p>
          <a:p>
            <a:pPr algn="just" eaLnBrk="1" hangingPunct="1">
              <a:buFontTx/>
              <a:buAutoNum type="arabicPlain" startAt="2"/>
            </a:pPr>
            <a:endParaRPr lang="en-US" altLang="en-US" sz="2400">
              <a:solidFill>
                <a:schemeClr val="accent2"/>
              </a:solidFill>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4E9975DF-4326-FA27-3367-8AAD8DA980D9}"/>
              </a:ext>
            </a:extLst>
          </p:cNvPr>
          <p:cNvSpPr txBox="1">
            <a:spLocks/>
          </p:cNvSpPr>
          <p:nvPr/>
        </p:nvSpPr>
        <p:spPr bwMode="auto">
          <a:xfrm>
            <a:off x="304800" y="152400"/>
            <a:ext cx="8534400" cy="644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2600">
                <a:latin typeface="Times New Roman" panose="02020603050405020304" pitchFamily="18" charset="0"/>
              </a:rPr>
              <a:t>In addition to the process ID, there are other identifiers for every process.</a:t>
            </a:r>
          </a:p>
          <a:p>
            <a:pPr algn="just" eaLnBrk="1" hangingPunct="1">
              <a:buFontTx/>
              <a:buChar char="•"/>
            </a:pPr>
            <a:r>
              <a:rPr lang="en-US" altLang="en-US" sz="2600">
                <a:latin typeface="Times New Roman" panose="02020603050405020304" pitchFamily="18" charset="0"/>
              </a:rPr>
              <a:t>The following functions return these identifiers.</a:t>
            </a:r>
          </a:p>
          <a:p>
            <a:pPr algn="just" eaLnBrk="1" hangingPunct="1"/>
            <a:r>
              <a:rPr lang="en-US" altLang="en-US" sz="2600">
                <a:latin typeface="Times New Roman" panose="02020603050405020304" pitchFamily="18" charset="0"/>
              </a:rPr>
              <a:t> </a:t>
            </a:r>
            <a:r>
              <a:rPr lang="en-US" altLang="en-US" sz="2600">
                <a:solidFill>
                  <a:srgbClr val="0000FF"/>
                </a:solidFill>
                <a:latin typeface="Times New Roman" panose="02020603050405020304" pitchFamily="18" charset="0"/>
              </a:rPr>
              <a:t>#include &lt;unistd.h&gt;</a:t>
            </a:r>
          </a:p>
          <a:p>
            <a:pPr eaLnBrk="1" hangingPunct="1"/>
            <a:r>
              <a:rPr lang="en-US" altLang="en-US" sz="2600">
                <a:solidFill>
                  <a:srgbClr val="0000FF"/>
                </a:solidFill>
                <a:latin typeface="Times New Roman" panose="02020603050405020304" pitchFamily="18" charset="0"/>
              </a:rPr>
              <a:t>pid_t getpid(void);</a:t>
            </a:r>
          </a:p>
          <a:p>
            <a:pPr eaLnBrk="1" hangingPunct="1"/>
            <a:r>
              <a:rPr lang="en-US" altLang="en-US" sz="2600">
                <a:latin typeface="Times New Roman" panose="02020603050405020304" pitchFamily="18" charset="0"/>
              </a:rPr>
              <a:t>	Returns: process ID of calling process</a:t>
            </a:r>
          </a:p>
          <a:p>
            <a:pPr eaLnBrk="1" hangingPunct="1"/>
            <a:r>
              <a:rPr lang="en-US" altLang="en-US" sz="2600">
                <a:solidFill>
                  <a:srgbClr val="0000FF"/>
                </a:solidFill>
                <a:latin typeface="Times New Roman" panose="02020603050405020304" pitchFamily="18" charset="0"/>
              </a:rPr>
              <a:t>pid_t getppid(void);</a:t>
            </a:r>
          </a:p>
          <a:p>
            <a:pPr eaLnBrk="1" hangingPunct="1"/>
            <a:r>
              <a:rPr lang="en-US" altLang="en-US" sz="2600">
                <a:latin typeface="Times New Roman" panose="02020603050405020304" pitchFamily="18" charset="0"/>
              </a:rPr>
              <a:t>	Returns: parent process ID of calling process</a:t>
            </a:r>
          </a:p>
          <a:p>
            <a:pPr eaLnBrk="1" hangingPunct="1"/>
            <a:r>
              <a:rPr lang="en-US" altLang="en-US" sz="2600">
                <a:solidFill>
                  <a:srgbClr val="0000FF"/>
                </a:solidFill>
                <a:latin typeface="Times New Roman" panose="02020603050405020304" pitchFamily="18" charset="0"/>
              </a:rPr>
              <a:t>uid_t getuid(void);</a:t>
            </a:r>
          </a:p>
          <a:p>
            <a:pPr eaLnBrk="1" hangingPunct="1"/>
            <a:r>
              <a:rPr lang="en-US" altLang="en-US" sz="2600">
                <a:latin typeface="Times New Roman" panose="02020603050405020304" pitchFamily="18" charset="0"/>
              </a:rPr>
              <a:t>	Returns: real user ID of calling process</a:t>
            </a:r>
          </a:p>
          <a:p>
            <a:pPr eaLnBrk="1" hangingPunct="1"/>
            <a:r>
              <a:rPr lang="en-US" altLang="en-US" sz="2600">
                <a:solidFill>
                  <a:srgbClr val="0000FF"/>
                </a:solidFill>
                <a:latin typeface="Times New Roman" panose="02020603050405020304" pitchFamily="18" charset="0"/>
              </a:rPr>
              <a:t>uid_t geteuid(void);</a:t>
            </a:r>
          </a:p>
          <a:p>
            <a:pPr eaLnBrk="1" hangingPunct="1"/>
            <a:r>
              <a:rPr lang="en-US" altLang="en-US" sz="2600">
                <a:latin typeface="Times New Roman" panose="02020603050405020304" pitchFamily="18" charset="0"/>
              </a:rPr>
              <a:t>	Returns: effective user ID of calling process</a:t>
            </a:r>
          </a:p>
          <a:p>
            <a:pPr eaLnBrk="1" hangingPunct="1"/>
            <a:r>
              <a:rPr lang="en-US" altLang="en-US" sz="2600">
                <a:solidFill>
                  <a:srgbClr val="0000FF"/>
                </a:solidFill>
                <a:latin typeface="Times New Roman" panose="02020603050405020304" pitchFamily="18" charset="0"/>
              </a:rPr>
              <a:t>gid_t getgid(void);</a:t>
            </a:r>
          </a:p>
          <a:p>
            <a:pPr eaLnBrk="1" hangingPunct="1"/>
            <a:r>
              <a:rPr lang="en-US" altLang="en-US" sz="2600">
                <a:latin typeface="Times New Roman" panose="02020603050405020304" pitchFamily="18" charset="0"/>
              </a:rPr>
              <a:t>	Returns: real group ID of calling process</a:t>
            </a:r>
          </a:p>
          <a:p>
            <a:pPr eaLnBrk="1" hangingPunct="1"/>
            <a:r>
              <a:rPr lang="en-US" altLang="en-US" sz="2600">
                <a:solidFill>
                  <a:srgbClr val="0000FF"/>
                </a:solidFill>
                <a:latin typeface="Times New Roman" panose="02020603050405020304" pitchFamily="18" charset="0"/>
              </a:rPr>
              <a:t>gid_t getegid(void);</a:t>
            </a:r>
          </a:p>
          <a:p>
            <a:pPr eaLnBrk="1" hangingPunct="1"/>
            <a:r>
              <a:rPr lang="en-US" altLang="en-US" sz="2600">
                <a:latin typeface="Times New Roman" panose="02020603050405020304" pitchFamily="18" charset="0"/>
              </a:rPr>
              <a:t>	Returns: effective group ID of calling process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3CD3B-BE4E-0D33-9C56-3C8A16710A9B}"/>
              </a:ext>
            </a:extLst>
          </p:cNvPr>
          <p:cNvSpPr>
            <a:spLocks noGrp="1"/>
          </p:cNvSpPr>
          <p:nvPr>
            <p:ph type="ctrTitle" idx="4294967295"/>
          </p:nvPr>
        </p:nvSpPr>
        <p:spPr>
          <a:xfrm>
            <a:off x="685800" y="152400"/>
            <a:ext cx="7772400" cy="457200"/>
          </a:xfrm>
        </p:spPr>
        <p:txBody>
          <a:bodyPr>
            <a:normAutofit fontScale="90000"/>
          </a:bodyPr>
          <a:lstStyle/>
          <a:p>
            <a:pPr eaLnBrk="1" hangingPunct="1">
              <a:defRPr/>
            </a:pPr>
            <a:r>
              <a:rPr lang="en-US" sz="3600">
                <a:solidFill>
                  <a:srgbClr val="0000FF"/>
                </a:solidFill>
              </a:rPr>
              <a:t>fork() function</a:t>
            </a:r>
          </a:p>
        </p:txBody>
      </p:sp>
      <p:sp>
        <p:nvSpPr>
          <p:cNvPr id="4099" name="Title 1">
            <a:extLst>
              <a:ext uri="{FF2B5EF4-FFF2-40B4-BE49-F238E27FC236}">
                <a16:creationId xmlns:a16="http://schemas.microsoft.com/office/drawing/2014/main" id="{BF8DE19F-105B-C440-1751-05FC8206EFD9}"/>
              </a:ext>
            </a:extLst>
          </p:cNvPr>
          <p:cNvSpPr txBox="1">
            <a:spLocks/>
          </p:cNvSpPr>
          <p:nvPr/>
        </p:nvSpPr>
        <p:spPr bwMode="auto">
          <a:xfrm>
            <a:off x="304800" y="685800"/>
            <a:ext cx="8534400" cy="572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3400">
                <a:latin typeface="Times New Roman" panose="02020603050405020304" pitchFamily="18" charset="0"/>
              </a:rPr>
              <a:t>An existing process can create a new one by calling the fork function.</a:t>
            </a:r>
          </a:p>
          <a:p>
            <a:pPr algn="just" eaLnBrk="1" hangingPunct="1"/>
            <a:r>
              <a:rPr lang="en-US" altLang="en-US" sz="3400">
                <a:solidFill>
                  <a:schemeClr val="accent2"/>
                </a:solidFill>
                <a:latin typeface="Times New Roman" panose="02020603050405020304" pitchFamily="18" charset="0"/>
              </a:rPr>
              <a:t>#include &lt;unistd.h&gt;</a:t>
            </a:r>
          </a:p>
          <a:p>
            <a:pPr algn="just" eaLnBrk="1" hangingPunct="1"/>
            <a:r>
              <a:rPr lang="en-US" altLang="en-US" sz="3400">
                <a:solidFill>
                  <a:schemeClr val="accent2"/>
                </a:solidFill>
                <a:latin typeface="Times New Roman" panose="02020603050405020304" pitchFamily="18" charset="0"/>
              </a:rPr>
              <a:t>pid_t fork(void);</a:t>
            </a:r>
          </a:p>
          <a:p>
            <a:pPr algn="just" eaLnBrk="1" hangingPunct="1"/>
            <a:r>
              <a:rPr lang="en-US" altLang="en-US" sz="3000">
                <a:solidFill>
                  <a:schemeClr val="hlink"/>
                </a:solidFill>
                <a:latin typeface="Times New Roman" panose="02020603050405020304" pitchFamily="18" charset="0"/>
              </a:rPr>
              <a:t>		Returns: 0 in child, process ID of child in 			parent, -1 on error</a:t>
            </a:r>
          </a:p>
          <a:p>
            <a:pPr algn="just" eaLnBrk="1" hangingPunct="1">
              <a:buFontTx/>
              <a:buChar char="•"/>
            </a:pPr>
            <a:r>
              <a:rPr lang="en-US" altLang="en-US" sz="3400">
                <a:latin typeface="Times New Roman" panose="02020603050405020304" pitchFamily="18" charset="0"/>
              </a:rPr>
              <a:t>New process created by fork is called </a:t>
            </a:r>
            <a:r>
              <a:rPr lang="en-US" altLang="en-US" sz="3400" i="1">
                <a:latin typeface="Times New Roman" panose="02020603050405020304" pitchFamily="18" charset="0"/>
              </a:rPr>
              <a:t>child process</a:t>
            </a:r>
            <a:r>
              <a:rPr lang="en-US" altLang="en-US" sz="3400">
                <a:latin typeface="Times New Roman" panose="02020603050405020304" pitchFamily="18" charset="0"/>
              </a:rPr>
              <a:t>. </a:t>
            </a:r>
          </a:p>
          <a:p>
            <a:pPr algn="just" eaLnBrk="1" hangingPunct="1">
              <a:buFontTx/>
              <a:buChar char="•"/>
            </a:pPr>
            <a:r>
              <a:rPr lang="en-US" altLang="en-US" sz="3400">
                <a:latin typeface="Times New Roman" panose="02020603050405020304" pitchFamily="18" charset="0"/>
              </a:rPr>
              <a:t>This function is called once but returns twice. </a:t>
            </a:r>
          </a:p>
          <a:p>
            <a:pPr algn="just" eaLnBrk="1" hangingPunct="1">
              <a:buFontTx/>
              <a:buChar char="•"/>
            </a:pPr>
            <a:r>
              <a:rPr lang="en-US" altLang="en-US" sz="3400">
                <a:latin typeface="Times New Roman" panose="02020603050405020304" pitchFamily="18" charset="0"/>
              </a:rPr>
              <a:t>It returns 0 to the child and It returns PID of the new child to the parent.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01E1AA46-8EBA-F643-4A08-27DAAC9E9E08}"/>
              </a:ext>
            </a:extLst>
          </p:cNvPr>
          <p:cNvSpPr txBox="1">
            <a:spLocks/>
          </p:cNvSpPr>
          <p:nvPr/>
        </p:nvSpPr>
        <p:spPr bwMode="auto">
          <a:xfrm>
            <a:off x="304800" y="152400"/>
            <a:ext cx="8534400" cy="423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3400">
                <a:latin typeface="Times New Roman" panose="02020603050405020304" pitchFamily="18" charset="0"/>
              </a:rPr>
              <a:t>The reason is process can have more than one child, and there is no function that allows a process to obtain the process IDs of its children. </a:t>
            </a:r>
          </a:p>
          <a:p>
            <a:pPr algn="just" eaLnBrk="1" hangingPunct="1">
              <a:buFontTx/>
              <a:buChar char="•"/>
            </a:pPr>
            <a:r>
              <a:rPr lang="en-US" altLang="en-US" sz="3400">
                <a:latin typeface="Times New Roman" panose="02020603050405020304" pitchFamily="18" charset="0"/>
              </a:rPr>
              <a:t>The reason fork returns 0 to the child is that a process can have a single parent, and the child can always call </a:t>
            </a:r>
            <a:r>
              <a:rPr lang="en-US" altLang="en-US" sz="3400">
                <a:solidFill>
                  <a:schemeClr val="accent2"/>
                </a:solidFill>
                <a:latin typeface="Times New Roman" panose="02020603050405020304" pitchFamily="18" charset="0"/>
              </a:rPr>
              <a:t>getppid</a:t>
            </a:r>
            <a:r>
              <a:rPr lang="en-US" altLang="en-US" sz="3400">
                <a:latin typeface="Times New Roman" panose="02020603050405020304" pitchFamily="18" charset="0"/>
              </a:rPr>
              <a:t> to obtain the process ID of its parent.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66F589FC-3E8D-53F0-B9CA-BB0DCED753FB}"/>
              </a:ext>
            </a:extLst>
          </p:cNvPr>
          <p:cNvSpPr txBox="1">
            <a:spLocks/>
          </p:cNvSpPr>
          <p:nvPr/>
        </p:nvSpPr>
        <p:spPr bwMode="auto">
          <a:xfrm>
            <a:off x="304800" y="152400"/>
            <a:ext cx="8534400" cy="613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3600">
                <a:latin typeface="Times New Roman" panose="02020603050405020304" pitchFamily="18" charset="0"/>
              </a:rPr>
              <a:t>Both the child and the parent continue executing with the instruction that follows the call to fork. </a:t>
            </a:r>
          </a:p>
          <a:p>
            <a:pPr algn="just" eaLnBrk="1" hangingPunct="1">
              <a:buFontTx/>
              <a:buChar char="•"/>
            </a:pPr>
            <a:r>
              <a:rPr lang="en-US" altLang="en-US" sz="3600">
                <a:latin typeface="Times New Roman" panose="02020603050405020304" pitchFamily="18" charset="0"/>
              </a:rPr>
              <a:t>The </a:t>
            </a:r>
            <a:r>
              <a:rPr lang="en-US" altLang="en-US" sz="3600">
                <a:solidFill>
                  <a:schemeClr val="accent2"/>
                </a:solidFill>
                <a:latin typeface="Times New Roman" panose="02020603050405020304" pitchFamily="18" charset="0"/>
              </a:rPr>
              <a:t>child is a copy of the parent</a:t>
            </a:r>
            <a:r>
              <a:rPr lang="en-US" altLang="en-US" sz="3600">
                <a:latin typeface="Times New Roman" panose="02020603050405020304" pitchFamily="18" charset="0"/>
              </a:rPr>
              <a:t>. </a:t>
            </a:r>
          </a:p>
          <a:p>
            <a:pPr algn="just" eaLnBrk="1" hangingPunct="1">
              <a:buFontTx/>
              <a:buChar char="•"/>
            </a:pPr>
            <a:r>
              <a:rPr lang="en-US" altLang="en-US" sz="3600">
                <a:latin typeface="Times New Roman" panose="02020603050405020304" pitchFamily="18" charset="0"/>
              </a:rPr>
              <a:t>For example, the child gets a copy of the parent's data space heap, and stack. </a:t>
            </a:r>
          </a:p>
          <a:p>
            <a:pPr algn="just" eaLnBrk="1" hangingPunct="1">
              <a:buFontTx/>
              <a:buChar char="•"/>
            </a:pPr>
            <a:r>
              <a:rPr lang="en-US" altLang="en-US" sz="3600">
                <a:latin typeface="Times New Roman" panose="02020603050405020304" pitchFamily="18" charset="0"/>
              </a:rPr>
              <a:t>Note that this is a copy for the child; the parent and the child </a:t>
            </a:r>
            <a:r>
              <a:rPr lang="en-US" altLang="en-US" sz="3600">
                <a:solidFill>
                  <a:schemeClr val="accent2"/>
                </a:solidFill>
                <a:latin typeface="Times New Roman" panose="02020603050405020304" pitchFamily="18" charset="0"/>
              </a:rPr>
              <a:t>do not share</a:t>
            </a:r>
            <a:r>
              <a:rPr lang="en-US" altLang="en-US" sz="3600">
                <a:latin typeface="Times New Roman" panose="02020603050405020304" pitchFamily="18" charset="0"/>
              </a:rPr>
              <a:t> these portions of memory. </a:t>
            </a:r>
          </a:p>
          <a:p>
            <a:pPr algn="just" eaLnBrk="1" hangingPunct="1">
              <a:buFontTx/>
              <a:buChar char="•"/>
            </a:pPr>
            <a:r>
              <a:rPr lang="en-US" altLang="en-US" sz="3600">
                <a:latin typeface="Times New Roman" panose="02020603050405020304" pitchFamily="18" charset="0"/>
              </a:rPr>
              <a:t>The parent and the child </a:t>
            </a:r>
            <a:r>
              <a:rPr lang="en-US" altLang="en-US" sz="3600">
                <a:solidFill>
                  <a:schemeClr val="accent2"/>
                </a:solidFill>
                <a:latin typeface="Times New Roman" panose="02020603050405020304" pitchFamily="18" charset="0"/>
              </a:rPr>
              <a:t>share the text segment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0A65ABD5-D16E-335F-3EEF-ADB2D46F9EC4}"/>
              </a:ext>
            </a:extLst>
          </p:cNvPr>
          <p:cNvSpPr txBox="1">
            <a:spLocks/>
          </p:cNvSpPr>
          <p:nvPr/>
        </p:nvSpPr>
        <p:spPr bwMode="auto">
          <a:xfrm>
            <a:off x="304800" y="152400"/>
            <a:ext cx="8534400" cy="530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3800">
                <a:latin typeface="Times New Roman" panose="02020603050405020304" pitchFamily="18" charset="0"/>
              </a:rPr>
              <a:t>Current implementations don't perform a complete copy of the parent's data, stack, and heap, since a fork is often followed by an exec. </a:t>
            </a:r>
          </a:p>
          <a:p>
            <a:pPr algn="just" eaLnBrk="1" hangingPunct="1">
              <a:buFontTx/>
              <a:buChar char="•"/>
            </a:pPr>
            <a:r>
              <a:rPr lang="en-US" altLang="en-US" sz="3800">
                <a:latin typeface="Times New Roman" panose="02020603050405020304" pitchFamily="18" charset="0"/>
              </a:rPr>
              <a:t>Instead, a technique called </a:t>
            </a:r>
            <a:r>
              <a:rPr lang="en-US" altLang="en-US" sz="3800" i="1">
                <a:latin typeface="Times New Roman" panose="02020603050405020304" pitchFamily="18" charset="0"/>
              </a:rPr>
              <a:t>c</a:t>
            </a:r>
            <a:r>
              <a:rPr lang="en-US" altLang="en-US" sz="3800" i="1">
                <a:solidFill>
                  <a:schemeClr val="accent2"/>
                </a:solidFill>
                <a:latin typeface="Times New Roman" panose="02020603050405020304" pitchFamily="18" charset="0"/>
              </a:rPr>
              <a:t>opy-on-write</a:t>
            </a:r>
            <a:r>
              <a:rPr lang="en-US" altLang="en-US" sz="3800" i="1">
                <a:latin typeface="Times New Roman" panose="02020603050405020304" pitchFamily="18" charset="0"/>
              </a:rPr>
              <a:t> </a:t>
            </a:r>
            <a:r>
              <a:rPr lang="en-US" altLang="en-US" sz="3800">
                <a:latin typeface="Times New Roman" panose="02020603050405020304" pitchFamily="18" charset="0"/>
              </a:rPr>
              <a:t>(COW) is used. </a:t>
            </a:r>
          </a:p>
          <a:p>
            <a:pPr algn="just" eaLnBrk="1" hangingPunct="1">
              <a:buFontTx/>
              <a:buChar char="•"/>
            </a:pPr>
            <a:r>
              <a:rPr lang="en-US" altLang="en-US" sz="3800">
                <a:latin typeface="Times New Roman" panose="02020603050405020304" pitchFamily="18" charset="0"/>
              </a:rPr>
              <a:t>These regions are shared by the parent and the child and have their protection changed by the kernel to read-only.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C612DA21-C72C-968F-608E-97BE71B08748}"/>
              </a:ext>
            </a:extLst>
          </p:cNvPr>
          <p:cNvSpPr txBox="1">
            <a:spLocks/>
          </p:cNvSpPr>
          <p:nvPr/>
        </p:nvSpPr>
        <p:spPr bwMode="auto">
          <a:xfrm>
            <a:off x="304800" y="152400"/>
            <a:ext cx="8534400" cy="526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3400">
                <a:latin typeface="Times New Roman" panose="02020603050405020304" pitchFamily="18" charset="0"/>
              </a:rPr>
              <a:t>If either process tries to modify these regions, the kernel then makes a copy of that piece of memory only, typically a "page" in a virtual memory system. </a:t>
            </a:r>
          </a:p>
          <a:p>
            <a:pPr algn="just" eaLnBrk="1" hangingPunct="1">
              <a:buFontTx/>
              <a:buChar char="•"/>
            </a:pPr>
            <a:r>
              <a:rPr lang="en-US" altLang="en-US" sz="3400">
                <a:latin typeface="Times New Roman" panose="02020603050405020304" pitchFamily="18" charset="0"/>
              </a:rPr>
              <a:t>Variations of the fork function is vfork(2) </a:t>
            </a:r>
          </a:p>
          <a:p>
            <a:pPr algn="just" eaLnBrk="1" hangingPunct="1">
              <a:buFontTx/>
              <a:buChar char="•"/>
            </a:pPr>
            <a:r>
              <a:rPr lang="en-US" altLang="en-US" sz="3400">
                <a:solidFill>
                  <a:schemeClr val="accent2"/>
                </a:solidFill>
                <a:latin typeface="Times New Roman" panose="02020603050405020304" pitchFamily="18" charset="0"/>
              </a:rPr>
              <a:t>Linux 2.4.22</a:t>
            </a:r>
            <a:r>
              <a:rPr lang="en-US" altLang="en-US" sz="3400">
                <a:latin typeface="Times New Roman" panose="02020603050405020304" pitchFamily="18" charset="0"/>
              </a:rPr>
              <a:t> also provides new process creation through the </a:t>
            </a:r>
            <a:r>
              <a:rPr lang="en-US" altLang="en-US" sz="3400">
                <a:solidFill>
                  <a:schemeClr val="accent2"/>
                </a:solidFill>
                <a:latin typeface="Times New Roman" panose="02020603050405020304" pitchFamily="18" charset="0"/>
              </a:rPr>
              <a:t>clone(2)</a:t>
            </a:r>
            <a:r>
              <a:rPr lang="en-US" altLang="en-US" sz="3400">
                <a:latin typeface="Times New Roman" panose="02020603050405020304" pitchFamily="18" charset="0"/>
              </a:rPr>
              <a:t> system call.</a:t>
            </a:r>
          </a:p>
          <a:p>
            <a:pPr algn="just" eaLnBrk="1" hangingPunct="1">
              <a:buFontTx/>
              <a:buChar char="•"/>
            </a:pPr>
            <a:r>
              <a:rPr lang="en-US" altLang="en-US" sz="3400">
                <a:latin typeface="Times New Roman" panose="02020603050405020304" pitchFamily="18" charset="0"/>
              </a:rPr>
              <a:t>This is a generalized form of fork that allows the caller to </a:t>
            </a:r>
            <a:r>
              <a:rPr lang="en-US" altLang="en-US" sz="3400">
                <a:solidFill>
                  <a:schemeClr val="accent2"/>
                </a:solidFill>
                <a:latin typeface="Times New Roman" panose="02020603050405020304" pitchFamily="18" charset="0"/>
              </a:rPr>
              <a:t>control</a:t>
            </a:r>
            <a:r>
              <a:rPr lang="en-US" altLang="en-US" sz="3400">
                <a:latin typeface="Times New Roman" panose="02020603050405020304" pitchFamily="18" charset="0"/>
              </a:rPr>
              <a:t> what is shared between parent and child.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2E6BA-9A17-6939-EAEA-4104FA739E32}"/>
              </a:ext>
            </a:extLst>
          </p:cNvPr>
          <p:cNvSpPr>
            <a:spLocks noGrp="1"/>
          </p:cNvSpPr>
          <p:nvPr>
            <p:ph type="ctrTitle" idx="4294967295"/>
          </p:nvPr>
        </p:nvSpPr>
        <p:spPr>
          <a:xfrm>
            <a:off x="685800" y="152400"/>
            <a:ext cx="7772400" cy="457200"/>
          </a:xfrm>
        </p:spPr>
        <p:txBody>
          <a:bodyPr>
            <a:normAutofit fontScale="90000"/>
          </a:bodyPr>
          <a:lstStyle/>
          <a:p>
            <a:pPr eaLnBrk="1" hangingPunct="1">
              <a:defRPr/>
            </a:pPr>
            <a:r>
              <a:rPr lang="en-US" sz="3600">
                <a:solidFill>
                  <a:srgbClr val="0000FF"/>
                </a:solidFill>
              </a:rPr>
              <a:t>Properties inherited by the child</a:t>
            </a:r>
          </a:p>
        </p:txBody>
      </p:sp>
      <p:sp>
        <p:nvSpPr>
          <p:cNvPr id="9219" name="Title 1">
            <a:extLst>
              <a:ext uri="{FF2B5EF4-FFF2-40B4-BE49-F238E27FC236}">
                <a16:creationId xmlns:a16="http://schemas.microsoft.com/office/drawing/2014/main" id="{117A09C8-B9D1-29EC-BF25-DE4F8252DFB5}"/>
              </a:ext>
            </a:extLst>
          </p:cNvPr>
          <p:cNvSpPr txBox="1">
            <a:spLocks/>
          </p:cNvSpPr>
          <p:nvPr/>
        </p:nvSpPr>
        <p:spPr bwMode="auto">
          <a:xfrm>
            <a:off x="304800" y="685800"/>
            <a:ext cx="8534400"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2400">
                <a:latin typeface="Times New Roman" panose="02020603050405020304" pitchFamily="18" charset="0"/>
              </a:rPr>
              <a:t>Real user ID, real group ID, effective user ID, effective group ID</a:t>
            </a:r>
          </a:p>
          <a:p>
            <a:pPr algn="just" eaLnBrk="1" hangingPunct="1">
              <a:buFontTx/>
              <a:buChar char="•"/>
            </a:pPr>
            <a:r>
              <a:rPr lang="en-US" altLang="en-US" sz="2400">
                <a:latin typeface="Times New Roman" panose="02020603050405020304" pitchFamily="18" charset="0"/>
              </a:rPr>
              <a:t>Supplementary group IDs</a:t>
            </a:r>
          </a:p>
          <a:p>
            <a:pPr algn="just" eaLnBrk="1" hangingPunct="1">
              <a:buFontTx/>
              <a:buChar char="•"/>
            </a:pPr>
            <a:r>
              <a:rPr lang="en-US" altLang="en-US" sz="2400">
                <a:latin typeface="Times New Roman" panose="02020603050405020304" pitchFamily="18" charset="0"/>
              </a:rPr>
              <a:t>Process group ID</a:t>
            </a:r>
          </a:p>
          <a:p>
            <a:pPr algn="just" eaLnBrk="1" hangingPunct="1">
              <a:buFontTx/>
              <a:buChar char="•"/>
            </a:pPr>
            <a:r>
              <a:rPr lang="en-US" altLang="en-US" sz="2400">
                <a:latin typeface="Times New Roman" panose="02020603050405020304" pitchFamily="18" charset="0"/>
              </a:rPr>
              <a:t>Session ID</a:t>
            </a:r>
          </a:p>
          <a:p>
            <a:pPr algn="just" eaLnBrk="1" hangingPunct="1">
              <a:buFontTx/>
              <a:buChar char="•"/>
            </a:pPr>
            <a:r>
              <a:rPr lang="en-US" altLang="en-US" sz="2400">
                <a:latin typeface="Times New Roman" panose="02020603050405020304" pitchFamily="18" charset="0"/>
              </a:rPr>
              <a:t>Controlling terminal</a:t>
            </a:r>
          </a:p>
          <a:p>
            <a:pPr algn="just" eaLnBrk="1" hangingPunct="1">
              <a:buFontTx/>
              <a:buChar char="•"/>
            </a:pPr>
            <a:r>
              <a:rPr lang="en-US" altLang="en-US" sz="2400">
                <a:latin typeface="Times New Roman" panose="02020603050405020304" pitchFamily="18" charset="0"/>
              </a:rPr>
              <a:t>The set-user-ID and set-group-ID flags</a:t>
            </a:r>
          </a:p>
          <a:p>
            <a:pPr algn="just" eaLnBrk="1" hangingPunct="1">
              <a:buFontTx/>
              <a:buChar char="•"/>
            </a:pPr>
            <a:r>
              <a:rPr lang="en-US" altLang="en-US" sz="2400">
                <a:latin typeface="Times New Roman" panose="02020603050405020304" pitchFamily="18" charset="0"/>
              </a:rPr>
              <a:t>Current working directory</a:t>
            </a:r>
          </a:p>
          <a:p>
            <a:pPr algn="just" eaLnBrk="1" hangingPunct="1">
              <a:buFontTx/>
              <a:buChar char="•"/>
            </a:pPr>
            <a:r>
              <a:rPr lang="en-US" altLang="en-US" sz="2400">
                <a:latin typeface="Times New Roman" panose="02020603050405020304" pitchFamily="18" charset="0"/>
              </a:rPr>
              <a:t>Root directory</a:t>
            </a:r>
          </a:p>
          <a:p>
            <a:pPr algn="just" eaLnBrk="1" hangingPunct="1">
              <a:buFontTx/>
              <a:buChar char="•"/>
            </a:pPr>
            <a:r>
              <a:rPr lang="en-US" altLang="en-US" sz="2400">
                <a:latin typeface="Times New Roman" panose="02020603050405020304" pitchFamily="18" charset="0"/>
              </a:rPr>
              <a:t>File mode creation mask</a:t>
            </a:r>
          </a:p>
          <a:p>
            <a:pPr algn="just" eaLnBrk="1" hangingPunct="1">
              <a:buFontTx/>
              <a:buChar char="•"/>
            </a:pPr>
            <a:r>
              <a:rPr lang="en-US" altLang="en-US" sz="2400">
                <a:latin typeface="Times New Roman" panose="02020603050405020304" pitchFamily="18" charset="0"/>
              </a:rPr>
              <a:t>Signal mask and dispositions</a:t>
            </a:r>
          </a:p>
          <a:p>
            <a:pPr algn="just" eaLnBrk="1" hangingPunct="1">
              <a:buFontTx/>
              <a:buChar char="•"/>
            </a:pPr>
            <a:r>
              <a:rPr lang="en-US" altLang="en-US" sz="2400">
                <a:latin typeface="Times New Roman" panose="02020603050405020304" pitchFamily="18" charset="0"/>
              </a:rPr>
              <a:t>The close-on-exec flag for any open file descriptors</a:t>
            </a:r>
          </a:p>
          <a:p>
            <a:pPr algn="just" eaLnBrk="1" hangingPunct="1">
              <a:buFontTx/>
              <a:buChar char="•"/>
            </a:pPr>
            <a:r>
              <a:rPr lang="en-US" altLang="en-US" sz="2400">
                <a:latin typeface="Times New Roman" panose="02020603050405020304" pitchFamily="18" charset="0"/>
              </a:rPr>
              <a:t>Environment</a:t>
            </a:r>
          </a:p>
          <a:p>
            <a:pPr algn="just" eaLnBrk="1" hangingPunct="1">
              <a:buFontTx/>
              <a:buChar char="•"/>
            </a:pPr>
            <a:r>
              <a:rPr lang="en-US" altLang="en-US" sz="2400">
                <a:latin typeface="Times New Roman" panose="02020603050405020304" pitchFamily="18" charset="0"/>
              </a:rPr>
              <a:t>Attached shared memory segments</a:t>
            </a:r>
          </a:p>
          <a:p>
            <a:pPr algn="just" eaLnBrk="1" hangingPunct="1">
              <a:buFontTx/>
              <a:buChar char="•"/>
            </a:pPr>
            <a:r>
              <a:rPr lang="en-US" altLang="en-US" sz="2400">
                <a:latin typeface="Times New Roman" panose="02020603050405020304" pitchFamily="18" charset="0"/>
              </a:rPr>
              <a:t>Memory mappings</a:t>
            </a:r>
          </a:p>
          <a:p>
            <a:pPr algn="just" eaLnBrk="1" hangingPunct="1">
              <a:buFontTx/>
              <a:buChar char="•"/>
            </a:pPr>
            <a:r>
              <a:rPr lang="en-US" altLang="en-US" sz="2400">
                <a:latin typeface="Times New Roman" panose="02020603050405020304" pitchFamily="18" charset="0"/>
              </a:rPr>
              <a:t>Resource limits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DC65C-25E2-3A49-A69C-E4049DD6AF37}"/>
              </a:ext>
            </a:extLst>
          </p:cNvPr>
          <p:cNvSpPr>
            <a:spLocks noGrp="1"/>
          </p:cNvSpPr>
          <p:nvPr>
            <p:ph type="ctrTitle" idx="4294967295"/>
          </p:nvPr>
        </p:nvSpPr>
        <p:spPr>
          <a:xfrm>
            <a:off x="685800" y="152400"/>
            <a:ext cx="8077200" cy="457200"/>
          </a:xfrm>
        </p:spPr>
        <p:txBody>
          <a:bodyPr>
            <a:normAutofit fontScale="90000"/>
          </a:bodyPr>
          <a:lstStyle/>
          <a:p>
            <a:pPr eaLnBrk="1" hangingPunct="1">
              <a:defRPr/>
            </a:pPr>
            <a:r>
              <a:rPr lang="en-US" sz="3600">
                <a:solidFill>
                  <a:srgbClr val="0000FF"/>
                </a:solidFill>
              </a:rPr>
              <a:t>Differences between the parent and child</a:t>
            </a:r>
          </a:p>
        </p:txBody>
      </p:sp>
      <p:sp>
        <p:nvSpPr>
          <p:cNvPr id="10243" name="Title 1">
            <a:extLst>
              <a:ext uri="{FF2B5EF4-FFF2-40B4-BE49-F238E27FC236}">
                <a16:creationId xmlns:a16="http://schemas.microsoft.com/office/drawing/2014/main" id="{76E51527-F51A-AD70-2E6B-42D7A695C325}"/>
              </a:ext>
            </a:extLst>
          </p:cNvPr>
          <p:cNvSpPr txBox="1">
            <a:spLocks/>
          </p:cNvSpPr>
          <p:nvPr/>
        </p:nvSpPr>
        <p:spPr bwMode="auto">
          <a:xfrm>
            <a:off x="304800" y="685800"/>
            <a:ext cx="8534400" cy="557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3000">
                <a:latin typeface="Times New Roman" panose="02020603050405020304" pitchFamily="18" charset="0"/>
              </a:rPr>
              <a:t>The return value from fork</a:t>
            </a:r>
          </a:p>
          <a:p>
            <a:pPr algn="just" eaLnBrk="1" hangingPunct="1">
              <a:buFontTx/>
              <a:buChar char="•"/>
            </a:pPr>
            <a:r>
              <a:rPr lang="en-US" altLang="en-US" sz="3000">
                <a:latin typeface="Times New Roman" panose="02020603050405020304" pitchFamily="18" charset="0"/>
              </a:rPr>
              <a:t>The process IDs are different</a:t>
            </a:r>
          </a:p>
          <a:p>
            <a:pPr algn="just" eaLnBrk="1" hangingPunct="1">
              <a:buFontTx/>
              <a:buChar char="•"/>
            </a:pPr>
            <a:r>
              <a:rPr lang="en-US" altLang="en-US" sz="3000">
                <a:latin typeface="Times New Roman" panose="02020603050405020304" pitchFamily="18" charset="0"/>
              </a:rPr>
              <a:t>The two processes have different parent process IDs: the parent process ID of the child is the parent; the parent process ID of the parent doesn't change</a:t>
            </a:r>
          </a:p>
          <a:p>
            <a:pPr algn="just" eaLnBrk="1" hangingPunct="1">
              <a:buFontTx/>
              <a:buChar char="•"/>
            </a:pPr>
            <a:r>
              <a:rPr lang="en-US" altLang="en-US" sz="3000">
                <a:latin typeface="Times New Roman" panose="02020603050405020304" pitchFamily="18" charset="0"/>
              </a:rPr>
              <a:t>The child's </a:t>
            </a:r>
            <a:r>
              <a:rPr lang="en-US" altLang="en-US" sz="3000">
                <a:solidFill>
                  <a:schemeClr val="accent2"/>
                </a:solidFill>
                <a:latin typeface="Times New Roman" panose="02020603050405020304" pitchFamily="18" charset="0"/>
              </a:rPr>
              <a:t>tms_utime, tms_stime, tms_cutime, and tms_cstime</a:t>
            </a:r>
            <a:r>
              <a:rPr lang="en-US" altLang="en-US" sz="3000">
                <a:latin typeface="Times New Roman" panose="02020603050405020304" pitchFamily="18" charset="0"/>
              </a:rPr>
              <a:t> values are set to 0</a:t>
            </a:r>
          </a:p>
          <a:p>
            <a:pPr algn="just" eaLnBrk="1" hangingPunct="1">
              <a:buFontTx/>
              <a:buChar char="•"/>
            </a:pPr>
            <a:r>
              <a:rPr lang="en-US" altLang="en-US" sz="3000">
                <a:solidFill>
                  <a:schemeClr val="accent2"/>
                </a:solidFill>
                <a:latin typeface="Times New Roman" panose="02020603050405020304" pitchFamily="18" charset="0"/>
              </a:rPr>
              <a:t>File locks</a:t>
            </a:r>
            <a:r>
              <a:rPr lang="en-US" altLang="en-US" sz="3000">
                <a:latin typeface="Times New Roman" panose="02020603050405020304" pitchFamily="18" charset="0"/>
              </a:rPr>
              <a:t> set by the parent are </a:t>
            </a:r>
            <a:r>
              <a:rPr lang="en-US" altLang="en-US" sz="3000">
                <a:solidFill>
                  <a:schemeClr val="accent2"/>
                </a:solidFill>
                <a:latin typeface="Times New Roman" panose="02020603050405020304" pitchFamily="18" charset="0"/>
              </a:rPr>
              <a:t>not inherited</a:t>
            </a:r>
            <a:r>
              <a:rPr lang="en-US" altLang="en-US" sz="3000">
                <a:latin typeface="Times New Roman" panose="02020603050405020304" pitchFamily="18" charset="0"/>
              </a:rPr>
              <a:t> by the child</a:t>
            </a:r>
          </a:p>
          <a:p>
            <a:pPr algn="just" eaLnBrk="1" hangingPunct="1">
              <a:buFontTx/>
              <a:buChar char="•"/>
            </a:pPr>
            <a:r>
              <a:rPr lang="en-US" altLang="en-US" sz="3000">
                <a:solidFill>
                  <a:schemeClr val="accent2"/>
                </a:solidFill>
                <a:latin typeface="Times New Roman" panose="02020603050405020304" pitchFamily="18" charset="0"/>
              </a:rPr>
              <a:t>Pending alarms</a:t>
            </a:r>
            <a:r>
              <a:rPr lang="en-US" altLang="en-US" sz="3000">
                <a:latin typeface="Times New Roman" panose="02020603050405020304" pitchFamily="18" charset="0"/>
              </a:rPr>
              <a:t> are </a:t>
            </a:r>
            <a:r>
              <a:rPr lang="en-US" altLang="en-US" sz="3000">
                <a:solidFill>
                  <a:schemeClr val="accent2"/>
                </a:solidFill>
                <a:latin typeface="Times New Roman" panose="02020603050405020304" pitchFamily="18" charset="0"/>
              </a:rPr>
              <a:t>cleared</a:t>
            </a:r>
            <a:r>
              <a:rPr lang="en-US" altLang="en-US" sz="3000">
                <a:latin typeface="Times New Roman" panose="02020603050405020304" pitchFamily="18" charset="0"/>
              </a:rPr>
              <a:t> for the child</a:t>
            </a:r>
          </a:p>
          <a:p>
            <a:pPr algn="just" eaLnBrk="1" hangingPunct="1">
              <a:buFontTx/>
              <a:buChar char="•"/>
            </a:pPr>
            <a:r>
              <a:rPr lang="en-US" altLang="en-US" sz="3000">
                <a:latin typeface="Times New Roman" panose="02020603050405020304" pitchFamily="18" charset="0"/>
              </a:rPr>
              <a:t>The </a:t>
            </a:r>
            <a:r>
              <a:rPr lang="en-US" altLang="en-US" sz="3000">
                <a:solidFill>
                  <a:schemeClr val="accent2"/>
                </a:solidFill>
                <a:latin typeface="Times New Roman" panose="02020603050405020304" pitchFamily="18" charset="0"/>
              </a:rPr>
              <a:t>set of pending signals</a:t>
            </a:r>
            <a:r>
              <a:rPr lang="en-US" altLang="en-US" sz="3000">
                <a:latin typeface="Times New Roman" panose="02020603050405020304" pitchFamily="18" charset="0"/>
              </a:rPr>
              <a:t> for the </a:t>
            </a:r>
            <a:r>
              <a:rPr lang="en-US" altLang="en-US" sz="3000">
                <a:solidFill>
                  <a:schemeClr val="accent2"/>
                </a:solidFill>
                <a:latin typeface="Times New Roman" panose="02020603050405020304" pitchFamily="18" charset="0"/>
              </a:rPr>
              <a:t>child</a:t>
            </a:r>
            <a:r>
              <a:rPr lang="en-US" altLang="en-US" sz="3000">
                <a:latin typeface="Times New Roman" panose="02020603050405020304" pitchFamily="18" charset="0"/>
              </a:rPr>
              <a:t> is set to the </a:t>
            </a:r>
            <a:r>
              <a:rPr lang="en-US" altLang="en-US" sz="3000">
                <a:solidFill>
                  <a:schemeClr val="accent2"/>
                </a:solidFill>
                <a:latin typeface="Times New Roman" panose="02020603050405020304" pitchFamily="18" charset="0"/>
              </a:rPr>
              <a:t>empty 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5DFD8-0068-2FF0-E148-DE56A57CEBBC}"/>
              </a:ext>
            </a:extLst>
          </p:cNvPr>
          <p:cNvSpPr>
            <a:spLocks noGrp="1"/>
          </p:cNvSpPr>
          <p:nvPr>
            <p:ph type="ctrTitle" idx="4294967295"/>
          </p:nvPr>
        </p:nvSpPr>
        <p:spPr>
          <a:xfrm>
            <a:off x="685800" y="152400"/>
            <a:ext cx="7772400" cy="457200"/>
          </a:xfrm>
        </p:spPr>
        <p:txBody>
          <a:bodyPr>
            <a:normAutofit fontScale="90000"/>
          </a:bodyPr>
          <a:lstStyle/>
          <a:p>
            <a:pPr eaLnBrk="1" hangingPunct="1">
              <a:defRPr/>
            </a:pPr>
            <a:r>
              <a:rPr lang="en-US" sz="3600">
                <a:solidFill>
                  <a:srgbClr val="0000FF"/>
                </a:solidFill>
              </a:rPr>
              <a:t>Reasons for using fork</a:t>
            </a:r>
          </a:p>
        </p:txBody>
      </p:sp>
      <p:sp>
        <p:nvSpPr>
          <p:cNvPr id="11267" name="Title 1">
            <a:extLst>
              <a:ext uri="{FF2B5EF4-FFF2-40B4-BE49-F238E27FC236}">
                <a16:creationId xmlns:a16="http://schemas.microsoft.com/office/drawing/2014/main" id="{1B3449D7-9AAC-55D2-7E89-9A5EC7459DF6}"/>
              </a:ext>
            </a:extLst>
          </p:cNvPr>
          <p:cNvSpPr txBox="1">
            <a:spLocks/>
          </p:cNvSpPr>
          <p:nvPr/>
        </p:nvSpPr>
        <p:spPr bwMode="auto">
          <a:xfrm>
            <a:off x="304800" y="685800"/>
            <a:ext cx="8534400" cy="624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sz="3100">
                <a:latin typeface="Times New Roman" panose="02020603050405020304" pitchFamily="18" charset="0"/>
              </a:rPr>
              <a:t>1. When a process wants to duplicate itself so that the parent and child can each execute different sections of code at the same time. This is common for </a:t>
            </a:r>
            <a:r>
              <a:rPr lang="en-US" altLang="en-US" sz="3100">
                <a:solidFill>
                  <a:schemeClr val="accent2"/>
                </a:solidFill>
                <a:latin typeface="Times New Roman" panose="02020603050405020304" pitchFamily="18" charset="0"/>
              </a:rPr>
              <a:t>network servers</a:t>
            </a:r>
            <a:r>
              <a:rPr lang="en-US" altLang="en-US" sz="3100">
                <a:latin typeface="Times New Roman" panose="02020603050405020304" pitchFamily="18" charset="0"/>
              </a:rPr>
              <a:t> the parent waits for a service request from a client. When the request arrives, the parent calls fork and lets the child handle the request. The parent goes back to waiting for the next service request to arrive.</a:t>
            </a:r>
          </a:p>
          <a:p>
            <a:pPr algn="just" eaLnBrk="1" hangingPunct="1"/>
            <a:endParaRPr lang="en-US" altLang="en-US" sz="3100" b="1">
              <a:latin typeface="Times New Roman" panose="02020603050405020304" pitchFamily="18" charset="0"/>
            </a:endParaRPr>
          </a:p>
          <a:p>
            <a:pPr algn="just" eaLnBrk="1" hangingPunct="1"/>
            <a:r>
              <a:rPr lang="en-US" altLang="en-US" sz="3100">
                <a:latin typeface="Times New Roman" panose="02020603050405020304" pitchFamily="18" charset="0"/>
              </a:rPr>
              <a:t>2. When a process wants to execute a different program. This is common for shells. In this case, the child does an exec right after it returns from the fork.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6335E-FD0D-59ED-7EF6-E2916A0270FC}"/>
              </a:ext>
            </a:extLst>
          </p:cNvPr>
          <p:cNvSpPr>
            <a:spLocks noGrp="1"/>
          </p:cNvSpPr>
          <p:nvPr>
            <p:ph type="ctrTitle" idx="4294967295"/>
          </p:nvPr>
        </p:nvSpPr>
        <p:spPr>
          <a:xfrm>
            <a:off x="685800" y="152400"/>
            <a:ext cx="7772400" cy="457200"/>
          </a:xfrm>
        </p:spPr>
        <p:txBody>
          <a:bodyPr>
            <a:normAutofit fontScale="90000"/>
          </a:bodyPr>
          <a:lstStyle/>
          <a:p>
            <a:pPr eaLnBrk="1" hangingPunct="1">
              <a:defRPr/>
            </a:pPr>
            <a:r>
              <a:rPr lang="en-US" sz="3600">
                <a:solidFill>
                  <a:srgbClr val="0000FF"/>
                </a:solidFill>
              </a:rPr>
              <a:t>vfork() function</a:t>
            </a:r>
          </a:p>
        </p:txBody>
      </p:sp>
      <p:sp>
        <p:nvSpPr>
          <p:cNvPr id="12291" name="Title 1">
            <a:extLst>
              <a:ext uri="{FF2B5EF4-FFF2-40B4-BE49-F238E27FC236}">
                <a16:creationId xmlns:a16="http://schemas.microsoft.com/office/drawing/2014/main" id="{42CD0F41-BD44-575D-58C1-B95569186560}"/>
              </a:ext>
            </a:extLst>
          </p:cNvPr>
          <p:cNvSpPr txBox="1">
            <a:spLocks/>
          </p:cNvSpPr>
          <p:nvPr/>
        </p:nvSpPr>
        <p:spPr bwMode="auto">
          <a:xfrm>
            <a:off x="304800" y="685800"/>
            <a:ext cx="8534400"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2800">
                <a:latin typeface="Times New Roman" panose="02020603050405020304" pitchFamily="18" charset="0"/>
              </a:rPr>
              <a:t>The function vfork has the same calling sequence and same return values as fork. </a:t>
            </a:r>
          </a:p>
          <a:p>
            <a:pPr algn="just" eaLnBrk="1" hangingPunct="1">
              <a:buFontTx/>
              <a:buChar char="•"/>
            </a:pPr>
            <a:r>
              <a:rPr lang="en-US" altLang="en-US" sz="2800">
                <a:latin typeface="Times New Roman" panose="02020603050405020304" pitchFamily="18" charset="0"/>
              </a:rPr>
              <a:t>But the semantics of the two functions differ.</a:t>
            </a:r>
          </a:p>
          <a:p>
            <a:pPr algn="just" eaLnBrk="1" hangingPunct="1">
              <a:buFontTx/>
              <a:buChar char="•"/>
            </a:pPr>
            <a:r>
              <a:rPr lang="en-US" altLang="en-US" sz="2800">
                <a:latin typeface="Times New Roman" panose="02020603050405020304" pitchFamily="18" charset="0"/>
              </a:rPr>
              <a:t>The vfork function is intended to create a new process when the purpose of the new process is to exec a new program</a:t>
            </a:r>
          </a:p>
          <a:p>
            <a:pPr algn="just" eaLnBrk="1" hangingPunct="1">
              <a:buFontTx/>
              <a:buChar char="•"/>
            </a:pPr>
            <a:r>
              <a:rPr lang="en-US" altLang="en-US" sz="2800">
                <a:latin typeface="Times New Roman" panose="02020603050405020304" pitchFamily="18" charset="0"/>
              </a:rPr>
              <a:t>The vfork function creates the new process, just like fork, without copying the address space of the parent into the child, as the child won't reference that address space; the child simply calls exec (or exit) right after the vfork.</a:t>
            </a:r>
          </a:p>
          <a:p>
            <a:pPr algn="just" eaLnBrk="1" hangingPunct="1">
              <a:buFontTx/>
              <a:buChar char="•"/>
            </a:pPr>
            <a:r>
              <a:rPr lang="en-US" altLang="en-US" sz="2800">
                <a:latin typeface="Times New Roman" panose="02020603050405020304" pitchFamily="18" charset="0"/>
              </a:rPr>
              <a:t>Instead, while the child is running and until it calls either exec or exit, the child runs in the address space of the parent.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C5695EFB-80EC-1CC4-4584-E8B3045EA175}"/>
              </a:ext>
            </a:extLst>
          </p:cNvPr>
          <p:cNvSpPr txBox="1">
            <a:spLocks/>
          </p:cNvSpPr>
          <p:nvPr/>
        </p:nvSpPr>
        <p:spPr bwMode="auto">
          <a:xfrm>
            <a:off x="304800" y="304800"/>
            <a:ext cx="8534400" cy="607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2800">
                <a:latin typeface="Times New Roman" panose="02020603050405020304" pitchFamily="18" charset="0"/>
              </a:rPr>
              <a:t>Another difference between the two functions is that vfork guarantees that the child runs first, until the child calls exec or exit. </a:t>
            </a:r>
          </a:p>
          <a:p>
            <a:pPr algn="just" eaLnBrk="1" hangingPunct="1">
              <a:buFontTx/>
              <a:buChar char="•"/>
            </a:pPr>
            <a:r>
              <a:rPr lang="en-US" altLang="en-US" sz="2800">
                <a:latin typeface="Times New Roman" panose="02020603050405020304" pitchFamily="18" charset="0"/>
              </a:rPr>
              <a:t>When the child calls either of these functions, the parent resumes. (This can lead to deadlock if the child depends on further actions of the parent before calling either of these two functions.)</a:t>
            </a:r>
          </a:p>
          <a:p>
            <a:pPr algn="just" eaLnBrk="1" hangingPunct="1">
              <a:buFontTx/>
              <a:buChar char="•"/>
            </a:pPr>
            <a:r>
              <a:rPr lang="en-US" altLang="en-US" sz="2800">
                <a:latin typeface="Times New Roman" panose="02020603050405020304" pitchFamily="18" charset="0"/>
              </a:rPr>
              <a:t>In the vforkeg.c program We've replaced the call to fork with vfork and removed the write to standard output. </a:t>
            </a:r>
          </a:p>
          <a:p>
            <a:pPr algn="just" eaLnBrk="1" hangingPunct="1">
              <a:buFontTx/>
              <a:buChar char="•"/>
            </a:pPr>
            <a:r>
              <a:rPr lang="en-US" altLang="en-US" sz="2800">
                <a:latin typeface="Times New Roman" panose="02020603050405020304" pitchFamily="18" charset="0"/>
              </a:rPr>
              <a:t>Also, we don't need to have the parent call sleep, as we're guaranteed that it is put to sleep by the kernel until the child calls either exec or exit.</a:t>
            </a:r>
          </a:p>
          <a:p>
            <a:pPr algn="just" eaLnBrk="1" hangingPunct="1">
              <a:buFontTx/>
              <a:buChar char="•"/>
            </a:pPr>
            <a:r>
              <a:rPr lang="en-US" altLang="en-US" sz="2800">
                <a:latin typeface="Times New Roman" panose="02020603050405020304" pitchFamily="18" charset="0"/>
              </a:rPr>
              <a:t>_exit does not perform any flushing of standard I/O buffers.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4DE85-B647-B7AB-D426-78293EAF457E}"/>
              </a:ext>
            </a:extLst>
          </p:cNvPr>
          <p:cNvSpPr>
            <a:spLocks noGrp="1"/>
          </p:cNvSpPr>
          <p:nvPr>
            <p:ph type="ctrTitle" idx="4294967295"/>
          </p:nvPr>
        </p:nvSpPr>
        <p:spPr>
          <a:xfrm>
            <a:off x="685800" y="152400"/>
            <a:ext cx="7772400" cy="457200"/>
          </a:xfrm>
        </p:spPr>
        <p:txBody>
          <a:bodyPr>
            <a:normAutofit fontScale="90000"/>
          </a:bodyPr>
          <a:lstStyle/>
          <a:p>
            <a:pPr eaLnBrk="1" hangingPunct="1">
              <a:defRPr/>
            </a:pPr>
            <a:r>
              <a:rPr lang="en-US" sz="3600">
                <a:solidFill>
                  <a:srgbClr val="0000FF"/>
                </a:solidFill>
              </a:rPr>
              <a:t>exit functions</a:t>
            </a:r>
          </a:p>
        </p:txBody>
      </p:sp>
      <p:sp>
        <p:nvSpPr>
          <p:cNvPr id="14339" name="Title 1">
            <a:extLst>
              <a:ext uri="{FF2B5EF4-FFF2-40B4-BE49-F238E27FC236}">
                <a16:creationId xmlns:a16="http://schemas.microsoft.com/office/drawing/2014/main" id="{98047CB9-8D09-46D9-906B-6E81F8D588D7}"/>
              </a:ext>
            </a:extLst>
          </p:cNvPr>
          <p:cNvSpPr txBox="1">
            <a:spLocks/>
          </p:cNvSpPr>
          <p:nvPr/>
        </p:nvSpPr>
        <p:spPr bwMode="auto">
          <a:xfrm>
            <a:off x="304800" y="685800"/>
            <a:ext cx="8534400" cy="478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2800"/>
              <a:t>Three functions terminate a program normally: _exit and _Exit, which return to the kernel immediately, and exit, which performs certain cleanup processing and then returns to the kernel.</a:t>
            </a:r>
          </a:p>
          <a:p>
            <a:pPr algn="just" eaLnBrk="1" hangingPunct="1"/>
            <a:endParaRPr lang="en-US" altLang="en-US" sz="2800"/>
          </a:p>
          <a:p>
            <a:pPr eaLnBrk="1" hangingPunct="1"/>
            <a:r>
              <a:rPr lang="en-US" altLang="en-US" sz="2800"/>
              <a:t>#include &lt;stdlib.h&gt;</a:t>
            </a:r>
          </a:p>
          <a:p>
            <a:pPr eaLnBrk="1" hangingPunct="1"/>
            <a:r>
              <a:rPr lang="en-US" altLang="en-US" sz="2800">
                <a:solidFill>
                  <a:schemeClr val="hlink"/>
                </a:solidFill>
              </a:rPr>
              <a:t>void exit(int </a:t>
            </a:r>
            <a:r>
              <a:rPr lang="en-US" altLang="en-US" sz="2800" i="1">
                <a:solidFill>
                  <a:schemeClr val="hlink"/>
                </a:solidFill>
              </a:rPr>
              <a:t>status</a:t>
            </a:r>
            <a:r>
              <a:rPr lang="en-US" altLang="en-US" sz="2800">
                <a:solidFill>
                  <a:schemeClr val="hlink"/>
                </a:solidFill>
              </a:rPr>
              <a:t>);</a:t>
            </a:r>
          </a:p>
          <a:p>
            <a:pPr eaLnBrk="1" hangingPunct="1"/>
            <a:r>
              <a:rPr lang="en-US" altLang="en-US" sz="2800">
                <a:solidFill>
                  <a:schemeClr val="hlink"/>
                </a:solidFill>
              </a:rPr>
              <a:t>void _Exit(int </a:t>
            </a:r>
            <a:r>
              <a:rPr lang="en-US" altLang="en-US" sz="2800" i="1">
                <a:solidFill>
                  <a:schemeClr val="hlink"/>
                </a:solidFill>
              </a:rPr>
              <a:t>status</a:t>
            </a:r>
            <a:r>
              <a:rPr lang="en-US" altLang="en-US" sz="2800">
                <a:solidFill>
                  <a:schemeClr val="hlink"/>
                </a:solidFill>
              </a:rPr>
              <a:t>);</a:t>
            </a:r>
          </a:p>
          <a:p>
            <a:pPr eaLnBrk="1" hangingPunct="1"/>
            <a:endParaRPr lang="en-US" altLang="en-US" sz="2800">
              <a:solidFill>
                <a:schemeClr val="hlink"/>
              </a:solidFill>
            </a:endParaRPr>
          </a:p>
          <a:p>
            <a:pPr eaLnBrk="1" hangingPunct="1"/>
            <a:r>
              <a:rPr lang="en-US" altLang="en-US" sz="2800"/>
              <a:t>#include &lt;unistd.h&gt;</a:t>
            </a:r>
          </a:p>
          <a:p>
            <a:pPr eaLnBrk="1" hangingPunct="1"/>
            <a:r>
              <a:rPr lang="en-US" altLang="en-US" sz="2800">
                <a:solidFill>
                  <a:schemeClr val="hlink"/>
                </a:solidFill>
              </a:rPr>
              <a:t>void _exit(int </a:t>
            </a:r>
            <a:r>
              <a:rPr lang="en-US" altLang="en-US" sz="2800" i="1">
                <a:solidFill>
                  <a:schemeClr val="hlink"/>
                </a:solidFill>
              </a:rPr>
              <a:t>status</a:t>
            </a:r>
            <a:r>
              <a:rPr lang="en-US" altLang="en-US" sz="2800">
                <a:solidFill>
                  <a:schemeClr val="hlink"/>
                </a:solidFill>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01BD88DF-4183-AB85-9B00-CFB8B9A625FD}"/>
              </a:ext>
            </a:extLst>
          </p:cNvPr>
          <p:cNvSpPr txBox="1">
            <a:spLocks/>
          </p:cNvSpPr>
          <p:nvPr/>
        </p:nvSpPr>
        <p:spPr bwMode="auto">
          <a:xfrm>
            <a:off x="304800" y="228600"/>
            <a:ext cx="8534400" cy="545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sz="3200">
                <a:latin typeface="Times New Roman" panose="02020603050405020304" pitchFamily="18" charset="0"/>
              </a:rPr>
              <a:t>a process can terminate normally in five ways:</a:t>
            </a:r>
          </a:p>
          <a:p>
            <a:pPr algn="just" eaLnBrk="1" hangingPunct="1"/>
            <a:r>
              <a:rPr lang="en-US" altLang="en-US" sz="3200">
                <a:latin typeface="Times New Roman" panose="02020603050405020304" pitchFamily="18" charset="0"/>
              </a:rPr>
              <a:t>1. Executing a </a:t>
            </a:r>
            <a:r>
              <a:rPr lang="en-US" altLang="en-US" sz="3200">
                <a:solidFill>
                  <a:schemeClr val="accent2"/>
                </a:solidFill>
                <a:latin typeface="Times New Roman" panose="02020603050405020304" pitchFamily="18" charset="0"/>
              </a:rPr>
              <a:t>return</a:t>
            </a:r>
            <a:r>
              <a:rPr lang="en-US" altLang="en-US" sz="3200">
                <a:latin typeface="Times New Roman" panose="02020603050405020304" pitchFamily="18" charset="0"/>
              </a:rPr>
              <a:t> from the main function. this is equivalent to calling exit.</a:t>
            </a:r>
          </a:p>
          <a:p>
            <a:pPr algn="just" eaLnBrk="1" hangingPunct="1"/>
            <a:r>
              <a:rPr lang="en-US" altLang="en-US" sz="3200" b="1">
                <a:latin typeface="Times New Roman" panose="02020603050405020304" pitchFamily="18" charset="0"/>
              </a:rPr>
              <a:t>2. </a:t>
            </a:r>
            <a:r>
              <a:rPr lang="en-US" altLang="en-US" sz="3200">
                <a:solidFill>
                  <a:schemeClr val="accent2"/>
                </a:solidFill>
                <a:latin typeface="Times New Roman" panose="02020603050405020304" pitchFamily="18" charset="0"/>
              </a:rPr>
              <a:t>Calling the exit function</a:t>
            </a:r>
            <a:r>
              <a:rPr lang="en-US" altLang="en-US" sz="3200">
                <a:latin typeface="Times New Roman" panose="02020603050405020304" pitchFamily="18" charset="0"/>
              </a:rPr>
              <a:t>. This function is defined by ISO C and includes the calling of all exit handlers that have been registered by calling atexit and closing all standard I/O streams. Because ISO C does not deal with file descriptors, multiple processes (parents and children), and job control, the definition of this function is incomplete for a UNIX system.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77A8B4A0-5AE5-D4B8-D55A-3F60CBBDF9E9}"/>
              </a:ext>
            </a:extLst>
          </p:cNvPr>
          <p:cNvSpPr txBox="1">
            <a:spLocks/>
          </p:cNvSpPr>
          <p:nvPr/>
        </p:nvSpPr>
        <p:spPr bwMode="auto">
          <a:xfrm>
            <a:off x="304800" y="304800"/>
            <a:ext cx="8534400" cy="642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sz="3200">
                <a:latin typeface="Times New Roman" panose="02020603050405020304" pitchFamily="18" charset="0"/>
              </a:rPr>
              <a:t>3. </a:t>
            </a:r>
            <a:r>
              <a:rPr lang="en-US" altLang="en-US" sz="3200">
                <a:solidFill>
                  <a:schemeClr val="accent2"/>
                </a:solidFill>
                <a:latin typeface="Times New Roman" panose="02020603050405020304" pitchFamily="18" charset="0"/>
              </a:rPr>
              <a:t>Calling the _exit</a:t>
            </a:r>
            <a:r>
              <a:rPr lang="en-US" altLang="en-US" sz="3200">
                <a:latin typeface="Times New Roman" panose="02020603050405020304" pitchFamily="18" charset="0"/>
              </a:rPr>
              <a:t>, do not flush standard I/O streams. </a:t>
            </a:r>
          </a:p>
          <a:p>
            <a:pPr algn="just" eaLnBrk="1" hangingPunct="1"/>
            <a:r>
              <a:rPr lang="en-US" altLang="en-US" sz="3200" b="1">
                <a:latin typeface="Times New Roman" panose="02020603050405020304" pitchFamily="18" charset="0"/>
              </a:rPr>
              <a:t>4. </a:t>
            </a:r>
            <a:r>
              <a:rPr lang="en-US" altLang="en-US" sz="3200">
                <a:solidFill>
                  <a:schemeClr val="accent2"/>
                </a:solidFill>
                <a:latin typeface="Times New Roman" panose="02020603050405020304" pitchFamily="18" charset="0"/>
              </a:rPr>
              <a:t>Executing a return from the start routine of the last thread in the process</a:t>
            </a:r>
            <a:r>
              <a:rPr lang="en-US" altLang="en-US" sz="3200">
                <a:latin typeface="Times New Roman" panose="02020603050405020304" pitchFamily="18" charset="0"/>
              </a:rPr>
              <a:t>. The return value of the thread is not used as the return value of the process, however. When the last thread returns from its start routine, the process exits with a termination status of 0.</a:t>
            </a:r>
          </a:p>
          <a:p>
            <a:pPr algn="just" eaLnBrk="1" hangingPunct="1"/>
            <a:r>
              <a:rPr lang="en-US" altLang="en-US" sz="3200" b="1">
                <a:latin typeface="Times New Roman" panose="02020603050405020304" pitchFamily="18" charset="0"/>
              </a:rPr>
              <a:t>5. </a:t>
            </a:r>
            <a:r>
              <a:rPr lang="en-US" altLang="en-US" sz="3200">
                <a:solidFill>
                  <a:schemeClr val="accent2"/>
                </a:solidFill>
                <a:latin typeface="Times New Roman" panose="02020603050405020304" pitchFamily="18" charset="0"/>
              </a:rPr>
              <a:t>Calling the pthread_exit</a:t>
            </a:r>
            <a:r>
              <a:rPr lang="en-US" altLang="en-US" sz="3200">
                <a:latin typeface="Times New Roman" panose="02020603050405020304" pitchFamily="18" charset="0"/>
              </a:rPr>
              <a:t> function from the last thread in the process. As with the previous case, the exit status of the process in this situation is always 0, regardless of the argument passed to pthread_exit. </a:t>
            </a:r>
            <a:endParaRPr lang="en-US" altLang="en-US" sz="440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4AFC41EF-D30E-B67E-F33C-AF718E391631}"/>
              </a:ext>
            </a:extLst>
          </p:cNvPr>
          <p:cNvSpPr txBox="1">
            <a:spLocks/>
          </p:cNvSpPr>
          <p:nvPr/>
        </p:nvSpPr>
        <p:spPr bwMode="auto">
          <a:xfrm>
            <a:off x="304800" y="304800"/>
            <a:ext cx="8534400"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sz="2800">
                <a:latin typeface="Times New Roman" panose="02020603050405020304" pitchFamily="18" charset="0"/>
              </a:rPr>
              <a:t>The three forms of abnormal termination are as follows:</a:t>
            </a:r>
          </a:p>
          <a:p>
            <a:pPr algn="just" eaLnBrk="1" hangingPunct="1"/>
            <a:r>
              <a:rPr lang="en-US" altLang="en-US" sz="2800" b="1">
                <a:latin typeface="Times New Roman" panose="02020603050405020304" pitchFamily="18" charset="0"/>
              </a:rPr>
              <a:t>1. </a:t>
            </a:r>
            <a:r>
              <a:rPr lang="en-US" altLang="en-US" sz="2800">
                <a:solidFill>
                  <a:schemeClr val="accent2"/>
                </a:solidFill>
                <a:latin typeface="Times New Roman" panose="02020603050405020304" pitchFamily="18" charset="0"/>
              </a:rPr>
              <a:t>Calling abort</a:t>
            </a:r>
            <a:r>
              <a:rPr lang="en-US" altLang="en-US" sz="2800">
                <a:latin typeface="Times New Roman" panose="02020603050405020304" pitchFamily="18" charset="0"/>
              </a:rPr>
              <a:t>. This is a special case of the next item, as it generates the SIGABRT signal.</a:t>
            </a:r>
          </a:p>
          <a:p>
            <a:pPr algn="just" eaLnBrk="1" hangingPunct="1"/>
            <a:r>
              <a:rPr lang="en-US" altLang="en-US" sz="2800" b="1">
                <a:latin typeface="Times New Roman" panose="02020603050405020304" pitchFamily="18" charset="0"/>
              </a:rPr>
              <a:t>2.</a:t>
            </a:r>
            <a:r>
              <a:rPr lang="en-US" altLang="en-US" sz="2800">
                <a:latin typeface="Times New Roman" panose="02020603050405020304" pitchFamily="18" charset="0"/>
              </a:rPr>
              <a:t> </a:t>
            </a:r>
            <a:r>
              <a:rPr lang="en-US" altLang="en-US" sz="2800">
                <a:solidFill>
                  <a:schemeClr val="accent2"/>
                </a:solidFill>
                <a:latin typeface="Times New Roman" panose="02020603050405020304" pitchFamily="18" charset="0"/>
              </a:rPr>
              <a:t>When the process receives certain signals</a:t>
            </a:r>
            <a:r>
              <a:rPr lang="en-US" altLang="en-US" sz="2800">
                <a:latin typeface="Times New Roman" panose="02020603050405020304" pitchFamily="18" charset="0"/>
              </a:rPr>
              <a:t>. The signal can be generated by the process itself for example, by calling the abort function by some other process, or by the kernel. Examples of signals generated by the kernel include the process referencing a memory location not within its address space or trying to divide by 0.</a:t>
            </a:r>
          </a:p>
          <a:p>
            <a:pPr algn="just" eaLnBrk="1" hangingPunct="1"/>
            <a:r>
              <a:rPr lang="en-US" altLang="en-US" sz="2800" b="1">
                <a:latin typeface="Times New Roman" panose="02020603050405020304" pitchFamily="18" charset="0"/>
              </a:rPr>
              <a:t>3.</a:t>
            </a:r>
            <a:r>
              <a:rPr lang="en-US" altLang="en-US" sz="2800">
                <a:solidFill>
                  <a:schemeClr val="accent2"/>
                </a:solidFill>
                <a:latin typeface="Times New Roman" panose="02020603050405020304" pitchFamily="18" charset="0"/>
              </a:rPr>
              <a:t>The last thread responds to a cancellation request</a:t>
            </a:r>
            <a:r>
              <a:rPr lang="en-US" altLang="en-US" sz="2800">
                <a:latin typeface="Times New Roman" panose="02020603050405020304" pitchFamily="18" charset="0"/>
              </a:rPr>
              <a:t>. By default, cancellation occurs in a deferred manner: one thread requests that another be canceled, and sometime later, the target thread terminates.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47CE255A-2FFD-01B0-95AF-7DDE4746888C}"/>
              </a:ext>
            </a:extLst>
          </p:cNvPr>
          <p:cNvSpPr txBox="1">
            <a:spLocks/>
          </p:cNvSpPr>
          <p:nvPr/>
        </p:nvSpPr>
        <p:spPr bwMode="auto">
          <a:xfrm>
            <a:off x="304800" y="304800"/>
            <a:ext cx="8534400" cy="604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2600">
                <a:latin typeface="Times New Roman" panose="02020603050405020304" pitchFamily="18" charset="0"/>
              </a:rPr>
              <a:t>Regardless of how a process terminates, the </a:t>
            </a:r>
            <a:r>
              <a:rPr lang="en-US" altLang="en-US" sz="2600">
                <a:solidFill>
                  <a:schemeClr val="accent2"/>
                </a:solidFill>
                <a:latin typeface="Times New Roman" panose="02020603050405020304" pitchFamily="18" charset="0"/>
              </a:rPr>
              <a:t>same code</a:t>
            </a:r>
            <a:r>
              <a:rPr lang="en-US" altLang="en-US" sz="2600">
                <a:latin typeface="Times New Roman" panose="02020603050405020304" pitchFamily="18" charset="0"/>
              </a:rPr>
              <a:t> in the kernel is eventually executed. </a:t>
            </a:r>
          </a:p>
          <a:p>
            <a:pPr algn="just" eaLnBrk="1" hangingPunct="1">
              <a:buFontTx/>
              <a:buChar char="•"/>
            </a:pPr>
            <a:r>
              <a:rPr lang="en-US" altLang="en-US" sz="2600">
                <a:latin typeface="Times New Roman" panose="02020603050405020304" pitchFamily="18" charset="0"/>
              </a:rPr>
              <a:t>This kernel code </a:t>
            </a:r>
            <a:r>
              <a:rPr lang="en-US" altLang="en-US" sz="2600">
                <a:solidFill>
                  <a:schemeClr val="accent2"/>
                </a:solidFill>
                <a:latin typeface="Times New Roman" panose="02020603050405020304" pitchFamily="18" charset="0"/>
              </a:rPr>
              <a:t>closes all the open descriptors</a:t>
            </a:r>
            <a:r>
              <a:rPr lang="en-US" altLang="en-US" sz="2600">
                <a:latin typeface="Times New Roman" panose="02020603050405020304" pitchFamily="18" charset="0"/>
              </a:rPr>
              <a:t> for the process, releases the memory that it was using, and the like.</a:t>
            </a:r>
          </a:p>
          <a:p>
            <a:pPr algn="just" eaLnBrk="1" hangingPunct="1">
              <a:buFontTx/>
              <a:buChar char="•"/>
            </a:pPr>
            <a:r>
              <a:rPr lang="en-US" altLang="en-US" sz="2600">
                <a:latin typeface="Times New Roman" panose="02020603050405020304" pitchFamily="18" charset="0"/>
              </a:rPr>
              <a:t>For any of the preceding cases, we want the terminating process to be able to </a:t>
            </a:r>
            <a:r>
              <a:rPr lang="en-US" altLang="en-US" sz="2600">
                <a:solidFill>
                  <a:schemeClr val="accent2"/>
                </a:solidFill>
                <a:latin typeface="Times New Roman" panose="02020603050405020304" pitchFamily="18" charset="0"/>
              </a:rPr>
              <a:t>notify its parent how it terminated</a:t>
            </a:r>
            <a:r>
              <a:rPr lang="en-US" altLang="en-US" sz="2600">
                <a:latin typeface="Times New Roman" panose="02020603050405020304" pitchFamily="18" charset="0"/>
              </a:rPr>
              <a:t>. </a:t>
            </a:r>
          </a:p>
          <a:p>
            <a:pPr algn="just" eaLnBrk="1" hangingPunct="1">
              <a:buFontTx/>
              <a:buChar char="•"/>
            </a:pPr>
            <a:r>
              <a:rPr lang="en-US" altLang="en-US" sz="2600">
                <a:latin typeface="Times New Roman" panose="02020603050405020304" pitchFamily="18" charset="0"/>
              </a:rPr>
              <a:t>For the three exit functions (exit, _exit, and _Exit), this is done by passing an exit status as the argument to the function. </a:t>
            </a:r>
          </a:p>
          <a:p>
            <a:pPr algn="just" eaLnBrk="1" hangingPunct="1">
              <a:buFontTx/>
              <a:buChar char="•"/>
            </a:pPr>
            <a:r>
              <a:rPr lang="en-US" altLang="en-US" sz="2600">
                <a:latin typeface="Times New Roman" panose="02020603050405020304" pitchFamily="18" charset="0"/>
              </a:rPr>
              <a:t>In the case of an </a:t>
            </a:r>
            <a:r>
              <a:rPr lang="en-US" altLang="en-US" sz="2600">
                <a:solidFill>
                  <a:schemeClr val="accent2"/>
                </a:solidFill>
                <a:latin typeface="Times New Roman" panose="02020603050405020304" pitchFamily="18" charset="0"/>
              </a:rPr>
              <a:t>abnormal termination</a:t>
            </a:r>
            <a:r>
              <a:rPr lang="en-US" altLang="en-US" sz="2600">
                <a:latin typeface="Times New Roman" panose="02020603050405020304" pitchFamily="18" charset="0"/>
              </a:rPr>
              <a:t>, however, the </a:t>
            </a:r>
            <a:r>
              <a:rPr lang="en-US" altLang="en-US" sz="2600">
                <a:solidFill>
                  <a:schemeClr val="accent2"/>
                </a:solidFill>
                <a:latin typeface="Times New Roman" panose="02020603050405020304" pitchFamily="18" charset="0"/>
              </a:rPr>
              <a:t>kernel</a:t>
            </a:r>
            <a:r>
              <a:rPr lang="en-US" altLang="en-US" sz="2600">
                <a:latin typeface="Times New Roman" panose="02020603050405020304" pitchFamily="18" charset="0"/>
              </a:rPr>
              <a:t>, not the process, </a:t>
            </a:r>
            <a:r>
              <a:rPr lang="en-US" altLang="en-US" sz="2600">
                <a:solidFill>
                  <a:schemeClr val="accent2"/>
                </a:solidFill>
                <a:latin typeface="Times New Roman" panose="02020603050405020304" pitchFamily="18" charset="0"/>
              </a:rPr>
              <a:t>generates a termination status</a:t>
            </a:r>
            <a:r>
              <a:rPr lang="en-US" altLang="en-US" sz="2600">
                <a:latin typeface="Times New Roman" panose="02020603050405020304" pitchFamily="18" charset="0"/>
              </a:rPr>
              <a:t> to indicate the reason for the abnormal termination.</a:t>
            </a:r>
          </a:p>
          <a:p>
            <a:pPr algn="just" eaLnBrk="1" hangingPunct="1">
              <a:buFontTx/>
              <a:buChar char="•"/>
            </a:pPr>
            <a:r>
              <a:rPr lang="en-US" altLang="en-US" sz="2600">
                <a:latin typeface="Times New Roman" panose="02020603050405020304" pitchFamily="18" charset="0"/>
              </a:rPr>
              <a:t>In any case, the </a:t>
            </a:r>
            <a:r>
              <a:rPr lang="en-US" altLang="en-US" sz="2600">
                <a:solidFill>
                  <a:schemeClr val="accent2"/>
                </a:solidFill>
                <a:latin typeface="Times New Roman" panose="02020603050405020304" pitchFamily="18" charset="0"/>
              </a:rPr>
              <a:t>parent</a:t>
            </a:r>
            <a:r>
              <a:rPr lang="en-US" altLang="en-US" sz="2600">
                <a:latin typeface="Times New Roman" panose="02020603050405020304" pitchFamily="18" charset="0"/>
              </a:rPr>
              <a:t> of the process can </a:t>
            </a:r>
            <a:r>
              <a:rPr lang="en-US" altLang="en-US" sz="2600">
                <a:solidFill>
                  <a:schemeClr val="accent2"/>
                </a:solidFill>
                <a:latin typeface="Times New Roman" panose="02020603050405020304" pitchFamily="18" charset="0"/>
              </a:rPr>
              <a:t>obtain</a:t>
            </a:r>
            <a:r>
              <a:rPr lang="en-US" altLang="en-US" sz="2600">
                <a:latin typeface="Times New Roman" panose="02020603050405020304" pitchFamily="18" charset="0"/>
              </a:rPr>
              <a:t> the </a:t>
            </a:r>
            <a:r>
              <a:rPr lang="en-US" altLang="en-US" sz="2600">
                <a:solidFill>
                  <a:schemeClr val="accent2"/>
                </a:solidFill>
                <a:latin typeface="Times New Roman" panose="02020603050405020304" pitchFamily="18" charset="0"/>
              </a:rPr>
              <a:t>termination status</a:t>
            </a:r>
            <a:r>
              <a:rPr lang="en-US" altLang="en-US" sz="2600">
                <a:latin typeface="Times New Roman" panose="02020603050405020304" pitchFamily="18" charset="0"/>
              </a:rPr>
              <a:t> from either the </a:t>
            </a:r>
            <a:r>
              <a:rPr lang="en-US" altLang="en-US" sz="2600">
                <a:solidFill>
                  <a:schemeClr val="accent2"/>
                </a:solidFill>
                <a:latin typeface="Times New Roman" panose="02020603050405020304" pitchFamily="18" charset="0"/>
              </a:rPr>
              <a:t>wait or the waitpid</a:t>
            </a:r>
            <a:r>
              <a:rPr lang="en-US" altLang="en-US" sz="2600">
                <a:latin typeface="Times New Roman" panose="02020603050405020304" pitchFamily="18" charset="0"/>
              </a:rPr>
              <a:t> function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3989E490-BBE6-A9A8-828E-66185D714C31}"/>
              </a:ext>
            </a:extLst>
          </p:cNvPr>
          <p:cNvSpPr txBox="1">
            <a:spLocks/>
          </p:cNvSpPr>
          <p:nvPr/>
        </p:nvSpPr>
        <p:spPr bwMode="auto">
          <a:xfrm>
            <a:off x="304800" y="304800"/>
            <a:ext cx="8534400" cy="496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3200">
                <a:latin typeface="Times New Roman" panose="02020603050405020304" pitchFamily="18" charset="0"/>
              </a:rPr>
              <a:t>we can differentiate between the exit status, which is the argument to one of the three exit functions or the return value from main, and the termination status. </a:t>
            </a:r>
          </a:p>
          <a:p>
            <a:pPr algn="just" eaLnBrk="1" hangingPunct="1">
              <a:buFontTx/>
              <a:buChar char="•"/>
            </a:pPr>
            <a:r>
              <a:rPr lang="en-US" altLang="en-US" sz="3200">
                <a:latin typeface="Times New Roman" panose="02020603050405020304" pitchFamily="18" charset="0"/>
              </a:rPr>
              <a:t>The exit status is converted into a termination status by the kernel when _exit is finally called. </a:t>
            </a:r>
          </a:p>
          <a:p>
            <a:pPr algn="just" eaLnBrk="1" hangingPunct="1">
              <a:buFontTx/>
              <a:buChar char="•"/>
            </a:pPr>
            <a:r>
              <a:rPr lang="en-US" altLang="en-US" sz="3200">
                <a:latin typeface="Times New Roman" panose="02020603050405020304" pitchFamily="18" charset="0"/>
              </a:rPr>
              <a:t>Next slide describes the various ways the parent can examine the termination status of a child. </a:t>
            </a:r>
          </a:p>
          <a:p>
            <a:pPr algn="just" eaLnBrk="1" hangingPunct="1">
              <a:buFontTx/>
              <a:buChar char="•"/>
            </a:pPr>
            <a:r>
              <a:rPr lang="en-US" altLang="en-US" sz="3200">
                <a:latin typeface="Times New Roman" panose="02020603050405020304" pitchFamily="18" charset="0"/>
              </a:rPr>
              <a:t>If the child terminated normally, the parent can obtain the exit status of the child.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4">
            <a:extLst>
              <a:ext uri="{FF2B5EF4-FFF2-40B4-BE49-F238E27FC236}">
                <a16:creationId xmlns:a16="http://schemas.microsoft.com/office/drawing/2014/main" id="{A0669892-D76A-37B9-2223-E952114063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8815388" cy="689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1CA1224A-66D5-223D-16D2-BCD9209A399F}"/>
              </a:ext>
            </a:extLst>
          </p:cNvPr>
          <p:cNvSpPr txBox="1">
            <a:spLocks/>
          </p:cNvSpPr>
          <p:nvPr/>
        </p:nvSpPr>
        <p:spPr bwMode="auto">
          <a:xfrm>
            <a:off x="304800" y="304800"/>
            <a:ext cx="8534400" cy="478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2800">
                <a:latin typeface="Times New Roman" panose="02020603050405020304" pitchFamily="18" charset="0"/>
              </a:rPr>
              <a:t>what happens if the parent terminates before the child? </a:t>
            </a:r>
          </a:p>
          <a:p>
            <a:pPr algn="just" eaLnBrk="1" hangingPunct="1">
              <a:buFontTx/>
              <a:buChar char="•"/>
            </a:pPr>
            <a:r>
              <a:rPr lang="en-US" altLang="en-US" sz="2800">
                <a:latin typeface="Times New Roman" panose="02020603050405020304" pitchFamily="18" charset="0"/>
              </a:rPr>
              <a:t>The answer is that the </a:t>
            </a:r>
            <a:r>
              <a:rPr lang="en-US" altLang="en-US" sz="2800">
                <a:solidFill>
                  <a:schemeClr val="accent2"/>
                </a:solidFill>
                <a:latin typeface="Times New Roman" panose="02020603050405020304" pitchFamily="18" charset="0"/>
              </a:rPr>
              <a:t>init process</a:t>
            </a:r>
            <a:r>
              <a:rPr lang="en-US" altLang="en-US" sz="2800">
                <a:latin typeface="Times New Roman" panose="02020603050405020304" pitchFamily="18" charset="0"/>
              </a:rPr>
              <a:t> becomes the parent process of any process whose parent terminates. </a:t>
            </a:r>
          </a:p>
          <a:p>
            <a:pPr algn="just" eaLnBrk="1" hangingPunct="1">
              <a:buFontTx/>
              <a:buChar char="•"/>
            </a:pPr>
            <a:r>
              <a:rPr lang="en-US" altLang="en-US" sz="2800">
                <a:latin typeface="Times New Roman" panose="02020603050405020304" pitchFamily="18" charset="0"/>
              </a:rPr>
              <a:t>What normally happens is that whenever a process terminates, the kernel goes through all active processes to see whether the terminating process is the parent of any process that still exists.</a:t>
            </a:r>
          </a:p>
          <a:p>
            <a:pPr algn="just" eaLnBrk="1" hangingPunct="1">
              <a:buFontTx/>
              <a:buChar char="•"/>
            </a:pPr>
            <a:r>
              <a:rPr lang="en-US" altLang="en-US" sz="2800">
                <a:latin typeface="Times New Roman" panose="02020603050405020304" pitchFamily="18" charset="0"/>
              </a:rPr>
              <a:t>If so, the parent process ID of the surviving process is changed to be 1 (the process ID of init).</a:t>
            </a:r>
          </a:p>
          <a:p>
            <a:pPr algn="just" eaLnBrk="1" hangingPunct="1">
              <a:buFontTx/>
              <a:buChar char="•"/>
            </a:pPr>
            <a:r>
              <a:rPr lang="en-US" altLang="en-US" sz="2800">
                <a:latin typeface="Times New Roman" panose="02020603050405020304" pitchFamily="18" charset="0"/>
              </a:rPr>
              <a:t>This way, we're guaranteed that every process has a parent.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73CA3CFF-89E8-677F-75D2-E96ACE9B1CAE}"/>
              </a:ext>
            </a:extLst>
          </p:cNvPr>
          <p:cNvSpPr txBox="1">
            <a:spLocks/>
          </p:cNvSpPr>
          <p:nvPr/>
        </p:nvSpPr>
        <p:spPr bwMode="auto">
          <a:xfrm>
            <a:off x="304800" y="304800"/>
            <a:ext cx="85344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2800">
                <a:latin typeface="Times New Roman" panose="02020603050405020304" pitchFamily="18" charset="0"/>
              </a:rPr>
              <a:t>What happens when a child terminates before its parent. </a:t>
            </a:r>
          </a:p>
          <a:p>
            <a:pPr algn="just" eaLnBrk="1" hangingPunct="1">
              <a:buFontTx/>
              <a:buChar char="•"/>
            </a:pPr>
            <a:r>
              <a:rPr lang="en-US" altLang="en-US" sz="2800">
                <a:latin typeface="Times New Roman" panose="02020603050405020304" pitchFamily="18" charset="0"/>
              </a:rPr>
              <a:t>If the child completely disappeared, the parent wouldn't be able to fetch its termination status when and if the parent were finally ready to check if the child had terminated. </a:t>
            </a:r>
          </a:p>
          <a:p>
            <a:pPr algn="just" eaLnBrk="1" hangingPunct="1">
              <a:buFontTx/>
              <a:buChar char="•"/>
            </a:pPr>
            <a:r>
              <a:rPr lang="en-US" altLang="en-US" sz="2800">
                <a:latin typeface="Times New Roman" panose="02020603050405020304" pitchFamily="18" charset="0"/>
              </a:rPr>
              <a:t>The kernel keeps a small amount of information for every terminating process, so that the information is available when the parent of the terminating process calls wait or waitpid.</a:t>
            </a:r>
          </a:p>
          <a:p>
            <a:pPr algn="just" eaLnBrk="1" hangingPunct="1">
              <a:buFontTx/>
              <a:buChar char="•"/>
            </a:pPr>
            <a:r>
              <a:rPr lang="en-US" altLang="en-US" sz="2800">
                <a:latin typeface="Times New Roman" panose="02020603050405020304" pitchFamily="18" charset="0"/>
              </a:rPr>
              <a:t>Minimally, this information consists of the process ID, the termination status of the process, and the amount of CPU time taken by the process.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51EBBCA7-249F-1228-9D03-3FADAE0683BE}"/>
              </a:ext>
            </a:extLst>
          </p:cNvPr>
          <p:cNvSpPr txBox="1">
            <a:spLocks/>
          </p:cNvSpPr>
          <p:nvPr/>
        </p:nvSpPr>
        <p:spPr bwMode="auto">
          <a:xfrm>
            <a:off x="304800" y="304800"/>
            <a:ext cx="8534400" cy="545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buFontTx/>
              <a:buChar char="•"/>
            </a:pPr>
            <a:r>
              <a:rPr lang="en-US" altLang="en-US" sz="3200">
                <a:latin typeface="Times New Roman" panose="02020603050405020304" pitchFamily="18" charset="0"/>
              </a:rPr>
              <a:t>The kernel can discard all the memory used by the process and close its open files. </a:t>
            </a:r>
          </a:p>
          <a:p>
            <a:pPr algn="just" eaLnBrk="1" hangingPunct="1">
              <a:buFontTx/>
              <a:buChar char="•"/>
            </a:pPr>
            <a:r>
              <a:rPr lang="en-US" altLang="en-US" sz="3200">
                <a:latin typeface="Times New Roman" panose="02020603050405020304" pitchFamily="18" charset="0"/>
              </a:rPr>
              <a:t>In UNIX System terminology, a process that has terminated, but whose parent has not yet waited for it, is called a </a:t>
            </a:r>
            <a:r>
              <a:rPr lang="en-US" altLang="en-US" sz="3200" i="1">
                <a:latin typeface="Times New Roman" panose="02020603050405020304" pitchFamily="18" charset="0"/>
              </a:rPr>
              <a:t>zombie</a:t>
            </a:r>
            <a:r>
              <a:rPr lang="en-US" altLang="en-US" sz="3200">
                <a:latin typeface="Times New Roman" panose="02020603050405020304" pitchFamily="18" charset="0"/>
              </a:rPr>
              <a:t>. </a:t>
            </a:r>
          </a:p>
          <a:p>
            <a:pPr algn="just" eaLnBrk="1" hangingPunct="1">
              <a:buFontTx/>
              <a:buChar char="•"/>
            </a:pPr>
            <a:r>
              <a:rPr lang="en-US" altLang="en-US" sz="3200">
                <a:latin typeface="Times New Roman" panose="02020603050405020304" pitchFamily="18" charset="0"/>
              </a:rPr>
              <a:t>The ps(1) command prints the state of a zombie process as </a:t>
            </a:r>
            <a:r>
              <a:rPr lang="en-US" altLang="en-US" sz="3200" i="1">
                <a:latin typeface="Times New Roman" panose="02020603050405020304" pitchFamily="18" charset="0"/>
              </a:rPr>
              <a:t>Z</a:t>
            </a:r>
            <a:r>
              <a:rPr lang="en-US" altLang="en-US" sz="3200">
                <a:latin typeface="Times New Roman" panose="02020603050405020304" pitchFamily="18" charset="0"/>
              </a:rPr>
              <a:t>. </a:t>
            </a:r>
          </a:p>
          <a:p>
            <a:pPr algn="just" eaLnBrk="1" hangingPunct="1">
              <a:buFontTx/>
              <a:buChar char="•"/>
            </a:pPr>
            <a:r>
              <a:rPr lang="en-US" altLang="en-US" sz="3200">
                <a:latin typeface="Times New Roman" panose="02020603050405020304" pitchFamily="18" charset="0"/>
              </a:rPr>
              <a:t>If we write a long-running program that forks many child processes, they become zombies unless we wait for them and fetch their termination status.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321</TotalTime>
  <Words>2051</Words>
  <Application>Microsoft Office PowerPoint</Application>
  <PresentationFormat>On-screen Show (4:3)</PresentationFormat>
  <Paragraphs>127</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Process identifiers</vt:lpstr>
      <vt:lpstr>PowerPoint Presentation</vt:lpstr>
      <vt:lpstr>fork() function</vt:lpstr>
      <vt:lpstr>PowerPoint Presentation</vt:lpstr>
      <vt:lpstr>PowerPoint Presentation</vt:lpstr>
      <vt:lpstr>PowerPoint Presentation</vt:lpstr>
      <vt:lpstr>PowerPoint Presentation</vt:lpstr>
      <vt:lpstr>Properties inherited by the child</vt:lpstr>
      <vt:lpstr>Differences between the parent and child</vt:lpstr>
      <vt:lpstr>Reasons for using fork</vt:lpstr>
      <vt:lpstr>vfork() function</vt:lpstr>
      <vt:lpstr>PowerPoint Presentation</vt:lpstr>
      <vt:lpstr>exit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SHELL PROGRAMMING</dc:title>
  <dc:creator>Administrator</dc:creator>
  <cp:lastModifiedBy>S Bhavani</cp:lastModifiedBy>
  <cp:revision>321</cp:revision>
  <dcterms:created xsi:type="dcterms:W3CDTF">2006-08-16T00:00:00Z</dcterms:created>
  <dcterms:modified xsi:type="dcterms:W3CDTF">2026-04-07T06:34:20Z</dcterms:modified>
</cp:coreProperties>
</file>