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313" r:id="rId3"/>
    <p:sldId id="314" r:id="rId4"/>
    <p:sldId id="308" r:id="rId5"/>
    <p:sldId id="315" r:id="rId6"/>
    <p:sldId id="309" r:id="rId7"/>
    <p:sldId id="307" r:id="rId8"/>
    <p:sldId id="310" r:id="rId9"/>
    <p:sldId id="311" r:id="rId10"/>
    <p:sldId id="312"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28F00E5-7F53-6D7C-C333-59D96AE5688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CE28E82-17BE-B3C5-31E0-B13A4A9617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76C389F-15F6-57AA-4E6F-B8E5D726409D}"/>
              </a:ext>
            </a:extLst>
          </p:cNvPr>
          <p:cNvSpPr>
            <a:spLocks noGrp="1" noChangeArrowheads="1"/>
          </p:cNvSpPr>
          <p:nvPr>
            <p:ph type="sldNum" sz="quarter" idx="12"/>
          </p:nvPr>
        </p:nvSpPr>
        <p:spPr>
          <a:ln/>
        </p:spPr>
        <p:txBody>
          <a:bodyPr/>
          <a:lstStyle>
            <a:lvl1pPr>
              <a:defRPr/>
            </a:lvl1pPr>
          </a:lstStyle>
          <a:p>
            <a:fld id="{F3B8F41C-CA21-42ED-A274-A8756F905C04}" type="slidenum">
              <a:rPr lang="en-US" altLang="en-US"/>
              <a:pPr/>
              <a:t>‹#›</a:t>
            </a:fld>
            <a:endParaRPr lang="en-US" altLang="en-US"/>
          </a:p>
        </p:txBody>
      </p:sp>
    </p:spTree>
    <p:extLst>
      <p:ext uri="{BB962C8B-B14F-4D97-AF65-F5344CB8AC3E}">
        <p14:creationId xmlns:p14="http://schemas.microsoft.com/office/powerpoint/2010/main" val="3019504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D45F106-BE2E-D9DF-D051-90CB4BA31D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9169EBE-FE1E-A11A-1759-B455947EE6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8A97865-DA6C-5187-B379-2592E057AA36}"/>
              </a:ext>
            </a:extLst>
          </p:cNvPr>
          <p:cNvSpPr>
            <a:spLocks noGrp="1" noChangeArrowheads="1"/>
          </p:cNvSpPr>
          <p:nvPr>
            <p:ph type="sldNum" sz="quarter" idx="12"/>
          </p:nvPr>
        </p:nvSpPr>
        <p:spPr>
          <a:ln/>
        </p:spPr>
        <p:txBody>
          <a:bodyPr/>
          <a:lstStyle>
            <a:lvl1pPr>
              <a:defRPr/>
            </a:lvl1pPr>
          </a:lstStyle>
          <a:p>
            <a:fld id="{96CB8792-EBCB-46D5-9EA6-6879D8EA87C7}" type="slidenum">
              <a:rPr lang="en-US" altLang="en-US"/>
              <a:pPr/>
              <a:t>‹#›</a:t>
            </a:fld>
            <a:endParaRPr lang="en-US" altLang="en-US"/>
          </a:p>
        </p:txBody>
      </p:sp>
    </p:spTree>
    <p:extLst>
      <p:ext uri="{BB962C8B-B14F-4D97-AF65-F5344CB8AC3E}">
        <p14:creationId xmlns:p14="http://schemas.microsoft.com/office/powerpoint/2010/main" val="247123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0EAE9D9-2084-3C6D-A8CB-99AF832C0A1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56177A8-0179-9738-5F4C-53604C18D50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B75E84D-EF56-6FCB-3387-62C89FD15C77}"/>
              </a:ext>
            </a:extLst>
          </p:cNvPr>
          <p:cNvSpPr>
            <a:spLocks noGrp="1" noChangeArrowheads="1"/>
          </p:cNvSpPr>
          <p:nvPr>
            <p:ph type="sldNum" sz="quarter" idx="12"/>
          </p:nvPr>
        </p:nvSpPr>
        <p:spPr>
          <a:ln/>
        </p:spPr>
        <p:txBody>
          <a:bodyPr/>
          <a:lstStyle>
            <a:lvl1pPr>
              <a:defRPr/>
            </a:lvl1pPr>
          </a:lstStyle>
          <a:p>
            <a:fld id="{7DFAA9A7-7C62-4E38-8728-A9F0570AF138}" type="slidenum">
              <a:rPr lang="en-US" altLang="en-US"/>
              <a:pPr/>
              <a:t>‹#›</a:t>
            </a:fld>
            <a:endParaRPr lang="en-US" altLang="en-US"/>
          </a:p>
        </p:txBody>
      </p:sp>
    </p:spTree>
    <p:extLst>
      <p:ext uri="{BB962C8B-B14F-4D97-AF65-F5344CB8AC3E}">
        <p14:creationId xmlns:p14="http://schemas.microsoft.com/office/powerpoint/2010/main" val="3203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6A69913-0E9B-4910-259B-223697F8858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2C81200-8431-D3A3-D0F9-94DFFEC7C9B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3989AC6-895C-CCFA-98AD-0FFFDB16756C}"/>
              </a:ext>
            </a:extLst>
          </p:cNvPr>
          <p:cNvSpPr>
            <a:spLocks noGrp="1" noChangeArrowheads="1"/>
          </p:cNvSpPr>
          <p:nvPr>
            <p:ph type="sldNum" sz="quarter" idx="12"/>
          </p:nvPr>
        </p:nvSpPr>
        <p:spPr>
          <a:ln/>
        </p:spPr>
        <p:txBody>
          <a:bodyPr/>
          <a:lstStyle>
            <a:lvl1pPr>
              <a:defRPr/>
            </a:lvl1pPr>
          </a:lstStyle>
          <a:p>
            <a:fld id="{35CA1343-A5AC-4967-BFE9-69A1811A7A5A}" type="slidenum">
              <a:rPr lang="en-US" altLang="en-US"/>
              <a:pPr/>
              <a:t>‹#›</a:t>
            </a:fld>
            <a:endParaRPr lang="en-US" altLang="en-US"/>
          </a:p>
        </p:txBody>
      </p:sp>
    </p:spTree>
    <p:extLst>
      <p:ext uri="{BB962C8B-B14F-4D97-AF65-F5344CB8AC3E}">
        <p14:creationId xmlns:p14="http://schemas.microsoft.com/office/powerpoint/2010/main" val="2136117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20E850B-CCDF-5346-8010-50EEB85E50B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8D4216FA-F3BA-EEEC-282D-02802646FA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5A5AE9B-4979-ED81-EAB8-AC85AAF5AAE7}"/>
              </a:ext>
            </a:extLst>
          </p:cNvPr>
          <p:cNvSpPr>
            <a:spLocks noGrp="1" noChangeArrowheads="1"/>
          </p:cNvSpPr>
          <p:nvPr>
            <p:ph type="sldNum" sz="quarter" idx="12"/>
          </p:nvPr>
        </p:nvSpPr>
        <p:spPr>
          <a:ln/>
        </p:spPr>
        <p:txBody>
          <a:bodyPr/>
          <a:lstStyle>
            <a:lvl1pPr>
              <a:defRPr/>
            </a:lvl1pPr>
          </a:lstStyle>
          <a:p>
            <a:fld id="{FF19BF87-4DD9-4594-B1AA-920A62E5D414}" type="slidenum">
              <a:rPr lang="en-US" altLang="en-US"/>
              <a:pPr/>
              <a:t>‹#›</a:t>
            </a:fld>
            <a:endParaRPr lang="en-US" altLang="en-US"/>
          </a:p>
        </p:txBody>
      </p:sp>
    </p:spTree>
    <p:extLst>
      <p:ext uri="{BB962C8B-B14F-4D97-AF65-F5344CB8AC3E}">
        <p14:creationId xmlns:p14="http://schemas.microsoft.com/office/powerpoint/2010/main" val="2029853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FEF2FFD-D49D-23F6-FFD4-A5767543C65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A467066-452C-CC7E-6F0C-4CF94F9D4F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2AEAFD6-304E-F82B-CC5C-71FE251B4B15}"/>
              </a:ext>
            </a:extLst>
          </p:cNvPr>
          <p:cNvSpPr>
            <a:spLocks noGrp="1" noChangeArrowheads="1"/>
          </p:cNvSpPr>
          <p:nvPr>
            <p:ph type="sldNum" sz="quarter" idx="12"/>
          </p:nvPr>
        </p:nvSpPr>
        <p:spPr>
          <a:ln/>
        </p:spPr>
        <p:txBody>
          <a:bodyPr/>
          <a:lstStyle>
            <a:lvl1pPr>
              <a:defRPr/>
            </a:lvl1pPr>
          </a:lstStyle>
          <a:p>
            <a:fld id="{435BE83B-CA6C-4F7A-83DE-4E63A25559AC}" type="slidenum">
              <a:rPr lang="en-US" altLang="en-US"/>
              <a:pPr/>
              <a:t>‹#›</a:t>
            </a:fld>
            <a:endParaRPr lang="en-US" altLang="en-US"/>
          </a:p>
        </p:txBody>
      </p:sp>
    </p:spTree>
    <p:extLst>
      <p:ext uri="{BB962C8B-B14F-4D97-AF65-F5344CB8AC3E}">
        <p14:creationId xmlns:p14="http://schemas.microsoft.com/office/powerpoint/2010/main" val="460310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8551AB7-E896-F954-C1C3-474949AC617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A516C2C-3D75-D477-A3E3-4C65E3C974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127349C-4B10-FE46-AEB9-F4539E9D2223}"/>
              </a:ext>
            </a:extLst>
          </p:cNvPr>
          <p:cNvSpPr>
            <a:spLocks noGrp="1" noChangeArrowheads="1"/>
          </p:cNvSpPr>
          <p:nvPr>
            <p:ph type="sldNum" sz="quarter" idx="12"/>
          </p:nvPr>
        </p:nvSpPr>
        <p:spPr>
          <a:ln/>
        </p:spPr>
        <p:txBody>
          <a:bodyPr/>
          <a:lstStyle>
            <a:lvl1pPr>
              <a:defRPr/>
            </a:lvl1pPr>
          </a:lstStyle>
          <a:p>
            <a:fld id="{6110E309-DB57-4B5A-B572-7C02BC77F500}" type="slidenum">
              <a:rPr lang="en-US" altLang="en-US"/>
              <a:pPr/>
              <a:t>‹#›</a:t>
            </a:fld>
            <a:endParaRPr lang="en-US" altLang="en-US"/>
          </a:p>
        </p:txBody>
      </p:sp>
    </p:spTree>
    <p:extLst>
      <p:ext uri="{BB962C8B-B14F-4D97-AF65-F5344CB8AC3E}">
        <p14:creationId xmlns:p14="http://schemas.microsoft.com/office/powerpoint/2010/main" val="1272337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2022895-530A-AF3B-E7C8-A7DEECABACA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D1123E1-3A77-7307-FAD4-594901D2611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2FD6F0E-FFBA-BC32-A9C1-B95A5357CAE7}"/>
              </a:ext>
            </a:extLst>
          </p:cNvPr>
          <p:cNvSpPr>
            <a:spLocks noGrp="1" noChangeArrowheads="1"/>
          </p:cNvSpPr>
          <p:nvPr>
            <p:ph type="sldNum" sz="quarter" idx="12"/>
          </p:nvPr>
        </p:nvSpPr>
        <p:spPr>
          <a:ln/>
        </p:spPr>
        <p:txBody>
          <a:bodyPr/>
          <a:lstStyle>
            <a:lvl1pPr>
              <a:defRPr/>
            </a:lvl1pPr>
          </a:lstStyle>
          <a:p>
            <a:fld id="{9E648F74-3309-413F-B742-366A042EE7BD}" type="slidenum">
              <a:rPr lang="en-US" altLang="en-US"/>
              <a:pPr/>
              <a:t>‹#›</a:t>
            </a:fld>
            <a:endParaRPr lang="en-US" altLang="en-US"/>
          </a:p>
        </p:txBody>
      </p:sp>
    </p:spTree>
    <p:extLst>
      <p:ext uri="{BB962C8B-B14F-4D97-AF65-F5344CB8AC3E}">
        <p14:creationId xmlns:p14="http://schemas.microsoft.com/office/powerpoint/2010/main" val="361698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C3485C7-728E-E877-A094-CD59A6193F8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7804632-F19B-B778-91E2-F29FF3E656D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BED087F-9D1B-4C1C-FFD4-579D55ABF92E}"/>
              </a:ext>
            </a:extLst>
          </p:cNvPr>
          <p:cNvSpPr>
            <a:spLocks noGrp="1" noChangeArrowheads="1"/>
          </p:cNvSpPr>
          <p:nvPr>
            <p:ph type="sldNum" sz="quarter" idx="12"/>
          </p:nvPr>
        </p:nvSpPr>
        <p:spPr>
          <a:ln/>
        </p:spPr>
        <p:txBody>
          <a:bodyPr/>
          <a:lstStyle>
            <a:lvl1pPr>
              <a:defRPr/>
            </a:lvl1pPr>
          </a:lstStyle>
          <a:p>
            <a:fld id="{C8C0A162-B034-401E-BD9E-AE24FF2A24C7}" type="slidenum">
              <a:rPr lang="en-US" altLang="en-US"/>
              <a:pPr/>
              <a:t>‹#›</a:t>
            </a:fld>
            <a:endParaRPr lang="en-US" altLang="en-US"/>
          </a:p>
        </p:txBody>
      </p:sp>
    </p:spTree>
    <p:extLst>
      <p:ext uri="{BB962C8B-B14F-4D97-AF65-F5344CB8AC3E}">
        <p14:creationId xmlns:p14="http://schemas.microsoft.com/office/powerpoint/2010/main" val="1812832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95D47E3-5FF5-417C-A10A-67A3E267F23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F368185-0A42-26B6-CB90-540EB025F6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6270D1A-30A4-896A-1E2C-5F6BB7EEA82B}"/>
              </a:ext>
            </a:extLst>
          </p:cNvPr>
          <p:cNvSpPr>
            <a:spLocks noGrp="1" noChangeArrowheads="1"/>
          </p:cNvSpPr>
          <p:nvPr>
            <p:ph type="sldNum" sz="quarter" idx="12"/>
          </p:nvPr>
        </p:nvSpPr>
        <p:spPr>
          <a:ln/>
        </p:spPr>
        <p:txBody>
          <a:bodyPr/>
          <a:lstStyle>
            <a:lvl1pPr>
              <a:defRPr/>
            </a:lvl1pPr>
          </a:lstStyle>
          <a:p>
            <a:fld id="{DC51EC1E-BFF5-48E5-BDF9-3CB0419EB0FB}" type="slidenum">
              <a:rPr lang="en-US" altLang="en-US"/>
              <a:pPr/>
              <a:t>‹#›</a:t>
            </a:fld>
            <a:endParaRPr lang="en-US" altLang="en-US"/>
          </a:p>
        </p:txBody>
      </p:sp>
    </p:spTree>
    <p:extLst>
      <p:ext uri="{BB962C8B-B14F-4D97-AF65-F5344CB8AC3E}">
        <p14:creationId xmlns:p14="http://schemas.microsoft.com/office/powerpoint/2010/main" val="130195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EA9AC85-FF84-8444-8944-87D789F3A73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86E34CC-55CF-0000-FF91-50D6DFD0BE2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0D7D52F-2128-650A-BB65-A9AE112850A7}"/>
              </a:ext>
            </a:extLst>
          </p:cNvPr>
          <p:cNvSpPr>
            <a:spLocks noGrp="1" noChangeArrowheads="1"/>
          </p:cNvSpPr>
          <p:nvPr>
            <p:ph type="sldNum" sz="quarter" idx="12"/>
          </p:nvPr>
        </p:nvSpPr>
        <p:spPr>
          <a:ln/>
        </p:spPr>
        <p:txBody>
          <a:bodyPr/>
          <a:lstStyle>
            <a:lvl1pPr>
              <a:defRPr/>
            </a:lvl1pPr>
          </a:lstStyle>
          <a:p>
            <a:fld id="{BB20E9EE-E8D4-4CAF-B688-A96DDB77F624}" type="slidenum">
              <a:rPr lang="en-US" altLang="en-US"/>
              <a:pPr/>
              <a:t>‹#›</a:t>
            </a:fld>
            <a:endParaRPr lang="en-US" altLang="en-US"/>
          </a:p>
        </p:txBody>
      </p:sp>
    </p:spTree>
    <p:extLst>
      <p:ext uri="{BB962C8B-B14F-4D97-AF65-F5344CB8AC3E}">
        <p14:creationId xmlns:p14="http://schemas.microsoft.com/office/powerpoint/2010/main" val="2344421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32EF5C-7BEA-254A-AD58-A1B993B9E73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0B00BE0-5DC3-3421-78E3-DA62A7B1263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792B14B-D460-565B-72BB-2D3FE429163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CB1937BD-9152-693D-B49D-696068B66AED}"/>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19082DF2-A58D-2F84-1B64-40A0159D1F4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5FE3B14-AFD5-4986-A1D8-3769C649C97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Box 4">
            <a:extLst>
              <a:ext uri="{FF2B5EF4-FFF2-40B4-BE49-F238E27FC236}">
                <a16:creationId xmlns:a16="http://schemas.microsoft.com/office/drawing/2014/main" id="{E7452489-23DF-C38F-9D05-CDE78D32CCDE}"/>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51" name="TextBox 5">
            <a:extLst>
              <a:ext uri="{FF2B5EF4-FFF2-40B4-BE49-F238E27FC236}">
                <a16:creationId xmlns:a16="http://schemas.microsoft.com/office/drawing/2014/main" id="{17D3DA20-0205-6FCA-F44B-C84FEC631CD7}"/>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52" name="TextBox 6">
            <a:extLst>
              <a:ext uri="{FF2B5EF4-FFF2-40B4-BE49-F238E27FC236}">
                <a16:creationId xmlns:a16="http://schemas.microsoft.com/office/drawing/2014/main" id="{82F0054F-5DF0-D21B-1808-B62C0FDA7C1F}"/>
              </a:ext>
            </a:extLst>
          </p:cNvPr>
          <p:cNvSpPr txBox="1">
            <a:spLocks noChangeArrowheads="1"/>
          </p:cNvSpPr>
          <p:nvPr/>
        </p:nvSpPr>
        <p:spPr bwMode="auto">
          <a:xfrm>
            <a:off x="228600" y="304800"/>
            <a:ext cx="868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File sharing</a:t>
            </a:r>
          </a:p>
        </p:txBody>
      </p:sp>
      <p:sp>
        <p:nvSpPr>
          <p:cNvPr id="9" name="Rectangle 2">
            <a:extLst>
              <a:ext uri="{FF2B5EF4-FFF2-40B4-BE49-F238E27FC236}">
                <a16:creationId xmlns:a16="http://schemas.microsoft.com/office/drawing/2014/main" id="{B4576BD0-12E4-BE0E-2562-6B938A322512}"/>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CF036E6C-0A12-8F51-D8D0-C3A79632B0C5}"/>
              </a:ext>
            </a:extLst>
          </p:cNvPr>
          <p:cNvSpPr txBox="1">
            <a:spLocks noChangeArrowheads="1"/>
          </p:cNvSpPr>
          <p:nvPr/>
        </p:nvSpPr>
        <p:spPr>
          <a:xfrm>
            <a:off x="381000" y="914400"/>
            <a:ext cx="8534400" cy="5638800"/>
          </a:xfrm>
          <a:prstGeom prst="rect">
            <a:avLst/>
          </a:prstGeom>
          <a:noFill/>
          <a:ln/>
        </p:spPr>
        <p:txBody>
          <a:bodyPr/>
          <a:lstStyle/>
          <a:p>
            <a:pPr marL="342900" indent="-342900" algn="just">
              <a:spcBef>
                <a:spcPct val="20000"/>
              </a:spcBef>
              <a:buFontTx/>
              <a:buChar char="•"/>
              <a:defRPr/>
            </a:pPr>
            <a:r>
              <a:rPr lang="en-US" sz="2400" kern="0" dirty="0">
                <a:latin typeface="+mn-lt"/>
              </a:rPr>
              <a:t>UNIX supports sharing of open files among different processes</a:t>
            </a:r>
          </a:p>
          <a:p>
            <a:pPr marL="342900" indent="-342900" algn="just">
              <a:spcBef>
                <a:spcPct val="20000"/>
              </a:spcBef>
              <a:buFontTx/>
              <a:buChar char="•"/>
              <a:defRPr/>
            </a:pPr>
            <a:r>
              <a:rPr lang="en-US" sz="2400" kern="0" dirty="0">
                <a:latin typeface="+mn-lt"/>
              </a:rPr>
              <a:t>Kernel uses 3 data structures to represent an open file</a:t>
            </a:r>
          </a:p>
          <a:p>
            <a:pPr marL="971550" lvl="1" indent="-514350" algn="just">
              <a:spcBef>
                <a:spcPct val="20000"/>
              </a:spcBef>
              <a:buFont typeface="+mj-lt"/>
              <a:buAutoNum type="arabicPeriod"/>
              <a:defRPr/>
            </a:pPr>
            <a:r>
              <a:rPr lang="en-US" sz="2400" kern="0" dirty="0">
                <a:latin typeface="+mn-lt"/>
              </a:rPr>
              <a:t>Every process has an entry in the process table</a:t>
            </a:r>
          </a:p>
          <a:p>
            <a:pPr marL="1428750" lvl="2" indent="-514350" algn="just">
              <a:spcBef>
                <a:spcPct val="20000"/>
              </a:spcBef>
              <a:buFont typeface="Arial" pitchFamily="34" charset="0"/>
              <a:buChar char="•"/>
              <a:defRPr/>
            </a:pPr>
            <a:r>
              <a:rPr lang="en-US" sz="2400" kern="0" dirty="0">
                <a:latin typeface="+mn-lt"/>
              </a:rPr>
              <a:t>Entry has table of open </a:t>
            </a:r>
            <a:r>
              <a:rPr lang="en-US" sz="2400" kern="0" dirty="0" err="1">
                <a:latin typeface="+mn-lt"/>
              </a:rPr>
              <a:t>fds</a:t>
            </a:r>
            <a:endParaRPr lang="en-US" sz="2400" kern="0" dirty="0">
              <a:latin typeface="+mn-lt"/>
            </a:endParaRPr>
          </a:p>
          <a:p>
            <a:pPr marL="1428750" lvl="2" indent="-514350" algn="just">
              <a:spcBef>
                <a:spcPct val="20000"/>
              </a:spcBef>
              <a:buFont typeface="Arial" pitchFamily="34" charset="0"/>
              <a:buChar char="•"/>
              <a:defRPr/>
            </a:pPr>
            <a:r>
              <a:rPr lang="en-US" sz="2400" kern="0" dirty="0">
                <a:latin typeface="+mn-lt"/>
              </a:rPr>
              <a:t>Each </a:t>
            </a:r>
            <a:r>
              <a:rPr lang="en-US" sz="2400" kern="0" dirty="0" err="1">
                <a:latin typeface="+mn-lt"/>
              </a:rPr>
              <a:t>fd</a:t>
            </a:r>
            <a:r>
              <a:rPr lang="en-US" sz="2400" kern="0" dirty="0">
                <a:latin typeface="+mn-lt"/>
              </a:rPr>
              <a:t> is associated with </a:t>
            </a:r>
            <a:r>
              <a:rPr lang="en-US" sz="2400" kern="0" dirty="0" err="1">
                <a:latin typeface="+mn-lt"/>
              </a:rPr>
              <a:t>fd</a:t>
            </a:r>
            <a:r>
              <a:rPr lang="en-US" sz="2400" kern="0" dirty="0">
                <a:latin typeface="+mn-lt"/>
              </a:rPr>
              <a:t> flag, pointer to a file table entry</a:t>
            </a:r>
          </a:p>
          <a:p>
            <a:pPr marL="971550" lvl="1" indent="-514350" algn="just">
              <a:spcBef>
                <a:spcPct val="20000"/>
              </a:spcBef>
              <a:buFont typeface="+mj-lt"/>
              <a:buAutoNum type="arabicPeriod"/>
              <a:defRPr/>
            </a:pPr>
            <a:r>
              <a:rPr lang="en-US" sz="2400" kern="0" dirty="0">
                <a:latin typeface="+mn-lt"/>
              </a:rPr>
              <a:t>Kernel maintain file table for all open files</a:t>
            </a:r>
          </a:p>
          <a:p>
            <a:pPr marL="1428750" lvl="2" indent="-514350" algn="just">
              <a:spcBef>
                <a:spcPct val="20000"/>
              </a:spcBef>
              <a:buFont typeface="Arial" pitchFamily="34" charset="0"/>
              <a:buChar char="•"/>
              <a:defRPr/>
            </a:pPr>
            <a:r>
              <a:rPr lang="en-US" sz="2400" kern="0" dirty="0">
                <a:latin typeface="+mn-lt"/>
              </a:rPr>
              <a:t>Each table entry contains file status flags such as r, w, append etc, current file offset, a pointer to the v-node table entry for the file</a:t>
            </a:r>
          </a:p>
          <a:p>
            <a:pPr marL="971550" lvl="1" indent="-514350" algn="just">
              <a:spcBef>
                <a:spcPct val="20000"/>
              </a:spcBef>
              <a:buFont typeface="+mj-lt"/>
              <a:buAutoNum type="arabicPeriod"/>
              <a:defRPr/>
            </a:pPr>
            <a:r>
              <a:rPr lang="en-US" sz="2400" kern="0" dirty="0">
                <a:latin typeface="+mn-lt"/>
              </a:rPr>
              <a:t>Each open file or device has v-node structure that contains information about the type of file, pointers to functions that operate on the file, </a:t>
            </a:r>
            <a:r>
              <a:rPr lang="en-US" sz="2400" kern="0" dirty="0" err="1">
                <a:latin typeface="+mn-lt"/>
              </a:rPr>
              <a:t>i</a:t>
            </a:r>
            <a:r>
              <a:rPr lang="en-US" sz="2400" kern="0" dirty="0">
                <a:latin typeface="+mn-lt"/>
              </a:rPr>
              <a:t>-node for the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dissolve">
                                      <p:cBhvr>
                                        <p:cTn id="15" dur="500"/>
                                        <p:tgtEl>
                                          <p:spTgt spid="10">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dissolve">
                                      <p:cBhvr>
                                        <p:cTn id="18" dur="500"/>
                                        <p:tgtEl>
                                          <p:spTgt spid="10">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dissolve">
                                      <p:cBhvr>
                                        <p:cTn id="21" dur="500"/>
                                        <p:tgtEl>
                                          <p:spTgt spid="1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dissolve">
                                      <p:cBhvr>
                                        <p:cTn id="24" dur="500"/>
                                        <p:tgtEl>
                                          <p:spTgt spid="1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dissolve">
                                      <p:cBhvr>
                                        <p:cTn id="27" dur="500"/>
                                        <p:tgtEl>
                                          <p:spTgt spid="1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dissolve">
                                      <p:cBhvr>
                                        <p:cTn id="30"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4">
            <a:extLst>
              <a:ext uri="{FF2B5EF4-FFF2-40B4-BE49-F238E27FC236}">
                <a16:creationId xmlns:a16="http://schemas.microsoft.com/office/drawing/2014/main" id="{8829C531-41A0-05A8-75D4-672D307F013A}"/>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075" name="TextBox 5">
            <a:extLst>
              <a:ext uri="{FF2B5EF4-FFF2-40B4-BE49-F238E27FC236}">
                <a16:creationId xmlns:a16="http://schemas.microsoft.com/office/drawing/2014/main" id="{8AD987E2-8C1D-2E9A-7FDC-BEC0AC8F57EC}"/>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40520C4F-1DE9-7CE1-0F01-69B36025CEAD}"/>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pic>
        <p:nvPicPr>
          <p:cNvPr id="3077" name="Picture 2">
            <a:extLst>
              <a:ext uri="{FF2B5EF4-FFF2-40B4-BE49-F238E27FC236}">
                <a16:creationId xmlns:a16="http://schemas.microsoft.com/office/drawing/2014/main" id="{E062601B-B947-DF72-E0B6-978ECB2A5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580438" cy="407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4">
            <a:extLst>
              <a:ext uri="{FF2B5EF4-FFF2-40B4-BE49-F238E27FC236}">
                <a16:creationId xmlns:a16="http://schemas.microsoft.com/office/drawing/2014/main" id="{9317263E-484C-B557-F5A4-21768FDA51A6}"/>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099" name="TextBox 5">
            <a:extLst>
              <a:ext uri="{FF2B5EF4-FFF2-40B4-BE49-F238E27FC236}">
                <a16:creationId xmlns:a16="http://schemas.microsoft.com/office/drawing/2014/main" id="{E521C034-C51E-C364-22EF-C73FAF668024}"/>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FAE637F0-6859-7488-5920-BB9C55F87F8E}"/>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pic>
        <p:nvPicPr>
          <p:cNvPr id="4101" name="Picture 2">
            <a:extLst>
              <a:ext uri="{FF2B5EF4-FFF2-40B4-BE49-F238E27FC236}">
                <a16:creationId xmlns:a16="http://schemas.microsoft.com/office/drawing/2014/main" id="{3EA8241A-B384-ADC9-DA1E-07D927848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1288"/>
            <a:ext cx="7315200" cy="618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4">
            <a:extLst>
              <a:ext uri="{FF2B5EF4-FFF2-40B4-BE49-F238E27FC236}">
                <a16:creationId xmlns:a16="http://schemas.microsoft.com/office/drawing/2014/main" id="{9734B3D5-E725-986F-CC4D-857B5B4AE70D}"/>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3" name="TextBox 5">
            <a:extLst>
              <a:ext uri="{FF2B5EF4-FFF2-40B4-BE49-F238E27FC236}">
                <a16:creationId xmlns:a16="http://schemas.microsoft.com/office/drawing/2014/main" id="{CDDCE92F-CA8D-B3AA-BF9B-A70E7572BD32}"/>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4" name="TextBox 6">
            <a:extLst>
              <a:ext uri="{FF2B5EF4-FFF2-40B4-BE49-F238E27FC236}">
                <a16:creationId xmlns:a16="http://schemas.microsoft.com/office/drawing/2014/main" id="{F3C1C7E1-788F-D0DD-96BB-C7BDB94171AB}"/>
              </a:ext>
            </a:extLst>
          </p:cNvPr>
          <p:cNvSpPr txBox="1">
            <a:spLocks noChangeArrowheads="1"/>
          </p:cNvSpPr>
          <p:nvPr/>
        </p:nvSpPr>
        <p:spPr bwMode="auto">
          <a:xfrm>
            <a:off x="228600" y="304800"/>
            <a:ext cx="868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dup and dup2 functions</a:t>
            </a:r>
          </a:p>
        </p:txBody>
      </p:sp>
      <p:sp>
        <p:nvSpPr>
          <p:cNvPr id="9" name="Rectangle 2">
            <a:extLst>
              <a:ext uri="{FF2B5EF4-FFF2-40B4-BE49-F238E27FC236}">
                <a16:creationId xmlns:a16="http://schemas.microsoft.com/office/drawing/2014/main" id="{DCF4C05C-E951-7B19-F64B-C37D33EA0FD4}"/>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A2EB6930-28D6-480E-F34E-ED511EC5D580}"/>
              </a:ext>
            </a:extLst>
          </p:cNvPr>
          <p:cNvSpPr txBox="1">
            <a:spLocks noChangeArrowheads="1"/>
          </p:cNvSpPr>
          <p:nvPr/>
        </p:nvSpPr>
        <p:spPr>
          <a:xfrm>
            <a:off x="381000" y="914400"/>
            <a:ext cx="8534400" cy="5638800"/>
          </a:xfrm>
          <a:prstGeom prst="rect">
            <a:avLst/>
          </a:prstGeom>
          <a:noFill/>
          <a:ln/>
        </p:spPr>
        <p:txBody>
          <a:bodyPr/>
          <a:lstStyle/>
          <a:p>
            <a:pPr marL="342900" indent="-342900" algn="just">
              <a:spcBef>
                <a:spcPct val="20000"/>
              </a:spcBef>
              <a:buFontTx/>
              <a:buChar char="•"/>
              <a:defRPr/>
            </a:pPr>
            <a:r>
              <a:rPr lang="en-US" sz="2400" kern="0" dirty="0">
                <a:latin typeface="+mn-lt"/>
              </a:rPr>
              <a:t>An existing file descriptor is duplicated</a:t>
            </a:r>
          </a:p>
          <a:p>
            <a:pPr marL="342900" indent="-342900" algn="just">
              <a:spcBef>
                <a:spcPct val="20000"/>
              </a:spcBef>
              <a:defRPr/>
            </a:pPr>
            <a:r>
              <a:rPr lang="en-US" sz="2400" kern="0" dirty="0">
                <a:latin typeface="+mn-lt"/>
              </a:rPr>
              <a:t>#include &lt;</a:t>
            </a:r>
            <a:r>
              <a:rPr lang="en-US" sz="2400" kern="0" dirty="0" err="1">
                <a:latin typeface="+mn-lt"/>
              </a:rPr>
              <a:t>unisted.h</a:t>
            </a:r>
            <a:r>
              <a:rPr lang="en-US" sz="2400" kern="0" dirty="0">
                <a:latin typeface="+mn-lt"/>
              </a:rPr>
              <a:t>&gt;</a:t>
            </a:r>
          </a:p>
          <a:p>
            <a:pPr marL="342900" indent="-342900" algn="just">
              <a:spcBef>
                <a:spcPct val="20000"/>
              </a:spcBef>
              <a:defRPr/>
            </a:pPr>
            <a:r>
              <a:rPr lang="en-US" sz="2400" kern="0" dirty="0" err="1">
                <a:latin typeface="+mn-lt"/>
              </a:rPr>
              <a:t>int</a:t>
            </a:r>
            <a:r>
              <a:rPr lang="en-US" sz="2400" kern="0" dirty="0">
                <a:latin typeface="+mn-lt"/>
              </a:rPr>
              <a:t> dup (</a:t>
            </a:r>
            <a:r>
              <a:rPr lang="en-US" sz="2400" kern="0" dirty="0" err="1">
                <a:latin typeface="+mn-lt"/>
              </a:rPr>
              <a:t>int</a:t>
            </a:r>
            <a:r>
              <a:rPr lang="en-US" sz="2400" kern="0" dirty="0">
                <a:latin typeface="+mn-lt"/>
              </a:rPr>
              <a:t> </a:t>
            </a:r>
            <a:r>
              <a:rPr lang="en-US" sz="2400" kern="0" dirty="0" err="1">
                <a:latin typeface="+mn-lt"/>
              </a:rPr>
              <a:t>filedes</a:t>
            </a:r>
            <a:r>
              <a:rPr lang="en-US" sz="2400" kern="0" dirty="0">
                <a:latin typeface="+mn-lt"/>
              </a:rPr>
              <a:t>);</a:t>
            </a:r>
          </a:p>
          <a:p>
            <a:pPr marL="342900" indent="-342900" algn="just">
              <a:spcBef>
                <a:spcPct val="20000"/>
              </a:spcBef>
              <a:defRPr/>
            </a:pPr>
            <a:r>
              <a:rPr lang="en-US" sz="2400" kern="0" dirty="0" err="1">
                <a:latin typeface="+mn-lt"/>
              </a:rPr>
              <a:t>int</a:t>
            </a:r>
            <a:r>
              <a:rPr lang="en-US" sz="2400" kern="0" dirty="0">
                <a:latin typeface="+mn-lt"/>
              </a:rPr>
              <a:t> dup2 (</a:t>
            </a:r>
            <a:r>
              <a:rPr lang="en-US" sz="2400" kern="0" dirty="0" err="1">
                <a:latin typeface="+mn-lt"/>
              </a:rPr>
              <a:t>int</a:t>
            </a:r>
            <a:r>
              <a:rPr lang="en-US" sz="2400" kern="0" dirty="0">
                <a:latin typeface="+mn-lt"/>
              </a:rPr>
              <a:t> </a:t>
            </a:r>
            <a:r>
              <a:rPr lang="en-US" sz="2400" kern="0" dirty="0" err="1">
                <a:latin typeface="+mn-lt"/>
              </a:rPr>
              <a:t>filedes</a:t>
            </a:r>
            <a:r>
              <a:rPr lang="en-US" sz="2400" kern="0" dirty="0">
                <a:latin typeface="+mn-lt"/>
              </a:rPr>
              <a:t>, </a:t>
            </a:r>
            <a:r>
              <a:rPr lang="en-US" sz="2400" kern="0" dirty="0" err="1">
                <a:latin typeface="+mn-lt"/>
              </a:rPr>
              <a:t>int</a:t>
            </a:r>
            <a:r>
              <a:rPr lang="en-US" sz="2400" kern="0" dirty="0">
                <a:latin typeface="+mn-lt"/>
              </a:rPr>
              <a:t> filedes2);</a:t>
            </a:r>
          </a:p>
          <a:p>
            <a:pPr marL="342900" indent="-342900" algn="just">
              <a:spcBef>
                <a:spcPct val="20000"/>
              </a:spcBef>
              <a:defRPr/>
            </a:pPr>
            <a:r>
              <a:rPr lang="en-US" sz="2400" kern="0" dirty="0">
                <a:latin typeface="+mn-lt"/>
              </a:rPr>
              <a:t>	return new </a:t>
            </a:r>
            <a:r>
              <a:rPr lang="en-US" sz="2400" kern="0" dirty="0" err="1">
                <a:latin typeface="+mn-lt"/>
              </a:rPr>
              <a:t>fd</a:t>
            </a:r>
            <a:r>
              <a:rPr lang="en-US" sz="2400" kern="0" dirty="0">
                <a:latin typeface="+mn-lt"/>
              </a:rPr>
              <a:t> if ok,, -1 on error</a:t>
            </a:r>
          </a:p>
          <a:p>
            <a:pPr marL="342900" indent="-342900" algn="just">
              <a:spcBef>
                <a:spcPct val="20000"/>
              </a:spcBef>
              <a:buFont typeface="Arial" pitchFamily="34" charset="0"/>
              <a:buChar char="•"/>
              <a:defRPr/>
            </a:pPr>
            <a:r>
              <a:rPr lang="en-US" sz="2400" kern="0" dirty="0">
                <a:latin typeface="+mn-lt"/>
              </a:rPr>
              <a:t>The new </a:t>
            </a:r>
            <a:r>
              <a:rPr lang="en-US" sz="2400" kern="0" dirty="0" err="1">
                <a:latin typeface="+mn-lt"/>
              </a:rPr>
              <a:t>fd</a:t>
            </a:r>
            <a:r>
              <a:rPr lang="en-US" sz="2400" kern="0" dirty="0">
                <a:latin typeface="+mn-lt"/>
              </a:rPr>
              <a:t> returned by dup is lowest number available </a:t>
            </a:r>
            <a:r>
              <a:rPr lang="en-US" sz="2400" kern="0" dirty="0" err="1">
                <a:latin typeface="+mn-lt"/>
              </a:rPr>
              <a:t>fd</a:t>
            </a:r>
            <a:endParaRPr lang="en-US" sz="2400" kern="0" dirty="0">
              <a:latin typeface="+mn-lt"/>
            </a:endParaRPr>
          </a:p>
          <a:p>
            <a:pPr marL="342900" indent="-342900" algn="just">
              <a:spcBef>
                <a:spcPct val="20000"/>
              </a:spcBef>
              <a:buFont typeface="Arial" pitchFamily="34" charset="0"/>
              <a:buChar char="•"/>
              <a:defRPr/>
            </a:pPr>
            <a:r>
              <a:rPr lang="en-US" sz="2400" kern="0" dirty="0">
                <a:latin typeface="+mn-lt"/>
              </a:rPr>
              <a:t>With dup2, if filedes2 is already open, it is first closed. If </a:t>
            </a:r>
            <a:r>
              <a:rPr lang="en-US" sz="2400" kern="0" dirty="0" err="1">
                <a:latin typeface="+mn-lt"/>
              </a:rPr>
              <a:t>filedes</a:t>
            </a:r>
            <a:r>
              <a:rPr lang="en-US" sz="2400" kern="0" dirty="0">
                <a:latin typeface="+mn-lt"/>
              </a:rPr>
              <a:t> and filedes2 equals then it returns filedes2 without closing it</a:t>
            </a:r>
          </a:p>
          <a:p>
            <a:pPr marL="342900" indent="-342900" algn="just">
              <a:spcBef>
                <a:spcPct val="20000"/>
              </a:spcBef>
              <a:buFont typeface="Arial" pitchFamily="34" charset="0"/>
              <a:buChar char="•"/>
              <a:defRPr/>
            </a:pPr>
            <a:r>
              <a:rPr lang="en-US" sz="2400" kern="0" dirty="0">
                <a:latin typeface="+mn-lt"/>
              </a:rPr>
              <a:t>The new </a:t>
            </a:r>
            <a:r>
              <a:rPr lang="en-US" sz="2400" kern="0" dirty="0" err="1">
                <a:latin typeface="+mn-lt"/>
              </a:rPr>
              <a:t>fd</a:t>
            </a:r>
            <a:r>
              <a:rPr lang="en-US" sz="2400" kern="0" dirty="0">
                <a:latin typeface="+mn-lt"/>
              </a:rPr>
              <a:t> that is returned as the value of the functions shares the same file table entry as the </a:t>
            </a:r>
            <a:r>
              <a:rPr lang="en-US" sz="2400" kern="0" dirty="0" err="1">
                <a:latin typeface="+mn-lt"/>
              </a:rPr>
              <a:t>filedes</a:t>
            </a:r>
            <a:r>
              <a:rPr lang="en-US" sz="2400" kern="0" dirty="0">
                <a:latin typeface="+mn-lt"/>
              </a:rPr>
              <a:t> argument</a:t>
            </a:r>
          </a:p>
          <a:p>
            <a:pPr marL="342900" indent="-342900" algn="just">
              <a:spcBef>
                <a:spcPct val="20000"/>
              </a:spcBef>
              <a:buFont typeface="Arial" pitchFamily="34" charset="0"/>
              <a:buChar char="•"/>
              <a:defRPr/>
            </a:pPr>
            <a:r>
              <a:rPr lang="en-US" sz="2400" kern="0" dirty="0">
                <a:latin typeface="+mn-lt"/>
              </a:rPr>
              <a:t>dup2 is atomic operation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dissolve">
                                      <p:cBhvr>
                                        <p:cTn id="37" dur="500"/>
                                        <p:tgtEl>
                                          <p:spTgt spid="1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dissolve">
                                      <p:cBhvr>
                                        <p:cTn id="42" dur="500"/>
                                        <p:tgtEl>
                                          <p:spTgt spid="10">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dissolve">
                                      <p:cBhvr>
                                        <p:cTn id="4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4">
            <a:extLst>
              <a:ext uri="{FF2B5EF4-FFF2-40B4-BE49-F238E27FC236}">
                <a16:creationId xmlns:a16="http://schemas.microsoft.com/office/drawing/2014/main" id="{736E0877-5C69-F8E1-FFCC-E2EF34E71B63}"/>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147" name="TextBox 5">
            <a:extLst>
              <a:ext uri="{FF2B5EF4-FFF2-40B4-BE49-F238E27FC236}">
                <a16:creationId xmlns:a16="http://schemas.microsoft.com/office/drawing/2014/main" id="{394DDF94-7C1C-14FC-597E-290E427BA1DA}"/>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Rectangle 2">
            <a:extLst>
              <a:ext uri="{FF2B5EF4-FFF2-40B4-BE49-F238E27FC236}">
                <a16:creationId xmlns:a16="http://schemas.microsoft.com/office/drawing/2014/main" id="{DC3BFFF1-5152-13F4-77BA-0BBB73A690BE}"/>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pic>
        <p:nvPicPr>
          <p:cNvPr id="6149" name="Picture 2">
            <a:extLst>
              <a:ext uri="{FF2B5EF4-FFF2-40B4-BE49-F238E27FC236}">
                <a16:creationId xmlns:a16="http://schemas.microsoft.com/office/drawing/2014/main" id="{F4EAF797-8C55-0028-5E63-52D51B119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1219200"/>
            <a:ext cx="8543925"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4">
            <a:extLst>
              <a:ext uri="{FF2B5EF4-FFF2-40B4-BE49-F238E27FC236}">
                <a16:creationId xmlns:a16="http://schemas.microsoft.com/office/drawing/2014/main" id="{25E5E371-0031-E5D4-E5F8-9887940CA586}"/>
              </a:ext>
            </a:extLst>
          </p:cNvPr>
          <p:cNvSpPr txBox="1">
            <a:spLocks noChangeArrowheads="1"/>
          </p:cNvSpPr>
          <p:nvPr/>
        </p:nvSpPr>
        <p:spPr bwMode="auto">
          <a:xfrm>
            <a:off x="381000" y="1524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171" name="TextBox 5">
            <a:extLst>
              <a:ext uri="{FF2B5EF4-FFF2-40B4-BE49-F238E27FC236}">
                <a16:creationId xmlns:a16="http://schemas.microsoft.com/office/drawing/2014/main" id="{8D437C7E-6BA9-CDD3-5FD6-6877532A3FFF}"/>
              </a:ext>
            </a:extLst>
          </p:cNvPr>
          <p:cNvSpPr txBox="1">
            <a:spLocks noChangeArrowheads="1"/>
          </p:cNvSpPr>
          <p:nvPr/>
        </p:nvSpPr>
        <p:spPr bwMode="auto">
          <a:xfrm>
            <a:off x="533400" y="304800"/>
            <a:ext cx="868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172" name="TextBox 6">
            <a:extLst>
              <a:ext uri="{FF2B5EF4-FFF2-40B4-BE49-F238E27FC236}">
                <a16:creationId xmlns:a16="http://schemas.microsoft.com/office/drawing/2014/main" id="{23500098-08D0-BA84-536B-1C8C13D4BB94}"/>
              </a:ext>
            </a:extLst>
          </p:cNvPr>
          <p:cNvSpPr txBox="1">
            <a:spLocks noChangeArrowheads="1"/>
          </p:cNvSpPr>
          <p:nvPr/>
        </p:nvSpPr>
        <p:spPr bwMode="auto">
          <a:xfrm>
            <a:off x="228600" y="304800"/>
            <a:ext cx="868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200">
                <a:solidFill>
                  <a:srgbClr val="0066FF"/>
                </a:solidFill>
              </a:rPr>
              <a:t>fcntl  function</a:t>
            </a:r>
          </a:p>
        </p:txBody>
      </p:sp>
      <p:sp>
        <p:nvSpPr>
          <p:cNvPr id="9" name="Rectangle 2">
            <a:extLst>
              <a:ext uri="{FF2B5EF4-FFF2-40B4-BE49-F238E27FC236}">
                <a16:creationId xmlns:a16="http://schemas.microsoft.com/office/drawing/2014/main" id="{F48E573F-851E-2897-7801-5415291864CD}"/>
              </a:ext>
            </a:extLst>
          </p:cNvPr>
          <p:cNvSpPr txBox="1">
            <a:spLocks noChangeArrowheads="1"/>
          </p:cNvSpPr>
          <p:nvPr/>
        </p:nvSpPr>
        <p:spPr>
          <a:xfrm>
            <a:off x="838200" y="419100"/>
            <a:ext cx="7778750" cy="1104900"/>
          </a:xfrm>
          <a:prstGeom prst="rect">
            <a:avLst/>
          </a:prstGeom>
          <a:noFill/>
          <a:ln/>
        </p:spPr>
        <p:txBody>
          <a:bodyPr/>
          <a:lstStyle/>
          <a:p>
            <a:pPr algn="ctr">
              <a:defRPr/>
            </a:pPr>
            <a:endParaRPr lang="en-US" sz="4400" kern="0" dirty="0">
              <a:solidFill>
                <a:schemeClr val="tx2"/>
              </a:solidFill>
              <a:latin typeface="+mj-lt"/>
              <a:ea typeface="+mj-ea"/>
              <a:cs typeface="+mj-cs"/>
            </a:endParaRPr>
          </a:p>
        </p:txBody>
      </p:sp>
      <p:sp>
        <p:nvSpPr>
          <p:cNvPr id="10" name="Rectangle 3">
            <a:extLst>
              <a:ext uri="{FF2B5EF4-FFF2-40B4-BE49-F238E27FC236}">
                <a16:creationId xmlns:a16="http://schemas.microsoft.com/office/drawing/2014/main" id="{939B1A8C-B87E-24EF-3F97-3FFD013CAE74}"/>
              </a:ext>
            </a:extLst>
          </p:cNvPr>
          <p:cNvSpPr txBox="1">
            <a:spLocks noChangeArrowheads="1"/>
          </p:cNvSpPr>
          <p:nvPr/>
        </p:nvSpPr>
        <p:spPr>
          <a:xfrm>
            <a:off x="0" y="914400"/>
            <a:ext cx="9144000" cy="5638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914400" indent="-4572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Can change the properties of a file that is already open</a:t>
            </a:r>
          </a:p>
          <a:p>
            <a:pPr algn="just" eaLnBrk="1" hangingPunct="1">
              <a:spcBef>
                <a:spcPct val="20000"/>
              </a:spcBef>
            </a:pPr>
            <a:r>
              <a:rPr lang="en-US" altLang="en-US" sz="2400"/>
              <a:t>#include &lt;fcntl.h&gt;</a:t>
            </a:r>
          </a:p>
          <a:p>
            <a:pPr algn="just" eaLnBrk="1" hangingPunct="1">
              <a:spcBef>
                <a:spcPct val="20000"/>
              </a:spcBef>
            </a:pPr>
            <a:r>
              <a:rPr lang="en-US" altLang="en-US" sz="2400"/>
              <a:t>int fcntl (int filedes, int cmd, … /* int arg */);</a:t>
            </a:r>
          </a:p>
          <a:p>
            <a:pPr algn="just" eaLnBrk="1" hangingPunct="1">
              <a:spcBef>
                <a:spcPct val="20000"/>
              </a:spcBef>
            </a:pPr>
            <a:r>
              <a:rPr lang="en-US" altLang="en-US" sz="2400"/>
              <a:t>	returns depends on cmd if OK, -1 on error</a:t>
            </a:r>
          </a:p>
          <a:p>
            <a:pPr algn="just" eaLnBrk="1" hangingPunct="1">
              <a:spcBef>
                <a:spcPct val="20000"/>
              </a:spcBef>
              <a:buFont typeface="Arial" panose="020B0604020202020204" pitchFamily="34" charset="0"/>
              <a:buChar char="•"/>
            </a:pPr>
            <a:r>
              <a:rPr lang="en-US" altLang="en-US" sz="2400"/>
              <a:t>Third arg is always integer</a:t>
            </a:r>
          </a:p>
          <a:p>
            <a:pPr algn="just" eaLnBrk="1" hangingPunct="1">
              <a:spcBef>
                <a:spcPct val="20000"/>
              </a:spcBef>
              <a:buFont typeface="Arial" panose="020B0604020202020204" pitchFamily="34" charset="0"/>
              <a:buChar char="•"/>
            </a:pPr>
            <a:r>
              <a:rPr lang="en-US" altLang="en-US" sz="2400"/>
              <a:t>The fcntl function is used for five different purposes</a:t>
            </a:r>
          </a:p>
          <a:p>
            <a:pPr lvl="1" algn="just" eaLnBrk="1" hangingPunct="1">
              <a:spcBef>
                <a:spcPct val="20000"/>
              </a:spcBef>
              <a:buFont typeface="Arial" panose="020B0604020202020204" pitchFamily="34" charset="0"/>
              <a:buAutoNum type="arabicPeriod"/>
            </a:pPr>
            <a:r>
              <a:rPr lang="en-US" altLang="en-US" sz="2400"/>
              <a:t>Duplicate an existing descriptor</a:t>
            </a:r>
          </a:p>
          <a:p>
            <a:pPr lvl="1" algn="just" eaLnBrk="1" hangingPunct="1">
              <a:spcBef>
                <a:spcPct val="20000"/>
              </a:spcBef>
              <a:buFont typeface="Arial" panose="020B0604020202020204" pitchFamily="34" charset="0"/>
              <a:buAutoNum type="arabicPeriod"/>
            </a:pPr>
            <a:r>
              <a:rPr lang="en-US" altLang="en-US" sz="2400"/>
              <a:t>Get/set file descriptor flags (cmd=F_GETFD OR F_SETFD)</a:t>
            </a:r>
          </a:p>
          <a:p>
            <a:pPr lvl="1" algn="just" eaLnBrk="1" hangingPunct="1">
              <a:spcBef>
                <a:spcPct val="20000"/>
              </a:spcBef>
              <a:buFont typeface="Arial" panose="020B0604020202020204" pitchFamily="34" charset="0"/>
              <a:buAutoNum type="arabicPeriod"/>
            </a:pPr>
            <a:r>
              <a:rPr lang="en-US" altLang="en-US" sz="2400"/>
              <a:t>Get/set file status flags (cmd=F_GETFL OR F_SETFL)</a:t>
            </a:r>
          </a:p>
          <a:p>
            <a:pPr lvl="1" algn="just" eaLnBrk="1" hangingPunct="1">
              <a:spcBef>
                <a:spcPct val="20000"/>
              </a:spcBef>
              <a:buFont typeface="Arial" panose="020B0604020202020204" pitchFamily="34" charset="0"/>
              <a:buAutoNum type="arabicPeriod"/>
            </a:pPr>
            <a:r>
              <a:rPr lang="en-US" altLang="en-US" sz="2400"/>
              <a:t>Get/set asynchronous I/O ownership (cmd=F_GETOWN OR F_SETOWN)</a:t>
            </a:r>
          </a:p>
          <a:p>
            <a:pPr lvl="1" algn="just" eaLnBrk="1" hangingPunct="1">
              <a:spcBef>
                <a:spcPct val="20000"/>
              </a:spcBef>
              <a:buFont typeface="Arial" panose="020B0604020202020204" pitchFamily="34" charset="0"/>
              <a:buAutoNum type="arabicPeriod"/>
            </a:pPr>
            <a:r>
              <a:rPr lang="en-US" altLang="en-US" sz="2400"/>
              <a:t>Get/set record blocks (cmd=F_GETLK OR F_SETLK or F_SETLKW)</a:t>
            </a:r>
          </a:p>
          <a:p>
            <a:pPr lvl="1" algn="just" eaLnBrk="1" hangingPunct="1">
              <a:spcBef>
                <a:spcPct val="20000"/>
              </a:spcBef>
              <a:buFont typeface="Arial" panose="020B0604020202020204" pitchFamily="34" charset="0"/>
              <a:buAutoNum type="arabicPeriod"/>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dissolve">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dissolve">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dissolve">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dissolve">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dissolve">
                                      <p:cBhvr>
                                        <p:cTn id="32" dur="500"/>
                                        <p:tgtEl>
                                          <p:spTgt spid="10">
                                            <p:txEl>
                                              <p:pRg st="5" end="5"/>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animEffect transition="in" filter="dissolve">
                                      <p:cBhvr>
                                        <p:cTn id="35" dur="500"/>
                                        <p:tgtEl>
                                          <p:spTgt spid="10">
                                            <p:txEl>
                                              <p:pRg st="6" end="6"/>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0">
                                            <p:txEl>
                                              <p:pRg st="7" end="7"/>
                                            </p:txEl>
                                          </p:spTgt>
                                        </p:tgtEl>
                                        <p:attrNameLst>
                                          <p:attrName>style.visibility</p:attrName>
                                        </p:attrNameLst>
                                      </p:cBhvr>
                                      <p:to>
                                        <p:strVal val="visible"/>
                                      </p:to>
                                    </p:set>
                                    <p:animEffect transition="in" filter="dissolve">
                                      <p:cBhvr>
                                        <p:cTn id="38" dur="500"/>
                                        <p:tgtEl>
                                          <p:spTgt spid="10">
                                            <p:txEl>
                                              <p:pRg st="7" end="7"/>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0">
                                            <p:txEl>
                                              <p:pRg st="8" end="8"/>
                                            </p:txEl>
                                          </p:spTgt>
                                        </p:tgtEl>
                                        <p:attrNameLst>
                                          <p:attrName>style.visibility</p:attrName>
                                        </p:attrNameLst>
                                      </p:cBhvr>
                                      <p:to>
                                        <p:strVal val="visible"/>
                                      </p:to>
                                    </p:set>
                                    <p:animEffect transition="in" filter="dissolve">
                                      <p:cBhvr>
                                        <p:cTn id="41" dur="500"/>
                                        <p:tgtEl>
                                          <p:spTgt spid="10">
                                            <p:txEl>
                                              <p:pRg st="8" end="8"/>
                                            </p:txEl>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0">
                                            <p:txEl>
                                              <p:pRg st="9" end="9"/>
                                            </p:txEl>
                                          </p:spTgt>
                                        </p:tgtEl>
                                        <p:attrNameLst>
                                          <p:attrName>style.visibility</p:attrName>
                                        </p:attrNameLst>
                                      </p:cBhvr>
                                      <p:to>
                                        <p:strVal val="visible"/>
                                      </p:to>
                                    </p:set>
                                    <p:animEffect transition="in" filter="dissolve">
                                      <p:cBhvr>
                                        <p:cTn id="44" dur="500"/>
                                        <p:tgtEl>
                                          <p:spTgt spid="10">
                                            <p:txEl>
                                              <p:pRg st="9" end="9"/>
                                            </p:txEl>
                                          </p:spTgt>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0">
                                            <p:txEl>
                                              <p:pRg st="10" end="10"/>
                                            </p:txEl>
                                          </p:spTgt>
                                        </p:tgtEl>
                                        <p:attrNameLst>
                                          <p:attrName>style.visibility</p:attrName>
                                        </p:attrNameLst>
                                      </p:cBhvr>
                                      <p:to>
                                        <p:strVal val="visible"/>
                                      </p:to>
                                    </p:set>
                                    <p:animEffect transition="in" filter="dissolve">
                                      <p:cBhvr>
                                        <p:cTn id="4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E9E6037-1EE8-F988-E9C1-8AC0BC3C3DD4}"/>
              </a:ext>
            </a:extLst>
          </p:cNvPr>
          <p:cNvSpPr txBox="1">
            <a:spLocks noChangeArrowheads="1"/>
          </p:cNvSpPr>
          <p:nvPr/>
        </p:nvSpPr>
        <p:spPr>
          <a:xfrm>
            <a:off x="685800" y="457200"/>
            <a:ext cx="77724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200"/>
              <a:t>F_DUPFD	duplicate the filedes. The new fd is returned as the value of the function. The new fd shared the same file table entry as filedes but it has its own set of fd flags</a:t>
            </a:r>
          </a:p>
          <a:p>
            <a:pPr algn="just" eaLnBrk="1" hangingPunct="1">
              <a:spcBef>
                <a:spcPct val="20000"/>
              </a:spcBef>
              <a:buFontTx/>
              <a:buChar char="•"/>
            </a:pPr>
            <a:r>
              <a:rPr lang="en-US" altLang="en-US" sz="3200"/>
              <a:t>F_GETFD	return the fd flags for filedes as the value of the function</a:t>
            </a:r>
          </a:p>
          <a:p>
            <a:pPr algn="just" eaLnBrk="1" hangingPunct="1">
              <a:spcBef>
                <a:spcPct val="20000"/>
              </a:spcBef>
              <a:buFontTx/>
              <a:buChar char="•"/>
            </a:pPr>
            <a:r>
              <a:rPr lang="en-US" altLang="en-US" sz="3200"/>
              <a:t>F_SETFD	set the fd flags for filedes. The new flag value is taken from the third argument </a:t>
            </a:r>
            <a:endParaRPr lang="en-US" alt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0F816254-2E9D-D957-8FCF-494385A262A6}"/>
              </a:ext>
            </a:extLst>
          </p:cNvPr>
          <p:cNvSpPr txBox="1">
            <a:spLocks noChangeArrowheads="1"/>
          </p:cNvSpPr>
          <p:nvPr/>
        </p:nvSpPr>
        <p:spPr>
          <a:xfrm>
            <a:off x="152400" y="457200"/>
            <a:ext cx="89916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2400"/>
              <a:t>F_GETFL	return file status flags for filedes as the value of the function</a:t>
            </a:r>
          </a:p>
          <a:p>
            <a:pPr algn="just" eaLnBrk="1" hangingPunct="1">
              <a:spcBef>
                <a:spcPct val="20000"/>
              </a:spcBef>
            </a:pPr>
            <a:r>
              <a:rPr lang="en-US" altLang="en-US" sz="2400"/>
              <a:t>	file status flag	description</a:t>
            </a:r>
          </a:p>
          <a:p>
            <a:pPr algn="just" eaLnBrk="1" hangingPunct="1">
              <a:spcBef>
                <a:spcPct val="20000"/>
              </a:spcBef>
            </a:pPr>
            <a:r>
              <a:rPr lang="en-US" altLang="en-US" sz="2400"/>
              <a:t>	O_RDONLY	open for read only</a:t>
            </a:r>
          </a:p>
          <a:p>
            <a:pPr algn="just" eaLnBrk="1" hangingPunct="1">
              <a:spcBef>
                <a:spcPct val="20000"/>
              </a:spcBef>
            </a:pPr>
            <a:r>
              <a:rPr lang="en-US" altLang="en-US" sz="2400"/>
              <a:t>	O_WRONLY	open for write only 	</a:t>
            </a:r>
          </a:p>
          <a:p>
            <a:pPr algn="just" eaLnBrk="1" hangingPunct="1">
              <a:spcBef>
                <a:spcPct val="20000"/>
              </a:spcBef>
            </a:pPr>
            <a:r>
              <a:rPr lang="en-US" altLang="en-US" sz="2400"/>
              <a:t>	O_RDWR		open for reading and writing</a:t>
            </a:r>
          </a:p>
          <a:p>
            <a:pPr algn="just" eaLnBrk="1" hangingPunct="1">
              <a:spcBef>
                <a:spcPct val="20000"/>
              </a:spcBef>
            </a:pPr>
            <a:r>
              <a:rPr lang="en-US" altLang="en-US" sz="2400"/>
              <a:t>	O_APPEND	append on each write</a:t>
            </a:r>
          </a:p>
          <a:p>
            <a:pPr algn="just" eaLnBrk="1" hangingPunct="1">
              <a:spcBef>
                <a:spcPct val="20000"/>
              </a:spcBef>
            </a:pPr>
            <a:r>
              <a:rPr lang="en-US" altLang="en-US" sz="2400"/>
              <a:t>	O_NONBLOCK	nonblocking mode</a:t>
            </a:r>
          </a:p>
          <a:p>
            <a:pPr algn="just" eaLnBrk="1" hangingPunct="1">
              <a:spcBef>
                <a:spcPct val="20000"/>
              </a:spcBef>
            </a:pPr>
            <a:r>
              <a:rPr lang="en-US" altLang="en-US" sz="2400"/>
              <a:t>	O_SYNC		wait for writes to complete (data and attribs)</a:t>
            </a:r>
          </a:p>
          <a:p>
            <a:pPr algn="just" eaLnBrk="1" hangingPunct="1">
              <a:spcBef>
                <a:spcPct val="20000"/>
              </a:spcBef>
            </a:pPr>
            <a:r>
              <a:rPr lang="en-US" altLang="en-US" sz="2400"/>
              <a:t>	O_DSYNC		 wait for writes to complete (data only)	</a:t>
            </a:r>
          </a:p>
          <a:p>
            <a:pPr algn="just" eaLnBrk="1" hangingPunct="1">
              <a:spcBef>
                <a:spcPct val="20000"/>
              </a:spcBef>
            </a:pPr>
            <a:r>
              <a:rPr lang="en-US" altLang="en-US" sz="2400"/>
              <a:t>	O_RSYNC		synchronized reads and writes</a:t>
            </a:r>
          </a:p>
          <a:p>
            <a:pPr algn="just" eaLnBrk="1" hangingPunct="1">
              <a:spcBef>
                <a:spcPct val="20000"/>
              </a:spcBef>
            </a:pPr>
            <a:r>
              <a:rPr lang="en-US" altLang="en-US" sz="2400"/>
              <a:t>	</a:t>
            </a:r>
          </a:p>
          <a:p>
            <a:pPr algn="just" eaLnBrk="1" hangingPunct="1">
              <a:spcBef>
                <a:spcPct val="20000"/>
              </a:spcBef>
            </a:pPr>
            <a:r>
              <a:rPr lang="en-US" altLang="en-US" sz="28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94E1463-E728-EFCA-F98A-2F0421FA4BD4}"/>
              </a:ext>
            </a:extLst>
          </p:cNvPr>
          <p:cNvSpPr txBox="1">
            <a:spLocks noChangeArrowheads="1"/>
          </p:cNvSpPr>
          <p:nvPr/>
        </p:nvSpPr>
        <p:spPr>
          <a:xfrm>
            <a:off x="152400" y="457200"/>
            <a:ext cx="89916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200">
                <a:latin typeface="Times New Roman" panose="02020603050405020304" pitchFamily="18" charset="0"/>
              </a:rPr>
              <a:t>F_SETFL	Set the file status flags to the value of the third argument. The only flags that can be changed are O_APPEND, O_NONBLOCK, O_SYNC, O_DSYNC, O_RSYNC</a:t>
            </a:r>
          </a:p>
          <a:p>
            <a:pPr algn="just" eaLnBrk="1" hangingPunct="1">
              <a:spcBef>
                <a:spcPct val="20000"/>
              </a:spcBef>
              <a:buFontTx/>
              <a:buChar char="•"/>
            </a:pPr>
            <a:r>
              <a:rPr lang="en-US" altLang="en-US" sz="3200">
                <a:latin typeface="Times New Roman" panose="02020603050405020304" pitchFamily="18" charset="0"/>
              </a:rPr>
              <a:t>F_GETOWN	get the process ID or process group Id currently receiving the SIGIO and SIGURG signals</a:t>
            </a:r>
          </a:p>
          <a:p>
            <a:pPr algn="just" eaLnBrk="1" hangingPunct="1">
              <a:spcBef>
                <a:spcPct val="20000"/>
              </a:spcBef>
              <a:buFontTx/>
              <a:buChar char="•"/>
            </a:pPr>
            <a:r>
              <a:rPr lang="en-US" altLang="en-US" sz="3200">
                <a:latin typeface="Times New Roman" panose="02020603050405020304" pitchFamily="18" charset="0"/>
              </a:rPr>
              <a:t>F_SETOWN	set the process ID or process group Id currently receiving the SICIO and SIGURG signals. A +ve arg specifies process ID. A –ve arg implies a process group ID equal to the absolute value of arg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3056F2C1-BA55-C8C1-570F-29CA3A6C94AB}"/>
              </a:ext>
            </a:extLst>
          </p:cNvPr>
          <p:cNvSpPr txBox="1">
            <a:spLocks noChangeArrowheads="1"/>
          </p:cNvSpPr>
          <p:nvPr/>
        </p:nvSpPr>
        <p:spPr>
          <a:xfrm>
            <a:off x="152400" y="457200"/>
            <a:ext cx="8991600" cy="4114800"/>
          </a:xfrm>
          <a:prstGeom prst="rect">
            <a:avLst/>
          </a:prstGeom>
          <a:noFill/>
          <a:ln/>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20000"/>
              </a:spcBef>
              <a:buFontTx/>
              <a:buChar char="•"/>
            </a:pPr>
            <a:r>
              <a:rPr lang="en-US" altLang="en-US" sz="3200">
                <a:latin typeface="Times New Roman" panose="02020603050405020304" pitchFamily="18" charset="0"/>
              </a:rPr>
              <a:t>The return value from fcntl depends on the command</a:t>
            </a:r>
          </a:p>
          <a:p>
            <a:pPr algn="just" eaLnBrk="1" hangingPunct="1">
              <a:spcBef>
                <a:spcPct val="20000"/>
              </a:spcBef>
              <a:buFontTx/>
              <a:buChar char="•"/>
            </a:pPr>
            <a:r>
              <a:rPr lang="en-US" altLang="en-US" sz="3200">
                <a:latin typeface="Times New Roman" panose="02020603050405020304" pitchFamily="18" charset="0"/>
              </a:rPr>
              <a:t>The F_DUPFD, F_GETFD, F_GETFL, F_GETOWN command returns special values</a:t>
            </a:r>
          </a:p>
          <a:p>
            <a:pPr algn="just" eaLnBrk="1" hangingPunct="1">
              <a:spcBef>
                <a:spcPct val="20000"/>
              </a:spcBef>
              <a:buFontTx/>
              <a:buChar char="•"/>
            </a:pPr>
            <a:r>
              <a:rPr lang="en-US" altLang="en-US" sz="3200">
                <a:latin typeface="Times New Roman" panose="02020603050405020304" pitchFamily="18" charset="0"/>
              </a:rPr>
              <a:t>F_DUPFD	returns new file descriptor</a:t>
            </a:r>
          </a:p>
          <a:p>
            <a:pPr algn="just" eaLnBrk="1" hangingPunct="1">
              <a:spcBef>
                <a:spcPct val="20000"/>
              </a:spcBef>
              <a:buFontTx/>
              <a:buChar char="•"/>
            </a:pPr>
            <a:r>
              <a:rPr lang="en-US" altLang="en-US" sz="3200">
                <a:latin typeface="Times New Roman" panose="02020603050405020304" pitchFamily="18" charset="0"/>
              </a:rPr>
              <a:t>F_GETFD, F_GETFL returns corresponding flags</a:t>
            </a:r>
          </a:p>
          <a:p>
            <a:pPr algn="just" eaLnBrk="1" hangingPunct="1">
              <a:spcBef>
                <a:spcPct val="20000"/>
              </a:spcBef>
              <a:buFontTx/>
              <a:buChar char="•"/>
            </a:pPr>
            <a:r>
              <a:rPr lang="en-US" altLang="en-US" sz="3200">
                <a:latin typeface="Times New Roman" panose="02020603050405020304" pitchFamily="18" charset="0"/>
              </a:rPr>
              <a:t>F_GETOWN returns +ve process ID or a –ve process group ID</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152</TotalTime>
  <Words>720</Words>
  <Application>Microsoft Office PowerPoint</Application>
  <PresentationFormat>On-screen Show (4:3)</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Kamalika</dc:creator>
  <cp:lastModifiedBy>S Bhavani</cp:lastModifiedBy>
  <cp:revision>147</cp:revision>
  <dcterms:created xsi:type="dcterms:W3CDTF">2011-04-12T16:02:31Z</dcterms:created>
  <dcterms:modified xsi:type="dcterms:W3CDTF">2026-04-07T06:37:29Z</dcterms:modified>
</cp:coreProperties>
</file>