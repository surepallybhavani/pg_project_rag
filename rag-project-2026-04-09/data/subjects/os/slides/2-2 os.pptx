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5" r:id="rId1"/>
  </p:sldMasterIdLst>
  <p:notesMasterIdLst>
    <p:notesMasterId r:id="rId61"/>
  </p:notesMasterIdLst>
  <p:handoutMasterIdLst>
    <p:handoutMasterId r:id="rId62"/>
  </p:handoutMasterIdLst>
  <p:sldIdLst>
    <p:sldId id="360" r:id="rId2"/>
    <p:sldId id="256" r:id="rId3"/>
    <p:sldId id="353" r:id="rId4"/>
    <p:sldId id="257" r:id="rId5"/>
    <p:sldId id="279" r:id="rId6"/>
    <p:sldId id="278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6" r:id="rId15"/>
    <p:sldId id="362" r:id="rId16"/>
    <p:sldId id="363" r:id="rId17"/>
    <p:sldId id="366" r:id="rId18"/>
    <p:sldId id="367" r:id="rId19"/>
    <p:sldId id="368" r:id="rId20"/>
    <p:sldId id="364" r:id="rId21"/>
    <p:sldId id="365" r:id="rId22"/>
    <p:sldId id="369" r:id="rId23"/>
    <p:sldId id="269" r:id="rId24"/>
    <p:sldId id="370" r:id="rId25"/>
    <p:sldId id="372" r:id="rId26"/>
    <p:sldId id="270" r:id="rId27"/>
    <p:sldId id="271" r:id="rId28"/>
    <p:sldId id="371" r:id="rId29"/>
    <p:sldId id="281" r:id="rId30"/>
    <p:sldId id="282" r:id="rId31"/>
    <p:sldId id="272" r:id="rId32"/>
    <p:sldId id="283" r:id="rId33"/>
    <p:sldId id="273" r:id="rId34"/>
    <p:sldId id="274" r:id="rId35"/>
    <p:sldId id="292" r:id="rId36"/>
    <p:sldId id="275" r:id="rId37"/>
    <p:sldId id="356" r:id="rId38"/>
    <p:sldId id="357" r:id="rId39"/>
    <p:sldId id="358" r:id="rId40"/>
    <p:sldId id="329" r:id="rId41"/>
    <p:sldId id="348" r:id="rId42"/>
    <p:sldId id="359" r:id="rId43"/>
    <p:sldId id="290" r:id="rId44"/>
    <p:sldId id="301" r:id="rId45"/>
    <p:sldId id="349" r:id="rId46"/>
    <p:sldId id="350" r:id="rId47"/>
    <p:sldId id="326" r:id="rId48"/>
    <p:sldId id="351" r:id="rId49"/>
    <p:sldId id="361" r:id="rId50"/>
    <p:sldId id="302" r:id="rId51"/>
    <p:sldId id="315" r:id="rId52"/>
    <p:sldId id="316" r:id="rId53"/>
    <p:sldId id="317" r:id="rId54"/>
    <p:sldId id="330" r:id="rId55"/>
    <p:sldId id="344" r:id="rId56"/>
    <p:sldId id="345" r:id="rId57"/>
    <p:sldId id="346" r:id="rId58"/>
    <p:sldId id="347" r:id="rId59"/>
    <p:sldId id="289" r:id="rId60"/>
  </p:sldIdLst>
  <p:sldSz cx="9144000" cy="6858000" type="screen4x3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7">
          <p15:clr>
            <a:srgbClr val="A4A3A4"/>
          </p15:clr>
        </p15:guide>
        <p15:guide id="2" pos="53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618" y="43"/>
      </p:cViewPr>
      <p:guideLst>
        <p:guide orient="horz" pos="797"/>
        <p:guide pos="53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A1CAC13A-59F1-05B8-FE86-AA64F56B48A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ctr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pitchFamily="34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49946FE7-1536-E45E-BF7A-9AA878E5B01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7163" y="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pitchFamily="34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6" name="Rectangle 4">
            <a:extLst>
              <a:ext uri="{FF2B5EF4-FFF2-40B4-BE49-F238E27FC236}">
                <a16:creationId xmlns:a16="http://schemas.microsoft.com/office/drawing/2014/main" id="{74167119-448E-C915-6692-44548F0C72D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pitchFamily="34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7" name="Rectangle 5">
            <a:extLst>
              <a:ext uri="{FF2B5EF4-FFF2-40B4-BE49-F238E27FC236}">
                <a16:creationId xmlns:a16="http://schemas.microsoft.com/office/drawing/2014/main" id="{7247E5F9-4D57-5DF5-00E2-BCD3FA48FEE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7163" y="882015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panose="020B0604020202020204" pitchFamily="34" charset="0"/>
              </a:defRPr>
            </a:lvl1pPr>
          </a:lstStyle>
          <a:p>
            <a:fld id="{21C84060-1D6D-4E49-80FF-3EEE000E119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441402C-EC68-5F76-EF21-098F1A87874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17" tIns="46509" rIns="93017" bIns="46509" numCol="1" anchor="ctr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pitchFamily="18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936A910-D16E-B5EE-5717-481B7571D2D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7163" y="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17" tIns="46509" rIns="93017" bIns="46509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Times New Roman" pitchFamily="18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92" name="Rectangle 4">
            <a:extLst>
              <a:ext uri="{FF2B5EF4-FFF2-40B4-BE49-F238E27FC236}">
                <a16:creationId xmlns:a16="http://schemas.microsoft.com/office/drawing/2014/main" id="{434BF416-1717-4184-AC25-02F23327D3B3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79513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D066C49B-33AE-A42B-9492-4CC6418C01A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17" tIns="46509" rIns="93017" bIns="4650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4ABE60FA-64A8-0EC3-686E-C8280A3D704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17" tIns="46509" rIns="93017" bIns="46509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pitchFamily="18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9CFCB2C0-B256-C692-D956-BA5F343C69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7163" y="882015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17" tIns="46509" rIns="93017" bIns="46509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Times New Roman" panose="02020603050405020304" pitchFamily="18" charset="0"/>
              </a:defRPr>
            </a:lvl1pPr>
          </a:lstStyle>
          <a:p>
            <a:fld id="{D7215C8D-A470-40CF-BF6B-3BA64708587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35873ACE-38E2-3868-FC5B-DAE1FF8A403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B4A5CAC6-B827-9F9D-5B52-F44E8FB723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FFF65993-517F-2A6D-18C1-8C44B8042E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F3087BB-0428-4A1C-8598-13E000971261}" type="slidenum">
              <a:rPr lang="en-US" altLang="en-US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18A9385D-010F-57BB-3F53-D649E19292A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CE850AF1-660F-106E-DFF5-6DD4D4497D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7424C407-1E6D-A96B-6639-E327538F5A7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ECF0D2E9-6CB1-936B-53B2-CF93C7CF09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685C23A5-4A84-7515-BDA3-1221CC311D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84F2112-FCDD-452F-8B84-DEE28D8E5655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9F3E37C6-D901-E543-A555-8AA37A1B200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209E047F-43EF-B027-1986-CCD0A66494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4440457A-23BC-C441-5EE4-147DB66364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BA5C5B6-4DDA-4CD6-A3E9-BA537E9B3732}" type="slidenum">
              <a:rPr lang="en-US" altLang="en-US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D8F07494-ADE1-6B38-0342-421C3E08BD6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9FB166C5-D075-43EE-DC76-508BBECB48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0B469FE9-0AE6-D09C-3223-4FF1507EE6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6E80C84-4154-4BC3-B538-866AFBC738F5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B5C5938E-FEF8-98E2-2686-4CA25C0C18C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FDE145B7-C1BD-AABA-B0AD-63546BCDF2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E16231B1-B032-09FD-1124-3796296F7F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61637A1-D5E3-4FA7-AFA5-9C2B2F793E45}" type="slidenum">
              <a:rPr lang="en-US" altLang="en-US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42B87CC0-9C87-4006-D7E4-EAE85FADBCB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AF1E635D-2C68-AD98-4A63-7647001693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D2F5032B-3E9A-53B0-6599-70F9375CD4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9EDB803-6905-466F-A7B6-0D98EE609347}" type="slidenum">
              <a:rPr lang="en-US" altLang="en-US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8F8F7C30-B15C-B9E0-E96F-ED6ADFEF30F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24A771E8-F69E-70BA-80A2-91F80A41A5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F97BE77C-7242-7D5A-5218-0175C33B31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B97A53D2-C581-49A1-9941-F9618359024A}" type="slidenum">
              <a:rPr lang="en-US" altLang="en-US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E2E2D73C-E4E3-841A-7C06-F1BDC7AF3E2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CDABE0FA-4208-659E-315E-C91BDBF4D8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3A46D690-C1F0-D7F6-6100-67D3DD1B8E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4F84AD4-4AF9-4C4A-A2C7-9D518E6F2531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62F6F156-E54A-C8D5-5506-9A4F7D09FC7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56F542AE-3685-B890-9197-C45D78F491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6195F0F4-0539-840E-B570-36C65DE058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971859B-F41E-46A1-A79E-DB3C4990F1B9}" type="slidenum">
              <a:rPr lang="en-US" altLang="en-US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B3AFE0C2-7E69-6691-EC3A-86ADDB4103C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D34B9F85-786F-6476-6C78-7FC2BD3F9E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73CDCFB1-9B50-157C-35CC-4E0AE467EE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9FC530C-C4B1-4349-8EA0-33CFC35103EB}" type="slidenum">
              <a:rPr lang="en-US" altLang="en-US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B61F4D23-DB70-4726-E1EF-3F4D95DA5AE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74635131-E258-00A6-7380-78D6684852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55E5F42D-BA38-7C49-B38F-BD3B750F8A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E9C8A73-3C14-4799-9D3E-B4D79DB8F8A5}" type="slidenum">
              <a:rPr lang="en-US" altLang="en-US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26134A68-F5C7-441A-3532-8995E65BDAF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A10CB3D5-F252-225F-7904-DDCC056519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355320AF-AB05-07DC-8BEB-56DBF5E2BF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77997A1F-29FC-41EB-A651-45359F5DE413}" type="slidenum">
              <a:rPr lang="en-US" altLang="en-US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7E1E76CD-AA54-EBFC-E84C-E3FA59F675C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120D3C80-FD9B-C40F-F0EF-EE2FDA733C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AE660369-4CB5-CEDD-ADD1-B085088657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6B860BA-1F87-4AA1-8C6E-361CA2D8C9B1}" type="slidenum">
              <a:rPr lang="en-US" altLang="en-US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F974AEEE-18E0-B044-F7EC-073A73B1A97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96ACE3A2-A9AE-E44B-EC49-96817F648A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959FAB84-CA25-C969-6E6C-AEDC515AF8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A79028C0-C0A8-4D78-A729-5E361848CF03}" type="slidenum">
              <a:rPr lang="en-US" altLang="en-US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0556510E-6B9B-7BEF-E4ED-9D0DA002BEF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A25E0192-5854-A2FA-80CF-FC35C3E255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63399394-1D96-6E22-2E5A-AB724C5930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A8A6287A-B603-4606-9173-6C6C21988F5C}" type="slidenum">
              <a:rPr lang="en-US" altLang="en-US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D85397A9-525F-7130-DAF8-F6CBB20595C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DE384558-0710-B7D3-B6FC-556099A38B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23B0FF6E-12D7-2C97-B4FB-A3F32D4418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4B011810-2999-4871-8823-449336A0AC1B}" type="slidenum">
              <a:rPr lang="en-US" altLang="en-US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A9F61282-9C06-3387-7AF4-76DD3858EE3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E285A182-A907-2576-AA28-4EA1C1FE90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B2A22DFA-0644-1A35-EA62-B0AD250D2A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B252B2B-A575-4E0E-9D87-28817301B1F3}" type="slidenum">
              <a:rPr lang="en-US" altLang="en-US">
                <a:latin typeface="Times New Roman" panose="02020603050405020304" pitchFamily="18" charset="0"/>
              </a:rPr>
              <a:pPr/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FAA206E1-C4DC-2373-BB74-E694D85B06B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BEF0BE53-D5D8-A311-0DBE-1C9CCCB0B4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BE19B283-7036-BC87-A929-A3543AB4EB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B468487-E1EC-456B-BC30-EB4F679635C7}" type="slidenum">
              <a:rPr lang="en-US" altLang="en-US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738A937A-6149-FCB0-4196-754577A93CC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533F2BE4-BC84-AA9F-B8A5-AC052295F8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DBC365AF-5FAE-0942-ECCD-83CFE5D525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534332C-4A1E-43C6-A424-2866D8936470}" type="slidenum">
              <a:rPr lang="en-US" altLang="en-US">
                <a:latin typeface="Times New Roman" panose="02020603050405020304" pitchFamily="18" charset="0"/>
              </a:rPr>
              <a:pPr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84B820AB-5245-CDD7-85E3-3B7C7B43B41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4B21D616-D9F7-7EC7-DA3D-F0A4727B04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0386775F-11F9-7739-9337-12CE585E0D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3088C6A-3B99-4E3D-8875-DD9824C689EB}" type="slidenum">
              <a:rPr lang="en-US" altLang="en-US">
                <a:latin typeface="Times New Roman" panose="02020603050405020304" pitchFamily="18" charset="0"/>
              </a:rPr>
              <a:pPr/>
              <a:t>30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C7547CB6-6E8E-6842-E4EB-75DC81A0F59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E8D6455C-E6EB-C3A3-8979-D5EA093526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A72C7AAE-6CC9-211E-7E93-D31725E084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74FED79C-8746-4A95-9B2F-8CAD39696D57}" type="slidenum">
              <a:rPr lang="en-US" altLang="en-US">
                <a:latin typeface="Times New Roman" panose="02020603050405020304" pitchFamily="18" charset="0"/>
              </a:rPr>
              <a:pPr/>
              <a:t>31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99B5E3B0-0158-C788-32B5-3EA23D73D0E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DB79F8A8-8C41-D589-A0FE-F1D7549F25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8AB13CD2-190A-CCCE-B69D-FEEA38178D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3DE3132-24A7-4892-A6D8-5F2E64FAF4B8}" type="slidenum">
              <a:rPr lang="en-US" altLang="en-US">
                <a:latin typeface="Times New Roman" panose="02020603050405020304" pitchFamily="18" charset="0"/>
              </a:rPr>
              <a:pPr/>
              <a:t>32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C28F8605-2ED1-485F-A19D-BCFFADD0F3B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3D7EA142-9ABB-638C-46DE-2CD90E900C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E3EE7064-268F-6DB7-1A7C-6BBED07825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AFCAB40-0656-44F4-AC32-2BD60BA2449F}" type="slidenum">
              <a:rPr lang="en-US" altLang="en-US">
                <a:latin typeface="Times New Roman" panose="02020603050405020304" pitchFamily="18" charset="0"/>
              </a:rPr>
              <a:pPr/>
              <a:t>33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D0F197A7-BBBE-B84A-EFD8-29C3004F210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C14B37DF-1C15-D2D8-79D3-862836D44A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BDC8A8A7-A820-B133-3292-A340F3F059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08BE1060-36B2-4696-A2D0-CB377513B415}" type="slidenum">
              <a:rPr lang="en-US" altLang="en-US">
                <a:latin typeface="Times New Roman" panose="02020603050405020304" pitchFamily="18" charset="0"/>
              </a:rPr>
              <a:pPr/>
              <a:t>34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B0A33866-0BBB-517B-8CCE-4E632274945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AF6750C1-B7E0-7D2F-588E-FDCA318F8C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DA40DDE6-60E2-74E1-48E9-6C9FBB1DDE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C1118A7-7B5A-449A-B262-342715F32763}" type="slidenum">
              <a:rPr lang="en-US" altLang="en-US">
                <a:latin typeface="Times New Roman" panose="02020603050405020304" pitchFamily="18" charset="0"/>
              </a:rPr>
              <a:pPr/>
              <a:t>35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E9E75424-61C2-7448-4B86-B644BEDE40D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10702564-F617-444E-3C04-4C4AF2C170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A5402A7D-2817-F0E9-47BD-CD1B79F8CD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FA03690-11AC-4BA8-A3FA-4D7DBACE3E5B}" type="slidenum">
              <a:rPr lang="en-US" altLang="en-US">
                <a:latin typeface="Times New Roman" panose="02020603050405020304" pitchFamily="18" charset="0"/>
              </a:rPr>
              <a:pPr/>
              <a:t>36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B0D0DEBA-51FA-C7D9-DCFC-01774B2C5F9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8A36AF15-B747-9C80-527F-D0A1046753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72CBD8B6-FF1E-B6F6-DBDD-A2219596936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7AB8FD1E-6812-6005-DC42-AD67D1CC66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9248B697-B0F4-1394-3655-79C74D54C39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64B9B33F-E01D-245C-8BD8-3F76A5DD94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3812B0E9-88F8-BC5A-EF6C-3B5595276E1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905F9FE6-DB75-A8CA-5AD5-861E3E3E35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EBEA0218-8328-A981-2325-DAA9AD736A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F1EB58F-F869-4A50-B55B-55A26FAEB91B}" type="slidenum">
              <a:rPr lang="en-US" altLang="en-US">
                <a:latin typeface="Times New Roman" panose="02020603050405020304" pitchFamily="18" charset="0"/>
              </a:rPr>
              <a:pPr/>
              <a:t>40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71FB232D-DE90-B4F3-3F2A-ED34455C6D4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BEA2B578-DE3F-0E7B-21E8-5F15EB80E9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9EB4DE92-5369-7893-F6C2-A9148E448C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0E8B97AB-2016-4958-BB33-3B96146B8C3D}" type="slidenum">
              <a:rPr lang="en-US" altLang="en-US">
                <a:latin typeface="Times New Roman" panose="02020603050405020304" pitchFamily="18" charset="0"/>
              </a:rPr>
              <a:pPr/>
              <a:t>41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0306CED4-4DD3-33FF-6F4B-DADAA7E0785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8F065AA6-A592-307E-3667-C4EC876D6D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0211BF86-A802-B4B2-A80E-BF3038F3E10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54C19B4E-107A-FA82-BA58-16FCB54831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C7AE3402-D25C-D1CB-DB4D-31ADF40C4D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874049B-E3A4-4DFF-ACFC-5D7670353C54}" type="slidenum">
              <a:rPr lang="en-US" altLang="en-US">
                <a:latin typeface="Times New Roman" panose="02020603050405020304" pitchFamily="18" charset="0"/>
              </a:rPr>
              <a:pPr/>
              <a:t>43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8AA4FB05-0FC7-2B3A-0098-D705F1AD648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D29B0B4D-E66A-AA93-10B5-56B01D8731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E9D44E08-A9AF-4815-355D-5AEC81BD74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CEF76BA-10BE-442B-8BD4-E13259E6082C}" type="slidenum">
              <a:rPr lang="en-US" altLang="en-US">
                <a:latin typeface="Times New Roman" panose="02020603050405020304" pitchFamily="18" charset="0"/>
              </a:rPr>
              <a:pPr/>
              <a:t>44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70D4D66F-4E2F-56F1-EA5B-0F27BB02542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F3093D9D-BEDE-FE43-AB5A-273B3F105A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EB4ED507-722B-9BC5-FBF5-9CAF8833D7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A428781-2BD1-451C-8ED0-5D617F79C3EA}" type="slidenum">
              <a:rPr lang="en-US" altLang="en-US">
                <a:latin typeface="Times New Roman" panose="02020603050405020304" pitchFamily="18" charset="0"/>
              </a:rPr>
              <a:pPr/>
              <a:t>45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0FDBA58D-5E3E-CFB0-AB0B-1FD64CA0ED9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C135BBBB-2986-F283-3E06-E3A9BA4AF5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0C179DE7-0FDC-0481-C358-832A325FC3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BDFEF2C-1B24-4A54-A7AE-F17A64051C25}" type="slidenum">
              <a:rPr lang="en-US" altLang="en-US">
                <a:latin typeface="Times New Roman" panose="02020603050405020304" pitchFamily="18" charset="0"/>
              </a:rPr>
              <a:pPr/>
              <a:t>46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98A2BA7B-E32B-501D-B384-9633E6F3D84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FB609CCF-FCB8-F7BE-B9B2-4BF80988FA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3BCD3522-4CA7-DE2F-F299-50A3BAA533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AB8CFD4B-870B-42F7-A0F7-88282A277822}" type="slidenum">
              <a:rPr lang="en-US" altLang="en-US">
                <a:latin typeface="Times New Roman" panose="02020603050405020304" pitchFamily="18" charset="0"/>
              </a:rPr>
              <a:pPr/>
              <a:t>47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F43FCB43-4F86-7B07-B365-070F3AB485F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9702E5F4-9C1E-2AC3-4299-26FC19C951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18CBB2E3-A386-F579-9870-B7EEFA9DE1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87FCFA2-CE40-4324-BE9A-0520D1CF3A32}" type="slidenum">
              <a:rPr lang="en-US" altLang="en-US">
                <a:latin typeface="Times New Roman" panose="02020603050405020304" pitchFamily="18" charset="0"/>
              </a:rPr>
              <a:pPr/>
              <a:t>48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268B379C-7E50-5DF6-4E36-931F29A9FCC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DDA69630-59B7-8A50-D0E0-32A2ABB6BC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A69A8E68-1F00-F109-CBB0-B9A58826DB1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A38EC694-7E17-F83F-F518-807BA42D6C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8FA30176-BCFD-9622-08A9-59CB4FA1C5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A303358F-4A13-4F21-9D1B-8F5E5967CDF0}" type="slidenum">
              <a:rPr lang="en-US" altLang="en-US">
                <a:latin typeface="Times New Roman" panose="02020603050405020304" pitchFamily="18" charset="0"/>
              </a:rPr>
              <a:pPr/>
              <a:t>50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79EBF78D-66B3-03FC-547C-7C0E314866E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5C8480B9-6B89-6ADB-8885-F2B837ABB0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0BB323EF-FAB4-A685-D570-01F8845E9B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0A975FDD-8665-4CDB-986E-531EACF54511}" type="slidenum">
              <a:rPr lang="en-US" altLang="en-US">
                <a:latin typeface="Times New Roman" panose="02020603050405020304" pitchFamily="18" charset="0"/>
              </a:rPr>
              <a:pPr/>
              <a:t>51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C8222B29-0D28-9254-4ED3-4C01839B39B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7F8A858E-CD7A-F947-EC8E-0563D7652B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6AE6C267-300E-5642-6760-46B216239C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9BF3B89-4D73-4773-94A4-95DBED4D170B}" type="slidenum">
              <a:rPr lang="en-US" altLang="en-US">
                <a:latin typeface="Times New Roman" panose="02020603050405020304" pitchFamily="18" charset="0"/>
              </a:rPr>
              <a:pPr/>
              <a:t>52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AD8F1126-FCC9-C89C-CFA3-2E7737FDE41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5AFF5662-447E-95D5-57FC-1CC9D15217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5A826E8C-C5CD-7CD3-218A-B7F8B1889D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8061D8E-0E25-4A23-90C6-C42F7AD7288C}" type="slidenum">
              <a:rPr lang="en-US" altLang="en-US">
                <a:latin typeface="Times New Roman" panose="02020603050405020304" pitchFamily="18" charset="0"/>
              </a:rPr>
              <a:pPr/>
              <a:t>53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F473D8AC-67BF-3FAB-20FD-625D042C90A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80584FDE-F610-F628-9549-E17DD5848C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C963614E-36BF-1B66-670A-3B0D9CF036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B9E8B45-496F-404B-AAC2-95A29DA63988}" type="slidenum">
              <a:rPr lang="en-US" altLang="en-US">
                <a:latin typeface="Times New Roman" panose="02020603050405020304" pitchFamily="18" charset="0"/>
              </a:rPr>
              <a:pPr/>
              <a:t>54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BAA37591-C2C7-11E5-44B7-63013FEEE31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411B327B-6EBA-092A-E037-262C50FF63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4399C105-0A4A-3624-A77A-F468E3CD79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B00E9B58-E266-49E7-8266-67CDC9944B09}" type="slidenum">
              <a:rPr lang="en-US" altLang="en-US">
                <a:latin typeface="Times New Roman" panose="02020603050405020304" pitchFamily="18" charset="0"/>
              </a:rPr>
              <a:pPr/>
              <a:t>55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8DCF563A-72DD-FCCF-5C30-BC5AC1919DC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33E6A8FE-8AA1-ED64-047A-47F3472E8D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F30B702C-EC8C-253E-6E38-646C5127BD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B76F1C9F-91B6-4BD2-A626-47EB8A0FFA74}" type="slidenum">
              <a:rPr lang="en-US" altLang="en-US">
                <a:latin typeface="Times New Roman" panose="02020603050405020304" pitchFamily="18" charset="0"/>
              </a:rPr>
              <a:pPr/>
              <a:t>56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4F0882E3-C1E8-4744-B660-C6BA3796119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9826691F-6424-BDED-2D54-CCD3EB0C99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66FEFE0E-415C-72BA-A360-6CF36D1479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0BF72083-B77D-4172-AA1A-C8688415F7DE}" type="slidenum">
              <a:rPr lang="en-US" altLang="en-US">
                <a:latin typeface="Times New Roman" panose="02020603050405020304" pitchFamily="18" charset="0"/>
              </a:rPr>
              <a:pPr/>
              <a:t>57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F4A5C42A-7747-1F29-E5FC-082A59C70F4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03C458F1-1E68-3D9E-9F0B-FD29E2F713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FB411AC6-DD2C-D1A5-136F-856385C943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F729D3F-1B99-4128-A20A-A6A0821199B5}" type="slidenum">
              <a:rPr lang="en-US" altLang="en-US">
                <a:latin typeface="Times New Roman" panose="02020603050405020304" pitchFamily="18" charset="0"/>
              </a:rPr>
              <a:pPr/>
              <a:t>58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2EFAC37D-7861-B235-AD25-887D589EBAE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285F1B1B-BFA5-F030-0C2D-3105E2F99C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CE3BC8B0-5895-E82C-B362-FCA5439CE6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ABA010F8-3328-45AD-8239-F92980041996}" type="slidenum">
              <a:rPr lang="en-US" altLang="en-US">
                <a:latin typeface="Times New Roman" panose="02020603050405020304" pitchFamily="18" charset="0"/>
              </a:rPr>
              <a:pPr/>
              <a:t>59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13B05B98-A5BF-AFB9-D79C-EE868895C33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50D907D5-0807-5D4F-2110-51F976BBCF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>
            <a:extLst>
              <a:ext uri="{FF2B5EF4-FFF2-40B4-BE49-F238E27FC236}">
                <a16:creationId xmlns:a16="http://schemas.microsoft.com/office/drawing/2014/main" id="{91F2F4EE-11B2-FE7F-70F7-5B77ED5C7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7675" y="6613525"/>
            <a:ext cx="444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EE3900"/>
                </a:solidFill>
                <a:latin typeface="Helvetica" panose="020B0604020202020204" pitchFamily="34" charset="0"/>
              </a:rPr>
              <a:t>5.</a:t>
            </a:r>
            <a:fld id="{54386B10-7D43-43DE-BEC2-3AE1713E39CD}" type="slidenum">
              <a:rPr lang="en-US" altLang="en-US" sz="1000" b="1">
                <a:solidFill>
                  <a:srgbClr val="EE3900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EE3900"/>
              </a:solidFill>
              <a:latin typeface="Helvetica" panose="020B0604020202020204" pitchFamily="34" charset="0"/>
            </a:endParaRPr>
          </a:p>
        </p:txBody>
      </p:sp>
      <p:sp>
        <p:nvSpPr>
          <p:cNvPr id="3" name="Text Box 10">
            <a:extLst>
              <a:ext uri="{FF2B5EF4-FFF2-40B4-BE49-F238E27FC236}">
                <a16:creationId xmlns:a16="http://schemas.microsoft.com/office/drawing/2014/main" id="{06C32611-B244-7FDD-8B7D-C31D5E86E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630988"/>
            <a:ext cx="27130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000" b="1">
                <a:solidFill>
                  <a:srgbClr val="EE3900"/>
                </a:solidFill>
                <a:latin typeface="Helvetica" pitchFamily="34" charset="0"/>
                <a:ea typeface="ＭＳ Ｐゴシック" charset="-128"/>
              </a:rPr>
              <a:t>Silberschatz, Galvin and Gagne ©2009</a:t>
            </a:r>
          </a:p>
        </p:txBody>
      </p:sp>
      <p:sp>
        <p:nvSpPr>
          <p:cNvPr id="4" name="Text Box 11">
            <a:extLst>
              <a:ext uri="{FF2B5EF4-FFF2-40B4-BE49-F238E27FC236}">
                <a16:creationId xmlns:a16="http://schemas.microsoft.com/office/drawing/2014/main" id="{C713C45D-DF08-C14B-B324-5FA108839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6621463"/>
            <a:ext cx="32416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000" b="1">
                <a:solidFill>
                  <a:srgbClr val="EE3900"/>
                </a:solidFill>
                <a:latin typeface="Helvetica" pitchFamily="34" charset="0"/>
                <a:ea typeface="ＭＳ Ｐゴシック" charset="-128"/>
              </a:rPr>
              <a:t>Operating System Concepts with Java – 8</a:t>
            </a:r>
            <a:r>
              <a:rPr lang="en-US" sz="1000" b="1" baseline="30000">
                <a:solidFill>
                  <a:srgbClr val="EE3900"/>
                </a:solidFill>
                <a:latin typeface="Helvetica" pitchFamily="34" charset="0"/>
                <a:ea typeface="ＭＳ Ｐゴシック" charset="-128"/>
              </a:rPr>
              <a:t>th</a:t>
            </a:r>
            <a:r>
              <a:rPr lang="en-US" sz="1000" b="1">
                <a:solidFill>
                  <a:srgbClr val="EE3900"/>
                </a:solidFill>
                <a:latin typeface="Helvetica" pitchFamily="34" charset="0"/>
                <a:ea typeface="ＭＳ Ｐゴシック" charset="-128"/>
              </a:rPr>
              <a:t> Edition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7C5FC87-44C6-058C-6A66-9E61DAE89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48000"/>
            <a:ext cx="9144000" cy="228600"/>
          </a:xfrm>
          <a:prstGeom prst="rect">
            <a:avLst/>
          </a:prstGeom>
          <a:gradFill rotWithShape="1">
            <a:gsLst>
              <a:gs pos="0">
                <a:srgbClr val="FF8A65"/>
              </a:gs>
              <a:gs pos="100000">
                <a:srgbClr val="C02E00"/>
              </a:gs>
            </a:gsLst>
            <a:lin ang="5400000" scaled="1"/>
          </a:gradFill>
          <a:ln w="9525">
            <a:solidFill>
              <a:srgbClr val="D032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Verdana" charset="0"/>
              <a:ea typeface="ＭＳ Ｐゴシック" charset="-128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13755D20-3909-9117-B359-33E88960C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3048000"/>
            <a:ext cx="3200400" cy="2286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rgbClr val="475E00"/>
              </a:gs>
            </a:gsLst>
            <a:lin ang="5400000" scaled="1"/>
          </a:gradFill>
          <a:ln w="9525">
            <a:solidFill>
              <a:srgbClr val="99CC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Verdana" charset="0"/>
              <a:ea typeface="ＭＳ Ｐゴシック" charset="-128"/>
            </a:endParaRPr>
          </a:p>
        </p:txBody>
      </p:sp>
      <p:sp>
        <p:nvSpPr>
          <p:cNvPr id="7" name="AutoShape 9">
            <a:extLst>
              <a:ext uri="{FF2B5EF4-FFF2-40B4-BE49-F238E27FC236}">
                <a16:creationId xmlns:a16="http://schemas.microsoft.com/office/drawing/2014/main" id="{FA5C4B18-6015-9597-3B4B-96AE740D8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0288" y="4319588"/>
            <a:ext cx="2092325" cy="1403350"/>
          </a:xfrm>
          <a:prstGeom prst="bevel">
            <a:avLst>
              <a:gd name="adj" fmla="val 12500"/>
            </a:avLst>
          </a:prstGeom>
          <a:solidFill>
            <a:srgbClr val="D03200"/>
          </a:solidFill>
          <a:ln w="9525">
            <a:solidFill>
              <a:srgbClr val="D032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>
              <a:solidFill>
                <a:srgbClr val="FF8A65"/>
              </a:solidFill>
              <a:latin typeface="Arial" charset="0"/>
              <a:ea typeface="ＭＳ Ｐゴシック" charset="-128"/>
            </a:endParaRPr>
          </a:p>
        </p:txBody>
      </p:sp>
      <p:pic>
        <p:nvPicPr>
          <p:cNvPr id="8" name="Picture 10" descr="dino_2">
            <a:extLst>
              <a:ext uri="{FF2B5EF4-FFF2-40B4-BE49-F238E27FC236}">
                <a16:creationId xmlns:a16="http://schemas.microsoft.com/office/drawing/2014/main" id="{06713AF3-2BBE-56F2-EC15-597B99ADD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6025" y="4498975"/>
            <a:ext cx="1706563" cy="102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5410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5411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31482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4981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5007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413" y="1190625"/>
            <a:ext cx="3789362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5175" y="1190625"/>
            <a:ext cx="3789363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55782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0914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82297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167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1881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5517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36452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1613"/>
            <a:ext cx="2057400" cy="55197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1613"/>
            <a:ext cx="6019800" cy="55197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0802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>
            <a:extLst>
              <a:ext uri="{FF2B5EF4-FFF2-40B4-BE49-F238E27FC236}">
                <a16:creationId xmlns:a16="http://schemas.microsoft.com/office/drawing/2014/main" id="{30B3DDB4-6F7B-504F-9322-2834786FBC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16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4">
            <a:extLst>
              <a:ext uri="{FF2B5EF4-FFF2-40B4-BE49-F238E27FC236}">
                <a16:creationId xmlns:a16="http://schemas.microsoft.com/office/drawing/2014/main" id="{BB775AF8-5244-0518-2EDF-6D4401E58F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33413" y="1190625"/>
            <a:ext cx="7731125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20841" name="Text Box 9">
            <a:extLst>
              <a:ext uri="{FF2B5EF4-FFF2-40B4-BE49-F238E27FC236}">
                <a16:creationId xmlns:a16="http://schemas.microsoft.com/office/drawing/2014/main" id="{F8EA9AE5-937E-546E-8428-F8FCF03545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7675" y="6613525"/>
            <a:ext cx="444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EE3900"/>
                </a:solidFill>
                <a:latin typeface="Helvetica" panose="020B0604020202020204" pitchFamily="34" charset="0"/>
              </a:rPr>
              <a:t>5.</a:t>
            </a:r>
            <a:fld id="{8075E634-E218-4EB8-A0A8-2A4A5E990AD8}" type="slidenum">
              <a:rPr lang="en-US" altLang="en-US" sz="1000" b="1">
                <a:solidFill>
                  <a:srgbClr val="EE3900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EE3900"/>
              </a:solidFill>
              <a:latin typeface="Helvetica" panose="020B0604020202020204" pitchFamily="34" charset="0"/>
            </a:endParaRPr>
          </a:p>
        </p:txBody>
      </p:sp>
      <p:sp>
        <p:nvSpPr>
          <p:cNvPr id="120842" name="Text Box 10">
            <a:extLst>
              <a:ext uri="{FF2B5EF4-FFF2-40B4-BE49-F238E27FC236}">
                <a16:creationId xmlns:a16="http://schemas.microsoft.com/office/drawing/2014/main" id="{DE2068B4-5A6D-F90D-9C88-029B75774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629400"/>
            <a:ext cx="27130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000" b="1">
                <a:solidFill>
                  <a:srgbClr val="EE3900"/>
                </a:solidFill>
                <a:latin typeface="Helvetica" pitchFamily="34" charset="0"/>
                <a:ea typeface="ＭＳ Ｐゴシック" charset="-128"/>
              </a:rPr>
              <a:t>Silberschatz, Galvin and Gagne ©2009</a:t>
            </a:r>
          </a:p>
        </p:txBody>
      </p:sp>
      <p:sp>
        <p:nvSpPr>
          <p:cNvPr id="120843" name="Text Box 11">
            <a:extLst>
              <a:ext uri="{FF2B5EF4-FFF2-40B4-BE49-F238E27FC236}">
                <a16:creationId xmlns:a16="http://schemas.microsoft.com/office/drawing/2014/main" id="{E04CF309-6B80-7741-9CD9-917B5B062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6621463"/>
            <a:ext cx="32416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000" b="1">
                <a:solidFill>
                  <a:srgbClr val="EE3900"/>
                </a:solidFill>
                <a:latin typeface="Helvetica" pitchFamily="34" charset="0"/>
                <a:ea typeface="ＭＳ Ｐゴシック" charset="-128"/>
              </a:rPr>
              <a:t>Operating System Concepts with Java – 8</a:t>
            </a:r>
            <a:r>
              <a:rPr lang="en-US" sz="1000" b="1" baseline="30000">
                <a:solidFill>
                  <a:srgbClr val="EE3900"/>
                </a:solidFill>
                <a:latin typeface="Helvetica" pitchFamily="34" charset="0"/>
                <a:ea typeface="ＭＳ Ｐゴシック" charset="-128"/>
              </a:rPr>
              <a:t>th</a:t>
            </a:r>
            <a:r>
              <a:rPr lang="en-US" sz="1000" b="1">
                <a:solidFill>
                  <a:srgbClr val="EE3900"/>
                </a:solidFill>
                <a:latin typeface="Helvetica" pitchFamily="34" charset="0"/>
                <a:ea typeface="ＭＳ Ｐゴシック" charset="-128"/>
              </a:rPr>
              <a:t> Edition</a:t>
            </a:r>
          </a:p>
        </p:txBody>
      </p:sp>
      <p:pic>
        <p:nvPicPr>
          <p:cNvPr id="2055" name="Picture 7" descr="dino_2">
            <a:extLst>
              <a:ext uri="{FF2B5EF4-FFF2-40B4-BE49-F238E27FC236}">
                <a16:creationId xmlns:a16="http://schemas.microsoft.com/office/drawing/2014/main" id="{7A9F9C4F-C4E4-4DF8-B5A4-2979BBA5B5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3825"/>
            <a:ext cx="1306513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0838" name="Line 6">
            <a:extLst>
              <a:ext uri="{FF2B5EF4-FFF2-40B4-BE49-F238E27FC236}">
                <a16:creationId xmlns:a16="http://schemas.microsoft.com/office/drawing/2014/main" id="{251C3F4B-6C5F-4B88-187E-19AACCD31FC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6063" y="846138"/>
            <a:ext cx="8689975" cy="19050"/>
          </a:xfrm>
          <a:prstGeom prst="line">
            <a:avLst/>
          </a:prstGeom>
          <a:noFill/>
          <a:ln w="38100">
            <a:solidFill>
              <a:srgbClr val="D032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Verdana" charset="0"/>
              <a:ea typeface="ＭＳ Ｐゴシック" charset="-128"/>
            </a:endParaRPr>
          </a:p>
        </p:txBody>
      </p:sp>
      <p:pic>
        <p:nvPicPr>
          <p:cNvPr id="2057" name="Picture 9" descr="dino_5">
            <a:extLst>
              <a:ext uri="{FF2B5EF4-FFF2-40B4-BE49-F238E27FC236}">
                <a16:creationId xmlns:a16="http://schemas.microsoft.com/office/drawing/2014/main" id="{FB07FC7E-4E5C-C226-1D5F-EC16078276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9100" y="5700713"/>
            <a:ext cx="1076325" cy="919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D032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D03200"/>
          </a:solidFill>
          <a:latin typeface="Arial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D03200"/>
          </a:solidFill>
          <a:latin typeface="Arial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D03200"/>
          </a:solidFill>
          <a:latin typeface="Arial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D03200"/>
          </a:solidFill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D03200"/>
          </a:solidFill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D03200"/>
          </a:solidFill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D03200"/>
          </a:solidFill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D03200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bg2"/>
        </a:buClr>
        <a:buSzPct val="90000"/>
        <a:buFont typeface="Wingdings" panose="05000000000000000000" pitchFamily="2" charset="2"/>
        <a:buChar char="n"/>
        <a:defRPr kumimoji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FF3300"/>
        </a:buClr>
        <a:buSzPct val="80000"/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6699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+mn-ea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+mn-ea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99CCFF"/>
        </a:buClr>
        <a:buSzPct val="75000"/>
        <a:buFont typeface="Arial" panose="020B0604020202020204" pitchFamily="34" charset="0"/>
        <a:buChar char="»"/>
        <a:defRPr kumimoji="1">
          <a:solidFill>
            <a:schemeClr val="tx1"/>
          </a:solidFill>
          <a:latin typeface="+mn-lt"/>
          <a:ea typeface="+mn-ea"/>
        </a:defRPr>
      </a:lvl5pPr>
      <a:lvl6pPr marL="2228850" indent="-228600" algn="l" rtl="0" fontAlgn="base">
        <a:spcBef>
          <a:spcPct val="35000"/>
        </a:spcBef>
        <a:spcAft>
          <a:spcPct val="0"/>
        </a:spcAft>
        <a:buClr>
          <a:srgbClr val="99CCFF"/>
        </a:buClr>
        <a:buSzPct val="75000"/>
        <a:buFont typeface="Arial" charset="0"/>
        <a:buChar char="»"/>
        <a:defRPr kumimoji="1">
          <a:solidFill>
            <a:schemeClr val="tx1"/>
          </a:solidFill>
          <a:latin typeface="+mn-lt"/>
          <a:ea typeface="+mn-ea"/>
        </a:defRPr>
      </a:lvl6pPr>
      <a:lvl7pPr marL="2686050" indent="-228600" algn="l" rtl="0" fontAlgn="base">
        <a:spcBef>
          <a:spcPct val="35000"/>
        </a:spcBef>
        <a:spcAft>
          <a:spcPct val="0"/>
        </a:spcAft>
        <a:buClr>
          <a:srgbClr val="99CCFF"/>
        </a:buClr>
        <a:buSzPct val="75000"/>
        <a:buFont typeface="Arial" charset="0"/>
        <a:buChar char="»"/>
        <a:defRPr kumimoji="1">
          <a:solidFill>
            <a:schemeClr val="tx1"/>
          </a:solidFill>
          <a:latin typeface="+mn-lt"/>
          <a:ea typeface="+mn-ea"/>
        </a:defRPr>
      </a:lvl7pPr>
      <a:lvl8pPr marL="3143250" indent="-228600" algn="l" rtl="0" fontAlgn="base">
        <a:spcBef>
          <a:spcPct val="35000"/>
        </a:spcBef>
        <a:spcAft>
          <a:spcPct val="0"/>
        </a:spcAft>
        <a:buClr>
          <a:srgbClr val="99CCFF"/>
        </a:buClr>
        <a:buSzPct val="75000"/>
        <a:buFont typeface="Arial" charset="0"/>
        <a:buChar char="»"/>
        <a:defRPr kumimoji="1">
          <a:solidFill>
            <a:schemeClr val="tx1"/>
          </a:solidFill>
          <a:latin typeface="+mn-lt"/>
          <a:ea typeface="+mn-ea"/>
        </a:defRPr>
      </a:lvl8pPr>
      <a:lvl9pPr marL="3600450" indent="-228600" algn="l" rtl="0" fontAlgn="base">
        <a:spcBef>
          <a:spcPct val="35000"/>
        </a:spcBef>
        <a:spcAft>
          <a:spcPct val="0"/>
        </a:spcAft>
        <a:buClr>
          <a:srgbClr val="99CCFF"/>
        </a:buClr>
        <a:buSzPct val="75000"/>
        <a:buFont typeface="Arial" charset="0"/>
        <a:buChar char="»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E24D182-BD86-6A69-38AD-A6EDDB8E5F5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42888" y="2093913"/>
            <a:ext cx="8626475" cy="719137"/>
          </a:xfrm>
        </p:spPr>
        <p:txBody>
          <a:bodyPr/>
          <a:lstStyle/>
          <a:p>
            <a:pPr eaLnBrk="1" hangingPunct="1"/>
            <a:r>
              <a:rPr lang="en-US" altLang="en-US" sz="3600"/>
              <a:t>Chapter 5:  CPU Scheduling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614912B-73F0-84E6-FB1A-7D4C062C2DF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Chapter 5:  CPU Scheduling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B46CEBA5-FCDC-0F60-136D-6E2257902E7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46113" y="1203325"/>
            <a:ext cx="6891337" cy="3773488"/>
          </a:xfrm>
        </p:spPr>
        <p:txBody>
          <a:bodyPr/>
          <a:lstStyle/>
          <a:p>
            <a:pPr eaLnBrk="1" hangingPunct="1"/>
            <a:r>
              <a:rPr lang="en-US" altLang="en-US"/>
              <a:t>Basic Concepts</a:t>
            </a:r>
          </a:p>
          <a:p>
            <a:pPr eaLnBrk="1" hangingPunct="1"/>
            <a:r>
              <a:rPr lang="en-US" altLang="en-US"/>
              <a:t>Scheduling Criteria </a:t>
            </a:r>
          </a:p>
          <a:p>
            <a:pPr eaLnBrk="1" hangingPunct="1"/>
            <a:r>
              <a:rPr lang="en-US" altLang="en-US"/>
              <a:t>Scheduling Algorithms</a:t>
            </a:r>
          </a:p>
          <a:p>
            <a:pPr eaLnBrk="1" hangingPunct="1"/>
            <a:r>
              <a:rPr lang="en-US" altLang="en-US"/>
              <a:t>Thread Scheduling</a:t>
            </a:r>
          </a:p>
          <a:p>
            <a:pPr eaLnBrk="1" hangingPunct="1"/>
            <a:r>
              <a:rPr lang="en-US" altLang="en-US"/>
              <a:t>Multiple-Processor Scheduling</a:t>
            </a:r>
          </a:p>
          <a:p>
            <a:pPr eaLnBrk="1" hangingPunct="1"/>
            <a:r>
              <a:rPr lang="en-US" altLang="en-US"/>
              <a:t>Operating Systems Examples</a:t>
            </a:r>
          </a:p>
          <a:p>
            <a:pPr eaLnBrk="1" hangingPunct="1"/>
            <a:r>
              <a:rPr lang="en-US" altLang="en-US"/>
              <a:t>Algorithm Evaluation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E83E2694-7732-1296-4E8A-07BAB64F7870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AEFFD99B-42C3-1592-F1C0-0D2FA5163C6B}"/>
              </a:ext>
            </a:extLst>
          </p:cNvPr>
          <p:cNvSpPr>
            <a:spLocks noGrp="1"/>
          </p:cNvSpPr>
          <p:nvPr>
            <p:ph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To introduce CPU scheduling, which is the basis for multiprogrammed operating systems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/>
              <a:t>To describe various CPU-scheduling algorithms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/>
              <a:t>To discuss evaluation criteria for selecting a CPU-scheduling algorithm for a particular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0F81706-4680-212B-DDB1-91508AE7009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Basic Concepts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979BB12-21BC-BF1C-C92B-8BA30EA455D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66750" y="1222375"/>
            <a:ext cx="7562850" cy="3429000"/>
          </a:xfrm>
        </p:spPr>
        <p:txBody>
          <a:bodyPr/>
          <a:lstStyle/>
          <a:p>
            <a:pPr eaLnBrk="1" hangingPunct="1"/>
            <a:r>
              <a:rPr lang="en-US" altLang="en-US"/>
              <a:t>Maximum CPU utilization obtained with multiprogramming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/>
              <a:t>CPU–I/O Burst Cycle – Process execution consists of a </a:t>
            </a:r>
            <a:r>
              <a:rPr lang="en-US" altLang="en-US" i="1"/>
              <a:t>cycle</a:t>
            </a:r>
            <a:r>
              <a:rPr lang="en-US" altLang="en-US"/>
              <a:t> of CPU execution and I/O wait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 b="1"/>
              <a:t>CPU burst </a:t>
            </a:r>
            <a:r>
              <a:rPr lang="en-US" altLang="en-US"/>
              <a:t>distribution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50EDF13-1173-6B7A-96F4-ACFACB4FE54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201613"/>
            <a:ext cx="8001000" cy="576262"/>
          </a:xfrm>
        </p:spPr>
        <p:txBody>
          <a:bodyPr/>
          <a:lstStyle/>
          <a:p>
            <a:pPr eaLnBrk="1" hangingPunct="1"/>
            <a:r>
              <a:rPr lang="en-US" altLang="en-US"/>
              <a:t>Histogram of CPU-burst Times</a:t>
            </a:r>
          </a:p>
        </p:txBody>
      </p:sp>
      <p:pic>
        <p:nvPicPr>
          <p:cNvPr id="8195" name="Picture 9">
            <a:extLst>
              <a:ext uri="{FF2B5EF4-FFF2-40B4-BE49-F238E27FC236}">
                <a16:creationId xmlns:a16="http://schemas.microsoft.com/office/drawing/2014/main" id="{6A368D41-A9B4-A6F7-2113-D09646DDC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488" y="1525588"/>
            <a:ext cx="5721350" cy="380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B1164F6-9CE3-E42B-7443-838FDFFED02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90600" y="304800"/>
            <a:ext cx="8001000" cy="457200"/>
          </a:xfrm>
        </p:spPr>
        <p:txBody>
          <a:bodyPr/>
          <a:lstStyle/>
          <a:p>
            <a:pPr eaLnBrk="1" hangingPunct="1"/>
            <a:r>
              <a:rPr lang="en-US" altLang="en-US" sz="2800"/>
              <a:t>Alternating Sequence of CPU And I/O Bursts</a:t>
            </a:r>
          </a:p>
        </p:txBody>
      </p:sp>
      <p:pic>
        <p:nvPicPr>
          <p:cNvPr id="9219" name="Picture 8">
            <a:extLst>
              <a:ext uri="{FF2B5EF4-FFF2-40B4-BE49-F238E27FC236}">
                <a16:creationId xmlns:a16="http://schemas.microsoft.com/office/drawing/2014/main" id="{4B72965B-74C8-9B39-2801-9D57008568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6713" y="1236663"/>
            <a:ext cx="2744787" cy="5037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4791D0F-FF39-870F-4CDC-7A0C0CBD00B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CPU Scheduler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D66D2A3-3EF2-7B7D-4239-86A7A827423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Selects from among the processes in memory that are ready to execute, and allocates the CPU to one of them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/>
              <a:t>CPU scheduling decisions may take place when a process:</a:t>
            </a:r>
          </a:p>
          <a:p>
            <a:pPr marL="800100" lvl="1" indent="-342900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6600"/>
                </a:solidFill>
              </a:rPr>
              <a:t>1.	</a:t>
            </a:r>
            <a:r>
              <a:rPr lang="en-US" altLang="en-US"/>
              <a:t>Switches from running to waiting state</a:t>
            </a:r>
          </a:p>
          <a:p>
            <a:pPr marL="800100" lvl="1" indent="-342900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6600"/>
                </a:solidFill>
              </a:rPr>
              <a:t>2.</a:t>
            </a:r>
            <a:r>
              <a:rPr lang="en-US" altLang="en-US"/>
              <a:t>	Switches from running to ready state</a:t>
            </a:r>
          </a:p>
          <a:p>
            <a:pPr marL="800100" lvl="1" indent="-342900"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6600"/>
                </a:solidFill>
              </a:rPr>
              <a:t>3.</a:t>
            </a:r>
            <a:r>
              <a:rPr lang="en-US" altLang="en-US"/>
              <a:t>	Switches from waiting to ready</a:t>
            </a:r>
          </a:p>
          <a:p>
            <a:pPr marL="800100" lvl="1" indent="-342900" eaLnBrk="1" hangingPunct="1">
              <a:buFont typeface="Wingdings" panose="05000000000000000000" pitchFamily="2" charset="2"/>
              <a:buAutoNum type="arabicPeriod" startAt="4"/>
            </a:pPr>
            <a:r>
              <a:rPr lang="en-US" altLang="en-US"/>
              <a:t>Terminates</a:t>
            </a:r>
          </a:p>
          <a:p>
            <a:pPr marL="800100" lvl="1" indent="-342900" eaLnBrk="1" hangingPunct="1">
              <a:buFont typeface="Wingdings" panose="05000000000000000000" pitchFamily="2" charset="2"/>
              <a:buAutoNum type="arabicPeriod" startAt="4"/>
            </a:pPr>
            <a:endParaRPr lang="en-US" altLang="en-US" sz="800"/>
          </a:p>
          <a:p>
            <a:pPr eaLnBrk="1" hangingPunct="1"/>
            <a:r>
              <a:rPr lang="en-US" altLang="en-US"/>
              <a:t>Scheduling under 1 and 4 is </a:t>
            </a:r>
            <a:r>
              <a:rPr lang="en-US" altLang="en-US" b="1"/>
              <a:t>nonpreemptive</a:t>
            </a:r>
          </a:p>
          <a:p>
            <a:pPr eaLnBrk="1" hangingPunct="1"/>
            <a:endParaRPr lang="en-US" altLang="en-US" sz="800" b="1"/>
          </a:p>
          <a:p>
            <a:pPr eaLnBrk="1" hangingPunct="1"/>
            <a:r>
              <a:rPr lang="en-US" altLang="en-US"/>
              <a:t>All other scheduling is </a:t>
            </a:r>
            <a:r>
              <a:rPr lang="en-US" altLang="en-US" b="1"/>
              <a:t>preemptive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444395C-1AD7-901D-22DE-2D80237F000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Dispatcher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FD033622-DD42-4FF7-AE0E-06826EF924D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27088" y="1382713"/>
            <a:ext cx="7558087" cy="4483100"/>
          </a:xfrm>
        </p:spPr>
        <p:txBody>
          <a:bodyPr/>
          <a:lstStyle/>
          <a:p>
            <a:pPr eaLnBrk="1" hangingPunct="1"/>
            <a:r>
              <a:rPr lang="en-US" altLang="en-US"/>
              <a:t>Dispatcher module gives control of the CPU to the process selected by the short-term scheduler; this involves:</a:t>
            </a:r>
          </a:p>
          <a:p>
            <a:pPr lvl="1" eaLnBrk="1" hangingPunct="1"/>
            <a:r>
              <a:rPr lang="en-US" altLang="en-US"/>
              <a:t>switching context</a:t>
            </a:r>
          </a:p>
          <a:p>
            <a:pPr lvl="1" eaLnBrk="1" hangingPunct="1"/>
            <a:r>
              <a:rPr lang="en-US" altLang="en-US"/>
              <a:t>switching to user mode</a:t>
            </a:r>
          </a:p>
          <a:p>
            <a:pPr lvl="1" eaLnBrk="1" hangingPunct="1"/>
            <a:r>
              <a:rPr lang="en-US" altLang="en-US"/>
              <a:t>jumping to the proper location in the user program to restart that program</a:t>
            </a:r>
          </a:p>
          <a:p>
            <a:pPr lvl="1" eaLnBrk="1" hangingPunct="1"/>
            <a:endParaRPr lang="en-US" altLang="en-US" sz="800"/>
          </a:p>
          <a:p>
            <a:pPr eaLnBrk="1" hangingPunct="1"/>
            <a:r>
              <a:rPr lang="en-US" altLang="en-US" b="1"/>
              <a:t>Dispatch latency </a:t>
            </a:r>
            <a:r>
              <a:rPr lang="en-US" altLang="en-US"/>
              <a:t>– time it takes for the dispatcher to stop one process and start another running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5ADE8AF6-A121-BC0A-A53E-988991A3992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Scheduling Criteria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F89064F0-8190-11C3-5E4F-A9EEB41F5B7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46113" y="1203325"/>
            <a:ext cx="7713662" cy="4371975"/>
          </a:xfrm>
        </p:spPr>
        <p:txBody>
          <a:bodyPr/>
          <a:lstStyle/>
          <a:p>
            <a:pPr eaLnBrk="1" hangingPunct="1"/>
            <a:r>
              <a:rPr lang="en-US" altLang="en-US" b="1"/>
              <a:t>CPU utilization </a:t>
            </a:r>
            <a:r>
              <a:rPr lang="en-US" altLang="en-US"/>
              <a:t>– keep the CPU as busy as possible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 b="1"/>
              <a:t>Throughput</a:t>
            </a:r>
            <a:r>
              <a:rPr lang="en-US" altLang="en-US"/>
              <a:t> – # of processes that complete their execution per time unit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 b="1"/>
              <a:t>Turnaround time </a:t>
            </a:r>
            <a:r>
              <a:rPr lang="en-US" altLang="en-US"/>
              <a:t>– amount of time to execute a particular process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 b="1"/>
              <a:t>Waiting time </a:t>
            </a:r>
            <a:r>
              <a:rPr lang="en-US" altLang="en-US"/>
              <a:t>– amount of time a process has been waiting in the ready queue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 b="1"/>
              <a:t>Response time </a:t>
            </a:r>
            <a:r>
              <a:rPr lang="en-US" altLang="en-US"/>
              <a:t>– amount of time it takes from when a request was submitted until the first response is produced, not output  (for time-sharing environment)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B50311AA-528F-CB89-736F-834147DB94A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71550" y="220663"/>
            <a:ext cx="7715250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Scheduling Algorithm Optimization Criteria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D7EACCA-150A-E503-89FA-5E49F3142D3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27088" y="1439863"/>
            <a:ext cx="7351712" cy="4483100"/>
          </a:xfrm>
        </p:spPr>
        <p:txBody>
          <a:bodyPr/>
          <a:lstStyle/>
          <a:p>
            <a:pPr eaLnBrk="1" hangingPunct="1"/>
            <a:r>
              <a:rPr lang="en-US" altLang="en-US"/>
              <a:t>Max CPU utilization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/>
              <a:t>Max throughput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/>
              <a:t>Min turnaround time 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/>
              <a:t>Min waiting time 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/>
              <a:t>Min response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5EB62A3-EEEA-399C-1D04-DF861DB8FB1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757238" y="346075"/>
            <a:ext cx="8237537" cy="457200"/>
          </a:xfrm>
        </p:spPr>
        <p:txBody>
          <a:bodyPr/>
          <a:lstStyle/>
          <a:p>
            <a:pPr eaLnBrk="1" hangingPunct="1"/>
            <a:r>
              <a:rPr lang="en-US" altLang="en-US" sz="2800"/>
              <a:t>First-Come, First-Served (FCFS) Scheduling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8286617D-A710-864E-1EC5-A9BA811EC61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57238" y="1390650"/>
            <a:ext cx="7566025" cy="45624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tabLst>
                <a:tab pos="3032125" algn="ctr"/>
                <a:tab pos="4635500" algn="ctr"/>
              </a:tabLst>
            </a:pPr>
            <a:r>
              <a:rPr lang="en-US" altLang="en-US" sz="1600"/>
              <a:t>		</a:t>
            </a:r>
            <a:r>
              <a:rPr lang="en-US" altLang="en-US" u="sng"/>
              <a:t>Process</a:t>
            </a:r>
            <a:r>
              <a:rPr lang="en-US" altLang="en-US"/>
              <a:t>	</a:t>
            </a:r>
            <a:r>
              <a:rPr lang="en-US" altLang="en-US" u="sng"/>
              <a:t>Burst Time	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tabLst>
                <a:tab pos="3032125" algn="ctr"/>
                <a:tab pos="4635500" algn="ctr"/>
              </a:tabLst>
            </a:pPr>
            <a:r>
              <a:rPr lang="en-US" altLang="en-US"/>
              <a:t>		 </a:t>
            </a:r>
            <a:r>
              <a:rPr lang="en-US" altLang="en-US" i="1"/>
              <a:t>P</a:t>
            </a:r>
            <a:r>
              <a:rPr lang="en-US" altLang="en-US" i="1" baseline="-25000"/>
              <a:t>1</a:t>
            </a:r>
            <a:r>
              <a:rPr lang="en-US" altLang="en-US"/>
              <a:t>	24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tabLst>
                <a:tab pos="3032125" algn="ctr"/>
                <a:tab pos="4635500" algn="ctr"/>
              </a:tabLst>
            </a:pPr>
            <a:r>
              <a:rPr lang="en-US" altLang="en-US"/>
              <a:t>		 </a:t>
            </a:r>
            <a:r>
              <a:rPr lang="en-US" altLang="en-US" i="1"/>
              <a:t>P</a:t>
            </a:r>
            <a:r>
              <a:rPr lang="en-US" altLang="en-US" i="1" baseline="-25000"/>
              <a:t>2</a:t>
            </a:r>
            <a:r>
              <a:rPr lang="en-US" altLang="en-US"/>
              <a:t> 	3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tabLst>
                <a:tab pos="3032125" algn="ctr"/>
                <a:tab pos="4635500" algn="ctr"/>
              </a:tabLst>
            </a:pPr>
            <a:r>
              <a:rPr lang="en-US" altLang="en-US"/>
              <a:t>		 </a:t>
            </a:r>
            <a:r>
              <a:rPr lang="en-US" altLang="en-US" i="1"/>
              <a:t>P</a:t>
            </a:r>
            <a:r>
              <a:rPr lang="en-US" altLang="en-US" i="1" baseline="-25000"/>
              <a:t>3	 </a:t>
            </a:r>
            <a:r>
              <a:rPr lang="en-US" altLang="en-US"/>
              <a:t>3</a:t>
            </a:r>
            <a:r>
              <a:rPr lang="en-US" altLang="en-US" i="1" baseline="-25000"/>
              <a:t> </a:t>
            </a:r>
          </a:p>
          <a:p>
            <a:pPr eaLnBrk="1" hangingPunct="1">
              <a:lnSpc>
                <a:spcPct val="90000"/>
              </a:lnSpc>
              <a:tabLst>
                <a:tab pos="3032125" algn="ctr"/>
                <a:tab pos="4635500" algn="ctr"/>
              </a:tabLst>
            </a:pPr>
            <a:r>
              <a:rPr lang="en-US" altLang="en-US"/>
              <a:t>Suppose that the processes arrive in the order: </a:t>
            </a:r>
            <a:r>
              <a:rPr lang="en-US" altLang="en-US" i="1"/>
              <a:t>P</a:t>
            </a:r>
            <a:r>
              <a:rPr lang="en-US" altLang="en-US" i="1" baseline="-25000"/>
              <a:t>1</a:t>
            </a:r>
            <a:r>
              <a:rPr lang="en-US" altLang="en-US"/>
              <a:t> , </a:t>
            </a:r>
            <a:r>
              <a:rPr lang="en-US" altLang="en-US" i="1"/>
              <a:t>P</a:t>
            </a:r>
            <a:r>
              <a:rPr lang="en-US" altLang="en-US" i="1" baseline="-25000"/>
              <a:t>2</a:t>
            </a:r>
            <a:r>
              <a:rPr lang="en-US" altLang="en-US"/>
              <a:t> , </a:t>
            </a:r>
            <a:r>
              <a:rPr lang="en-US" altLang="en-US" i="1"/>
              <a:t>P</a:t>
            </a:r>
            <a:r>
              <a:rPr lang="en-US" altLang="en-US" i="1" baseline="-25000"/>
              <a:t>3  </a:t>
            </a:r>
            <a:br>
              <a:rPr lang="en-US" altLang="en-US" i="1" baseline="-25000"/>
            </a:br>
            <a:r>
              <a:rPr lang="en-US" altLang="en-US"/>
              <a:t>The Gantt Chart for the schedule is:</a:t>
            </a:r>
            <a:br>
              <a:rPr lang="en-US" altLang="en-US"/>
            </a:br>
            <a:br>
              <a:rPr lang="en-US" altLang="en-US" sz="1600"/>
            </a:br>
            <a:br>
              <a:rPr lang="en-US" altLang="en-US" sz="1600"/>
            </a:br>
            <a:br>
              <a:rPr lang="en-US" altLang="en-US" sz="1600"/>
            </a:br>
            <a:br>
              <a:rPr lang="en-US" altLang="en-US" sz="1600"/>
            </a:br>
            <a:endParaRPr lang="en-US" altLang="en-US" sz="16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tabLst>
                <a:tab pos="3032125" algn="ctr"/>
                <a:tab pos="4635500" algn="ctr"/>
              </a:tabLst>
            </a:pPr>
            <a:endParaRPr lang="en-US" altLang="en-US" sz="1600"/>
          </a:p>
          <a:p>
            <a:pPr eaLnBrk="1" hangingPunct="1">
              <a:lnSpc>
                <a:spcPct val="90000"/>
              </a:lnSpc>
              <a:tabLst>
                <a:tab pos="3032125" algn="ctr"/>
                <a:tab pos="4635500" algn="ctr"/>
              </a:tabLst>
            </a:pPr>
            <a:r>
              <a:rPr lang="en-US" altLang="en-US"/>
              <a:t>Waiting time for </a:t>
            </a:r>
            <a:r>
              <a:rPr lang="en-US" altLang="en-US" i="1"/>
              <a:t>P</a:t>
            </a:r>
            <a:r>
              <a:rPr lang="en-US" altLang="en-US" i="1" baseline="-25000"/>
              <a:t>1</a:t>
            </a:r>
            <a:r>
              <a:rPr lang="en-US" altLang="en-US"/>
              <a:t>  = 0; </a:t>
            </a:r>
            <a:r>
              <a:rPr lang="en-US" altLang="en-US" i="1"/>
              <a:t>P</a:t>
            </a:r>
            <a:r>
              <a:rPr lang="en-US" altLang="en-US" i="1" baseline="-25000"/>
              <a:t>2</a:t>
            </a:r>
            <a:r>
              <a:rPr lang="en-US" altLang="en-US"/>
              <a:t>  = 24; </a:t>
            </a:r>
            <a:r>
              <a:rPr lang="en-US" altLang="en-US" i="1"/>
              <a:t>P</a:t>
            </a:r>
            <a:r>
              <a:rPr lang="en-US" altLang="en-US" i="1" baseline="-25000"/>
              <a:t>3 </a:t>
            </a:r>
            <a:r>
              <a:rPr lang="en-US" altLang="en-US"/>
              <a:t>= 27</a:t>
            </a:r>
          </a:p>
          <a:p>
            <a:pPr eaLnBrk="1" hangingPunct="1">
              <a:lnSpc>
                <a:spcPct val="90000"/>
              </a:lnSpc>
              <a:tabLst>
                <a:tab pos="3032125" algn="ctr"/>
                <a:tab pos="4635500" algn="ctr"/>
              </a:tabLst>
            </a:pPr>
            <a:endParaRPr lang="en-US" altLang="en-US" sz="800"/>
          </a:p>
          <a:p>
            <a:pPr eaLnBrk="1" hangingPunct="1">
              <a:lnSpc>
                <a:spcPct val="90000"/>
              </a:lnSpc>
              <a:tabLst>
                <a:tab pos="3032125" algn="ctr"/>
                <a:tab pos="4635500" algn="ctr"/>
              </a:tabLst>
            </a:pPr>
            <a:r>
              <a:rPr lang="en-US" altLang="en-US"/>
              <a:t>Average waiting time:  (0 + 24 + 27)/3 = 17</a:t>
            </a:r>
          </a:p>
        </p:txBody>
      </p:sp>
      <p:grpSp>
        <p:nvGrpSpPr>
          <p:cNvPr id="14340" name="Group 18">
            <a:extLst>
              <a:ext uri="{FF2B5EF4-FFF2-40B4-BE49-F238E27FC236}">
                <a16:creationId xmlns:a16="http://schemas.microsoft.com/office/drawing/2014/main" id="{FE704B35-589F-690F-1669-1C8044A54B8C}"/>
              </a:ext>
            </a:extLst>
          </p:cNvPr>
          <p:cNvGrpSpPr>
            <a:grpSpLocks/>
          </p:cNvGrpSpPr>
          <p:nvPr/>
        </p:nvGrpSpPr>
        <p:grpSpPr bwMode="auto">
          <a:xfrm>
            <a:off x="1684338" y="3578225"/>
            <a:ext cx="5556250" cy="1128713"/>
            <a:chOff x="856" y="2688"/>
            <a:chExt cx="3500" cy="711"/>
          </a:xfrm>
        </p:grpSpPr>
        <p:sp>
          <p:nvSpPr>
            <p:cNvPr id="14342" name="Rectangle 4">
              <a:extLst>
                <a:ext uri="{FF2B5EF4-FFF2-40B4-BE49-F238E27FC236}">
                  <a16:creationId xmlns:a16="http://schemas.microsoft.com/office/drawing/2014/main" id="{B997058F-AFE8-94EC-8BA7-26A021B3C5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688"/>
              <a:ext cx="3312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343" name="Text Box 5">
              <a:extLst>
                <a:ext uri="{FF2B5EF4-FFF2-40B4-BE49-F238E27FC236}">
                  <a16:creationId xmlns:a16="http://schemas.microsoft.com/office/drawing/2014/main" id="{26838768-EE9F-34FE-010D-84C72E13F4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2736"/>
              <a:ext cx="26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P</a:t>
              </a:r>
              <a:r>
                <a:rPr lang="en-US" altLang="en-US" baseline="-25000">
                  <a:latin typeface="Helvetica" panose="020B0604020202020204" pitchFamily="34" charset="0"/>
                </a:rPr>
                <a:t>1</a:t>
              </a:r>
              <a:endParaRPr lang="en-US" altLang="en-US">
                <a:latin typeface="Helvetica" panose="020B0604020202020204" pitchFamily="34" charset="0"/>
              </a:endParaRPr>
            </a:p>
          </p:txBody>
        </p:sp>
        <p:sp>
          <p:nvSpPr>
            <p:cNvPr id="14344" name="Text Box 6">
              <a:extLst>
                <a:ext uri="{FF2B5EF4-FFF2-40B4-BE49-F238E27FC236}">
                  <a16:creationId xmlns:a16="http://schemas.microsoft.com/office/drawing/2014/main" id="{35CD54FE-3B05-08D3-A79E-1E30B0A447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2736"/>
              <a:ext cx="26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P</a:t>
              </a:r>
              <a:r>
                <a:rPr lang="en-US" altLang="en-US" baseline="-25000">
                  <a:latin typeface="Helvetica" panose="020B0604020202020204" pitchFamily="34" charset="0"/>
                </a:rPr>
                <a:t>2</a:t>
              </a:r>
              <a:endParaRPr lang="en-US" altLang="en-US">
                <a:latin typeface="Helvetica" panose="020B0604020202020204" pitchFamily="34" charset="0"/>
              </a:endParaRPr>
            </a:p>
          </p:txBody>
        </p:sp>
        <p:sp>
          <p:nvSpPr>
            <p:cNvPr id="14345" name="Text Box 7">
              <a:extLst>
                <a:ext uri="{FF2B5EF4-FFF2-40B4-BE49-F238E27FC236}">
                  <a16:creationId xmlns:a16="http://schemas.microsoft.com/office/drawing/2014/main" id="{556EB198-EA71-D025-A9FD-FB7B194726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736"/>
              <a:ext cx="26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P</a:t>
              </a:r>
              <a:r>
                <a:rPr lang="en-US" altLang="en-US" baseline="-25000">
                  <a:latin typeface="Helvetica" panose="020B0604020202020204" pitchFamily="34" charset="0"/>
                </a:rPr>
                <a:t>3</a:t>
              </a:r>
              <a:endParaRPr lang="en-US" altLang="en-US">
                <a:latin typeface="Helvetica" panose="020B0604020202020204" pitchFamily="34" charset="0"/>
              </a:endParaRPr>
            </a:p>
          </p:txBody>
        </p:sp>
        <p:sp>
          <p:nvSpPr>
            <p:cNvPr id="14346" name="Line 8">
              <a:extLst>
                <a:ext uri="{FF2B5EF4-FFF2-40B4-BE49-F238E27FC236}">
                  <a16:creationId xmlns:a16="http://schemas.microsoft.com/office/drawing/2014/main" id="{95DA50C7-5565-619F-E97F-BE6FD0B51C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347" name="Line 9">
              <a:extLst>
                <a:ext uri="{FF2B5EF4-FFF2-40B4-BE49-F238E27FC236}">
                  <a16:creationId xmlns:a16="http://schemas.microsoft.com/office/drawing/2014/main" id="{53FBFE6E-7BB8-6F10-6706-BB85829AA5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348" name="Line 10">
              <a:extLst>
                <a:ext uri="{FF2B5EF4-FFF2-40B4-BE49-F238E27FC236}">
                  <a16:creationId xmlns:a16="http://schemas.microsoft.com/office/drawing/2014/main" id="{9937E729-D3F0-09E6-D71D-ADA5607ECD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268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349" name="Line 11">
              <a:extLst>
                <a:ext uri="{FF2B5EF4-FFF2-40B4-BE49-F238E27FC236}">
                  <a16:creationId xmlns:a16="http://schemas.microsoft.com/office/drawing/2014/main" id="{7D4F95CC-4A04-10CD-36C2-7209D235D4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68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350" name="Line 12">
              <a:extLst>
                <a:ext uri="{FF2B5EF4-FFF2-40B4-BE49-F238E27FC236}">
                  <a16:creationId xmlns:a16="http://schemas.microsoft.com/office/drawing/2014/main" id="{CEA365AB-20BA-452A-9356-C8F9AA5048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351" name="Line 13">
              <a:extLst>
                <a:ext uri="{FF2B5EF4-FFF2-40B4-BE49-F238E27FC236}">
                  <a16:creationId xmlns:a16="http://schemas.microsoft.com/office/drawing/2014/main" id="{CF93AD6E-7194-8F03-9823-2F67628E63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352" name="Text Box 14">
              <a:extLst>
                <a:ext uri="{FF2B5EF4-FFF2-40B4-BE49-F238E27FC236}">
                  <a16:creationId xmlns:a16="http://schemas.microsoft.com/office/drawing/2014/main" id="{304F9460-ABE9-F0D0-516B-C04709FC8B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3168"/>
              <a:ext cx="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24</a:t>
              </a:r>
            </a:p>
          </p:txBody>
        </p:sp>
        <p:sp>
          <p:nvSpPr>
            <p:cNvPr id="14353" name="Text Box 15">
              <a:extLst>
                <a:ext uri="{FF2B5EF4-FFF2-40B4-BE49-F238E27FC236}">
                  <a16:creationId xmlns:a16="http://schemas.microsoft.com/office/drawing/2014/main" id="{1678291A-E940-939E-55AA-7181B8A6F4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3168"/>
              <a:ext cx="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27</a:t>
              </a:r>
            </a:p>
          </p:txBody>
        </p:sp>
        <p:sp>
          <p:nvSpPr>
            <p:cNvPr id="14354" name="Text Box 16">
              <a:extLst>
                <a:ext uri="{FF2B5EF4-FFF2-40B4-BE49-F238E27FC236}">
                  <a16:creationId xmlns:a16="http://schemas.microsoft.com/office/drawing/2014/main" id="{9B26B789-3757-4467-5355-88822C4799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3168"/>
              <a:ext cx="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30</a:t>
              </a:r>
            </a:p>
          </p:txBody>
        </p:sp>
        <p:sp>
          <p:nvSpPr>
            <p:cNvPr id="14355" name="Text Box 17">
              <a:extLst>
                <a:ext uri="{FF2B5EF4-FFF2-40B4-BE49-F238E27FC236}">
                  <a16:creationId xmlns:a16="http://schemas.microsoft.com/office/drawing/2014/main" id="{43FBA7FF-14D5-45D5-CD7D-D8CB9785C4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6" y="316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0</a:t>
              </a:r>
            </a:p>
          </p:txBody>
        </p:sp>
      </p:grpSp>
      <p:sp>
        <p:nvSpPr>
          <p:cNvPr id="14341" name="Rectangle 19">
            <a:extLst>
              <a:ext uri="{FF2B5EF4-FFF2-40B4-BE49-F238E27FC236}">
                <a16:creationId xmlns:a16="http://schemas.microsoft.com/office/drawing/2014/main" id="{E59ABF04-1D07-C8DA-4995-95AF33E73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15013"/>
            <a:ext cx="9144000" cy="10429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6EFBF4C-4A4B-832F-4116-0E7FC145CE9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FCFS Scheduling (Cont.)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E0E4E5A-192C-F554-D06F-CB07260F636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33413" y="1190625"/>
            <a:ext cx="7731125" cy="4960938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tabLst>
                <a:tab pos="3651250" algn="ctr"/>
              </a:tabLst>
            </a:pPr>
            <a:r>
              <a:rPr lang="en-US" altLang="en-US"/>
              <a:t>Suppose that the processes arrive in the order: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3651250" algn="ctr"/>
              </a:tabLst>
            </a:pPr>
            <a:r>
              <a:rPr lang="en-US" altLang="en-US"/>
              <a:t>		 </a:t>
            </a:r>
            <a:r>
              <a:rPr lang="en-US" altLang="en-US" i="1"/>
              <a:t>P</a:t>
            </a:r>
            <a:r>
              <a:rPr lang="en-US" altLang="en-US" i="1" baseline="-25000"/>
              <a:t>2</a:t>
            </a:r>
            <a:r>
              <a:rPr lang="en-US" altLang="en-US"/>
              <a:t> , </a:t>
            </a:r>
            <a:r>
              <a:rPr lang="en-US" altLang="en-US" i="1"/>
              <a:t>P</a:t>
            </a:r>
            <a:r>
              <a:rPr lang="en-US" altLang="en-US" i="1" baseline="-25000"/>
              <a:t>3</a:t>
            </a:r>
            <a:r>
              <a:rPr lang="en-US" altLang="en-US"/>
              <a:t> , </a:t>
            </a:r>
            <a:r>
              <a:rPr lang="en-US" altLang="en-US" i="1"/>
              <a:t>P</a:t>
            </a:r>
            <a:r>
              <a:rPr lang="en-US" altLang="en-US" i="1" baseline="-25000"/>
              <a:t>1</a:t>
            </a:r>
            <a:r>
              <a:rPr lang="en-US" altLang="en-US"/>
              <a:t> </a:t>
            </a:r>
          </a:p>
          <a:p>
            <a:pPr eaLnBrk="1" hangingPunct="1">
              <a:tabLst>
                <a:tab pos="3651250" algn="ctr"/>
              </a:tabLst>
            </a:pPr>
            <a:r>
              <a:rPr lang="en-US" altLang="en-US"/>
              <a:t>The Gantt chart for the schedule is:</a:t>
            </a:r>
            <a:br>
              <a:rPr lang="en-US" altLang="en-US"/>
            </a:br>
            <a:endParaRPr lang="en-US" altLang="en-US"/>
          </a:p>
          <a:p>
            <a:pPr eaLnBrk="1" hangingPunct="1">
              <a:tabLst>
                <a:tab pos="3651250" algn="ctr"/>
              </a:tabLst>
            </a:pPr>
            <a:endParaRPr lang="en-US" altLang="en-US"/>
          </a:p>
          <a:p>
            <a:pPr eaLnBrk="1" hangingPunct="1">
              <a:tabLst>
                <a:tab pos="3651250" algn="ctr"/>
              </a:tabLst>
            </a:pPr>
            <a:endParaRPr lang="en-US" altLang="en-US"/>
          </a:p>
          <a:p>
            <a:pPr eaLnBrk="1" hangingPunct="1">
              <a:tabLst>
                <a:tab pos="3651250" algn="ctr"/>
              </a:tabLst>
            </a:pPr>
            <a:endParaRPr lang="en-US" altLang="en-US"/>
          </a:p>
          <a:p>
            <a:pPr eaLnBrk="1" hangingPunct="1">
              <a:tabLst>
                <a:tab pos="3651250" algn="ctr"/>
              </a:tabLst>
            </a:pPr>
            <a:r>
              <a:rPr lang="en-US" altLang="en-US"/>
              <a:t>Waiting time for </a:t>
            </a:r>
            <a:r>
              <a:rPr lang="en-US" altLang="en-US" i="1"/>
              <a:t>P</a:t>
            </a:r>
            <a:r>
              <a:rPr lang="en-US" altLang="en-US" i="1" baseline="-25000"/>
              <a:t>1 </a:t>
            </a:r>
            <a:r>
              <a:rPr lang="en-US" altLang="en-US" i="1"/>
              <a:t>=</a:t>
            </a:r>
            <a:r>
              <a:rPr lang="en-US" altLang="en-US"/>
              <a:t> 6</a:t>
            </a:r>
            <a:r>
              <a:rPr lang="en-US" altLang="en-US" i="1"/>
              <a:t>;</a:t>
            </a:r>
            <a:r>
              <a:rPr lang="en-US" altLang="en-US" i="1" baseline="-25000"/>
              <a:t> </a:t>
            </a:r>
            <a:r>
              <a:rPr lang="en-US" altLang="en-US" i="1"/>
              <a:t>P</a:t>
            </a:r>
            <a:r>
              <a:rPr lang="en-US" altLang="en-US" i="1" baseline="-25000"/>
              <a:t>2</a:t>
            </a:r>
            <a:r>
              <a:rPr lang="en-US" altLang="en-US"/>
              <a:t> = 0</a:t>
            </a:r>
            <a:r>
              <a:rPr lang="en-US" altLang="en-US" i="1" baseline="-25000"/>
              <a:t>; </a:t>
            </a:r>
            <a:r>
              <a:rPr lang="en-US" altLang="en-US" i="1"/>
              <a:t>P</a:t>
            </a:r>
            <a:r>
              <a:rPr lang="en-US" altLang="en-US" i="1" baseline="-25000"/>
              <a:t>3 </a:t>
            </a:r>
            <a:r>
              <a:rPr lang="en-US" altLang="en-US" i="1"/>
              <a:t>= </a:t>
            </a:r>
            <a:r>
              <a:rPr lang="en-US" altLang="en-US"/>
              <a:t>3</a:t>
            </a:r>
          </a:p>
          <a:p>
            <a:pPr eaLnBrk="1" hangingPunct="1">
              <a:tabLst>
                <a:tab pos="3651250" algn="ctr"/>
              </a:tabLst>
            </a:pPr>
            <a:endParaRPr lang="en-US" altLang="en-US" sz="800"/>
          </a:p>
          <a:p>
            <a:pPr eaLnBrk="1" hangingPunct="1">
              <a:tabLst>
                <a:tab pos="3651250" algn="ctr"/>
              </a:tabLst>
            </a:pPr>
            <a:r>
              <a:rPr lang="en-US" altLang="en-US"/>
              <a:t>Average waiting time:   (6 + 0 + 3)/3 = 3</a:t>
            </a:r>
          </a:p>
          <a:p>
            <a:pPr eaLnBrk="1" hangingPunct="1">
              <a:tabLst>
                <a:tab pos="3651250" algn="ctr"/>
              </a:tabLst>
            </a:pPr>
            <a:endParaRPr lang="en-US" altLang="en-US" sz="800"/>
          </a:p>
          <a:p>
            <a:pPr eaLnBrk="1" hangingPunct="1">
              <a:tabLst>
                <a:tab pos="3651250" algn="ctr"/>
              </a:tabLst>
            </a:pPr>
            <a:r>
              <a:rPr lang="en-US" altLang="en-US"/>
              <a:t>Much better than previous case</a:t>
            </a:r>
          </a:p>
          <a:p>
            <a:pPr eaLnBrk="1" hangingPunct="1">
              <a:tabLst>
                <a:tab pos="3651250" algn="ctr"/>
              </a:tabLst>
            </a:pPr>
            <a:endParaRPr lang="en-US" altLang="en-US" sz="800"/>
          </a:p>
          <a:p>
            <a:pPr eaLnBrk="1" hangingPunct="1">
              <a:tabLst>
                <a:tab pos="3651250" algn="ctr"/>
              </a:tabLst>
            </a:pPr>
            <a:r>
              <a:rPr lang="en-US" altLang="en-US" i="1"/>
              <a:t>Convoy effect</a:t>
            </a:r>
            <a:r>
              <a:rPr lang="en-US" altLang="en-US"/>
              <a:t> short process behind long process</a:t>
            </a:r>
          </a:p>
        </p:txBody>
      </p:sp>
      <p:grpSp>
        <p:nvGrpSpPr>
          <p:cNvPr id="15364" name="Group 20">
            <a:extLst>
              <a:ext uri="{FF2B5EF4-FFF2-40B4-BE49-F238E27FC236}">
                <a16:creationId xmlns:a16="http://schemas.microsoft.com/office/drawing/2014/main" id="{16A691A6-EF42-68EE-7920-CA6C3FB2B994}"/>
              </a:ext>
            </a:extLst>
          </p:cNvPr>
          <p:cNvGrpSpPr>
            <a:grpSpLocks/>
          </p:cNvGrpSpPr>
          <p:nvPr/>
        </p:nvGrpSpPr>
        <p:grpSpPr bwMode="auto">
          <a:xfrm>
            <a:off x="1889125" y="2605088"/>
            <a:ext cx="5575300" cy="1128712"/>
            <a:chOff x="852" y="1650"/>
            <a:chExt cx="3512" cy="711"/>
          </a:xfrm>
        </p:grpSpPr>
        <p:sp>
          <p:nvSpPr>
            <p:cNvPr id="15366" name="Rectangle 6">
              <a:extLst>
                <a:ext uri="{FF2B5EF4-FFF2-40B4-BE49-F238E27FC236}">
                  <a16:creationId xmlns:a16="http://schemas.microsoft.com/office/drawing/2014/main" id="{1E8416E0-6F7B-D1BA-5DC6-1255BFA2D50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48" y="1650"/>
              <a:ext cx="3312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367" name="Text Box 7">
              <a:extLst>
                <a:ext uri="{FF2B5EF4-FFF2-40B4-BE49-F238E27FC236}">
                  <a16:creationId xmlns:a16="http://schemas.microsoft.com/office/drawing/2014/main" id="{F215B1DF-0D51-4D9D-D214-D970FAD3D4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179" y="1698"/>
              <a:ext cx="26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P</a:t>
              </a:r>
              <a:r>
                <a:rPr lang="en-US" altLang="en-US" baseline="-25000">
                  <a:latin typeface="Helvetica" panose="020B0604020202020204" pitchFamily="34" charset="0"/>
                </a:rPr>
                <a:t>1</a:t>
              </a:r>
              <a:endParaRPr lang="en-US" altLang="en-US">
                <a:latin typeface="Helvetica" panose="020B0604020202020204" pitchFamily="34" charset="0"/>
              </a:endParaRPr>
            </a:p>
          </p:txBody>
        </p:sp>
        <p:sp>
          <p:nvSpPr>
            <p:cNvPr id="15368" name="Text Box 8">
              <a:extLst>
                <a:ext uri="{FF2B5EF4-FFF2-40B4-BE49-F238E27FC236}">
                  <a16:creationId xmlns:a16="http://schemas.microsoft.com/office/drawing/2014/main" id="{FDF71DE1-B88B-5A98-4B3C-960CD26C9C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691" y="1698"/>
              <a:ext cx="26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P</a:t>
              </a:r>
              <a:r>
                <a:rPr lang="en-US" altLang="en-US" baseline="-25000">
                  <a:latin typeface="Helvetica" panose="020B0604020202020204" pitchFamily="34" charset="0"/>
                </a:rPr>
                <a:t>3</a:t>
              </a:r>
              <a:endParaRPr lang="en-US" altLang="en-US">
                <a:latin typeface="Helvetica" panose="020B0604020202020204" pitchFamily="34" charset="0"/>
              </a:endParaRPr>
            </a:p>
          </p:txBody>
        </p:sp>
        <p:sp>
          <p:nvSpPr>
            <p:cNvPr id="15369" name="Text Box 9">
              <a:extLst>
                <a:ext uri="{FF2B5EF4-FFF2-40B4-BE49-F238E27FC236}">
                  <a16:creationId xmlns:a16="http://schemas.microsoft.com/office/drawing/2014/main" id="{F2966D46-8747-FD47-C374-913CD72841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115" y="1698"/>
              <a:ext cx="26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P</a:t>
              </a:r>
              <a:r>
                <a:rPr lang="en-US" altLang="en-US" baseline="-25000">
                  <a:latin typeface="Helvetica" panose="020B0604020202020204" pitchFamily="34" charset="0"/>
                </a:rPr>
                <a:t>2</a:t>
              </a:r>
              <a:endParaRPr lang="en-US" altLang="en-US">
                <a:latin typeface="Helvetica" panose="020B0604020202020204" pitchFamily="34" charset="0"/>
              </a:endParaRPr>
            </a:p>
          </p:txBody>
        </p:sp>
        <p:sp>
          <p:nvSpPr>
            <p:cNvPr id="15370" name="Line 10">
              <a:extLst>
                <a:ext uri="{FF2B5EF4-FFF2-40B4-BE49-F238E27FC236}">
                  <a16:creationId xmlns:a16="http://schemas.microsoft.com/office/drawing/2014/main" id="{DF049E3B-4A88-92A0-6C4E-0618E7F8D0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60" y="203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371" name="Line 11">
              <a:extLst>
                <a:ext uri="{FF2B5EF4-FFF2-40B4-BE49-F238E27FC236}">
                  <a16:creationId xmlns:a16="http://schemas.microsoft.com/office/drawing/2014/main" id="{0CA76DD6-BA64-9749-E13C-7EC8DCF4C5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48" y="203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372" name="Line 12">
              <a:extLst>
                <a:ext uri="{FF2B5EF4-FFF2-40B4-BE49-F238E27FC236}">
                  <a16:creationId xmlns:a16="http://schemas.microsoft.com/office/drawing/2014/main" id="{165A36E3-B660-9C67-8D60-0E7214C076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48" y="165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373" name="Line 13">
              <a:extLst>
                <a:ext uri="{FF2B5EF4-FFF2-40B4-BE49-F238E27FC236}">
                  <a16:creationId xmlns:a16="http://schemas.microsoft.com/office/drawing/2014/main" id="{98E2200B-7BA2-8FEB-5F55-73F90AD1D2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72" y="165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374" name="Line 14">
              <a:extLst>
                <a:ext uri="{FF2B5EF4-FFF2-40B4-BE49-F238E27FC236}">
                  <a16:creationId xmlns:a16="http://schemas.microsoft.com/office/drawing/2014/main" id="{539507FA-7BD5-04A0-7DA1-0CA07F3A34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48" y="203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375" name="Line 15">
              <a:extLst>
                <a:ext uri="{FF2B5EF4-FFF2-40B4-BE49-F238E27FC236}">
                  <a16:creationId xmlns:a16="http://schemas.microsoft.com/office/drawing/2014/main" id="{4483008D-193F-4D8F-5253-638E2D1AF0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72" y="203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376" name="Text Box 16">
              <a:extLst>
                <a:ext uri="{FF2B5EF4-FFF2-40B4-BE49-F238E27FC236}">
                  <a16:creationId xmlns:a16="http://schemas.microsoft.com/office/drawing/2014/main" id="{0B763C89-46F3-5A2A-542E-D2A8C99C9A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2056" y="213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6</a:t>
              </a:r>
            </a:p>
          </p:txBody>
        </p:sp>
        <p:sp>
          <p:nvSpPr>
            <p:cNvPr id="15377" name="Text Box 17">
              <a:extLst>
                <a:ext uri="{FF2B5EF4-FFF2-40B4-BE49-F238E27FC236}">
                  <a16:creationId xmlns:a16="http://schemas.microsoft.com/office/drawing/2014/main" id="{96D11C52-55F1-13F7-5FF9-D4A3C68A7F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480" y="213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3</a:t>
              </a:r>
            </a:p>
          </p:txBody>
        </p:sp>
        <p:sp>
          <p:nvSpPr>
            <p:cNvPr id="15378" name="Text Box 18">
              <a:extLst>
                <a:ext uri="{FF2B5EF4-FFF2-40B4-BE49-F238E27FC236}">
                  <a16:creationId xmlns:a16="http://schemas.microsoft.com/office/drawing/2014/main" id="{2B9F2871-83EB-B9DF-1150-06361CC90B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088" y="2130"/>
              <a:ext cx="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30</a:t>
              </a:r>
            </a:p>
          </p:txBody>
        </p:sp>
        <p:sp>
          <p:nvSpPr>
            <p:cNvPr id="15379" name="Text Box 19">
              <a:extLst>
                <a:ext uri="{FF2B5EF4-FFF2-40B4-BE49-F238E27FC236}">
                  <a16:creationId xmlns:a16="http://schemas.microsoft.com/office/drawing/2014/main" id="{6DFF99B0-5594-CB70-A9FE-A50D6E76C7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852" y="213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0</a:t>
              </a:r>
            </a:p>
          </p:txBody>
        </p:sp>
      </p:grpSp>
      <p:sp>
        <p:nvSpPr>
          <p:cNvPr id="15365" name="Rectangle 18">
            <a:extLst>
              <a:ext uri="{FF2B5EF4-FFF2-40B4-BE49-F238E27FC236}">
                <a16:creationId xmlns:a16="http://schemas.microsoft.com/office/drawing/2014/main" id="{C1D3269B-41DF-CFB2-B50B-1DB2E6315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15013"/>
            <a:ext cx="9144000" cy="10429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A4FEC6CE-9689-62D8-F1E2-C3920261954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201613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/>
              <a:t>Shortest-Job-First (SJF) Scheduling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5E7A8DEA-CE1C-966A-512B-80B9B1F32A7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algn="just" eaLnBrk="1" hangingPunct="1"/>
            <a:r>
              <a:rPr lang="en-US" altLang="en-US"/>
              <a:t>Associate with each process the length of its next CPU burst.  Use these lengths to schedule the process with the shortest time</a:t>
            </a:r>
          </a:p>
          <a:p>
            <a:pPr algn="just" eaLnBrk="1" hangingPunct="1"/>
            <a:r>
              <a:rPr lang="en-US" altLang="en-US" sz="2600"/>
              <a:t>Two schemes: </a:t>
            </a:r>
          </a:p>
          <a:p>
            <a:pPr lvl="1" algn="just" eaLnBrk="1" hangingPunct="1"/>
            <a:r>
              <a:rPr lang="en-US" altLang="en-US" sz="2200"/>
              <a:t>Non preemptive – once CPU given to the process it cannot be preempted until completes its CPU burst.</a:t>
            </a:r>
          </a:p>
          <a:p>
            <a:pPr lvl="1" algn="just" eaLnBrk="1" hangingPunct="1"/>
            <a:r>
              <a:rPr lang="en-US" altLang="en-US" sz="2200"/>
              <a:t>Preemptive – if a new process arrives with CPU burst length less than remaining time of current executing process, preempt.  This scheme is know as the </a:t>
            </a:r>
            <a:br>
              <a:rPr lang="en-US" altLang="en-US" sz="2200"/>
            </a:br>
            <a:r>
              <a:rPr lang="en-US" altLang="en-US" sz="2200"/>
              <a:t>Shortest-Remaining-Time-First (SRTF).</a:t>
            </a:r>
          </a:p>
          <a:p>
            <a:pPr algn="just" eaLnBrk="1" hangingPunct="1"/>
            <a:endParaRPr lang="en-US" altLang="en-US" sz="800"/>
          </a:p>
          <a:p>
            <a:pPr algn="just" eaLnBrk="1" hangingPunct="1"/>
            <a:r>
              <a:rPr lang="en-US" altLang="en-US"/>
              <a:t>SJF is optimal – gives minimum average waiting time for a given set of processes</a:t>
            </a:r>
          </a:p>
          <a:p>
            <a:pPr lvl="1" algn="just" eaLnBrk="1" hangingPunct="1"/>
            <a:r>
              <a:rPr lang="en-US" altLang="en-US"/>
              <a:t>The difficulty is knowing the length of the next CPU request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4DE4581D-6150-798F-A8F9-F48BF7A4B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15013"/>
            <a:ext cx="9144000" cy="10429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6B239B9-D43D-1560-65CE-EB44CB4CAB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of Non Preemptive SJF</a:t>
            </a:r>
          </a:p>
        </p:txBody>
      </p:sp>
      <p:sp>
        <p:nvSpPr>
          <p:cNvPr id="17411" name="Rectangle 36">
            <a:extLst>
              <a:ext uri="{FF2B5EF4-FFF2-40B4-BE49-F238E27FC236}">
                <a16:creationId xmlns:a16="http://schemas.microsoft.com/office/drawing/2014/main" id="{883523DC-4B83-4A93-3C7B-D57E2C2AB42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71513" y="1190625"/>
            <a:ext cx="7731125" cy="472757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/>
              <a:t>		</a:t>
            </a:r>
            <a:r>
              <a:rPr lang="en-US" altLang="en-US" u="sng"/>
              <a:t>Process	</a:t>
            </a:r>
            <a:r>
              <a:rPr lang="en-US" altLang="en-US" u="sng">
                <a:solidFill>
                  <a:schemeClr val="bg1"/>
                </a:solidFill>
              </a:rPr>
              <a:t>Arrival Time</a:t>
            </a:r>
            <a:r>
              <a:rPr lang="en-US" altLang="en-US"/>
              <a:t>	</a:t>
            </a:r>
            <a:r>
              <a:rPr lang="en-US" altLang="en-US" u="sng"/>
              <a:t>Burst Time</a:t>
            </a: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/>
              <a:t>		 </a:t>
            </a:r>
            <a:r>
              <a:rPr lang="en-US" altLang="en-US" i="1"/>
              <a:t>P</a:t>
            </a:r>
            <a:r>
              <a:rPr lang="en-US" altLang="en-US" i="1" baseline="-25000"/>
              <a:t>1</a:t>
            </a:r>
            <a:r>
              <a:rPr lang="en-US" altLang="en-US"/>
              <a:t>	</a:t>
            </a:r>
            <a:r>
              <a:rPr lang="en-US" altLang="en-US">
                <a:solidFill>
                  <a:schemeClr val="bg1"/>
                </a:solidFill>
              </a:rPr>
              <a:t>0.0</a:t>
            </a:r>
            <a:r>
              <a:rPr lang="en-US" altLang="en-US"/>
              <a:t>	6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/>
              <a:t>		 </a:t>
            </a:r>
            <a:r>
              <a:rPr lang="en-US" altLang="en-US" i="1"/>
              <a:t>P</a:t>
            </a:r>
            <a:r>
              <a:rPr lang="en-US" altLang="en-US" i="1" baseline="-25000"/>
              <a:t>2 	</a:t>
            </a:r>
            <a:r>
              <a:rPr lang="en-US" altLang="en-US">
                <a:solidFill>
                  <a:schemeClr val="bg1"/>
                </a:solidFill>
              </a:rPr>
              <a:t>2.0</a:t>
            </a:r>
            <a:r>
              <a:rPr lang="en-US" altLang="en-US"/>
              <a:t>	8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/>
              <a:t>		 </a:t>
            </a:r>
            <a:r>
              <a:rPr lang="en-US" altLang="en-US" i="1"/>
              <a:t>P</a:t>
            </a:r>
            <a:r>
              <a:rPr lang="en-US" altLang="en-US" i="1" baseline="-25000"/>
              <a:t>3</a:t>
            </a:r>
            <a:r>
              <a:rPr lang="en-US" altLang="en-US"/>
              <a:t>	</a:t>
            </a:r>
            <a:r>
              <a:rPr lang="en-US" altLang="en-US">
                <a:solidFill>
                  <a:schemeClr val="bg1"/>
                </a:solidFill>
              </a:rPr>
              <a:t>4.0</a:t>
            </a:r>
            <a:r>
              <a:rPr lang="en-US" altLang="en-US"/>
              <a:t>	7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/>
              <a:t>		 </a:t>
            </a:r>
            <a:r>
              <a:rPr lang="en-US" altLang="en-US" i="1"/>
              <a:t>P</a:t>
            </a:r>
            <a:r>
              <a:rPr lang="en-US" altLang="en-US" i="1" baseline="-25000"/>
              <a:t>4</a:t>
            </a:r>
            <a:r>
              <a:rPr lang="en-US" altLang="en-US"/>
              <a:t>	</a:t>
            </a:r>
            <a:r>
              <a:rPr lang="en-US" altLang="en-US">
                <a:solidFill>
                  <a:schemeClr val="bg1"/>
                </a:solidFill>
              </a:rPr>
              <a:t>5.0</a:t>
            </a:r>
            <a:r>
              <a:rPr lang="en-US" altLang="en-US"/>
              <a:t>	3</a:t>
            </a:r>
          </a:p>
          <a:p>
            <a:pPr eaLnBrk="1" hangingPunct="1"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/>
              <a:t>SJF scheduling chart</a:t>
            </a:r>
          </a:p>
          <a:p>
            <a:pPr eaLnBrk="1" hangingPunct="1">
              <a:tabLst>
                <a:tab pos="1603375" algn="ctr"/>
                <a:tab pos="3254375" algn="ctr"/>
                <a:tab pos="5143500" algn="ctr"/>
              </a:tabLst>
            </a:pPr>
            <a:endParaRPr lang="en-US" altLang="en-US"/>
          </a:p>
          <a:p>
            <a:pPr eaLnBrk="1" hangingPunct="1">
              <a:tabLst>
                <a:tab pos="1603375" algn="ctr"/>
                <a:tab pos="3254375" algn="ctr"/>
                <a:tab pos="5143500" algn="ctr"/>
              </a:tabLst>
            </a:pPr>
            <a:endParaRPr lang="en-US" altLang="en-US"/>
          </a:p>
          <a:p>
            <a:pPr eaLnBrk="1" hangingPunct="1">
              <a:tabLst>
                <a:tab pos="1603375" algn="ctr"/>
                <a:tab pos="3254375" algn="ctr"/>
                <a:tab pos="5143500" algn="ctr"/>
              </a:tabLst>
            </a:pPr>
            <a:endParaRPr lang="en-US" altLang="en-US"/>
          </a:p>
          <a:p>
            <a:pPr eaLnBrk="1" hangingPunct="1">
              <a:tabLst>
                <a:tab pos="1603375" algn="ctr"/>
                <a:tab pos="3254375" algn="ctr"/>
                <a:tab pos="5143500" algn="ctr"/>
              </a:tabLst>
            </a:pPr>
            <a:endParaRPr lang="en-US" altLang="en-US"/>
          </a:p>
          <a:p>
            <a:pPr eaLnBrk="1" hangingPunct="1"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/>
              <a:t>Average waiting time = (3 + 16 + 9 + 0) / 4 = 7</a:t>
            </a:r>
          </a:p>
          <a:p>
            <a:pPr eaLnBrk="1" hangingPunct="1"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 sz="3200" baseline="-25000"/>
              <a:t>Average turnaround time = 13</a:t>
            </a:r>
          </a:p>
        </p:txBody>
      </p:sp>
      <p:sp>
        <p:nvSpPr>
          <p:cNvPr id="17412" name="Line 54">
            <a:extLst>
              <a:ext uri="{FF2B5EF4-FFF2-40B4-BE49-F238E27FC236}">
                <a16:creationId xmlns:a16="http://schemas.microsoft.com/office/drawing/2014/main" id="{AC349B0D-23E0-5352-8440-E8BB833DB6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0800" y="426402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17413" name="Group 24">
            <a:extLst>
              <a:ext uri="{FF2B5EF4-FFF2-40B4-BE49-F238E27FC236}">
                <a16:creationId xmlns:a16="http://schemas.microsoft.com/office/drawing/2014/main" id="{69FBE110-D93E-464E-AC3C-2CF4C90A755C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3765550"/>
            <a:ext cx="5927725" cy="1130300"/>
            <a:chOff x="864" y="2372"/>
            <a:chExt cx="3734" cy="712"/>
          </a:xfrm>
        </p:grpSpPr>
        <p:sp>
          <p:nvSpPr>
            <p:cNvPr id="17415" name="Line 42">
              <a:extLst>
                <a:ext uri="{FF2B5EF4-FFF2-40B4-BE49-F238E27FC236}">
                  <a16:creationId xmlns:a16="http://schemas.microsoft.com/office/drawing/2014/main" id="{A039EB84-D208-3AAA-98B8-B4953638FD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0" y="2757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416" name="Line 58">
              <a:extLst>
                <a:ext uri="{FF2B5EF4-FFF2-40B4-BE49-F238E27FC236}">
                  <a16:creationId xmlns:a16="http://schemas.microsoft.com/office/drawing/2014/main" id="{3F968F1C-9092-BAB3-D641-9C100393D5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88" y="2757"/>
              <a:ext cx="0" cy="1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417" name="Line 63">
              <a:extLst>
                <a:ext uri="{FF2B5EF4-FFF2-40B4-BE49-F238E27FC236}">
                  <a16:creationId xmlns:a16="http://schemas.microsoft.com/office/drawing/2014/main" id="{BFF2C743-5D40-4369-594D-D9AED90667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56" y="2757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418" name="Rectangle 37">
              <a:extLst>
                <a:ext uri="{FF2B5EF4-FFF2-40B4-BE49-F238E27FC236}">
                  <a16:creationId xmlns:a16="http://schemas.microsoft.com/office/drawing/2014/main" id="{F125577F-D0D3-1DE4-C768-B1545A54447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960" y="2373"/>
              <a:ext cx="3504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7419" name="Text Box 38">
              <a:extLst>
                <a:ext uri="{FF2B5EF4-FFF2-40B4-BE49-F238E27FC236}">
                  <a16:creationId xmlns:a16="http://schemas.microsoft.com/office/drawing/2014/main" id="{B3DD8044-CA87-F7B5-437A-11AC4F1722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143" y="2457"/>
              <a:ext cx="26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P</a:t>
              </a:r>
              <a:r>
                <a:rPr lang="en-US" altLang="en-US" baseline="-25000">
                  <a:latin typeface="Helvetica" panose="020B0604020202020204" pitchFamily="34" charset="0"/>
                </a:rPr>
                <a:t>4</a:t>
              </a:r>
              <a:endParaRPr lang="en-US" altLang="en-US">
                <a:latin typeface="Helvetica" panose="020B0604020202020204" pitchFamily="34" charset="0"/>
              </a:endParaRPr>
            </a:p>
          </p:txBody>
        </p:sp>
        <p:sp>
          <p:nvSpPr>
            <p:cNvPr id="17420" name="Text Box 39">
              <a:extLst>
                <a:ext uri="{FF2B5EF4-FFF2-40B4-BE49-F238E27FC236}">
                  <a16:creationId xmlns:a16="http://schemas.microsoft.com/office/drawing/2014/main" id="{AB12B071-188E-20B6-0E61-145484DA90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2951" y="2450"/>
              <a:ext cx="26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P</a:t>
              </a:r>
              <a:r>
                <a:rPr lang="en-US" altLang="en-US" baseline="-25000">
                  <a:latin typeface="Helvetica" panose="020B0604020202020204" pitchFamily="34" charset="0"/>
                </a:rPr>
                <a:t>3</a:t>
              </a:r>
              <a:endParaRPr lang="en-US" altLang="en-US">
                <a:latin typeface="Helvetica" panose="020B0604020202020204" pitchFamily="34" charset="0"/>
              </a:endParaRPr>
            </a:p>
          </p:txBody>
        </p:sp>
        <p:sp>
          <p:nvSpPr>
            <p:cNvPr id="17421" name="Text Box 40">
              <a:extLst>
                <a:ext uri="{FF2B5EF4-FFF2-40B4-BE49-F238E27FC236}">
                  <a16:creationId xmlns:a16="http://schemas.microsoft.com/office/drawing/2014/main" id="{7515804F-BBB0-4690-5BF7-A77A33637D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968" y="2448"/>
              <a:ext cx="26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P</a:t>
              </a:r>
              <a:r>
                <a:rPr lang="en-US" altLang="en-US" baseline="-25000">
                  <a:latin typeface="Helvetica" panose="020B0604020202020204" pitchFamily="34" charset="0"/>
                </a:rPr>
                <a:t>1</a:t>
              </a:r>
              <a:endParaRPr lang="en-US" altLang="en-US">
                <a:latin typeface="Helvetica" panose="020B0604020202020204" pitchFamily="34" charset="0"/>
              </a:endParaRPr>
            </a:p>
          </p:txBody>
        </p:sp>
        <p:sp>
          <p:nvSpPr>
            <p:cNvPr id="17422" name="Line 41">
              <a:extLst>
                <a:ext uri="{FF2B5EF4-FFF2-40B4-BE49-F238E27FC236}">
                  <a16:creationId xmlns:a16="http://schemas.microsoft.com/office/drawing/2014/main" id="{3EC5C38D-7654-AD02-58A1-3674368BF4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4" y="275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423" name="Line 43">
              <a:extLst>
                <a:ext uri="{FF2B5EF4-FFF2-40B4-BE49-F238E27FC236}">
                  <a16:creationId xmlns:a16="http://schemas.microsoft.com/office/drawing/2014/main" id="{0FB07E71-045E-0D73-081D-DF4130E71E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88" y="2373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424" name="Text Box 48">
              <a:extLst>
                <a:ext uri="{FF2B5EF4-FFF2-40B4-BE49-F238E27FC236}">
                  <a16:creationId xmlns:a16="http://schemas.microsoft.com/office/drawing/2014/main" id="{179A8DE7-49AA-273D-9C49-60244BFD88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536" y="2842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3</a:t>
              </a:r>
            </a:p>
          </p:txBody>
        </p:sp>
        <p:sp>
          <p:nvSpPr>
            <p:cNvPr id="17425" name="Text Box 49">
              <a:extLst>
                <a:ext uri="{FF2B5EF4-FFF2-40B4-BE49-F238E27FC236}">
                  <a16:creationId xmlns:a16="http://schemas.microsoft.com/office/drawing/2014/main" id="{261F3E84-6DAD-FB15-B74F-B554280856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312" y="2844"/>
              <a:ext cx="2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16</a:t>
              </a:r>
            </a:p>
          </p:txBody>
        </p:sp>
        <p:sp>
          <p:nvSpPr>
            <p:cNvPr id="17426" name="Text Box 50">
              <a:extLst>
                <a:ext uri="{FF2B5EF4-FFF2-40B4-BE49-F238E27FC236}">
                  <a16:creationId xmlns:a16="http://schemas.microsoft.com/office/drawing/2014/main" id="{575CEBC0-6B3A-35BD-5418-6F0FB7EC33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864" y="2853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0</a:t>
              </a:r>
            </a:p>
          </p:txBody>
        </p:sp>
        <p:sp>
          <p:nvSpPr>
            <p:cNvPr id="17427" name="Line 52">
              <a:extLst>
                <a:ext uri="{FF2B5EF4-FFF2-40B4-BE49-F238E27FC236}">
                  <a16:creationId xmlns:a16="http://schemas.microsoft.com/office/drawing/2014/main" id="{5E5668DC-F781-04C1-23E9-60FD094F26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56" y="2373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428" name="Text Box 64">
              <a:extLst>
                <a:ext uri="{FF2B5EF4-FFF2-40B4-BE49-F238E27FC236}">
                  <a16:creationId xmlns:a16="http://schemas.microsoft.com/office/drawing/2014/main" id="{9F8B380F-1634-B2EC-393C-FDADFAA808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2592" y="2832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9</a:t>
              </a:r>
            </a:p>
          </p:txBody>
        </p:sp>
        <p:sp>
          <p:nvSpPr>
            <p:cNvPr id="17429" name="Line 69">
              <a:extLst>
                <a:ext uri="{FF2B5EF4-FFF2-40B4-BE49-F238E27FC236}">
                  <a16:creationId xmlns:a16="http://schemas.microsoft.com/office/drawing/2014/main" id="{2116ECC6-F319-DE38-B3A1-99F562555F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32" y="2372"/>
              <a:ext cx="0" cy="5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430" name="Text Box 70">
              <a:extLst>
                <a:ext uri="{FF2B5EF4-FFF2-40B4-BE49-F238E27FC236}">
                  <a16:creationId xmlns:a16="http://schemas.microsoft.com/office/drawing/2014/main" id="{0751CA7B-EBE6-4F70-AED1-FC2D239318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744" y="2455"/>
              <a:ext cx="26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P</a:t>
              </a:r>
              <a:r>
                <a:rPr lang="en-US" altLang="en-US" baseline="-25000">
                  <a:latin typeface="Helvetica" panose="020B0604020202020204" pitchFamily="34" charset="0"/>
                </a:rPr>
                <a:t>2</a:t>
              </a:r>
              <a:endParaRPr lang="en-US" altLang="en-US">
                <a:latin typeface="Helvetica" panose="020B0604020202020204" pitchFamily="34" charset="0"/>
              </a:endParaRPr>
            </a:p>
          </p:txBody>
        </p:sp>
        <p:sp>
          <p:nvSpPr>
            <p:cNvPr id="17431" name="Text Box 73">
              <a:extLst>
                <a:ext uri="{FF2B5EF4-FFF2-40B4-BE49-F238E27FC236}">
                  <a16:creationId xmlns:a16="http://schemas.microsoft.com/office/drawing/2014/main" id="{D103E533-6DEA-6C2B-515D-0560EB1D88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320" y="2844"/>
              <a:ext cx="2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24</a:t>
              </a:r>
            </a:p>
          </p:txBody>
        </p:sp>
      </p:grpSp>
      <p:sp>
        <p:nvSpPr>
          <p:cNvPr id="17414" name="Rectangle 22">
            <a:extLst>
              <a:ext uri="{FF2B5EF4-FFF2-40B4-BE49-F238E27FC236}">
                <a16:creationId xmlns:a16="http://schemas.microsoft.com/office/drawing/2014/main" id="{4FAFECC2-B669-6D7C-16F6-1C1D96A92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15013"/>
            <a:ext cx="9144000" cy="10429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>
            <a:extLst>
              <a:ext uri="{FF2B5EF4-FFF2-40B4-BE49-F238E27FC236}">
                <a16:creationId xmlns:a16="http://schemas.microsoft.com/office/drawing/2014/main" id="{BEE4457A-FF4B-EBDC-DB51-F4F293D3AD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/>
              <a:t>		</a:t>
            </a:r>
            <a:r>
              <a:rPr lang="en-US" altLang="en-US" sz="2000" u="sng"/>
              <a:t>Process	Arrival Time</a:t>
            </a:r>
            <a:r>
              <a:rPr lang="en-US" altLang="en-US" sz="2000"/>
              <a:t>	</a:t>
            </a:r>
            <a:r>
              <a:rPr lang="en-US" altLang="en-US" sz="2000" u="sng"/>
              <a:t>Burst Time</a:t>
            </a:r>
            <a:endParaRPr lang="en-US" altLang="en-US" sz="2000"/>
          </a:p>
          <a:p>
            <a:pPr eaLnBrk="1" hangingPunct="1">
              <a:buFont typeface="Wingdings" panose="05000000000000000000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 sz="2000"/>
              <a:t>		</a:t>
            </a:r>
            <a:r>
              <a:rPr lang="en-US" altLang="en-US" sz="2000" i="1"/>
              <a:t>P</a:t>
            </a:r>
            <a:r>
              <a:rPr lang="en-US" altLang="en-US" sz="2000" i="1" baseline="-25000"/>
              <a:t>1</a:t>
            </a:r>
            <a:r>
              <a:rPr lang="en-US" altLang="en-US" sz="2000"/>
              <a:t>	0.0	7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 sz="2000"/>
              <a:t>		 </a:t>
            </a:r>
            <a:r>
              <a:rPr lang="en-US" altLang="en-US" sz="2000" i="1"/>
              <a:t>P</a:t>
            </a:r>
            <a:r>
              <a:rPr lang="en-US" altLang="en-US" sz="2000" i="1" baseline="-25000"/>
              <a:t>2	</a:t>
            </a:r>
            <a:r>
              <a:rPr lang="en-US" altLang="en-US" sz="2000"/>
              <a:t>2.0	4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 sz="2000"/>
              <a:t>		 </a:t>
            </a:r>
            <a:r>
              <a:rPr lang="en-US" altLang="en-US" sz="2000" i="1"/>
              <a:t>P</a:t>
            </a:r>
            <a:r>
              <a:rPr lang="en-US" altLang="en-US" sz="2000" i="1" baseline="-25000"/>
              <a:t>3</a:t>
            </a:r>
            <a:r>
              <a:rPr lang="en-US" altLang="en-US" sz="2000"/>
              <a:t>	4.0	1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 sz="2000"/>
              <a:t>		 </a:t>
            </a:r>
            <a:r>
              <a:rPr lang="en-US" altLang="en-US" sz="2000" i="1"/>
              <a:t>P</a:t>
            </a:r>
            <a:r>
              <a:rPr lang="en-US" altLang="en-US" sz="2000" i="1" baseline="-25000"/>
              <a:t>4</a:t>
            </a:r>
            <a:r>
              <a:rPr lang="en-US" altLang="en-US" sz="2000"/>
              <a:t>	5.0	4</a:t>
            </a:r>
          </a:p>
        </p:txBody>
      </p:sp>
      <p:sp>
        <p:nvSpPr>
          <p:cNvPr id="18435" name="Rectangle 4">
            <a:extLst>
              <a:ext uri="{FF2B5EF4-FFF2-40B4-BE49-F238E27FC236}">
                <a16:creationId xmlns:a16="http://schemas.microsoft.com/office/drawing/2014/main" id="{F9821EB4-FEE5-2C4F-6953-251DD45179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anchor="ctr"/>
          <a:lstStyle/>
          <a:p>
            <a:pPr eaLnBrk="1" hangingPunct="1"/>
            <a:r>
              <a:rPr lang="en-US" altLang="en-US" sz="3500"/>
              <a:t>Exercise non Preemptive SJF</a:t>
            </a:r>
          </a:p>
        </p:txBody>
      </p:sp>
      <p:sp>
        <p:nvSpPr>
          <p:cNvPr id="18436" name="Text Box 6">
            <a:extLst>
              <a:ext uri="{FF2B5EF4-FFF2-40B4-BE49-F238E27FC236}">
                <a16:creationId xmlns:a16="http://schemas.microsoft.com/office/drawing/2014/main" id="{6583609F-EC5D-7B3D-2016-4E85025E7153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209800" y="4433888"/>
            <a:ext cx="4206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P</a:t>
            </a:r>
            <a:r>
              <a:rPr lang="en-US" altLang="en-US" baseline="-25000">
                <a:latin typeface="Helvetica" panose="020B0604020202020204" pitchFamily="34" charset="0"/>
              </a:rPr>
              <a:t>1</a:t>
            </a:r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8437" name="Text Box 7">
            <a:extLst>
              <a:ext uri="{FF2B5EF4-FFF2-40B4-BE49-F238E27FC236}">
                <a16:creationId xmlns:a16="http://schemas.microsoft.com/office/drawing/2014/main" id="{8C2B8F0D-CFDE-3B0F-046C-FB5B4C7CCEB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3810000" y="4433888"/>
            <a:ext cx="4206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P</a:t>
            </a:r>
            <a:r>
              <a:rPr lang="en-US" altLang="en-US" baseline="-25000">
                <a:latin typeface="Helvetica" panose="020B0604020202020204" pitchFamily="34" charset="0"/>
              </a:rPr>
              <a:t>3</a:t>
            </a:r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8438" name="Text Box 8">
            <a:extLst>
              <a:ext uri="{FF2B5EF4-FFF2-40B4-BE49-F238E27FC236}">
                <a16:creationId xmlns:a16="http://schemas.microsoft.com/office/drawing/2014/main" id="{AE20F0FA-B5DF-3A1C-C898-9050C000E7F0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724400" y="4433888"/>
            <a:ext cx="4206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P</a:t>
            </a:r>
            <a:r>
              <a:rPr lang="en-US" altLang="en-US" baseline="-25000">
                <a:latin typeface="Helvetica" panose="020B0604020202020204" pitchFamily="34" charset="0"/>
              </a:rPr>
              <a:t>2</a:t>
            </a:r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8439" name="Line 9">
            <a:extLst>
              <a:ext uri="{FF2B5EF4-FFF2-40B4-BE49-F238E27FC236}">
                <a16:creationId xmlns:a16="http://schemas.microsoft.com/office/drawing/2014/main" id="{33A89219-F1BF-9CE7-259A-FDC7970408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81800" y="4967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40" name="Line 11">
            <a:extLst>
              <a:ext uri="{FF2B5EF4-FFF2-40B4-BE49-F238E27FC236}">
                <a16:creationId xmlns:a16="http://schemas.microsoft.com/office/drawing/2014/main" id="{DD7687A1-4A2C-E081-09BD-42420EFFE3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67200" y="43862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41" name="Line 12">
            <a:extLst>
              <a:ext uri="{FF2B5EF4-FFF2-40B4-BE49-F238E27FC236}">
                <a16:creationId xmlns:a16="http://schemas.microsoft.com/office/drawing/2014/main" id="{2D9A04E3-BB04-7DB5-A154-EDA8E7EC047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10000" y="435768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42" name="Line 13">
            <a:extLst>
              <a:ext uri="{FF2B5EF4-FFF2-40B4-BE49-F238E27FC236}">
                <a16:creationId xmlns:a16="http://schemas.microsoft.com/office/drawing/2014/main" id="{EC9DD954-2067-4B41-02B2-1A7801CEF1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10000" y="4967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43" name="Line 14">
            <a:extLst>
              <a:ext uri="{FF2B5EF4-FFF2-40B4-BE49-F238E27FC236}">
                <a16:creationId xmlns:a16="http://schemas.microsoft.com/office/drawing/2014/main" id="{CB1D4E98-BE46-FF1F-30C5-A9C3A07962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098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44" name="Text Box 15">
            <a:extLst>
              <a:ext uri="{FF2B5EF4-FFF2-40B4-BE49-F238E27FC236}">
                <a16:creationId xmlns:a16="http://schemas.microsoft.com/office/drawing/2014/main" id="{49917FB8-7374-EFF2-6F48-3278871EE7F6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3657600" y="51196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7</a:t>
            </a:r>
          </a:p>
        </p:txBody>
      </p:sp>
      <p:sp>
        <p:nvSpPr>
          <p:cNvPr id="18445" name="Text Box 16">
            <a:extLst>
              <a:ext uri="{FF2B5EF4-FFF2-40B4-BE49-F238E27FC236}">
                <a16:creationId xmlns:a16="http://schemas.microsoft.com/office/drawing/2014/main" id="{241C182C-F9DA-C5B5-6794-F000B3C01E91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368550" y="51196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3</a:t>
            </a:r>
          </a:p>
        </p:txBody>
      </p:sp>
      <p:sp>
        <p:nvSpPr>
          <p:cNvPr id="18446" name="Text Box 17">
            <a:extLst>
              <a:ext uri="{FF2B5EF4-FFF2-40B4-BE49-F238E27FC236}">
                <a16:creationId xmlns:a16="http://schemas.microsoft.com/office/drawing/2014/main" id="{36476DF7-14BD-B647-D051-976B227443A0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6508750" y="5119688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16</a:t>
            </a:r>
          </a:p>
        </p:txBody>
      </p:sp>
      <p:sp>
        <p:nvSpPr>
          <p:cNvPr id="18447" name="Text Box 18">
            <a:extLst>
              <a:ext uri="{FF2B5EF4-FFF2-40B4-BE49-F238E27FC236}">
                <a16:creationId xmlns:a16="http://schemas.microsoft.com/office/drawing/2014/main" id="{F795EDE4-A00E-0B3E-ABDC-6F9EAF0AEDE9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371600" y="51196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0</a:t>
            </a:r>
          </a:p>
        </p:txBody>
      </p:sp>
      <p:sp>
        <p:nvSpPr>
          <p:cNvPr id="18448" name="Text Box 20">
            <a:extLst>
              <a:ext uri="{FF2B5EF4-FFF2-40B4-BE49-F238E27FC236}">
                <a16:creationId xmlns:a16="http://schemas.microsoft.com/office/drawing/2014/main" id="{C42D4CB6-295E-D985-9608-E32565FC1595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5867400" y="4433888"/>
            <a:ext cx="4206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P</a:t>
            </a:r>
            <a:r>
              <a:rPr lang="en-US" altLang="en-US" baseline="-25000">
                <a:latin typeface="Helvetica" panose="020B0604020202020204" pitchFamily="34" charset="0"/>
              </a:rPr>
              <a:t>4</a:t>
            </a:r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8449" name="Line 21">
            <a:extLst>
              <a:ext uri="{FF2B5EF4-FFF2-40B4-BE49-F238E27FC236}">
                <a16:creationId xmlns:a16="http://schemas.microsoft.com/office/drawing/2014/main" id="{19D55557-932C-41C1-069E-FB699CCA50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86400" y="435768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50" name="Line 22">
            <a:extLst>
              <a:ext uri="{FF2B5EF4-FFF2-40B4-BE49-F238E27FC236}">
                <a16:creationId xmlns:a16="http://schemas.microsoft.com/office/drawing/2014/main" id="{1C89F7F8-4781-06D1-C3E2-A792A8D151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288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51" name="Line 23">
            <a:extLst>
              <a:ext uri="{FF2B5EF4-FFF2-40B4-BE49-F238E27FC236}">
                <a16:creationId xmlns:a16="http://schemas.microsoft.com/office/drawing/2014/main" id="{4F4BB83A-DD0B-2940-16BC-5037033888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08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52" name="Line 24">
            <a:extLst>
              <a:ext uri="{FF2B5EF4-FFF2-40B4-BE49-F238E27FC236}">
                <a16:creationId xmlns:a16="http://schemas.microsoft.com/office/drawing/2014/main" id="{85402C3D-557E-4D4B-7920-00A1BD58F8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718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53" name="Line 25">
            <a:extLst>
              <a:ext uri="{FF2B5EF4-FFF2-40B4-BE49-F238E27FC236}">
                <a16:creationId xmlns:a16="http://schemas.microsoft.com/office/drawing/2014/main" id="{121C5802-EA5A-544C-257C-7364ECB4AEA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54" name="Line 26">
            <a:extLst>
              <a:ext uri="{FF2B5EF4-FFF2-40B4-BE49-F238E27FC236}">
                <a16:creationId xmlns:a16="http://schemas.microsoft.com/office/drawing/2014/main" id="{9801578A-8C22-D310-9A83-FD8C2A7489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814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55" name="Line 27">
            <a:extLst>
              <a:ext uri="{FF2B5EF4-FFF2-40B4-BE49-F238E27FC236}">
                <a16:creationId xmlns:a16="http://schemas.microsoft.com/office/drawing/2014/main" id="{1ED60EA3-A1E7-95A0-0228-94902C7799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67200" y="4967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56" name="Text Box 28">
            <a:extLst>
              <a:ext uri="{FF2B5EF4-FFF2-40B4-BE49-F238E27FC236}">
                <a16:creationId xmlns:a16="http://schemas.microsoft.com/office/drawing/2014/main" id="{310F2497-F178-D95D-8247-051F22B1E5F0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114800" y="51196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8</a:t>
            </a:r>
          </a:p>
        </p:txBody>
      </p:sp>
      <p:sp>
        <p:nvSpPr>
          <p:cNvPr id="18457" name="Line 29">
            <a:extLst>
              <a:ext uri="{FF2B5EF4-FFF2-40B4-BE49-F238E27FC236}">
                <a16:creationId xmlns:a16="http://schemas.microsoft.com/office/drawing/2014/main" id="{4D6FA998-40B3-DA09-C466-E29920D34D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82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58" name="Line 30">
            <a:extLst>
              <a:ext uri="{FF2B5EF4-FFF2-40B4-BE49-F238E27FC236}">
                <a16:creationId xmlns:a16="http://schemas.microsoft.com/office/drawing/2014/main" id="{3DF1A00F-8C68-3A1C-CD3C-9939F31BB6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530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59" name="Line 31">
            <a:extLst>
              <a:ext uri="{FF2B5EF4-FFF2-40B4-BE49-F238E27FC236}">
                <a16:creationId xmlns:a16="http://schemas.microsoft.com/office/drawing/2014/main" id="{7BF9FD65-FF28-7045-CF79-62BBD1C62E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578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60" name="Line 32">
            <a:extLst>
              <a:ext uri="{FF2B5EF4-FFF2-40B4-BE49-F238E27FC236}">
                <a16:creationId xmlns:a16="http://schemas.microsoft.com/office/drawing/2014/main" id="{007183AB-9148-86A8-4B9A-C51FDCAEAF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86400" y="4967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61" name="Text Box 33">
            <a:extLst>
              <a:ext uri="{FF2B5EF4-FFF2-40B4-BE49-F238E27FC236}">
                <a16:creationId xmlns:a16="http://schemas.microsoft.com/office/drawing/2014/main" id="{12C985BE-9A67-EC50-E81F-A9BDB0415DD5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5257800" y="5119688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12</a:t>
            </a:r>
          </a:p>
        </p:txBody>
      </p:sp>
      <p:sp>
        <p:nvSpPr>
          <p:cNvPr id="18462" name="Line 34">
            <a:extLst>
              <a:ext uri="{FF2B5EF4-FFF2-40B4-BE49-F238E27FC236}">
                <a16:creationId xmlns:a16="http://schemas.microsoft.com/office/drawing/2014/main" id="{20B833BE-93F6-EEEC-C67B-6599178728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74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63" name="Line 35">
            <a:extLst>
              <a:ext uri="{FF2B5EF4-FFF2-40B4-BE49-F238E27FC236}">
                <a16:creationId xmlns:a16="http://schemas.microsoft.com/office/drawing/2014/main" id="{CEB577D9-4FED-D760-924E-93CF195C458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722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64" name="Line 36">
            <a:extLst>
              <a:ext uri="{FF2B5EF4-FFF2-40B4-BE49-F238E27FC236}">
                <a16:creationId xmlns:a16="http://schemas.microsoft.com/office/drawing/2014/main" id="{F76A003D-EFAB-29C6-C77B-891899AC50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389B65C-BF9D-4F1B-9636-9D2E650A41E9}"/>
              </a:ext>
            </a:extLst>
          </p:cNvPr>
          <p:cNvSpPr/>
          <p:nvPr/>
        </p:nvSpPr>
        <p:spPr bwMode="auto">
          <a:xfrm>
            <a:off x="777875" y="4229100"/>
            <a:ext cx="6681788" cy="1600200"/>
          </a:xfrm>
          <a:prstGeom prst="rect">
            <a:avLst/>
          </a:prstGeom>
          <a:solidFill>
            <a:schemeClr val="accent3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latin typeface="Verdana" charset="0"/>
              <a:ea typeface="ＭＳ Ｐゴシック" charset="-128"/>
            </a:endParaRPr>
          </a:p>
        </p:txBody>
      </p:sp>
      <p:sp>
        <p:nvSpPr>
          <p:cNvPr id="18466" name="Rectangle 35">
            <a:extLst>
              <a:ext uri="{FF2B5EF4-FFF2-40B4-BE49-F238E27FC236}">
                <a16:creationId xmlns:a16="http://schemas.microsoft.com/office/drawing/2014/main" id="{A01C3D9B-6C6C-EB3C-71D2-C1B9464FD1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15013"/>
            <a:ext cx="9144000" cy="10429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>
            <a:extLst>
              <a:ext uri="{FF2B5EF4-FFF2-40B4-BE49-F238E27FC236}">
                <a16:creationId xmlns:a16="http://schemas.microsoft.com/office/drawing/2014/main" id="{0EA6CADB-8082-0347-04D8-165BCA71B1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3888" y="1098550"/>
            <a:ext cx="7731125" cy="45307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/>
              <a:t>	</a:t>
            </a:r>
            <a:r>
              <a:rPr lang="en-US" altLang="en-US" sz="2200"/>
              <a:t>Average waiting time = (0 + 6 + 3 + 7)/4 =4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 sz="2200"/>
              <a:t>Average Turnaround time = 8</a:t>
            </a:r>
          </a:p>
        </p:txBody>
      </p:sp>
      <p:sp>
        <p:nvSpPr>
          <p:cNvPr id="19459" name="Rectangle 4">
            <a:extLst>
              <a:ext uri="{FF2B5EF4-FFF2-40B4-BE49-F238E27FC236}">
                <a16:creationId xmlns:a16="http://schemas.microsoft.com/office/drawing/2014/main" id="{2F6A88FF-5998-AC5E-BBD4-5B4C673B05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anchor="ctr"/>
          <a:lstStyle/>
          <a:p>
            <a:pPr eaLnBrk="1" hangingPunct="1"/>
            <a:r>
              <a:rPr lang="en-US" altLang="en-US" sz="3500"/>
              <a:t>Exercise non Preemptive SJF</a:t>
            </a:r>
          </a:p>
        </p:txBody>
      </p:sp>
      <p:sp>
        <p:nvSpPr>
          <p:cNvPr id="19460" name="Rectangle 5">
            <a:extLst>
              <a:ext uri="{FF2B5EF4-FFF2-40B4-BE49-F238E27FC236}">
                <a16:creationId xmlns:a16="http://schemas.microsoft.com/office/drawing/2014/main" id="{4CF7FFBB-E694-FE88-9095-5A12E2B43CB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524000" y="4357688"/>
            <a:ext cx="52578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9461" name="Text Box 6">
            <a:extLst>
              <a:ext uri="{FF2B5EF4-FFF2-40B4-BE49-F238E27FC236}">
                <a16:creationId xmlns:a16="http://schemas.microsoft.com/office/drawing/2014/main" id="{17D227FF-0AEA-B4FD-12E6-B333E071F6CD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209800" y="4433888"/>
            <a:ext cx="4206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P</a:t>
            </a:r>
            <a:r>
              <a:rPr lang="en-US" altLang="en-US" baseline="-25000">
                <a:latin typeface="Helvetica" panose="020B0604020202020204" pitchFamily="34" charset="0"/>
              </a:rPr>
              <a:t>1</a:t>
            </a:r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9462" name="Text Box 7">
            <a:extLst>
              <a:ext uri="{FF2B5EF4-FFF2-40B4-BE49-F238E27FC236}">
                <a16:creationId xmlns:a16="http://schemas.microsoft.com/office/drawing/2014/main" id="{A9156728-DE90-A496-C611-CF0EBC22E0EA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3810000" y="4433888"/>
            <a:ext cx="4206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P</a:t>
            </a:r>
            <a:r>
              <a:rPr lang="en-US" altLang="en-US" baseline="-25000">
                <a:latin typeface="Helvetica" panose="020B0604020202020204" pitchFamily="34" charset="0"/>
              </a:rPr>
              <a:t>3</a:t>
            </a:r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9463" name="Text Box 8">
            <a:extLst>
              <a:ext uri="{FF2B5EF4-FFF2-40B4-BE49-F238E27FC236}">
                <a16:creationId xmlns:a16="http://schemas.microsoft.com/office/drawing/2014/main" id="{147DA9EA-0E23-6FB0-E5AA-9088AB52F461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724400" y="4433888"/>
            <a:ext cx="4206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P</a:t>
            </a:r>
            <a:r>
              <a:rPr lang="en-US" altLang="en-US" baseline="-25000">
                <a:latin typeface="Helvetica" panose="020B0604020202020204" pitchFamily="34" charset="0"/>
              </a:rPr>
              <a:t>2</a:t>
            </a:r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9464" name="Line 9">
            <a:extLst>
              <a:ext uri="{FF2B5EF4-FFF2-40B4-BE49-F238E27FC236}">
                <a16:creationId xmlns:a16="http://schemas.microsoft.com/office/drawing/2014/main" id="{B5B436FD-554B-3D3E-3631-4FB683D247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81800" y="4967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9465" name="Line 10">
            <a:extLst>
              <a:ext uri="{FF2B5EF4-FFF2-40B4-BE49-F238E27FC236}">
                <a16:creationId xmlns:a16="http://schemas.microsoft.com/office/drawing/2014/main" id="{5253D688-219B-8D90-8554-1FA1123910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4967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9466" name="Line 11">
            <a:extLst>
              <a:ext uri="{FF2B5EF4-FFF2-40B4-BE49-F238E27FC236}">
                <a16:creationId xmlns:a16="http://schemas.microsoft.com/office/drawing/2014/main" id="{F92FDD4A-6A9B-005D-28DD-D11C1A7236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67200" y="43862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9467" name="Line 12">
            <a:extLst>
              <a:ext uri="{FF2B5EF4-FFF2-40B4-BE49-F238E27FC236}">
                <a16:creationId xmlns:a16="http://schemas.microsoft.com/office/drawing/2014/main" id="{D8439B89-B596-A8AF-2656-E669A9C467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10000" y="435768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9468" name="Line 13">
            <a:extLst>
              <a:ext uri="{FF2B5EF4-FFF2-40B4-BE49-F238E27FC236}">
                <a16:creationId xmlns:a16="http://schemas.microsoft.com/office/drawing/2014/main" id="{140D76CB-5481-6F66-6E4C-0D9C8BD591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10000" y="4967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9469" name="Line 14">
            <a:extLst>
              <a:ext uri="{FF2B5EF4-FFF2-40B4-BE49-F238E27FC236}">
                <a16:creationId xmlns:a16="http://schemas.microsoft.com/office/drawing/2014/main" id="{02925A31-09A1-3172-C88F-DCB5BEFF33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098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9470" name="Text Box 15">
            <a:extLst>
              <a:ext uri="{FF2B5EF4-FFF2-40B4-BE49-F238E27FC236}">
                <a16:creationId xmlns:a16="http://schemas.microsoft.com/office/drawing/2014/main" id="{45B265ED-89ED-BCDE-137D-5C5C3C9B93E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3657600" y="51196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7</a:t>
            </a:r>
          </a:p>
        </p:txBody>
      </p:sp>
      <p:sp>
        <p:nvSpPr>
          <p:cNvPr id="19471" name="Text Box 16">
            <a:extLst>
              <a:ext uri="{FF2B5EF4-FFF2-40B4-BE49-F238E27FC236}">
                <a16:creationId xmlns:a16="http://schemas.microsoft.com/office/drawing/2014/main" id="{35CD0974-02CA-C9DD-5DDC-DC6C8F78CFF2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368550" y="51196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3</a:t>
            </a:r>
          </a:p>
        </p:txBody>
      </p:sp>
      <p:sp>
        <p:nvSpPr>
          <p:cNvPr id="19472" name="Text Box 17">
            <a:extLst>
              <a:ext uri="{FF2B5EF4-FFF2-40B4-BE49-F238E27FC236}">
                <a16:creationId xmlns:a16="http://schemas.microsoft.com/office/drawing/2014/main" id="{C2EB3EBB-884A-D115-E5AF-E8D1DCE1CEBA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6508750" y="5119688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16</a:t>
            </a:r>
          </a:p>
        </p:txBody>
      </p:sp>
      <p:sp>
        <p:nvSpPr>
          <p:cNvPr id="19473" name="Text Box 18">
            <a:extLst>
              <a:ext uri="{FF2B5EF4-FFF2-40B4-BE49-F238E27FC236}">
                <a16:creationId xmlns:a16="http://schemas.microsoft.com/office/drawing/2014/main" id="{7627891B-8475-7519-5272-6A01B5D4C6B8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371600" y="51196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0</a:t>
            </a:r>
          </a:p>
        </p:txBody>
      </p:sp>
      <p:sp>
        <p:nvSpPr>
          <p:cNvPr id="19474" name="Text Box 20">
            <a:extLst>
              <a:ext uri="{FF2B5EF4-FFF2-40B4-BE49-F238E27FC236}">
                <a16:creationId xmlns:a16="http://schemas.microsoft.com/office/drawing/2014/main" id="{6F9FED83-E8E4-CD38-985C-35AC29BED3C2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5867400" y="4433888"/>
            <a:ext cx="4206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P</a:t>
            </a:r>
            <a:r>
              <a:rPr lang="en-US" altLang="en-US" baseline="-25000">
                <a:latin typeface="Helvetica" panose="020B0604020202020204" pitchFamily="34" charset="0"/>
              </a:rPr>
              <a:t>4</a:t>
            </a:r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9475" name="Line 21">
            <a:extLst>
              <a:ext uri="{FF2B5EF4-FFF2-40B4-BE49-F238E27FC236}">
                <a16:creationId xmlns:a16="http://schemas.microsoft.com/office/drawing/2014/main" id="{29B81FA4-F2DA-FC89-D16C-604151F179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86400" y="435768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9476" name="Line 22">
            <a:extLst>
              <a:ext uri="{FF2B5EF4-FFF2-40B4-BE49-F238E27FC236}">
                <a16:creationId xmlns:a16="http://schemas.microsoft.com/office/drawing/2014/main" id="{B5F9AD31-8DA5-B904-2389-2F5B8ECAE0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288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9477" name="Line 23">
            <a:extLst>
              <a:ext uri="{FF2B5EF4-FFF2-40B4-BE49-F238E27FC236}">
                <a16:creationId xmlns:a16="http://schemas.microsoft.com/office/drawing/2014/main" id="{402D05D3-3828-EE6D-ECEC-AA8B71BBEA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08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9478" name="Line 24">
            <a:extLst>
              <a:ext uri="{FF2B5EF4-FFF2-40B4-BE49-F238E27FC236}">
                <a16:creationId xmlns:a16="http://schemas.microsoft.com/office/drawing/2014/main" id="{8A49881E-9B7F-633D-B31B-310563111E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718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9479" name="Line 25">
            <a:extLst>
              <a:ext uri="{FF2B5EF4-FFF2-40B4-BE49-F238E27FC236}">
                <a16:creationId xmlns:a16="http://schemas.microsoft.com/office/drawing/2014/main" id="{2D11C611-6FDB-469F-FCF1-A361107C4C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9480" name="Line 26">
            <a:extLst>
              <a:ext uri="{FF2B5EF4-FFF2-40B4-BE49-F238E27FC236}">
                <a16:creationId xmlns:a16="http://schemas.microsoft.com/office/drawing/2014/main" id="{57E769A7-2ED6-A544-3901-DC47FF677F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814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9481" name="Line 27">
            <a:extLst>
              <a:ext uri="{FF2B5EF4-FFF2-40B4-BE49-F238E27FC236}">
                <a16:creationId xmlns:a16="http://schemas.microsoft.com/office/drawing/2014/main" id="{ACDF6D21-1725-BB62-AABE-A50BC65C5D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67200" y="4967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9482" name="Text Box 28">
            <a:extLst>
              <a:ext uri="{FF2B5EF4-FFF2-40B4-BE49-F238E27FC236}">
                <a16:creationId xmlns:a16="http://schemas.microsoft.com/office/drawing/2014/main" id="{7186FF88-3A83-2F6A-6F7D-F83CFBD887EF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114800" y="51196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8</a:t>
            </a:r>
          </a:p>
        </p:txBody>
      </p:sp>
      <p:sp>
        <p:nvSpPr>
          <p:cNvPr id="19483" name="Line 29">
            <a:extLst>
              <a:ext uri="{FF2B5EF4-FFF2-40B4-BE49-F238E27FC236}">
                <a16:creationId xmlns:a16="http://schemas.microsoft.com/office/drawing/2014/main" id="{C62BAAB2-D2C9-DB82-10F9-E5020B1485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82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9484" name="Line 30">
            <a:extLst>
              <a:ext uri="{FF2B5EF4-FFF2-40B4-BE49-F238E27FC236}">
                <a16:creationId xmlns:a16="http://schemas.microsoft.com/office/drawing/2014/main" id="{A12EF0BF-6C4A-4D7C-83E2-A6D15C2925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530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9485" name="Line 31">
            <a:extLst>
              <a:ext uri="{FF2B5EF4-FFF2-40B4-BE49-F238E27FC236}">
                <a16:creationId xmlns:a16="http://schemas.microsoft.com/office/drawing/2014/main" id="{ECAECCA2-30F2-3A7F-4C4D-1668AAC1C9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578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9486" name="Line 32">
            <a:extLst>
              <a:ext uri="{FF2B5EF4-FFF2-40B4-BE49-F238E27FC236}">
                <a16:creationId xmlns:a16="http://schemas.microsoft.com/office/drawing/2014/main" id="{875292F6-712A-2E43-D44B-6AA7E123BA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86400" y="4967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9487" name="Text Box 33">
            <a:extLst>
              <a:ext uri="{FF2B5EF4-FFF2-40B4-BE49-F238E27FC236}">
                <a16:creationId xmlns:a16="http://schemas.microsoft.com/office/drawing/2014/main" id="{DCFA87BF-0450-AD31-AAE3-55007E39DE6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5257800" y="5119688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12</a:t>
            </a:r>
          </a:p>
        </p:txBody>
      </p:sp>
      <p:sp>
        <p:nvSpPr>
          <p:cNvPr id="19488" name="Line 34">
            <a:extLst>
              <a:ext uri="{FF2B5EF4-FFF2-40B4-BE49-F238E27FC236}">
                <a16:creationId xmlns:a16="http://schemas.microsoft.com/office/drawing/2014/main" id="{5DF8AD1F-7C3B-C37F-BCFA-83AA0A40F0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74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9489" name="Line 35">
            <a:extLst>
              <a:ext uri="{FF2B5EF4-FFF2-40B4-BE49-F238E27FC236}">
                <a16:creationId xmlns:a16="http://schemas.microsoft.com/office/drawing/2014/main" id="{A9F01393-81E0-17DC-9642-A3F457DF8F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722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9490" name="Line 36">
            <a:extLst>
              <a:ext uri="{FF2B5EF4-FFF2-40B4-BE49-F238E27FC236}">
                <a16:creationId xmlns:a16="http://schemas.microsoft.com/office/drawing/2014/main" id="{902BF1AF-D1A7-F8F0-E29B-E99EC6B45F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9491" name="Rectangle 34">
            <a:extLst>
              <a:ext uri="{FF2B5EF4-FFF2-40B4-BE49-F238E27FC236}">
                <a16:creationId xmlns:a16="http://schemas.microsoft.com/office/drawing/2014/main" id="{DE9B0785-F440-771E-01DD-B68D70D86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15013"/>
            <a:ext cx="9144000" cy="10429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>
            <a:extLst>
              <a:ext uri="{FF2B5EF4-FFF2-40B4-BE49-F238E27FC236}">
                <a16:creationId xmlns:a16="http://schemas.microsoft.com/office/drawing/2014/main" id="{96845AA1-C449-8279-809C-E63A8C4F3B3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76325" y="114300"/>
            <a:ext cx="7772400" cy="654050"/>
          </a:xfrm>
        </p:spPr>
        <p:txBody>
          <a:bodyPr/>
          <a:lstStyle/>
          <a:p>
            <a:pPr eaLnBrk="1" hangingPunct="1"/>
            <a:r>
              <a:rPr lang="en-US" altLang="en-US"/>
              <a:t>Determining Length of Next CPU Burst</a:t>
            </a:r>
          </a:p>
        </p:txBody>
      </p:sp>
      <p:sp>
        <p:nvSpPr>
          <p:cNvPr id="1029" name="Rectangle 3">
            <a:extLst>
              <a:ext uri="{FF2B5EF4-FFF2-40B4-BE49-F238E27FC236}">
                <a16:creationId xmlns:a16="http://schemas.microsoft.com/office/drawing/2014/main" id="{B8421B78-3FF3-944C-9824-7041BF0BDF1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33413" y="1333500"/>
            <a:ext cx="7731125" cy="4387850"/>
          </a:xfrm>
        </p:spPr>
        <p:txBody>
          <a:bodyPr/>
          <a:lstStyle/>
          <a:p>
            <a:pPr eaLnBrk="1" hangingPunct="1"/>
            <a:r>
              <a:rPr lang="en-US" altLang="en-US"/>
              <a:t>Can only estimate the length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/>
              <a:t>Can be done by using the length of previous CPU bursts, using exponential averaging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/>
          </a:p>
        </p:txBody>
      </p:sp>
      <p:grpSp>
        <p:nvGrpSpPr>
          <p:cNvPr id="1030" name="Group 6">
            <a:extLst>
              <a:ext uri="{FF2B5EF4-FFF2-40B4-BE49-F238E27FC236}">
                <a16:creationId xmlns:a16="http://schemas.microsoft.com/office/drawing/2014/main" id="{9F027947-580D-9535-C7E0-5682CCEB6830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2790825"/>
            <a:ext cx="5638800" cy="1611313"/>
            <a:chOff x="1056" y="1758"/>
            <a:chExt cx="3552" cy="1015"/>
          </a:xfrm>
        </p:grpSpPr>
        <p:graphicFrame>
          <p:nvGraphicFramePr>
            <p:cNvPr id="1026" name="Object 2">
              <a:extLst>
                <a:ext uri="{FF2B5EF4-FFF2-40B4-BE49-F238E27FC236}">
                  <a16:creationId xmlns:a16="http://schemas.microsoft.com/office/drawing/2014/main" id="{0E836992-9DA1-B9E0-B9B2-5433DEAC6FF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56" y="1758"/>
            <a:ext cx="3552" cy="10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6400800" imgH="1777680" progId="Equation.3">
                    <p:embed/>
                  </p:oleObj>
                </mc:Choice>
                <mc:Fallback>
                  <p:oleObj name="Equation" r:id="rId3" imgW="6400800" imgH="177768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1758"/>
                          <a:ext cx="3552" cy="10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" name="Object 3">
              <a:extLst>
                <a:ext uri="{FF2B5EF4-FFF2-40B4-BE49-F238E27FC236}">
                  <a16:creationId xmlns:a16="http://schemas.microsoft.com/office/drawing/2014/main" id="{62DACF08-F5A4-374C-B7DD-C44F4E75805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12" y="2574"/>
            <a:ext cx="1400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222280" imgH="317160" progId="Equation.3">
                    <p:embed/>
                  </p:oleObj>
                </mc:Choice>
                <mc:Fallback>
                  <p:oleObj name="Equation" r:id="rId5" imgW="2222280" imgH="31716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2574"/>
                          <a:ext cx="1400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31" name="Rectangle 6">
            <a:extLst>
              <a:ext uri="{FF2B5EF4-FFF2-40B4-BE49-F238E27FC236}">
                <a16:creationId xmlns:a16="http://schemas.microsoft.com/office/drawing/2014/main" id="{DC4F4C15-EB27-3043-D631-CA3C07AE3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15013"/>
            <a:ext cx="9144000" cy="10429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D52E5165-3727-9379-CC86-A4A794AF674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63600" y="123825"/>
            <a:ext cx="8121650" cy="654050"/>
          </a:xfrm>
        </p:spPr>
        <p:txBody>
          <a:bodyPr/>
          <a:lstStyle/>
          <a:p>
            <a:pPr eaLnBrk="1" hangingPunct="1"/>
            <a:r>
              <a:rPr lang="en-US" altLang="en-US" sz="2800"/>
              <a:t>Prediction of the Length of the Next CPU Burst</a:t>
            </a:r>
          </a:p>
        </p:txBody>
      </p:sp>
      <p:pic>
        <p:nvPicPr>
          <p:cNvPr id="20483" name="Picture 5">
            <a:extLst>
              <a:ext uri="{FF2B5EF4-FFF2-40B4-BE49-F238E27FC236}">
                <a16:creationId xmlns:a16="http://schemas.microsoft.com/office/drawing/2014/main" id="{797BFB78-AC1F-662A-2F03-FCADEE7BC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288" y="1403350"/>
            <a:ext cx="5837237" cy="421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4" name="Rectangle 3">
            <a:extLst>
              <a:ext uri="{FF2B5EF4-FFF2-40B4-BE49-F238E27FC236}">
                <a16:creationId xmlns:a16="http://schemas.microsoft.com/office/drawing/2014/main" id="{F59AA275-FB4C-740E-DB5D-169CDE2E6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15013"/>
            <a:ext cx="9144000" cy="10429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ED9AD78-067D-0157-CDA0-18E23D11162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201613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/>
              <a:t>Examples of Exponential Averaging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CF995347-70A5-677C-13E0-C222BF29A2A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33413" y="1190625"/>
            <a:ext cx="7731125" cy="5054600"/>
          </a:xfrm>
        </p:spPr>
        <p:txBody>
          <a:bodyPr/>
          <a:lstStyle/>
          <a:p>
            <a:pPr eaLnBrk="1" hangingPunct="1"/>
            <a:r>
              <a:rPr lang="en-US" altLang="en-US">
                <a:sym typeface="Symbol" panose="05050102010706020507" pitchFamily="18" charset="2"/>
              </a:rPr>
              <a:t> =0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</a:t>
            </a:r>
            <a:r>
              <a:rPr lang="en-US" altLang="en-US" baseline="-25000">
                <a:sym typeface="Symbol" panose="05050102010706020507" pitchFamily="18" charset="2"/>
              </a:rPr>
              <a:t>n+1</a:t>
            </a:r>
            <a:r>
              <a:rPr lang="en-US" altLang="en-US">
                <a:sym typeface="Symbol" panose="05050102010706020507" pitchFamily="18" charset="2"/>
              </a:rPr>
              <a:t> = </a:t>
            </a:r>
            <a:r>
              <a:rPr lang="en-US" altLang="en-US" baseline="-25000">
                <a:sym typeface="Symbol" panose="05050102010706020507" pitchFamily="18" charset="2"/>
              </a:rPr>
              <a:t>n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Recent history does not count</a:t>
            </a:r>
          </a:p>
          <a:p>
            <a:pPr lvl="1" eaLnBrk="1" hangingPunct="1"/>
            <a:endParaRPr lang="en-US" altLang="en-US" sz="800">
              <a:sym typeface="Symbol" panose="05050102010706020507" pitchFamily="18" charset="2"/>
            </a:endParaRPr>
          </a:p>
          <a:p>
            <a:pPr eaLnBrk="1" hangingPunct="1"/>
            <a:r>
              <a:rPr lang="en-US" altLang="en-US">
                <a:sym typeface="Symbol" panose="05050102010706020507" pitchFamily="18" charset="2"/>
              </a:rPr>
              <a:t> =1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 </a:t>
            </a:r>
            <a:r>
              <a:rPr lang="en-US" altLang="en-US" baseline="-25000">
                <a:sym typeface="Symbol" panose="05050102010706020507" pitchFamily="18" charset="2"/>
              </a:rPr>
              <a:t>n+1</a:t>
            </a:r>
            <a:r>
              <a:rPr lang="en-US" altLang="en-US">
                <a:sym typeface="Symbol" panose="05050102010706020507" pitchFamily="18" charset="2"/>
              </a:rPr>
              <a:t> =  </a:t>
            </a:r>
            <a:r>
              <a:rPr lang="en-US" altLang="en-US" i="1">
                <a:sym typeface="Symbol" panose="05050102010706020507" pitchFamily="18" charset="2"/>
              </a:rPr>
              <a:t>t</a:t>
            </a:r>
            <a:r>
              <a:rPr lang="en-US" altLang="en-US" baseline="-25000">
                <a:sym typeface="Symbol" panose="05050102010706020507" pitchFamily="18" charset="2"/>
              </a:rPr>
              <a:t>n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Only the actual last CPU burst counts</a:t>
            </a:r>
          </a:p>
          <a:p>
            <a:pPr lvl="1" eaLnBrk="1" hangingPunct="1"/>
            <a:endParaRPr lang="en-US" altLang="en-US" sz="800">
              <a:sym typeface="Symbol" panose="05050102010706020507" pitchFamily="18" charset="2"/>
            </a:endParaRPr>
          </a:p>
          <a:p>
            <a:pPr eaLnBrk="1" hangingPunct="1"/>
            <a:r>
              <a:rPr lang="en-US" altLang="en-US">
                <a:sym typeface="Symbol" panose="05050102010706020507" pitchFamily="18" charset="2"/>
              </a:rPr>
              <a:t>If we expand the formula, we get:</a:t>
            </a:r>
          </a:p>
          <a:p>
            <a:pPr lvl="2" eaLnBrk="1" hangingPunct="1">
              <a:buFont typeface="Webdings" panose="05030102010509060703" pitchFamily="18" charset="2"/>
              <a:buNone/>
            </a:pPr>
            <a:r>
              <a:rPr lang="en-US" altLang="en-US">
                <a:sym typeface="Symbol" panose="05050102010706020507" pitchFamily="18" charset="2"/>
              </a:rPr>
              <a:t></a:t>
            </a:r>
            <a:r>
              <a:rPr lang="en-US" altLang="en-US" i="1" baseline="-25000">
                <a:sym typeface="Symbol" panose="05050102010706020507" pitchFamily="18" charset="2"/>
              </a:rPr>
              <a:t>n</a:t>
            </a:r>
            <a:r>
              <a:rPr lang="en-US" altLang="en-US" baseline="-25000">
                <a:sym typeface="Symbol" panose="05050102010706020507" pitchFamily="18" charset="2"/>
              </a:rPr>
              <a:t>+1</a:t>
            </a:r>
            <a:r>
              <a:rPr lang="en-US" altLang="en-US">
                <a:sym typeface="Symbol" panose="05050102010706020507" pitchFamily="18" charset="2"/>
              </a:rPr>
              <a:t> =  t</a:t>
            </a:r>
            <a:r>
              <a:rPr lang="en-US" altLang="en-US" i="1" baseline="-25000">
                <a:sym typeface="Symbol" panose="05050102010706020507" pitchFamily="18" charset="2"/>
              </a:rPr>
              <a:t>n</a:t>
            </a:r>
            <a:r>
              <a:rPr lang="en-US" altLang="en-US">
                <a:sym typeface="Symbol" panose="05050102010706020507" pitchFamily="18" charset="2"/>
              </a:rPr>
              <a:t>+(1</a:t>
            </a:r>
            <a:r>
              <a:rPr lang="en-US" altLang="en-US" i="1">
                <a:sym typeface="Symbol" panose="05050102010706020507" pitchFamily="18" charset="2"/>
              </a:rPr>
              <a:t> - </a:t>
            </a:r>
            <a:r>
              <a:rPr lang="en-US" altLang="en-US">
                <a:sym typeface="Symbol" panose="05050102010706020507" pitchFamily="18" charset="2"/>
              </a:rPr>
              <a:t></a:t>
            </a:r>
            <a:r>
              <a:rPr lang="en-US" altLang="en-US" i="1">
                <a:sym typeface="Symbol" panose="05050102010706020507" pitchFamily="18" charset="2"/>
              </a:rPr>
              <a:t>)</a:t>
            </a:r>
            <a:r>
              <a:rPr lang="en-US" altLang="en-US">
                <a:sym typeface="Symbol" panose="05050102010706020507" pitchFamily="18" charset="2"/>
              </a:rPr>
              <a:t> </a:t>
            </a:r>
            <a:r>
              <a:rPr lang="en-US" altLang="en-US" i="1">
                <a:sym typeface="Symbol" panose="05050102010706020507" pitchFamily="18" charset="2"/>
              </a:rPr>
              <a:t>t</a:t>
            </a:r>
            <a:r>
              <a:rPr lang="en-US" altLang="en-US" i="1" baseline="-25000">
                <a:sym typeface="Symbol" panose="05050102010706020507" pitchFamily="18" charset="2"/>
              </a:rPr>
              <a:t>n</a:t>
            </a:r>
            <a:r>
              <a:rPr lang="en-US" altLang="en-US" i="1">
                <a:sym typeface="Symbol" panose="05050102010706020507" pitchFamily="18" charset="2"/>
              </a:rPr>
              <a:t> </a:t>
            </a:r>
            <a:r>
              <a:rPr lang="en-US" altLang="en-US">
                <a:sym typeface="Symbol" panose="05050102010706020507" pitchFamily="18" charset="2"/>
              </a:rPr>
              <a:t>-1</a:t>
            </a:r>
            <a:r>
              <a:rPr lang="en-US" altLang="en-US" i="1">
                <a:sym typeface="Symbol" panose="05050102010706020507" pitchFamily="18" charset="2"/>
              </a:rPr>
              <a:t> </a:t>
            </a:r>
            <a:r>
              <a:rPr lang="en-US" altLang="en-US">
                <a:sym typeface="Symbol" panose="05050102010706020507" pitchFamily="18" charset="2"/>
              </a:rPr>
              <a:t>+ …</a:t>
            </a:r>
          </a:p>
          <a:p>
            <a:pPr lvl="2" eaLnBrk="1" hangingPunct="1">
              <a:buFont typeface="Webdings" panose="05030102010509060703" pitchFamily="18" charset="2"/>
              <a:buNone/>
            </a:pPr>
            <a:r>
              <a:rPr lang="en-US" altLang="en-US">
                <a:sym typeface="Symbol" panose="05050102010706020507" pitchFamily="18" charset="2"/>
              </a:rPr>
              <a:t>            </a:t>
            </a:r>
            <a:r>
              <a:rPr lang="en-US" altLang="en-US" i="1">
                <a:sym typeface="Symbol" panose="05050102010706020507" pitchFamily="18" charset="2"/>
              </a:rPr>
              <a:t>+(</a:t>
            </a:r>
            <a:r>
              <a:rPr lang="en-US" altLang="en-US">
                <a:sym typeface="Symbol" panose="05050102010706020507" pitchFamily="18" charset="2"/>
              </a:rPr>
              <a:t>1 -  </a:t>
            </a:r>
            <a:r>
              <a:rPr lang="en-US" altLang="en-US" i="1">
                <a:sym typeface="Symbol" panose="05050102010706020507" pitchFamily="18" charset="2"/>
              </a:rPr>
              <a:t>)</a:t>
            </a:r>
            <a:r>
              <a:rPr lang="en-US" altLang="en-US" i="1" baseline="30000">
                <a:sym typeface="Symbol" panose="05050102010706020507" pitchFamily="18" charset="2"/>
              </a:rPr>
              <a:t>j</a:t>
            </a:r>
            <a:r>
              <a:rPr lang="en-US" altLang="en-US" baseline="30000">
                <a:sym typeface="Symbol" panose="05050102010706020507" pitchFamily="18" charset="2"/>
              </a:rPr>
              <a:t> </a:t>
            </a:r>
            <a:r>
              <a:rPr lang="en-US" altLang="en-US">
                <a:sym typeface="Symbol" panose="05050102010706020507" pitchFamily="18" charset="2"/>
              </a:rPr>
              <a:t> </a:t>
            </a:r>
            <a:r>
              <a:rPr lang="en-US" altLang="en-US" i="1">
                <a:sym typeface="Symbol" panose="05050102010706020507" pitchFamily="18" charset="2"/>
              </a:rPr>
              <a:t>t</a:t>
            </a:r>
            <a:r>
              <a:rPr lang="en-US" altLang="en-US" i="1" baseline="-25000">
                <a:sym typeface="Symbol" panose="05050102010706020507" pitchFamily="18" charset="2"/>
              </a:rPr>
              <a:t>n</a:t>
            </a:r>
            <a:r>
              <a:rPr lang="en-US" altLang="en-US">
                <a:sym typeface="Symbol" panose="05050102010706020507" pitchFamily="18" charset="2"/>
              </a:rPr>
              <a:t> </a:t>
            </a:r>
            <a:r>
              <a:rPr lang="en-US" altLang="en-US" baseline="-25000">
                <a:sym typeface="Symbol" panose="05050102010706020507" pitchFamily="18" charset="2"/>
              </a:rPr>
              <a:t>-</a:t>
            </a:r>
            <a:r>
              <a:rPr lang="en-US" altLang="en-US" i="1" baseline="-25000">
                <a:sym typeface="Symbol" panose="05050102010706020507" pitchFamily="18" charset="2"/>
              </a:rPr>
              <a:t>j</a:t>
            </a:r>
            <a:r>
              <a:rPr lang="en-US" altLang="en-US" i="1">
                <a:sym typeface="Symbol" panose="05050102010706020507" pitchFamily="18" charset="2"/>
              </a:rPr>
              <a:t> </a:t>
            </a:r>
            <a:r>
              <a:rPr lang="en-US" altLang="en-US">
                <a:sym typeface="Symbol" panose="05050102010706020507" pitchFamily="18" charset="2"/>
              </a:rPr>
              <a:t>+ …</a:t>
            </a:r>
          </a:p>
          <a:p>
            <a:pPr lvl="2" eaLnBrk="1" hangingPunct="1">
              <a:buFont typeface="Webdings" panose="05030102010509060703" pitchFamily="18" charset="2"/>
              <a:buNone/>
            </a:pPr>
            <a:r>
              <a:rPr lang="en-US" altLang="en-US">
                <a:sym typeface="Symbol" panose="05050102010706020507" pitchFamily="18" charset="2"/>
              </a:rPr>
              <a:t>            </a:t>
            </a:r>
            <a:r>
              <a:rPr lang="en-US" altLang="en-US" i="1">
                <a:sym typeface="Symbol" panose="05050102010706020507" pitchFamily="18" charset="2"/>
              </a:rPr>
              <a:t>+(</a:t>
            </a:r>
            <a:r>
              <a:rPr lang="en-US" altLang="en-US">
                <a:sym typeface="Symbol" panose="05050102010706020507" pitchFamily="18" charset="2"/>
              </a:rPr>
              <a:t>1 -  </a:t>
            </a:r>
            <a:r>
              <a:rPr lang="en-US" altLang="en-US" i="1">
                <a:sym typeface="Symbol" panose="05050102010706020507" pitchFamily="18" charset="2"/>
              </a:rPr>
              <a:t>)</a:t>
            </a:r>
            <a:r>
              <a:rPr lang="en-US" altLang="en-US" i="1" baseline="30000">
                <a:sym typeface="Symbol" panose="05050102010706020507" pitchFamily="18" charset="2"/>
              </a:rPr>
              <a:t>n</a:t>
            </a:r>
            <a:r>
              <a:rPr lang="en-US" altLang="en-US" baseline="30000">
                <a:sym typeface="Symbol" panose="05050102010706020507" pitchFamily="18" charset="2"/>
              </a:rPr>
              <a:t> +1 </a:t>
            </a:r>
            <a:r>
              <a:rPr lang="en-US" altLang="en-US">
                <a:sym typeface="Symbol" panose="05050102010706020507" pitchFamily="18" charset="2"/>
              </a:rPr>
              <a:t></a:t>
            </a:r>
            <a:r>
              <a:rPr lang="en-US" altLang="en-US" baseline="-25000">
                <a:sym typeface="Symbol" panose="05050102010706020507" pitchFamily="18" charset="2"/>
              </a:rPr>
              <a:t>0</a:t>
            </a:r>
            <a:br>
              <a:rPr lang="en-US" altLang="en-US" baseline="-25000">
                <a:sym typeface="Symbol" panose="05050102010706020507" pitchFamily="18" charset="2"/>
              </a:rPr>
            </a:br>
            <a:endParaRPr lang="en-US" altLang="en-US" baseline="-25000">
              <a:sym typeface="Symbol" panose="05050102010706020507" pitchFamily="18" charset="2"/>
            </a:endParaRPr>
          </a:p>
          <a:p>
            <a:pPr eaLnBrk="1" hangingPunct="1"/>
            <a:r>
              <a:rPr lang="en-US" altLang="en-US">
                <a:sym typeface="Symbol" panose="05050102010706020507" pitchFamily="18" charset="2"/>
              </a:rPr>
              <a:t>Since both  and (1 - ) are less than or equal to 1, each successive term has less weight than its predecessor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47543537-47EE-0C66-3810-F8EF7C66D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989638"/>
            <a:ext cx="9144000" cy="8683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760F3E78-2DBE-6566-33D2-25F7D7690E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452437"/>
          </a:xfrm>
        </p:spPr>
        <p:txBody>
          <a:bodyPr/>
          <a:lstStyle/>
          <a:p>
            <a:pPr eaLnBrk="1" hangingPunct="1"/>
            <a:r>
              <a:rPr lang="en-US" altLang="en-US"/>
              <a:t>Example of Preemptive SJF or SRTF</a:t>
            </a:r>
          </a:p>
        </p:txBody>
      </p:sp>
      <p:sp>
        <p:nvSpPr>
          <p:cNvPr id="22531" name="Rectangle 36">
            <a:extLst>
              <a:ext uri="{FF2B5EF4-FFF2-40B4-BE49-F238E27FC236}">
                <a16:creationId xmlns:a16="http://schemas.microsoft.com/office/drawing/2014/main" id="{78420874-4625-8035-140F-7FE3851285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863600"/>
            <a:ext cx="8229600" cy="52673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/>
              <a:t>		</a:t>
            </a:r>
            <a:r>
              <a:rPr lang="en-US" altLang="en-US" sz="2600" u="sng"/>
              <a:t>Process	Arrival Time</a:t>
            </a:r>
            <a:r>
              <a:rPr lang="en-US" altLang="en-US" sz="2600"/>
              <a:t>	</a:t>
            </a:r>
            <a:r>
              <a:rPr lang="en-US" altLang="en-US" sz="2600" u="sng"/>
              <a:t>Burst Time</a:t>
            </a:r>
            <a:endParaRPr lang="en-US" altLang="en-US" sz="2600"/>
          </a:p>
          <a:p>
            <a:pPr eaLnBrk="1" hangingPunct="1">
              <a:buFont typeface="Wingdings" panose="05000000000000000000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 sz="2600"/>
              <a:t>		</a:t>
            </a:r>
            <a:r>
              <a:rPr lang="en-US" altLang="en-US" sz="2600" i="1"/>
              <a:t>P</a:t>
            </a:r>
            <a:r>
              <a:rPr lang="en-US" altLang="en-US" sz="2600" i="1" baseline="-25000"/>
              <a:t>1</a:t>
            </a:r>
            <a:r>
              <a:rPr lang="en-US" altLang="en-US" sz="2600"/>
              <a:t>	0.0	7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 sz="2600"/>
              <a:t>		 </a:t>
            </a:r>
            <a:r>
              <a:rPr lang="en-US" altLang="en-US" sz="2600" i="1"/>
              <a:t>P</a:t>
            </a:r>
            <a:r>
              <a:rPr lang="en-US" altLang="en-US" sz="2600" i="1" baseline="-25000"/>
              <a:t>2	</a:t>
            </a:r>
            <a:r>
              <a:rPr lang="en-US" altLang="en-US" sz="2600"/>
              <a:t>2.0	4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 sz="2600"/>
              <a:t>		 </a:t>
            </a:r>
            <a:r>
              <a:rPr lang="en-US" altLang="en-US" sz="2600" i="1"/>
              <a:t>P</a:t>
            </a:r>
            <a:r>
              <a:rPr lang="en-US" altLang="en-US" sz="2600" i="1" baseline="-25000"/>
              <a:t>3</a:t>
            </a:r>
            <a:r>
              <a:rPr lang="en-US" altLang="en-US" sz="2600"/>
              <a:t>	4.0	1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 sz="2600"/>
              <a:t>		 </a:t>
            </a:r>
            <a:r>
              <a:rPr lang="en-US" altLang="en-US" sz="2600" i="1"/>
              <a:t>P</a:t>
            </a:r>
            <a:r>
              <a:rPr lang="en-US" altLang="en-US" sz="2600" i="1" baseline="-25000"/>
              <a:t>4</a:t>
            </a:r>
            <a:r>
              <a:rPr lang="en-US" altLang="en-US" sz="2600"/>
              <a:t>	5.0	4</a:t>
            </a:r>
          </a:p>
          <a:p>
            <a:pPr eaLnBrk="1" hangingPunct="1"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 sz="2600"/>
              <a:t>SJF (preemptive)</a:t>
            </a:r>
          </a:p>
          <a:p>
            <a:pPr eaLnBrk="1" hangingPunct="1">
              <a:tabLst>
                <a:tab pos="1603375" algn="ctr"/>
                <a:tab pos="3254375" algn="ctr"/>
                <a:tab pos="5143500" algn="ctr"/>
              </a:tabLst>
            </a:pPr>
            <a:endParaRPr lang="en-US" altLang="en-US" sz="2600"/>
          </a:p>
          <a:p>
            <a:pPr eaLnBrk="1" hangingPunct="1">
              <a:tabLst>
                <a:tab pos="1603375" algn="ctr"/>
                <a:tab pos="3254375" algn="ctr"/>
                <a:tab pos="5143500" algn="ctr"/>
              </a:tabLst>
            </a:pPr>
            <a:endParaRPr lang="en-US" altLang="en-US"/>
          </a:p>
          <a:p>
            <a:pPr eaLnBrk="1" hangingPunct="1">
              <a:tabLst>
                <a:tab pos="1603375" algn="ctr"/>
                <a:tab pos="3254375" algn="ctr"/>
                <a:tab pos="5143500" algn="ctr"/>
              </a:tabLst>
            </a:pPr>
            <a:endParaRPr lang="en-US" altLang="en-US"/>
          </a:p>
          <a:p>
            <a:pPr eaLnBrk="1" hangingPunct="1">
              <a:tabLst>
                <a:tab pos="1603375" algn="ctr"/>
                <a:tab pos="3254375" algn="ctr"/>
                <a:tab pos="5143500" algn="ctr"/>
              </a:tabLst>
            </a:pPr>
            <a:endParaRPr lang="en-US" altLang="en-US"/>
          </a:p>
          <a:p>
            <a:pPr eaLnBrk="1" hangingPunct="1"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/>
              <a:t>Average waiting time = (9 + 1 + 0 +2)/4 - 3</a:t>
            </a:r>
            <a:endParaRPr lang="en-US" altLang="en-US" i="1" baseline="-25000"/>
          </a:p>
        </p:txBody>
      </p:sp>
      <p:sp>
        <p:nvSpPr>
          <p:cNvPr id="22532" name="Rectangle 37">
            <a:extLst>
              <a:ext uri="{FF2B5EF4-FFF2-40B4-BE49-F238E27FC236}">
                <a16:creationId xmlns:a16="http://schemas.microsoft.com/office/drawing/2014/main" id="{F2BFE19A-B95C-A5E5-78AE-33429CAE28C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524000" y="4357688"/>
            <a:ext cx="55626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2533" name="Text Box 38">
            <a:extLst>
              <a:ext uri="{FF2B5EF4-FFF2-40B4-BE49-F238E27FC236}">
                <a16:creationId xmlns:a16="http://schemas.microsoft.com/office/drawing/2014/main" id="{892D8CD1-39D1-30B9-4FB3-87032EE72380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600200" y="4419600"/>
            <a:ext cx="420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P</a:t>
            </a:r>
            <a:r>
              <a:rPr lang="en-US" altLang="en-US" baseline="-25000">
                <a:latin typeface="Helvetica" panose="020B0604020202020204" pitchFamily="34" charset="0"/>
              </a:rPr>
              <a:t>1</a:t>
            </a:r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2534" name="Text Box 39">
            <a:extLst>
              <a:ext uri="{FF2B5EF4-FFF2-40B4-BE49-F238E27FC236}">
                <a16:creationId xmlns:a16="http://schemas.microsoft.com/office/drawing/2014/main" id="{415E80B3-83B1-92BA-AA2E-DB022D19547C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895600" y="4419600"/>
            <a:ext cx="420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P</a:t>
            </a:r>
            <a:r>
              <a:rPr lang="en-US" altLang="en-US" baseline="-25000">
                <a:latin typeface="Helvetica" panose="020B0604020202020204" pitchFamily="34" charset="0"/>
              </a:rPr>
              <a:t>3</a:t>
            </a:r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2535" name="Text Box 40">
            <a:extLst>
              <a:ext uri="{FF2B5EF4-FFF2-40B4-BE49-F238E27FC236}">
                <a16:creationId xmlns:a16="http://schemas.microsoft.com/office/drawing/2014/main" id="{37345BD5-6E0C-C188-E6DF-C8D14C829E95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362200" y="4419600"/>
            <a:ext cx="420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P</a:t>
            </a:r>
            <a:r>
              <a:rPr lang="en-US" altLang="en-US" baseline="-25000">
                <a:latin typeface="Helvetica" panose="020B0604020202020204" pitchFamily="34" charset="0"/>
              </a:rPr>
              <a:t>2</a:t>
            </a:r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2536" name="Line 41">
            <a:extLst>
              <a:ext uri="{FF2B5EF4-FFF2-40B4-BE49-F238E27FC236}">
                <a16:creationId xmlns:a16="http://schemas.microsoft.com/office/drawing/2014/main" id="{F72ACA08-BE3B-BD36-9761-7E441BE35F7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67550" y="4953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2537" name="Line 42">
            <a:extLst>
              <a:ext uri="{FF2B5EF4-FFF2-40B4-BE49-F238E27FC236}">
                <a16:creationId xmlns:a16="http://schemas.microsoft.com/office/drawing/2014/main" id="{0E0643E0-CB97-2653-E4DC-4C3FF91017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4967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2538" name="Line 43">
            <a:extLst>
              <a:ext uri="{FF2B5EF4-FFF2-40B4-BE49-F238E27FC236}">
                <a16:creationId xmlns:a16="http://schemas.microsoft.com/office/drawing/2014/main" id="{219C223B-FA9E-22E8-01E4-E4534D322C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67200" y="435768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2539" name="Line 44">
            <a:extLst>
              <a:ext uri="{FF2B5EF4-FFF2-40B4-BE49-F238E27FC236}">
                <a16:creationId xmlns:a16="http://schemas.microsoft.com/office/drawing/2014/main" id="{B3B8D467-09A6-D2E9-4C03-4584992489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43434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2540" name="Line 45">
            <a:extLst>
              <a:ext uri="{FF2B5EF4-FFF2-40B4-BE49-F238E27FC236}">
                <a16:creationId xmlns:a16="http://schemas.microsoft.com/office/drawing/2014/main" id="{E252F780-79A2-BD84-4108-39D6B95103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10000" y="4967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2541" name="Text Box 47">
            <a:extLst>
              <a:ext uri="{FF2B5EF4-FFF2-40B4-BE49-F238E27FC236}">
                <a16:creationId xmlns:a16="http://schemas.microsoft.com/office/drawing/2014/main" id="{9CDA8B84-CEA6-DE66-C3AC-94F810B655A9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743200" y="51816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4</a:t>
            </a:r>
          </a:p>
        </p:txBody>
      </p:sp>
      <p:sp>
        <p:nvSpPr>
          <p:cNvPr id="22542" name="Text Box 48">
            <a:extLst>
              <a:ext uri="{FF2B5EF4-FFF2-40B4-BE49-F238E27FC236}">
                <a16:creationId xmlns:a16="http://schemas.microsoft.com/office/drawing/2014/main" id="{C88EC4F3-3C1F-7FB4-3D4D-4D205681FFF7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981200" y="51816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2</a:t>
            </a:r>
          </a:p>
        </p:txBody>
      </p:sp>
      <p:sp>
        <p:nvSpPr>
          <p:cNvPr id="22543" name="Text Box 49">
            <a:extLst>
              <a:ext uri="{FF2B5EF4-FFF2-40B4-BE49-F238E27FC236}">
                <a16:creationId xmlns:a16="http://schemas.microsoft.com/office/drawing/2014/main" id="{69C905FF-9B89-2662-E2D8-D8AF6F4B408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5257800" y="51054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11</a:t>
            </a:r>
          </a:p>
        </p:txBody>
      </p:sp>
      <p:sp>
        <p:nvSpPr>
          <p:cNvPr id="22544" name="Text Box 50">
            <a:extLst>
              <a:ext uri="{FF2B5EF4-FFF2-40B4-BE49-F238E27FC236}">
                <a16:creationId xmlns:a16="http://schemas.microsoft.com/office/drawing/2014/main" id="{74D85A21-AA8F-0507-EEE5-FD4A1B140F41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371600" y="51196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0</a:t>
            </a:r>
          </a:p>
        </p:txBody>
      </p:sp>
      <p:sp>
        <p:nvSpPr>
          <p:cNvPr id="22545" name="Text Box 51">
            <a:extLst>
              <a:ext uri="{FF2B5EF4-FFF2-40B4-BE49-F238E27FC236}">
                <a16:creationId xmlns:a16="http://schemas.microsoft.com/office/drawing/2014/main" id="{F7A46B29-531C-59FC-9467-B5E29D85BD96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724400" y="4419600"/>
            <a:ext cx="420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P</a:t>
            </a:r>
            <a:r>
              <a:rPr lang="en-US" altLang="en-US" baseline="-25000">
                <a:latin typeface="Helvetica" panose="020B0604020202020204" pitchFamily="34" charset="0"/>
              </a:rPr>
              <a:t>4</a:t>
            </a:r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2546" name="Line 52">
            <a:extLst>
              <a:ext uri="{FF2B5EF4-FFF2-40B4-BE49-F238E27FC236}">
                <a16:creationId xmlns:a16="http://schemas.microsoft.com/office/drawing/2014/main" id="{FB7E563E-6992-CD68-4C5A-B3B3D5A793E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86400" y="435768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2547" name="Line 53">
            <a:extLst>
              <a:ext uri="{FF2B5EF4-FFF2-40B4-BE49-F238E27FC236}">
                <a16:creationId xmlns:a16="http://schemas.microsoft.com/office/drawing/2014/main" id="{87A011F7-71A1-F9F6-F4C0-82C6920D01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288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2548" name="Line 54">
            <a:extLst>
              <a:ext uri="{FF2B5EF4-FFF2-40B4-BE49-F238E27FC236}">
                <a16:creationId xmlns:a16="http://schemas.microsoft.com/office/drawing/2014/main" id="{82C5A757-03E7-4489-C810-AB9521DE06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08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2549" name="Line 58">
            <a:extLst>
              <a:ext uri="{FF2B5EF4-FFF2-40B4-BE49-F238E27FC236}">
                <a16:creationId xmlns:a16="http://schemas.microsoft.com/office/drawing/2014/main" id="{27A182EC-FF95-7D61-A4A8-FA7391228E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67200" y="4967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2550" name="Text Box 59">
            <a:extLst>
              <a:ext uri="{FF2B5EF4-FFF2-40B4-BE49-F238E27FC236}">
                <a16:creationId xmlns:a16="http://schemas.microsoft.com/office/drawing/2014/main" id="{3E8315FD-371D-49DE-8DBC-AFF6A9C0D2FC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3276600" y="51816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5</a:t>
            </a:r>
          </a:p>
        </p:txBody>
      </p:sp>
      <p:sp>
        <p:nvSpPr>
          <p:cNvPr id="22551" name="Line 60">
            <a:extLst>
              <a:ext uri="{FF2B5EF4-FFF2-40B4-BE49-F238E27FC236}">
                <a16:creationId xmlns:a16="http://schemas.microsoft.com/office/drawing/2014/main" id="{27BFED4E-315C-FC53-6A8A-FB02F0D98B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82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2552" name="Line 61">
            <a:extLst>
              <a:ext uri="{FF2B5EF4-FFF2-40B4-BE49-F238E27FC236}">
                <a16:creationId xmlns:a16="http://schemas.microsoft.com/office/drawing/2014/main" id="{CC14AE98-5D10-B456-F6F8-8C53916B4A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530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2553" name="Line 62">
            <a:extLst>
              <a:ext uri="{FF2B5EF4-FFF2-40B4-BE49-F238E27FC236}">
                <a16:creationId xmlns:a16="http://schemas.microsoft.com/office/drawing/2014/main" id="{9507FFE5-A1FB-BD37-2CC7-92C7C63E25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578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2554" name="Line 63">
            <a:extLst>
              <a:ext uri="{FF2B5EF4-FFF2-40B4-BE49-F238E27FC236}">
                <a16:creationId xmlns:a16="http://schemas.microsoft.com/office/drawing/2014/main" id="{792ACDE7-A121-312A-D2FC-A085DDB6F47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86400" y="4967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2555" name="Text Box 64">
            <a:extLst>
              <a:ext uri="{FF2B5EF4-FFF2-40B4-BE49-F238E27FC236}">
                <a16:creationId xmlns:a16="http://schemas.microsoft.com/office/drawing/2014/main" id="{1911BC40-D5B0-13A1-62C9-D36149387104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114800" y="51816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7</a:t>
            </a:r>
          </a:p>
        </p:txBody>
      </p:sp>
      <p:sp>
        <p:nvSpPr>
          <p:cNvPr id="22556" name="Line 65">
            <a:extLst>
              <a:ext uri="{FF2B5EF4-FFF2-40B4-BE49-F238E27FC236}">
                <a16:creationId xmlns:a16="http://schemas.microsoft.com/office/drawing/2014/main" id="{6F295D00-8072-7739-7648-03E24AC1CF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74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2557" name="Line 66">
            <a:extLst>
              <a:ext uri="{FF2B5EF4-FFF2-40B4-BE49-F238E27FC236}">
                <a16:creationId xmlns:a16="http://schemas.microsoft.com/office/drawing/2014/main" id="{93367141-1977-0E95-3275-9D2F648216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722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2558" name="Line 67">
            <a:extLst>
              <a:ext uri="{FF2B5EF4-FFF2-40B4-BE49-F238E27FC236}">
                <a16:creationId xmlns:a16="http://schemas.microsoft.com/office/drawing/2014/main" id="{B248089A-B21B-B9CE-BF80-9B5F4C9F56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2559" name="Line 68">
            <a:extLst>
              <a:ext uri="{FF2B5EF4-FFF2-40B4-BE49-F238E27FC236}">
                <a16:creationId xmlns:a16="http://schemas.microsoft.com/office/drawing/2014/main" id="{EC226A2C-6B69-374D-2D5B-4A377882DEC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95600" y="43434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2560" name="Line 69">
            <a:extLst>
              <a:ext uri="{FF2B5EF4-FFF2-40B4-BE49-F238E27FC236}">
                <a16:creationId xmlns:a16="http://schemas.microsoft.com/office/drawing/2014/main" id="{98688CBB-65E3-AB3B-8CAF-F439148B46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29000" y="43434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2561" name="Text Box 70">
            <a:extLst>
              <a:ext uri="{FF2B5EF4-FFF2-40B4-BE49-F238E27FC236}">
                <a16:creationId xmlns:a16="http://schemas.microsoft.com/office/drawing/2014/main" id="{B282CA42-9B70-FFC6-82BF-A5AF35F704E7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3581400" y="4419600"/>
            <a:ext cx="420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P</a:t>
            </a:r>
            <a:r>
              <a:rPr lang="en-US" altLang="en-US" baseline="-25000">
                <a:latin typeface="Helvetica" panose="020B0604020202020204" pitchFamily="34" charset="0"/>
              </a:rPr>
              <a:t>2</a:t>
            </a:r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2562" name="Text Box 71">
            <a:extLst>
              <a:ext uri="{FF2B5EF4-FFF2-40B4-BE49-F238E27FC236}">
                <a16:creationId xmlns:a16="http://schemas.microsoft.com/office/drawing/2014/main" id="{BA747E14-1C18-9C11-501E-ED35D973EB2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6096000" y="4419600"/>
            <a:ext cx="420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P</a:t>
            </a:r>
            <a:r>
              <a:rPr lang="en-US" altLang="en-US" baseline="-25000">
                <a:latin typeface="Helvetica" panose="020B0604020202020204" pitchFamily="34" charset="0"/>
              </a:rPr>
              <a:t>1</a:t>
            </a:r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2563" name="Line 72">
            <a:extLst>
              <a:ext uri="{FF2B5EF4-FFF2-40B4-BE49-F238E27FC236}">
                <a16:creationId xmlns:a16="http://schemas.microsoft.com/office/drawing/2014/main" id="{4BC70C37-46B2-6A7E-DF6A-53792B9ED0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818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2564" name="Text Box 73">
            <a:extLst>
              <a:ext uri="{FF2B5EF4-FFF2-40B4-BE49-F238E27FC236}">
                <a16:creationId xmlns:a16="http://schemas.microsoft.com/office/drawing/2014/main" id="{B8BD8709-4647-AA5A-FF58-5B1167602A09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6858000" y="51054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16</a:t>
            </a:r>
          </a:p>
        </p:txBody>
      </p:sp>
      <p:sp>
        <p:nvSpPr>
          <p:cNvPr id="22565" name="Rectangle 36">
            <a:extLst>
              <a:ext uri="{FF2B5EF4-FFF2-40B4-BE49-F238E27FC236}">
                <a16:creationId xmlns:a16="http://schemas.microsoft.com/office/drawing/2014/main" id="{17160AB7-E3E0-FBE0-B27B-F6BC8B383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72238"/>
            <a:ext cx="9144000" cy="3857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DA10C0C4-D36C-2582-38AE-AE0A63C060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452437"/>
          </a:xfrm>
        </p:spPr>
        <p:txBody>
          <a:bodyPr/>
          <a:lstStyle/>
          <a:p>
            <a:pPr eaLnBrk="1" hangingPunct="1"/>
            <a:r>
              <a:rPr lang="en-US" altLang="en-US"/>
              <a:t>Exercise Preemptive SJF or SRTF</a:t>
            </a:r>
          </a:p>
        </p:txBody>
      </p:sp>
      <p:sp>
        <p:nvSpPr>
          <p:cNvPr id="42020" name="Rectangle 36">
            <a:extLst>
              <a:ext uri="{FF2B5EF4-FFF2-40B4-BE49-F238E27FC236}">
                <a16:creationId xmlns:a16="http://schemas.microsoft.com/office/drawing/2014/main" id="{BCD70C13-C12F-17CF-852B-B8CD143DE6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863600"/>
            <a:ext cx="8229600" cy="52673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/>
              <a:t>		</a:t>
            </a:r>
            <a:r>
              <a:rPr lang="en-US" altLang="en-US" sz="2600" u="sng"/>
              <a:t>Process	Arrival Time</a:t>
            </a:r>
            <a:r>
              <a:rPr lang="en-US" altLang="en-US" sz="2600"/>
              <a:t>	</a:t>
            </a:r>
            <a:r>
              <a:rPr lang="en-US" altLang="en-US" sz="2600" u="sng"/>
              <a:t>Burst Time</a:t>
            </a:r>
            <a:endParaRPr lang="en-US" altLang="en-US" sz="2600"/>
          </a:p>
          <a:p>
            <a:pPr eaLnBrk="1" hangingPunct="1">
              <a:buFont typeface="Wingdings" panose="05000000000000000000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 sz="2600"/>
              <a:t>		</a:t>
            </a:r>
            <a:r>
              <a:rPr lang="en-US" altLang="en-US" sz="2600" i="1"/>
              <a:t>P</a:t>
            </a:r>
            <a:r>
              <a:rPr lang="en-US" altLang="en-US" sz="2600" i="1" baseline="-25000"/>
              <a:t>1</a:t>
            </a:r>
            <a:r>
              <a:rPr lang="en-US" altLang="en-US" sz="2600"/>
              <a:t>	1	4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 sz="2600"/>
              <a:t>		 </a:t>
            </a:r>
            <a:r>
              <a:rPr lang="en-US" altLang="en-US" sz="2600" i="1"/>
              <a:t>P</a:t>
            </a:r>
            <a:r>
              <a:rPr lang="en-US" altLang="en-US" sz="2600" i="1" baseline="-25000"/>
              <a:t>2	</a:t>
            </a:r>
            <a:r>
              <a:rPr lang="en-US" altLang="en-US" sz="2600"/>
              <a:t>2	4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 sz="2600"/>
              <a:t>		 </a:t>
            </a:r>
            <a:r>
              <a:rPr lang="en-US" altLang="en-US" sz="2600" i="1"/>
              <a:t>P</a:t>
            </a:r>
            <a:r>
              <a:rPr lang="en-US" altLang="en-US" sz="2600" i="1" baseline="-25000"/>
              <a:t>3</a:t>
            </a:r>
            <a:r>
              <a:rPr lang="en-US" altLang="en-US" sz="2600"/>
              <a:t>	3	5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 sz="2600"/>
              <a:t>		 </a:t>
            </a:r>
            <a:r>
              <a:rPr lang="en-US" altLang="en-US" sz="2600" i="1"/>
              <a:t>P</a:t>
            </a:r>
            <a:r>
              <a:rPr lang="en-US" altLang="en-US" sz="2600" i="1" baseline="-25000"/>
              <a:t>4</a:t>
            </a:r>
            <a:r>
              <a:rPr lang="en-US" altLang="en-US" sz="2600"/>
              <a:t>	4	8</a:t>
            </a:r>
          </a:p>
          <a:p>
            <a:pPr eaLnBrk="1" hangingPunct="1"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/>
              <a:t>Average waiting time = 4.75</a:t>
            </a:r>
          </a:p>
          <a:p>
            <a:pPr eaLnBrk="1" hangingPunct="1"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/>
              <a:t>Average Turnaround time = 10</a:t>
            </a:r>
          </a:p>
        </p:txBody>
      </p:sp>
      <p:sp>
        <p:nvSpPr>
          <p:cNvPr id="23556" name="Rectangle 37">
            <a:extLst>
              <a:ext uri="{FF2B5EF4-FFF2-40B4-BE49-F238E27FC236}">
                <a16:creationId xmlns:a16="http://schemas.microsoft.com/office/drawing/2014/main" id="{71A0432D-FE86-B6BA-88A7-8D93CD75DDB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524000" y="4357688"/>
            <a:ext cx="55626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3557" name="Text Box 38">
            <a:extLst>
              <a:ext uri="{FF2B5EF4-FFF2-40B4-BE49-F238E27FC236}">
                <a16:creationId xmlns:a16="http://schemas.microsoft.com/office/drawing/2014/main" id="{6517E592-78D1-EB09-68FD-60B8BD5A7AFE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600200" y="4419600"/>
            <a:ext cx="420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P</a:t>
            </a:r>
            <a:r>
              <a:rPr lang="en-US" altLang="en-US" baseline="-25000">
                <a:latin typeface="Helvetica" panose="020B0604020202020204" pitchFamily="34" charset="0"/>
              </a:rPr>
              <a:t>1</a:t>
            </a:r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3558" name="Text Box 39">
            <a:extLst>
              <a:ext uri="{FF2B5EF4-FFF2-40B4-BE49-F238E27FC236}">
                <a16:creationId xmlns:a16="http://schemas.microsoft.com/office/drawing/2014/main" id="{4A76ACBE-E478-A6E9-C035-EBBF9FAC8861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895600" y="4419600"/>
            <a:ext cx="420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P</a:t>
            </a:r>
            <a:r>
              <a:rPr lang="en-US" altLang="en-US" baseline="-25000">
                <a:latin typeface="Helvetica" panose="020B0604020202020204" pitchFamily="34" charset="0"/>
              </a:rPr>
              <a:t>3</a:t>
            </a:r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3559" name="Text Box 40">
            <a:extLst>
              <a:ext uri="{FF2B5EF4-FFF2-40B4-BE49-F238E27FC236}">
                <a16:creationId xmlns:a16="http://schemas.microsoft.com/office/drawing/2014/main" id="{0C3C1E93-FC3A-0861-698A-64BD10C06CE2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362200" y="4419600"/>
            <a:ext cx="420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P</a:t>
            </a:r>
            <a:r>
              <a:rPr lang="en-US" altLang="en-US" baseline="-25000">
                <a:latin typeface="Helvetica" panose="020B0604020202020204" pitchFamily="34" charset="0"/>
              </a:rPr>
              <a:t>2</a:t>
            </a:r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3560" name="Line 41">
            <a:extLst>
              <a:ext uri="{FF2B5EF4-FFF2-40B4-BE49-F238E27FC236}">
                <a16:creationId xmlns:a16="http://schemas.microsoft.com/office/drawing/2014/main" id="{5DA558CE-5A76-E713-BA3C-E48555095A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67550" y="4953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561" name="Line 42">
            <a:extLst>
              <a:ext uri="{FF2B5EF4-FFF2-40B4-BE49-F238E27FC236}">
                <a16:creationId xmlns:a16="http://schemas.microsoft.com/office/drawing/2014/main" id="{92FD4239-D3B7-FFB6-EBF8-046D0753948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4967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562" name="Line 43">
            <a:extLst>
              <a:ext uri="{FF2B5EF4-FFF2-40B4-BE49-F238E27FC236}">
                <a16:creationId xmlns:a16="http://schemas.microsoft.com/office/drawing/2014/main" id="{28FA0250-C185-FB1E-74B1-76F9A6A406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67200" y="435768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563" name="Line 44">
            <a:extLst>
              <a:ext uri="{FF2B5EF4-FFF2-40B4-BE49-F238E27FC236}">
                <a16:creationId xmlns:a16="http://schemas.microsoft.com/office/drawing/2014/main" id="{B5DE95CE-F8EC-EA52-28ED-D689AB5953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43434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564" name="Line 45">
            <a:extLst>
              <a:ext uri="{FF2B5EF4-FFF2-40B4-BE49-F238E27FC236}">
                <a16:creationId xmlns:a16="http://schemas.microsoft.com/office/drawing/2014/main" id="{17A49B62-2D4B-8DB4-5BC8-8E4C12DD08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10000" y="4967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565" name="Text Box 47">
            <a:extLst>
              <a:ext uri="{FF2B5EF4-FFF2-40B4-BE49-F238E27FC236}">
                <a16:creationId xmlns:a16="http://schemas.microsoft.com/office/drawing/2014/main" id="{7D775F87-0226-E6D4-4244-6EAEB93ADC9A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743200" y="51816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4</a:t>
            </a:r>
          </a:p>
        </p:txBody>
      </p:sp>
      <p:sp>
        <p:nvSpPr>
          <p:cNvPr id="23566" name="Text Box 48">
            <a:extLst>
              <a:ext uri="{FF2B5EF4-FFF2-40B4-BE49-F238E27FC236}">
                <a16:creationId xmlns:a16="http://schemas.microsoft.com/office/drawing/2014/main" id="{F77CB212-5F64-4B4B-F8C6-4DF11D5F736C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981200" y="51816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2</a:t>
            </a:r>
          </a:p>
        </p:txBody>
      </p:sp>
      <p:sp>
        <p:nvSpPr>
          <p:cNvPr id="23567" name="Text Box 49">
            <a:extLst>
              <a:ext uri="{FF2B5EF4-FFF2-40B4-BE49-F238E27FC236}">
                <a16:creationId xmlns:a16="http://schemas.microsoft.com/office/drawing/2014/main" id="{1E3E66B0-F677-01DF-E54D-F51AFBFB3A84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5257800" y="51054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11</a:t>
            </a:r>
          </a:p>
        </p:txBody>
      </p:sp>
      <p:sp>
        <p:nvSpPr>
          <p:cNvPr id="23568" name="Text Box 50">
            <a:extLst>
              <a:ext uri="{FF2B5EF4-FFF2-40B4-BE49-F238E27FC236}">
                <a16:creationId xmlns:a16="http://schemas.microsoft.com/office/drawing/2014/main" id="{463D720F-F28A-9537-DD6C-30B24A0B0D40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371600" y="51196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0</a:t>
            </a:r>
          </a:p>
        </p:txBody>
      </p:sp>
      <p:sp>
        <p:nvSpPr>
          <p:cNvPr id="23569" name="Text Box 51">
            <a:extLst>
              <a:ext uri="{FF2B5EF4-FFF2-40B4-BE49-F238E27FC236}">
                <a16:creationId xmlns:a16="http://schemas.microsoft.com/office/drawing/2014/main" id="{49A4FA5E-9E63-653E-8675-BA3CBF412E1E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724400" y="4419600"/>
            <a:ext cx="420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P</a:t>
            </a:r>
            <a:r>
              <a:rPr lang="en-US" altLang="en-US" baseline="-25000">
                <a:latin typeface="Helvetica" panose="020B0604020202020204" pitchFamily="34" charset="0"/>
              </a:rPr>
              <a:t>4</a:t>
            </a:r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3570" name="Line 52">
            <a:extLst>
              <a:ext uri="{FF2B5EF4-FFF2-40B4-BE49-F238E27FC236}">
                <a16:creationId xmlns:a16="http://schemas.microsoft.com/office/drawing/2014/main" id="{9EFFB9C5-DF56-E6A8-3E10-0EBF053581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86400" y="435768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571" name="Line 53">
            <a:extLst>
              <a:ext uri="{FF2B5EF4-FFF2-40B4-BE49-F238E27FC236}">
                <a16:creationId xmlns:a16="http://schemas.microsoft.com/office/drawing/2014/main" id="{8F90F417-8D80-195E-74F7-8E0B1082F7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288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572" name="Line 54">
            <a:extLst>
              <a:ext uri="{FF2B5EF4-FFF2-40B4-BE49-F238E27FC236}">
                <a16:creationId xmlns:a16="http://schemas.microsoft.com/office/drawing/2014/main" id="{FF83D005-69F4-3DF2-EAD1-4B1346ABDD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08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573" name="Line 58">
            <a:extLst>
              <a:ext uri="{FF2B5EF4-FFF2-40B4-BE49-F238E27FC236}">
                <a16:creationId xmlns:a16="http://schemas.microsoft.com/office/drawing/2014/main" id="{3EAC216C-084E-CA0A-249C-BF0A7D8433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67200" y="4967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574" name="Text Box 59">
            <a:extLst>
              <a:ext uri="{FF2B5EF4-FFF2-40B4-BE49-F238E27FC236}">
                <a16:creationId xmlns:a16="http://schemas.microsoft.com/office/drawing/2014/main" id="{A3155E59-4ACD-237B-6159-EFB35190D9B8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3276600" y="51816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5</a:t>
            </a:r>
          </a:p>
        </p:txBody>
      </p:sp>
      <p:sp>
        <p:nvSpPr>
          <p:cNvPr id="23575" name="Line 60">
            <a:extLst>
              <a:ext uri="{FF2B5EF4-FFF2-40B4-BE49-F238E27FC236}">
                <a16:creationId xmlns:a16="http://schemas.microsoft.com/office/drawing/2014/main" id="{982800DF-5F20-AAF0-6DF3-7FFC03A0AA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82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576" name="Line 61">
            <a:extLst>
              <a:ext uri="{FF2B5EF4-FFF2-40B4-BE49-F238E27FC236}">
                <a16:creationId xmlns:a16="http://schemas.microsoft.com/office/drawing/2014/main" id="{7C99C7DA-20CB-2164-24F9-3C8AF7D128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530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577" name="Line 62">
            <a:extLst>
              <a:ext uri="{FF2B5EF4-FFF2-40B4-BE49-F238E27FC236}">
                <a16:creationId xmlns:a16="http://schemas.microsoft.com/office/drawing/2014/main" id="{C3286F7E-7ACA-D0FC-B2A8-7D14255BB8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578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578" name="Line 63">
            <a:extLst>
              <a:ext uri="{FF2B5EF4-FFF2-40B4-BE49-F238E27FC236}">
                <a16:creationId xmlns:a16="http://schemas.microsoft.com/office/drawing/2014/main" id="{0A81725B-FD00-C4F9-6ABC-3404AF5B29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86400" y="4967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579" name="Text Box 64">
            <a:extLst>
              <a:ext uri="{FF2B5EF4-FFF2-40B4-BE49-F238E27FC236}">
                <a16:creationId xmlns:a16="http://schemas.microsoft.com/office/drawing/2014/main" id="{6BD3064A-3299-8CDB-225F-022C3A08A48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114800" y="51816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7</a:t>
            </a:r>
          </a:p>
        </p:txBody>
      </p:sp>
      <p:sp>
        <p:nvSpPr>
          <p:cNvPr id="23580" name="Line 65">
            <a:extLst>
              <a:ext uri="{FF2B5EF4-FFF2-40B4-BE49-F238E27FC236}">
                <a16:creationId xmlns:a16="http://schemas.microsoft.com/office/drawing/2014/main" id="{597153EA-2422-B3F0-AC04-0F63EAB497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74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581" name="Line 66">
            <a:extLst>
              <a:ext uri="{FF2B5EF4-FFF2-40B4-BE49-F238E27FC236}">
                <a16:creationId xmlns:a16="http://schemas.microsoft.com/office/drawing/2014/main" id="{4EB089FE-C012-270B-A7FB-3F2A3D4B20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722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582" name="Line 67">
            <a:extLst>
              <a:ext uri="{FF2B5EF4-FFF2-40B4-BE49-F238E27FC236}">
                <a16:creationId xmlns:a16="http://schemas.microsoft.com/office/drawing/2014/main" id="{E0348963-2540-53B0-D91A-895871B075F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583" name="Line 68">
            <a:extLst>
              <a:ext uri="{FF2B5EF4-FFF2-40B4-BE49-F238E27FC236}">
                <a16:creationId xmlns:a16="http://schemas.microsoft.com/office/drawing/2014/main" id="{6182D61C-2A66-FB12-3E3A-AF3DE41D0A8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95600" y="43434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584" name="Line 69">
            <a:extLst>
              <a:ext uri="{FF2B5EF4-FFF2-40B4-BE49-F238E27FC236}">
                <a16:creationId xmlns:a16="http://schemas.microsoft.com/office/drawing/2014/main" id="{E91609A1-BC75-A29E-4DC6-277C105EBB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29000" y="43434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585" name="Text Box 70">
            <a:extLst>
              <a:ext uri="{FF2B5EF4-FFF2-40B4-BE49-F238E27FC236}">
                <a16:creationId xmlns:a16="http://schemas.microsoft.com/office/drawing/2014/main" id="{087A34C0-CEC4-F23E-981D-6460E6780D08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3581400" y="4419600"/>
            <a:ext cx="420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P</a:t>
            </a:r>
            <a:r>
              <a:rPr lang="en-US" altLang="en-US" baseline="-25000">
                <a:latin typeface="Helvetica" panose="020B0604020202020204" pitchFamily="34" charset="0"/>
              </a:rPr>
              <a:t>2</a:t>
            </a:r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3586" name="Text Box 71">
            <a:extLst>
              <a:ext uri="{FF2B5EF4-FFF2-40B4-BE49-F238E27FC236}">
                <a16:creationId xmlns:a16="http://schemas.microsoft.com/office/drawing/2014/main" id="{7D499CA4-C2AF-3A8D-6491-65A946F58792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6096000" y="4419600"/>
            <a:ext cx="420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P</a:t>
            </a:r>
            <a:r>
              <a:rPr lang="en-US" altLang="en-US" baseline="-25000">
                <a:latin typeface="Helvetica" panose="020B0604020202020204" pitchFamily="34" charset="0"/>
              </a:rPr>
              <a:t>1</a:t>
            </a:r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3587" name="Line 72">
            <a:extLst>
              <a:ext uri="{FF2B5EF4-FFF2-40B4-BE49-F238E27FC236}">
                <a16:creationId xmlns:a16="http://schemas.microsoft.com/office/drawing/2014/main" id="{0F95DE40-85BB-A7DC-4C91-59363222B6C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818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588" name="Text Box 73">
            <a:extLst>
              <a:ext uri="{FF2B5EF4-FFF2-40B4-BE49-F238E27FC236}">
                <a16:creationId xmlns:a16="http://schemas.microsoft.com/office/drawing/2014/main" id="{C367F163-B1F7-B0CC-8973-1C2C9C9AA9D9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6858000" y="51054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16</a:t>
            </a:r>
          </a:p>
        </p:txBody>
      </p:sp>
      <p:sp>
        <p:nvSpPr>
          <p:cNvPr id="23589" name="Rectangle 38">
            <a:extLst>
              <a:ext uri="{FF2B5EF4-FFF2-40B4-BE49-F238E27FC236}">
                <a16:creationId xmlns:a16="http://schemas.microsoft.com/office/drawing/2014/main" id="{A5D24DF8-FCB3-8933-54A1-644D1DA69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200" y="4264025"/>
            <a:ext cx="5978525" cy="137636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3590" name="Rectangle 39">
            <a:extLst>
              <a:ext uri="{FF2B5EF4-FFF2-40B4-BE49-F238E27FC236}">
                <a16:creationId xmlns:a16="http://schemas.microsoft.com/office/drawing/2014/main" id="{2E38DB7B-2299-C4CE-3BDE-CE7380DBF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15013"/>
            <a:ext cx="9144000" cy="10429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0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20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E328818F-B2F9-ECAC-95D9-324057DAD8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452437"/>
          </a:xfrm>
        </p:spPr>
        <p:txBody>
          <a:bodyPr/>
          <a:lstStyle/>
          <a:p>
            <a:pPr eaLnBrk="1" hangingPunct="1"/>
            <a:r>
              <a:rPr lang="en-US" altLang="en-US"/>
              <a:t>Exercise Preemptive SJF or SRTF</a:t>
            </a:r>
          </a:p>
        </p:txBody>
      </p:sp>
      <p:sp>
        <p:nvSpPr>
          <p:cNvPr id="24579" name="Rectangle 36">
            <a:extLst>
              <a:ext uri="{FF2B5EF4-FFF2-40B4-BE49-F238E27FC236}">
                <a16:creationId xmlns:a16="http://schemas.microsoft.com/office/drawing/2014/main" id="{3A5E4EB9-839D-B03C-CA47-E586FD28A7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863600"/>
            <a:ext cx="8229600" cy="52673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/>
              <a:t>		</a:t>
            </a:r>
            <a:r>
              <a:rPr lang="en-US" altLang="en-US" sz="2600" u="sng"/>
              <a:t>Process	Arrival Time</a:t>
            </a:r>
            <a:r>
              <a:rPr lang="en-US" altLang="en-US" sz="2600"/>
              <a:t>	</a:t>
            </a:r>
            <a:r>
              <a:rPr lang="en-US" altLang="en-US" sz="2600" u="sng"/>
              <a:t>Burst Time</a:t>
            </a:r>
            <a:endParaRPr lang="en-US" altLang="en-US" sz="2600"/>
          </a:p>
          <a:p>
            <a:pPr eaLnBrk="1" hangingPunct="1">
              <a:buFont typeface="Wingdings" panose="05000000000000000000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 sz="2600"/>
              <a:t>		</a:t>
            </a:r>
            <a:r>
              <a:rPr lang="en-US" altLang="en-US" sz="2600" i="1"/>
              <a:t>P</a:t>
            </a:r>
            <a:r>
              <a:rPr lang="en-US" altLang="en-US" sz="2600" i="1" baseline="-25000"/>
              <a:t>1</a:t>
            </a:r>
            <a:r>
              <a:rPr lang="en-US" altLang="en-US" sz="2600"/>
              <a:t>	0	8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 sz="2600"/>
              <a:t>		 </a:t>
            </a:r>
            <a:r>
              <a:rPr lang="en-US" altLang="en-US" sz="2600" i="1"/>
              <a:t>P</a:t>
            </a:r>
            <a:r>
              <a:rPr lang="en-US" altLang="en-US" sz="2600" i="1" baseline="-25000"/>
              <a:t>2	</a:t>
            </a:r>
            <a:r>
              <a:rPr lang="en-US" altLang="en-US" sz="2600"/>
              <a:t>1	4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 sz="2600"/>
              <a:t>		 </a:t>
            </a:r>
            <a:r>
              <a:rPr lang="en-US" altLang="en-US" sz="2600" i="1"/>
              <a:t>P</a:t>
            </a:r>
            <a:r>
              <a:rPr lang="en-US" altLang="en-US" sz="2600" i="1" baseline="-25000"/>
              <a:t>3</a:t>
            </a:r>
            <a:r>
              <a:rPr lang="en-US" altLang="en-US" sz="2600"/>
              <a:t>	2	8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 sz="2600"/>
              <a:t>		 </a:t>
            </a:r>
            <a:r>
              <a:rPr lang="en-US" altLang="en-US" sz="2600" i="1"/>
              <a:t>P</a:t>
            </a:r>
            <a:r>
              <a:rPr lang="en-US" altLang="en-US" sz="2600" i="1" baseline="-25000"/>
              <a:t>4</a:t>
            </a:r>
            <a:r>
              <a:rPr lang="en-US" altLang="en-US" sz="2600"/>
              <a:t>	3	5</a:t>
            </a:r>
            <a:endParaRPr lang="en-US" altLang="en-US" sz="2000"/>
          </a:p>
          <a:p>
            <a:pPr eaLnBrk="1" hangingPunct="1">
              <a:buFont typeface="Wingdings" panose="05000000000000000000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fr-FR" altLang="en-US" sz="2000"/>
              <a:t>Avg wt= ((10 - 1) + (1 - 1) + (17 </a:t>
            </a:r>
            <a:r>
              <a:rPr lang="fr-FR" altLang="en-US" sz="2000" i="1"/>
              <a:t>- 2) + (5 - 3))/4 = 26/4 = 6.5 ms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fr-FR" altLang="en-US" sz="2000" i="1"/>
              <a:t>Non preemptive = 7.75ms</a:t>
            </a:r>
            <a:endParaRPr lang="en-US" altLang="en-US" sz="2000"/>
          </a:p>
        </p:txBody>
      </p:sp>
      <p:sp>
        <p:nvSpPr>
          <p:cNvPr id="24580" name="Rectangle 37">
            <a:extLst>
              <a:ext uri="{FF2B5EF4-FFF2-40B4-BE49-F238E27FC236}">
                <a16:creationId xmlns:a16="http://schemas.microsoft.com/office/drawing/2014/main" id="{B17986AC-8383-8C90-04E7-3DEF43D0465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524000" y="4357688"/>
            <a:ext cx="55626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4581" name="Text Box 38">
            <a:extLst>
              <a:ext uri="{FF2B5EF4-FFF2-40B4-BE49-F238E27FC236}">
                <a16:creationId xmlns:a16="http://schemas.microsoft.com/office/drawing/2014/main" id="{F4D33A78-C0E9-F1DC-7A99-C655FA3A57C8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600200" y="4419600"/>
            <a:ext cx="420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P</a:t>
            </a:r>
            <a:r>
              <a:rPr lang="en-US" altLang="en-US" baseline="-25000">
                <a:latin typeface="Helvetica" panose="020B0604020202020204" pitchFamily="34" charset="0"/>
              </a:rPr>
              <a:t>1</a:t>
            </a:r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4582" name="Text Box 39">
            <a:extLst>
              <a:ext uri="{FF2B5EF4-FFF2-40B4-BE49-F238E27FC236}">
                <a16:creationId xmlns:a16="http://schemas.microsoft.com/office/drawing/2014/main" id="{C755C765-7C4A-968B-1C6C-F6623B29B5A4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895600" y="4419600"/>
            <a:ext cx="420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P</a:t>
            </a:r>
            <a:r>
              <a:rPr lang="en-US" altLang="en-US" baseline="-25000">
                <a:latin typeface="Helvetica" panose="020B0604020202020204" pitchFamily="34" charset="0"/>
              </a:rPr>
              <a:t>3</a:t>
            </a:r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4583" name="Text Box 40">
            <a:extLst>
              <a:ext uri="{FF2B5EF4-FFF2-40B4-BE49-F238E27FC236}">
                <a16:creationId xmlns:a16="http://schemas.microsoft.com/office/drawing/2014/main" id="{ABD7157C-B02F-00E8-64B9-052133C7BAD3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362200" y="4419600"/>
            <a:ext cx="420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P</a:t>
            </a:r>
            <a:r>
              <a:rPr lang="en-US" altLang="en-US" baseline="-25000">
                <a:latin typeface="Helvetica" panose="020B0604020202020204" pitchFamily="34" charset="0"/>
              </a:rPr>
              <a:t>2</a:t>
            </a:r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4584" name="Line 41">
            <a:extLst>
              <a:ext uri="{FF2B5EF4-FFF2-40B4-BE49-F238E27FC236}">
                <a16:creationId xmlns:a16="http://schemas.microsoft.com/office/drawing/2014/main" id="{45B7C129-C177-22D9-DDEA-49D36950B7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67550" y="4953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585" name="Line 42">
            <a:extLst>
              <a:ext uri="{FF2B5EF4-FFF2-40B4-BE49-F238E27FC236}">
                <a16:creationId xmlns:a16="http://schemas.microsoft.com/office/drawing/2014/main" id="{DCC3A5FC-5052-CAB5-E2B1-5E1320F768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4967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586" name="Line 43">
            <a:extLst>
              <a:ext uri="{FF2B5EF4-FFF2-40B4-BE49-F238E27FC236}">
                <a16:creationId xmlns:a16="http://schemas.microsoft.com/office/drawing/2014/main" id="{57185C9B-BE69-4A5A-8F93-2D00B88F0A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67200" y="435768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587" name="Line 44">
            <a:extLst>
              <a:ext uri="{FF2B5EF4-FFF2-40B4-BE49-F238E27FC236}">
                <a16:creationId xmlns:a16="http://schemas.microsoft.com/office/drawing/2014/main" id="{668F42F2-ED0D-E111-BB8D-3FDFCC5C64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43434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588" name="Line 45">
            <a:extLst>
              <a:ext uri="{FF2B5EF4-FFF2-40B4-BE49-F238E27FC236}">
                <a16:creationId xmlns:a16="http://schemas.microsoft.com/office/drawing/2014/main" id="{7532424F-4429-9524-B236-75A5C492074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10000" y="4967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589" name="Text Box 47">
            <a:extLst>
              <a:ext uri="{FF2B5EF4-FFF2-40B4-BE49-F238E27FC236}">
                <a16:creationId xmlns:a16="http://schemas.microsoft.com/office/drawing/2014/main" id="{BB715003-CB0B-3DA3-53D5-56B3400CB997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743200" y="51816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4</a:t>
            </a:r>
          </a:p>
        </p:txBody>
      </p:sp>
      <p:sp>
        <p:nvSpPr>
          <p:cNvPr id="24590" name="Text Box 48">
            <a:extLst>
              <a:ext uri="{FF2B5EF4-FFF2-40B4-BE49-F238E27FC236}">
                <a16:creationId xmlns:a16="http://schemas.microsoft.com/office/drawing/2014/main" id="{6D2EBFBF-3752-9B5E-EC80-6EED8B97998A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981200" y="51816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2</a:t>
            </a:r>
          </a:p>
        </p:txBody>
      </p:sp>
      <p:sp>
        <p:nvSpPr>
          <p:cNvPr id="24591" name="Text Box 49">
            <a:extLst>
              <a:ext uri="{FF2B5EF4-FFF2-40B4-BE49-F238E27FC236}">
                <a16:creationId xmlns:a16="http://schemas.microsoft.com/office/drawing/2014/main" id="{B164AA50-BFA8-748B-1B5B-1F209076ABC8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5257800" y="51054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11</a:t>
            </a:r>
          </a:p>
        </p:txBody>
      </p:sp>
      <p:sp>
        <p:nvSpPr>
          <p:cNvPr id="24592" name="Text Box 50">
            <a:extLst>
              <a:ext uri="{FF2B5EF4-FFF2-40B4-BE49-F238E27FC236}">
                <a16:creationId xmlns:a16="http://schemas.microsoft.com/office/drawing/2014/main" id="{401BEC4F-5240-D508-0431-41C2084A2CD9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371600" y="51196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0</a:t>
            </a:r>
          </a:p>
        </p:txBody>
      </p:sp>
      <p:sp>
        <p:nvSpPr>
          <p:cNvPr id="24593" name="Text Box 51">
            <a:extLst>
              <a:ext uri="{FF2B5EF4-FFF2-40B4-BE49-F238E27FC236}">
                <a16:creationId xmlns:a16="http://schemas.microsoft.com/office/drawing/2014/main" id="{779A93C2-6904-7D33-7D31-F34D64454B04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724400" y="4419600"/>
            <a:ext cx="420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P</a:t>
            </a:r>
            <a:r>
              <a:rPr lang="en-US" altLang="en-US" baseline="-25000">
                <a:latin typeface="Helvetica" panose="020B0604020202020204" pitchFamily="34" charset="0"/>
              </a:rPr>
              <a:t>4</a:t>
            </a:r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4594" name="Line 52">
            <a:extLst>
              <a:ext uri="{FF2B5EF4-FFF2-40B4-BE49-F238E27FC236}">
                <a16:creationId xmlns:a16="http://schemas.microsoft.com/office/drawing/2014/main" id="{9CAC8DE9-0B07-53F9-15E0-D4F3968433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86400" y="435768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595" name="Line 53">
            <a:extLst>
              <a:ext uri="{FF2B5EF4-FFF2-40B4-BE49-F238E27FC236}">
                <a16:creationId xmlns:a16="http://schemas.microsoft.com/office/drawing/2014/main" id="{233021D6-CA50-3B80-B9D6-4D62D4C25D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288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596" name="Line 54">
            <a:extLst>
              <a:ext uri="{FF2B5EF4-FFF2-40B4-BE49-F238E27FC236}">
                <a16:creationId xmlns:a16="http://schemas.microsoft.com/office/drawing/2014/main" id="{AE5665BD-A9CC-6A49-8A7E-6F9A371F72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08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597" name="Line 58">
            <a:extLst>
              <a:ext uri="{FF2B5EF4-FFF2-40B4-BE49-F238E27FC236}">
                <a16:creationId xmlns:a16="http://schemas.microsoft.com/office/drawing/2014/main" id="{C5AB1792-2C43-7DEE-89D1-7B952C8B12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67200" y="4967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598" name="Text Box 59">
            <a:extLst>
              <a:ext uri="{FF2B5EF4-FFF2-40B4-BE49-F238E27FC236}">
                <a16:creationId xmlns:a16="http://schemas.microsoft.com/office/drawing/2014/main" id="{184A6571-BEAE-7E75-8BD4-A87634A10D1F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3276600" y="51816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5</a:t>
            </a:r>
          </a:p>
        </p:txBody>
      </p:sp>
      <p:sp>
        <p:nvSpPr>
          <p:cNvPr id="24599" name="Line 60">
            <a:extLst>
              <a:ext uri="{FF2B5EF4-FFF2-40B4-BE49-F238E27FC236}">
                <a16:creationId xmlns:a16="http://schemas.microsoft.com/office/drawing/2014/main" id="{4EBDA872-C19B-9998-D8DF-30BC4B84A2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82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600" name="Line 61">
            <a:extLst>
              <a:ext uri="{FF2B5EF4-FFF2-40B4-BE49-F238E27FC236}">
                <a16:creationId xmlns:a16="http://schemas.microsoft.com/office/drawing/2014/main" id="{A188810D-E059-943D-700D-6D9E3213F00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530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601" name="Line 62">
            <a:extLst>
              <a:ext uri="{FF2B5EF4-FFF2-40B4-BE49-F238E27FC236}">
                <a16:creationId xmlns:a16="http://schemas.microsoft.com/office/drawing/2014/main" id="{DDEC1563-ED9A-C175-D79F-FCE74088BA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578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602" name="Line 63">
            <a:extLst>
              <a:ext uri="{FF2B5EF4-FFF2-40B4-BE49-F238E27FC236}">
                <a16:creationId xmlns:a16="http://schemas.microsoft.com/office/drawing/2014/main" id="{D33E82DD-26A8-6B42-3C50-F1EF0BD5CD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86400" y="4967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603" name="Text Box 64">
            <a:extLst>
              <a:ext uri="{FF2B5EF4-FFF2-40B4-BE49-F238E27FC236}">
                <a16:creationId xmlns:a16="http://schemas.microsoft.com/office/drawing/2014/main" id="{8DED175F-E3CC-17AD-1A18-9F06D174F7A5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114800" y="51816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7</a:t>
            </a:r>
          </a:p>
        </p:txBody>
      </p:sp>
      <p:sp>
        <p:nvSpPr>
          <p:cNvPr id="24604" name="Line 65">
            <a:extLst>
              <a:ext uri="{FF2B5EF4-FFF2-40B4-BE49-F238E27FC236}">
                <a16:creationId xmlns:a16="http://schemas.microsoft.com/office/drawing/2014/main" id="{6AF6CD75-79D4-3173-4E7E-EE36CDD456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74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605" name="Line 66">
            <a:extLst>
              <a:ext uri="{FF2B5EF4-FFF2-40B4-BE49-F238E27FC236}">
                <a16:creationId xmlns:a16="http://schemas.microsoft.com/office/drawing/2014/main" id="{3A8855D3-8723-E474-8CB3-D389CEA72E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722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606" name="Line 67">
            <a:extLst>
              <a:ext uri="{FF2B5EF4-FFF2-40B4-BE49-F238E27FC236}">
                <a16:creationId xmlns:a16="http://schemas.microsoft.com/office/drawing/2014/main" id="{9C2DEC06-0D57-66F5-B638-4078038C1DB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607" name="Line 68">
            <a:extLst>
              <a:ext uri="{FF2B5EF4-FFF2-40B4-BE49-F238E27FC236}">
                <a16:creationId xmlns:a16="http://schemas.microsoft.com/office/drawing/2014/main" id="{4A500A57-B1E2-436D-9B13-1293AF64D3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95600" y="43434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608" name="Line 69">
            <a:extLst>
              <a:ext uri="{FF2B5EF4-FFF2-40B4-BE49-F238E27FC236}">
                <a16:creationId xmlns:a16="http://schemas.microsoft.com/office/drawing/2014/main" id="{E885F344-2B7C-D682-079F-222AECA0ED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29000" y="43434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609" name="Text Box 70">
            <a:extLst>
              <a:ext uri="{FF2B5EF4-FFF2-40B4-BE49-F238E27FC236}">
                <a16:creationId xmlns:a16="http://schemas.microsoft.com/office/drawing/2014/main" id="{B52448BA-C68B-0362-5308-63D8A5B23DD6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3581400" y="4419600"/>
            <a:ext cx="420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P</a:t>
            </a:r>
            <a:r>
              <a:rPr lang="en-US" altLang="en-US" baseline="-25000">
                <a:latin typeface="Helvetica" panose="020B0604020202020204" pitchFamily="34" charset="0"/>
              </a:rPr>
              <a:t>2</a:t>
            </a:r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4610" name="Text Box 71">
            <a:extLst>
              <a:ext uri="{FF2B5EF4-FFF2-40B4-BE49-F238E27FC236}">
                <a16:creationId xmlns:a16="http://schemas.microsoft.com/office/drawing/2014/main" id="{69E7C472-B69B-61BF-AA9E-A5757788FB7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6096000" y="4419600"/>
            <a:ext cx="420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P</a:t>
            </a:r>
            <a:r>
              <a:rPr lang="en-US" altLang="en-US" baseline="-25000">
                <a:latin typeface="Helvetica" panose="020B0604020202020204" pitchFamily="34" charset="0"/>
              </a:rPr>
              <a:t>1</a:t>
            </a:r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4611" name="Line 72">
            <a:extLst>
              <a:ext uri="{FF2B5EF4-FFF2-40B4-BE49-F238E27FC236}">
                <a16:creationId xmlns:a16="http://schemas.microsoft.com/office/drawing/2014/main" id="{81EF7931-704E-217D-FF1A-BAD7C8C59E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818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612" name="Text Box 73">
            <a:extLst>
              <a:ext uri="{FF2B5EF4-FFF2-40B4-BE49-F238E27FC236}">
                <a16:creationId xmlns:a16="http://schemas.microsoft.com/office/drawing/2014/main" id="{DCF38E3F-826B-7B48-54EF-F18068162C2C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6858000" y="51054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16</a:t>
            </a:r>
          </a:p>
        </p:txBody>
      </p:sp>
      <p:sp>
        <p:nvSpPr>
          <p:cNvPr id="24613" name="Rectangle 38">
            <a:extLst>
              <a:ext uri="{FF2B5EF4-FFF2-40B4-BE49-F238E27FC236}">
                <a16:creationId xmlns:a16="http://schemas.microsoft.com/office/drawing/2014/main" id="{35EC70ED-9F63-662C-8686-A47DC466E6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200" y="4264025"/>
            <a:ext cx="5978525" cy="137636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4614" name="Rectangle 37">
            <a:extLst>
              <a:ext uri="{FF2B5EF4-FFF2-40B4-BE49-F238E27FC236}">
                <a16:creationId xmlns:a16="http://schemas.microsoft.com/office/drawing/2014/main" id="{DBD7C3A2-3B39-0686-202A-F40121D6B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15013"/>
            <a:ext cx="9144000" cy="10429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7953AEEA-C2FE-4997-34DD-27620BF3EEF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Priority Scheduling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3FE33BC0-CAE4-2D09-A4B4-468C3B8F3B0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33413" y="1190625"/>
            <a:ext cx="7731125" cy="4749800"/>
          </a:xfrm>
        </p:spPr>
        <p:txBody>
          <a:bodyPr/>
          <a:lstStyle/>
          <a:p>
            <a:pPr eaLnBrk="1" hangingPunct="1"/>
            <a:r>
              <a:rPr lang="en-US" altLang="en-US"/>
              <a:t>A priority number (integer) is associated with each process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/>
              <a:t>The CPU is allocated to the process with the highest priority (smallest integer </a:t>
            </a:r>
            <a:r>
              <a:rPr lang="en-US" altLang="en-US">
                <a:sym typeface="Symbol" panose="05050102010706020507" pitchFamily="18" charset="2"/>
              </a:rPr>
              <a:t> highest priority)</a:t>
            </a:r>
          </a:p>
          <a:p>
            <a:pPr lvl="1" eaLnBrk="1" hangingPunct="1"/>
            <a:r>
              <a:rPr lang="en-US" altLang="en-US"/>
              <a:t>Preemptive</a:t>
            </a:r>
          </a:p>
          <a:p>
            <a:pPr lvl="1" eaLnBrk="1" hangingPunct="1"/>
            <a:r>
              <a:rPr lang="en-US" altLang="en-US"/>
              <a:t>Nonpreemptive</a:t>
            </a:r>
          </a:p>
          <a:p>
            <a:pPr lvl="1" eaLnBrk="1" hangingPunct="1"/>
            <a:endParaRPr lang="en-US" altLang="en-US" sz="800"/>
          </a:p>
          <a:p>
            <a:pPr eaLnBrk="1" hangingPunct="1"/>
            <a:r>
              <a:rPr lang="en-US" altLang="en-US"/>
              <a:t>SJF is a priority scheduling where priority is the predicted next CPU burst time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/>
              <a:t>Problem </a:t>
            </a:r>
            <a:r>
              <a:rPr lang="en-US" altLang="en-US">
                <a:sym typeface="Symbol" panose="05050102010706020507" pitchFamily="18" charset="2"/>
              </a:rPr>
              <a:t> </a:t>
            </a:r>
            <a:r>
              <a:rPr lang="en-US" altLang="en-US" b="1">
                <a:sym typeface="Symbol" panose="05050102010706020507" pitchFamily="18" charset="2"/>
              </a:rPr>
              <a:t>Starvation </a:t>
            </a:r>
            <a:r>
              <a:rPr lang="en-US" altLang="en-US">
                <a:sym typeface="Symbol" panose="05050102010706020507" pitchFamily="18" charset="2"/>
              </a:rPr>
              <a:t>– low priority processes may never execute</a:t>
            </a:r>
          </a:p>
          <a:p>
            <a:pPr eaLnBrk="1" hangingPunct="1"/>
            <a:endParaRPr lang="en-US" altLang="en-US" sz="800" b="1">
              <a:sym typeface="Symbol" panose="05050102010706020507" pitchFamily="18" charset="2"/>
            </a:endParaRPr>
          </a:p>
          <a:p>
            <a:pPr eaLnBrk="1" hangingPunct="1"/>
            <a:r>
              <a:rPr lang="en-US" altLang="en-US">
                <a:sym typeface="Symbol" panose="05050102010706020507" pitchFamily="18" charset="2"/>
              </a:rPr>
              <a:t>Solution  </a:t>
            </a:r>
            <a:r>
              <a:rPr lang="en-US" altLang="en-US" b="1">
                <a:sym typeface="Symbol" panose="05050102010706020507" pitchFamily="18" charset="2"/>
              </a:rPr>
              <a:t>Aging </a:t>
            </a:r>
            <a:r>
              <a:rPr lang="en-US" altLang="en-US">
                <a:sym typeface="Symbol" panose="05050102010706020507" pitchFamily="18" charset="2"/>
              </a:rPr>
              <a:t>– as time progresses increase the priority of the process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>
              <a:sym typeface="Symbol" panose="05050102010706020507" pitchFamily="18" charset="2"/>
            </a:endParaRP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6DE8F9EF-2083-B6D3-82C6-0231D58E2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15013"/>
            <a:ext cx="9144000" cy="10429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FB960FD-3ABE-CBC7-9D1D-1633C34EBB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452437"/>
          </a:xfrm>
        </p:spPr>
        <p:txBody>
          <a:bodyPr/>
          <a:lstStyle/>
          <a:p>
            <a:pPr eaLnBrk="1" hangingPunct="1"/>
            <a:r>
              <a:rPr lang="en-US" altLang="en-US"/>
              <a:t>Example for Priority scheduling</a:t>
            </a:r>
          </a:p>
        </p:txBody>
      </p:sp>
      <p:sp>
        <p:nvSpPr>
          <p:cNvPr id="26627" name="Rectangle 36">
            <a:extLst>
              <a:ext uri="{FF2B5EF4-FFF2-40B4-BE49-F238E27FC236}">
                <a16:creationId xmlns:a16="http://schemas.microsoft.com/office/drawing/2014/main" id="{B8CC0B40-53CC-5E40-8062-2988079480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863600"/>
            <a:ext cx="8229600" cy="52673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/>
              <a:t>		</a:t>
            </a:r>
            <a:r>
              <a:rPr lang="en-US" altLang="en-US" sz="2600" u="sng"/>
              <a:t>Process	Burst Time</a:t>
            </a:r>
            <a:r>
              <a:rPr lang="en-US" altLang="en-US" sz="2600"/>
              <a:t>	</a:t>
            </a:r>
            <a:r>
              <a:rPr lang="en-US" altLang="en-US" sz="2600" u="sng"/>
              <a:t>Priority</a:t>
            </a:r>
            <a:endParaRPr lang="en-US" altLang="en-US" sz="2600"/>
          </a:p>
          <a:p>
            <a:pPr eaLnBrk="1" hangingPunct="1">
              <a:buFont typeface="Wingdings" panose="05000000000000000000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 sz="2600"/>
              <a:t>		</a:t>
            </a:r>
            <a:r>
              <a:rPr lang="en-US" altLang="en-US" sz="2600" i="1"/>
              <a:t>P</a:t>
            </a:r>
            <a:r>
              <a:rPr lang="en-US" altLang="en-US" sz="2600" i="1" baseline="-25000"/>
              <a:t>1</a:t>
            </a:r>
            <a:r>
              <a:rPr lang="en-US" altLang="en-US" sz="2600"/>
              <a:t>	10	3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 sz="2600"/>
              <a:t>		 </a:t>
            </a:r>
            <a:r>
              <a:rPr lang="en-US" altLang="en-US" sz="2600" i="1"/>
              <a:t>P</a:t>
            </a:r>
            <a:r>
              <a:rPr lang="en-US" altLang="en-US" sz="2600" i="1" baseline="-25000"/>
              <a:t>2	</a:t>
            </a:r>
            <a:r>
              <a:rPr lang="en-US" altLang="en-US" sz="2600"/>
              <a:t>1	1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 sz="2600"/>
              <a:t>		 </a:t>
            </a:r>
            <a:r>
              <a:rPr lang="en-US" altLang="en-US" sz="2600" i="1"/>
              <a:t>P</a:t>
            </a:r>
            <a:r>
              <a:rPr lang="en-US" altLang="en-US" sz="2600" i="1" baseline="-25000"/>
              <a:t>3</a:t>
            </a:r>
            <a:r>
              <a:rPr lang="en-US" altLang="en-US" sz="2600"/>
              <a:t>	2	3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 sz="2600"/>
              <a:t>		 </a:t>
            </a:r>
            <a:r>
              <a:rPr lang="en-US" altLang="en-US" sz="2600" i="1"/>
              <a:t>P</a:t>
            </a:r>
            <a:r>
              <a:rPr lang="en-US" altLang="en-US" sz="2600" i="1" baseline="-25000"/>
              <a:t>4</a:t>
            </a:r>
            <a:r>
              <a:rPr lang="en-US" altLang="en-US" sz="2600"/>
              <a:t>	1	4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 sz="2600"/>
              <a:t>		P5	5	2</a:t>
            </a:r>
            <a:endParaRPr lang="en-US" altLang="en-US" sz="2000"/>
          </a:p>
          <a:p>
            <a:pPr eaLnBrk="1" hangingPunct="1">
              <a:buFont typeface="Wingdings" panose="05000000000000000000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endParaRPr lang="en-US" altLang="en-US" sz="2000"/>
          </a:p>
        </p:txBody>
      </p:sp>
      <p:sp>
        <p:nvSpPr>
          <p:cNvPr id="26628" name="Rectangle 37">
            <a:extLst>
              <a:ext uri="{FF2B5EF4-FFF2-40B4-BE49-F238E27FC236}">
                <a16:creationId xmlns:a16="http://schemas.microsoft.com/office/drawing/2014/main" id="{C8E1FA15-E6D5-C9CC-A8F0-71B25D9731F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524000" y="4357688"/>
            <a:ext cx="55626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6629" name="Text Box 38">
            <a:extLst>
              <a:ext uri="{FF2B5EF4-FFF2-40B4-BE49-F238E27FC236}">
                <a16:creationId xmlns:a16="http://schemas.microsoft.com/office/drawing/2014/main" id="{28F32CE5-D29B-4097-3A31-93DA76931D5E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600200" y="4419600"/>
            <a:ext cx="420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P</a:t>
            </a:r>
            <a:r>
              <a:rPr lang="en-US" altLang="en-US" baseline="-25000">
                <a:latin typeface="Helvetica" panose="020B0604020202020204" pitchFamily="34" charset="0"/>
              </a:rPr>
              <a:t>1</a:t>
            </a:r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6630" name="Text Box 39">
            <a:extLst>
              <a:ext uri="{FF2B5EF4-FFF2-40B4-BE49-F238E27FC236}">
                <a16:creationId xmlns:a16="http://schemas.microsoft.com/office/drawing/2014/main" id="{7D008EEC-E499-3FB8-07D9-430E043079C6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895600" y="4419600"/>
            <a:ext cx="420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P</a:t>
            </a:r>
            <a:r>
              <a:rPr lang="en-US" altLang="en-US" baseline="-25000">
                <a:latin typeface="Helvetica" panose="020B0604020202020204" pitchFamily="34" charset="0"/>
              </a:rPr>
              <a:t>3</a:t>
            </a:r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6631" name="Text Box 40">
            <a:extLst>
              <a:ext uri="{FF2B5EF4-FFF2-40B4-BE49-F238E27FC236}">
                <a16:creationId xmlns:a16="http://schemas.microsoft.com/office/drawing/2014/main" id="{E65F6D85-80E8-32AB-32BD-DFECCE5B0454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362200" y="4419600"/>
            <a:ext cx="420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P</a:t>
            </a:r>
            <a:r>
              <a:rPr lang="en-US" altLang="en-US" baseline="-25000">
                <a:latin typeface="Helvetica" panose="020B0604020202020204" pitchFamily="34" charset="0"/>
              </a:rPr>
              <a:t>2</a:t>
            </a:r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6632" name="Line 41">
            <a:extLst>
              <a:ext uri="{FF2B5EF4-FFF2-40B4-BE49-F238E27FC236}">
                <a16:creationId xmlns:a16="http://schemas.microsoft.com/office/drawing/2014/main" id="{D543241D-7ACB-2511-6271-4BC997FD80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67550" y="4953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33" name="Line 42">
            <a:extLst>
              <a:ext uri="{FF2B5EF4-FFF2-40B4-BE49-F238E27FC236}">
                <a16:creationId xmlns:a16="http://schemas.microsoft.com/office/drawing/2014/main" id="{B75B4D6E-F10B-C4B4-C626-DF640292F8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4967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34" name="Line 43">
            <a:extLst>
              <a:ext uri="{FF2B5EF4-FFF2-40B4-BE49-F238E27FC236}">
                <a16:creationId xmlns:a16="http://schemas.microsoft.com/office/drawing/2014/main" id="{6F6E335D-C128-A2AC-3625-E3E2BA91558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67200" y="435768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35" name="Line 44">
            <a:extLst>
              <a:ext uri="{FF2B5EF4-FFF2-40B4-BE49-F238E27FC236}">
                <a16:creationId xmlns:a16="http://schemas.microsoft.com/office/drawing/2014/main" id="{F6BC7C63-73E2-340A-8AE4-CD98CD9661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43434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36" name="Line 45">
            <a:extLst>
              <a:ext uri="{FF2B5EF4-FFF2-40B4-BE49-F238E27FC236}">
                <a16:creationId xmlns:a16="http://schemas.microsoft.com/office/drawing/2014/main" id="{48431FB2-6F76-C8EE-3D45-82C4B56B2A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10000" y="4967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37" name="Text Box 47">
            <a:extLst>
              <a:ext uri="{FF2B5EF4-FFF2-40B4-BE49-F238E27FC236}">
                <a16:creationId xmlns:a16="http://schemas.microsoft.com/office/drawing/2014/main" id="{04671F44-ED55-36CE-C2E6-E7B353A9CD0E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743200" y="51816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4</a:t>
            </a:r>
          </a:p>
        </p:txBody>
      </p:sp>
      <p:sp>
        <p:nvSpPr>
          <p:cNvPr id="26638" name="Text Box 48">
            <a:extLst>
              <a:ext uri="{FF2B5EF4-FFF2-40B4-BE49-F238E27FC236}">
                <a16:creationId xmlns:a16="http://schemas.microsoft.com/office/drawing/2014/main" id="{0B5F18D0-20E3-D3AD-1BA6-FE5938EAF0ED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981200" y="51816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2</a:t>
            </a:r>
          </a:p>
        </p:txBody>
      </p:sp>
      <p:sp>
        <p:nvSpPr>
          <p:cNvPr id="26639" name="Text Box 49">
            <a:extLst>
              <a:ext uri="{FF2B5EF4-FFF2-40B4-BE49-F238E27FC236}">
                <a16:creationId xmlns:a16="http://schemas.microsoft.com/office/drawing/2014/main" id="{7509798D-F355-B01A-5CA6-33ABE0E2E31A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5257800" y="51054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11</a:t>
            </a:r>
          </a:p>
        </p:txBody>
      </p:sp>
      <p:sp>
        <p:nvSpPr>
          <p:cNvPr id="26640" name="Text Box 50">
            <a:extLst>
              <a:ext uri="{FF2B5EF4-FFF2-40B4-BE49-F238E27FC236}">
                <a16:creationId xmlns:a16="http://schemas.microsoft.com/office/drawing/2014/main" id="{55A80A0A-E7A7-A0DC-A867-8BF763E9B103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371600" y="51196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0</a:t>
            </a:r>
          </a:p>
        </p:txBody>
      </p:sp>
      <p:sp>
        <p:nvSpPr>
          <p:cNvPr id="26641" name="Text Box 51">
            <a:extLst>
              <a:ext uri="{FF2B5EF4-FFF2-40B4-BE49-F238E27FC236}">
                <a16:creationId xmlns:a16="http://schemas.microsoft.com/office/drawing/2014/main" id="{B6C9AD90-4F2C-2E62-E4C8-3385B79AF9B0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724400" y="4419600"/>
            <a:ext cx="420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P</a:t>
            </a:r>
            <a:r>
              <a:rPr lang="en-US" altLang="en-US" baseline="-25000">
                <a:latin typeface="Helvetica" panose="020B0604020202020204" pitchFamily="34" charset="0"/>
              </a:rPr>
              <a:t>4</a:t>
            </a:r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6642" name="Line 52">
            <a:extLst>
              <a:ext uri="{FF2B5EF4-FFF2-40B4-BE49-F238E27FC236}">
                <a16:creationId xmlns:a16="http://schemas.microsoft.com/office/drawing/2014/main" id="{6A10688A-FA7B-49CD-B58C-E89D7357D3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86400" y="435768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43" name="Line 53">
            <a:extLst>
              <a:ext uri="{FF2B5EF4-FFF2-40B4-BE49-F238E27FC236}">
                <a16:creationId xmlns:a16="http://schemas.microsoft.com/office/drawing/2014/main" id="{1C22F690-5C5E-9DB8-FCE7-5DAE8E0C50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288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44" name="Line 54">
            <a:extLst>
              <a:ext uri="{FF2B5EF4-FFF2-40B4-BE49-F238E27FC236}">
                <a16:creationId xmlns:a16="http://schemas.microsoft.com/office/drawing/2014/main" id="{7BD789BF-7F26-BEE3-B2FC-29D2C8B643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08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45" name="Line 58">
            <a:extLst>
              <a:ext uri="{FF2B5EF4-FFF2-40B4-BE49-F238E27FC236}">
                <a16:creationId xmlns:a16="http://schemas.microsoft.com/office/drawing/2014/main" id="{68B1B11B-3DDC-C317-8F3C-9F7F1A5A49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67200" y="4967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46" name="Text Box 59">
            <a:extLst>
              <a:ext uri="{FF2B5EF4-FFF2-40B4-BE49-F238E27FC236}">
                <a16:creationId xmlns:a16="http://schemas.microsoft.com/office/drawing/2014/main" id="{BB190108-9C28-8B5C-0D96-F379D307BCC0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3276600" y="51816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5</a:t>
            </a:r>
          </a:p>
        </p:txBody>
      </p:sp>
      <p:sp>
        <p:nvSpPr>
          <p:cNvPr id="26647" name="Line 60">
            <a:extLst>
              <a:ext uri="{FF2B5EF4-FFF2-40B4-BE49-F238E27FC236}">
                <a16:creationId xmlns:a16="http://schemas.microsoft.com/office/drawing/2014/main" id="{845BD1C3-BFFA-D059-E4C7-7240C38EE5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82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48" name="Line 61">
            <a:extLst>
              <a:ext uri="{FF2B5EF4-FFF2-40B4-BE49-F238E27FC236}">
                <a16:creationId xmlns:a16="http://schemas.microsoft.com/office/drawing/2014/main" id="{3235F4EC-4A98-3E18-34B9-1A991A6D91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530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49" name="Line 62">
            <a:extLst>
              <a:ext uri="{FF2B5EF4-FFF2-40B4-BE49-F238E27FC236}">
                <a16:creationId xmlns:a16="http://schemas.microsoft.com/office/drawing/2014/main" id="{66439E51-5108-5686-4A30-BD467B8579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578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50" name="Line 63">
            <a:extLst>
              <a:ext uri="{FF2B5EF4-FFF2-40B4-BE49-F238E27FC236}">
                <a16:creationId xmlns:a16="http://schemas.microsoft.com/office/drawing/2014/main" id="{1D2EE974-B7A5-F72D-DD9E-6DEF8846D6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86400" y="4967288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51" name="Text Box 64">
            <a:extLst>
              <a:ext uri="{FF2B5EF4-FFF2-40B4-BE49-F238E27FC236}">
                <a16:creationId xmlns:a16="http://schemas.microsoft.com/office/drawing/2014/main" id="{412D89CF-6BD9-EF82-8722-1087F21BF4B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114800" y="51816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7</a:t>
            </a:r>
          </a:p>
        </p:txBody>
      </p:sp>
      <p:sp>
        <p:nvSpPr>
          <p:cNvPr id="26652" name="Line 65">
            <a:extLst>
              <a:ext uri="{FF2B5EF4-FFF2-40B4-BE49-F238E27FC236}">
                <a16:creationId xmlns:a16="http://schemas.microsoft.com/office/drawing/2014/main" id="{116CE4EC-7E7B-4EBF-2067-734625EC50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74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53" name="Line 66">
            <a:extLst>
              <a:ext uri="{FF2B5EF4-FFF2-40B4-BE49-F238E27FC236}">
                <a16:creationId xmlns:a16="http://schemas.microsoft.com/office/drawing/2014/main" id="{2CCC772D-F58B-C3C8-5AAE-89C0283C36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722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54" name="Line 67">
            <a:extLst>
              <a:ext uri="{FF2B5EF4-FFF2-40B4-BE49-F238E27FC236}">
                <a16:creationId xmlns:a16="http://schemas.microsoft.com/office/drawing/2014/main" id="{9F4D19EE-5CC4-69FB-A6A0-6BD6B76A68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55" name="Line 68">
            <a:extLst>
              <a:ext uri="{FF2B5EF4-FFF2-40B4-BE49-F238E27FC236}">
                <a16:creationId xmlns:a16="http://schemas.microsoft.com/office/drawing/2014/main" id="{1F8A9325-0D08-9DA0-98AD-675AA217C9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95600" y="43434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56" name="Line 69">
            <a:extLst>
              <a:ext uri="{FF2B5EF4-FFF2-40B4-BE49-F238E27FC236}">
                <a16:creationId xmlns:a16="http://schemas.microsoft.com/office/drawing/2014/main" id="{24570ECF-3638-AAE0-5498-D635F37F54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29000" y="43434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57" name="Text Box 70">
            <a:extLst>
              <a:ext uri="{FF2B5EF4-FFF2-40B4-BE49-F238E27FC236}">
                <a16:creationId xmlns:a16="http://schemas.microsoft.com/office/drawing/2014/main" id="{7835C301-9404-0672-90A7-37000B154D1C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3581400" y="4419600"/>
            <a:ext cx="420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P</a:t>
            </a:r>
            <a:r>
              <a:rPr lang="en-US" altLang="en-US" baseline="-25000">
                <a:latin typeface="Helvetica" panose="020B0604020202020204" pitchFamily="34" charset="0"/>
              </a:rPr>
              <a:t>2</a:t>
            </a:r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6658" name="Text Box 71">
            <a:extLst>
              <a:ext uri="{FF2B5EF4-FFF2-40B4-BE49-F238E27FC236}">
                <a16:creationId xmlns:a16="http://schemas.microsoft.com/office/drawing/2014/main" id="{DD240790-E364-579B-C00B-01A49D019C7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6096000" y="4419600"/>
            <a:ext cx="420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P</a:t>
            </a:r>
            <a:r>
              <a:rPr lang="en-US" altLang="en-US" baseline="-25000">
                <a:latin typeface="Helvetica" panose="020B0604020202020204" pitchFamily="34" charset="0"/>
              </a:rPr>
              <a:t>1</a:t>
            </a:r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26659" name="Line 72">
            <a:extLst>
              <a:ext uri="{FF2B5EF4-FFF2-40B4-BE49-F238E27FC236}">
                <a16:creationId xmlns:a16="http://schemas.microsoft.com/office/drawing/2014/main" id="{013E6983-B2B6-6EA7-B0C5-B6525257ABB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81800" y="48545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60" name="Text Box 73">
            <a:extLst>
              <a:ext uri="{FF2B5EF4-FFF2-40B4-BE49-F238E27FC236}">
                <a16:creationId xmlns:a16="http://schemas.microsoft.com/office/drawing/2014/main" id="{A6A25C4E-0C4F-14F4-5C40-9DF226C39D26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6858000" y="51054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16</a:t>
            </a:r>
          </a:p>
        </p:txBody>
      </p:sp>
      <p:sp>
        <p:nvSpPr>
          <p:cNvPr id="26661" name="Rectangle 38">
            <a:extLst>
              <a:ext uri="{FF2B5EF4-FFF2-40B4-BE49-F238E27FC236}">
                <a16:creationId xmlns:a16="http://schemas.microsoft.com/office/drawing/2014/main" id="{932E5961-C6FA-A779-AD6D-46B5FA1BEB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200" y="4264025"/>
            <a:ext cx="5978525" cy="137636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pic>
        <p:nvPicPr>
          <p:cNvPr id="26662" name="Picture 4">
            <a:extLst>
              <a:ext uri="{FF2B5EF4-FFF2-40B4-BE49-F238E27FC236}">
                <a16:creationId xmlns:a16="http://schemas.microsoft.com/office/drawing/2014/main" id="{2072F479-0F43-0A76-A41C-FAE8B602C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50" y="4197350"/>
            <a:ext cx="73787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63" name="Rectangle 40">
            <a:extLst>
              <a:ext uri="{FF2B5EF4-FFF2-40B4-BE49-F238E27FC236}">
                <a16:creationId xmlns:a16="http://schemas.microsoft.com/office/drawing/2014/main" id="{9602BD19-B253-0F57-8F9A-EED9E23A5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75" y="5476875"/>
            <a:ext cx="7334250" cy="9652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Average Waiting time = 8.2 ms</a:t>
            </a:r>
          </a:p>
        </p:txBody>
      </p:sp>
      <p:sp>
        <p:nvSpPr>
          <p:cNvPr id="26664" name="Rectangle 41">
            <a:extLst>
              <a:ext uri="{FF2B5EF4-FFF2-40B4-BE49-F238E27FC236}">
                <a16:creationId xmlns:a16="http://schemas.microsoft.com/office/drawing/2014/main" id="{D4265D79-BF8D-A159-EFD4-C61481FA2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15013"/>
            <a:ext cx="9144000" cy="10429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FD3ADB51-5F87-75C7-9BF7-10FC1E9EF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Preemptive priority scheduling</a:t>
            </a:r>
          </a:p>
        </p:txBody>
      </p:sp>
      <p:pic>
        <p:nvPicPr>
          <p:cNvPr id="27651" name="Picture 3">
            <a:extLst>
              <a:ext uri="{FF2B5EF4-FFF2-40B4-BE49-F238E27FC236}">
                <a16:creationId xmlns:a16="http://schemas.microsoft.com/office/drawing/2014/main" id="{BFE1DBD8-BA18-DCA5-F8EC-47DEC0161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1276350"/>
            <a:ext cx="8705850" cy="427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2" name="Rectangle 41">
            <a:extLst>
              <a:ext uri="{FF2B5EF4-FFF2-40B4-BE49-F238E27FC236}">
                <a16:creationId xmlns:a16="http://schemas.microsoft.com/office/drawing/2014/main" id="{DB368D36-58D4-2C2B-7EF1-B2DAC9A6C1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15013"/>
            <a:ext cx="9144000" cy="10429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864BDA81-0E5A-51D7-1446-14360DC1CB6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Round Robin (RR)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0802DE3B-896E-E018-73E7-DFDAA1A85AC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12800" y="1397000"/>
            <a:ext cx="7385050" cy="4483100"/>
          </a:xfrm>
        </p:spPr>
        <p:txBody>
          <a:bodyPr/>
          <a:lstStyle/>
          <a:p>
            <a:pPr eaLnBrk="1" hangingPunct="1"/>
            <a:r>
              <a:rPr lang="en-US" altLang="en-US"/>
              <a:t>Each process gets a small unit of CPU time (</a:t>
            </a:r>
            <a:r>
              <a:rPr lang="en-US" altLang="en-US" i="1"/>
              <a:t>time quantum</a:t>
            </a:r>
            <a:r>
              <a:rPr lang="en-US" altLang="en-US"/>
              <a:t>), usually 10-100 milliseconds.  After this time has elapsed, the process is preempted and added to the end of the ready queue.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/>
              <a:t>If there are </a:t>
            </a:r>
            <a:r>
              <a:rPr lang="en-US" altLang="en-US" i="1"/>
              <a:t>n</a:t>
            </a:r>
            <a:r>
              <a:rPr lang="en-US" altLang="en-US"/>
              <a:t> processes in the ready queue and the time quantum is </a:t>
            </a:r>
            <a:r>
              <a:rPr lang="en-US" altLang="en-US" i="1"/>
              <a:t>q</a:t>
            </a:r>
            <a:r>
              <a:rPr lang="en-US" altLang="en-US"/>
              <a:t>, then each process gets 1/</a:t>
            </a:r>
            <a:r>
              <a:rPr lang="en-US" altLang="en-US" i="1"/>
              <a:t>n</a:t>
            </a:r>
            <a:r>
              <a:rPr lang="en-US" altLang="en-US"/>
              <a:t> of the CPU time in chunks of at most </a:t>
            </a:r>
            <a:r>
              <a:rPr lang="en-US" altLang="en-US" i="1"/>
              <a:t>q</a:t>
            </a:r>
            <a:r>
              <a:rPr lang="en-US" altLang="en-US"/>
              <a:t> time units at once.  No process waits more than (</a:t>
            </a:r>
            <a:r>
              <a:rPr lang="en-US" altLang="en-US" i="1"/>
              <a:t>n</a:t>
            </a:r>
            <a:r>
              <a:rPr lang="en-US" altLang="en-US"/>
              <a:t>-1)</a:t>
            </a:r>
            <a:r>
              <a:rPr lang="en-US" altLang="en-US" i="1"/>
              <a:t>q </a:t>
            </a:r>
            <a:r>
              <a:rPr lang="en-US" altLang="en-US"/>
              <a:t>time units.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/>
              <a:t>Performance</a:t>
            </a:r>
          </a:p>
          <a:p>
            <a:pPr lvl="1" eaLnBrk="1" hangingPunct="1"/>
            <a:r>
              <a:rPr lang="en-US" altLang="en-US" i="1"/>
              <a:t>q</a:t>
            </a:r>
            <a:r>
              <a:rPr lang="en-US" altLang="en-US"/>
              <a:t> large </a:t>
            </a:r>
            <a:r>
              <a:rPr lang="en-US" altLang="en-US">
                <a:sym typeface="Symbol" panose="05050102010706020507" pitchFamily="18" charset="2"/>
              </a:rPr>
              <a:t> FIFO</a:t>
            </a:r>
          </a:p>
          <a:p>
            <a:pPr lvl="1" eaLnBrk="1" hangingPunct="1"/>
            <a:r>
              <a:rPr lang="en-US" altLang="en-US" i="1">
                <a:sym typeface="Symbol" panose="05050102010706020507" pitchFamily="18" charset="2"/>
              </a:rPr>
              <a:t>q </a:t>
            </a:r>
            <a:r>
              <a:rPr lang="en-US" altLang="en-US">
                <a:sym typeface="Symbol" panose="05050102010706020507" pitchFamily="18" charset="2"/>
              </a:rPr>
              <a:t>small  </a:t>
            </a:r>
            <a:r>
              <a:rPr lang="en-US" altLang="en-US" i="1">
                <a:sym typeface="Symbol" panose="05050102010706020507" pitchFamily="18" charset="2"/>
              </a:rPr>
              <a:t>q </a:t>
            </a:r>
            <a:r>
              <a:rPr lang="en-US" altLang="en-US">
                <a:sym typeface="Symbol" panose="05050102010706020507" pitchFamily="18" charset="2"/>
              </a:rPr>
              <a:t>must be large with respect to context switch, otherwise overhead is too high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46CA616E-5042-1002-3101-3E604A4DF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15013"/>
            <a:ext cx="9144000" cy="10429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E8E02689-5072-A8F2-5B30-D349F87A1FC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85725"/>
            <a:ext cx="8054975" cy="711200"/>
          </a:xfrm>
        </p:spPr>
        <p:txBody>
          <a:bodyPr/>
          <a:lstStyle/>
          <a:p>
            <a:pPr eaLnBrk="1" hangingPunct="1"/>
            <a:r>
              <a:rPr lang="en-US" altLang="en-US"/>
              <a:t>Example of RR with Time Quantum = 4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26DFA611-0350-35B6-3052-C71B05D5A3B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27088" y="1501775"/>
            <a:ext cx="7351712" cy="44831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tabLst>
                <a:tab pos="2222500" algn="ctr"/>
                <a:tab pos="3997325" algn="ctr"/>
              </a:tabLst>
            </a:pPr>
            <a:r>
              <a:rPr lang="en-US" altLang="en-US"/>
              <a:t>		</a:t>
            </a:r>
            <a:r>
              <a:rPr lang="en-US" altLang="en-US" u="sng"/>
              <a:t>Process</a:t>
            </a:r>
            <a:r>
              <a:rPr lang="en-US" altLang="en-US"/>
              <a:t>	</a:t>
            </a:r>
            <a:r>
              <a:rPr lang="en-US" altLang="en-US" u="sng"/>
              <a:t>Burst Time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tabLst>
                <a:tab pos="2222500" algn="ctr"/>
                <a:tab pos="3997325" algn="ctr"/>
              </a:tabLst>
            </a:pPr>
            <a:r>
              <a:rPr lang="en-US" altLang="en-US" i="1"/>
              <a:t>		P</a:t>
            </a:r>
            <a:r>
              <a:rPr lang="en-US" altLang="en-US" i="1" baseline="-25000"/>
              <a:t>1	</a:t>
            </a:r>
            <a:r>
              <a:rPr lang="en-US" altLang="en-US"/>
              <a:t>24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tabLst>
                <a:tab pos="2222500" algn="ctr"/>
                <a:tab pos="3997325" algn="ctr"/>
              </a:tabLst>
            </a:pPr>
            <a:r>
              <a:rPr lang="en-US" altLang="en-US"/>
              <a:t>		 </a:t>
            </a:r>
            <a:r>
              <a:rPr lang="en-US" altLang="en-US" i="1"/>
              <a:t>P</a:t>
            </a:r>
            <a:r>
              <a:rPr lang="en-US" altLang="en-US" i="1" baseline="-25000"/>
              <a:t>2	  </a:t>
            </a:r>
            <a:r>
              <a:rPr lang="en-US" altLang="en-US"/>
              <a:t>3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tabLst>
                <a:tab pos="2222500" algn="ctr"/>
                <a:tab pos="3997325" algn="ctr"/>
              </a:tabLst>
            </a:pPr>
            <a:r>
              <a:rPr lang="en-US" altLang="en-US"/>
              <a:t>		 </a:t>
            </a:r>
            <a:r>
              <a:rPr lang="en-US" altLang="en-US" i="1"/>
              <a:t>P</a:t>
            </a:r>
            <a:r>
              <a:rPr lang="en-US" altLang="en-US" i="1" baseline="-25000"/>
              <a:t>3	</a:t>
            </a:r>
            <a:r>
              <a:rPr lang="en-US" altLang="en-US"/>
              <a:t>3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tabLst>
                <a:tab pos="2222500" algn="ctr"/>
                <a:tab pos="3997325" algn="ctr"/>
              </a:tabLst>
            </a:pPr>
            <a:r>
              <a:rPr lang="en-US" altLang="en-US"/>
              <a:t>		</a:t>
            </a:r>
          </a:p>
          <a:p>
            <a:pPr eaLnBrk="1" hangingPunct="1">
              <a:lnSpc>
                <a:spcPct val="90000"/>
              </a:lnSpc>
              <a:tabLst>
                <a:tab pos="2222500" algn="ctr"/>
                <a:tab pos="3997325" algn="ctr"/>
              </a:tabLst>
            </a:pPr>
            <a:r>
              <a:rPr lang="en-US" altLang="en-US"/>
              <a:t>The Gantt chart is: 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endParaRPr lang="en-US" altLang="en-US"/>
          </a:p>
          <a:p>
            <a:pPr eaLnBrk="1" hangingPunct="1">
              <a:lnSpc>
                <a:spcPct val="90000"/>
              </a:lnSpc>
              <a:tabLst>
                <a:tab pos="2222500" algn="ctr"/>
                <a:tab pos="3997325" algn="ctr"/>
              </a:tabLst>
            </a:pPr>
            <a:r>
              <a:rPr lang="en-US" altLang="en-US"/>
              <a:t>Typically, higher average turnaround than SJF, but better </a:t>
            </a:r>
            <a:r>
              <a:rPr lang="en-US" altLang="en-US" i="1"/>
              <a:t>response</a:t>
            </a:r>
            <a:endParaRPr lang="en-US" altLang="en-US"/>
          </a:p>
        </p:txBody>
      </p:sp>
      <p:grpSp>
        <p:nvGrpSpPr>
          <p:cNvPr id="29700" name="Group 27">
            <a:extLst>
              <a:ext uri="{FF2B5EF4-FFF2-40B4-BE49-F238E27FC236}">
                <a16:creationId xmlns:a16="http://schemas.microsoft.com/office/drawing/2014/main" id="{A0ADF4FE-213D-560A-808E-ADD4C4E6E5A9}"/>
              </a:ext>
            </a:extLst>
          </p:cNvPr>
          <p:cNvGrpSpPr>
            <a:grpSpLocks/>
          </p:cNvGrpSpPr>
          <p:nvPr/>
        </p:nvGrpSpPr>
        <p:grpSpPr bwMode="auto">
          <a:xfrm>
            <a:off x="1609725" y="3952875"/>
            <a:ext cx="4810125" cy="989013"/>
            <a:chOff x="1056" y="2640"/>
            <a:chExt cx="3030" cy="623"/>
          </a:xfrm>
        </p:grpSpPr>
        <p:grpSp>
          <p:nvGrpSpPr>
            <p:cNvPr id="29702" name="Group 14">
              <a:extLst>
                <a:ext uri="{FF2B5EF4-FFF2-40B4-BE49-F238E27FC236}">
                  <a16:creationId xmlns:a16="http://schemas.microsoft.com/office/drawing/2014/main" id="{5069D17B-58D1-0D37-7820-C09C1AEF82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2640"/>
              <a:ext cx="2842" cy="384"/>
              <a:chOff x="1152" y="2736"/>
              <a:chExt cx="2304" cy="288"/>
            </a:xfrm>
          </p:grpSpPr>
          <p:sp>
            <p:nvSpPr>
              <p:cNvPr id="29712" name="Rectangle 4">
                <a:extLst>
                  <a:ext uri="{FF2B5EF4-FFF2-40B4-BE49-F238E27FC236}">
                    <a16:creationId xmlns:a16="http://schemas.microsoft.com/office/drawing/2014/main" id="{1A91EFE4-47A4-EB99-0A69-2D078A351B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Helvetica" panose="020B0604020202020204" pitchFamily="34" charset="0"/>
                  </a:rPr>
                  <a:t>P</a:t>
                </a:r>
                <a:r>
                  <a:rPr lang="en-US" altLang="en-US" baseline="-25000">
                    <a:latin typeface="Helvetica" panose="020B0604020202020204" pitchFamily="34" charset="0"/>
                  </a:rPr>
                  <a:t>1</a:t>
                </a:r>
                <a:endParaRPr lang="en-US" altLang="en-US">
                  <a:latin typeface="Helvetica" panose="020B0604020202020204" pitchFamily="34" charset="0"/>
                </a:endParaRPr>
              </a:p>
            </p:txBody>
          </p:sp>
          <p:sp>
            <p:nvSpPr>
              <p:cNvPr id="29713" name="Rectangle 5">
                <a:extLst>
                  <a:ext uri="{FF2B5EF4-FFF2-40B4-BE49-F238E27FC236}">
                    <a16:creationId xmlns:a16="http://schemas.microsoft.com/office/drawing/2014/main" id="{FA7710B7-63CB-616E-7E2D-72AC59D98C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Helvetica" panose="020B0604020202020204" pitchFamily="34" charset="0"/>
                  </a:rPr>
                  <a:t>P</a:t>
                </a:r>
                <a:r>
                  <a:rPr lang="en-US" altLang="en-US" baseline="-25000">
                    <a:latin typeface="Helvetica" panose="020B0604020202020204" pitchFamily="34" charset="0"/>
                  </a:rPr>
                  <a:t>2</a:t>
                </a:r>
              </a:p>
            </p:txBody>
          </p:sp>
          <p:sp>
            <p:nvSpPr>
              <p:cNvPr id="29714" name="Rectangle 6">
                <a:extLst>
                  <a:ext uri="{FF2B5EF4-FFF2-40B4-BE49-F238E27FC236}">
                    <a16:creationId xmlns:a16="http://schemas.microsoft.com/office/drawing/2014/main" id="{0D491CBC-70CE-2D4F-929F-8F2A00EF30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Helvetica" panose="020B0604020202020204" pitchFamily="34" charset="0"/>
                  </a:rPr>
                  <a:t>P</a:t>
                </a:r>
                <a:r>
                  <a:rPr lang="en-US" altLang="en-US" baseline="-25000">
                    <a:latin typeface="Helvetica" panose="020B0604020202020204" pitchFamily="34" charset="0"/>
                  </a:rPr>
                  <a:t>3</a:t>
                </a:r>
              </a:p>
            </p:txBody>
          </p:sp>
          <p:sp>
            <p:nvSpPr>
              <p:cNvPr id="29715" name="Rectangle 7">
                <a:extLst>
                  <a:ext uri="{FF2B5EF4-FFF2-40B4-BE49-F238E27FC236}">
                    <a16:creationId xmlns:a16="http://schemas.microsoft.com/office/drawing/2014/main" id="{7432ECAC-6673-54AB-1453-989FE590EE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Helvetica" panose="020B0604020202020204" pitchFamily="34" charset="0"/>
                  </a:rPr>
                  <a:t>P</a:t>
                </a:r>
                <a:r>
                  <a:rPr lang="en-US" altLang="en-US" baseline="-25000">
                    <a:latin typeface="Helvetica" panose="020B0604020202020204" pitchFamily="34" charset="0"/>
                  </a:rPr>
                  <a:t>1</a:t>
                </a:r>
              </a:p>
            </p:txBody>
          </p:sp>
          <p:sp>
            <p:nvSpPr>
              <p:cNvPr id="29716" name="Rectangle 8">
                <a:extLst>
                  <a:ext uri="{FF2B5EF4-FFF2-40B4-BE49-F238E27FC236}">
                    <a16:creationId xmlns:a16="http://schemas.microsoft.com/office/drawing/2014/main" id="{8C140307-83D1-0AEE-A918-131AEDB30C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Helvetica" panose="020B0604020202020204" pitchFamily="34" charset="0"/>
                  </a:rPr>
                  <a:t>P</a:t>
                </a:r>
                <a:r>
                  <a:rPr lang="en-US" altLang="en-US" baseline="-25000">
                    <a:latin typeface="Helvetica" panose="020B0604020202020204" pitchFamily="34" charset="0"/>
                  </a:rPr>
                  <a:t>1</a:t>
                </a:r>
              </a:p>
            </p:txBody>
          </p:sp>
          <p:sp>
            <p:nvSpPr>
              <p:cNvPr id="29717" name="Rectangle 9">
                <a:extLst>
                  <a:ext uri="{FF2B5EF4-FFF2-40B4-BE49-F238E27FC236}">
                    <a16:creationId xmlns:a16="http://schemas.microsoft.com/office/drawing/2014/main" id="{AA344CED-61AF-9A3A-32DF-E2697C9C83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Helvetica" panose="020B0604020202020204" pitchFamily="34" charset="0"/>
                  </a:rPr>
                  <a:t>P</a:t>
                </a:r>
                <a:r>
                  <a:rPr lang="en-US" altLang="en-US" baseline="-25000">
                    <a:latin typeface="Helvetica" panose="020B0604020202020204" pitchFamily="34" charset="0"/>
                  </a:rPr>
                  <a:t>1</a:t>
                </a:r>
              </a:p>
            </p:txBody>
          </p:sp>
          <p:sp>
            <p:nvSpPr>
              <p:cNvPr id="29718" name="Rectangle 10">
                <a:extLst>
                  <a:ext uri="{FF2B5EF4-FFF2-40B4-BE49-F238E27FC236}">
                    <a16:creationId xmlns:a16="http://schemas.microsoft.com/office/drawing/2014/main" id="{DAE15A15-F31D-36F6-9341-B73F68CBE8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Helvetica" panose="020B0604020202020204" pitchFamily="34" charset="0"/>
                  </a:rPr>
                  <a:t>P</a:t>
                </a:r>
                <a:r>
                  <a:rPr lang="en-US" altLang="en-US" baseline="-25000">
                    <a:latin typeface="Helvetica" panose="020B0604020202020204" pitchFamily="34" charset="0"/>
                  </a:rPr>
                  <a:t>1</a:t>
                </a:r>
              </a:p>
            </p:txBody>
          </p:sp>
          <p:sp>
            <p:nvSpPr>
              <p:cNvPr id="29719" name="Rectangle 11">
                <a:extLst>
                  <a:ext uri="{FF2B5EF4-FFF2-40B4-BE49-F238E27FC236}">
                    <a16:creationId xmlns:a16="http://schemas.microsoft.com/office/drawing/2014/main" id="{33EAD12E-7CE9-4C71-6417-4CDC7EB569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736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Helvetica" panose="020B0604020202020204" pitchFamily="34" charset="0"/>
                  </a:rPr>
                  <a:t>P</a:t>
                </a:r>
                <a:r>
                  <a:rPr lang="en-US" altLang="en-US" baseline="-25000">
                    <a:latin typeface="Helvetica" panose="020B0604020202020204" pitchFamily="34" charset="0"/>
                  </a:rPr>
                  <a:t>1</a:t>
                </a:r>
              </a:p>
            </p:txBody>
          </p:sp>
        </p:grpSp>
        <p:sp>
          <p:nvSpPr>
            <p:cNvPr id="29703" name="Text Box 15">
              <a:extLst>
                <a:ext uri="{FF2B5EF4-FFF2-40B4-BE49-F238E27FC236}">
                  <a16:creationId xmlns:a16="http://schemas.microsoft.com/office/drawing/2014/main" id="{D662C121-E2D9-809C-3062-2F4018C24C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302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0</a:t>
              </a:r>
            </a:p>
          </p:txBody>
        </p:sp>
        <p:sp>
          <p:nvSpPr>
            <p:cNvPr id="29704" name="Text Box 16">
              <a:extLst>
                <a:ext uri="{FF2B5EF4-FFF2-40B4-BE49-F238E27FC236}">
                  <a16:creationId xmlns:a16="http://schemas.microsoft.com/office/drawing/2014/main" id="{3FEF797F-117F-2F3C-5F65-C6D448AF97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6" y="3030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4</a:t>
              </a:r>
            </a:p>
          </p:txBody>
        </p:sp>
        <p:sp>
          <p:nvSpPr>
            <p:cNvPr id="29705" name="Text Box 17">
              <a:extLst>
                <a:ext uri="{FF2B5EF4-FFF2-40B4-BE49-F238E27FC236}">
                  <a16:creationId xmlns:a16="http://schemas.microsoft.com/office/drawing/2014/main" id="{D4095A8D-7028-8166-09D8-4852CD35E5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0" y="3030"/>
              <a:ext cx="1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7</a:t>
              </a:r>
            </a:p>
          </p:txBody>
        </p:sp>
        <p:sp>
          <p:nvSpPr>
            <p:cNvPr id="29706" name="Text Box 18">
              <a:extLst>
                <a:ext uri="{FF2B5EF4-FFF2-40B4-BE49-F238E27FC236}">
                  <a16:creationId xmlns:a16="http://schemas.microsoft.com/office/drawing/2014/main" id="{509B0198-9F27-6C03-4CC9-3B0269358C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8" y="3024"/>
              <a:ext cx="2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10</a:t>
              </a:r>
            </a:p>
          </p:txBody>
        </p:sp>
        <p:sp>
          <p:nvSpPr>
            <p:cNvPr id="29707" name="Text Box 19">
              <a:extLst>
                <a:ext uri="{FF2B5EF4-FFF2-40B4-BE49-F238E27FC236}">
                  <a16:creationId xmlns:a16="http://schemas.microsoft.com/office/drawing/2014/main" id="{67CD7E92-3FEB-F46F-CE76-FBBEE25263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6" y="3024"/>
              <a:ext cx="2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14</a:t>
              </a:r>
            </a:p>
          </p:txBody>
        </p:sp>
        <p:sp>
          <p:nvSpPr>
            <p:cNvPr id="29708" name="Text Box 20">
              <a:extLst>
                <a:ext uri="{FF2B5EF4-FFF2-40B4-BE49-F238E27FC236}">
                  <a16:creationId xmlns:a16="http://schemas.microsoft.com/office/drawing/2014/main" id="{DA626202-1D54-73C1-B42A-B9EF2E0861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2" y="3024"/>
              <a:ext cx="2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18</a:t>
              </a:r>
            </a:p>
          </p:txBody>
        </p:sp>
        <p:sp>
          <p:nvSpPr>
            <p:cNvPr id="29709" name="Text Box 21">
              <a:extLst>
                <a:ext uri="{FF2B5EF4-FFF2-40B4-BE49-F238E27FC236}">
                  <a16:creationId xmlns:a16="http://schemas.microsoft.com/office/drawing/2014/main" id="{7AAAD45B-3163-BA33-2974-F20990F311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" y="3024"/>
              <a:ext cx="2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22</a:t>
              </a:r>
            </a:p>
          </p:txBody>
        </p:sp>
        <p:sp>
          <p:nvSpPr>
            <p:cNvPr id="29710" name="Text Box 22">
              <a:extLst>
                <a:ext uri="{FF2B5EF4-FFF2-40B4-BE49-F238E27FC236}">
                  <a16:creationId xmlns:a16="http://schemas.microsoft.com/office/drawing/2014/main" id="{501B5BE0-C7F3-1936-3501-9C0A176DB4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2" y="3024"/>
              <a:ext cx="2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26</a:t>
              </a:r>
            </a:p>
          </p:txBody>
        </p:sp>
        <p:sp>
          <p:nvSpPr>
            <p:cNvPr id="29711" name="Text Box 24">
              <a:extLst>
                <a:ext uri="{FF2B5EF4-FFF2-40B4-BE49-F238E27FC236}">
                  <a16:creationId xmlns:a16="http://schemas.microsoft.com/office/drawing/2014/main" id="{70AA8667-AF92-486E-FDD4-B9C96852E8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8" y="3024"/>
              <a:ext cx="2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>
                  <a:latin typeface="Helvetica" panose="020B0604020202020204" pitchFamily="34" charset="0"/>
                </a:rPr>
                <a:t>30</a:t>
              </a:r>
            </a:p>
          </p:txBody>
        </p:sp>
      </p:grpSp>
      <p:sp>
        <p:nvSpPr>
          <p:cNvPr id="29701" name="Rectangle 23">
            <a:extLst>
              <a:ext uri="{FF2B5EF4-FFF2-40B4-BE49-F238E27FC236}">
                <a16:creationId xmlns:a16="http://schemas.microsoft.com/office/drawing/2014/main" id="{B158A5B0-F887-1B1B-DDCF-8A9D8A5DA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15013"/>
            <a:ext cx="9144000" cy="10429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8B58E07C-0F0C-0E8F-5BC9-7168A37F0A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366712"/>
          </a:xfrm>
        </p:spPr>
        <p:txBody>
          <a:bodyPr/>
          <a:lstStyle/>
          <a:p>
            <a:pPr eaLnBrk="1" hangingPunct="1"/>
            <a:r>
              <a:rPr lang="en-US" altLang="en-US" sz="2000"/>
              <a:t>Example:  RR with Time Quantum = 20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BD7669D-BE21-8E2D-F235-60995C3066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5775" y="693738"/>
            <a:ext cx="702945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tabLst>
                <a:tab pos="2222500" algn="ctr"/>
                <a:tab pos="3997325" algn="ctr"/>
              </a:tabLst>
            </a:pPr>
            <a:r>
              <a:rPr lang="en-US" altLang="en-US"/>
              <a:t>		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2222500" algn="ctr"/>
                <a:tab pos="3997325" algn="ctr"/>
              </a:tabLst>
            </a:pPr>
            <a:r>
              <a:rPr lang="en-US" altLang="en-US" sz="2400"/>
              <a:t>		</a:t>
            </a:r>
            <a:r>
              <a:rPr lang="en-US" altLang="en-US" sz="2400" u="sng"/>
              <a:t>Process</a:t>
            </a:r>
            <a:r>
              <a:rPr lang="en-US" altLang="en-US" sz="2400"/>
              <a:t>	</a:t>
            </a:r>
            <a:r>
              <a:rPr lang="en-US" altLang="en-US" sz="2400" u="sng"/>
              <a:t>Burst Time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2222500" algn="ctr"/>
                <a:tab pos="3997325" algn="ctr"/>
              </a:tabLst>
            </a:pPr>
            <a:r>
              <a:rPr lang="en-US" altLang="en-US" sz="2400" i="1"/>
              <a:t>		P</a:t>
            </a:r>
            <a:r>
              <a:rPr lang="en-US" altLang="en-US" sz="2400" i="1" baseline="-25000"/>
              <a:t>1	</a:t>
            </a:r>
            <a:r>
              <a:rPr lang="en-US" altLang="en-US" sz="2400"/>
              <a:t>53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2222500" algn="ctr"/>
                <a:tab pos="3997325" algn="ctr"/>
              </a:tabLst>
            </a:pPr>
            <a:r>
              <a:rPr lang="en-US" altLang="en-US" sz="2400"/>
              <a:t>		 </a:t>
            </a:r>
            <a:r>
              <a:rPr lang="en-US" altLang="en-US" sz="2400" i="1"/>
              <a:t>P</a:t>
            </a:r>
            <a:r>
              <a:rPr lang="en-US" altLang="en-US" sz="2400" i="1" baseline="-25000"/>
              <a:t>2	 </a:t>
            </a:r>
            <a:r>
              <a:rPr lang="en-US" altLang="en-US" sz="2400"/>
              <a:t>17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2222500" algn="ctr"/>
                <a:tab pos="3997325" algn="ctr"/>
              </a:tabLst>
            </a:pPr>
            <a:r>
              <a:rPr lang="en-US" altLang="en-US" sz="2400"/>
              <a:t>		 </a:t>
            </a:r>
            <a:r>
              <a:rPr lang="en-US" altLang="en-US" sz="2400" i="1"/>
              <a:t>P</a:t>
            </a:r>
            <a:r>
              <a:rPr lang="en-US" altLang="en-US" sz="2400" i="1" baseline="-25000"/>
              <a:t>3	</a:t>
            </a:r>
            <a:r>
              <a:rPr lang="en-US" altLang="en-US" sz="2400"/>
              <a:t>68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2222500" algn="ctr"/>
                <a:tab pos="3997325" algn="ctr"/>
              </a:tabLst>
            </a:pPr>
            <a:r>
              <a:rPr lang="en-US" altLang="en-US" sz="2400"/>
              <a:t>		 </a:t>
            </a:r>
            <a:r>
              <a:rPr lang="en-US" altLang="en-US" sz="2400" i="1"/>
              <a:t>P</a:t>
            </a:r>
            <a:r>
              <a:rPr lang="en-US" altLang="en-US" sz="2400" i="1" baseline="-25000"/>
              <a:t>4	 </a:t>
            </a:r>
            <a:r>
              <a:rPr lang="en-US" altLang="en-US" sz="2400"/>
              <a:t>24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2222500" algn="ctr"/>
                <a:tab pos="3997325" algn="ctr"/>
              </a:tabLst>
            </a:pPr>
            <a:r>
              <a:rPr lang="en-US" altLang="en-US" sz="2400"/>
              <a:t>The Gantt chart is: </a:t>
            </a:r>
            <a:br>
              <a:rPr lang="en-US" altLang="en-US" sz="2400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r>
              <a:rPr lang="en-US" altLang="en-US" sz="2400"/>
              <a:t>Typically, higher average turnaround than SJF, but better </a:t>
            </a:r>
            <a:r>
              <a:rPr lang="en-US" altLang="en-US" sz="2400" i="1"/>
              <a:t>response</a:t>
            </a:r>
            <a:r>
              <a:rPr lang="en-US" altLang="en-US" sz="2400"/>
              <a:t>.</a:t>
            </a:r>
          </a:p>
        </p:txBody>
      </p:sp>
      <p:grpSp>
        <p:nvGrpSpPr>
          <p:cNvPr id="30724" name="Group 14">
            <a:extLst>
              <a:ext uri="{FF2B5EF4-FFF2-40B4-BE49-F238E27FC236}">
                <a16:creationId xmlns:a16="http://schemas.microsoft.com/office/drawing/2014/main" id="{102AAE78-B9F1-8E66-ABD0-62F48C01A99F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4191000"/>
            <a:ext cx="5638800" cy="609600"/>
            <a:chOff x="1152" y="2736"/>
            <a:chExt cx="2880" cy="288"/>
          </a:xfrm>
        </p:grpSpPr>
        <p:sp>
          <p:nvSpPr>
            <p:cNvPr id="30737" name="Rectangle 4">
              <a:extLst>
                <a:ext uri="{FF2B5EF4-FFF2-40B4-BE49-F238E27FC236}">
                  <a16:creationId xmlns:a16="http://schemas.microsoft.com/office/drawing/2014/main" id="{6CD87D1A-E2EB-73EC-4638-9A5FBD3EAB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736"/>
              <a:ext cx="288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Helvetica" panose="020B0604020202020204" pitchFamily="34" charset="0"/>
                </a:rPr>
                <a:t>P</a:t>
              </a:r>
              <a:r>
                <a:rPr lang="en-US" altLang="en-US" baseline="-25000">
                  <a:latin typeface="Helvetica" panose="020B0604020202020204" pitchFamily="34" charset="0"/>
                </a:rPr>
                <a:t>1</a:t>
              </a:r>
              <a:endParaRPr lang="en-US" altLang="en-US">
                <a:latin typeface="Helvetica" panose="020B0604020202020204" pitchFamily="34" charset="0"/>
              </a:endParaRPr>
            </a:p>
          </p:txBody>
        </p:sp>
        <p:sp>
          <p:nvSpPr>
            <p:cNvPr id="30738" name="Rectangle 5">
              <a:extLst>
                <a:ext uri="{FF2B5EF4-FFF2-40B4-BE49-F238E27FC236}">
                  <a16:creationId xmlns:a16="http://schemas.microsoft.com/office/drawing/2014/main" id="{5999F260-9BFA-7FAE-A4AC-527E763657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736"/>
              <a:ext cx="288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Helvetica" panose="020B0604020202020204" pitchFamily="34" charset="0"/>
                </a:rPr>
                <a:t>P</a:t>
              </a:r>
              <a:r>
                <a:rPr lang="en-US" altLang="en-US" baseline="-25000">
                  <a:latin typeface="Helvetica" panose="020B0604020202020204" pitchFamily="34" charset="0"/>
                </a:rPr>
                <a:t>2</a:t>
              </a:r>
            </a:p>
          </p:txBody>
        </p:sp>
        <p:sp>
          <p:nvSpPr>
            <p:cNvPr id="30739" name="Rectangle 6">
              <a:extLst>
                <a:ext uri="{FF2B5EF4-FFF2-40B4-BE49-F238E27FC236}">
                  <a16:creationId xmlns:a16="http://schemas.microsoft.com/office/drawing/2014/main" id="{3F080A1A-918B-7C8E-8496-F7142AB490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736"/>
              <a:ext cx="288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Helvetica" panose="020B0604020202020204" pitchFamily="34" charset="0"/>
                </a:rPr>
                <a:t>P</a:t>
              </a:r>
              <a:r>
                <a:rPr lang="en-US" altLang="en-US" baseline="-25000">
                  <a:latin typeface="Helvetica" panose="020B0604020202020204" pitchFamily="34" charset="0"/>
                </a:rPr>
                <a:t>3</a:t>
              </a:r>
            </a:p>
          </p:txBody>
        </p:sp>
        <p:sp>
          <p:nvSpPr>
            <p:cNvPr id="30740" name="Rectangle 7">
              <a:extLst>
                <a:ext uri="{FF2B5EF4-FFF2-40B4-BE49-F238E27FC236}">
                  <a16:creationId xmlns:a16="http://schemas.microsoft.com/office/drawing/2014/main" id="{16243424-1827-193F-CD20-4EBEF1621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736"/>
              <a:ext cx="288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Helvetica" panose="020B0604020202020204" pitchFamily="34" charset="0"/>
                </a:rPr>
                <a:t>P</a:t>
              </a:r>
              <a:r>
                <a:rPr lang="en-US" altLang="en-US" baseline="-25000">
                  <a:latin typeface="Helvetica" panose="020B0604020202020204" pitchFamily="34" charset="0"/>
                </a:rPr>
                <a:t>4</a:t>
              </a:r>
            </a:p>
          </p:txBody>
        </p:sp>
        <p:sp>
          <p:nvSpPr>
            <p:cNvPr id="30741" name="Rectangle 8">
              <a:extLst>
                <a:ext uri="{FF2B5EF4-FFF2-40B4-BE49-F238E27FC236}">
                  <a16:creationId xmlns:a16="http://schemas.microsoft.com/office/drawing/2014/main" id="{896D2845-8521-A38C-04EE-35433E960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736"/>
              <a:ext cx="288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Helvetica" panose="020B0604020202020204" pitchFamily="34" charset="0"/>
                </a:rPr>
                <a:t>P</a:t>
              </a:r>
              <a:r>
                <a:rPr lang="en-US" altLang="en-US" baseline="-25000">
                  <a:latin typeface="Helvetica" panose="020B0604020202020204" pitchFamily="34" charset="0"/>
                </a:rPr>
                <a:t>1</a:t>
              </a:r>
            </a:p>
          </p:txBody>
        </p:sp>
        <p:sp>
          <p:nvSpPr>
            <p:cNvPr id="30742" name="Rectangle 9">
              <a:extLst>
                <a:ext uri="{FF2B5EF4-FFF2-40B4-BE49-F238E27FC236}">
                  <a16:creationId xmlns:a16="http://schemas.microsoft.com/office/drawing/2014/main" id="{C2ED622A-63CF-F2B3-2684-F8C976AB28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2736"/>
              <a:ext cx="288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Helvetica" panose="020B0604020202020204" pitchFamily="34" charset="0"/>
                </a:rPr>
                <a:t>P</a:t>
              </a:r>
              <a:r>
                <a:rPr lang="en-US" altLang="en-US" baseline="-25000">
                  <a:latin typeface="Helvetica" panose="020B0604020202020204" pitchFamily="34" charset="0"/>
                </a:rPr>
                <a:t>3</a:t>
              </a:r>
            </a:p>
          </p:txBody>
        </p:sp>
        <p:sp>
          <p:nvSpPr>
            <p:cNvPr id="30743" name="Rectangle 10">
              <a:extLst>
                <a:ext uri="{FF2B5EF4-FFF2-40B4-BE49-F238E27FC236}">
                  <a16:creationId xmlns:a16="http://schemas.microsoft.com/office/drawing/2014/main" id="{37079DEE-39FA-C47B-8FCE-E1488063C3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736"/>
              <a:ext cx="288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Helvetica" panose="020B0604020202020204" pitchFamily="34" charset="0"/>
                </a:rPr>
                <a:t>P</a:t>
              </a:r>
              <a:r>
                <a:rPr lang="en-US" altLang="en-US" baseline="-25000">
                  <a:latin typeface="Helvetica" panose="020B0604020202020204" pitchFamily="34" charset="0"/>
                </a:rPr>
                <a:t>4</a:t>
              </a:r>
            </a:p>
          </p:txBody>
        </p:sp>
        <p:sp>
          <p:nvSpPr>
            <p:cNvPr id="30744" name="Rectangle 11">
              <a:extLst>
                <a:ext uri="{FF2B5EF4-FFF2-40B4-BE49-F238E27FC236}">
                  <a16:creationId xmlns:a16="http://schemas.microsoft.com/office/drawing/2014/main" id="{521944F6-9FC8-BBCD-5A24-0FC928AB3E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736"/>
              <a:ext cx="288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Helvetica" panose="020B0604020202020204" pitchFamily="34" charset="0"/>
                </a:rPr>
                <a:t>P</a:t>
              </a:r>
              <a:r>
                <a:rPr lang="en-US" altLang="en-US" baseline="-25000">
                  <a:latin typeface="Helvetica" panose="020B0604020202020204" pitchFamily="34" charset="0"/>
                </a:rPr>
                <a:t>1</a:t>
              </a:r>
            </a:p>
          </p:txBody>
        </p:sp>
        <p:sp>
          <p:nvSpPr>
            <p:cNvPr id="30745" name="Rectangle 12">
              <a:extLst>
                <a:ext uri="{FF2B5EF4-FFF2-40B4-BE49-F238E27FC236}">
                  <a16:creationId xmlns:a16="http://schemas.microsoft.com/office/drawing/2014/main" id="{4653BE1F-8304-D100-F21D-B4BEE21F83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2736"/>
              <a:ext cx="288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Helvetica" panose="020B0604020202020204" pitchFamily="34" charset="0"/>
                </a:rPr>
                <a:t>P</a:t>
              </a:r>
              <a:r>
                <a:rPr lang="en-US" altLang="en-US" baseline="-25000">
                  <a:latin typeface="Helvetica" panose="020B0604020202020204" pitchFamily="34" charset="0"/>
                </a:rPr>
                <a:t>3</a:t>
              </a:r>
            </a:p>
          </p:txBody>
        </p:sp>
        <p:sp>
          <p:nvSpPr>
            <p:cNvPr id="30746" name="Rectangle 13">
              <a:extLst>
                <a:ext uri="{FF2B5EF4-FFF2-40B4-BE49-F238E27FC236}">
                  <a16:creationId xmlns:a16="http://schemas.microsoft.com/office/drawing/2014/main" id="{FC3351B1-2DA3-CB50-8D03-816421FA79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736"/>
              <a:ext cx="288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Helvetica" panose="020B0604020202020204" pitchFamily="34" charset="0"/>
                </a:rPr>
                <a:t>P</a:t>
              </a:r>
              <a:r>
                <a:rPr lang="en-US" altLang="en-US" baseline="-25000">
                  <a:latin typeface="Helvetica" panose="020B0604020202020204" pitchFamily="34" charset="0"/>
                </a:rPr>
                <a:t>3</a:t>
              </a:r>
            </a:p>
          </p:txBody>
        </p:sp>
      </p:grpSp>
      <p:sp>
        <p:nvSpPr>
          <p:cNvPr id="30725" name="Text Box 15">
            <a:extLst>
              <a:ext uri="{FF2B5EF4-FFF2-40B4-BE49-F238E27FC236}">
                <a16:creationId xmlns:a16="http://schemas.microsoft.com/office/drawing/2014/main" id="{12CFB826-1D08-57D0-9E9E-D45C9E9A2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48006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0</a:t>
            </a:r>
          </a:p>
        </p:txBody>
      </p:sp>
      <p:sp>
        <p:nvSpPr>
          <p:cNvPr id="30726" name="Text Box 16">
            <a:extLst>
              <a:ext uri="{FF2B5EF4-FFF2-40B4-BE49-F238E27FC236}">
                <a16:creationId xmlns:a16="http://schemas.microsoft.com/office/drawing/2014/main" id="{8B0CFF62-7939-888C-F6C0-74F8675B6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6300" y="4800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20</a:t>
            </a:r>
          </a:p>
        </p:txBody>
      </p:sp>
      <p:sp>
        <p:nvSpPr>
          <p:cNvPr id="30727" name="Text Box 17">
            <a:extLst>
              <a:ext uri="{FF2B5EF4-FFF2-40B4-BE49-F238E27FC236}">
                <a16:creationId xmlns:a16="http://schemas.microsoft.com/office/drawing/2014/main" id="{8125D1A2-1038-CC77-1879-711EE044D4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9700" y="4800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37</a:t>
            </a:r>
          </a:p>
        </p:txBody>
      </p:sp>
      <p:sp>
        <p:nvSpPr>
          <p:cNvPr id="30728" name="Text Box 18">
            <a:extLst>
              <a:ext uri="{FF2B5EF4-FFF2-40B4-BE49-F238E27FC236}">
                <a16:creationId xmlns:a16="http://schemas.microsoft.com/office/drawing/2014/main" id="{4AD93E89-9C3D-EDA5-CEB2-94BDC8952C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2950" y="4800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57</a:t>
            </a:r>
          </a:p>
        </p:txBody>
      </p:sp>
      <p:sp>
        <p:nvSpPr>
          <p:cNvPr id="30729" name="Text Box 19">
            <a:extLst>
              <a:ext uri="{FF2B5EF4-FFF2-40B4-BE49-F238E27FC236}">
                <a16:creationId xmlns:a16="http://schemas.microsoft.com/office/drawing/2014/main" id="{7B884C7E-F45F-4EDE-5765-3460E4737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8900" y="4800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77</a:t>
            </a:r>
          </a:p>
        </p:txBody>
      </p:sp>
      <p:sp>
        <p:nvSpPr>
          <p:cNvPr id="30730" name="Text Box 20">
            <a:extLst>
              <a:ext uri="{FF2B5EF4-FFF2-40B4-BE49-F238E27FC236}">
                <a16:creationId xmlns:a16="http://schemas.microsoft.com/office/drawing/2014/main" id="{89EB37EB-6442-5E1A-65A2-65FF192D2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2300" y="4800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97</a:t>
            </a:r>
          </a:p>
        </p:txBody>
      </p:sp>
      <p:sp>
        <p:nvSpPr>
          <p:cNvPr id="30731" name="Text Box 21">
            <a:extLst>
              <a:ext uri="{FF2B5EF4-FFF2-40B4-BE49-F238E27FC236}">
                <a16:creationId xmlns:a16="http://schemas.microsoft.com/office/drawing/2014/main" id="{1633497F-7F8F-B31B-512D-9CFF7FC330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2200" y="4800600"/>
            <a:ext cx="565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117</a:t>
            </a:r>
          </a:p>
        </p:txBody>
      </p:sp>
      <p:sp>
        <p:nvSpPr>
          <p:cNvPr id="30732" name="Text Box 22">
            <a:extLst>
              <a:ext uri="{FF2B5EF4-FFF2-40B4-BE49-F238E27FC236}">
                <a16:creationId xmlns:a16="http://schemas.microsoft.com/office/drawing/2014/main" id="{A023B356-EBE0-33B7-C406-F97E228DC2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1800" y="4800600"/>
            <a:ext cx="565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121</a:t>
            </a:r>
          </a:p>
        </p:txBody>
      </p:sp>
      <p:sp>
        <p:nvSpPr>
          <p:cNvPr id="30733" name="Text Box 24">
            <a:extLst>
              <a:ext uri="{FF2B5EF4-FFF2-40B4-BE49-F238E27FC236}">
                <a16:creationId xmlns:a16="http://schemas.microsoft.com/office/drawing/2014/main" id="{AF533BCB-89D6-AE69-3A54-FDAB1E48AB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5200" y="4800600"/>
            <a:ext cx="565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134</a:t>
            </a:r>
          </a:p>
        </p:txBody>
      </p:sp>
      <p:sp>
        <p:nvSpPr>
          <p:cNvPr id="30734" name="Text Box 25">
            <a:extLst>
              <a:ext uri="{FF2B5EF4-FFF2-40B4-BE49-F238E27FC236}">
                <a16:creationId xmlns:a16="http://schemas.microsoft.com/office/drawing/2014/main" id="{F3DEF910-B132-4A22-6C5A-D614654320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4800600"/>
            <a:ext cx="565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154</a:t>
            </a:r>
          </a:p>
        </p:txBody>
      </p:sp>
      <p:sp>
        <p:nvSpPr>
          <p:cNvPr id="30735" name="Text Box 26">
            <a:extLst>
              <a:ext uri="{FF2B5EF4-FFF2-40B4-BE49-F238E27FC236}">
                <a16:creationId xmlns:a16="http://schemas.microsoft.com/office/drawing/2014/main" id="{7A8C536E-1D92-0318-1893-32CA4F72B0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4800600"/>
            <a:ext cx="565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162</a:t>
            </a:r>
          </a:p>
        </p:txBody>
      </p:sp>
      <p:sp>
        <p:nvSpPr>
          <p:cNvPr id="30736" name="Rectangle 25">
            <a:extLst>
              <a:ext uri="{FF2B5EF4-FFF2-40B4-BE49-F238E27FC236}">
                <a16:creationId xmlns:a16="http://schemas.microsoft.com/office/drawing/2014/main" id="{159ADF4B-935E-CDB0-B0E5-C49542E47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164263"/>
            <a:ext cx="9144000" cy="6937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8D516DAF-4D0F-6A74-4949-80C461A0C5F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73125" y="347663"/>
            <a:ext cx="8096250" cy="457200"/>
          </a:xfrm>
        </p:spPr>
        <p:txBody>
          <a:bodyPr/>
          <a:lstStyle/>
          <a:p>
            <a:pPr eaLnBrk="1" hangingPunct="1"/>
            <a:r>
              <a:rPr lang="en-US" altLang="en-US"/>
              <a:t>Time Quantum and Context Switch Time</a:t>
            </a:r>
          </a:p>
        </p:txBody>
      </p:sp>
      <p:pic>
        <p:nvPicPr>
          <p:cNvPr id="31747" name="Picture 7">
            <a:extLst>
              <a:ext uri="{FF2B5EF4-FFF2-40B4-BE49-F238E27FC236}">
                <a16:creationId xmlns:a16="http://schemas.microsoft.com/office/drawing/2014/main" id="{27910499-9DAB-DF85-723A-99DE5459E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538" y="1857375"/>
            <a:ext cx="7065962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8" name="Rectangle 3">
            <a:extLst>
              <a:ext uri="{FF2B5EF4-FFF2-40B4-BE49-F238E27FC236}">
                <a16:creationId xmlns:a16="http://schemas.microsoft.com/office/drawing/2014/main" id="{2D72E173-F875-67C3-88F7-002C53FA8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15013"/>
            <a:ext cx="9144000" cy="10429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0BD1A4DE-166A-480C-B490-A12F1885483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42925" y="392113"/>
            <a:ext cx="8385175" cy="504825"/>
          </a:xfrm>
        </p:spPr>
        <p:txBody>
          <a:bodyPr/>
          <a:lstStyle/>
          <a:p>
            <a:pPr eaLnBrk="1" hangingPunct="1"/>
            <a:r>
              <a:rPr lang="en-US" altLang="en-US" sz="2800"/>
              <a:t>Turnaround Time Varies With</a:t>
            </a:r>
            <a:br>
              <a:rPr lang="en-US" altLang="en-US" sz="2800"/>
            </a:br>
            <a:r>
              <a:rPr lang="en-US" altLang="en-US" sz="2800"/>
              <a:t>The Time Quantum</a:t>
            </a:r>
          </a:p>
        </p:txBody>
      </p:sp>
      <p:pic>
        <p:nvPicPr>
          <p:cNvPr id="32771" name="Picture 4" descr="5">
            <a:extLst>
              <a:ext uri="{FF2B5EF4-FFF2-40B4-BE49-F238E27FC236}">
                <a16:creationId xmlns:a16="http://schemas.microsoft.com/office/drawing/2014/main" id="{F54D2CED-731B-8AD8-7E90-4721B3EFD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375" y="1238250"/>
            <a:ext cx="6143625" cy="508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2" name="Rectangle 3">
            <a:extLst>
              <a:ext uri="{FF2B5EF4-FFF2-40B4-BE49-F238E27FC236}">
                <a16:creationId xmlns:a16="http://schemas.microsoft.com/office/drawing/2014/main" id="{3D86A6DB-AFF0-E624-E655-FB98DEABB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18250"/>
            <a:ext cx="9144000" cy="5397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0122216B-5440-9CE9-BB20-F9FA042AD1F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Multilevel Queue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62E4F98C-64F9-AA8E-CF61-B4ABE595D20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33413" y="1190625"/>
            <a:ext cx="7731125" cy="5016500"/>
          </a:xfrm>
        </p:spPr>
        <p:txBody>
          <a:bodyPr/>
          <a:lstStyle/>
          <a:p>
            <a:pPr eaLnBrk="1" hangingPunct="1"/>
            <a:r>
              <a:rPr lang="en-US" altLang="en-US"/>
              <a:t>Ready queue is partitioned into separate queues:</a:t>
            </a:r>
            <a:br>
              <a:rPr lang="en-US" altLang="en-US"/>
            </a:br>
            <a:r>
              <a:rPr lang="en-US" altLang="en-US"/>
              <a:t>foreground (interactive)</a:t>
            </a:r>
            <a:br>
              <a:rPr lang="en-US" altLang="en-US"/>
            </a:br>
            <a:r>
              <a:rPr lang="en-US" altLang="en-US"/>
              <a:t>background (batch)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/>
              <a:t>Each queue has its own scheduling algorithm</a:t>
            </a:r>
          </a:p>
          <a:p>
            <a:pPr lvl="1" eaLnBrk="1" hangingPunct="1"/>
            <a:r>
              <a:rPr lang="en-US" altLang="en-US"/>
              <a:t>foreground – RR</a:t>
            </a:r>
          </a:p>
          <a:p>
            <a:pPr lvl="1" eaLnBrk="1" hangingPunct="1"/>
            <a:r>
              <a:rPr lang="en-US" altLang="en-US"/>
              <a:t>background – FCFS</a:t>
            </a:r>
          </a:p>
          <a:p>
            <a:pPr lvl="1" eaLnBrk="1" hangingPunct="1"/>
            <a:endParaRPr lang="en-US" altLang="en-US" sz="800"/>
          </a:p>
          <a:p>
            <a:pPr eaLnBrk="1" hangingPunct="1"/>
            <a:r>
              <a:rPr lang="en-US" altLang="en-US"/>
              <a:t>Scheduling must be done between the queues</a:t>
            </a:r>
          </a:p>
          <a:p>
            <a:pPr lvl="1" eaLnBrk="1" hangingPunct="1"/>
            <a:r>
              <a:rPr lang="en-US" altLang="en-US"/>
              <a:t>Fixed priority scheduling; (i.e., serve all from foreground then from background).  Possibility of starvation.</a:t>
            </a:r>
          </a:p>
          <a:p>
            <a:pPr lvl="1" eaLnBrk="1" hangingPunct="1"/>
            <a:r>
              <a:rPr lang="en-US" altLang="en-US"/>
              <a:t>Time slice – each queue gets a certain amount of CPU time which it can schedule amongst its processes; i.e., 80% to foreground in RR</a:t>
            </a:r>
          </a:p>
          <a:p>
            <a:pPr lvl="1" eaLnBrk="1" hangingPunct="1"/>
            <a:r>
              <a:rPr lang="en-US" altLang="en-US"/>
              <a:t>20% to background in FCFS </a:t>
            </a:r>
          </a:p>
        </p:txBody>
      </p:sp>
      <p:sp>
        <p:nvSpPr>
          <p:cNvPr id="33796" name="Rectangle 4">
            <a:extLst>
              <a:ext uri="{FF2B5EF4-FFF2-40B4-BE49-F238E27FC236}">
                <a16:creationId xmlns:a16="http://schemas.microsoft.com/office/drawing/2014/main" id="{8D4BEE5E-931B-8C86-1CF6-8D9BBE051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15013"/>
            <a:ext cx="9144000" cy="10429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71DF0758-EC22-184E-1216-8B5D065F2AC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Multilevel Queue Scheduling</a:t>
            </a:r>
          </a:p>
        </p:txBody>
      </p:sp>
      <p:pic>
        <p:nvPicPr>
          <p:cNvPr id="34819" name="Picture 4" descr="5">
            <a:extLst>
              <a:ext uri="{FF2B5EF4-FFF2-40B4-BE49-F238E27FC236}">
                <a16:creationId xmlns:a16="http://schemas.microsoft.com/office/drawing/2014/main" id="{02869A31-E045-1BF7-AD28-EEA4C4BA6F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63" y="1387475"/>
            <a:ext cx="6913562" cy="457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0" name="Rectangle 3">
            <a:extLst>
              <a:ext uri="{FF2B5EF4-FFF2-40B4-BE49-F238E27FC236}">
                <a16:creationId xmlns:a16="http://schemas.microsoft.com/office/drawing/2014/main" id="{231CD9A0-BE75-7E3C-81C3-E55E0B5F2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143625"/>
            <a:ext cx="9144000" cy="714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34000975-1FCE-425C-932F-8C8970E662F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781050" y="201613"/>
            <a:ext cx="7905750" cy="576262"/>
          </a:xfrm>
        </p:spPr>
        <p:txBody>
          <a:bodyPr/>
          <a:lstStyle/>
          <a:p>
            <a:pPr eaLnBrk="1" hangingPunct="1"/>
            <a:r>
              <a:rPr lang="en-US" altLang="en-US"/>
              <a:t>Multilevel Feedback Queue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3D492614-AB99-490B-43B8-9A4362B743C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27088" y="1325563"/>
            <a:ext cx="7599362" cy="4483100"/>
          </a:xfrm>
        </p:spPr>
        <p:txBody>
          <a:bodyPr/>
          <a:lstStyle/>
          <a:p>
            <a:pPr eaLnBrk="1" hangingPunct="1"/>
            <a:r>
              <a:rPr lang="en-US" altLang="en-US"/>
              <a:t>A process can move between the various queues; aging can be implemented this way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/>
              <a:t>Multilevel-feedback-queue scheduler defined by the following parameters:</a:t>
            </a:r>
          </a:p>
          <a:p>
            <a:pPr lvl="1" eaLnBrk="1" hangingPunct="1"/>
            <a:r>
              <a:rPr lang="en-US" altLang="en-US"/>
              <a:t>number of queues</a:t>
            </a:r>
          </a:p>
          <a:p>
            <a:pPr lvl="1" eaLnBrk="1" hangingPunct="1"/>
            <a:r>
              <a:rPr lang="en-US" altLang="en-US"/>
              <a:t>scheduling algorithms for each queue</a:t>
            </a:r>
          </a:p>
          <a:p>
            <a:pPr lvl="1" eaLnBrk="1" hangingPunct="1"/>
            <a:r>
              <a:rPr lang="en-US" altLang="en-US"/>
              <a:t>method used to determine when to upgrade a process</a:t>
            </a:r>
          </a:p>
          <a:p>
            <a:pPr lvl="1" eaLnBrk="1" hangingPunct="1"/>
            <a:r>
              <a:rPr lang="en-US" altLang="en-US"/>
              <a:t>method used to determine when to demote a process</a:t>
            </a:r>
          </a:p>
          <a:p>
            <a:pPr lvl="1" eaLnBrk="1" hangingPunct="1"/>
            <a:r>
              <a:rPr lang="en-US" altLang="en-US"/>
              <a:t>method used to determine which queue a process will enter when that process needs service</a:t>
            </a:r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492BBDCD-F07B-CECF-B0A7-E74757E68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15013"/>
            <a:ext cx="9144000" cy="10429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DD613F3B-5FE7-33F8-5D48-BB8ACF961B0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131888" y="114300"/>
            <a:ext cx="7772400" cy="644525"/>
          </a:xfrm>
        </p:spPr>
        <p:txBody>
          <a:bodyPr/>
          <a:lstStyle/>
          <a:p>
            <a:pPr eaLnBrk="1" hangingPunct="1"/>
            <a:r>
              <a:rPr lang="en-US" altLang="en-US"/>
              <a:t>Example of Multilevel Feedback Queue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95ACAFB6-BA4C-C770-0DCB-06954C54C37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Three queues: </a:t>
            </a:r>
          </a:p>
          <a:p>
            <a:pPr lvl="1" eaLnBrk="1" hangingPunct="1"/>
            <a:r>
              <a:rPr lang="en-US" altLang="en-US" i="1"/>
              <a:t>Q</a:t>
            </a:r>
            <a:r>
              <a:rPr lang="en-US" altLang="en-US" baseline="-25000"/>
              <a:t>0</a:t>
            </a:r>
            <a:r>
              <a:rPr lang="en-US" altLang="en-US"/>
              <a:t> – RR with time quantum 8 milliseconds</a:t>
            </a:r>
          </a:p>
          <a:p>
            <a:pPr lvl="1" eaLnBrk="1" hangingPunct="1"/>
            <a:r>
              <a:rPr lang="en-US" altLang="en-US" i="1"/>
              <a:t>Q</a:t>
            </a:r>
            <a:r>
              <a:rPr lang="en-US" altLang="en-US" baseline="-25000"/>
              <a:t>1</a:t>
            </a:r>
            <a:r>
              <a:rPr lang="en-US" altLang="en-US"/>
              <a:t> – RR time quantum 16 milliseconds</a:t>
            </a:r>
          </a:p>
          <a:p>
            <a:pPr lvl="1" eaLnBrk="1" hangingPunct="1"/>
            <a:r>
              <a:rPr lang="en-US" altLang="en-US" i="1"/>
              <a:t>Q</a:t>
            </a:r>
            <a:r>
              <a:rPr lang="en-US" altLang="en-US" baseline="-25000"/>
              <a:t>2</a:t>
            </a:r>
            <a:r>
              <a:rPr lang="en-US" altLang="en-US"/>
              <a:t> – FCFS</a:t>
            </a:r>
          </a:p>
          <a:p>
            <a:pPr lvl="1" eaLnBrk="1" hangingPunct="1"/>
            <a:endParaRPr lang="en-US" altLang="en-US" sz="800"/>
          </a:p>
          <a:p>
            <a:pPr eaLnBrk="1" hangingPunct="1"/>
            <a:r>
              <a:rPr lang="en-US" altLang="en-US"/>
              <a:t>Scheduling</a:t>
            </a:r>
          </a:p>
          <a:p>
            <a:pPr lvl="1" eaLnBrk="1" hangingPunct="1"/>
            <a:r>
              <a:rPr lang="en-US" altLang="en-US"/>
              <a:t>A new job enters queue </a:t>
            </a:r>
            <a:r>
              <a:rPr lang="en-US" altLang="en-US" i="1"/>
              <a:t>Q</a:t>
            </a:r>
            <a:r>
              <a:rPr lang="en-US" altLang="en-US" i="1" baseline="-25000"/>
              <a:t>0</a:t>
            </a:r>
            <a:r>
              <a:rPr lang="en-US" altLang="en-US" i="1"/>
              <a:t> </a:t>
            </a:r>
            <a:r>
              <a:rPr lang="en-US" altLang="en-US"/>
              <a:t>which is served</a:t>
            </a:r>
            <a:r>
              <a:rPr lang="en-US" altLang="en-US" i="1"/>
              <a:t> </a:t>
            </a:r>
            <a:r>
              <a:rPr lang="en-US" altLang="en-US"/>
              <a:t>FCFS. When it gains CPU, job receives 8 milliseconds.  If it does not finish in 8 milliseconds, job is moved to queue </a:t>
            </a:r>
            <a:r>
              <a:rPr lang="en-US" altLang="en-US" i="1"/>
              <a:t>Q</a:t>
            </a:r>
            <a:r>
              <a:rPr lang="en-US" altLang="en-US" baseline="-25000"/>
              <a:t>1</a:t>
            </a:r>
            <a:r>
              <a:rPr lang="en-US" altLang="en-US"/>
              <a:t>.</a:t>
            </a:r>
          </a:p>
          <a:p>
            <a:pPr lvl="1" eaLnBrk="1" hangingPunct="1"/>
            <a:r>
              <a:rPr lang="en-US" altLang="en-US"/>
              <a:t>At </a:t>
            </a:r>
            <a:r>
              <a:rPr lang="en-US" altLang="en-US" i="1"/>
              <a:t>Q</a:t>
            </a:r>
            <a:r>
              <a:rPr lang="en-US" altLang="en-US" baseline="-25000"/>
              <a:t>1</a:t>
            </a:r>
            <a:r>
              <a:rPr lang="en-US" altLang="en-US"/>
              <a:t> job is again served FCFS and receives 16 additional milliseconds.  If it still does not complete, it is preempted and moved to queue </a:t>
            </a:r>
            <a:r>
              <a:rPr lang="en-US" altLang="en-US" i="1"/>
              <a:t>Q</a:t>
            </a:r>
            <a:r>
              <a:rPr lang="en-US" altLang="en-US" baseline="-25000"/>
              <a:t>2</a:t>
            </a:r>
            <a:r>
              <a:rPr lang="en-US" altLang="en-US"/>
              <a:t>.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436CDE07-72B8-29C0-74EF-CCFE71C19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15013"/>
            <a:ext cx="9144000" cy="10429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79BA7164-D573-275B-1590-140B0E86456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47725" y="201613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/>
              <a:t>Multilevel Feedback Queues</a:t>
            </a:r>
          </a:p>
        </p:txBody>
      </p:sp>
      <p:pic>
        <p:nvPicPr>
          <p:cNvPr id="37891" name="Picture 4" descr="5">
            <a:extLst>
              <a:ext uri="{FF2B5EF4-FFF2-40B4-BE49-F238E27FC236}">
                <a16:creationId xmlns:a16="http://schemas.microsoft.com/office/drawing/2014/main" id="{B1FACA57-C3BC-2421-642C-5FDE85FFE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5263" y="1495425"/>
            <a:ext cx="6742112" cy="410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2" name="Rectangle 3">
            <a:extLst>
              <a:ext uri="{FF2B5EF4-FFF2-40B4-BE49-F238E27FC236}">
                <a16:creationId xmlns:a16="http://schemas.microsoft.com/office/drawing/2014/main" id="{C715E38A-ADDC-B2C8-ADD2-4ECD24EBE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15013"/>
            <a:ext cx="9144000" cy="10429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F1EE60CD-D7F9-4548-9359-390C831C6A7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790575" y="201613"/>
            <a:ext cx="7896225" cy="576262"/>
          </a:xfrm>
        </p:spPr>
        <p:txBody>
          <a:bodyPr/>
          <a:lstStyle/>
          <a:p>
            <a:pPr eaLnBrk="1" hangingPunct="1"/>
            <a:r>
              <a:rPr lang="en-US" altLang="en-US"/>
              <a:t>Multiple-Processor Scheduling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76675E9C-4AB2-E777-FB9C-1BAF90FE048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27088" y="1277938"/>
            <a:ext cx="7493000" cy="4543425"/>
          </a:xfrm>
        </p:spPr>
        <p:txBody>
          <a:bodyPr/>
          <a:lstStyle/>
          <a:p>
            <a:pPr eaLnBrk="1" hangingPunct="1"/>
            <a:r>
              <a:rPr lang="en-US" altLang="en-US"/>
              <a:t>CPU scheduling more complex when multiple CPUs are available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 b="1"/>
              <a:t>Homogeneous processors </a:t>
            </a:r>
            <a:r>
              <a:rPr lang="en-US" altLang="en-US"/>
              <a:t>within a multiprocessor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 b="1"/>
              <a:t>Asymmetric multiprocessing </a:t>
            </a:r>
            <a:r>
              <a:rPr lang="en-US" altLang="en-US"/>
              <a:t>– only one processor accesses the system data structures, alleviating the need for data sharing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 b="1"/>
              <a:t>Symmetric multiprocessing  (SMP) </a:t>
            </a:r>
            <a:r>
              <a:rPr lang="en-US" altLang="en-US"/>
              <a:t>– each processor is self-scheduling, all processes in common ready queue, or each has its own private queue of ready processes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 b="1"/>
              <a:t>Processor affinity </a:t>
            </a:r>
            <a:r>
              <a:rPr lang="en-US" altLang="en-US"/>
              <a:t>– process has affinity for processor on which it is currently running</a:t>
            </a:r>
          </a:p>
          <a:p>
            <a:pPr lvl="1" eaLnBrk="1" hangingPunct="1"/>
            <a:r>
              <a:rPr lang="en-US" altLang="en-US" b="1"/>
              <a:t>soft affinity</a:t>
            </a:r>
          </a:p>
          <a:p>
            <a:pPr lvl="1" eaLnBrk="1" hangingPunct="1"/>
            <a:r>
              <a:rPr lang="en-US" altLang="en-US" b="1"/>
              <a:t>hard affinity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5FBC1330-0911-3664-AEF4-E0463B3D229C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NUMA and CPU Scheduling</a:t>
            </a:r>
          </a:p>
        </p:txBody>
      </p:sp>
      <p:pic>
        <p:nvPicPr>
          <p:cNvPr id="39939" name="Picture 4" descr="5">
            <a:extLst>
              <a:ext uri="{FF2B5EF4-FFF2-40B4-BE49-F238E27FC236}">
                <a16:creationId xmlns:a16="http://schemas.microsoft.com/office/drawing/2014/main" id="{7BA5A093-2E2C-25CC-4CE0-4B952A98F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981200"/>
            <a:ext cx="5830888" cy="311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C63BE389-4C44-2546-3E92-40E48DBA7D7F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Multicore Processors</a:t>
            </a:r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6F23D465-B189-7D89-5B0E-43080DF1982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33413" y="1266825"/>
            <a:ext cx="7731125" cy="4454525"/>
          </a:xfrm>
        </p:spPr>
        <p:txBody>
          <a:bodyPr/>
          <a:lstStyle/>
          <a:p>
            <a:pPr eaLnBrk="1" hangingPunct="1"/>
            <a:r>
              <a:rPr lang="en-US" altLang="en-US"/>
              <a:t>Recent trend to place multiple processor cores on same physical chip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/>
              <a:t>Faster and consume less power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/>
              <a:t>Multiple threads per core also growing</a:t>
            </a:r>
          </a:p>
          <a:p>
            <a:pPr lvl="1" eaLnBrk="1" hangingPunct="1"/>
            <a:r>
              <a:rPr lang="en-US" altLang="en-US"/>
              <a:t>Takes advantage of memory stall to make progress on another thread while memory retrieve happens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/>
              <a:t>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1462D0C5-3322-DEDE-07C4-35753D8C34A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23925" y="201613"/>
            <a:ext cx="7762875" cy="576262"/>
          </a:xfrm>
        </p:spPr>
        <p:txBody>
          <a:bodyPr/>
          <a:lstStyle/>
          <a:p>
            <a:pPr eaLnBrk="1" hangingPunct="1"/>
            <a:r>
              <a:rPr lang="en-US" altLang="en-US"/>
              <a:t>Multithreaded Multicore System</a:t>
            </a:r>
          </a:p>
        </p:txBody>
      </p:sp>
      <p:pic>
        <p:nvPicPr>
          <p:cNvPr id="41987" name="Picture 4" descr="5">
            <a:extLst>
              <a:ext uri="{FF2B5EF4-FFF2-40B4-BE49-F238E27FC236}">
                <a16:creationId xmlns:a16="http://schemas.microsoft.com/office/drawing/2014/main" id="{F2A20F62-653F-AB0C-121B-20FB954A4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552700"/>
            <a:ext cx="6781800" cy="167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010D042A-E4B0-C583-57B8-47E58B7F201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95350" y="201613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/>
              <a:t>Operating System Examples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F8957355-8A0C-7DBA-C4D0-E274AD3504F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55650" y="1109663"/>
            <a:ext cx="6843713" cy="3508375"/>
          </a:xfrm>
        </p:spPr>
        <p:txBody>
          <a:bodyPr/>
          <a:lstStyle/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Solaris scheduling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/>
              <a:t>Windows XP scheduling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/>
              <a:t>Linux scheduling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E828DC03-32A6-32FE-9F77-866F5E0C72E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Solaris Dispatch Table </a:t>
            </a:r>
          </a:p>
        </p:txBody>
      </p:sp>
      <p:pic>
        <p:nvPicPr>
          <p:cNvPr id="44035" name="Picture 4">
            <a:extLst>
              <a:ext uri="{FF2B5EF4-FFF2-40B4-BE49-F238E27FC236}">
                <a16:creationId xmlns:a16="http://schemas.microsoft.com/office/drawing/2014/main" id="{FC7AB023-DF5A-6FEC-4E30-E0421EC06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9638" y="1577975"/>
            <a:ext cx="4975225" cy="449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B694C0E3-1E7F-EFB4-9664-954FFCDB8A45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Solaris Scheduling</a:t>
            </a:r>
          </a:p>
        </p:txBody>
      </p:sp>
      <p:pic>
        <p:nvPicPr>
          <p:cNvPr id="45059" name="Picture 4" descr="5">
            <a:extLst>
              <a:ext uri="{FF2B5EF4-FFF2-40B4-BE49-F238E27FC236}">
                <a16:creationId xmlns:a16="http://schemas.microsoft.com/office/drawing/2014/main" id="{F3AB21E4-ED97-8205-A604-1A5B54FA6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9063" y="1241425"/>
            <a:ext cx="3321050" cy="515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D266FF0F-DB42-8732-F6AA-E6B2060580A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Windows XP Priorities</a:t>
            </a:r>
          </a:p>
        </p:txBody>
      </p:sp>
      <p:pic>
        <p:nvPicPr>
          <p:cNvPr id="46083" name="Picture 6">
            <a:extLst>
              <a:ext uri="{FF2B5EF4-FFF2-40B4-BE49-F238E27FC236}">
                <a16:creationId xmlns:a16="http://schemas.microsoft.com/office/drawing/2014/main" id="{2F2373EF-AD3D-E0E2-52E5-DD62A01D5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801813"/>
            <a:ext cx="7388225" cy="305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5E353C08-282D-C218-961B-EB1735C8770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Linux Scheduling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332E1647-CCA8-CAB9-66D8-C5973782061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27088" y="1411288"/>
            <a:ext cx="7351712" cy="44831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Constant order </a:t>
            </a:r>
            <a:r>
              <a:rPr lang="en-US" altLang="en-US" i="1"/>
              <a:t>O</a:t>
            </a:r>
            <a:r>
              <a:rPr lang="en-US" altLang="en-US"/>
              <a:t>(1) scheduling time</a:t>
            </a:r>
          </a:p>
          <a:p>
            <a:pPr eaLnBrk="1" hangingPunct="1">
              <a:lnSpc>
                <a:spcPct val="90000"/>
              </a:lnSpc>
            </a:pPr>
            <a:endParaRPr lang="en-US" altLang="en-US" sz="800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Two priority ranges: time-sharing and real-time</a:t>
            </a:r>
          </a:p>
          <a:p>
            <a:pPr eaLnBrk="1" hangingPunct="1">
              <a:lnSpc>
                <a:spcPct val="90000"/>
              </a:lnSpc>
            </a:pPr>
            <a:endParaRPr lang="en-US" altLang="en-US" sz="800"/>
          </a:p>
          <a:p>
            <a:pPr eaLnBrk="1" hangingPunct="1">
              <a:lnSpc>
                <a:spcPct val="90000"/>
              </a:lnSpc>
            </a:pPr>
            <a:r>
              <a:rPr lang="en-US" altLang="en-US" b="1"/>
              <a:t>Real-time </a:t>
            </a:r>
            <a:r>
              <a:rPr lang="en-US" altLang="en-US"/>
              <a:t>range from 0 to 99 and </a:t>
            </a:r>
            <a:r>
              <a:rPr lang="en-US" altLang="en-US" b="1"/>
              <a:t>nice </a:t>
            </a:r>
            <a:r>
              <a:rPr lang="en-US" altLang="en-US"/>
              <a:t>value from 100 to 140</a:t>
            </a:r>
          </a:p>
          <a:p>
            <a:pPr eaLnBrk="1" hangingPunct="1">
              <a:lnSpc>
                <a:spcPct val="90000"/>
              </a:lnSpc>
            </a:pPr>
            <a:endParaRPr lang="en-US" altLang="en-US" sz="800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(figure 5.15)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4CE0CD0A-E0C1-0475-93BB-9F5C6435EDE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09638" y="180975"/>
            <a:ext cx="7820025" cy="630238"/>
          </a:xfrm>
        </p:spPr>
        <p:txBody>
          <a:bodyPr/>
          <a:lstStyle/>
          <a:p>
            <a:pPr eaLnBrk="1" hangingPunct="1"/>
            <a:r>
              <a:rPr lang="en-US" altLang="en-US"/>
              <a:t>Priorities and Time-slice length</a:t>
            </a:r>
          </a:p>
        </p:txBody>
      </p:sp>
      <p:pic>
        <p:nvPicPr>
          <p:cNvPr id="48131" name="Picture 4">
            <a:extLst>
              <a:ext uri="{FF2B5EF4-FFF2-40B4-BE49-F238E27FC236}">
                <a16:creationId xmlns:a16="http://schemas.microsoft.com/office/drawing/2014/main" id="{5A1A7A98-C2BF-F00A-CD1B-383BA7393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788" y="1379538"/>
            <a:ext cx="7437437" cy="421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DAE44C2D-2064-77FC-71E2-5545CD03F9E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00100" y="220663"/>
            <a:ext cx="8296275" cy="576262"/>
          </a:xfrm>
        </p:spPr>
        <p:txBody>
          <a:bodyPr/>
          <a:lstStyle/>
          <a:p>
            <a:pPr eaLnBrk="1" hangingPunct="1"/>
            <a:r>
              <a:rPr lang="en-US" altLang="en-US" sz="3000"/>
              <a:t>List of Tasks Indexed According to Priorities</a:t>
            </a:r>
          </a:p>
        </p:txBody>
      </p:sp>
      <p:pic>
        <p:nvPicPr>
          <p:cNvPr id="49155" name="Picture 4">
            <a:extLst>
              <a:ext uri="{FF2B5EF4-FFF2-40B4-BE49-F238E27FC236}">
                <a16:creationId xmlns:a16="http://schemas.microsoft.com/office/drawing/2014/main" id="{A24AAAEA-4147-BE05-EC1E-7DFA0A49D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513" y="1936750"/>
            <a:ext cx="6735762" cy="322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A218B5C8-B0C5-249F-EB96-438D9F181AA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723900" y="201613"/>
            <a:ext cx="7962900" cy="576262"/>
          </a:xfrm>
        </p:spPr>
        <p:txBody>
          <a:bodyPr/>
          <a:lstStyle/>
          <a:p>
            <a:pPr eaLnBrk="1" hangingPunct="1"/>
            <a:r>
              <a:rPr lang="en-US" altLang="en-US"/>
              <a:t>Algorithm Evaluation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EC656DE2-AF57-5E83-30C1-7A027A8770C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27088" y="1382713"/>
            <a:ext cx="7483475" cy="4643437"/>
          </a:xfrm>
        </p:spPr>
        <p:txBody>
          <a:bodyPr/>
          <a:lstStyle/>
          <a:p>
            <a:pPr eaLnBrk="1" hangingPunct="1"/>
            <a:r>
              <a:rPr lang="en-US" altLang="en-US"/>
              <a:t>Deterministic modeling – takes a particular predetermined workload and defines the performance of each algorithm  for that workload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/>
              <a:t>Queueing models</a:t>
            </a:r>
          </a:p>
          <a:p>
            <a:pPr eaLnBrk="1" hangingPunct="1"/>
            <a:endParaRPr lang="en-US" altLang="en-US" sz="800"/>
          </a:p>
          <a:p>
            <a:pPr eaLnBrk="1" hangingPunct="1"/>
            <a:r>
              <a:rPr lang="en-US" altLang="en-US"/>
              <a:t>Implementation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32725352-A9B3-FC1B-1C61-0235961B2EE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19150" y="2111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z="3000"/>
              <a:t>Evaluation of CPU schedulers by Simulation</a:t>
            </a:r>
          </a:p>
        </p:txBody>
      </p:sp>
      <p:pic>
        <p:nvPicPr>
          <p:cNvPr id="51203" name="Picture 4" descr="5">
            <a:extLst>
              <a:ext uri="{FF2B5EF4-FFF2-40B4-BE49-F238E27FC236}">
                <a16:creationId xmlns:a16="http://schemas.microsoft.com/office/drawing/2014/main" id="{F659FB0B-F72F-D4C3-F5C0-168A76ABD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1122363"/>
            <a:ext cx="7535863" cy="4697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856A79A6-EC54-C335-E166-762ED99D674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401763"/>
            <a:ext cx="7772400" cy="1470025"/>
          </a:xfrm>
        </p:spPr>
        <p:txBody>
          <a:bodyPr/>
          <a:lstStyle/>
          <a:p>
            <a:pPr eaLnBrk="1" hangingPunct="1"/>
            <a:r>
              <a:rPr lang="en-US" altLang="en-US"/>
              <a:t>End of Chapter 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58DF2553-42B5-2FE3-8CC3-D05A0068744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5.08</a:t>
            </a:r>
          </a:p>
        </p:txBody>
      </p:sp>
      <p:pic>
        <p:nvPicPr>
          <p:cNvPr id="53251" name="Picture 4">
            <a:extLst>
              <a:ext uri="{FF2B5EF4-FFF2-40B4-BE49-F238E27FC236}">
                <a16:creationId xmlns:a16="http://schemas.microsoft.com/office/drawing/2014/main" id="{338502D1-44BF-D36C-C8CD-2395AD7B1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188" y="2000250"/>
            <a:ext cx="7154862" cy="249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0E1D4204-6081-603B-36E6-F7E8771411C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In-5.7</a:t>
            </a:r>
          </a:p>
        </p:txBody>
      </p:sp>
      <p:pic>
        <p:nvPicPr>
          <p:cNvPr id="54275" name="Picture 4">
            <a:extLst>
              <a:ext uri="{FF2B5EF4-FFF2-40B4-BE49-F238E27FC236}">
                <a16:creationId xmlns:a16="http://schemas.microsoft.com/office/drawing/2014/main" id="{A47B607F-1790-13BA-06C4-BACAD73560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838" y="2055813"/>
            <a:ext cx="7343775" cy="1147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7D1CA3D0-02E8-FF00-8228-B7D613C62FC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In-5.8</a:t>
            </a:r>
          </a:p>
        </p:txBody>
      </p:sp>
      <p:pic>
        <p:nvPicPr>
          <p:cNvPr id="55299" name="Picture 5">
            <a:extLst>
              <a:ext uri="{FF2B5EF4-FFF2-40B4-BE49-F238E27FC236}">
                <a16:creationId xmlns:a16="http://schemas.microsoft.com/office/drawing/2014/main" id="{543C7456-5DA4-AD2D-FE2E-BBD865A836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425" y="2263775"/>
            <a:ext cx="7648575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976F4568-78A9-970D-FDFF-FF9C79DD7A9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In-5.9</a:t>
            </a:r>
          </a:p>
        </p:txBody>
      </p:sp>
      <p:pic>
        <p:nvPicPr>
          <p:cNvPr id="56323" name="Picture 3">
            <a:extLst>
              <a:ext uri="{FF2B5EF4-FFF2-40B4-BE49-F238E27FC236}">
                <a16:creationId xmlns:a16="http://schemas.microsoft.com/office/drawing/2014/main" id="{E32F1820-276A-19FB-15CF-A35E8EC29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" t="42131" r="1271" b="42615"/>
          <a:stretch>
            <a:fillRect/>
          </a:stretch>
        </p:blipFill>
        <p:spPr bwMode="auto">
          <a:xfrm>
            <a:off x="938213" y="2251075"/>
            <a:ext cx="7515225" cy="87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C13995F4-A5CE-CF51-36DB-D4259B5CB66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Dispatch Latency</a:t>
            </a:r>
          </a:p>
        </p:txBody>
      </p:sp>
      <p:pic>
        <p:nvPicPr>
          <p:cNvPr id="57347" name="Picture 3">
            <a:extLst>
              <a:ext uri="{FF2B5EF4-FFF2-40B4-BE49-F238E27FC236}">
                <a16:creationId xmlns:a16="http://schemas.microsoft.com/office/drawing/2014/main" id="{D1C87508-5415-8549-3827-80B0B2CC5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79" t="16327" r="30817" b="50131"/>
          <a:stretch>
            <a:fillRect/>
          </a:stretch>
        </p:blipFill>
        <p:spPr bwMode="auto">
          <a:xfrm>
            <a:off x="1452563" y="1668463"/>
            <a:ext cx="6154737" cy="410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FE60A3FE-2805-7A2E-09F2-1192DEEC715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Java Thread Scheduling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72971368-03DE-D502-5EA4-57DEC227535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33413" y="1562100"/>
            <a:ext cx="7731125" cy="3155950"/>
          </a:xfrm>
        </p:spPr>
        <p:txBody>
          <a:bodyPr/>
          <a:lstStyle/>
          <a:p>
            <a:pPr eaLnBrk="1" hangingPunct="1"/>
            <a:r>
              <a:rPr lang="en-US" altLang="en-US"/>
              <a:t>JVM Uses a Preemptive, Priority-Based Scheduling Algorithm</a:t>
            </a:r>
            <a:br>
              <a:rPr lang="en-US" altLang="en-US"/>
            </a:br>
            <a:endParaRPr lang="en-US" altLang="en-US" sz="800"/>
          </a:p>
          <a:p>
            <a:pPr eaLnBrk="1" hangingPunct="1"/>
            <a:r>
              <a:rPr lang="en-US" altLang="en-US"/>
              <a:t>FIFO Queue is Used if There Are Multiple Threads With the Same Priority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DFF19B5E-A8D5-DB6E-5F01-4668F14865C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76300" y="201613"/>
            <a:ext cx="7810500" cy="576262"/>
          </a:xfrm>
        </p:spPr>
        <p:txBody>
          <a:bodyPr/>
          <a:lstStyle/>
          <a:p>
            <a:pPr eaLnBrk="1" hangingPunct="1"/>
            <a:r>
              <a:rPr lang="en-US" altLang="en-US"/>
              <a:t>Java Thread Scheduling (Cont.)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111D354F-DA57-F923-B382-0FABFDE5813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JVM Schedules a Thread to Run When: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marL="800100" lvl="1" indent="-342900" eaLnBrk="1" hangingPunct="1">
              <a:buFontTx/>
              <a:buAutoNum type="arabicPeriod"/>
            </a:pPr>
            <a:r>
              <a:rPr lang="en-US" altLang="en-US"/>
              <a:t>The Currently Running Thread Exits the Runnable State</a:t>
            </a:r>
          </a:p>
          <a:p>
            <a:pPr marL="800100" lvl="1" indent="-342900" eaLnBrk="1" hangingPunct="1">
              <a:buFontTx/>
              <a:buAutoNum type="arabicPeriod"/>
            </a:pPr>
            <a:r>
              <a:rPr lang="en-US" altLang="en-US"/>
              <a:t>A Higher Priority Thread Enters the Runnable State</a:t>
            </a:r>
          </a:p>
          <a:p>
            <a:pPr eaLnBrk="1" hangingPunct="1">
              <a:buFontTx/>
              <a:buNone/>
            </a:pPr>
            <a:endParaRPr lang="en-US" altLang="en-US"/>
          </a:p>
          <a:p>
            <a:pPr eaLnBrk="1" hangingPunct="1">
              <a:buFontTx/>
              <a:buNone/>
            </a:pPr>
            <a:r>
              <a:rPr lang="en-US" altLang="en-US"/>
              <a:t>   * Note – the JVM Does Not Specify Whether Threads are Time-Sliced or Not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63F4A40B-634B-A0A8-6B30-84F47655CBD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Time-Slicing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3937DD8F-8585-90D0-B94F-FE7008D1BB7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271588"/>
            <a:ext cx="7848600" cy="4876800"/>
          </a:xfrm>
        </p:spPr>
        <p:txBody>
          <a:bodyPr/>
          <a:lstStyle/>
          <a:p>
            <a:pPr eaLnBrk="1" hangingPunct="1"/>
            <a:r>
              <a:rPr lang="en-US" altLang="en-US"/>
              <a:t>Since the JVM Doesn’t Ensure Time-Slicing, the yield() Method May Be Used:</a:t>
            </a:r>
          </a:p>
          <a:p>
            <a:pPr eaLnBrk="1" hangingPunct="1"/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	while (true)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		// perform CPU-intensive task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		. . 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		Thread.yield();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	}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/>
            <a:r>
              <a:rPr lang="en-US" altLang="en-US"/>
              <a:t>This Yields Control to Another Thread of Equal Priority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0B31FC05-7F35-F476-896A-E91012F9D14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Thread Priorities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63CE6141-03D5-6A59-AD10-39AB011C6FA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00113" y="1401763"/>
            <a:ext cx="7175500" cy="387191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br>
              <a:rPr lang="en-US" altLang="en-US"/>
            </a:br>
            <a:r>
              <a:rPr lang="en-US" altLang="en-US" b="1" u="sng"/>
              <a:t>Priority</a:t>
            </a:r>
            <a:r>
              <a:rPr lang="en-US" altLang="en-US" b="1"/>
              <a:t>			</a:t>
            </a:r>
            <a:r>
              <a:rPr lang="en-US" altLang="en-US" b="1" u="sng"/>
              <a:t>Comment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Thread.MIN_PRIORITY		Minimum Thread Priority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Thread.MAX_PRIORITY	               Maximum Thread Priority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Thread.NORM_PRIORITY	               Default Thread Priority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Priorities May Be Set Using setPriority() method: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	setPriority(Thread.NORM_PRIORITY + 2);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60EC8FF4-88E7-F050-7D5F-0EE18CF8F38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Solaris 2 Scheduling</a:t>
            </a:r>
          </a:p>
        </p:txBody>
      </p:sp>
      <p:pic>
        <p:nvPicPr>
          <p:cNvPr id="62467" name="Picture 5">
            <a:extLst>
              <a:ext uri="{FF2B5EF4-FFF2-40B4-BE49-F238E27FC236}">
                <a16:creationId xmlns:a16="http://schemas.microsoft.com/office/drawing/2014/main" id="{D5C8E127-1A12-0291-A57B-C9D6D2B2B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063" y="1330325"/>
            <a:ext cx="4627562" cy="468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3_os-8">
  <a:themeElements>
    <a:clrScheme name="3_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3_os-8">
      <a:majorFont>
        <a:latin typeface="Arial"/>
        <a:ea typeface="ＭＳ Ｐゴシック"/>
        <a:cs typeface=""/>
      </a:majorFont>
      <a:minorFont>
        <a:latin typeface="Helvetic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charset="0"/>
            <a:ea typeface="ＭＳ Ｐゴシック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charset="0"/>
            <a:ea typeface="ＭＳ Ｐゴシック" charset="-128"/>
          </a:defRPr>
        </a:defPPr>
      </a:lstStyle>
    </a:lnDef>
  </a:objectDefaults>
  <a:extraClrSchemeLst>
    <a:extraClrScheme>
      <a:clrScheme name="3_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6420</TotalTime>
  <Words>2317</Words>
  <Application>Microsoft Office PowerPoint</Application>
  <PresentationFormat>On-screen Show (4:3)</PresentationFormat>
  <Paragraphs>502</Paragraphs>
  <Slides>59</Slides>
  <Notes>51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59</vt:i4>
      </vt:variant>
    </vt:vector>
  </HeadingPairs>
  <TitlesOfParts>
    <vt:vector size="70" baseType="lpstr">
      <vt:lpstr>Verdana</vt:lpstr>
      <vt:lpstr>ＭＳ Ｐゴシック</vt:lpstr>
      <vt:lpstr>Arial</vt:lpstr>
      <vt:lpstr>Helvetica</vt:lpstr>
      <vt:lpstr>Wingdings</vt:lpstr>
      <vt:lpstr>Webdings</vt:lpstr>
      <vt:lpstr>Times New Roman</vt:lpstr>
      <vt:lpstr>Symbol</vt:lpstr>
      <vt:lpstr>3_os-8</vt:lpstr>
      <vt:lpstr>Microsoft Equation</vt:lpstr>
      <vt:lpstr>Microsoft Equation 3.0</vt:lpstr>
      <vt:lpstr>Chapter 5:  CPU Scheduling</vt:lpstr>
      <vt:lpstr>Chapter 5:  CPU Scheduling</vt:lpstr>
      <vt:lpstr>Objectives</vt:lpstr>
      <vt:lpstr>Basic Concepts</vt:lpstr>
      <vt:lpstr>Histogram of CPU-burst Times</vt:lpstr>
      <vt:lpstr>Alternating Sequence of CPU And I/O Bursts</vt:lpstr>
      <vt:lpstr>CPU Scheduler</vt:lpstr>
      <vt:lpstr>Dispatcher</vt:lpstr>
      <vt:lpstr>Scheduling Criteria</vt:lpstr>
      <vt:lpstr>Scheduling Algorithm Optimization Criteria</vt:lpstr>
      <vt:lpstr>First-Come, First-Served (FCFS) Scheduling</vt:lpstr>
      <vt:lpstr>FCFS Scheduling (Cont.)</vt:lpstr>
      <vt:lpstr>Shortest-Job-First (SJF) Scheduling</vt:lpstr>
      <vt:lpstr>Example of Non Preemptive SJF</vt:lpstr>
      <vt:lpstr>Exercise non Preemptive SJF</vt:lpstr>
      <vt:lpstr>Exercise non Preemptive SJF</vt:lpstr>
      <vt:lpstr>Determining Length of Next CPU Burst</vt:lpstr>
      <vt:lpstr>Prediction of the Length of the Next CPU Burst</vt:lpstr>
      <vt:lpstr>Examples of Exponential Averaging</vt:lpstr>
      <vt:lpstr>Example of Preemptive SJF or SRTF</vt:lpstr>
      <vt:lpstr>Exercise Preemptive SJF or SRTF</vt:lpstr>
      <vt:lpstr>Exercise Preemptive SJF or SRTF</vt:lpstr>
      <vt:lpstr>Priority Scheduling</vt:lpstr>
      <vt:lpstr>Example for Priority scheduling</vt:lpstr>
      <vt:lpstr>Preemptive priority scheduling</vt:lpstr>
      <vt:lpstr>Round Robin (RR)</vt:lpstr>
      <vt:lpstr>Example of RR with Time Quantum = 4</vt:lpstr>
      <vt:lpstr>Example:  RR with Time Quantum = 20</vt:lpstr>
      <vt:lpstr>Time Quantum and Context Switch Time</vt:lpstr>
      <vt:lpstr>Turnaround Time Varies With The Time Quantum</vt:lpstr>
      <vt:lpstr>Multilevel Queue</vt:lpstr>
      <vt:lpstr>Multilevel Queue Scheduling</vt:lpstr>
      <vt:lpstr>Multilevel Feedback Queue</vt:lpstr>
      <vt:lpstr>Example of Multilevel Feedback Queue</vt:lpstr>
      <vt:lpstr>Multilevel Feedback Queues</vt:lpstr>
      <vt:lpstr>Multiple-Processor Scheduling</vt:lpstr>
      <vt:lpstr>NUMA and CPU Scheduling</vt:lpstr>
      <vt:lpstr>Multicore Processors</vt:lpstr>
      <vt:lpstr>Multithreaded Multicore System</vt:lpstr>
      <vt:lpstr>Operating System Examples</vt:lpstr>
      <vt:lpstr>Solaris Dispatch Table </vt:lpstr>
      <vt:lpstr>Solaris Scheduling</vt:lpstr>
      <vt:lpstr>Windows XP Priorities</vt:lpstr>
      <vt:lpstr>Linux Scheduling</vt:lpstr>
      <vt:lpstr>Priorities and Time-slice length</vt:lpstr>
      <vt:lpstr>List of Tasks Indexed According to Priorities</vt:lpstr>
      <vt:lpstr>Algorithm Evaluation</vt:lpstr>
      <vt:lpstr>Evaluation of CPU schedulers by Simulation</vt:lpstr>
      <vt:lpstr>End of Chapter 5</vt:lpstr>
      <vt:lpstr>5.08</vt:lpstr>
      <vt:lpstr>In-5.7</vt:lpstr>
      <vt:lpstr>In-5.8</vt:lpstr>
      <vt:lpstr>In-5.9</vt:lpstr>
      <vt:lpstr>Dispatch Latency</vt:lpstr>
      <vt:lpstr>Java Thread Scheduling</vt:lpstr>
      <vt:lpstr>Java Thread Scheduling (Cont.)</vt:lpstr>
      <vt:lpstr>Time-Slicing</vt:lpstr>
      <vt:lpstr>Thread Priorities</vt:lpstr>
      <vt:lpstr>Solaris 2 Scheduling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6:  CPU Scheduling</dc:title>
  <dc:creator>Marilyn Turnamian</dc:creator>
  <cp:lastModifiedBy>S Bhavani</cp:lastModifiedBy>
  <cp:revision>150</cp:revision>
  <cp:lastPrinted>2001-06-14T14:25:09Z</cp:lastPrinted>
  <dcterms:created xsi:type="dcterms:W3CDTF">2008-08-11T20:51:51Z</dcterms:created>
  <dcterms:modified xsi:type="dcterms:W3CDTF">2026-04-07T06:33:52Z</dcterms:modified>
</cp:coreProperties>
</file>