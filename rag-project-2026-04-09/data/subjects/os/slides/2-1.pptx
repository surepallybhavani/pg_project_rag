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55" r:id="rId2"/>
    <p:sldId id="354" r:id="rId3"/>
    <p:sldId id="360" r:id="rId4"/>
    <p:sldId id="358" r:id="rId5"/>
    <p:sldId id="361" r:id="rId6"/>
    <p:sldId id="356" r:id="rId7"/>
    <p:sldId id="357" r:id="rId8"/>
    <p:sldId id="363" r:id="rId9"/>
    <p:sldId id="364" r:id="rId10"/>
    <p:sldId id="366" r:id="rId11"/>
    <p:sldId id="367" r:id="rId12"/>
    <p:sldId id="368" r:id="rId13"/>
    <p:sldId id="369" r:id="rId14"/>
    <p:sldId id="370" r:id="rId15"/>
    <p:sldId id="371" r:id="rId16"/>
    <p:sldId id="372" r:id="rId17"/>
    <p:sldId id="373" r:id="rId18"/>
    <p:sldId id="374" r:id="rId19"/>
    <p:sldId id="375" r:id="rId20"/>
    <p:sldId id="376" r:id="rId21"/>
    <p:sldId id="377" r:id="rId22"/>
    <p:sldId id="378" r:id="rId23"/>
    <p:sldId id="381" r:id="rId24"/>
    <p:sldId id="379" r:id="rId25"/>
    <p:sldId id="380" r:id="rId2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C3300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161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AC95D9C-36C0-C08A-C5CC-A17206DA334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C0257F1-3855-6FB9-268E-D4680ECA74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4BA4AD8-3DCD-C7AF-2C27-ABA6A84CFE7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FC1DBC-2942-4C07-8AA9-E49E2E116EF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1250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A1E2718-1CCB-03F1-00AD-28A1DE7421E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DCE188F-7092-E4A9-CEEA-62B2AE41C86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B6871E7-07CD-5DC2-8DB1-FFC405E957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FF3875-49F2-4905-983C-58BDF14FD9D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9604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74C3BC3-5E32-6E4C-7867-1B1A305F99F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79B0B82-5ED2-55F3-C39A-84ED6AC2E5B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678BEE4-6CE6-63B7-12BE-D49B73F8994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7BC5E4-926A-4A44-ABDB-A612FD7ECD4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0674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F8306F-ACA9-CCA0-8B78-E7898243890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DCE8F6-F21F-7843-4267-6D53A5BD9ED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CF3171-762F-BEC7-5256-377D7DE3BAA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93A809A-FFDF-4464-AEFE-54A554A88A2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7980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4D97FF2-EBC1-8B27-E9BB-AB0EAE8BB26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CF48E9B2-1113-A52A-4599-0C9E98016FB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057AB9E-8DEA-F972-B5C3-47DCDF22D8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BE929BC-BB90-44A9-8CE8-A0D1DF1CBAE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922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1C5F005-720D-198D-5FA4-45A2B14045E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269EE67-D3E6-85E9-C2AE-CE65BC50306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59DC995-F6A8-9E1D-39FF-F31E0D9A7E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05CC46-C4C7-4DCC-A03A-33A32323AFF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1197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F8DF88D-26DD-F9BA-B637-8CF77DB460F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8953BAD-5040-0FA8-3B0C-46E6EFB1B7B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0B04939-C8C7-C8F3-0EF7-C7C606366A2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3E1CE90-6F58-4D42-9805-4CDB995E07A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6409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032137-9A73-2787-82BC-1797E47686E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424753-DF02-8E5B-E134-54AF009828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0A6978-2BD7-AAC1-66BD-AFDB478AE1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9951C8-A59C-49F8-96DE-8338F00B40F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357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BE8C85-2A0A-D620-38B9-6472704773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D8DBDF-C125-9302-1324-35C710FC58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8862F4-E122-B6B9-3BDD-ADACC6BD1F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45E0BA6-73C2-46E0-B6B6-432B9853EB7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9036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8DE0189-C3CE-2E81-A884-62BCAF8F72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35C3C3D-48D2-4B96-52F9-A40423C8835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D6C692E-60DE-8E08-4420-7D7C56A1B8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CDB3927-A873-405E-8516-9A4E612CF27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0048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A5AFC3A-A520-3DD6-C765-38AB20F242D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E74CDAA-6C06-15E5-5FC1-5433D039A4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A297CD9-D925-B4E9-63B4-11D7E0B5647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EFDD47-547D-4434-8BF8-2B7FA184EE5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3421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8F6ED98-22CB-3B82-CFF9-61B08CDB61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39BFEC6-887D-DE5F-174A-B13E2732BC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12B7F04-4094-9491-63C9-FFE4A12332F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B336329-8050-0976-10DE-820088C9097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3954048-FCAB-03A9-9A2A-17CA7824451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DB76CFE-7F0B-4869-998E-D8DE02456C39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4">
            <a:extLst>
              <a:ext uri="{FF2B5EF4-FFF2-40B4-BE49-F238E27FC236}">
                <a16:creationId xmlns:a16="http://schemas.microsoft.com/office/drawing/2014/main" id="{7AD24D99-AB20-A735-B483-4DABAD89E0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3025" y="1676400"/>
            <a:ext cx="3848100" cy="277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8800" b="1" i="1">
                <a:solidFill>
                  <a:srgbClr val="FF0066"/>
                </a:solidFill>
                <a:latin typeface="Times New Roman" panose="02020603050405020304" pitchFamily="18" charset="0"/>
              </a:rPr>
              <a:t>File</a:t>
            </a:r>
          </a:p>
          <a:p>
            <a:pPr algn="ctr" eaLnBrk="1" hangingPunct="1"/>
            <a:r>
              <a:rPr lang="en-US" altLang="en-US" sz="8800" b="1" i="1">
                <a:solidFill>
                  <a:srgbClr val="FF0066"/>
                </a:solidFill>
                <a:latin typeface="Times New Roman" panose="02020603050405020304" pitchFamily="18" charset="0"/>
              </a:rPr>
              <a:t>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00355687-1339-511A-EF0B-AA8A4F051B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838200"/>
            <a:ext cx="8686800" cy="5745163"/>
          </a:xfrm>
        </p:spPr>
        <p:txBody>
          <a:bodyPr/>
          <a:lstStyle/>
          <a:p>
            <a:r>
              <a:rPr lang="en-US" altLang="en-US"/>
              <a:t>Hierarchical structure</a:t>
            </a:r>
          </a:p>
          <a:p>
            <a:r>
              <a:rPr lang="en-US" altLang="en-US"/>
              <a:t>Tree like structure</a:t>
            </a:r>
          </a:p>
          <a:p>
            <a:r>
              <a:rPr lang="en-US" altLang="en-US"/>
              <a:t>Consistent treatment of file data</a:t>
            </a:r>
          </a:p>
          <a:p>
            <a:r>
              <a:rPr lang="en-US" altLang="en-US"/>
              <a:t>Ability to create and delete files</a:t>
            </a:r>
          </a:p>
          <a:p>
            <a:r>
              <a:rPr lang="en-US" altLang="en-US"/>
              <a:t>Dynamic growth of files</a:t>
            </a:r>
          </a:p>
          <a:p>
            <a:r>
              <a:rPr lang="en-US" altLang="en-US"/>
              <a:t>Protection of file data (access permissions)</a:t>
            </a:r>
          </a:p>
          <a:p>
            <a:r>
              <a:rPr lang="en-US" altLang="en-US"/>
              <a:t>Treatment of peripheral devices as files Eg: terminals, tape units etc</a:t>
            </a:r>
          </a:p>
        </p:txBody>
      </p:sp>
      <p:sp>
        <p:nvSpPr>
          <p:cNvPr id="3075" name="Text Box 3">
            <a:extLst>
              <a:ext uri="{FF2B5EF4-FFF2-40B4-BE49-F238E27FC236}">
                <a16:creationId xmlns:a16="http://schemas.microsoft.com/office/drawing/2014/main" id="{D90C90D6-B846-F3EC-1DB5-C049956C59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28600"/>
            <a:ext cx="8001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>
                <a:solidFill>
                  <a:schemeClr val="accent2"/>
                </a:solidFill>
                <a:latin typeface="Times New Roman" panose="02020603050405020304" pitchFamily="18" charset="0"/>
              </a:rPr>
              <a:t>Salient features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651D71B9-89BD-E854-B094-E45E11E549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52400"/>
            <a:ext cx="8686800" cy="6430963"/>
          </a:xfrm>
        </p:spPr>
        <p:txBody>
          <a:bodyPr/>
          <a:lstStyle/>
          <a:p>
            <a:r>
              <a:rPr lang="en-US" altLang="en-US"/>
              <a:t>The file system is organized as a tree with a node called root (/)</a:t>
            </a:r>
          </a:p>
          <a:p>
            <a:r>
              <a:rPr lang="en-US" altLang="en-US"/>
              <a:t>Every non leaf node of file system structure is a directory of files</a:t>
            </a:r>
          </a:p>
          <a:p>
            <a:r>
              <a:rPr lang="en-US" altLang="en-US"/>
              <a:t>Files are leaf nodes of the tree</a:t>
            </a:r>
          </a:p>
          <a:p>
            <a:r>
              <a:rPr lang="en-US" altLang="en-US"/>
              <a:t>A file can be located by a path name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4">
            <a:extLst>
              <a:ext uri="{FF2B5EF4-FFF2-40B4-BE49-F238E27FC236}">
                <a16:creationId xmlns:a16="http://schemas.microsoft.com/office/drawing/2014/main" id="{AF836DBE-AB33-A2FB-174E-3AE41C12CE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104775"/>
            <a:ext cx="41370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3200" b="1">
                <a:solidFill>
                  <a:srgbClr val="000066"/>
                </a:solidFill>
                <a:latin typeface="Times New Roman" panose="02020603050405020304" pitchFamily="18" charset="0"/>
              </a:rPr>
              <a:t>A Directory Hierarchy</a:t>
            </a:r>
          </a:p>
        </p:txBody>
      </p:sp>
      <p:pic>
        <p:nvPicPr>
          <p:cNvPr id="5123" name="Picture 5">
            <a:extLst>
              <a:ext uri="{FF2B5EF4-FFF2-40B4-BE49-F238E27FC236}">
                <a16:creationId xmlns:a16="http://schemas.microsoft.com/office/drawing/2014/main" id="{33333C2E-FD6A-3C96-CD45-8D7B0EFBB0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875" y="1066800"/>
            <a:ext cx="6892925" cy="4833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6A98B40B-5DF2-594F-5501-6A18F53C1C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52400"/>
            <a:ext cx="8686800" cy="6430963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/			</a:t>
            </a:r>
            <a:r>
              <a:rPr lang="en-US" altLang="en-US" sz="2400" i="1">
                <a:latin typeface="Times New Roman" panose="02020603050405020304" pitchFamily="18" charset="0"/>
              </a:rPr>
              <a:t>root</a:t>
            </a:r>
            <a:r>
              <a:rPr lang="en-US" altLang="en-US" sz="2400">
                <a:latin typeface="Times New Roman" panose="02020603050405020304" pitchFamily="18" charset="0"/>
              </a:rPr>
              <a:t> directory</a:t>
            </a:r>
          </a:p>
          <a:p>
            <a:pPr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/bin		contains binary executable files of commands (prgs or</a:t>
            </a:r>
          </a:p>
          <a:p>
            <a:pPr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			shell scripts)</a:t>
            </a:r>
          </a:p>
          <a:p>
            <a:pPr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/lib		all the library functions provided by the UNIX </a:t>
            </a:r>
          </a:p>
          <a:p>
            <a:pPr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/etc		system data files (e.g. /etc/passwd)</a:t>
            </a:r>
          </a:p>
          <a:p>
            <a:pPr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/dev		files representing I/O devices</a:t>
            </a:r>
          </a:p>
          <a:p>
            <a:pPr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/usr		default directory provided by UNIX OS to create</a:t>
            </a:r>
          </a:p>
          <a:p>
            <a:pPr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			 users home directories</a:t>
            </a:r>
          </a:p>
          <a:p>
            <a:pPr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/tmp		all temporary files</a:t>
            </a:r>
          </a:p>
          <a:p>
            <a:pPr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/unix		kernel</a:t>
            </a:r>
          </a:p>
          <a:p>
            <a:pPr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/usr/bin	additional binary executable files</a:t>
            </a:r>
          </a:p>
          <a:p>
            <a:pPr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4">
            <a:extLst>
              <a:ext uri="{FF2B5EF4-FFF2-40B4-BE49-F238E27FC236}">
                <a16:creationId xmlns:a16="http://schemas.microsoft.com/office/drawing/2014/main" id="{9C9C26DB-25A4-96F3-2735-BAAD905963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6175" y="104775"/>
            <a:ext cx="22050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3200" b="1">
                <a:solidFill>
                  <a:srgbClr val="000066"/>
                </a:solidFill>
                <a:latin typeface="Times New Roman" panose="02020603050405020304" pitchFamily="18" charset="0"/>
              </a:rPr>
              <a:t>Wild Cards</a:t>
            </a:r>
          </a:p>
        </p:txBody>
      </p:sp>
      <p:pic>
        <p:nvPicPr>
          <p:cNvPr id="7171" name="Picture 5">
            <a:extLst>
              <a:ext uri="{FF2B5EF4-FFF2-40B4-BE49-F238E27FC236}">
                <a16:creationId xmlns:a16="http://schemas.microsoft.com/office/drawing/2014/main" id="{9E1F12A0-676A-1AA2-FDC0-5B01913377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538" y="2125663"/>
            <a:ext cx="6891337" cy="260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4">
            <a:extLst>
              <a:ext uri="{FF2B5EF4-FFF2-40B4-BE49-F238E27FC236}">
                <a16:creationId xmlns:a16="http://schemas.microsoft.com/office/drawing/2014/main" id="{7827011F-1089-F971-240A-FC17AAECC2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104775"/>
            <a:ext cx="23733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3200" b="1">
                <a:solidFill>
                  <a:srgbClr val="000066"/>
                </a:solidFill>
                <a:latin typeface="Times New Roman" panose="02020603050405020304" pitchFamily="18" charset="0"/>
              </a:rPr>
              <a:t>Files in Unix</a:t>
            </a:r>
          </a:p>
        </p:txBody>
      </p:sp>
      <p:pic>
        <p:nvPicPr>
          <p:cNvPr id="8195" name="Picture 5">
            <a:extLst>
              <a:ext uri="{FF2B5EF4-FFF2-40B4-BE49-F238E27FC236}">
                <a16:creationId xmlns:a16="http://schemas.microsoft.com/office/drawing/2014/main" id="{0A3C9941-0A2B-E34D-213D-1F3D152334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2320925"/>
            <a:ext cx="8858250" cy="188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F1FE3F5C-C9A8-3C54-FD01-0DBB4BD0F3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228600"/>
            <a:ext cx="8686800" cy="6354763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en-US" altLang="en-US" sz="2800">
                <a:latin typeface="Times New Roman" panose="02020603050405020304" pitchFamily="18" charset="0"/>
              </a:rPr>
              <a:t>Regular file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</a:rPr>
              <a:t>Binary or text file. 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</a:rPr>
              <a:t>Unix does not know the difference!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</a:rPr>
              <a:t>created by the user. 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</a:rPr>
              <a:t>Includes all data files, files containing prgs, compiled and executed program files</a:t>
            </a:r>
          </a:p>
          <a:p>
            <a:pPr algn="just">
              <a:lnSpc>
                <a:spcPct val="90000"/>
              </a:lnSpc>
            </a:pPr>
            <a:r>
              <a:rPr lang="en-US" altLang="en-US" sz="2800">
                <a:latin typeface="Times New Roman" panose="02020603050405020304" pitchFamily="18" charset="0"/>
              </a:rPr>
              <a:t>Directory file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</a:rPr>
              <a:t>A file that contains the names and locations of other files.</a:t>
            </a:r>
          </a:p>
          <a:p>
            <a:pPr algn="just">
              <a:lnSpc>
                <a:spcPct val="90000"/>
              </a:lnSpc>
            </a:pPr>
            <a:r>
              <a:rPr lang="en-US" altLang="en-US" sz="2800">
                <a:latin typeface="Times New Roman" panose="02020603050405020304" pitchFamily="18" charset="0"/>
              </a:rPr>
              <a:t>Character special and block special files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</a:rPr>
              <a:t>Terminals (character special) and disks ( block special)</a:t>
            </a:r>
          </a:p>
          <a:p>
            <a:pPr algn="just">
              <a:lnSpc>
                <a:spcPct val="90000"/>
              </a:lnSpc>
            </a:pPr>
            <a:r>
              <a:rPr lang="en-US" altLang="en-US" sz="2800">
                <a:latin typeface="Times New Roman" panose="02020603050405020304" pitchFamily="18" charset="0"/>
              </a:rPr>
              <a:t>FIFO (named pipe)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</a:rPr>
              <a:t>A file type used for inter process communication</a:t>
            </a:r>
          </a:p>
          <a:p>
            <a:pPr algn="just">
              <a:lnSpc>
                <a:spcPct val="90000"/>
              </a:lnSpc>
            </a:pPr>
            <a:r>
              <a:rPr lang="en-US" altLang="en-US" sz="2800">
                <a:latin typeface="Times New Roman" panose="02020603050405020304" pitchFamily="18" charset="0"/>
              </a:rPr>
              <a:t>Socket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</a:rPr>
              <a:t>A file type used for network communication between processes</a:t>
            </a:r>
          </a:p>
          <a:p>
            <a:pPr algn="just">
              <a:lnSpc>
                <a:spcPct val="90000"/>
              </a:lnSpc>
              <a:buFontTx/>
              <a:buNone/>
            </a:pPr>
            <a:endParaRPr lang="en-US" altLang="en-US" sz="28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1629D267-5CB2-3EA1-1D02-996401F651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228600"/>
            <a:ext cx="8686800" cy="6354763"/>
          </a:xfrm>
        </p:spPr>
        <p:txBody>
          <a:bodyPr/>
          <a:lstStyle/>
          <a:p>
            <a:r>
              <a:rPr lang="en-US" altLang="en-US">
                <a:latin typeface="Courier New" panose="02070309020205020404" pitchFamily="49" charset="0"/>
              </a:rPr>
              <a:t>dev/sda2</a:t>
            </a:r>
            <a:r>
              <a:rPr lang="en-US" altLang="en-US"/>
              <a:t>    (</a:t>
            </a:r>
            <a:r>
              <a:rPr lang="en-US" altLang="en-US">
                <a:latin typeface="Courier New" panose="02070309020205020404" pitchFamily="49" charset="0"/>
              </a:rPr>
              <a:t>/usr</a:t>
            </a:r>
            <a:r>
              <a:rPr lang="en-US" altLang="en-US"/>
              <a:t> disk partition)</a:t>
            </a:r>
          </a:p>
          <a:p>
            <a:pPr lvl="1"/>
            <a:r>
              <a:rPr lang="en-US" altLang="en-US">
                <a:latin typeface="Courier New" panose="02070309020205020404" pitchFamily="49" charset="0"/>
              </a:rPr>
              <a:t>/dev/tty2</a:t>
            </a:r>
            <a:r>
              <a:rPr lang="en-US" altLang="en-US"/>
              <a:t>    (terminal)</a:t>
            </a:r>
          </a:p>
          <a:p>
            <a:r>
              <a:rPr lang="en-US" altLang="en-US"/>
              <a:t>Even the kernel is represented as a file:</a:t>
            </a:r>
          </a:p>
          <a:p>
            <a:pPr lvl="1"/>
            <a:r>
              <a:rPr lang="en-US" altLang="en-US">
                <a:latin typeface="Courier New" panose="02070309020205020404" pitchFamily="49" charset="0"/>
              </a:rPr>
              <a:t>/dev/kmem</a:t>
            </a:r>
            <a:r>
              <a:rPr lang="en-US" altLang="en-US"/>
              <a:t>   (kernel memory image) </a:t>
            </a:r>
          </a:p>
          <a:p>
            <a:pPr lvl="1"/>
            <a:r>
              <a:rPr lang="en-US" altLang="en-US">
                <a:latin typeface="Courier New" panose="02070309020205020404" pitchFamily="49" charset="0"/>
              </a:rPr>
              <a:t>/proc</a:t>
            </a:r>
            <a:r>
              <a:rPr lang="en-US" altLang="en-US"/>
              <a:t>            (kernel data structures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364193C4-C0EB-058B-3337-76DB020323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838200"/>
            <a:ext cx="8686800" cy="5745163"/>
          </a:xfrm>
        </p:spPr>
        <p:txBody>
          <a:bodyPr/>
          <a:lstStyle/>
          <a:p>
            <a:pPr algn="just"/>
            <a:r>
              <a:rPr lang="en-US" altLang="en-US" sz="3600">
                <a:latin typeface="Times New Roman" panose="02020603050405020304" pitchFamily="18" charset="0"/>
              </a:rPr>
              <a:t>System call: to use the services which are available in the OS that offers some specific function are known as system calls</a:t>
            </a:r>
          </a:p>
          <a:p>
            <a:pPr algn="just"/>
            <a:r>
              <a:rPr lang="en-US" altLang="en-US" sz="3600">
                <a:latin typeface="Times New Roman" panose="02020603050405020304" pitchFamily="18" charset="0"/>
              </a:rPr>
              <a:t>A UNIX offers min of 200 special functions</a:t>
            </a:r>
          </a:p>
          <a:p>
            <a:pPr algn="just"/>
            <a:r>
              <a:rPr lang="en-US" altLang="en-US" sz="3600">
                <a:latin typeface="Times New Roman" panose="02020603050405020304" pitchFamily="18" charset="0"/>
              </a:rPr>
              <a:t>The elegant mapping of files to devices allows kernel to export simple interface called Unix I/O.</a:t>
            </a:r>
          </a:p>
          <a:p>
            <a:pPr algn="just"/>
            <a:r>
              <a:rPr lang="en-US" altLang="en-US" sz="3600">
                <a:latin typeface="Times New Roman" panose="02020603050405020304" pitchFamily="18" charset="0"/>
              </a:rPr>
              <a:t>Key Unix idea: All input and output is handled in a consistent and uniform way.</a:t>
            </a:r>
          </a:p>
          <a:p>
            <a:pPr algn="just"/>
            <a:endParaRPr lang="en-US" altLang="en-US" sz="3600">
              <a:latin typeface="Times New Roman" panose="02020603050405020304" pitchFamily="18" charset="0"/>
            </a:endParaRPr>
          </a:p>
        </p:txBody>
      </p:sp>
      <p:sp>
        <p:nvSpPr>
          <p:cNvPr id="11267" name="Text Box 3">
            <a:extLst>
              <a:ext uri="{FF2B5EF4-FFF2-40B4-BE49-F238E27FC236}">
                <a16:creationId xmlns:a16="http://schemas.microsoft.com/office/drawing/2014/main" id="{85C6815D-2A76-92ED-B4C2-4B8AEFFE96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28600"/>
            <a:ext cx="8001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600" b="1">
                <a:solidFill>
                  <a:schemeClr val="accent2"/>
                </a:solidFill>
                <a:latin typeface="Times New Roman" panose="02020603050405020304" pitchFamily="18" charset="0"/>
              </a:rPr>
              <a:t>File I/O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C579761C-CC4A-1167-C46E-EA8D33B6E8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838200"/>
            <a:ext cx="8686800" cy="5745163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en-US" altLang="en-US">
                <a:latin typeface="Times New Roman" panose="02020603050405020304" pitchFamily="18" charset="0"/>
              </a:rPr>
              <a:t>All open files referred by file descriptors (fd)</a:t>
            </a:r>
          </a:p>
          <a:p>
            <a:pPr algn="just">
              <a:lnSpc>
                <a:spcPct val="90000"/>
              </a:lnSpc>
            </a:pPr>
            <a:r>
              <a:rPr lang="en-US" altLang="en-US">
                <a:latin typeface="Times New Roman" panose="02020603050405020304" pitchFamily="18" charset="0"/>
              </a:rPr>
              <a:t>It is non negative number</a:t>
            </a:r>
          </a:p>
          <a:p>
            <a:pPr algn="just">
              <a:lnSpc>
                <a:spcPct val="90000"/>
              </a:lnSpc>
            </a:pPr>
            <a:r>
              <a:rPr lang="en-US" altLang="en-US">
                <a:latin typeface="Times New Roman" panose="02020603050405020304" pitchFamily="18" charset="0"/>
              </a:rPr>
              <a:t>When we open an existing file or create a new file, the kernel returns a fd to the process</a:t>
            </a:r>
          </a:p>
          <a:p>
            <a:pPr algn="just">
              <a:lnSpc>
                <a:spcPct val="90000"/>
              </a:lnSpc>
            </a:pPr>
            <a:r>
              <a:rPr lang="en-US" altLang="en-US">
                <a:latin typeface="Times New Roman" panose="02020603050405020304" pitchFamily="18" charset="0"/>
              </a:rPr>
              <a:t>For reading, writing fd is used</a:t>
            </a:r>
          </a:p>
          <a:p>
            <a:pPr algn="just">
              <a:lnSpc>
                <a:spcPct val="90000"/>
              </a:lnSpc>
            </a:pPr>
            <a:r>
              <a:rPr lang="en-US" altLang="en-US">
                <a:latin typeface="Times New Roman" panose="02020603050405020304" pitchFamily="18" charset="0"/>
              </a:rPr>
              <a:t>Ranging from 0 to OPEN_MAX (early systems 19, many systems increased to 63 per process)</a:t>
            </a:r>
          </a:p>
          <a:p>
            <a:pPr algn="just">
              <a:lnSpc>
                <a:spcPct val="90000"/>
              </a:lnSpc>
            </a:pPr>
            <a:endParaRPr lang="en-US" altLang="en-US"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FontTx/>
              <a:buNone/>
            </a:pPr>
            <a:r>
              <a:rPr lang="en-US" altLang="en-US">
                <a:latin typeface="Times New Roman" panose="02020603050405020304" pitchFamily="18" charset="0"/>
              </a:rPr>
              <a:t>0	-	standard input		(STDIN_FILENO)</a:t>
            </a:r>
          </a:p>
          <a:p>
            <a:pPr algn="just">
              <a:lnSpc>
                <a:spcPct val="90000"/>
              </a:lnSpc>
              <a:buFontTx/>
              <a:buNone/>
            </a:pPr>
            <a:r>
              <a:rPr lang="en-US" altLang="en-US">
                <a:latin typeface="Times New Roman" panose="02020603050405020304" pitchFamily="18" charset="0"/>
              </a:rPr>
              <a:t>1	-	standard output		(STDOUT_FILENO)</a:t>
            </a:r>
          </a:p>
          <a:p>
            <a:pPr algn="just">
              <a:lnSpc>
                <a:spcPct val="90000"/>
              </a:lnSpc>
              <a:buFontTx/>
              <a:buNone/>
            </a:pPr>
            <a:r>
              <a:rPr lang="en-US" altLang="en-US">
                <a:latin typeface="Times New Roman" panose="02020603050405020304" pitchFamily="18" charset="0"/>
              </a:rPr>
              <a:t>2	-	standard error		(STDERR_FILENO)</a:t>
            </a:r>
          </a:p>
        </p:txBody>
      </p:sp>
      <p:sp>
        <p:nvSpPr>
          <p:cNvPr id="12291" name="Text Box 3">
            <a:extLst>
              <a:ext uri="{FF2B5EF4-FFF2-40B4-BE49-F238E27FC236}">
                <a16:creationId xmlns:a16="http://schemas.microsoft.com/office/drawing/2014/main" id="{DB7C0B91-C573-DD69-BFC1-3A887880BA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28600"/>
            <a:ext cx="8001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>
                <a:solidFill>
                  <a:schemeClr val="accent2"/>
                </a:solidFill>
                <a:latin typeface="Times New Roman" panose="02020603050405020304" pitchFamily="18" charset="0"/>
              </a:rPr>
              <a:t>File descriptors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69642F01-B2BF-87AA-4D0A-2B89A0D35D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838200"/>
            <a:ext cx="8686800" cy="5745163"/>
          </a:xfrm>
        </p:spPr>
        <p:txBody>
          <a:bodyPr/>
          <a:lstStyle/>
          <a:p>
            <a:pPr lvl="1"/>
            <a:r>
              <a:rPr lang="en-US" altLang="en-US">
                <a:latin typeface="Times New Roman" panose="02020603050405020304" pitchFamily="18" charset="0"/>
              </a:rPr>
              <a:t>Opening and closing files</a:t>
            </a:r>
          </a:p>
          <a:p>
            <a:pPr lvl="2"/>
            <a:r>
              <a:rPr lang="en-US" altLang="en-US">
                <a:latin typeface="Times New Roman" panose="02020603050405020304" pitchFamily="18" charset="0"/>
              </a:rPr>
              <a:t>open()and close()</a:t>
            </a:r>
          </a:p>
          <a:p>
            <a:pPr lvl="1"/>
            <a:r>
              <a:rPr lang="en-US" altLang="en-US">
                <a:latin typeface="Times New Roman" panose="02020603050405020304" pitchFamily="18" charset="0"/>
              </a:rPr>
              <a:t>Changing the </a:t>
            </a:r>
            <a:r>
              <a:rPr lang="en-US" altLang="en-US" i="1">
                <a:solidFill>
                  <a:srgbClr val="FF0000"/>
                </a:solidFill>
                <a:latin typeface="Times New Roman" panose="02020603050405020304" pitchFamily="18" charset="0"/>
              </a:rPr>
              <a:t>current file position</a:t>
            </a:r>
            <a:r>
              <a:rPr lang="en-US" altLang="en-US">
                <a:latin typeface="Times New Roman" panose="02020603050405020304" pitchFamily="18" charset="0"/>
              </a:rPr>
              <a:t> (seek)</a:t>
            </a:r>
          </a:p>
          <a:p>
            <a:pPr lvl="2"/>
            <a:r>
              <a:rPr lang="en-US" altLang="en-US">
                <a:latin typeface="Times New Roman" panose="02020603050405020304" pitchFamily="18" charset="0"/>
              </a:rPr>
              <a:t>lseek ()</a:t>
            </a:r>
          </a:p>
          <a:p>
            <a:pPr lvl="1"/>
            <a:r>
              <a:rPr lang="en-US" altLang="en-US">
                <a:latin typeface="Times New Roman" panose="02020603050405020304" pitchFamily="18" charset="0"/>
              </a:rPr>
              <a:t>Reading and writing a file</a:t>
            </a:r>
          </a:p>
          <a:p>
            <a:pPr lvl="2"/>
            <a:r>
              <a:rPr lang="en-US" altLang="en-US">
                <a:latin typeface="Times New Roman" panose="02020603050405020304" pitchFamily="18" charset="0"/>
              </a:rPr>
              <a:t>read() and  write()</a:t>
            </a:r>
          </a:p>
          <a:p>
            <a:pPr lvl="2">
              <a:buFontTx/>
              <a:buNone/>
            </a:pP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315" name="Text Box 3">
            <a:extLst>
              <a:ext uri="{FF2B5EF4-FFF2-40B4-BE49-F238E27FC236}">
                <a16:creationId xmlns:a16="http://schemas.microsoft.com/office/drawing/2014/main" id="{3EAC3D75-7DC6-1554-BEB6-EAD75340BB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28600"/>
            <a:ext cx="8001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>
                <a:solidFill>
                  <a:schemeClr val="accent2"/>
                </a:solidFill>
                <a:latin typeface="Times New Roman" panose="02020603050405020304" pitchFamily="18" charset="0"/>
              </a:rPr>
              <a:t>Basic file operations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43D28C9-EADA-9495-3BC1-1CCD53F55B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838200"/>
            <a:ext cx="8686800" cy="5745163"/>
          </a:xfrm>
        </p:spPr>
        <p:txBody>
          <a:bodyPr/>
          <a:lstStyle/>
          <a:p>
            <a:pPr algn="just">
              <a:lnSpc>
                <a:spcPct val="80000"/>
              </a:lnSpc>
            </a:pPr>
            <a:r>
              <a:rPr lang="en-US" altLang="en-US" sz="2800">
                <a:latin typeface="Times New Roman" panose="02020603050405020304" pitchFamily="18" charset="0"/>
              </a:rPr>
              <a:t>A file is opened or created by calling open function</a:t>
            </a:r>
          </a:p>
          <a:p>
            <a:pPr algn="just">
              <a:lnSpc>
                <a:spcPct val="80000"/>
              </a:lnSpc>
            </a:pPr>
            <a:r>
              <a:rPr lang="en-US" altLang="en-US" sz="2800">
                <a:latin typeface="Times New Roman" panose="02020603050405020304" pitchFamily="18" charset="0"/>
              </a:rPr>
              <a:t>Opening a file informs the kernel that you are getting ready to access that file</a:t>
            </a:r>
          </a:p>
          <a:p>
            <a:pPr algn="just">
              <a:lnSpc>
                <a:spcPct val="80000"/>
              </a:lnSpc>
              <a:buFontTx/>
              <a:buNone/>
            </a:pPr>
            <a:r>
              <a:rPr lang="en-US" altLang="en-US" sz="2800">
                <a:latin typeface="Times New Roman" panose="02020603050405020304" pitchFamily="18" charset="0"/>
              </a:rPr>
              <a:t>#include &lt;fcntl.h&gt;</a:t>
            </a:r>
          </a:p>
          <a:p>
            <a:pPr algn="just">
              <a:lnSpc>
                <a:spcPct val="80000"/>
              </a:lnSpc>
              <a:buFontTx/>
              <a:buNone/>
            </a:pPr>
            <a:r>
              <a:rPr lang="en-US" altLang="en-US" sz="2400">
                <a:solidFill>
                  <a:srgbClr val="CC3300"/>
                </a:solidFill>
                <a:latin typeface="Times New Roman" panose="02020603050405020304" pitchFamily="18" charset="0"/>
              </a:rPr>
              <a:t>int open(const char *pathname, int oflag,… /*mode_t mode */ );</a:t>
            </a:r>
          </a:p>
          <a:p>
            <a:pPr algn="just">
              <a:lnSpc>
                <a:spcPct val="80000"/>
              </a:lnSpc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				</a:t>
            </a:r>
            <a:r>
              <a:rPr lang="en-US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returns fs if OK, -1 on error</a:t>
            </a:r>
          </a:p>
          <a:p>
            <a:pPr algn="just">
              <a:lnSpc>
                <a:spcPct val="80000"/>
              </a:lnSpc>
            </a:pPr>
            <a:r>
              <a:rPr lang="en-US" altLang="en-US" sz="2800">
                <a:latin typeface="Times New Roman" panose="02020603050405020304" pitchFamily="18" charset="0"/>
              </a:rPr>
              <a:t>… means number and types of args may vary</a:t>
            </a:r>
          </a:p>
          <a:p>
            <a:pPr algn="just">
              <a:lnSpc>
                <a:spcPct val="80000"/>
              </a:lnSpc>
            </a:pPr>
            <a:r>
              <a:rPr lang="en-US" altLang="en-US" sz="2800">
                <a:latin typeface="Times New Roman" panose="02020603050405020304" pitchFamily="18" charset="0"/>
              </a:rPr>
              <a:t>Third arg is used when only file is created</a:t>
            </a:r>
          </a:p>
          <a:p>
            <a:pPr algn="just">
              <a:lnSpc>
                <a:spcPct val="80000"/>
              </a:lnSpc>
            </a:pPr>
            <a:r>
              <a:rPr lang="en-US" altLang="en-US" sz="2800">
                <a:latin typeface="Times New Roman" panose="02020603050405020304" pitchFamily="18" charset="0"/>
              </a:rPr>
              <a:t>Pathname is the name of the file to open or create</a:t>
            </a:r>
          </a:p>
          <a:p>
            <a:pPr algn="just">
              <a:lnSpc>
                <a:spcPct val="80000"/>
              </a:lnSpc>
            </a:pPr>
            <a:r>
              <a:rPr lang="en-US" altLang="en-US" sz="2800">
                <a:latin typeface="Times New Roman" panose="02020603050405020304" pitchFamily="18" charset="0"/>
              </a:rPr>
              <a:t>oflag is formed by oring of constants from &lt;fcntl.h&gt;</a:t>
            </a:r>
          </a:p>
          <a:p>
            <a:pPr lvl="1" algn="just">
              <a:lnSpc>
                <a:spcPct val="80000"/>
              </a:lnSpc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O_RDONLY	open for reading only		0</a:t>
            </a:r>
          </a:p>
          <a:p>
            <a:pPr lvl="1" algn="just">
              <a:lnSpc>
                <a:spcPct val="80000"/>
              </a:lnSpc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O_WRONLY	open for writing only		1</a:t>
            </a:r>
          </a:p>
          <a:p>
            <a:pPr lvl="1" algn="just">
              <a:lnSpc>
                <a:spcPct val="80000"/>
              </a:lnSpc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O_RDWR		open for reading and writing	2</a:t>
            </a:r>
          </a:p>
          <a:p>
            <a:pPr lvl="1" algn="just">
              <a:lnSpc>
                <a:spcPct val="80000"/>
              </a:lnSpc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Only one has to be specified from above 3</a:t>
            </a:r>
          </a:p>
        </p:txBody>
      </p:sp>
      <p:sp>
        <p:nvSpPr>
          <p:cNvPr id="14339" name="Text Box 3">
            <a:extLst>
              <a:ext uri="{FF2B5EF4-FFF2-40B4-BE49-F238E27FC236}">
                <a16:creationId xmlns:a16="http://schemas.microsoft.com/office/drawing/2014/main" id="{9858C6DF-2993-8985-E885-EEC8A5352C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28600"/>
            <a:ext cx="8001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>
                <a:solidFill>
                  <a:schemeClr val="accent2"/>
                </a:solidFill>
                <a:latin typeface="Times New Roman" panose="02020603050405020304" pitchFamily="18" charset="0"/>
              </a:rPr>
              <a:t>open( ) function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A6DF0135-EDD9-1D62-3F40-4A6199B086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52400"/>
            <a:ext cx="8686800" cy="6430963"/>
          </a:xfrm>
        </p:spPr>
        <p:txBody>
          <a:bodyPr/>
          <a:lstStyle/>
          <a:p>
            <a:pPr algn="just"/>
            <a:r>
              <a:rPr lang="en-US" altLang="en-US" sz="2800">
                <a:latin typeface="Times New Roman" panose="02020603050405020304" pitchFamily="18" charset="0"/>
              </a:rPr>
              <a:t>The following constants are optional</a:t>
            </a:r>
          </a:p>
          <a:p>
            <a:pPr lvl="1" algn="just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O_APPEND	append to the end of the file on each write</a:t>
            </a:r>
          </a:p>
          <a:p>
            <a:pPr lvl="1" algn="just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O_CREAT	creates the file if it does not exits requires</a:t>
            </a:r>
          </a:p>
          <a:p>
            <a:pPr lvl="1" algn="just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				3</a:t>
            </a:r>
            <a:r>
              <a:rPr lang="en-US" altLang="en-US" sz="2400" baseline="30000">
                <a:latin typeface="Times New Roman" panose="02020603050405020304" pitchFamily="18" charset="0"/>
              </a:rPr>
              <a:t>rd</a:t>
            </a:r>
            <a:r>
              <a:rPr lang="en-US" altLang="en-US" sz="2400">
                <a:latin typeface="Times New Roman" panose="02020603050405020304" pitchFamily="18" charset="0"/>
              </a:rPr>
              <a:t> argument</a:t>
            </a:r>
          </a:p>
          <a:p>
            <a:pPr lvl="1" algn="just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O_TRUNC	if file exists and if it is successfully opened</a:t>
            </a:r>
          </a:p>
          <a:p>
            <a:pPr lvl="1" algn="just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				for either readonly or read-write, truncate</a:t>
            </a:r>
          </a:p>
          <a:p>
            <a:pPr lvl="1" algn="just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				its length to 0</a:t>
            </a:r>
          </a:p>
          <a:p>
            <a:pPr lvl="1" algn="just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O_NOCTTY	if the pathname refers to the terminal				device, do not allocate the	device as the </a:t>
            </a:r>
          </a:p>
          <a:p>
            <a:pPr lvl="1" algn="just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				controlling terminal for this process</a:t>
            </a:r>
          </a:p>
          <a:p>
            <a:pPr lvl="1" algn="just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O_NONBLOCK if the pathname refers to FIFO, ablock</a:t>
            </a:r>
          </a:p>
          <a:p>
            <a:pPr lvl="1" algn="just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				special file or char special file, this option</a:t>
            </a:r>
          </a:p>
          <a:p>
            <a:pPr lvl="1" algn="just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				sets the nonblocking mode for both the</a:t>
            </a:r>
          </a:p>
          <a:p>
            <a:pPr lvl="1" algn="just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				 opening of the file and subsequent I/O	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4">
            <a:extLst>
              <a:ext uri="{FF2B5EF4-FFF2-40B4-BE49-F238E27FC236}">
                <a16:creationId xmlns:a16="http://schemas.microsoft.com/office/drawing/2014/main" id="{D08E7F70-8311-AC68-7447-A426CC0789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073275"/>
            <a:ext cx="7924800" cy="1584325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600" b="1">
                <a:latin typeface="Courier New" panose="02070309020205020404" pitchFamily="49" charset="0"/>
              </a:rPr>
              <a:t>int fd;   /* file descriptor */</a:t>
            </a:r>
          </a:p>
          <a:p>
            <a:endParaRPr lang="en-US" altLang="en-US" sz="1600" b="1">
              <a:latin typeface="Courier New" panose="02070309020205020404" pitchFamily="49" charset="0"/>
            </a:endParaRPr>
          </a:p>
          <a:p>
            <a:r>
              <a:rPr lang="en-US" altLang="en-US" sz="1600" b="1">
                <a:latin typeface="Courier New" panose="02070309020205020404" pitchFamily="49" charset="0"/>
              </a:rPr>
              <a:t>if ((fd = open(“/etc/hosts”, O_RDONLY)) &lt; 0) {</a:t>
            </a:r>
          </a:p>
          <a:p>
            <a:r>
              <a:rPr lang="en-US" altLang="en-US" sz="1600" b="1">
                <a:latin typeface="Courier New" panose="02070309020205020404" pitchFamily="49" charset="0"/>
              </a:rPr>
              <a:t>   perror(“open”);</a:t>
            </a:r>
          </a:p>
          <a:p>
            <a:r>
              <a:rPr lang="en-US" altLang="en-US" sz="1600" b="1">
                <a:latin typeface="Courier New" panose="02070309020205020404" pitchFamily="49" charset="0"/>
              </a:rPr>
              <a:t>   exit(1);</a:t>
            </a:r>
          </a:p>
          <a:p>
            <a:r>
              <a:rPr lang="en-US" altLang="en-US" sz="1600" b="1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0EBBB406-B0CB-3757-E3D2-845190BFCC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838200"/>
            <a:ext cx="8686800" cy="5745163"/>
          </a:xfrm>
        </p:spPr>
        <p:txBody>
          <a:bodyPr/>
          <a:lstStyle/>
          <a:p>
            <a:r>
              <a:rPr lang="en-US" altLang="en-US">
                <a:latin typeface="Times New Roman" panose="02020603050405020304" pitchFamily="18" charset="0"/>
              </a:rPr>
              <a:t>A new file can also be created by calling creat ( )</a:t>
            </a:r>
          </a:p>
          <a:p>
            <a:pPr>
              <a:buFontTx/>
              <a:buNone/>
            </a:pPr>
            <a:r>
              <a:rPr lang="en-US" altLang="en-US">
                <a:latin typeface="Times New Roman" panose="02020603050405020304" pitchFamily="18" charset="0"/>
              </a:rPr>
              <a:t>#include &lt;fcntl.h&gt;</a:t>
            </a:r>
          </a:p>
          <a:p>
            <a:pPr>
              <a:buFontTx/>
              <a:buNone/>
            </a:pPr>
            <a:r>
              <a:rPr lang="en-US" altLang="en-US" sz="2800">
                <a:solidFill>
                  <a:srgbClr val="CC3300"/>
                </a:solidFill>
                <a:latin typeface="Times New Roman" panose="02020603050405020304" pitchFamily="18" charset="0"/>
              </a:rPr>
              <a:t>int creat(const char *pathname, mode_t mode);</a:t>
            </a:r>
          </a:p>
          <a:p>
            <a:pPr>
              <a:buFontTx/>
              <a:buNone/>
            </a:pPr>
            <a:r>
              <a:rPr lang="en-US" altLang="en-US" sz="2800">
                <a:latin typeface="Times New Roman" panose="02020603050405020304" pitchFamily="18" charset="0"/>
              </a:rPr>
              <a:t>	    </a:t>
            </a:r>
            <a:r>
              <a:rPr lang="en-US" altLang="en-US" sz="2800">
                <a:solidFill>
                  <a:srgbClr val="0000FF"/>
                </a:solidFill>
                <a:latin typeface="Times New Roman" panose="02020603050405020304" pitchFamily="18" charset="0"/>
              </a:rPr>
              <a:t>returns fd opened for write-only if OK, -1 on error</a:t>
            </a:r>
            <a:endParaRPr lang="en-US" altLang="en-US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r>
              <a:rPr lang="en-US" altLang="en-US">
                <a:latin typeface="Times New Roman" panose="02020603050405020304" pitchFamily="18" charset="0"/>
              </a:rPr>
              <a:t>It is equivalent to</a:t>
            </a:r>
          </a:p>
          <a:p>
            <a:pPr>
              <a:buFontTx/>
              <a:buNone/>
            </a:pPr>
            <a:r>
              <a:rPr lang="en-US" altLang="en-US">
                <a:latin typeface="Times New Roman" panose="02020603050405020304" pitchFamily="18" charset="0"/>
              </a:rPr>
              <a:t>open(pathname,</a:t>
            </a:r>
            <a:r>
              <a:rPr lang="en-US" altLang="en-US" sz="2400">
                <a:latin typeface="Times New Roman" panose="02020603050405020304" pitchFamily="18" charset="0"/>
              </a:rPr>
              <a:t>O_WRONLY|O_CREAT|O_TRUNC</a:t>
            </a:r>
            <a:r>
              <a:rPr lang="en-US" altLang="en-US">
                <a:latin typeface="Times New Roman" panose="02020603050405020304" pitchFamily="18" charset="0"/>
              </a:rPr>
              <a:t>,mode);</a:t>
            </a:r>
          </a:p>
          <a:p>
            <a:r>
              <a:rPr lang="en-US" altLang="en-US">
                <a:latin typeface="Times New Roman" panose="02020603050405020304" pitchFamily="18" charset="0"/>
              </a:rPr>
              <a:t>The deficiency with creat is file is opened for writing </a:t>
            </a:r>
          </a:p>
        </p:txBody>
      </p:sp>
      <p:sp>
        <p:nvSpPr>
          <p:cNvPr id="17411" name="Text Box 3">
            <a:extLst>
              <a:ext uri="{FF2B5EF4-FFF2-40B4-BE49-F238E27FC236}">
                <a16:creationId xmlns:a16="http://schemas.microsoft.com/office/drawing/2014/main" id="{49639FF3-8604-686E-9D63-649C18531A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28600"/>
            <a:ext cx="8001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600" b="1">
                <a:solidFill>
                  <a:schemeClr val="accent2"/>
                </a:solidFill>
                <a:latin typeface="Times New Roman" panose="02020603050405020304" pitchFamily="18" charset="0"/>
              </a:rPr>
              <a:t>creat( ) function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8E7D7FA8-6C1C-8C2A-0B0E-5C761B917F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838200"/>
            <a:ext cx="8686800" cy="5745163"/>
          </a:xfrm>
        </p:spPr>
        <p:txBody>
          <a:bodyPr/>
          <a:lstStyle/>
          <a:p>
            <a:pPr algn="just"/>
            <a:r>
              <a:rPr lang="en-US" altLang="en-US">
                <a:latin typeface="Times New Roman" panose="02020603050405020304" pitchFamily="18" charset="0"/>
              </a:rPr>
              <a:t>An open file is closed by calling close ( )</a:t>
            </a:r>
          </a:p>
          <a:p>
            <a:pPr algn="just">
              <a:buFontTx/>
              <a:buNone/>
            </a:pPr>
            <a:r>
              <a:rPr lang="en-US" altLang="en-US">
                <a:latin typeface="Times New Roman" panose="02020603050405020304" pitchFamily="18" charset="0"/>
              </a:rPr>
              <a:t>#include &lt;unistd.h&gt;</a:t>
            </a:r>
          </a:p>
          <a:p>
            <a:pPr algn="just">
              <a:buFontTx/>
              <a:buNone/>
            </a:pPr>
            <a:r>
              <a:rPr lang="en-US" altLang="en-US">
                <a:latin typeface="Times New Roman" panose="02020603050405020304" pitchFamily="18" charset="0"/>
              </a:rPr>
              <a:t>int close (int filedes);</a:t>
            </a:r>
          </a:p>
          <a:p>
            <a:pPr algn="just">
              <a:buFontTx/>
              <a:buNone/>
            </a:pPr>
            <a:r>
              <a:rPr lang="en-US" altLang="en-US">
                <a:latin typeface="Times New Roman" panose="02020603050405020304" pitchFamily="18" charset="0"/>
              </a:rPr>
              <a:t>		returns 0 if ok, -1 on error</a:t>
            </a:r>
          </a:p>
          <a:p>
            <a:pPr algn="just"/>
            <a:r>
              <a:rPr lang="en-US" altLang="en-US">
                <a:latin typeface="Times New Roman" panose="02020603050405020304" pitchFamily="18" charset="0"/>
              </a:rPr>
              <a:t>Closing a file releases any record locks that the process may have on the file</a:t>
            </a:r>
          </a:p>
          <a:p>
            <a:pPr algn="just"/>
            <a:r>
              <a:rPr lang="en-US" altLang="en-US">
                <a:latin typeface="Times New Roman" panose="02020603050405020304" pitchFamily="18" charset="0"/>
              </a:rPr>
              <a:t>When the process terminates all of its open files are closed automatically by the kernel</a:t>
            </a:r>
          </a:p>
          <a:p>
            <a:pPr algn="just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35" name="Text Box 3">
            <a:extLst>
              <a:ext uri="{FF2B5EF4-FFF2-40B4-BE49-F238E27FC236}">
                <a16:creationId xmlns:a16="http://schemas.microsoft.com/office/drawing/2014/main" id="{E6B95855-8A81-21D4-8A98-C9AA8CD2CF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28600"/>
            <a:ext cx="8001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>
                <a:solidFill>
                  <a:schemeClr val="accent2"/>
                </a:solidFill>
                <a:latin typeface="Times New Roman" panose="02020603050405020304" pitchFamily="18" charset="0"/>
              </a:rPr>
              <a:t>close( ) function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4">
            <a:extLst>
              <a:ext uri="{FF2B5EF4-FFF2-40B4-BE49-F238E27FC236}">
                <a16:creationId xmlns:a16="http://schemas.microsoft.com/office/drawing/2014/main" id="{040B29F1-8804-58F4-62DD-798298C3FB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225675"/>
            <a:ext cx="8001000" cy="180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600" b="1">
                <a:latin typeface="Courier New" panose="02070309020205020404" pitchFamily="49" charset="0"/>
              </a:rPr>
              <a:t>int fd;     /* file descriptor */</a:t>
            </a:r>
          </a:p>
          <a:p>
            <a:r>
              <a:rPr lang="en-US" altLang="en-US" sz="1600" b="1">
                <a:latin typeface="Courier New" panose="02070309020205020404" pitchFamily="49" charset="0"/>
              </a:rPr>
              <a:t>int retval; /* return value */</a:t>
            </a:r>
          </a:p>
          <a:p>
            <a:endParaRPr lang="en-US" altLang="en-US" sz="1600" b="1">
              <a:latin typeface="Courier New" panose="02070309020205020404" pitchFamily="49" charset="0"/>
            </a:endParaRPr>
          </a:p>
          <a:p>
            <a:r>
              <a:rPr lang="en-US" altLang="en-US" sz="1600" b="1">
                <a:latin typeface="Courier New" panose="02070309020205020404" pitchFamily="49" charset="0"/>
              </a:rPr>
              <a:t>if ((retval = close(fd)) &lt; 0) {</a:t>
            </a:r>
          </a:p>
          <a:p>
            <a:r>
              <a:rPr lang="en-US" altLang="en-US" sz="1600" b="1">
                <a:latin typeface="Courier New" panose="02070309020205020404" pitchFamily="49" charset="0"/>
              </a:rPr>
              <a:t>   printf(“close”);</a:t>
            </a:r>
          </a:p>
          <a:p>
            <a:r>
              <a:rPr lang="en-US" altLang="en-US" sz="1600" b="1">
                <a:latin typeface="Courier New" panose="02070309020205020404" pitchFamily="49" charset="0"/>
              </a:rPr>
              <a:t>   exit(1);</a:t>
            </a:r>
          </a:p>
          <a:p>
            <a:r>
              <a:rPr lang="en-US" altLang="en-US" sz="1600" b="1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075D1361-8192-E0B9-F5C6-8606E82812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838200"/>
            <a:ext cx="8686800" cy="5745163"/>
          </a:xfrm>
        </p:spPr>
        <p:txBody>
          <a:bodyPr/>
          <a:lstStyle/>
          <a:p>
            <a:pPr algn="just"/>
            <a:r>
              <a:rPr lang="en-US" altLang="en-US">
                <a:latin typeface="Times New Roman" panose="02020603050405020304" pitchFamily="18" charset="0"/>
              </a:rPr>
              <a:t>Every open file has an associated “current file offset”, measures the number of bytes from the beginning of the file</a:t>
            </a:r>
          </a:p>
          <a:p>
            <a:pPr algn="just"/>
            <a:r>
              <a:rPr lang="en-US" altLang="en-US">
                <a:latin typeface="Times New Roman" panose="02020603050405020304" pitchFamily="18" charset="0"/>
              </a:rPr>
              <a:t>Read and write operations normally start at the current file offset and cause offset to be incremented by the number of bytes read or written</a:t>
            </a:r>
          </a:p>
          <a:p>
            <a:pPr algn="just"/>
            <a:r>
              <a:rPr lang="en-US" altLang="en-US">
                <a:latin typeface="Times New Roman" panose="02020603050405020304" pitchFamily="18" charset="0"/>
              </a:rPr>
              <a:t>By default, this offset is 0 when opening a file unless O_APPEND is specified</a:t>
            </a:r>
          </a:p>
          <a:p>
            <a:pPr algn="just"/>
            <a:endParaRPr lang="en-US" altLang="en-US">
              <a:latin typeface="Times New Roman" panose="02020603050405020304" pitchFamily="18" charset="0"/>
            </a:endParaRPr>
          </a:p>
          <a:p>
            <a:pPr algn="just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0483" name="Text Box 3">
            <a:extLst>
              <a:ext uri="{FF2B5EF4-FFF2-40B4-BE49-F238E27FC236}">
                <a16:creationId xmlns:a16="http://schemas.microsoft.com/office/drawing/2014/main" id="{6321754F-B80E-8B37-7A0F-C24B292A21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28600"/>
            <a:ext cx="8001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>
                <a:solidFill>
                  <a:schemeClr val="accent2"/>
                </a:solidFill>
                <a:latin typeface="Times New Roman" panose="02020603050405020304" pitchFamily="18" charset="0"/>
              </a:rPr>
              <a:t>lseek( ) function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F21D4EF8-3721-A575-6964-F8578759DB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304800"/>
            <a:ext cx="8686800" cy="6278563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en-US" altLang="en-US">
                <a:latin typeface="Times New Roman" panose="02020603050405020304" pitchFamily="18" charset="0"/>
              </a:rPr>
              <a:t>An open file’s offset can be set explicitly by calling lseek( )</a:t>
            </a:r>
          </a:p>
          <a:p>
            <a:pPr algn="just">
              <a:lnSpc>
                <a:spcPct val="90000"/>
              </a:lnSpc>
              <a:buFontTx/>
              <a:buNone/>
            </a:pPr>
            <a:r>
              <a:rPr lang="en-US" altLang="en-US">
                <a:latin typeface="Times New Roman" panose="02020603050405020304" pitchFamily="18" charset="0"/>
              </a:rPr>
              <a:t>#include &lt;unistd.h&gt;</a:t>
            </a:r>
          </a:p>
          <a:p>
            <a:pPr algn="just">
              <a:lnSpc>
                <a:spcPct val="90000"/>
              </a:lnSpc>
              <a:buFontTx/>
              <a:buNone/>
            </a:pPr>
            <a:r>
              <a:rPr lang="en-US" altLang="en-US">
                <a:solidFill>
                  <a:srgbClr val="CC3300"/>
                </a:solidFill>
                <a:latin typeface="Times New Roman" panose="02020603050405020304" pitchFamily="18" charset="0"/>
              </a:rPr>
              <a:t>off_t lseek( int filedes, off_t offset, int whence);</a:t>
            </a:r>
          </a:p>
          <a:p>
            <a:pPr algn="just">
              <a:lnSpc>
                <a:spcPct val="90000"/>
              </a:lnSpc>
              <a:buFontTx/>
              <a:buNone/>
            </a:pPr>
            <a:r>
              <a:rPr lang="en-US" altLang="en-US">
                <a:latin typeface="Times New Roman" panose="02020603050405020304" pitchFamily="18" charset="0"/>
              </a:rPr>
              <a:t>		</a:t>
            </a:r>
            <a:r>
              <a:rPr lang="en-US" altLang="en-US">
                <a:solidFill>
                  <a:srgbClr val="0000FF"/>
                </a:solidFill>
                <a:latin typeface="Times New Roman" panose="02020603050405020304" pitchFamily="18" charset="0"/>
              </a:rPr>
              <a:t>returns new offset if OK, -1 on error</a:t>
            </a:r>
          </a:p>
          <a:p>
            <a:pPr algn="just">
              <a:lnSpc>
                <a:spcPct val="90000"/>
              </a:lnSpc>
            </a:pPr>
            <a:r>
              <a:rPr lang="en-US" altLang="en-US">
                <a:latin typeface="Times New Roman" panose="02020603050405020304" pitchFamily="18" charset="0"/>
              </a:rPr>
              <a:t>The interpretaion of the offset depends on the value of the whence argument</a:t>
            </a:r>
          </a:p>
          <a:p>
            <a:pPr lvl="1" algn="just">
              <a:lnSpc>
                <a:spcPct val="90000"/>
              </a:lnSpc>
              <a:buFontTx/>
              <a:buNone/>
            </a:pPr>
            <a:r>
              <a:rPr lang="en-US" altLang="en-US">
                <a:latin typeface="Times New Roman" panose="02020603050405020304" pitchFamily="18" charset="0"/>
              </a:rPr>
              <a:t>	SEEK_SET	counts from beg of the file		0</a:t>
            </a:r>
          </a:p>
          <a:p>
            <a:pPr lvl="1" algn="just">
              <a:lnSpc>
                <a:spcPct val="90000"/>
              </a:lnSpc>
              <a:buFontTx/>
              <a:buNone/>
            </a:pPr>
            <a:r>
              <a:rPr lang="en-US" altLang="en-US">
                <a:latin typeface="Times New Roman" panose="02020603050405020304" pitchFamily="18" charset="0"/>
              </a:rPr>
              <a:t>	SEEK_CUR	counts from current offset		1</a:t>
            </a:r>
          </a:p>
          <a:p>
            <a:pPr lvl="1" algn="just">
              <a:lnSpc>
                <a:spcPct val="90000"/>
              </a:lnSpc>
              <a:buFontTx/>
              <a:buNone/>
            </a:pPr>
            <a:r>
              <a:rPr lang="en-US" altLang="en-US">
                <a:latin typeface="Times New Roman" panose="02020603050405020304" pitchFamily="18" charset="0"/>
              </a:rPr>
              <a:t>				offset can be +ve or -ve</a:t>
            </a:r>
          </a:p>
          <a:p>
            <a:pPr lvl="1" algn="just">
              <a:lnSpc>
                <a:spcPct val="90000"/>
              </a:lnSpc>
              <a:buFontTx/>
              <a:buNone/>
            </a:pPr>
            <a:r>
              <a:rPr lang="en-US" altLang="en-US">
                <a:latin typeface="Times New Roman" panose="02020603050405020304" pitchFamily="18" charset="0"/>
              </a:rPr>
              <a:t>	SEEK_END set to size of the file plus offset		2</a:t>
            </a:r>
          </a:p>
          <a:p>
            <a:pPr lvl="1" algn="just">
              <a:lnSpc>
                <a:spcPct val="90000"/>
              </a:lnSpc>
              <a:buFontTx/>
              <a:buNone/>
            </a:pPr>
            <a:r>
              <a:rPr lang="en-US" altLang="en-US">
                <a:latin typeface="Times New Roman" panose="02020603050405020304" pitchFamily="18" charset="0"/>
              </a:rPr>
              <a:t>				offset can be +ve or -ve</a:t>
            </a:r>
          </a:p>
          <a:p>
            <a:pPr lvl="1" algn="just">
              <a:lnSpc>
                <a:spcPct val="90000"/>
              </a:lnSpc>
              <a:buFontTx/>
              <a:buNone/>
            </a:pPr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D59C6074-0F5D-216D-5DB1-42F94B8B56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838200"/>
            <a:ext cx="8686800" cy="5745163"/>
          </a:xfrm>
        </p:spPr>
        <p:txBody>
          <a:bodyPr/>
          <a:lstStyle/>
          <a:p>
            <a:pPr algn="just"/>
            <a:r>
              <a:rPr lang="en-US" altLang="en-US" sz="2800">
                <a:latin typeface="Times New Roman" panose="02020603050405020304" pitchFamily="18" charset="0"/>
              </a:rPr>
              <a:t>Data is read from an open file</a:t>
            </a:r>
          </a:p>
          <a:p>
            <a:pPr algn="just">
              <a:buFontTx/>
              <a:buNone/>
            </a:pPr>
            <a:r>
              <a:rPr lang="en-US" altLang="en-US" sz="2800">
                <a:latin typeface="Times New Roman" panose="02020603050405020304" pitchFamily="18" charset="0"/>
              </a:rPr>
              <a:t>#include &lt;unistd.h&gt;</a:t>
            </a:r>
          </a:p>
          <a:p>
            <a:pPr algn="just">
              <a:buFontTx/>
              <a:buNone/>
            </a:pPr>
            <a:r>
              <a:rPr lang="en-US" altLang="en-US" sz="2800">
                <a:solidFill>
                  <a:srgbClr val="CC3300"/>
                </a:solidFill>
                <a:latin typeface="Times New Roman" panose="02020603050405020304" pitchFamily="18" charset="0"/>
              </a:rPr>
              <a:t>ssize_t read( int filedes, void *buf, size_t nbytes);</a:t>
            </a:r>
          </a:p>
          <a:p>
            <a:pPr algn="just">
              <a:buFontTx/>
              <a:buNone/>
            </a:pPr>
            <a:r>
              <a:rPr lang="en-US" altLang="en-US" sz="2800">
                <a:latin typeface="Times New Roman" panose="02020603050405020304" pitchFamily="18" charset="0"/>
              </a:rPr>
              <a:t>   	  </a:t>
            </a:r>
            <a:r>
              <a:rPr lang="en-US" altLang="en-US" sz="2800">
                <a:solidFill>
                  <a:srgbClr val="0000FF"/>
                </a:solidFill>
                <a:latin typeface="Times New Roman" panose="02020603050405020304" pitchFamily="18" charset="0"/>
              </a:rPr>
              <a:t>returns number of bytes read, 0 if EOF,-1 on error</a:t>
            </a:r>
          </a:p>
          <a:p>
            <a:pPr algn="just"/>
            <a:endParaRPr lang="en-US" altLang="en-US" sz="280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lvl="1" algn="just"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2531" name="Text Box 3">
            <a:extLst>
              <a:ext uri="{FF2B5EF4-FFF2-40B4-BE49-F238E27FC236}">
                <a16:creationId xmlns:a16="http://schemas.microsoft.com/office/drawing/2014/main" id="{F23E8CFC-9B76-CC10-50AF-2C9FCA127D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28600"/>
            <a:ext cx="8001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>
                <a:solidFill>
                  <a:schemeClr val="accent2"/>
                </a:solidFill>
                <a:latin typeface="Times New Roman" panose="02020603050405020304" pitchFamily="18" charset="0"/>
              </a:rPr>
              <a:t>read( ) function</a:t>
            </a:r>
          </a:p>
        </p:txBody>
      </p:sp>
      <p:sp>
        <p:nvSpPr>
          <p:cNvPr id="22532" name="Text Box 4">
            <a:extLst>
              <a:ext uri="{FF2B5EF4-FFF2-40B4-BE49-F238E27FC236}">
                <a16:creationId xmlns:a16="http://schemas.microsoft.com/office/drawing/2014/main" id="{3E8B1E23-2D5A-344F-7FDB-35DCC02348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3276600"/>
            <a:ext cx="7086600" cy="278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600" b="1">
                <a:latin typeface="Courier New" panose="02070309020205020404" pitchFamily="49" charset="0"/>
              </a:rPr>
              <a:t>char buf[512];</a:t>
            </a:r>
          </a:p>
          <a:p>
            <a:r>
              <a:rPr lang="en-US" altLang="en-US" sz="1600" b="1">
                <a:latin typeface="Courier New" panose="02070309020205020404" pitchFamily="49" charset="0"/>
              </a:rPr>
              <a:t>int fd;       /* file descriptor */</a:t>
            </a:r>
          </a:p>
          <a:p>
            <a:r>
              <a:rPr lang="en-US" altLang="en-US" sz="1600" b="1">
                <a:latin typeface="Courier New" panose="02070309020205020404" pitchFamily="49" charset="0"/>
              </a:rPr>
              <a:t>int nbytes;   /* number of bytes read */</a:t>
            </a:r>
          </a:p>
          <a:p>
            <a:endParaRPr lang="en-US" altLang="en-US" sz="1600" b="1">
              <a:latin typeface="Courier New" panose="02070309020205020404" pitchFamily="49" charset="0"/>
            </a:endParaRPr>
          </a:p>
          <a:p>
            <a:r>
              <a:rPr lang="en-US" altLang="en-US" sz="1600" b="1">
                <a:latin typeface="Courier New" panose="02070309020205020404" pitchFamily="49" charset="0"/>
              </a:rPr>
              <a:t>/* Open file fd ...  */</a:t>
            </a:r>
          </a:p>
          <a:p>
            <a:r>
              <a:rPr lang="en-US" altLang="en-US" sz="1600" b="1">
                <a:latin typeface="Courier New" panose="02070309020205020404" pitchFamily="49" charset="0"/>
              </a:rPr>
              <a:t>/* Then read </a:t>
            </a:r>
            <a:r>
              <a:rPr lang="en-US" altLang="en-US" sz="1600" b="1">
                <a:solidFill>
                  <a:srgbClr val="FF0000"/>
                </a:solidFill>
                <a:latin typeface="Courier New" panose="02070309020205020404" pitchFamily="49" charset="0"/>
              </a:rPr>
              <a:t>up to</a:t>
            </a:r>
            <a:r>
              <a:rPr lang="en-US" altLang="en-US" sz="1600" b="1">
                <a:latin typeface="Courier New" panose="02070309020205020404" pitchFamily="49" charset="0"/>
              </a:rPr>
              <a:t> 512 bytes from file fd */</a:t>
            </a:r>
          </a:p>
          <a:p>
            <a:r>
              <a:rPr lang="en-US" altLang="en-US" sz="1600" b="1">
                <a:latin typeface="Courier New" panose="02070309020205020404" pitchFamily="49" charset="0"/>
              </a:rPr>
              <a:t>if ((nbytes = read(fd, buf, sizeof(buf))) &lt; 0) </a:t>
            </a:r>
          </a:p>
          <a:p>
            <a:r>
              <a:rPr lang="en-US" altLang="en-US" sz="1600" b="1">
                <a:latin typeface="Courier New" panose="02070309020205020404" pitchFamily="49" charset="0"/>
              </a:rPr>
              <a:t>{</a:t>
            </a:r>
          </a:p>
          <a:p>
            <a:r>
              <a:rPr lang="en-US" altLang="en-US" sz="1600" b="1">
                <a:latin typeface="Courier New" panose="02070309020205020404" pitchFamily="49" charset="0"/>
              </a:rPr>
              <a:t>   printf(“read”);</a:t>
            </a:r>
          </a:p>
          <a:p>
            <a:r>
              <a:rPr lang="en-US" altLang="en-US" sz="1600" b="1">
                <a:latin typeface="Courier New" panose="02070309020205020404" pitchFamily="49" charset="0"/>
              </a:rPr>
              <a:t>   exit(1);</a:t>
            </a:r>
          </a:p>
          <a:p>
            <a:r>
              <a:rPr lang="en-US" altLang="en-US" sz="1600" b="1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B4A91528-A6BA-6F6C-1A6C-B3B26DF20E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52400"/>
            <a:ext cx="8686800" cy="6430963"/>
          </a:xfrm>
        </p:spPr>
        <p:txBody>
          <a:bodyPr/>
          <a:lstStyle/>
          <a:p>
            <a:pPr algn="just">
              <a:spcBef>
                <a:spcPct val="0"/>
              </a:spcBef>
            </a:pPr>
            <a:r>
              <a:rPr lang="en-US" altLang="en-US" sz="2800" i="1">
                <a:solidFill>
                  <a:srgbClr val="FF0000"/>
                </a:solidFill>
                <a:latin typeface="Times New Roman" panose="02020603050405020304" pitchFamily="18" charset="0"/>
              </a:rPr>
              <a:t>short counts</a:t>
            </a:r>
            <a:r>
              <a:rPr lang="en-US" altLang="en-US" sz="2800">
                <a:latin typeface="Times New Roman" panose="02020603050405020304" pitchFamily="18" charset="0"/>
              </a:rPr>
              <a:t> (nbytes &lt; sizeof(buf) ) are possible and are not errors!</a:t>
            </a:r>
          </a:p>
          <a:p>
            <a:pPr algn="just">
              <a:spcBef>
                <a:spcPct val="0"/>
              </a:spcBef>
            </a:pPr>
            <a:r>
              <a:rPr lang="en-US" altLang="en-US" sz="2800">
                <a:latin typeface="Times New Roman" panose="02020603050405020304" pitchFamily="18" charset="0"/>
              </a:rPr>
              <a:t>Reasons</a:t>
            </a:r>
          </a:p>
          <a:p>
            <a:pPr lvl="1" algn="just">
              <a:spcBef>
                <a:spcPct val="0"/>
              </a:spcBef>
              <a:buFontTx/>
              <a:buChar char="•"/>
            </a:pPr>
            <a:r>
              <a:rPr lang="en-US" altLang="en-US" sz="2400">
                <a:latin typeface="Times New Roman" panose="02020603050405020304" pitchFamily="18" charset="0"/>
              </a:rPr>
              <a:t>When reading from regular file, if the EOF reached before the requested no. of bytes has been read</a:t>
            </a:r>
          </a:p>
          <a:p>
            <a:pPr lvl="1" algn="just">
              <a:spcBef>
                <a:spcPct val="0"/>
              </a:spcBef>
              <a:buFontTx/>
              <a:buChar char="•"/>
            </a:pPr>
            <a:r>
              <a:rPr lang="en-US" altLang="en-US" sz="2400">
                <a:latin typeface="Times New Roman" panose="02020603050405020304" pitchFamily="18" charset="0"/>
              </a:rPr>
              <a:t>When reading from a terminal device. Normally upto one line is read at a time</a:t>
            </a:r>
          </a:p>
          <a:p>
            <a:pPr lvl="1" algn="just">
              <a:spcBef>
                <a:spcPct val="0"/>
              </a:spcBef>
              <a:buFontTx/>
              <a:buChar char="•"/>
            </a:pPr>
            <a:r>
              <a:rPr lang="en-US" altLang="en-US" sz="2400">
                <a:latin typeface="Times New Roman" panose="02020603050405020304" pitchFamily="18" charset="0"/>
              </a:rPr>
              <a:t>When reading from network. Buffering within the network may cause less than the requested amount to be returned</a:t>
            </a:r>
          </a:p>
          <a:p>
            <a:pPr lvl="1" algn="just">
              <a:spcBef>
                <a:spcPct val="0"/>
              </a:spcBef>
              <a:buFontTx/>
              <a:buChar char="•"/>
            </a:pPr>
            <a:r>
              <a:rPr lang="en-US" altLang="en-US" sz="2400">
                <a:latin typeface="Times New Roman" panose="02020603050405020304" pitchFamily="18" charset="0"/>
              </a:rPr>
              <a:t>When reading from a pipr or FIFO. If the pipe contains fewer bytes than requested, read will return only what is available</a:t>
            </a:r>
          </a:p>
          <a:p>
            <a:pPr lvl="1" algn="just">
              <a:spcBef>
                <a:spcPct val="0"/>
              </a:spcBef>
              <a:buFontTx/>
              <a:buChar char="•"/>
            </a:pPr>
            <a:r>
              <a:rPr lang="en-US" altLang="en-US" sz="2400">
                <a:latin typeface="Times New Roman" panose="02020603050405020304" pitchFamily="18" charset="0"/>
              </a:rPr>
              <a:t>When reading from a record oriented device. Such as mag tap can return upto a single record at a time</a:t>
            </a:r>
          </a:p>
          <a:p>
            <a:pPr lvl="1" algn="just">
              <a:spcBef>
                <a:spcPct val="0"/>
              </a:spcBef>
              <a:buFontTx/>
              <a:buChar char="•"/>
            </a:pPr>
            <a:r>
              <a:rPr lang="en-US" altLang="en-US" sz="2400">
                <a:latin typeface="Times New Roman" panose="02020603050405020304" pitchFamily="18" charset="0"/>
              </a:rPr>
              <a:t>When interrupted by a signal and a partial amount of data has already been read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5">
            <a:extLst>
              <a:ext uri="{FF2B5EF4-FFF2-40B4-BE49-F238E27FC236}">
                <a16:creationId xmlns:a16="http://schemas.microsoft.com/office/drawing/2014/main" id="{6DD573B9-EEF6-EE5C-EEA8-36A7EAB3CB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90513" y="1220788"/>
            <a:ext cx="8307387" cy="5224462"/>
          </a:xfrm>
          <a:noFill/>
        </p:spPr>
        <p:txBody>
          <a:bodyPr lIns="90479" tIns="44446" rIns="90479" bIns="44446"/>
          <a:lstStyle/>
          <a:p>
            <a:pPr algn="just"/>
            <a:r>
              <a:rPr lang="en-US" altLang="en-US">
                <a:latin typeface="Times New Roman" panose="02020603050405020304" pitchFamily="18" charset="0"/>
              </a:rPr>
              <a:t>Short counts can occur in these situations:</a:t>
            </a:r>
          </a:p>
          <a:p>
            <a:pPr lvl="1" algn="just"/>
            <a:r>
              <a:rPr lang="en-US" altLang="en-US">
                <a:latin typeface="Times New Roman" panose="02020603050405020304" pitchFamily="18" charset="0"/>
              </a:rPr>
              <a:t>Encountering (end-of-file) EOF on reads.</a:t>
            </a:r>
          </a:p>
          <a:p>
            <a:pPr lvl="1" algn="just"/>
            <a:r>
              <a:rPr lang="en-US" altLang="en-US">
                <a:latin typeface="Times New Roman" panose="02020603050405020304" pitchFamily="18" charset="0"/>
              </a:rPr>
              <a:t>Reading text lines from a terminal.</a:t>
            </a:r>
          </a:p>
          <a:p>
            <a:pPr lvl="1" algn="just"/>
            <a:r>
              <a:rPr lang="en-US" altLang="en-US">
                <a:latin typeface="Times New Roman" panose="02020603050405020304" pitchFamily="18" charset="0"/>
              </a:rPr>
              <a:t>Reading and writing network sockets or Unix pipes.</a:t>
            </a:r>
          </a:p>
          <a:p>
            <a:pPr algn="just"/>
            <a:r>
              <a:rPr lang="en-US" altLang="en-US">
                <a:latin typeface="Times New Roman" panose="02020603050405020304" pitchFamily="18" charset="0"/>
              </a:rPr>
              <a:t>Short counts never occur in these situations:</a:t>
            </a:r>
          </a:p>
          <a:p>
            <a:pPr lvl="1" algn="just"/>
            <a:r>
              <a:rPr lang="en-US" altLang="en-US">
                <a:latin typeface="Times New Roman" panose="02020603050405020304" pitchFamily="18" charset="0"/>
              </a:rPr>
              <a:t>Reading from disk files (except for EOF)</a:t>
            </a:r>
          </a:p>
          <a:p>
            <a:pPr lvl="1" algn="just"/>
            <a:r>
              <a:rPr lang="en-US" altLang="en-US">
                <a:latin typeface="Times New Roman" panose="02020603050405020304" pitchFamily="18" charset="0"/>
              </a:rPr>
              <a:t>Writing to disk files.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45FFC2BF-D5E3-0881-BA99-FCA5BB9EC0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838200"/>
            <a:ext cx="8686800" cy="2590800"/>
          </a:xfrm>
        </p:spPr>
        <p:txBody>
          <a:bodyPr/>
          <a:lstStyle/>
          <a:p>
            <a:pPr algn="just"/>
            <a:r>
              <a:rPr lang="en-US" altLang="en-US" sz="2800">
                <a:latin typeface="Times New Roman" panose="02020603050405020304" pitchFamily="18" charset="0"/>
              </a:rPr>
              <a:t>Data is write to an open file</a:t>
            </a:r>
          </a:p>
          <a:p>
            <a:pPr algn="just">
              <a:buFontTx/>
              <a:buNone/>
            </a:pPr>
            <a:r>
              <a:rPr lang="en-US" altLang="en-US" sz="2800">
                <a:latin typeface="Times New Roman" panose="02020603050405020304" pitchFamily="18" charset="0"/>
              </a:rPr>
              <a:t>#include &lt;unistd.h&gt;</a:t>
            </a:r>
          </a:p>
          <a:p>
            <a:pPr algn="just">
              <a:buFontTx/>
              <a:buNone/>
            </a:pPr>
            <a:r>
              <a:rPr lang="en-US" altLang="en-US" sz="2800">
                <a:latin typeface="Times New Roman" panose="02020603050405020304" pitchFamily="18" charset="0"/>
              </a:rPr>
              <a:t>ssize_t write( int filedes, const void *buf, size_t nbytes);</a:t>
            </a:r>
          </a:p>
          <a:p>
            <a:pPr algn="just">
              <a:buFontTx/>
              <a:buNone/>
            </a:pPr>
            <a:r>
              <a:rPr lang="en-US" altLang="en-US" sz="2800">
                <a:latin typeface="Times New Roman" panose="02020603050405020304" pitchFamily="18" charset="0"/>
              </a:rPr>
              <a:t>   	  returns number of bytes written if OK,-1 on error</a:t>
            </a:r>
          </a:p>
          <a:p>
            <a:pPr algn="just"/>
            <a:endParaRPr lang="en-US" altLang="en-US" sz="2800">
              <a:latin typeface="Times New Roman" panose="02020603050405020304" pitchFamily="18" charset="0"/>
            </a:endParaRPr>
          </a:p>
          <a:p>
            <a:pPr lvl="1" algn="just"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5603" name="Text Box 3">
            <a:extLst>
              <a:ext uri="{FF2B5EF4-FFF2-40B4-BE49-F238E27FC236}">
                <a16:creationId xmlns:a16="http://schemas.microsoft.com/office/drawing/2014/main" id="{01A85034-3B08-B1BB-13B7-F1D603BD92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28600"/>
            <a:ext cx="8001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>
                <a:solidFill>
                  <a:schemeClr val="accent2"/>
                </a:solidFill>
                <a:latin typeface="Times New Roman" panose="02020603050405020304" pitchFamily="18" charset="0"/>
              </a:rPr>
              <a:t>write( ) function</a:t>
            </a:r>
          </a:p>
        </p:txBody>
      </p:sp>
      <p:sp>
        <p:nvSpPr>
          <p:cNvPr id="25604" name="Text Box 5">
            <a:extLst>
              <a:ext uri="{FF2B5EF4-FFF2-40B4-BE49-F238E27FC236}">
                <a16:creationId xmlns:a16="http://schemas.microsoft.com/office/drawing/2014/main" id="{018D738B-1CAE-3CAB-2518-23E4E0C71F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100" y="3886200"/>
            <a:ext cx="6540500" cy="253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600" b="1">
                <a:latin typeface="Courier New" panose="02070309020205020404" pitchFamily="49" charset="0"/>
              </a:rPr>
              <a:t>char buf[512];</a:t>
            </a:r>
          </a:p>
          <a:p>
            <a:r>
              <a:rPr lang="en-US" altLang="en-US" sz="1600" b="1">
                <a:latin typeface="Courier New" panose="02070309020205020404" pitchFamily="49" charset="0"/>
              </a:rPr>
              <a:t>int fd;       /* file descriptor */</a:t>
            </a:r>
          </a:p>
          <a:p>
            <a:r>
              <a:rPr lang="en-US" altLang="en-US" sz="1600" b="1">
                <a:latin typeface="Courier New" panose="02070309020205020404" pitchFamily="49" charset="0"/>
              </a:rPr>
              <a:t>int nbytes;   /* number of bytes read */</a:t>
            </a:r>
          </a:p>
          <a:p>
            <a:endParaRPr lang="en-US" altLang="en-US" sz="1600" b="1">
              <a:latin typeface="Courier New" panose="02070309020205020404" pitchFamily="49" charset="0"/>
            </a:endParaRPr>
          </a:p>
          <a:p>
            <a:r>
              <a:rPr lang="en-US" altLang="en-US" sz="1600" b="1">
                <a:latin typeface="Courier New" panose="02070309020205020404" pitchFamily="49" charset="0"/>
              </a:rPr>
              <a:t>/* Open the file fd ... */</a:t>
            </a:r>
          </a:p>
          <a:p>
            <a:r>
              <a:rPr lang="en-US" altLang="en-US" sz="1600" b="1">
                <a:latin typeface="Courier New" panose="02070309020205020404" pitchFamily="49" charset="0"/>
              </a:rPr>
              <a:t>/* Then write </a:t>
            </a:r>
            <a:r>
              <a:rPr lang="en-US" altLang="en-US" sz="1600" b="1">
                <a:solidFill>
                  <a:srgbClr val="FF0000"/>
                </a:solidFill>
                <a:latin typeface="Courier New" panose="02070309020205020404" pitchFamily="49" charset="0"/>
              </a:rPr>
              <a:t>up to</a:t>
            </a:r>
            <a:r>
              <a:rPr lang="en-US" altLang="en-US" sz="1600" b="1">
                <a:latin typeface="Courier New" panose="02070309020205020404" pitchFamily="49" charset="0"/>
              </a:rPr>
              <a:t> 512 bytes from buf to file fd */</a:t>
            </a:r>
          </a:p>
          <a:p>
            <a:r>
              <a:rPr lang="en-US" altLang="en-US" sz="1600" b="1">
                <a:latin typeface="Courier New" panose="02070309020205020404" pitchFamily="49" charset="0"/>
              </a:rPr>
              <a:t>if ((nbytes = write(fd, buf, sizeof(buf)) &lt; 0) {</a:t>
            </a:r>
          </a:p>
          <a:p>
            <a:r>
              <a:rPr lang="en-US" altLang="en-US" sz="1600" b="1">
                <a:latin typeface="Courier New" panose="02070309020205020404" pitchFamily="49" charset="0"/>
              </a:rPr>
              <a:t>   perror(“write”);</a:t>
            </a:r>
          </a:p>
          <a:p>
            <a:r>
              <a:rPr lang="en-US" altLang="en-US" sz="1600" b="1">
                <a:latin typeface="Courier New" panose="02070309020205020404" pitchFamily="49" charset="0"/>
              </a:rPr>
              <a:t>   exit(1);</a:t>
            </a:r>
          </a:p>
          <a:p>
            <a:r>
              <a:rPr lang="en-US" altLang="en-US" sz="1600" b="1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4">
            <a:extLst>
              <a:ext uri="{FF2B5EF4-FFF2-40B4-BE49-F238E27FC236}">
                <a16:creationId xmlns:a16="http://schemas.microsoft.com/office/drawing/2014/main" id="{FC8207D6-D2D3-03AA-5C28-712FDE400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304800"/>
            <a:ext cx="8610600" cy="525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79" tIns="44446" rIns="90479" bIns="44446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r>
              <a:rPr lang="en-US" altLang="en-US" sz="3200"/>
              <a:t>Copying standard input to standard output one byte at a time.</a:t>
            </a:r>
          </a:p>
          <a:p>
            <a:pPr>
              <a:spcBef>
                <a:spcPct val="20000"/>
              </a:spcBef>
              <a:buFontTx/>
              <a:buChar char="•"/>
            </a:pPr>
            <a:endParaRPr lang="en-US" altLang="en-US" sz="3200"/>
          </a:p>
          <a:p>
            <a:pPr>
              <a:spcBef>
                <a:spcPct val="20000"/>
              </a:spcBef>
              <a:buFontTx/>
              <a:buChar char="•"/>
            </a:pPr>
            <a:endParaRPr lang="en-US" altLang="en-US" sz="3200"/>
          </a:p>
          <a:p>
            <a:pPr>
              <a:spcBef>
                <a:spcPct val="20000"/>
              </a:spcBef>
              <a:buFontTx/>
              <a:buChar char="•"/>
            </a:pPr>
            <a:endParaRPr lang="en-US" altLang="en-US" sz="3200"/>
          </a:p>
          <a:p>
            <a:pPr>
              <a:spcBef>
                <a:spcPct val="20000"/>
              </a:spcBef>
              <a:buFontTx/>
              <a:buChar char="•"/>
            </a:pPr>
            <a:endParaRPr lang="en-US" altLang="en-US" sz="3200"/>
          </a:p>
          <a:p>
            <a:pPr>
              <a:spcBef>
                <a:spcPct val="20000"/>
              </a:spcBef>
              <a:buFontTx/>
              <a:buChar char="•"/>
            </a:pPr>
            <a:endParaRPr lang="en-US" altLang="en-US" sz="3200"/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en-US" sz="3200"/>
              <a:t>Note the use of error handling wrappers for read and write</a:t>
            </a:r>
          </a:p>
        </p:txBody>
      </p:sp>
      <p:sp>
        <p:nvSpPr>
          <p:cNvPr id="26627" name="Text Box 5">
            <a:extLst>
              <a:ext uri="{FF2B5EF4-FFF2-40B4-BE49-F238E27FC236}">
                <a16:creationId xmlns:a16="http://schemas.microsoft.com/office/drawing/2014/main" id="{939430C6-E23C-DEAB-E1FA-1DB5AF780D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2057400"/>
            <a:ext cx="6492875" cy="228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lIns="45720" rIns="4572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000" b="1">
                <a:latin typeface="Courier New" panose="02070309020205020404" pitchFamily="49" charset="0"/>
              </a:rPr>
              <a:t>int main(void) </a:t>
            </a:r>
          </a:p>
          <a:p>
            <a:pPr>
              <a:lnSpc>
                <a:spcPct val="90000"/>
              </a:lnSpc>
            </a:pPr>
            <a:r>
              <a:rPr lang="en-US" altLang="en-US" sz="2000" b="1">
                <a:latin typeface="Courier New" panose="02070309020205020404" pitchFamily="49" charset="0"/>
              </a:rPr>
              <a:t>{</a:t>
            </a:r>
          </a:p>
          <a:p>
            <a:pPr>
              <a:lnSpc>
                <a:spcPct val="90000"/>
              </a:lnSpc>
            </a:pPr>
            <a:r>
              <a:rPr lang="en-US" altLang="en-US" sz="2000" b="1">
                <a:latin typeface="Courier New" panose="02070309020205020404" pitchFamily="49" charset="0"/>
              </a:rPr>
              <a:t>    char c;</a:t>
            </a:r>
          </a:p>
          <a:p>
            <a:pPr>
              <a:lnSpc>
                <a:spcPct val="90000"/>
              </a:lnSpc>
            </a:pPr>
            <a:endParaRPr lang="en-US" altLang="en-US" sz="20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000" b="1">
                <a:latin typeface="Courier New" panose="02070309020205020404" pitchFamily="49" charset="0"/>
              </a:rPr>
              <a:t>    while(read(STDIN_FILENO, &amp;c, 1) != 0) </a:t>
            </a:r>
          </a:p>
          <a:p>
            <a:pPr>
              <a:lnSpc>
                <a:spcPct val="90000"/>
              </a:lnSpc>
            </a:pPr>
            <a:r>
              <a:rPr lang="en-US" altLang="en-US" sz="2000" b="1">
                <a:latin typeface="Courier New" panose="02070309020205020404" pitchFamily="49" charset="0"/>
              </a:rPr>
              <a:t>	write(STDOUT_FILENO, &amp;c, 1);</a:t>
            </a:r>
          </a:p>
          <a:p>
            <a:pPr>
              <a:lnSpc>
                <a:spcPct val="90000"/>
              </a:lnSpc>
            </a:pPr>
            <a:r>
              <a:rPr lang="en-US" altLang="en-US" sz="2000" b="1">
                <a:latin typeface="Courier New" panose="02070309020205020404" pitchFamily="49" charset="0"/>
              </a:rPr>
              <a:t>    exit(0);</a:t>
            </a:r>
          </a:p>
          <a:p>
            <a:pPr>
              <a:lnSpc>
                <a:spcPct val="90000"/>
              </a:lnSpc>
            </a:pPr>
            <a:r>
              <a:rPr lang="en-US" altLang="en-US" sz="2000" b="1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454</TotalTime>
  <Words>1748</Words>
  <Application>Microsoft Office PowerPoint</Application>
  <PresentationFormat>On-screen Show (4:3)</PresentationFormat>
  <Paragraphs>198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Times New Roman</vt:lpstr>
      <vt:lpstr>Courier New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Kamalika</dc:creator>
  <cp:lastModifiedBy>S Bhavani</cp:lastModifiedBy>
  <cp:revision>226</cp:revision>
  <dcterms:created xsi:type="dcterms:W3CDTF">2011-04-12T16:02:31Z</dcterms:created>
  <dcterms:modified xsi:type="dcterms:W3CDTF">2026-04-07T06:37:09Z</dcterms:modified>
</cp:coreProperties>
</file>