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30"/>
  </p:notesMasterIdLst>
  <p:sldIdLst>
    <p:sldId id="257" r:id="rId2"/>
    <p:sldId id="286" r:id="rId3"/>
    <p:sldId id="258" r:id="rId4"/>
    <p:sldId id="259" r:id="rId5"/>
    <p:sldId id="256" r:id="rId6"/>
    <p:sldId id="260" r:id="rId7"/>
    <p:sldId id="284" r:id="rId8"/>
    <p:sldId id="262" r:id="rId9"/>
    <p:sldId id="278" r:id="rId10"/>
    <p:sldId id="263" r:id="rId11"/>
    <p:sldId id="264" r:id="rId12"/>
    <p:sldId id="265" r:id="rId13"/>
    <p:sldId id="268" r:id="rId14"/>
    <p:sldId id="285" r:id="rId15"/>
    <p:sldId id="269" r:id="rId16"/>
    <p:sldId id="270" r:id="rId17"/>
    <p:sldId id="271" r:id="rId18"/>
    <p:sldId id="287" r:id="rId19"/>
    <p:sldId id="272" r:id="rId20"/>
    <p:sldId id="282" r:id="rId21"/>
    <p:sldId id="273" r:id="rId22"/>
    <p:sldId id="288" r:id="rId23"/>
    <p:sldId id="274" r:id="rId24"/>
    <p:sldId id="280" r:id="rId25"/>
    <p:sldId id="275" r:id="rId26"/>
    <p:sldId id="289" r:id="rId27"/>
    <p:sldId id="290" r:id="rId28"/>
    <p:sldId id="276" r:id="rId29"/>
  </p:sldIdLst>
  <p:sldSz cx="9144000" cy="6858000" type="screen4x3"/>
  <p:notesSz cx="6858000" cy="9144000"/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1618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-1068" y="-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026">
            <a:extLst>
              <a:ext uri="{FF2B5EF4-FFF2-40B4-BE49-F238E27FC236}">
                <a16:creationId xmlns:a16="http://schemas.microsoft.com/office/drawing/2014/main" id="{DBB63886-0AD3-49C4-9E69-1C327F3D9C8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1027">
            <a:extLst>
              <a:ext uri="{FF2B5EF4-FFF2-40B4-BE49-F238E27FC236}">
                <a16:creationId xmlns:a16="http://schemas.microsoft.com/office/drawing/2014/main" id="{D2DC7204-2B67-7DF0-0A37-AB803B3D39D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24" name="Rectangle 1028">
            <a:extLst>
              <a:ext uri="{FF2B5EF4-FFF2-40B4-BE49-F238E27FC236}">
                <a16:creationId xmlns:a16="http://schemas.microsoft.com/office/drawing/2014/main" id="{716776D0-2AFC-D449-479B-8A11458C0D4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1029">
            <a:extLst>
              <a:ext uri="{FF2B5EF4-FFF2-40B4-BE49-F238E27FC236}">
                <a16:creationId xmlns:a16="http://schemas.microsoft.com/office/drawing/2014/main" id="{A429E1E9-A918-089A-EECC-C47C890DEA2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1030">
            <a:extLst>
              <a:ext uri="{FF2B5EF4-FFF2-40B4-BE49-F238E27FC236}">
                <a16:creationId xmlns:a16="http://schemas.microsoft.com/office/drawing/2014/main" id="{D6C5FB87-6212-2DD6-72C9-AE3B1F81C23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1031">
            <a:extLst>
              <a:ext uri="{FF2B5EF4-FFF2-40B4-BE49-F238E27FC236}">
                <a16:creationId xmlns:a16="http://schemas.microsoft.com/office/drawing/2014/main" id="{5A4CD6AB-FB29-790E-CB10-181FC42A227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anose="02020603050405020304" pitchFamily="18" charset="0"/>
              </a:defRPr>
            </a:lvl1pPr>
          </a:lstStyle>
          <a:p>
            <a:fld id="{F95A2A76-241D-4FA5-B76D-26BD2E5EC6A0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031">
            <a:extLst>
              <a:ext uri="{FF2B5EF4-FFF2-40B4-BE49-F238E27FC236}">
                <a16:creationId xmlns:a16="http://schemas.microsoft.com/office/drawing/2014/main" id="{D9317A43-4F0D-9E63-E9DB-B1C5550407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659B3F1A-DE50-4BC7-A7FE-B3F5D4C5054E}" type="slidenum">
              <a:rPr lang="en-US" altLang="en-US">
                <a:latin typeface="Times New Roman" panose="02020603050405020304" pitchFamily="18" charset="0"/>
              </a:rPr>
              <a:pPr/>
              <a:t>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ED1880F6-911D-F5A1-5BD4-E2CAC8FF05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64D549BB-D495-6197-3913-037CCD9B4F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>
            <a:extLst>
              <a:ext uri="{FF2B5EF4-FFF2-40B4-BE49-F238E27FC236}">
                <a16:creationId xmlns:a16="http://schemas.microsoft.com/office/drawing/2014/main" id="{B4377390-146D-691F-FA59-1EDE51F6C6C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2771" name="Notes Placeholder 2">
            <a:extLst>
              <a:ext uri="{FF2B5EF4-FFF2-40B4-BE49-F238E27FC236}">
                <a16:creationId xmlns:a16="http://schemas.microsoft.com/office/drawing/2014/main" id="{829EE7B1-CF16-7A7E-E5A1-719DFE80F0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2772" name="Slide Number Placeholder 3">
            <a:extLst>
              <a:ext uri="{FF2B5EF4-FFF2-40B4-BE49-F238E27FC236}">
                <a16:creationId xmlns:a16="http://schemas.microsoft.com/office/drawing/2014/main" id="{CA1410B0-A8CE-6140-2502-56C67D72B9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E25641D2-EF82-48D3-A2DC-2AF2751143E3}" type="slidenum">
              <a:rPr lang="en-US" altLang="en-US">
                <a:latin typeface="Times New Roman" panose="02020603050405020304" pitchFamily="18" charset="0"/>
              </a:rPr>
              <a:pPr/>
              <a:t>23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C197992-B50C-51C1-1011-D0489CBAC22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831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225D72B-F42E-AAB3-B45F-BF85A955799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723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8077605-7BB2-04C4-8531-6B664EB2879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296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47750" y="1724025"/>
            <a:ext cx="3438525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8675" y="1724025"/>
            <a:ext cx="3438525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4F4C318-5D1B-5CBE-D2DE-4C192AECD17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291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8EECA1B5-0B04-CB9F-E7B1-0A26DE5E90B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283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5EDD7144-CB5C-9738-D5CF-47519E209B8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335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C9E6913F-E9CD-CABF-89CA-5976E53FFF1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677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1C9A839-DB53-8BB2-8132-D51382458FE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4189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D6D8592-8AF5-EC44-33D3-79D9B6B32CE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086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8D56B77-8AA2-52FA-55C3-586466525F5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824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19838" y="495300"/>
            <a:ext cx="1757362" cy="5343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47750" y="495300"/>
            <a:ext cx="5119688" cy="5343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B409D14-A0DA-C30B-A600-F2C089D5954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42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7">
            <a:extLst>
              <a:ext uri="{FF2B5EF4-FFF2-40B4-BE49-F238E27FC236}">
                <a16:creationId xmlns:a16="http://schemas.microsoft.com/office/drawing/2014/main" id="{81CF42B3-01D0-5BC9-B178-25B1F5BDD4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342900"/>
            <a:ext cx="7831137" cy="685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tx1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27" name="Rectangle 2">
            <a:extLst>
              <a:ext uri="{FF2B5EF4-FFF2-40B4-BE49-F238E27FC236}">
                <a16:creationId xmlns:a16="http://schemas.microsoft.com/office/drawing/2014/main" id="{3ECDEA0E-87CE-A185-BB3D-07FC0DFA3D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62050" y="495300"/>
            <a:ext cx="68865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3">
            <a:extLst>
              <a:ext uri="{FF2B5EF4-FFF2-40B4-BE49-F238E27FC236}">
                <a16:creationId xmlns:a16="http://schemas.microsoft.com/office/drawing/2014/main" id="{DA584327-FF9B-3943-E499-487AC0A460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47750" y="1724025"/>
            <a:ext cx="702945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35C6575-8802-13C8-9126-C624B670392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537325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48612E7E-CABE-F3F2-5D61-7687C9456F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6537325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defRPr/>
            </a:pPr>
            <a:r>
              <a:rPr lang="en-US" sz="1000"/>
              <a:t>Silberschatz and Galvin </a:t>
            </a:r>
            <a:r>
              <a:rPr lang="en-US" sz="1000">
                <a:sym typeface="Symbol" pitchFamily="18" charset="2"/>
              </a:rPr>
              <a:t>1999</a:t>
            </a:r>
            <a:r>
              <a:rPr lang="en-US" sz="1400">
                <a:latin typeface="Times New Roman" pitchFamily="18" charset="0"/>
              </a:rPr>
              <a:t> </a:t>
            </a:r>
          </a:p>
        </p:txBody>
      </p:sp>
      <p:sp>
        <p:nvSpPr>
          <p:cNvPr id="1033" name="AutoShape 9">
            <a:extLst>
              <a:ext uri="{FF2B5EF4-FFF2-40B4-BE49-F238E27FC236}">
                <a16:creationId xmlns:a16="http://schemas.microsoft.com/office/drawing/2014/main" id="{19634447-B6F9-5AA0-75C8-E53F064831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650" y="95250"/>
            <a:ext cx="8909050" cy="6448425"/>
          </a:xfrm>
          <a:prstGeom prst="roundRect">
            <a:avLst>
              <a:gd name="adj" fmla="val 17278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34" name="Text Box 10">
            <a:extLst>
              <a:ext uri="{FF2B5EF4-FFF2-40B4-BE49-F238E27FC236}">
                <a16:creationId xmlns:a16="http://schemas.microsoft.com/office/drawing/2014/main" id="{DFBC895A-5410-7EE3-D7E9-FDD6948394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6400" y="6546850"/>
            <a:ext cx="4445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000"/>
              <a:t>1.</a:t>
            </a:r>
            <a:fld id="{71151D97-D941-4A93-A38B-F063DEBBC72A}" type="slidenum">
              <a:rPr lang="en-US" altLang="en-US" sz="1000"/>
              <a:pPr>
                <a:spcBef>
                  <a:spcPct val="50000"/>
                </a:spcBef>
              </a:pPr>
              <a:t>‹#›</a:t>
            </a:fld>
            <a:endParaRPr lang="en-US" altLang="en-US" sz="10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Helvetic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Helvetic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Helvetic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Helvetica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Helvetica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Helvetica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Helvetica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Helvetica" pitchFamily="34" charset="0"/>
        </a:defRPr>
      </a:lvl9pPr>
    </p:titleStyle>
    <p:bodyStyle>
      <a:lvl1pPr marL="228600" indent="-228600" algn="l" rtl="0" eaLnBrk="0" fontAlgn="base" hangingPunct="0">
        <a:spcBef>
          <a:spcPct val="50000"/>
        </a:spcBef>
        <a:spcAft>
          <a:spcPct val="0"/>
        </a:spcAft>
        <a:buSzPct val="140000"/>
        <a:buChar char="•"/>
        <a:defRPr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85000"/>
        <a:buFont typeface="Monotype Sorts" pitchFamily="2" charset="2"/>
        <a:buChar char="T"/>
        <a:defRPr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3">
            <a:extLst>
              <a:ext uri="{FF2B5EF4-FFF2-40B4-BE49-F238E27FC236}">
                <a16:creationId xmlns:a16="http://schemas.microsoft.com/office/drawing/2014/main" id="{727C890A-88D3-C617-B7BA-C579FF0CE6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46175" y="2452688"/>
            <a:ext cx="7029450" cy="654050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 altLang="en-US" sz="6600"/>
              <a:t>Operating Systems</a:t>
            </a:r>
          </a:p>
        </p:txBody>
      </p:sp>
      <p:sp>
        <p:nvSpPr>
          <p:cNvPr id="2051" name="Rectangle 5">
            <a:extLst>
              <a:ext uri="{FF2B5EF4-FFF2-40B4-BE49-F238E27FC236}">
                <a16:creationId xmlns:a16="http://schemas.microsoft.com/office/drawing/2014/main" id="{235C2960-71C9-613C-F1AD-3E11A8B5EB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7988" y="6565900"/>
            <a:ext cx="1865312" cy="2921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5995E55B-985F-4493-C87B-58925821CF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 Introduction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F0749827-5EAA-095F-4AE2-A03088FE6E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What is an operating system?</a:t>
            </a:r>
          </a:p>
          <a:p>
            <a:r>
              <a:rPr lang="en-US" altLang="en-US"/>
              <a:t>Simple Batch Systems</a:t>
            </a:r>
          </a:p>
          <a:p>
            <a:r>
              <a:rPr lang="en-US" altLang="en-US"/>
              <a:t>Multiprogramming Batched Systems</a:t>
            </a:r>
          </a:p>
          <a:p>
            <a:r>
              <a:rPr lang="en-US" altLang="en-US"/>
              <a:t>Time-Sharing Systems</a:t>
            </a:r>
          </a:p>
          <a:p>
            <a:r>
              <a:rPr lang="en-US" altLang="en-US"/>
              <a:t>Personal-Computer Systems </a:t>
            </a:r>
          </a:p>
          <a:p>
            <a:r>
              <a:rPr lang="en-US" altLang="en-US"/>
              <a:t>Parallel Systems</a:t>
            </a:r>
          </a:p>
          <a:p>
            <a:r>
              <a:rPr lang="en-US" altLang="en-US"/>
              <a:t>Distributed Systems</a:t>
            </a:r>
          </a:p>
          <a:p>
            <a:r>
              <a:rPr lang="en-US" altLang="en-US"/>
              <a:t>Real -Time Systems</a:t>
            </a:r>
          </a:p>
        </p:txBody>
      </p:sp>
      <p:sp>
        <p:nvSpPr>
          <p:cNvPr id="3076" name="Rectangle 5">
            <a:extLst>
              <a:ext uri="{FF2B5EF4-FFF2-40B4-BE49-F238E27FC236}">
                <a16:creationId xmlns:a16="http://schemas.microsoft.com/office/drawing/2014/main" id="{843BFBE8-449C-3E32-55F8-391C8C5FF7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7988" y="6565900"/>
            <a:ext cx="1865312" cy="2921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A1C9792C-469D-2DDE-7E6C-D3E8439BDE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What is an Operating System?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B7787728-B50B-EDEA-4319-104E86C15D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62025" y="1695450"/>
            <a:ext cx="7029450" cy="4114800"/>
          </a:xfrm>
        </p:spPr>
        <p:txBody>
          <a:bodyPr/>
          <a:lstStyle/>
          <a:p>
            <a:r>
              <a:rPr lang="en-US" altLang="en-US"/>
              <a:t>A program that acts as an intermediary between a user of a computer and the computer hardware.</a:t>
            </a:r>
          </a:p>
          <a:p>
            <a:r>
              <a:rPr lang="en-US" altLang="en-US"/>
              <a:t>Operating system goals:</a:t>
            </a:r>
          </a:p>
          <a:p>
            <a:pPr lvl="1"/>
            <a:r>
              <a:rPr lang="en-US" altLang="en-US"/>
              <a:t>Execute user programs and make solving user problems easier.</a:t>
            </a:r>
          </a:p>
          <a:p>
            <a:pPr lvl="1"/>
            <a:r>
              <a:rPr lang="en-US" altLang="en-US"/>
              <a:t>Make the computer system convenient to use.</a:t>
            </a:r>
          </a:p>
          <a:p>
            <a:pPr lvl="1"/>
            <a:r>
              <a:rPr lang="en-US" altLang="en-US"/>
              <a:t>Use the computer hardware in an efficient manner.</a:t>
            </a:r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24462FF9-E7D9-DBA1-A8C1-2C9AD08A73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7988" y="6565900"/>
            <a:ext cx="1865312" cy="2921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F2BCF01B-F05C-38C6-EA39-7DB7EEEDD0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Computer System Components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26A6DFEA-5E58-0177-8D29-461FE7A13A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/>
              <a:t>1.	Hardware – provides basic computing resources (CPU, memory, I/O devices).</a:t>
            </a:r>
          </a:p>
          <a:p>
            <a:pPr>
              <a:buFontTx/>
              <a:buNone/>
            </a:pPr>
            <a:r>
              <a:rPr lang="en-US" altLang="en-US"/>
              <a:t>2.	Operating system – controls and coordinates the use of the hardware among the various application programs for the various users.</a:t>
            </a:r>
          </a:p>
          <a:p>
            <a:pPr>
              <a:buFontTx/>
              <a:buNone/>
            </a:pPr>
            <a:r>
              <a:rPr lang="en-US" altLang="en-US"/>
              <a:t>3.	Applications programs – define the ways in which the system resources are used to solve the computing problems of the users (compilers, database systems, video games, business programs).</a:t>
            </a:r>
          </a:p>
          <a:p>
            <a:pPr>
              <a:buFontTx/>
              <a:buNone/>
            </a:pPr>
            <a:r>
              <a:rPr lang="en-US" altLang="en-US"/>
              <a:t>4.	Users (people, machines, other computers). </a:t>
            </a:r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10368200-67E2-864B-2473-88518F4D0B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7988" y="6565900"/>
            <a:ext cx="1865312" cy="2921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0A56F4B1-05A7-C47A-E7CD-C4E020CF4E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</a:rPr>
              <a:t>Abstract View of System Components</a:t>
            </a:r>
            <a:endParaRPr lang="en-US" altLang="en-US"/>
          </a:p>
        </p:txBody>
      </p:sp>
      <p:pic>
        <p:nvPicPr>
          <p:cNvPr id="6147" name="Picture 20">
            <a:extLst>
              <a:ext uri="{FF2B5EF4-FFF2-40B4-BE49-F238E27FC236}">
                <a16:creationId xmlns:a16="http://schemas.microsoft.com/office/drawing/2014/main" id="{9876BF69-7C82-694D-4AF7-A017A85563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95" t="7478" r="7574" b="5096"/>
          <a:stretch>
            <a:fillRect/>
          </a:stretch>
        </p:blipFill>
        <p:spPr bwMode="auto">
          <a:xfrm>
            <a:off x="1593850" y="1244600"/>
            <a:ext cx="6076950" cy="4975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8" name="Rectangle 4">
            <a:extLst>
              <a:ext uri="{FF2B5EF4-FFF2-40B4-BE49-F238E27FC236}">
                <a16:creationId xmlns:a16="http://schemas.microsoft.com/office/drawing/2014/main" id="{7386174E-8665-5D43-B20C-8B6677CE46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7988" y="6565900"/>
            <a:ext cx="1865312" cy="2921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D01A2278-3260-C786-0E2C-725BB59595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Operating System Definitions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D1306438-2218-0C6F-3F9A-7764EDE976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85850" y="2124075"/>
            <a:ext cx="7029450" cy="4114800"/>
          </a:xfrm>
        </p:spPr>
        <p:txBody>
          <a:bodyPr/>
          <a:lstStyle/>
          <a:p>
            <a:r>
              <a:rPr lang="en-US" altLang="en-US"/>
              <a:t>Resource allocator – manages and allocates resources.</a:t>
            </a:r>
          </a:p>
          <a:p>
            <a:pPr lvl="1"/>
            <a:r>
              <a:rPr lang="en-US" altLang="en-US"/>
              <a:t>Manages all resources</a:t>
            </a:r>
          </a:p>
          <a:p>
            <a:pPr lvl="1"/>
            <a:r>
              <a:rPr lang="en-US" altLang="en-US"/>
              <a:t>Decides between conflicting requests for efficient and fair resource use</a:t>
            </a:r>
          </a:p>
          <a:p>
            <a:r>
              <a:rPr lang="en-US" altLang="en-US"/>
              <a:t>Control program – controls the execution of user programs and operations of I/O devices .</a:t>
            </a:r>
          </a:p>
          <a:p>
            <a:pPr marL="628650" lvl="2">
              <a:spcBef>
                <a:spcPct val="50000"/>
              </a:spcBef>
              <a:buSzPct val="140000"/>
              <a:buFontTx/>
              <a:buChar char="•"/>
            </a:pPr>
            <a:r>
              <a:rPr lang="en-US" altLang="en-US"/>
              <a:t>Controls execution of programs to prevent errors and improper use of the computer</a:t>
            </a:r>
          </a:p>
          <a:p>
            <a:endParaRPr lang="en-US" altLang="en-US"/>
          </a:p>
        </p:txBody>
      </p:sp>
      <p:sp>
        <p:nvSpPr>
          <p:cNvPr id="7172" name="Rectangle 4">
            <a:extLst>
              <a:ext uri="{FF2B5EF4-FFF2-40B4-BE49-F238E27FC236}">
                <a16:creationId xmlns:a16="http://schemas.microsoft.com/office/drawing/2014/main" id="{D1990F19-8039-0E61-55AB-257138951C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7988" y="6565900"/>
            <a:ext cx="1865312" cy="2921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DD96F8BA-534E-3CE0-F8C0-9C3B130A88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Operating System Definitions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FA7E0CFD-4B45-AA5D-E18D-E36D186B4D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85850" y="2124075"/>
            <a:ext cx="7029450" cy="4114800"/>
          </a:xfrm>
        </p:spPr>
        <p:txBody>
          <a:bodyPr/>
          <a:lstStyle/>
          <a:p>
            <a:r>
              <a:rPr lang="en-US" altLang="en-US"/>
              <a:t>No universally accepted definition.</a:t>
            </a:r>
          </a:p>
          <a:p>
            <a:endParaRPr lang="en-US" altLang="en-US" sz="800"/>
          </a:p>
          <a:p>
            <a:r>
              <a:rPr lang="en-US" altLang="en-US"/>
              <a:t>“Everything a vendor ships when you order an operating system” is good approximation</a:t>
            </a:r>
          </a:p>
          <a:p>
            <a:pPr lvl="1"/>
            <a:r>
              <a:rPr lang="en-US" altLang="en-US"/>
              <a:t>But varies wildly</a:t>
            </a:r>
          </a:p>
          <a:p>
            <a:pPr lvl="1"/>
            <a:endParaRPr lang="en-US" altLang="en-US" sz="800"/>
          </a:p>
          <a:p>
            <a:r>
              <a:rPr lang="en-US" altLang="en-US"/>
              <a:t>“The one program running at all times on the computer” is the </a:t>
            </a:r>
            <a:r>
              <a:rPr lang="en-US" altLang="en-US" b="1">
                <a:solidFill>
                  <a:srgbClr val="3366FF"/>
                </a:solidFill>
              </a:rPr>
              <a:t>kernel</a:t>
            </a:r>
            <a:r>
              <a:rPr lang="en-US" altLang="en-US"/>
              <a:t>.</a:t>
            </a:r>
            <a:r>
              <a:rPr lang="en-US" altLang="en-US" b="1"/>
              <a:t>  </a:t>
            </a:r>
            <a:r>
              <a:rPr lang="en-US" altLang="en-US"/>
              <a:t>Everything else is either a system program (ships with the operating system) or an application program</a:t>
            </a:r>
          </a:p>
          <a:p>
            <a:pPr>
              <a:buFontTx/>
              <a:buNone/>
            </a:pPr>
            <a:endParaRPr lang="en-US" altLang="en-US"/>
          </a:p>
        </p:txBody>
      </p:sp>
      <p:sp>
        <p:nvSpPr>
          <p:cNvPr id="8196" name="Rectangle 4">
            <a:extLst>
              <a:ext uri="{FF2B5EF4-FFF2-40B4-BE49-F238E27FC236}">
                <a16:creationId xmlns:a16="http://schemas.microsoft.com/office/drawing/2014/main" id="{BBAB4004-6553-2EF3-E15D-184EC274F4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7988" y="6565900"/>
            <a:ext cx="1865312" cy="2921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93290D9F-9DC8-33DF-C6FD-3C7367A9BE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Simple Batch Systems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39E4ECBD-6070-0CC3-645A-B7332F2BBC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Hire an operator</a:t>
            </a:r>
          </a:p>
          <a:p>
            <a:r>
              <a:rPr lang="en-US" altLang="en-US"/>
              <a:t>User </a:t>
            </a:r>
            <a:r>
              <a:rPr lang="en-US" altLang="en-US">
                <a:sym typeface="Symbol" panose="05050102010706020507" pitchFamily="18" charset="2"/>
              </a:rPr>
              <a:t> operator</a:t>
            </a:r>
          </a:p>
          <a:p>
            <a:r>
              <a:rPr lang="en-US" altLang="en-US">
                <a:sym typeface="Symbol" panose="05050102010706020507" pitchFamily="18" charset="2"/>
              </a:rPr>
              <a:t>Add a card reader</a:t>
            </a:r>
          </a:p>
          <a:p>
            <a:r>
              <a:rPr lang="en-US" altLang="en-US">
                <a:sym typeface="Symbol" panose="05050102010706020507" pitchFamily="18" charset="2"/>
              </a:rPr>
              <a:t>Reduce setup time by batching similar jobs</a:t>
            </a:r>
          </a:p>
          <a:p>
            <a:r>
              <a:rPr lang="en-US" altLang="en-US">
                <a:sym typeface="Symbol" panose="05050102010706020507" pitchFamily="18" charset="2"/>
              </a:rPr>
              <a:t>Automatic job sequencing – automatically transfers control from one job to another.  First rudimentary operating system.</a:t>
            </a:r>
          </a:p>
          <a:p>
            <a:r>
              <a:rPr lang="en-US" altLang="en-US">
                <a:sym typeface="Symbol" panose="05050102010706020507" pitchFamily="18" charset="2"/>
              </a:rPr>
              <a:t>Resident monitor</a:t>
            </a:r>
          </a:p>
          <a:p>
            <a:pPr lvl="1"/>
            <a:r>
              <a:rPr lang="en-US" altLang="en-US"/>
              <a:t>initial control in monitor </a:t>
            </a:r>
          </a:p>
          <a:p>
            <a:pPr lvl="1"/>
            <a:r>
              <a:rPr lang="en-US" altLang="en-US"/>
              <a:t>control transfers to job </a:t>
            </a:r>
          </a:p>
          <a:p>
            <a:pPr lvl="1"/>
            <a:r>
              <a:rPr lang="en-US" altLang="en-US"/>
              <a:t>when job completes control transfers back to monitor</a:t>
            </a:r>
          </a:p>
        </p:txBody>
      </p:sp>
      <p:sp>
        <p:nvSpPr>
          <p:cNvPr id="9220" name="Rectangle 4">
            <a:extLst>
              <a:ext uri="{FF2B5EF4-FFF2-40B4-BE49-F238E27FC236}">
                <a16:creationId xmlns:a16="http://schemas.microsoft.com/office/drawing/2014/main" id="{A141D496-EAEC-8E19-AE54-FA1D05D6C7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7988" y="6565900"/>
            <a:ext cx="1865312" cy="2921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5B79A55A-C726-B56E-F80D-AFF4B99F17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9625" y="495300"/>
            <a:ext cx="7648575" cy="457200"/>
          </a:xfrm>
        </p:spPr>
        <p:txBody>
          <a:bodyPr/>
          <a:lstStyle/>
          <a:p>
            <a:r>
              <a:rPr lang="en-US" altLang="en-US"/>
              <a:t>Memory Layout for a Simple Batch System</a:t>
            </a:r>
          </a:p>
        </p:txBody>
      </p:sp>
      <p:pic>
        <p:nvPicPr>
          <p:cNvPr id="10243" name="Picture 7">
            <a:extLst>
              <a:ext uri="{FF2B5EF4-FFF2-40B4-BE49-F238E27FC236}">
                <a16:creationId xmlns:a16="http://schemas.microsoft.com/office/drawing/2014/main" id="{67CD0C0C-1D1B-CC13-4B34-C6902E2515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365" t="1007" r="28203" b="806"/>
          <a:stretch>
            <a:fillRect/>
          </a:stretch>
        </p:blipFill>
        <p:spPr bwMode="auto">
          <a:xfrm>
            <a:off x="3157538" y="1349375"/>
            <a:ext cx="2566987" cy="464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4" name="Rectangle 4">
            <a:extLst>
              <a:ext uri="{FF2B5EF4-FFF2-40B4-BE49-F238E27FC236}">
                <a16:creationId xmlns:a16="http://schemas.microsoft.com/office/drawing/2014/main" id="{2578AD08-6359-1A10-E2D9-9B45FB9E5F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7988" y="6565900"/>
            <a:ext cx="1865312" cy="2921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B957AC9C-DD75-D8AF-9A77-BE57B0C6A0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Control Cards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1553645A-5FCB-CCAB-70A0-62CED1F5F9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Problems</a:t>
            </a:r>
          </a:p>
          <a:p>
            <a:pPr marL="800100" lvl="1">
              <a:buFontTx/>
              <a:buNone/>
            </a:pPr>
            <a:r>
              <a:rPr lang="en-US" altLang="en-US"/>
              <a:t>1.	How does the monitor know about the nature of the job (e.g., Fortran versus Assembly) or which program to execute?</a:t>
            </a:r>
          </a:p>
          <a:p>
            <a:pPr marL="800100" lvl="1">
              <a:buFontTx/>
              <a:buNone/>
            </a:pPr>
            <a:r>
              <a:rPr lang="en-US" altLang="en-US"/>
              <a:t>2.	How does the monitor distinguish </a:t>
            </a:r>
            <a:br>
              <a:rPr lang="en-US" altLang="en-US"/>
            </a:br>
            <a:r>
              <a:rPr lang="en-US" altLang="en-US"/>
              <a:t>(a) job from job?</a:t>
            </a:r>
            <a:br>
              <a:rPr lang="en-US" altLang="en-US"/>
            </a:br>
            <a:r>
              <a:rPr lang="en-US" altLang="en-US"/>
              <a:t>(b) data from program?</a:t>
            </a:r>
          </a:p>
          <a:p>
            <a:r>
              <a:rPr lang="en-US" altLang="en-US"/>
              <a:t>Solution</a:t>
            </a:r>
          </a:p>
          <a:p>
            <a:pPr marL="800100" lvl="1"/>
            <a:r>
              <a:rPr lang="en-US" altLang="en-US"/>
              <a:t>Introduce control cards</a:t>
            </a:r>
          </a:p>
          <a:p>
            <a:pPr marL="800100" lvl="1">
              <a:buFontTx/>
              <a:buChar char=" "/>
            </a:pPr>
            <a:endParaRPr lang="en-US" altLang="en-US"/>
          </a:p>
        </p:txBody>
      </p:sp>
      <p:sp>
        <p:nvSpPr>
          <p:cNvPr id="11268" name="Rectangle 4">
            <a:extLst>
              <a:ext uri="{FF2B5EF4-FFF2-40B4-BE49-F238E27FC236}">
                <a16:creationId xmlns:a16="http://schemas.microsoft.com/office/drawing/2014/main" id="{A14442E3-017E-F754-A399-35D7C0C2A8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7988" y="6565900"/>
            <a:ext cx="1865312" cy="2921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E9FCB435-8CAD-5A80-CB35-880ACCB75F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Control Cards (Cont.)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1298CB7D-201C-9DA2-00F6-E5B7E3940B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Special cards that tell the resident monitor which programs to run</a:t>
            </a:r>
            <a:br>
              <a:rPr lang="en-US" altLang="en-US"/>
            </a:br>
            <a:r>
              <a:rPr lang="en-US" altLang="en-US"/>
              <a:t>$JOB</a:t>
            </a:r>
            <a:br>
              <a:rPr lang="en-US" altLang="en-US"/>
            </a:br>
            <a:r>
              <a:rPr lang="en-US" altLang="en-US"/>
              <a:t>$FTN</a:t>
            </a:r>
            <a:br>
              <a:rPr lang="en-US" altLang="en-US"/>
            </a:br>
            <a:r>
              <a:rPr lang="en-US" altLang="en-US"/>
              <a:t>$RUN</a:t>
            </a:r>
            <a:br>
              <a:rPr lang="en-US" altLang="en-US"/>
            </a:br>
            <a:r>
              <a:rPr lang="en-US" altLang="en-US"/>
              <a:t>$DATA</a:t>
            </a:r>
            <a:br>
              <a:rPr lang="en-US" altLang="en-US"/>
            </a:br>
            <a:r>
              <a:rPr lang="en-US" altLang="en-US"/>
              <a:t>$END</a:t>
            </a:r>
          </a:p>
          <a:p>
            <a:r>
              <a:rPr lang="en-US" altLang="en-US"/>
              <a:t>Special characters distinguish control cards from data or program cards:</a:t>
            </a:r>
            <a:br>
              <a:rPr lang="en-US" altLang="en-US"/>
            </a:br>
            <a:r>
              <a:rPr lang="en-US" altLang="en-US"/>
              <a:t>$ in column 1</a:t>
            </a:r>
            <a:br>
              <a:rPr lang="en-US" altLang="en-US"/>
            </a:br>
            <a:r>
              <a:rPr lang="en-US" altLang="en-US"/>
              <a:t>// in column 1 and 2</a:t>
            </a:r>
            <a:br>
              <a:rPr lang="en-US" altLang="en-US"/>
            </a:br>
            <a:r>
              <a:rPr lang="en-US" altLang="en-US"/>
              <a:t>709 in column1</a:t>
            </a:r>
          </a:p>
        </p:txBody>
      </p:sp>
      <p:sp>
        <p:nvSpPr>
          <p:cNvPr id="12292" name="Rectangle 4">
            <a:extLst>
              <a:ext uri="{FF2B5EF4-FFF2-40B4-BE49-F238E27FC236}">
                <a16:creationId xmlns:a16="http://schemas.microsoft.com/office/drawing/2014/main" id="{8195C4AE-DC98-EB4F-F2FD-5BB2935D94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7988" y="6565900"/>
            <a:ext cx="1865312" cy="2921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14D78F57-1666-6939-F3F4-0131A06883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Control Cards (Cont.)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42FBE4B9-923D-9895-B2FF-79F72B0449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Parts of resident monitor</a:t>
            </a:r>
          </a:p>
          <a:p>
            <a:pPr lvl="1"/>
            <a:r>
              <a:rPr lang="en-US" altLang="en-US"/>
              <a:t>Control card interpreter – responsible for reading and carrying out instructions on the cards.</a:t>
            </a:r>
          </a:p>
          <a:p>
            <a:pPr lvl="1"/>
            <a:r>
              <a:rPr lang="en-US" altLang="en-US"/>
              <a:t>Loader – loads systems programs and applications programs into memory.</a:t>
            </a:r>
          </a:p>
          <a:p>
            <a:pPr lvl="1"/>
            <a:r>
              <a:rPr lang="en-US" altLang="en-US"/>
              <a:t>Device drivers – know special characteristics and properties for each of the system’s I/O devices.</a:t>
            </a:r>
          </a:p>
          <a:p>
            <a:r>
              <a:rPr lang="en-US" altLang="en-US"/>
              <a:t>Problem:  Slow Performance – I/O and CPU could not overlap ; card reader very slow.</a:t>
            </a:r>
          </a:p>
          <a:p>
            <a:r>
              <a:rPr lang="en-US" altLang="en-US"/>
              <a:t>Solution:  Off-line operation – speed up computation by loading jobs into memory from tapes and card reading and line printing done off-line.</a:t>
            </a:r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D5E01887-CA1E-C9E6-87B0-A0E2513990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7988" y="6565900"/>
            <a:ext cx="1865312" cy="2921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A43F773D-D221-9EC4-6664-26A96ACB67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Spooling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D0456690-552F-FB7F-FC1A-6549F1AC2E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89013" y="1703388"/>
            <a:ext cx="7029450" cy="4114800"/>
          </a:xfrm>
        </p:spPr>
        <p:txBody>
          <a:bodyPr/>
          <a:lstStyle/>
          <a:p>
            <a:r>
              <a:rPr lang="en-US" altLang="en-US"/>
              <a:t>Overlap I/O of one job with computation of another job.  While executing one job, the OS.</a:t>
            </a:r>
            <a:br>
              <a:rPr lang="en-US" altLang="en-US"/>
            </a:br>
            <a:endParaRPr lang="en-US" altLang="en-US"/>
          </a:p>
          <a:p>
            <a:pPr lvl="1"/>
            <a:r>
              <a:rPr lang="en-US" altLang="en-US"/>
              <a:t>Reads next job from card reader into a storage area on the disk (job queue).</a:t>
            </a:r>
          </a:p>
          <a:p>
            <a:pPr lvl="1"/>
            <a:r>
              <a:rPr lang="en-US" altLang="en-US"/>
              <a:t>Outputs printout of previous job from disk to printer.</a:t>
            </a:r>
          </a:p>
          <a:p>
            <a:r>
              <a:rPr lang="en-US" altLang="en-US" i="1"/>
              <a:t>Job pool</a:t>
            </a:r>
            <a:r>
              <a:rPr lang="en-US" altLang="en-US"/>
              <a:t> – data structure that allows the OS to select which job to run next in order to increase CPU utilization. </a:t>
            </a:r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5B99E135-3A83-E29F-6C93-1A906B0D92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7988" y="6565900"/>
            <a:ext cx="1865312" cy="2921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0EB16381-47D4-1345-4660-BC936EFFD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spooling</a:t>
            </a:r>
          </a:p>
        </p:txBody>
      </p:sp>
      <p:pic>
        <p:nvPicPr>
          <p:cNvPr id="15363" name="Picture 2" descr="What is spooling in operating system? - Quora">
            <a:extLst>
              <a:ext uri="{FF2B5EF4-FFF2-40B4-BE49-F238E27FC236}">
                <a16:creationId xmlns:a16="http://schemas.microsoft.com/office/drawing/2014/main" id="{54A2858B-D693-3468-B00F-D5E0ECD2C5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7350" y="1417638"/>
            <a:ext cx="5343525" cy="410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4" name="Rectangle 4">
            <a:extLst>
              <a:ext uri="{FF2B5EF4-FFF2-40B4-BE49-F238E27FC236}">
                <a16:creationId xmlns:a16="http://schemas.microsoft.com/office/drawing/2014/main" id="{56FB2D98-C193-6EEA-D21B-1C889E0B03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7988" y="6565900"/>
            <a:ext cx="1865312" cy="2921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5365" name="Rectangle 4">
            <a:extLst>
              <a:ext uri="{FF2B5EF4-FFF2-40B4-BE49-F238E27FC236}">
                <a16:creationId xmlns:a16="http://schemas.microsoft.com/office/drawing/2014/main" id="{C8587399-8CF5-5F68-0513-7783BD25E2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8675" y="5253038"/>
            <a:ext cx="1865313" cy="2921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D5CA4301-67BC-178C-ACB5-8B55687416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Multiprogrammed Batch Systems</a:t>
            </a:r>
          </a:p>
        </p:txBody>
      </p:sp>
      <p:sp>
        <p:nvSpPr>
          <p:cNvPr id="16387" name="Text Box 5">
            <a:extLst>
              <a:ext uri="{FF2B5EF4-FFF2-40B4-BE49-F238E27FC236}">
                <a16:creationId xmlns:a16="http://schemas.microsoft.com/office/drawing/2014/main" id="{74AE6D8D-5107-EE53-9730-A64D2C114E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525" y="1114425"/>
            <a:ext cx="74549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just">
              <a:buFont typeface="Arial" panose="020B0604020202020204" pitchFamily="34" charset="0"/>
              <a:buChar char="•"/>
            </a:pPr>
            <a:r>
              <a:rPr lang="en-US" altLang="en-US"/>
              <a:t>Several jobs are kept in main memory at the same time, and the CPU is multiplexed among them.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en-US"/>
              <a:t>MP is a first instance where OS must make decisions for the user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en-US"/>
              <a:t>Job scheduling</a:t>
            </a:r>
          </a:p>
        </p:txBody>
      </p:sp>
      <p:pic>
        <p:nvPicPr>
          <p:cNvPr id="16388" name="Picture 10">
            <a:extLst>
              <a:ext uri="{FF2B5EF4-FFF2-40B4-BE49-F238E27FC236}">
                <a16:creationId xmlns:a16="http://schemas.microsoft.com/office/drawing/2014/main" id="{3675E65F-4DFF-692F-6C08-4AFC64583E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21" t="934" r="25233" b="934"/>
          <a:stretch>
            <a:fillRect/>
          </a:stretch>
        </p:blipFill>
        <p:spPr bwMode="auto">
          <a:xfrm>
            <a:off x="3198813" y="2257425"/>
            <a:ext cx="2514600" cy="400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9" name="Rectangle 5">
            <a:extLst>
              <a:ext uri="{FF2B5EF4-FFF2-40B4-BE49-F238E27FC236}">
                <a16:creationId xmlns:a16="http://schemas.microsoft.com/office/drawing/2014/main" id="{F411C6B4-A8E5-336A-2D47-5248F831DF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7988" y="6565900"/>
            <a:ext cx="1865312" cy="2921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891AC666-E335-F09E-6197-24B756A88F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42950" y="495300"/>
            <a:ext cx="7820025" cy="457200"/>
          </a:xfrm>
        </p:spPr>
        <p:txBody>
          <a:bodyPr/>
          <a:lstStyle/>
          <a:p>
            <a:r>
              <a:rPr lang="en-US" altLang="en-US"/>
              <a:t>OS Features Needed for Multiprogramming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6FC7C6D4-3CA1-759E-536B-4CBBD0BC34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I/O routine supplied by the system.</a:t>
            </a:r>
          </a:p>
          <a:p>
            <a:r>
              <a:rPr lang="en-US" altLang="en-US"/>
              <a:t>Memory management – the system must allocate the memory to several jobs.</a:t>
            </a:r>
          </a:p>
          <a:p>
            <a:r>
              <a:rPr lang="en-US" altLang="en-US"/>
              <a:t>CPU scheduling – the system must choose among several jobs ready to run.</a:t>
            </a:r>
          </a:p>
          <a:p>
            <a:r>
              <a:rPr lang="en-US" altLang="en-US"/>
              <a:t>Allocation of devices.</a:t>
            </a:r>
          </a:p>
        </p:txBody>
      </p:sp>
      <p:sp>
        <p:nvSpPr>
          <p:cNvPr id="17412" name="Rectangle 4">
            <a:extLst>
              <a:ext uri="{FF2B5EF4-FFF2-40B4-BE49-F238E27FC236}">
                <a16:creationId xmlns:a16="http://schemas.microsoft.com/office/drawing/2014/main" id="{A8094498-1C3B-A950-0ABC-474BFF4D7C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7988" y="6565900"/>
            <a:ext cx="1865312" cy="2921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C9203D02-D061-BD12-5F19-9A22707B0D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52450" y="495300"/>
            <a:ext cx="8096250" cy="457200"/>
          </a:xfrm>
        </p:spPr>
        <p:txBody>
          <a:bodyPr/>
          <a:lstStyle/>
          <a:p>
            <a:r>
              <a:rPr lang="en-US" altLang="en-US"/>
              <a:t>Time-Sharing Systems–Interactive Computing 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A00E5C6D-1541-AA6C-91F4-6F385C4FCC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47750" y="1252538"/>
            <a:ext cx="7029450" cy="4586287"/>
          </a:xfrm>
        </p:spPr>
        <p:txBody>
          <a:bodyPr/>
          <a:lstStyle/>
          <a:p>
            <a:r>
              <a:rPr lang="en-US" altLang="en-US"/>
              <a:t>Difficulties with multi program systems (MPS)</a:t>
            </a:r>
          </a:p>
          <a:p>
            <a:pPr lvl="1"/>
            <a:r>
              <a:rPr lang="en-US" altLang="en-US"/>
              <a:t>User can not interact with job at the time of execution</a:t>
            </a:r>
          </a:p>
          <a:p>
            <a:pPr lvl="1"/>
            <a:r>
              <a:rPr lang="en-US" altLang="en-US"/>
              <a:t>Debugged statically from snapshot of dumps</a:t>
            </a:r>
          </a:p>
          <a:p>
            <a:r>
              <a:rPr lang="en-US" altLang="en-US"/>
              <a:t>1960 idea of TSS started but not popular until 1970s</a:t>
            </a:r>
          </a:p>
          <a:p>
            <a:endParaRPr lang="en-US" altLang="en-US"/>
          </a:p>
          <a:p>
            <a:pPr lvl="1"/>
            <a:endParaRPr lang="en-US" altLang="en-US"/>
          </a:p>
        </p:txBody>
      </p:sp>
      <p:sp>
        <p:nvSpPr>
          <p:cNvPr id="18436" name="Rectangle 4">
            <a:extLst>
              <a:ext uri="{FF2B5EF4-FFF2-40B4-BE49-F238E27FC236}">
                <a16:creationId xmlns:a16="http://schemas.microsoft.com/office/drawing/2014/main" id="{99FF06C3-606B-1695-A4B4-765DCCEA95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7988" y="6565900"/>
            <a:ext cx="1865312" cy="2921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14A06A2F-06FB-F65F-F308-CD93A91462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52450" y="495300"/>
            <a:ext cx="8096250" cy="457200"/>
          </a:xfrm>
        </p:spPr>
        <p:txBody>
          <a:bodyPr/>
          <a:lstStyle/>
          <a:p>
            <a:r>
              <a:rPr lang="en-US" altLang="en-US"/>
              <a:t>Time-Sharing Systems–Interactive Computing 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4F8CB62C-416F-6566-53D4-C2E3471D44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47750" y="1252538"/>
            <a:ext cx="7029450" cy="4586287"/>
          </a:xfrm>
        </p:spPr>
        <p:txBody>
          <a:bodyPr/>
          <a:lstStyle/>
          <a:p>
            <a:pPr algn="just"/>
            <a:r>
              <a:rPr lang="en-US" altLang="en-US"/>
              <a:t>Also called as multi tasking</a:t>
            </a:r>
          </a:p>
          <a:p>
            <a:pPr algn="just"/>
            <a:r>
              <a:rPr lang="en-US" altLang="en-US"/>
              <a:t>The CPU is multiplexed among several jobs that are kept in memory and on disk (the CPU is allocated to a job only if the job is in memory).</a:t>
            </a:r>
          </a:p>
          <a:p>
            <a:pPr algn="just"/>
            <a:r>
              <a:rPr lang="en-US" altLang="en-US"/>
              <a:t>A job is swapped in and out of memory to the disk.</a:t>
            </a:r>
          </a:p>
          <a:p>
            <a:pPr algn="just"/>
            <a:r>
              <a:rPr lang="en-US" altLang="en-US"/>
              <a:t>On-line communication between the user and the system is provided; when the operating system finishes the execution of one command, it seeks the next “control statement” not from a card reader, but rather from the user’s keyboard.</a:t>
            </a:r>
          </a:p>
          <a:p>
            <a:pPr algn="just"/>
            <a:r>
              <a:rPr lang="en-US" altLang="en-US"/>
              <a:t>On-line system must be available for users to access data and code.</a:t>
            </a:r>
          </a:p>
          <a:p>
            <a:pPr algn="just"/>
            <a:r>
              <a:rPr lang="en-US" altLang="en-US"/>
              <a:t>Multi Programming and Time Sharing are central theme of modern OS</a:t>
            </a:r>
          </a:p>
        </p:txBody>
      </p:sp>
      <p:sp>
        <p:nvSpPr>
          <p:cNvPr id="19460" name="Rectangle 4">
            <a:extLst>
              <a:ext uri="{FF2B5EF4-FFF2-40B4-BE49-F238E27FC236}">
                <a16:creationId xmlns:a16="http://schemas.microsoft.com/office/drawing/2014/main" id="{94241D47-339C-5F1F-3774-1B6FDBE2F8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7988" y="6565900"/>
            <a:ext cx="1865312" cy="2921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33B650F1-6B22-DC57-860F-144BD0A285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Personal-Computer Systems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3EFE857B-A9C7-109D-8C73-533E8D8D1E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68375" y="1298575"/>
            <a:ext cx="7029450" cy="4114800"/>
          </a:xfrm>
        </p:spPr>
        <p:txBody>
          <a:bodyPr/>
          <a:lstStyle/>
          <a:p>
            <a:pPr algn="just">
              <a:tabLst>
                <a:tab pos="6000750" algn="l"/>
              </a:tabLst>
            </a:pPr>
            <a:r>
              <a:rPr lang="en-US" altLang="en-US" i="1"/>
              <a:t>Appeared in 1970s</a:t>
            </a:r>
          </a:p>
          <a:p>
            <a:pPr algn="just">
              <a:tabLst>
                <a:tab pos="6000750" algn="l"/>
              </a:tabLst>
            </a:pPr>
            <a:r>
              <a:rPr lang="en-US" altLang="en-US" i="1"/>
              <a:t>Hardware cost decreased</a:t>
            </a:r>
          </a:p>
          <a:p>
            <a:pPr algn="just">
              <a:tabLst>
                <a:tab pos="6000750" algn="l"/>
              </a:tabLst>
            </a:pPr>
            <a:r>
              <a:rPr lang="en-US" altLang="en-US" i="1"/>
              <a:t>Smaller (µ computers) and less expensive</a:t>
            </a:r>
          </a:p>
          <a:p>
            <a:pPr algn="just">
              <a:tabLst>
                <a:tab pos="6000750" algn="l"/>
              </a:tabLst>
            </a:pPr>
            <a:r>
              <a:rPr lang="en-US" altLang="en-US" i="1"/>
              <a:t>Lack of features to protect OS. So neither multiuser or multi tasking</a:t>
            </a:r>
          </a:p>
          <a:p>
            <a:pPr algn="just">
              <a:tabLst>
                <a:tab pos="6000750" algn="l"/>
              </a:tabLst>
            </a:pPr>
            <a:r>
              <a:rPr lang="en-US" altLang="en-US" i="1"/>
              <a:t>Personal computers</a:t>
            </a:r>
            <a:r>
              <a:rPr lang="en-US" altLang="en-US"/>
              <a:t> – computer system dedicated to a single user.</a:t>
            </a:r>
          </a:p>
          <a:p>
            <a:pPr algn="just">
              <a:tabLst>
                <a:tab pos="6000750" algn="l"/>
              </a:tabLst>
            </a:pPr>
            <a:r>
              <a:rPr lang="en-US" altLang="en-US"/>
              <a:t>I/O devices – keyboards, mice, display screens, small printers.</a:t>
            </a:r>
          </a:p>
          <a:p>
            <a:pPr algn="just">
              <a:tabLst>
                <a:tab pos="6000750" algn="l"/>
              </a:tabLst>
            </a:pPr>
            <a:r>
              <a:rPr lang="en-US" altLang="en-US"/>
              <a:t>Goals changed to User convenience and responsiveness instead of max CPU utilization and peripheral utilization.</a:t>
            </a:r>
          </a:p>
          <a:p>
            <a:pPr algn="just">
              <a:tabLst>
                <a:tab pos="6000750" algn="l"/>
              </a:tabLst>
            </a:pPr>
            <a:r>
              <a:rPr lang="en-US" altLang="en-US"/>
              <a:t>Can adopt technology developed for larger operating system’ often individuals have sole use of computer and do not need advanced CPU utilization of protection features.</a:t>
            </a:r>
          </a:p>
        </p:txBody>
      </p:sp>
      <p:sp>
        <p:nvSpPr>
          <p:cNvPr id="20484" name="Rectangle 4">
            <a:extLst>
              <a:ext uri="{FF2B5EF4-FFF2-40B4-BE49-F238E27FC236}">
                <a16:creationId xmlns:a16="http://schemas.microsoft.com/office/drawing/2014/main" id="{CF7C0089-7E22-3CF4-7ECE-D8EC49C805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7988" y="6565900"/>
            <a:ext cx="1865312" cy="2921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136F1B40-F2C6-4AED-62AB-DC0DB22E09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1500" y="495300"/>
            <a:ext cx="8229600" cy="457200"/>
          </a:xfrm>
        </p:spPr>
        <p:txBody>
          <a:bodyPr/>
          <a:lstStyle/>
          <a:p>
            <a:r>
              <a:rPr lang="en-US" altLang="en-US" sz="2300"/>
              <a:t>Migration of Operating-System Concepts and Features</a:t>
            </a:r>
          </a:p>
        </p:txBody>
      </p:sp>
      <p:pic>
        <p:nvPicPr>
          <p:cNvPr id="21507" name="Picture 6">
            <a:extLst>
              <a:ext uri="{FF2B5EF4-FFF2-40B4-BE49-F238E27FC236}">
                <a16:creationId xmlns:a16="http://schemas.microsoft.com/office/drawing/2014/main" id="{D36B957E-8017-BEC3-CF9F-6F2643BAC2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" t="3622" r="435" b="3624"/>
          <a:stretch>
            <a:fillRect/>
          </a:stretch>
        </p:blipFill>
        <p:spPr bwMode="auto">
          <a:xfrm>
            <a:off x="1447800" y="1438275"/>
            <a:ext cx="6505575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8" name="Rectangle 4">
            <a:extLst>
              <a:ext uri="{FF2B5EF4-FFF2-40B4-BE49-F238E27FC236}">
                <a16:creationId xmlns:a16="http://schemas.microsoft.com/office/drawing/2014/main" id="{6AC79E92-CEBA-17A5-EDA7-01C88B0DE3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7988" y="6565900"/>
            <a:ext cx="1865312" cy="2921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87DF5A7E-B8FA-2CBD-C03C-5FDA98E1CE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Parallel Systems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8BABB44C-5DD6-1CA2-32EB-8C046F113B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12825" y="1217613"/>
            <a:ext cx="7029450" cy="4114800"/>
          </a:xfrm>
        </p:spPr>
        <p:txBody>
          <a:bodyPr/>
          <a:lstStyle/>
          <a:p>
            <a:pPr algn="just"/>
            <a:r>
              <a:rPr lang="en-US" altLang="en-US"/>
              <a:t>Multiprocessor systems with more than one CPU in close communication.</a:t>
            </a:r>
          </a:p>
          <a:p>
            <a:pPr algn="just"/>
            <a:r>
              <a:rPr lang="en-US" altLang="en-US" i="1"/>
              <a:t>Tightly coupled system</a:t>
            </a:r>
            <a:r>
              <a:rPr lang="en-US" altLang="en-US"/>
              <a:t> – processors share memory, bus, peripheral devices and a clock; communication usually takes place through the shared memory.</a:t>
            </a:r>
          </a:p>
          <a:p>
            <a:pPr algn="just"/>
            <a:r>
              <a:rPr lang="en-US" altLang="en-US"/>
              <a:t>Advantage is increased throughput, reliability and fault tolerance</a:t>
            </a:r>
          </a:p>
          <a:p>
            <a:pPr algn="just"/>
            <a:r>
              <a:rPr lang="en-US" altLang="en-US"/>
              <a:t>Save memory like if several programs operate on same data need not store many times</a:t>
            </a:r>
          </a:p>
          <a:p>
            <a:pPr algn="just"/>
            <a:endParaRPr lang="en-US" altLang="en-US"/>
          </a:p>
        </p:txBody>
      </p:sp>
      <p:sp>
        <p:nvSpPr>
          <p:cNvPr id="22532" name="Rectangle 4">
            <a:extLst>
              <a:ext uri="{FF2B5EF4-FFF2-40B4-BE49-F238E27FC236}">
                <a16:creationId xmlns:a16="http://schemas.microsoft.com/office/drawing/2014/main" id="{540EB119-8D05-F03C-997C-24CCBEB01B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7988" y="6565900"/>
            <a:ext cx="1865312" cy="2921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930B5FE0-9CE8-F9C8-09B7-F1E74C2062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Parallel Systems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8BA24D14-E153-6E00-6D0F-101973DA88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12825" y="1217613"/>
            <a:ext cx="7029450" cy="4114800"/>
          </a:xfrm>
        </p:spPr>
        <p:txBody>
          <a:bodyPr/>
          <a:lstStyle/>
          <a:p>
            <a:pPr algn="just"/>
            <a:r>
              <a:rPr lang="en-US" altLang="en-US"/>
              <a:t>Advantages of parallel system: </a:t>
            </a:r>
          </a:p>
          <a:p>
            <a:pPr lvl="1" algn="just"/>
            <a:r>
              <a:rPr lang="en-US" altLang="en-US"/>
              <a:t>Increased </a:t>
            </a:r>
            <a:r>
              <a:rPr lang="en-US" altLang="en-US" i="1"/>
              <a:t>throughput</a:t>
            </a:r>
          </a:p>
          <a:p>
            <a:pPr lvl="1" algn="just"/>
            <a:r>
              <a:rPr lang="en-US" altLang="en-US"/>
              <a:t>Economical</a:t>
            </a:r>
            <a:r>
              <a:rPr lang="en-US" altLang="en-US" i="1"/>
              <a:t> </a:t>
            </a:r>
          </a:p>
          <a:p>
            <a:pPr lvl="1" algn="just"/>
            <a:r>
              <a:rPr lang="en-US" altLang="en-US"/>
              <a:t>Increased reliability</a:t>
            </a:r>
          </a:p>
          <a:p>
            <a:pPr lvl="2" algn="just"/>
            <a:r>
              <a:rPr lang="en-US" altLang="en-US"/>
              <a:t>graceful degradation</a:t>
            </a:r>
          </a:p>
          <a:p>
            <a:pPr lvl="2" algn="just"/>
            <a:r>
              <a:rPr lang="en-US" altLang="en-US"/>
              <a:t>fail-soft systems</a:t>
            </a:r>
          </a:p>
          <a:p>
            <a:pPr algn="just"/>
            <a:r>
              <a:rPr lang="en-US" altLang="en-US" i="1"/>
              <a:t>Tandon systems</a:t>
            </a:r>
          </a:p>
          <a:p>
            <a:pPr lvl="1" algn="just"/>
            <a:r>
              <a:rPr lang="en-US" altLang="en-US" i="1"/>
              <a:t>Both hardware and software duplication</a:t>
            </a:r>
          </a:p>
          <a:p>
            <a:pPr lvl="1" algn="just"/>
            <a:r>
              <a:rPr lang="en-US" altLang="en-US" i="1"/>
              <a:t>Consists two identical processors with local memory connected by bus. One is primary and another is secondary</a:t>
            </a:r>
          </a:p>
          <a:p>
            <a:pPr lvl="1" algn="just"/>
            <a:r>
              <a:rPr lang="en-US" altLang="en-US" i="1"/>
              <a:t>If failure is detected start from recent checkpoint</a:t>
            </a:r>
          </a:p>
          <a:p>
            <a:pPr lvl="1" algn="just"/>
            <a:r>
              <a:rPr lang="en-US" altLang="en-US" i="1"/>
              <a:t>At fixed check points state information is copied to backup</a:t>
            </a:r>
          </a:p>
          <a:p>
            <a:pPr lvl="1" algn="just"/>
            <a:r>
              <a:rPr lang="en-US" altLang="en-US" i="1"/>
              <a:t>This is expensive</a:t>
            </a:r>
          </a:p>
        </p:txBody>
      </p:sp>
      <p:sp>
        <p:nvSpPr>
          <p:cNvPr id="23556" name="Rectangle 4">
            <a:extLst>
              <a:ext uri="{FF2B5EF4-FFF2-40B4-BE49-F238E27FC236}">
                <a16:creationId xmlns:a16="http://schemas.microsoft.com/office/drawing/2014/main" id="{DF1DCCB7-A12F-A60F-529D-6494DB62E8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7988" y="6565900"/>
            <a:ext cx="1865312" cy="2921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DD27E160-6F0B-52B3-1FF6-245EB21683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Parallel Systems (Cont.)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AD50D275-0A05-E9BD-59AD-3B698B1DD0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i="1"/>
              <a:t>Symmetric multiprocessing (SMP)</a:t>
            </a:r>
            <a:endParaRPr lang="en-US" altLang="en-US"/>
          </a:p>
          <a:p>
            <a:pPr marL="688975" lvl="1" indent="-234950"/>
            <a:r>
              <a:rPr lang="en-US" altLang="en-US"/>
              <a:t>Each processor runs an identical copy of the operating system</a:t>
            </a:r>
          </a:p>
          <a:p>
            <a:pPr marL="688975" lvl="1" indent="-234950"/>
            <a:r>
              <a:rPr lang="en-US" altLang="en-US"/>
              <a:t>Many processes can run at once without performance deterioration.</a:t>
            </a:r>
          </a:p>
          <a:p>
            <a:pPr marL="688975" lvl="1" indent="-234950"/>
            <a:r>
              <a:rPr lang="en-US" altLang="en-US"/>
              <a:t>Most modern operating systems support SMP</a:t>
            </a:r>
          </a:p>
          <a:p>
            <a:pPr marL="688975" lvl="1" indent="-234950"/>
            <a:r>
              <a:rPr lang="en-US" altLang="en-US"/>
              <a:t>Eg: Sun OS ver4</a:t>
            </a:r>
          </a:p>
          <a:p>
            <a:r>
              <a:rPr lang="en-US" altLang="en-US" i="1"/>
              <a:t>Asymmetric multiprocessing</a:t>
            </a:r>
            <a:endParaRPr lang="en-US" altLang="en-US"/>
          </a:p>
          <a:p>
            <a:pPr marL="688975" lvl="1" indent="-234950"/>
            <a:r>
              <a:rPr lang="en-US" altLang="en-US"/>
              <a:t>Each processor is assigned a specific task; master processor schedules and allocates work to slave processors.</a:t>
            </a:r>
          </a:p>
          <a:p>
            <a:pPr marL="688975" lvl="1" indent="-234950"/>
            <a:r>
              <a:rPr lang="en-US" altLang="en-US"/>
              <a:t>More common in extremely large systems</a:t>
            </a:r>
          </a:p>
          <a:p>
            <a:pPr marL="688975" lvl="1" indent="-234950"/>
            <a:r>
              <a:rPr lang="en-US" altLang="en-US"/>
              <a:t>Eg: Solaris 2 ver 5</a:t>
            </a:r>
          </a:p>
        </p:txBody>
      </p:sp>
      <p:sp>
        <p:nvSpPr>
          <p:cNvPr id="24580" name="Rectangle 4">
            <a:extLst>
              <a:ext uri="{FF2B5EF4-FFF2-40B4-BE49-F238E27FC236}">
                <a16:creationId xmlns:a16="http://schemas.microsoft.com/office/drawing/2014/main" id="{EEEF51F3-B8E7-24B9-DA2B-2AA54A1D25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7988" y="6565900"/>
            <a:ext cx="1865312" cy="2921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B73DB53F-6ED6-48B2-FE18-3ED6673E2D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62025" y="495300"/>
            <a:ext cx="7534275" cy="457200"/>
          </a:xfrm>
        </p:spPr>
        <p:txBody>
          <a:bodyPr/>
          <a:lstStyle/>
          <a:p>
            <a:r>
              <a:rPr lang="en-US" altLang="en-US"/>
              <a:t>Symmetric Multiprocessing Architecture</a:t>
            </a:r>
          </a:p>
        </p:txBody>
      </p:sp>
      <p:pic>
        <p:nvPicPr>
          <p:cNvPr id="25603" name="Picture 6">
            <a:extLst>
              <a:ext uri="{FF2B5EF4-FFF2-40B4-BE49-F238E27FC236}">
                <a16:creationId xmlns:a16="http://schemas.microsoft.com/office/drawing/2014/main" id="{7C947C12-25B4-1DE7-9A20-326BC6807C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9" t="34227" r="494" b="34227"/>
          <a:stretch>
            <a:fillRect/>
          </a:stretch>
        </p:blipFill>
        <p:spPr bwMode="auto">
          <a:xfrm>
            <a:off x="781050" y="2200275"/>
            <a:ext cx="7462838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4" name="Rectangle 4">
            <a:extLst>
              <a:ext uri="{FF2B5EF4-FFF2-40B4-BE49-F238E27FC236}">
                <a16:creationId xmlns:a16="http://schemas.microsoft.com/office/drawing/2014/main" id="{1CFC6A93-1B6C-7C66-2602-82D99ED454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7988" y="6565900"/>
            <a:ext cx="1865312" cy="2921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5AE0CD8F-4FA0-7534-A56C-6A9EB80805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Distributed Systems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A9E69418-2318-C90B-B82B-197AAE23F5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Distribute the computation among several physical processors.</a:t>
            </a:r>
          </a:p>
          <a:p>
            <a:r>
              <a:rPr lang="en-US" altLang="en-US" i="1"/>
              <a:t>Loosely coupled system</a:t>
            </a:r>
            <a:r>
              <a:rPr lang="en-US" altLang="en-US"/>
              <a:t> – each processor has its own local memory; processors communicate with one another through various communications lines, such as high-speed buses or telephone lines.</a:t>
            </a:r>
          </a:p>
          <a:p>
            <a:r>
              <a:rPr lang="en-US" altLang="en-US"/>
              <a:t>Does not share memory or clock</a:t>
            </a:r>
          </a:p>
          <a:p>
            <a:r>
              <a:rPr lang="en-US" altLang="en-US"/>
              <a:t>Processors may vary in size and function</a:t>
            </a:r>
          </a:p>
          <a:p>
            <a:r>
              <a:rPr lang="en-US" altLang="en-US"/>
              <a:t>May include small microprocessors, work stations, large general purpose systems etc</a:t>
            </a:r>
          </a:p>
          <a:p>
            <a:r>
              <a:rPr lang="en-US" altLang="en-US"/>
              <a:t>Processors referred by a different names like sites, nodes computers etc depends on context</a:t>
            </a:r>
          </a:p>
          <a:p>
            <a:endParaRPr lang="en-US" altLang="en-US"/>
          </a:p>
        </p:txBody>
      </p:sp>
      <p:sp>
        <p:nvSpPr>
          <p:cNvPr id="26628" name="Rectangle 4">
            <a:extLst>
              <a:ext uri="{FF2B5EF4-FFF2-40B4-BE49-F238E27FC236}">
                <a16:creationId xmlns:a16="http://schemas.microsoft.com/office/drawing/2014/main" id="{A12D96A4-3071-CD88-3FBD-78189D4EFC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7988" y="6565900"/>
            <a:ext cx="1865312" cy="2921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66085613-CEAA-BDEF-2E01-484732B167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Distributed Systems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8501BCB4-1586-0567-EF11-796C65808A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98538" y="1262063"/>
            <a:ext cx="7029450" cy="4114800"/>
          </a:xfrm>
        </p:spPr>
        <p:txBody>
          <a:bodyPr/>
          <a:lstStyle/>
          <a:p>
            <a:r>
              <a:rPr lang="en-US" altLang="en-US"/>
              <a:t>Advantages of distributed systems.</a:t>
            </a:r>
          </a:p>
          <a:p>
            <a:pPr lvl="1"/>
            <a:r>
              <a:rPr lang="en-US" altLang="en-US"/>
              <a:t>Resources Sharing </a:t>
            </a:r>
          </a:p>
          <a:p>
            <a:pPr lvl="2"/>
            <a:r>
              <a:rPr lang="en-US" altLang="en-US"/>
              <a:t>Sharing files, printers and costly resources like array processors etc</a:t>
            </a:r>
          </a:p>
          <a:p>
            <a:pPr lvl="2"/>
            <a:r>
              <a:rPr lang="en-US" altLang="en-US"/>
              <a:t>Process info at distributed database and print at remote site</a:t>
            </a:r>
          </a:p>
          <a:p>
            <a:pPr lvl="1"/>
            <a:r>
              <a:rPr lang="en-US" altLang="en-US"/>
              <a:t>Computation speed up – load sharing </a:t>
            </a:r>
          </a:p>
          <a:p>
            <a:pPr lvl="2"/>
            <a:r>
              <a:rPr lang="en-US" altLang="en-US"/>
              <a:t>Distributing sub computations</a:t>
            </a:r>
          </a:p>
          <a:p>
            <a:pPr lvl="2"/>
            <a:r>
              <a:rPr lang="en-US" altLang="en-US"/>
              <a:t>If one site is overloaded may be moved to lightly loaded sites called load sharing</a:t>
            </a:r>
          </a:p>
          <a:p>
            <a:pPr lvl="1"/>
            <a:r>
              <a:rPr lang="en-US" altLang="en-US"/>
              <a:t>Reliability</a:t>
            </a:r>
          </a:p>
          <a:p>
            <a:pPr lvl="2"/>
            <a:r>
              <a:rPr lang="en-US" altLang="en-US"/>
              <a:t>if one site fails other can continue operations</a:t>
            </a:r>
          </a:p>
          <a:p>
            <a:pPr lvl="2" algn="just"/>
            <a:r>
              <a:rPr lang="en-US" altLang="en-US"/>
              <a:t>More general purpose computers fail does not affect other but if any system is crucial and responsible for I/O etc if it fails, entire system may halt. Sufficient redundancy exists the system can continue even if some fails</a:t>
            </a:r>
          </a:p>
        </p:txBody>
      </p:sp>
      <p:sp>
        <p:nvSpPr>
          <p:cNvPr id="27652" name="Rectangle 4">
            <a:extLst>
              <a:ext uri="{FF2B5EF4-FFF2-40B4-BE49-F238E27FC236}">
                <a16:creationId xmlns:a16="http://schemas.microsoft.com/office/drawing/2014/main" id="{0E9FAE9F-23AF-63BE-2DC3-5AED1450DE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7988" y="6565900"/>
            <a:ext cx="1865312" cy="2921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2832002E-BE96-D36C-D031-05F3CEDD84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Distributed Systems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AF9455ED-57FC-94C2-FED7-231C6862E7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98538" y="1262063"/>
            <a:ext cx="7029450" cy="4114800"/>
          </a:xfrm>
        </p:spPr>
        <p:txBody>
          <a:bodyPr/>
          <a:lstStyle/>
          <a:p>
            <a:pPr lvl="1"/>
            <a:r>
              <a:rPr lang="en-US" altLang="en-US"/>
              <a:t>Communications</a:t>
            </a:r>
          </a:p>
          <a:p>
            <a:pPr lvl="2"/>
            <a:r>
              <a:rPr lang="en-US" altLang="en-US"/>
              <a:t>Exchange data</a:t>
            </a:r>
          </a:p>
          <a:p>
            <a:pPr lvl="2"/>
            <a:r>
              <a:rPr lang="en-US" altLang="en-US"/>
              <a:t>Processes can exchange data</a:t>
            </a:r>
          </a:p>
          <a:p>
            <a:pPr lvl="2"/>
            <a:r>
              <a:rPr lang="en-US" altLang="en-US"/>
              <a:t>Users can do file transfer</a:t>
            </a:r>
          </a:p>
          <a:p>
            <a:pPr lvl="2"/>
            <a:r>
              <a:rPr lang="en-US" altLang="en-US"/>
              <a:t>Communication with other using mail etc</a:t>
            </a:r>
          </a:p>
        </p:txBody>
      </p:sp>
      <p:sp>
        <p:nvSpPr>
          <p:cNvPr id="28676" name="Rectangle 4">
            <a:extLst>
              <a:ext uri="{FF2B5EF4-FFF2-40B4-BE49-F238E27FC236}">
                <a16:creationId xmlns:a16="http://schemas.microsoft.com/office/drawing/2014/main" id="{4FD474DB-6A3C-5D55-1CEC-09CD045E3E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7988" y="6565900"/>
            <a:ext cx="1865312" cy="2921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1026">
            <a:extLst>
              <a:ext uri="{FF2B5EF4-FFF2-40B4-BE49-F238E27FC236}">
                <a16:creationId xmlns:a16="http://schemas.microsoft.com/office/drawing/2014/main" id="{BB0BA5F0-A536-9730-8284-27689632F2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Real-Time Systems</a:t>
            </a:r>
          </a:p>
        </p:txBody>
      </p:sp>
      <p:sp>
        <p:nvSpPr>
          <p:cNvPr id="29699" name="Rectangle 1027">
            <a:extLst>
              <a:ext uri="{FF2B5EF4-FFF2-40B4-BE49-F238E27FC236}">
                <a16:creationId xmlns:a16="http://schemas.microsoft.com/office/drawing/2014/main" id="{707893A1-4EEE-EDAF-12FA-F1EC4F3E1C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39813" y="1392238"/>
            <a:ext cx="7029450" cy="4114800"/>
          </a:xfrm>
        </p:spPr>
        <p:txBody>
          <a:bodyPr/>
          <a:lstStyle/>
          <a:p>
            <a:r>
              <a:rPr lang="en-US" altLang="en-US"/>
              <a:t>Another form of special purpose OS is RTS</a:t>
            </a:r>
          </a:p>
          <a:p>
            <a:r>
              <a:rPr lang="en-US" altLang="en-US"/>
              <a:t>Often used as a control device in a dedicated application such as controlling scientific experiments, medical imaging systems, industrial control systems, and some display systems.</a:t>
            </a:r>
          </a:p>
          <a:p>
            <a:r>
              <a:rPr lang="en-US" altLang="en-US"/>
              <a:t>Well-defined fixed-time constraints.</a:t>
            </a:r>
          </a:p>
          <a:p>
            <a:r>
              <a:rPr lang="en-US" altLang="en-US" i="1"/>
              <a:t>Hard real-time system</a:t>
            </a:r>
            <a:r>
              <a:rPr lang="en-US" altLang="en-US"/>
              <a:t>.</a:t>
            </a:r>
          </a:p>
          <a:p>
            <a:pPr lvl="1"/>
            <a:r>
              <a:rPr lang="en-US" altLang="en-US"/>
              <a:t>Secondary storage limited or absent, data stored in short-term memory, or read-only memory (ROM)</a:t>
            </a:r>
          </a:p>
          <a:p>
            <a:pPr lvl="1"/>
            <a:r>
              <a:rPr lang="en-US" altLang="en-US"/>
              <a:t>Conflicts with time-sharing systems, not supported by general-purpose operating systems.</a:t>
            </a:r>
          </a:p>
          <a:p>
            <a:r>
              <a:rPr lang="en-US" altLang="en-US" i="1"/>
              <a:t>Soft real-time system</a:t>
            </a:r>
          </a:p>
          <a:p>
            <a:pPr lvl="1"/>
            <a:r>
              <a:rPr lang="en-US" altLang="en-US"/>
              <a:t>Limited utility in industrial control or robotics</a:t>
            </a:r>
          </a:p>
          <a:p>
            <a:pPr lvl="1"/>
            <a:r>
              <a:rPr lang="en-US" altLang="en-US"/>
              <a:t>Useful in applications (multimedia, virtual reality) requiring advanced operating-system features.</a:t>
            </a:r>
          </a:p>
        </p:txBody>
      </p:sp>
      <p:sp>
        <p:nvSpPr>
          <p:cNvPr id="29700" name="Rectangle 4">
            <a:extLst>
              <a:ext uri="{FF2B5EF4-FFF2-40B4-BE49-F238E27FC236}">
                <a16:creationId xmlns:a16="http://schemas.microsoft.com/office/drawing/2014/main" id="{FC4679D9-AFD7-FA82-2BF4-5CFD9C342C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7988" y="6565900"/>
            <a:ext cx="1865312" cy="2921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Blank Presentation.po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lank Presentation.pot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pitchFamily="34" charset="0"/>
          </a:defRPr>
        </a:defPPr>
      </a:lstStyle>
    </a:lnDef>
  </a:objectDefaults>
  <a:extraClrSchemeLst>
    <a:extraClrScheme>
      <a:clrScheme name="Blank Presentation.po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.po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.pot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.pot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.po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.po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.po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C:\Apps\Microsoft Office\Templates\Blank Presentation.pot</Template>
  <TotalTime>2057</TotalTime>
  <Words>1504</Words>
  <Application>Microsoft Office PowerPoint</Application>
  <PresentationFormat>On-screen Show (4:3)</PresentationFormat>
  <Paragraphs>164</Paragraphs>
  <Slides>28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Helvetica</vt:lpstr>
      <vt:lpstr>Monotype Sorts</vt:lpstr>
      <vt:lpstr>Symbol</vt:lpstr>
      <vt:lpstr>Times New Roman</vt:lpstr>
      <vt:lpstr>Blank Presentation</vt:lpstr>
      <vt:lpstr>PowerPoint Presentation</vt:lpstr>
      <vt:lpstr> Introduction</vt:lpstr>
      <vt:lpstr>What is an Operating System?</vt:lpstr>
      <vt:lpstr>Computer System Components</vt:lpstr>
      <vt:lpstr>Abstract View of System Components</vt:lpstr>
      <vt:lpstr>Operating System Definitions</vt:lpstr>
      <vt:lpstr>Operating System Definitions</vt:lpstr>
      <vt:lpstr>Simple Batch Systems</vt:lpstr>
      <vt:lpstr>Memory Layout for a Simple Batch System</vt:lpstr>
      <vt:lpstr>Control Cards</vt:lpstr>
      <vt:lpstr>Control Cards (Cont.)</vt:lpstr>
      <vt:lpstr>Control Cards (Cont.)</vt:lpstr>
      <vt:lpstr>Spooling</vt:lpstr>
      <vt:lpstr>spooling</vt:lpstr>
      <vt:lpstr>Multiprogrammed Batch Systems</vt:lpstr>
      <vt:lpstr>OS Features Needed for Multiprogramming</vt:lpstr>
      <vt:lpstr>Time-Sharing Systems–Interactive Computing </vt:lpstr>
      <vt:lpstr>Time-Sharing Systems–Interactive Computing </vt:lpstr>
      <vt:lpstr>Personal-Computer Systems</vt:lpstr>
      <vt:lpstr>Migration of Operating-System Concepts and Features</vt:lpstr>
      <vt:lpstr>Parallel Systems</vt:lpstr>
      <vt:lpstr>Parallel Systems</vt:lpstr>
      <vt:lpstr>Parallel Systems (Cont.)</vt:lpstr>
      <vt:lpstr>Symmetric Multiprocessing Architecture</vt:lpstr>
      <vt:lpstr>Distributed Systems</vt:lpstr>
      <vt:lpstr>Distributed Systems</vt:lpstr>
      <vt:lpstr>Distributed Systems</vt:lpstr>
      <vt:lpstr>Real-Time Systems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Abstract View of System Components</dc:title>
  <dc:creator>Marilyn Turnamian</dc:creator>
  <cp:lastModifiedBy>S Bhavani</cp:lastModifiedBy>
  <cp:revision>50</cp:revision>
  <cp:lastPrinted>1999-08-26T15:07:06Z</cp:lastPrinted>
  <dcterms:created xsi:type="dcterms:W3CDTF">1999-06-25T18:38:26Z</dcterms:created>
  <dcterms:modified xsi:type="dcterms:W3CDTF">2026-04-07T06:32:47Z</dcterms:modified>
</cp:coreProperties>
</file>