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84" r:id="rId2"/>
    <p:sldId id="697" r:id="rId3"/>
    <p:sldId id="699" r:id="rId4"/>
    <p:sldId id="707" r:id="rId5"/>
    <p:sldId id="706" r:id="rId6"/>
    <p:sldId id="709" r:id="rId7"/>
    <p:sldId id="717" r:id="rId8"/>
    <p:sldId id="710" r:id="rId9"/>
    <p:sldId id="718" r:id="rId10"/>
    <p:sldId id="711" r:id="rId11"/>
    <p:sldId id="715" r:id="rId12"/>
    <p:sldId id="712" r:id="rId13"/>
    <p:sldId id="714" r:id="rId14"/>
    <p:sldId id="713" r:id="rId15"/>
    <p:sldId id="719" r:id="rId16"/>
    <p:sldId id="754" r:id="rId17"/>
    <p:sldId id="752" r:id="rId18"/>
    <p:sldId id="753" r:id="rId19"/>
    <p:sldId id="720" r:id="rId20"/>
    <p:sldId id="721" r:id="rId21"/>
    <p:sldId id="722" r:id="rId22"/>
    <p:sldId id="723" r:id="rId23"/>
    <p:sldId id="724" r:id="rId24"/>
    <p:sldId id="725" r:id="rId25"/>
    <p:sldId id="726" r:id="rId26"/>
    <p:sldId id="727" r:id="rId27"/>
    <p:sldId id="728" r:id="rId28"/>
    <p:sldId id="729" r:id="rId29"/>
  </p:sldIdLst>
  <p:sldSz cx="9144000" cy="6858000" type="screen4x3"/>
  <p:notesSz cx="6985000" cy="92821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3">
          <p15:clr>
            <a:srgbClr val="A4A3A4"/>
          </p15:clr>
        </p15:guide>
        <p15:guide id="2" pos="292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FCC00"/>
    <a:srgbClr val="3366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512" autoAdjust="0"/>
    <p:restoredTop sz="29263" autoAdjust="0"/>
  </p:normalViewPr>
  <p:slideViewPr>
    <p:cSldViewPr>
      <p:cViewPr varScale="1">
        <p:scale>
          <a:sx n="17" d="100"/>
          <a:sy n="17" d="100"/>
        </p:scale>
        <p:origin x="2466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9" d="100"/>
          <a:sy n="39" d="100"/>
        </p:scale>
        <p:origin x="-1222" y="-95"/>
      </p:cViewPr>
      <p:guideLst>
        <p:guide orient="horz" pos="2203"/>
        <p:guide pos="292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presProps" Target="pres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handoutMaster" Target="handoutMasters/handout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notesMaster" Target="notesMasters/notesMaster1.xml" /><Relationship Id="rId35" Type="http://schemas.openxmlformats.org/officeDocument/2006/relationships/tableStyles" Target="tableStyle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93997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7363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364" tIns="0" rIns="19364" bIns="0" numCol="1" anchor="t" anchorCtr="0" compatLnSpc="1">
            <a:prstTxWarp prst="textNoShape">
              <a:avLst/>
            </a:prstTxWarp>
          </a:bodyPr>
          <a:lstStyle>
            <a:lvl1pPr defTabSz="930275">
              <a:defRPr sz="100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57638" y="0"/>
            <a:ext cx="3027362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364" tIns="0" rIns="19364" bIns="0" numCol="1" anchor="t" anchorCtr="0" compatLnSpc="1">
            <a:prstTxWarp prst="textNoShape">
              <a:avLst/>
            </a:prstTxWarp>
          </a:bodyPr>
          <a:lstStyle>
            <a:lvl1pPr algn="r" defTabSz="930275">
              <a:defRPr sz="100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703263"/>
            <a:ext cx="4622800" cy="3467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08488"/>
            <a:ext cx="5121275" cy="417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94" tIns="46798" rIns="93594" bIns="4679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27363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364" tIns="0" rIns="19364" bIns="0" numCol="1" anchor="b" anchorCtr="0" compatLnSpc="1">
            <a:prstTxWarp prst="textNoShape">
              <a:avLst/>
            </a:prstTxWarp>
          </a:bodyPr>
          <a:lstStyle>
            <a:lvl1pPr defTabSz="930275">
              <a:defRPr sz="100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57638" y="8818563"/>
            <a:ext cx="3027362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364" tIns="0" rIns="19364" bIns="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00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3658F5B-3343-4117-8290-03B49CFAAF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8049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DCD14E6-B974-462D-BC3C-056A02F207F0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5530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4757B9-5E17-4DF7-9737-9C9E1F43AFA0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781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658F5B-3343-4117-8290-03B49CFAAF3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4209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9pPr>
          </a:lstStyle>
          <a:p>
            <a:fld id="{BDDC536F-D5D3-4EF3-AF52-B528B33D3AE9}" type="slidenum">
              <a:rPr lang="en-US" altLang="en-US" sz="1000" smtClean="0">
                <a:solidFill>
                  <a:schemeClr val="tx1"/>
                </a:solidFill>
              </a:rPr>
              <a:pPr/>
              <a:t>13</a:t>
            </a:fld>
            <a:endParaRPr lang="en-US" altLang="en-US" sz="1000">
              <a:solidFill>
                <a:schemeClr val="tx1"/>
              </a:solidFill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1213" cy="3465512"/>
          </a:xfrm>
          <a:solidFill>
            <a:srgbClr val="FFFFFF"/>
          </a:solidFill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Circled values are number of suffixes in the subtree.</a:t>
            </a:r>
          </a:p>
        </p:txBody>
      </p:sp>
    </p:spTree>
    <p:extLst>
      <p:ext uri="{BB962C8B-B14F-4D97-AF65-F5344CB8AC3E}">
        <p14:creationId xmlns:p14="http://schemas.microsoft.com/office/powerpoint/2010/main" val="33496780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9pPr>
          </a:lstStyle>
          <a:p>
            <a:fld id="{BDDC536F-D5D3-4EF3-AF52-B528B33D3AE9}" type="slidenum">
              <a:rPr lang="en-US" altLang="en-US" sz="1000" smtClean="0">
                <a:solidFill>
                  <a:schemeClr val="tx1"/>
                </a:solidFill>
              </a:rPr>
              <a:pPr/>
              <a:t>15</a:t>
            </a:fld>
            <a:endParaRPr lang="en-US" altLang="en-US" sz="1000">
              <a:solidFill>
                <a:schemeClr val="tx1"/>
              </a:solidFill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1213" cy="3465512"/>
          </a:xfrm>
          <a:solidFill>
            <a:srgbClr val="FFFFFF"/>
          </a:solidFill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Circled values are number of suffixes in the subtree.</a:t>
            </a:r>
          </a:p>
        </p:txBody>
      </p:sp>
    </p:spTree>
    <p:extLst>
      <p:ext uri="{BB962C8B-B14F-4D97-AF65-F5344CB8AC3E}">
        <p14:creationId xmlns:p14="http://schemas.microsoft.com/office/powerpoint/2010/main" val="1114728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658F5B-3343-4117-8290-03B49CFAAF3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46113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CF8A536A-BC35-4320-A089-4BE3D4FEAB5B}" type="slidenum">
              <a:rPr lang="en-US" altLang="en-US" sz="1000">
                <a:solidFill>
                  <a:schemeClr val="tx1"/>
                </a:solidFill>
              </a:rPr>
              <a:pPr/>
              <a:t>25</a:t>
            </a:fld>
            <a:endParaRPr lang="en-US" altLang="en-US" sz="1000">
              <a:solidFill>
                <a:schemeClr val="tx1"/>
              </a:solidFill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701675"/>
            <a:ext cx="4622800" cy="346710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/>
              <a:t>Array length n simply means we need an array with n spots. A direct implementation using a Java array would need n+1 spots, because spot 0 would not be utilized. However, by using spot 0 for vertex 1, spot 1 for vertex 2, and so on, we could get by with a Java array whose length is actually n.</a:t>
            </a:r>
          </a:p>
        </p:txBody>
      </p:sp>
    </p:spTree>
    <p:extLst>
      <p:ext uri="{BB962C8B-B14F-4D97-AF65-F5344CB8AC3E}">
        <p14:creationId xmlns:p14="http://schemas.microsoft.com/office/powerpoint/2010/main" val="2232816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CHAPTER 6</a:t>
            </a: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5F72C7-026F-4187-BB5E-46ACCB8054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1698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CHAPTER 6</a:t>
            </a: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B7097-287C-4E35-8783-0A22626769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2543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CHAPTER 6</a:t>
            </a: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398357-23B2-4924-9495-25F02B6530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0791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CHAPTER 6</a:t>
            </a: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F18595-8D3A-4C25-B4E4-3A1ED7AD16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5338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CHAPTER 6</a:t>
            </a: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611148-2841-44F1-857A-7F5A683BBD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388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CHAPTER 6</a:t>
            </a: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D36D6E-8561-4717-A1FB-9BEB70BA8AD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7770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CHAPTER 6</a:t>
            </a: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124D79-F077-4A94-925F-20EDB7B2D6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2370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CHAPTER 6</a:t>
            </a: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4A13F4-BC24-4BB7-A59F-AEE8452F60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7939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CHAPTER 6</a:t>
            </a: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5AC686-78E9-40E9-B105-070B224827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38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CHAPTER 6</a:t>
            </a: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E1FF9A-6160-4653-A4A2-602122FDD6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1806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CHAPTER 6</a:t>
            </a: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277C67-808F-4056-A0DF-22D7ABBB6F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9658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IN" altLang="en-US"/>
              <a:t>CHAPTER 6</a:t>
            </a: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2C95A3D-699E-409D-B20D-1468DFF0EB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6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836613"/>
            <a:ext cx="8640959" cy="5334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/>
              <a:t>Suffix Trees-Applications &amp; GRAPHS</a:t>
            </a:r>
            <a:r>
              <a:rPr lang="en-US" altLang="en-US" sz="3600" dirty="0">
                <a:solidFill>
                  <a:srgbClr val="C00000"/>
                </a:solidFill>
                <a:cs typeface="Times New Roman" panose="02020603050405020304" pitchFamily="18" charset="0"/>
              </a:rPr>
              <a:t> </a:t>
            </a:r>
            <a:endParaRPr lang="en-IN" sz="360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altLang="en-US"/>
              <a:t>Suffix Trees</a:t>
            </a:r>
          </a:p>
        </p:txBody>
      </p:sp>
      <p:sp>
        <p:nvSpPr>
          <p:cNvPr id="36867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  <a:defRPr/>
            </a:pPr>
            <a:r>
              <a:rPr lang="it-IT" altLang="en-US" b="1"/>
              <a:t>Definition: </a:t>
            </a:r>
            <a:r>
              <a:rPr lang="it-IT" altLang="en-US" sz="2400" i="1"/>
              <a:t>A suffix tree for a string T of length m is a rooted tree such that: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  <a:defRPr/>
            </a:pPr>
            <a:r>
              <a:rPr lang="it-IT" altLang="en-US" sz="2000" i="1">
                <a:effectLst/>
              </a:rPr>
              <a:t>It has exactly m leafs, numbered from 1 to m;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  <a:defRPr/>
            </a:pPr>
            <a:r>
              <a:rPr lang="it-IT" altLang="en-US" sz="2000" i="1">
                <a:effectLst/>
              </a:rPr>
              <a:t>Every edge has a label, which is a substring of T;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  <a:defRPr/>
            </a:pPr>
            <a:r>
              <a:rPr lang="en-US" altLang="en-US" sz="2000" i="1">
                <a:effectLst/>
              </a:rPr>
              <a:t>Every internal node has at least two children;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  <a:defRPr/>
            </a:pPr>
            <a:r>
              <a:rPr lang="en-US" altLang="en-US" sz="2000" i="1">
                <a:effectLst/>
              </a:rPr>
              <a:t>Labels of two edges starting at an internal node do not start with the same character;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  <a:defRPr/>
            </a:pPr>
            <a:r>
              <a:rPr lang="en-US" altLang="en-US" sz="2000" i="1">
                <a:effectLst/>
              </a:rPr>
              <a:t>The label of the path from the root to a leaf numbered I is the suffix of T starting at position i, i.e. T[i..m]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  <a:defRPr/>
            </a:pPr>
            <a:endParaRPr lang="it-IT" altLang="en-US" i="1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88343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altLang="en-US" dirty="0"/>
              <a:t>Suffix Trees  </a:t>
            </a:r>
          </a:p>
        </p:txBody>
      </p:sp>
      <p:sp>
        <p:nvSpPr>
          <p:cNvPr id="18435" name="Text Box 4"/>
          <p:cNvSpPr txBox="1">
            <a:spLocks noChangeArrowheads="1"/>
          </p:cNvSpPr>
          <p:nvPr/>
        </p:nvSpPr>
        <p:spPr bwMode="auto">
          <a:xfrm>
            <a:off x="611188" y="1412875"/>
            <a:ext cx="23764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en-US" b="1"/>
              <a:t>abbcbab#</a:t>
            </a:r>
          </a:p>
        </p:txBody>
      </p:sp>
      <p:grpSp>
        <p:nvGrpSpPr>
          <p:cNvPr id="49182" name="Group 30"/>
          <p:cNvGrpSpPr>
            <a:grpSpLocks/>
          </p:cNvGrpSpPr>
          <p:nvPr/>
        </p:nvGrpSpPr>
        <p:grpSpPr bwMode="auto">
          <a:xfrm>
            <a:off x="1619250" y="2205038"/>
            <a:ext cx="5761038" cy="3967162"/>
            <a:chOff x="657" y="1344"/>
            <a:chExt cx="3629" cy="2499"/>
          </a:xfrm>
        </p:grpSpPr>
        <p:sp>
          <p:nvSpPr>
            <p:cNvPr id="18437" name="Line 5"/>
            <p:cNvSpPr>
              <a:spLocks noChangeShapeType="1"/>
            </p:cNvSpPr>
            <p:nvPr/>
          </p:nvSpPr>
          <p:spPr bwMode="auto">
            <a:xfrm flipH="1">
              <a:off x="1746" y="1389"/>
              <a:ext cx="816" cy="3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438" name="Line 6"/>
            <p:cNvSpPr>
              <a:spLocks noChangeShapeType="1"/>
            </p:cNvSpPr>
            <p:nvPr/>
          </p:nvSpPr>
          <p:spPr bwMode="auto">
            <a:xfrm flipH="1">
              <a:off x="930" y="1752"/>
              <a:ext cx="816" cy="6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439" name="Line 7"/>
            <p:cNvSpPr>
              <a:spLocks noChangeShapeType="1"/>
            </p:cNvSpPr>
            <p:nvPr/>
          </p:nvSpPr>
          <p:spPr bwMode="auto">
            <a:xfrm flipH="1">
              <a:off x="1066" y="1752"/>
              <a:ext cx="680" cy="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440" name="Line 8"/>
            <p:cNvSpPr>
              <a:spLocks noChangeShapeType="1"/>
            </p:cNvSpPr>
            <p:nvPr/>
          </p:nvSpPr>
          <p:spPr bwMode="auto">
            <a:xfrm>
              <a:off x="2562" y="1389"/>
              <a:ext cx="0" cy="90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441" name="Line 9"/>
            <p:cNvSpPr>
              <a:spLocks noChangeShapeType="1"/>
            </p:cNvSpPr>
            <p:nvPr/>
          </p:nvSpPr>
          <p:spPr bwMode="auto">
            <a:xfrm flipH="1">
              <a:off x="2063" y="2296"/>
              <a:ext cx="499" cy="1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442" name="Line 10"/>
            <p:cNvSpPr>
              <a:spLocks noChangeShapeType="1"/>
            </p:cNvSpPr>
            <p:nvPr/>
          </p:nvSpPr>
          <p:spPr bwMode="auto">
            <a:xfrm flipH="1">
              <a:off x="2109" y="2296"/>
              <a:ext cx="453" cy="8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443" name="Line 11"/>
            <p:cNvSpPr>
              <a:spLocks noChangeShapeType="1"/>
            </p:cNvSpPr>
            <p:nvPr/>
          </p:nvSpPr>
          <p:spPr bwMode="auto">
            <a:xfrm>
              <a:off x="2562" y="2296"/>
              <a:ext cx="499" cy="127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444" name="Line 12"/>
            <p:cNvSpPr>
              <a:spLocks noChangeShapeType="1"/>
            </p:cNvSpPr>
            <p:nvPr/>
          </p:nvSpPr>
          <p:spPr bwMode="auto">
            <a:xfrm>
              <a:off x="2562" y="2296"/>
              <a:ext cx="862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445" name="Line 13"/>
            <p:cNvSpPr>
              <a:spLocks noChangeShapeType="1"/>
            </p:cNvSpPr>
            <p:nvPr/>
          </p:nvSpPr>
          <p:spPr bwMode="auto">
            <a:xfrm>
              <a:off x="2562" y="1389"/>
              <a:ext cx="1452" cy="4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446" name="Text Box 14"/>
            <p:cNvSpPr txBox="1">
              <a:spLocks noChangeArrowheads="1"/>
            </p:cNvSpPr>
            <p:nvPr/>
          </p:nvSpPr>
          <p:spPr bwMode="auto">
            <a:xfrm>
              <a:off x="1973" y="1344"/>
              <a:ext cx="45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600" b="1"/>
                <a:t>ab</a:t>
              </a:r>
            </a:p>
          </p:txBody>
        </p:sp>
        <p:sp>
          <p:nvSpPr>
            <p:cNvPr id="18447" name="Text Box 15"/>
            <p:cNvSpPr txBox="1">
              <a:spLocks noChangeArrowheads="1"/>
            </p:cNvSpPr>
            <p:nvPr/>
          </p:nvSpPr>
          <p:spPr bwMode="auto">
            <a:xfrm>
              <a:off x="1292" y="1616"/>
              <a:ext cx="45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600" b="1"/>
                <a:t>#</a:t>
              </a:r>
            </a:p>
          </p:txBody>
        </p:sp>
        <p:sp>
          <p:nvSpPr>
            <p:cNvPr id="18448" name="Text Box 16"/>
            <p:cNvSpPr txBox="1">
              <a:spLocks noChangeArrowheads="1"/>
            </p:cNvSpPr>
            <p:nvPr/>
          </p:nvSpPr>
          <p:spPr bwMode="auto">
            <a:xfrm>
              <a:off x="657" y="2024"/>
              <a:ext cx="63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600" b="1"/>
                <a:t>bcbab#</a:t>
              </a:r>
            </a:p>
          </p:txBody>
        </p:sp>
        <p:sp>
          <p:nvSpPr>
            <p:cNvPr id="18449" name="Text Box 17"/>
            <p:cNvSpPr txBox="1">
              <a:spLocks noChangeArrowheads="1"/>
            </p:cNvSpPr>
            <p:nvPr/>
          </p:nvSpPr>
          <p:spPr bwMode="auto">
            <a:xfrm>
              <a:off x="2381" y="1797"/>
              <a:ext cx="45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600" b="1"/>
                <a:t>b</a:t>
              </a:r>
            </a:p>
          </p:txBody>
        </p:sp>
        <p:sp>
          <p:nvSpPr>
            <p:cNvPr id="18450" name="Text Box 18"/>
            <p:cNvSpPr txBox="1">
              <a:spLocks noChangeArrowheads="1"/>
            </p:cNvSpPr>
            <p:nvPr/>
          </p:nvSpPr>
          <p:spPr bwMode="auto">
            <a:xfrm>
              <a:off x="2064" y="2205"/>
              <a:ext cx="45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600" b="1"/>
                <a:t>#</a:t>
              </a:r>
            </a:p>
          </p:txBody>
        </p:sp>
        <p:sp>
          <p:nvSpPr>
            <p:cNvPr id="18451" name="Text Box 19"/>
            <p:cNvSpPr txBox="1">
              <a:spLocks noChangeArrowheads="1"/>
            </p:cNvSpPr>
            <p:nvPr/>
          </p:nvSpPr>
          <p:spPr bwMode="auto">
            <a:xfrm>
              <a:off x="1837" y="2659"/>
              <a:ext cx="72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600" b="1"/>
                <a:t>cbab#</a:t>
              </a:r>
            </a:p>
          </p:txBody>
        </p:sp>
        <p:sp>
          <p:nvSpPr>
            <p:cNvPr id="18452" name="Text Box 20"/>
            <p:cNvSpPr txBox="1">
              <a:spLocks noChangeArrowheads="1"/>
            </p:cNvSpPr>
            <p:nvPr/>
          </p:nvSpPr>
          <p:spPr bwMode="auto">
            <a:xfrm>
              <a:off x="2835" y="2931"/>
              <a:ext cx="63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600" b="1"/>
                <a:t>bcbab#</a:t>
              </a:r>
            </a:p>
          </p:txBody>
        </p:sp>
        <p:sp>
          <p:nvSpPr>
            <p:cNvPr id="18453" name="Text Box 21"/>
            <p:cNvSpPr txBox="1">
              <a:spLocks noChangeArrowheads="1"/>
            </p:cNvSpPr>
            <p:nvPr/>
          </p:nvSpPr>
          <p:spPr bwMode="auto">
            <a:xfrm>
              <a:off x="2971" y="2205"/>
              <a:ext cx="45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600" b="1"/>
                <a:t>ab#</a:t>
              </a:r>
            </a:p>
          </p:txBody>
        </p:sp>
        <p:sp>
          <p:nvSpPr>
            <p:cNvPr id="18454" name="Text Box 22"/>
            <p:cNvSpPr txBox="1">
              <a:spLocks noChangeArrowheads="1"/>
            </p:cNvSpPr>
            <p:nvPr/>
          </p:nvSpPr>
          <p:spPr bwMode="auto">
            <a:xfrm>
              <a:off x="3334" y="1434"/>
              <a:ext cx="72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600" b="1"/>
                <a:t>cbab#</a:t>
              </a:r>
            </a:p>
          </p:txBody>
        </p:sp>
        <p:sp>
          <p:nvSpPr>
            <p:cNvPr id="18455" name="Text Box 23"/>
            <p:cNvSpPr txBox="1">
              <a:spLocks noChangeArrowheads="1"/>
            </p:cNvSpPr>
            <p:nvPr/>
          </p:nvSpPr>
          <p:spPr bwMode="auto">
            <a:xfrm>
              <a:off x="839" y="1752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800"/>
                <a:t>6</a:t>
              </a:r>
            </a:p>
          </p:txBody>
        </p:sp>
        <p:sp>
          <p:nvSpPr>
            <p:cNvPr id="18456" name="Text Box 24"/>
            <p:cNvSpPr txBox="1">
              <a:spLocks noChangeArrowheads="1"/>
            </p:cNvSpPr>
            <p:nvPr/>
          </p:nvSpPr>
          <p:spPr bwMode="auto">
            <a:xfrm>
              <a:off x="703" y="2432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800"/>
                <a:t>1</a:t>
              </a:r>
            </a:p>
          </p:txBody>
        </p:sp>
        <p:sp>
          <p:nvSpPr>
            <p:cNvPr id="18457" name="Text Box 25"/>
            <p:cNvSpPr txBox="1">
              <a:spLocks noChangeArrowheads="1"/>
            </p:cNvSpPr>
            <p:nvPr/>
          </p:nvSpPr>
          <p:spPr bwMode="auto">
            <a:xfrm>
              <a:off x="1837" y="2387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800"/>
                <a:t>7</a:t>
              </a:r>
            </a:p>
          </p:txBody>
        </p:sp>
        <p:sp>
          <p:nvSpPr>
            <p:cNvPr id="18458" name="Text Box 26"/>
            <p:cNvSpPr txBox="1">
              <a:spLocks noChangeArrowheads="1"/>
            </p:cNvSpPr>
            <p:nvPr/>
          </p:nvSpPr>
          <p:spPr bwMode="auto">
            <a:xfrm>
              <a:off x="1882" y="3113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800"/>
                <a:t>3</a:t>
              </a:r>
            </a:p>
          </p:txBody>
        </p:sp>
        <p:sp>
          <p:nvSpPr>
            <p:cNvPr id="18459" name="Text Box 27"/>
            <p:cNvSpPr txBox="1">
              <a:spLocks noChangeArrowheads="1"/>
            </p:cNvSpPr>
            <p:nvPr/>
          </p:nvSpPr>
          <p:spPr bwMode="auto">
            <a:xfrm>
              <a:off x="2971" y="3612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800"/>
                <a:t>2</a:t>
              </a:r>
            </a:p>
          </p:txBody>
        </p:sp>
        <p:sp>
          <p:nvSpPr>
            <p:cNvPr id="18460" name="Text Box 28"/>
            <p:cNvSpPr txBox="1">
              <a:spLocks noChangeArrowheads="1"/>
            </p:cNvSpPr>
            <p:nvPr/>
          </p:nvSpPr>
          <p:spPr bwMode="auto">
            <a:xfrm>
              <a:off x="3470" y="2432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800"/>
                <a:t>5</a:t>
              </a:r>
            </a:p>
          </p:txBody>
        </p:sp>
        <p:sp>
          <p:nvSpPr>
            <p:cNvPr id="18461" name="Text Box 29"/>
            <p:cNvSpPr txBox="1">
              <a:spLocks noChangeArrowheads="1"/>
            </p:cNvSpPr>
            <p:nvPr/>
          </p:nvSpPr>
          <p:spPr bwMode="auto">
            <a:xfrm>
              <a:off x="4059" y="1752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800"/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8233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Construct a Suffix tree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err="1">
                <a:solidFill>
                  <a:schemeClr val="tx2"/>
                </a:solidFill>
              </a:rPr>
              <a:t>abbbabbbb</a:t>
            </a:r>
            <a:r>
              <a:rPr lang="en-US" altLang="en-US" dirty="0">
                <a:solidFill>
                  <a:schemeClr val="tx2"/>
                </a:solidFill>
              </a:rPr>
              <a:t>#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5058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763000" cy="762000"/>
          </a:xfrm>
        </p:spPr>
        <p:txBody>
          <a:bodyPr/>
          <a:lstStyle/>
          <a:p>
            <a:r>
              <a:rPr lang="en-US" altLang="en-US" dirty="0"/>
              <a:t> 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990600"/>
            <a:ext cx="9144000" cy="5715000"/>
            <a:chOff x="0" y="624"/>
            <a:chExt cx="5760" cy="3600"/>
          </a:xfrm>
        </p:grpSpPr>
        <p:grpSp>
          <p:nvGrpSpPr>
            <p:cNvPr id="28677" name="Group 4"/>
            <p:cNvGrpSpPr>
              <a:grpSpLocks/>
            </p:cNvGrpSpPr>
            <p:nvPr/>
          </p:nvGrpSpPr>
          <p:grpSpPr bwMode="auto">
            <a:xfrm>
              <a:off x="0" y="624"/>
              <a:ext cx="5616" cy="3120"/>
              <a:chOff x="0" y="624"/>
              <a:chExt cx="5616" cy="3120"/>
            </a:xfrm>
          </p:grpSpPr>
          <p:sp>
            <p:nvSpPr>
              <p:cNvPr id="28690" name="Rectangle 5"/>
              <p:cNvSpPr>
                <a:spLocks noChangeArrowheads="1"/>
              </p:cNvSpPr>
              <p:nvPr/>
            </p:nvSpPr>
            <p:spPr bwMode="auto">
              <a:xfrm>
                <a:off x="2400" y="624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691" name="Rectangle 6"/>
              <p:cNvSpPr>
                <a:spLocks noChangeArrowheads="1"/>
              </p:cNvSpPr>
              <p:nvPr/>
            </p:nvSpPr>
            <p:spPr bwMode="auto">
              <a:xfrm>
                <a:off x="768" y="1488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692" name="Rectangle 7"/>
              <p:cNvSpPr>
                <a:spLocks noChangeArrowheads="1"/>
              </p:cNvSpPr>
              <p:nvPr/>
            </p:nvSpPr>
            <p:spPr bwMode="auto">
              <a:xfrm>
                <a:off x="3744" y="1488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693" name="Oval 8"/>
              <p:cNvSpPr>
                <a:spLocks noChangeArrowheads="1"/>
              </p:cNvSpPr>
              <p:nvPr/>
            </p:nvSpPr>
            <p:spPr bwMode="auto">
              <a:xfrm>
                <a:off x="5136" y="144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694" name="Line 9"/>
              <p:cNvSpPr>
                <a:spLocks noChangeShapeType="1"/>
              </p:cNvSpPr>
              <p:nvPr/>
            </p:nvSpPr>
            <p:spPr bwMode="auto">
              <a:xfrm flipH="1">
                <a:off x="864" y="864"/>
                <a:ext cx="1536" cy="624"/>
              </a:xfrm>
              <a:prstGeom prst="line">
                <a:avLst/>
              </a:prstGeom>
              <a:noFill/>
              <a:ln w="57150">
                <a:solidFill>
                  <a:schemeClr val="bg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695" name="Line 10"/>
              <p:cNvSpPr>
                <a:spLocks noChangeShapeType="1"/>
              </p:cNvSpPr>
              <p:nvPr/>
            </p:nvSpPr>
            <p:spPr bwMode="auto">
              <a:xfrm>
                <a:off x="2784" y="864"/>
                <a:ext cx="1248" cy="62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696" name="Line 11"/>
              <p:cNvSpPr>
                <a:spLocks noChangeShapeType="1"/>
              </p:cNvSpPr>
              <p:nvPr/>
            </p:nvSpPr>
            <p:spPr bwMode="auto">
              <a:xfrm>
                <a:off x="3061" y="890"/>
                <a:ext cx="2256" cy="57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697" name="Text Box 12"/>
              <p:cNvSpPr txBox="1">
                <a:spLocks noChangeArrowheads="1"/>
              </p:cNvSpPr>
              <p:nvPr/>
            </p:nvSpPr>
            <p:spPr bwMode="auto">
              <a:xfrm>
                <a:off x="1152" y="864"/>
                <a:ext cx="57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</a:t>
                </a:r>
              </a:p>
            </p:txBody>
          </p:sp>
          <p:sp>
            <p:nvSpPr>
              <p:cNvPr id="28698" name="Text Box 13"/>
              <p:cNvSpPr txBox="1">
                <a:spLocks noChangeArrowheads="1"/>
              </p:cNvSpPr>
              <p:nvPr/>
            </p:nvSpPr>
            <p:spPr bwMode="auto">
              <a:xfrm>
                <a:off x="2880" y="960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28699" name="Text Box 14"/>
              <p:cNvSpPr txBox="1">
                <a:spLocks noChangeArrowheads="1"/>
              </p:cNvSpPr>
              <p:nvPr/>
            </p:nvSpPr>
            <p:spPr bwMode="auto">
              <a:xfrm>
                <a:off x="4128" y="864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#</a:t>
                </a:r>
              </a:p>
            </p:txBody>
          </p:sp>
          <p:sp>
            <p:nvSpPr>
              <p:cNvPr id="28700" name="Oval 15"/>
              <p:cNvSpPr>
                <a:spLocks noChangeArrowheads="1"/>
              </p:cNvSpPr>
              <p:nvPr/>
            </p:nvSpPr>
            <p:spPr bwMode="auto">
              <a:xfrm>
                <a:off x="528" y="216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701" name="Oval 16"/>
              <p:cNvSpPr>
                <a:spLocks noChangeArrowheads="1"/>
              </p:cNvSpPr>
              <p:nvPr/>
            </p:nvSpPr>
            <p:spPr bwMode="auto">
              <a:xfrm>
                <a:off x="1152" y="216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702" name="Text Box 17"/>
              <p:cNvSpPr txBox="1">
                <a:spLocks noChangeArrowheads="1"/>
              </p:cNvSpPr>
              <p:nvPr/>
            </p:nvSpPr>
            <p:spPr bwMode="auto">
              <a:xfrm>
                <a:off x="0" y="1776"/>
                <a:ext cx="81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abbbb#</a:t>
                </a:r>
              </a:p>
            </p:txBody>
          </p:sp>
          <p:sp>
            <p:nvSpPr>
              <p:cNvPr id="28703" name="Line 18"/>
              <p:cNvSpPr>
                <a:spLocks noChangeShapeType="1"/>
              </p:cNvSpPr>
              <p:nvPr/>
            </p:nvSpPr>
            <p:spPr bwMode="auto">
              <a:xfrm flipH="1">
                <a:off x="768" y="1728"/>
                <a:ext cx="0" cy="43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04" name="Line 19"/>
              <p:cNvSpPr>
                <a:spLocks noChangeShapeType="1"/>
              </p:cNvSpPr>
              <p:nvPr/>
            </p:nvSpPr>
            <p:spPr bwMode="auto">
              <a:xfrm flipH="1">
                <a:off x="1440" y="1728"/>
                <a:ext cx="0" cy="43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05" name="Text Box 20"/>
              <p:cNvSpPr txBox="1">
                <a:spLocks noChangeArrowheads="1"/>
              </p:cNvSpPr>
              <p:nvPr/>
            </p:nvSpPr>
            <p:spPr bwMode="auto">
              <a:xfrm>
                <a:off x="1008" y="1776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b#</a:t>
                </a:r>
              </a:p>
            </p:txBody>
          </p:sp>
          <p:sp>
            <p:nvSpPr>
              <p:cNvPr id="28706" name="Oval 21"/>
              <p:cNvSpPr>
                <a:spLocks noChangeArrowheads="1"/>
              </p:cNvSpPr>
              <p:nvPr/>
            </p:nvSpPr>
            <p:spPr bwMode="auto">
              <a:xfrm>
                <a:off x="5136" y="216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707" name="Line 22"/>
              <p:cNvSpPr>
                <a:spLocks noChangeShapeType="1"/>
              </p:cNvSpPr>
              <p:nvPr/>
            </p:nvSpPr>
            <p:spPr bwMode="auto">
              <a:xfrm>
                <a:off x="4416" y="1680"/>
                <a:ext cx="960" cy="48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08" name="Text Box 23"/>
              <p:cNvSpPr txBox="1">
                <a:spLocks noChangeArrowheads="1"/>
              </p:cNvSpPr>
              <p:nvPr/>
            </p:nvSpPr>
            <p:spPr bwMode="auto">
              <a:xfrm>
                <a:off x="4800" y="1584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#</a:t>
                </a:r>
              </a:p>
            </p:txBody>
          </p:sp>
          <p:sp>
            <p:nvSpPr>
              <p:cNvPr id="28709" name="Oval 24"/>
              <p:cNvSpPr>
                <a:spLocks noChangeArrowheads="1"/>
              </p:cNvSpPr>
              <p:nvPr/>
            </p:nvSpPr>
            <p:spPr bwMode="auto">
              <a:xfrm>
                <a:off x="1872" y="2208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710" name="Line 25"/>
              <p:cNvSpPr>
                <a:spLocks noChangeShapeType="1"/>
              </p:cNvSpPr>
              <p:nvPr/>
            </p:nvSpPr>
            <p:spPr bwMode="auto">
              <a:xfrm flipH="1">
                <a:off x="2064" y="1728"/>
                <a:ext cx="1680" cy="48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11" name="Text Box 26"/>
              <p:cNvSpPr txBox="1">
                <a:spLocks noChangeArrowheads="1"/>
              </p:cNvSpPr>
              <p:nvPr/>
            </p:nvSpPr>
            <p:spPr bwMode="auto">
              <a:xfrm>
                <a:off x="2400" y="1584"/>
                <a:ext cx="81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abbbb#</a:t>
                </a:r>
              </a:p>
            </p:txBody>
          </p:sp>
          <p:sp>
            <p:nvSpPr>
              <p:cNvPr id="28712" name="Rectangle 27"/>
              <p:cNvSpPr>
                <a:spLocks noChangeArrowheads="1"/>
              </p:cNvSpPr>
              <p:nvPr/>
            </p:nvSpPr>
            <p:spPr bwMode="auto">
              <a:xfrm>
                <a:off x="4224" y="2160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713" name="Line 28"/>
              <p:cNvSpPr>
                <a:spLocks noChangeShapeType="1"/>
              </p:cNvSpPr>
              <p:nvPr/>
            </p:nvSpPr>
            <p:spPr bwMode="auto">
              <a:xfrm>
                <a:off x="4080" y="1728"/>
                <a:ext cx="480" cy="43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14" name="Text Box 29"/>
              <p:cNvSpPr txBox="1">
                <a:spLocks noChangeArrowheads="1"/>
              </p:cNvSpPr>
              <p:nvPr/>
            </p:nvSpPr>
            <p:spPr bwMode="auto">
              <a:xfrm>
                <a:off x="3984" y="1728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28715" name="Oval 30"/>
              <p:cNvSpPr>
                <a:spLocks noChangeArrowheads="1"/>
              </p:cNvSpPr>
              <p:nvPr/>
            </p:nvSpPr>
            <p:spPr bwMode="auto">
              <a:xfrm>
                <a:off x="5136" y="2688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716" name="Line 31"/>
              <p:cNvSpPr>
                <a:spLocks noChangeShapeType="1"/>
              </p:cNvSpPr>
              <p:nvPr/>
            </p:nvSpPr>
            <p:spPr bwMode="auto">
              <a:xfrm>
                <a:off x="4896" y="2400"/>
                <a:ext cx="480" cy="28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17" name="Text Box 32"/>
              <p:cNvSpPr txBox="1">
                <a:spLocks noChangeArrowheads="1"/>
              </p:cNvSpPr>
              <p:nvPr/>
            </p:nvSpPr>
            <p:spPr bwMode="auto">
              <a:xfrm>
                <a:off x="4896" y="2160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#</a:t>
                </a:r>
              </a:p>
            </p:txBody>
          </p:sp>
          <p:sp>
            <p:nvSpPr>
              <p:cNvPr id="28718" name="Oval 33"/>
              <p:cNvSpPr>
                <a:spLocks noChangeArrowheads="1"/>
              </p:cNvSpPr>
              <p:nvPr/>
            </p:nvSpPr>
            <p:spPr bwMode="auto">
              <a:xfrm>
                <a:off x="2400" y="2784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719" name="Line 34"/>
              <p:cNvSpPr>
                <a:spLocks noChangeShapeType="1"/>
              </p:cNvSpPr>
              <p:nvPr/>
            </p:nvSpPr>
            <p:spPr bwMode="auto">
              <a:xfrm flipH="1">
                <a:off x="2640" y="2400"/>
                <a:ext cx="1584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20" name="Text Box 35"/>
              <p:cNvSpPr txBox="1">
                <a:spLocks noChangeArrowheads="1"/>
              </p:cNvSpPr>
              <p:nvPr/>
            </p:nvSpPr>
            <p:spPr bwMode="auto">
              <a:xfrm>
                <a:off x="2880" y="2208"/>
                <a:ext cx="81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abbbb#</a:t>
                </a:r>
              </a:p>
            </p:txBody>
          </p:sp>
          <p:sp>
            <p:nvSpPr>
              <p:cNvPr id="28721" name="Rectangle 36"/>
              <p:cNvSpPr>
                <a:spLocks noChangeArrowheads="1"/>
              </p:cNvSpPr>
              <p:nvPr/>
            </p:nvSpPr>
            <p:spPr bwMode="auto">
              <a:xfrm>
                <a:off x="4224" y="2832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722" name="Oval 37"/>
              <p:cNvSpPr>
                <a:spLocks noChangeArrowheads="1"/>
              </p:cNvSpPr>
              <p:nvPr/>
            </p:nvSpPr>
            <p:spPr bwMode="auto">
              <a:xfrm>
                <a:off x="5136" y="336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723" name="Line 38"/>
              <p:cNvSpPr>
                <a:spLocks noChangeShapeType="1"/>
              </p:cNvSpPr>
              <p:nvPr/>
            </p:nvSpPr>
            <p:spPr bwMode="auto">
              <a:xfrm>
                <a:off x="4896" y="3072"/>
                <a:ext cx="480" cy="28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24" name="Text Box 39"/>
              <p:cNvSpPr txBox="1">
                <a:spLocks noChangeArrowheads="1"/>
              </p:cNvSpPr>
              <p:nvPr/>
            </p:nvSpPr>
            <p:spPr bwMode="auto">
              <a:xfrm>
                <a:off x="4896" y="2832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#</a:t>
                </a:r>
              </a:p>
            </p:txBody>
          </p:sp>
          <p:sp>
            <p:nvSpPr>
              <p:cNvPr id="28725" name="Oval 40"/>
              <p:cNvSpPr>
                <a:spLocks noChangeArrowheads="1"/>
              </p:cNvSpPr>
              <p:nvPr/>
            </p:nvSpPr>
            <p:spPr bwMode="auto">
              <a:xfrm>
                <a:off x="2400" y="3456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726" name="Line 41"/>
              <p:cNvSpPr>
                <a:spLocks noChangeShapeType="1"/>
              </p:cNvSpPr>
              <p:nvPr/>
            </p:nvSpPr>
            <p:spPr bwMode="auto">
              <a:xfrm flipH="1">
                <a:off x="2640" y="3072"/>
                <a:ext cx="1584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27" name="Text Box 42"/>
              <p:cNvSpPr txBox="1">
                <a:spLocks noChangeArrowheads="1"/>
              </p:cNvSpPr>
              <p:nvPr/>
            </p:nvSpPr>
            <p:spPr bwMode="auto">
              <a:xfrm>
                <a:off x="2880" y="2880"/>
                <a:ext cx="81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abbbb#</a:t>
                </a:r>
              </a:p>
            </p:txBody>
          </p:sp>
          <p:sp>
            <p:nvSpPr>
              <p:cNvPr id="28728" name="Line 43"/>
              <p:cNvSpPr>
                <a:spLocks noChangeShapeType="1"/>
              </p:cNvSpPr>
              <p:nvPr/>
            </p:nvSpPr>
            <p:spPr bwMode="auto">
              <a:xfrm>
                <a:off x="4512" y="2400"/>
                <a:ext cx="0" cy="43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29" name="Text Box 44"/>
              <p:cNvSpPr txBox="1">
                <a:spLocks noChangeArrowheads="1"/>
              </p:cNvSpPr>
              <p:nvPr/>
            </p:nvSpPr>
            <p:spPr bwMode="auto">
              <a:xfrm>
                <a:off x="4272" y="2400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28730" name="Oval 45"/>
              <p:cNvSpPr>
                <a:spLocks noChangeArrowheads="1"/>
              </p:cNvSpPr>
              <p:nvPr/>
            </p:nvSpPr>
            <p:spPr bwMode="auto">
              <a:xfrm>
                <a:off x="4320" y="3456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731" name="Line 46"/>
              <p:cNvSpPr>
                <a:spLocks noChangeShapeType="1"/>
              </p:cNvSpPr>
              <p:nvPr/>
            </p:nvSpPr>
            <p:spPr bwMode="auto">
              <a:xfrm>
                <a:off x="4560" y="3072"/>
                <a:ext cx="0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32" name="Text Box 47"/>
              <p:cNvSpPr txBox="1">
                <a:spLocks noChangeArrowheads="1"/>
              </p:cNvSpPr>
              <p:nvPr/>
            </p:nvSpPr>
            <p:spPr bwMode="auto">
              <a:xfrm>
                <a:off x="4224" y="3072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b#</a:t>
                </a:r>
              </a:p>
            </p:txBody>
          </p:sp>
        </p:grpSp>
        <p:sp>
          <p:nvSpPr>
            <p:cNvPr id="28678" name="Text Box 48"/>
            <p:cNvSpPr txBox="1">
              <a:spLocks noChangeArrowheads="1"/>
            </p:cNvSpPr>
            <p:nvPr/>
          </p:nvSpPr>
          <p:spPr bwMode="auto">
            <a:xfrm>
              <a:off x="192" y="3264"/>
              <a:ext cx="2160" cy="4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4400" dirty="0" err="1">
                  <a:solidFill>
                    <a:schemeClr val="tx2"/>
                  </a:solidFill>
                </a:rPr>
                <a:t>abbbabbbb</a:t>
              </a:r>
              <a:r>
                <a:rPr lang="en-US" altLang="en-US" sz="4400" dirty="0">
                  <a:solidFill>
                    <a:schemeClr val="tx2"/>
                  </a:solidFill>
                </a:rPr>
                <a:t>#</a:t>
              </a:r>
            </a:p>
          </p:txBody>
        </p:sp>
        <p:sp>
          <p:nvSpPr>
            <p:cNvPr id="28679" name="Text Box 49"/>
            <p:cNvSpPr txBox="1">
              <a:spLocks noChangeArrowheads="1"/>
            </p:cNvSpPr>
            <p:nvPr/>
          </p:nvSpPr>
          <p:spPr bwMode="auto">
            <a:xfrm>
              <a:off x="192" y="3744"/>
              <a:ext cx="2160" cy="4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4400">
                  <a:solidFill>
                    <a:schemeClr val="hlink"/>
                  </a:solidFill>
                </a:rPr>
                <a:t>12345678910</a:t>
              </a:r>
            </a:p>
          </p:txBody>
        </p:sp>
        <p:sp>
          <p:nvSpPr>
            <p:cNvPr id="28680" name="Text Box 50"/>
            <p:cNvSpPr txBox="1">
              <a:spLocks noChangeArrowheads="1"/>
            </p:cNvSpPr>
            <p:nvPr/>
          </p:nvSpPr>
          <p:spPr bwMode="auto">
            <a:xfrm>
              <a:off x="672" y="2112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28681" name="Text Box 51"/>
            <p:cNvSpPr txBox="1">
              <a:spLocks noChangeArrowheads="1"/>
            </p:cNvSpPr>
            <p:nvPr/>
          </p:nvSpPr>
          <p:spPr bwMode="auto">
            <a:xfrm>
              <a:off x="1296" y="2112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5</a:t>
              </a:r>
            </a:p>
          </p:txBody>
        </p:sp>
        <p:sp>
          <p:nvSpPr>
            <p:cNvPr id="28682" name="Text Box 52"/>
            <p:cNvSpPr txBox="1">
              <a:spLocks noChangeArrowheads="1"/>
            </p:cNvSpPr>
            <p:nvPr/>
          </p:nvSpPr>
          <p:spPr bwMode="auto">
            <a:xfrm>
              <a:off x="2016" y="2160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4</a:t>
              </a:r>
            </a:p>
          </p:txBody>
        </p:sp>
        <p:sp>
          <p:nvSpPr>
            <p:cNvPr id="28683" name="Text Box 53"/>
            <p:cNvSpPr txBox="1">
              <a:spLocks noChangeArrowheads="1"/>
            </p:cNvSpPr>
            <p:nvPr/>
          </p:nvSpPr>
          <p:spPr bwMode="auto">
            <a:xfrm>
              <a:off x="2544" y="2736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3</a:t>
              </a:r>
            </a:p>
          </p:txBody>
        </p:sp>
        <p:sp>
          <p:nvSpPr>
            <p:cNvPr id="28684" name="Text Box 54"/>
            <p:cNvSpPr txBox="1">
              <a:spLocks noChangeArrowheads="1"/>
            </p:cNvSpPr>
            <p:nvPr/>
          </p:nvSpPr>
          <p:spPr bwMode="auto">
            <a:xfrm>
              <a:off x="2544" y="3408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2</a:t>
              </a:r>
            </a:p>
          </p:txBody>
        </p:sp>
        <p:sp>
          <p:nvSpPr>
            <p:cNvPr id="28685" name="Text Box 55"/>
            <p:cNvSpPr txBox="1">
              <a:spLocks noChangeArrowheads="1"/>
            </p:cNvSpPr>
            <p:nvPr/>
          </p:nvSpPr>
          <p:spPr bwMode="auto">
            <a:xfrm>
              <a:off x="4464" y="3408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6</a:t>
              </a:r>
            </a:p>
          </p:txBody>
        </p:sp>
        <p:sp>
          <p:nvSpPr>
            <p:cNvPr id="28686" name="Text Box 56"/>
            <p:cNvSpPr txBox="1">
              <a:spLocks noChangeArrowheads="1"/>
            </p:cNvSpPr>
            <p:nvPr/>
          </p:nvSpPr>
          <p:spPr bwMode="auto">
            <a:xfrm>
              <a:off x="5280" y="3360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7</a:t>
              </a:r>
            </a:p>
          </p:txBody>
        </p:sp>
        <p:sp>
          <p:nvSpPr>
            <p:cNvPr id="28687" name="Text Box 57"/>
            <p:cNvSpPr txBox="1">
              <a:spLocks noChangeArrowheads="1"/>
            </p:cNvSpPr>
            <p:nvPr/>
          </p:nvSpPr>
          <p:spPr bwMode="auto">
            <a:xfrm>
              <a:off x="5280" y="2640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8</a:t>
              </a:r>
            </a:p>
          </p:txBody>
        </p:sp>
        <p:sp>
          <p:nvSpPr>
            <p:cNvPr id="28688" name="Text Box 58"/>
            <p:cNvSpPr txBox="1">
              <a:spLocks noChangeArrowheads="1"/>
            </p:cNvSpPr>
            <p:nvPr/>
          </p:nvSpPr>
          <p:spPr bwMode="auto">
            <a:xfrm>
              <a:off x="5280" y="2112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9</a:t>
              </a:r>
            </a:p>
          </p:txBody>
        </p:sp>
        <p:sp>
          <p:nvSpPr>
            <p:cNvPr id="28689" name="Text Box 59"/>
            <p:cNvSpPr txBox="1">
              <a:spLocks noChangeArrowheads="1"/>
            </p:cNvSpPr>
            <p:nvPr/>
          </p:nvSpPr>
          <p:spPr bwMode="auto">
            <a:xfrm>
              <a:off x="5232" y="1392"/>
              <a:ext cx="5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10</a:t>
              </a:r>
            </a:p>
          </p:txBody>
        </p:sp>
      </p:grpSp>
      <p:sp>
        <p:nvSpPr>
          <p:cNvPr id="361532" name="Text Box 60"/>
          <p:cNvSpPr txBox="1">
            <a:spLocks noChangeArrowheads="1"/>
          </p:cNvSpPr>
          <p:nvPr/>
        </p:nvSpPr>
        <p:spPr bwMode="auto">
          <a:xfrm>
            <a:off x="5029200" y="6172200"/>
            <a:ext cx="1447800" cy="5794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31866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1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1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532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of Suffix Tries (1)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Check whether q is a </a:t>
            </a:r>
            <a:r>
              <a:rPr lang="en-IN" b="1" dirty="0"/>
              <a:t>substring </a:t>
            </a:r>
            <a:r>
              <a:rPr lang="en-IN" dirty="0"/>
              <a:t>of T:</a:t>
            </a:r>
          </a:p>
          <a:p>
            <a:pPr marL="0" indent="0">
              <a:buNone/>
            </a:pPr>
            <a:r>
              <a:rPr lang="en-IN" dirty="0"/>
              <a:t>Follow the path for q starting from the root.</a:t>
            </a:r>
          </a:p>
          <a:p>
            <a:pPr marL="0" indent="0">
              <a:buNone/>
            </a:pPr>
            <a:r>
              <a:rPr lang="en-IN" dirty="0"/>
              <a:t>If you exhaust the query string, then q is in 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441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762000"/>
          </a:xfrm>
        </p:spPr>
        <p:txBody>
          <a:bodyPr/>
          <a:lstStyle/>
          <a:p>
            <a:r>
              <a:rPr lang="en-US" altLang="en-US"/>
              <a:t>O(|p</a:t>
            </a:r>
            <a:r>
              <a:rPr lang="en-US" altLang="en-US" baseline="-25000"/>
              <a:t>i</a:t>
            </a:r>
            <a:r>
              <a:rPr lang="en-US" altLang="en-US"/>
              <a:t>|) Time Substring Matching</a:t>
            </a:r>
          </a:p>
        </p:txBody>
      </p:sp>
      <p:sp>
        <p:nvSpPr>
          <p:cNvPr id="359427" name="Text Box 3"/>
          <p:cNvSpPr txBox="1">
            <a:spLocks noChangeArrowheads="1"/>
          </p:cNvSpPr>
          <p:nvPr/>
        </p:nvSpPr>
        <p:spPr bwMode="auto">
          <a:xfrm>
            <a:off x="4495800" y="6096000"/>
            <a:ext cx="1143000" cy="5191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bg1"/>
                </a:solidFill>
              </a:rPr>
              <a:t>babb</a:t>
            </a:r>
          </a:p>
        </p:txBody>
      </p:sp>
      <p:sp>
        <p:nvSpPr>
          <p:cNvPr id="359428" name="Text Box 4"/>
          <p:cNvSpPr txBox="1">
            <a:spLocks noChangeArrowheads="1"/>
          </p:cNvSpPr>
          <p:nvPr/>
        </p:nvSpPr>
        <p:spPr bwMode="auto">
          <a:xfrm>
            <a:off x="5943600" y="6096000"/>
            <a:ext cx="1143000" cy="5191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bg1"/>
                </a:solidFill>
              </a:rPr>
              <a:t>abbba</a:t>
            </a:r>
          </a:p>
        </p:txBody>
      </p:sp>
      <p:sp>
        <p:nvSpPr>
          <p:cNvPr id="359429" name="Text Box 5"/>
          <p:cNvSpPr txBox="1">
            <a:spLocks noChangeArrowheads="1"/>
          </p:cNvSpPr>
          <p:nvPr/>
        </p:nvSpPr>
        <p:spPr bwMode="auto">
          <a:xfrm>
            <a:off x="7467600" y="6096000"/>
            <a:ext cx="1143000" cy="5191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bg1"/>
                </a:solidFill>
              </a:rPr>
              <a:t>baba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0" y="990600"/>
            <a:ext cx="9144000" cy="5715000"/>
            <a:chOff x="0" y="624"/>
            <a:chExt cx="5760" cy="3600"/>
          </a:xfrm>
        </p:grpSpPr>
        <p:grpSp>
          <p:nvGrpSpPr>
            <p:cNvPr id="26631" name="Group 7"/>
            <p:cNvGrpSpPr>
              <a:grpSpLocks/>
            </p:cNvGrpSpPr>
            <p:nvPr/>
          </p:nvGrpSpPr>
          <p:grpSpPr bwMode="auto">
            <a:xfrm>
              <a:off x="0" y="624"/>
              <a:ext cx="5616" cy="3120"/>
              <a:chOff x="0" y="624"/>
              <a:chExt cx="5616" cy="3120"/>
            </a:xfrm>
          </p:grpSpPr>
          <p:sp>
            <p:nvSpPr>
              <p:cNvPr id="26644" name="Rectangle 8"/>
              <p:cNvSpPr>
                <a:spLocks noChangeArrowheads="1"/>
              </p:cNvSpPr>
              <p:nvPr/>
            </p:nvSpPr>
            <p:spPr bwMode="auto">
              <a:xfrm>
                <a:off x="2400" y="624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6645" name="Rectangle 9"/>
              <p:cNvSpPr>
                <a:spLocks noChangeArrowheads="1"/>
              </p:cNvSpPr>
              <p:nvPr/>
            </p:nvSpPr>
            <p:spPr bwMode="auto">
              <a:xfrm>
                <a:off x="768" y="1488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6646" name="Rectangle 10"/>
              <p:cNvSpPr>
                <a:spLocks noChangeArrowheads="1"/>
              </p:cNvSpPr>
              <p:nvPr/>
            </p:nvSpPr>
            <p:spPr bwMode="auto">
              <a:xfrm>
                <a:off x="3744" y="1488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6647" name="Oval 11"/>
              <p:cNvSpPr>
                <a:spLocks noChangeArrowheads="1"/>
              </p:cNvSpPr>
              <p:nvPr/>
            </p:nvSpPr>
            <p:spPr bwMode="auto">
              <a:xfrm>
                <a:off x="5136" y="144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6648" name="Line 12"/>
              <p:cNvSpPr>
                <a:spLocks noChangeShapeType="1"/>
              </p:cNvSpPr>
              <p:nvPr/>
            </p:nvSpPr>
            <p:spPr bwMode="auto">
              <a:xfrm flipH="1">
                <a:off x="864" y="864"/>
                <a:ext cx="1536" cy="624"/>
              </a:xfrm>
              <a:prstGeom prst="line">
                <a:avLst/>
              </a:prstGeom>
              <a:noFill/>
              <a:ln w="57150">
                <a:solidFill>
                  <a:schemeClr val="bg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649" name="Line 13"/>
              <p:cNvSpPr>
                <a:spLocks noChangeShapeType="1"/>
              </p:cNvSpPr>
              <p:nvPr/>
            </p:nvSpPr>
            <p:spPr bwMode="auto">
              <a:xfrm>
                <a:off x="2784" y="864"/>
                <a:ext cx="1248" cy="62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650" name="Line 14"/>
              <p:cNvSpPr>
                <a:spLocks noChangeShapeType="1"/>
              </p:cNvSpPr>
              <p:nvPr/>
            </p:nvSpPr>
            <p:spPr bwMode="auto">
              <a:xfrm>
                <a:off x="3072" y="864"/>
                <a:ext cx="2256" cy="57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651" name="Text Box 15"/>
              <p:cNvSpPr txBox="1">
                <a:spLocks noChangeArrowheads="1"/>
              </p:cNvSpPr>
              <p:nvPr/>
            </p:nvSpPr>
            <p:spPr bwMode="auto">
              <a:xfrm>
                <a:off x="1152" y="864"/>
                <a:ext cx="57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</a:t>
                </a:r>
              </a:p>
            </p:txBody>
          </p:sp>
          <p:sp>
            <p:nvSpPr>
              <p:cNvPr id="26652" name="Text Box 16"/>
              <p:cNvSpPr txBox="1">
                <a:spLocks noChangeArrowheads="1"/>
              </p:cNvSpPr>
              <p:nvPr/>
            </p:nvSpPr>
            <p:spPr bwMode="auto">
              <a:xfrm>
                <a:off x="2880" y="960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26653" name="Text Box 17"/>
              <p:cNvSpPr txBox="1">
                <a:spLocks noChangeArrowheads="1"/>
              </p:cNvSpPr>
              <p:nvPr/>
            </p:nvSpPr>
            <p:spPr bwMode="auto">
              <a:xfrm>
                <a:off x="4128" y="864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#</a:t>
                </a:r>
              </a:p>
            </p:txBody>
          </p:sp>
          <p:sp>
            <p:nvSpPr>
              <p:cNvPr id="26654" name="Oval 18"/>
              <p:cNvSpPr>
                <a:spLocks noChangeArrowheads="1"/>
              </p:cNvSpPr>
              <p:nvPr/>
            </p:nvSpPr>
            <p:spPr bwMode="auto">
              <a:xfrm>
                <a:off x="528" y="216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6655" name="Oval 19"/>
              <p:cNvSpPr>
                <a:spLocks noChangeArrowheads="1"/>
              </p:cNvSpPr>
              <p:nvPr/>
            </p:nvSpPr>
            <p:spPr bwMode="auto">
              <a:xfrm>
                <a:off x="1152" y="216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6656" name="Text Box 20"/>
              <p:cNvSpPr txBox="1">
                <a:spLocks noChangeArrowheads="1"/>
              </p:cNvSpPr>
              <p:nvPr/>
            </p:nvSpPr>
            <p:spPr bwMode="auto">
              <a:xfrm>
                <a:off x="0" y="1776"/>
                <a:ext cx="81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abbbb#</a:t>
                </a:r>
              </a:p>
            </p:txBody>
          </p:sp>
          <p:sp>
            <p:nvSpPr>
              <p:cNvPr id="26657" name="Line 21"/>
              <p:cNvSpPr>
                <a:spLocks noChangeShapeType="1"/>
              </p:cNvSpPr>
              <p:nvPr/>
            </p:nvSpPr>
            <p:spPr bwMode="auto">
              <a:xfrm flipH="1">
                <a:off x="768" y="1728"/>
                <a:ext cx="0" cy="43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658" name="Line 22"/>
              <p:cNvSpPr>
                <a:spLocks noChangeShapeType="1"/>
              </p:cNvSpPr>
              <p:nvPr/>
            </p:nvSpPr>
            <p:spPr bwMode="auto">
              <a:xfrm flipH="1">
                <a:off x="1440" y="1728"/>
                <a:ext cx="0" cy="43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659" name="Text Box 23"/>
              <p:cNvSpPr txBox="1">
                <a:spLocks noChangeArrowheads="1"/>
              </p:cNvSpPr>
              <p:nvPr/>
            </p:nvSpPr>
            <p:spPr bwMode="auto">
              <a:xfrm>
                <a:off x="1008" y="1776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b#</a:t>
                </a:r>
              </a:p>
            </p:txBody>
          </p:sp>
          <p:sp>
            <p:nvSpPr>
              <p:cNvPr id="26660" name="Oval 24"/>
              <p:cNvSpPr>
                <a:spLocks noChangeArrowheads="1"/>
              </p:cNvSpPr>
              <p:nvPr/>
            </p:nvSpPr>
            <p:spPr bwMode="auto">
              <a:xfrm>
                <a:off x="5136" y="216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6661" name="Line 25"/>
              <p:cNvSpPr>
                <a:spLocks noChangeShapeType="1"/>
              </p:cNvSpPr>
              <p:nvPr/>
            </p:nvSpPr>
            <p:spPr bwMode="auto">
              <a:xfrm>
                <a:off x="4416" y="1680"/>
                <a:ext cx="960" cy="48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662" name="Text Box 26"/>
              <p:cNvSpPr txBox="1">
                <a:spLocks noChangeArrowheads="1"/>
              </p:cNvSpPr>
              <p:nvPr/>
            </p:nvSpPr>
            <p:spPr bwMode="auto">
              <a:xfrm>
                <a:off x="4800" y="1584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#</a:t>
                </a:r>
              </a:p>
            </p:txBody>
          </p:sp>
          <p:sp>
            <p:nvSpPr>
              <p:cNvPr id="26663" name="Oval 27"/>
              <p:cNvSpPr>
                <a:spLocks noChangeArrowheads="1"/>
              </p:cNvSpPr>
              <p:nvPr/>
            </p:nvSpPr>
            <p:spPr bwMode="auto">
              <a:xfrm>
                <a:off x="1872" y="2208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6664" name="Line 28"/>
              <p:cNvSpPr>
                <a:spLocks noChangeShapeType="1"/>
              </p:cNvSpPr>
              <p:nvPr/>
            </p:nvSpPr>
            <p:spPr bwMode="auto">
              <a:xfrm flipH="1">
                <a:off x="2064" y="1728"/>
                <a:ext cx="1680" cy="48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665" name="Text Box 29"/>
              <p:cNvSpPr txBox="1">
                <a:spLocks noChangeArrowheads="1"/>
              </p:cNvSpPr>
              <p:nvPr/>
            </p:nvSpPr>
            <p:spPr bwMode="auto">
              <a:xfrm>
                <a:off x="2400" y="1584"/>
                <a:ext cx="81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abbbb#</a:t>
                </a:r>
              </a:p>
            </p:txBody>
          </p:sp>
          <p:sp>
            <p:nvSpPr>
              <p:cNvPr id="26666" name="Rectangle 30"/>
              <p:cNvSpPr>
                <a:spLocks noChangeArrowheads="1"/>
              </p:cNvSpPr>
              <p:nvPr/>
            </p:nvSpPr>
            <p:spPr bwMode="auto">
              <a:xfrm>
                <a:off x="4224" y="2160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6667" name="Line 31"/>
              <p:cNvSpPr>
                <a:spLocks noChangeShapeType="1"/>
              </p:cNvSpPr>
              <p:nvPr/>
            </p:nvSpPr>
            <p:spPr bwMode="auto">
              <a:xfrm>
                <a:off x="4080" y="1728"/>
                <a:ext cx="480" cy="43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668" name="Text Box 32"/>
              <p:cNvSpPr txBox="1">
                <a:spLocks noChangeArrowheads="1"/>
              </p:cNvSpPr>
              <p:nvPr/>
            </p:nvSpPr>
            <p:spPr bwMode="auto">
              <a:xfrm>
                <a:off x="3984" y="1728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26669" name="Oval 33"/>
              <p:cNvSpPr>
                <a:spLocks noChangeArrowheads="1"/>
              </p:cNvSpPr>
              <p:nvPr/>
            </p:nvSpPr>
            <p:spPr bwMode="auto">
              <a:xfrm>
                <a:off x="5136" y="2688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6670" name="Line 34"/>
              <p:cNvSpPr>
                <a:spLocks noChangeShapeType="1"/>
              </p:cNvSpPr>
              <p:nvPr/>
            </p:nvSpPr>
            <p:spPr bwMode="auto">
              <a:xfrm>
                <a:off x="4896" y="2400"/>
                <a:ext cx="480" cy="28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671" name="Text Box 35"/>
              <p:cNvSpPr txBox="1">
                <a:spLocks noChangeArrowheads="1"/>
              </p:cNvSpPr>
              <p:nvPr/>
            </p:nvSpPr>
            <p:spPr bwMode="auto">
              <a:xfrm>
                <a:off x="4896" y="2160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#</a:t>
                </a:r>
              </a:p>
            </p:txBody>
          </p:sp>
          <p:sp>
            <p:nvSpPr>
              <p:cNvPr id="26672" name="Oval 36"/>
              <p:cNvSpPr>
                <a:spLocks noChangeArrowheads="1"/>
              </p:cNvSpPr>
              <p:nvPr/>
            </p:nvSpPr>
            <p:spPr bwMode="auto">
              <a:xfrm>
                <a:off x="2400" y="2784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6673" name="Line 37"/>
              <p:cNvSpPr>
                <a:spLocks noChangeShapeType="1"/>
              </p:cNvSpPr>
              <p:nvPr/>
            </p:nvSpPr>
            <p:spPr bwMode="auto">
              <a:xfrm flipH="1">
                <a:off x="2640" y="2400"/>
                <a:ext cx="1584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674" name="Text Box 38"/>
              <p:cNvSpPr txBox="1">
                <a:spLocks noChangeArrowheads="1"/>
              </p:cNvSpPr>
              <p:nvPr/>
            </p:nvSpPr>
            <p:spPr bwMode="auto">
              <a:xfrm>
                <a:off x="2880" y="2208"/>
                <a:ext cx="81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abbbb#</a:t>
                </a:r>
              </a:p>
            </p:txBody>
          </p:sp>
          <p:sp>
            <p:nvSpPr>
              <p:cNvPr id="26675" name="Rectangle 39"/>
              <p:cNvSpPr>
                <a:spLocks noChangeArrowheads="1"/>
              </p:cNvSpPr>
              <p:nvPr/>
            </p:nvSpPr>
            <p:spPr bwMode="auto">
              <a:xfrm>
                <a:off x="4224" y="2832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6676" name="Oval 40"/>
              <p:cNvSpPr>
                <a:spLocks noChangeArrowheads="1"/>
              </p:cNvSpPr>
              <p:nvPr/>
            </p:nvSpPr>
            <p:spPr bwMode="auto">
              <a:xfrm>
                <a:off x="5136" y="336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6677" name="Line 41"/>
              <p:cNvSpPr>
                <a:spLocks noChangeShapeType="1"/>
              </p:cNvSpPr>
              <p:nvPr/>
            </p:nvSpPr>
            <p:spPr bwMode="auto">
              <a:xfrm>
                <a:off x="4896" y="3072"/>
                <a:ext cx="480" cy="28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678" name="Text Box 42"/>
              <p:cNvSpPr txBox="1">
                <a:spLocks noChangeArrowheads="1"/>
              </p:cNvSpPr>
              <p:nvPr/>
            </p:nvSpPr>
            <p:spPr bwMode="auto">
              <a:xfrm>
                <a:off x="4896" y="2832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#</a:t>
                </a:r>
              </a:p>
            </p:txBody>
          </p:sp>
          <p:sp>
            <p:nvSpPr>
              <p:cNvPr id="26679" name="Oval 43"/>
              <p:cNvSpPr>
                <a:spLocks noChangeArrowheads="1"/>
              </p:cNvSpPr>
              <p:nvPr/>
            </p:nvSpPr>
            <p:spPr bwMode="auto">
              <a:xfrm>
                <a:off x="2400" y="3456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6680" name="Line 44"/>
              <p:cNvSpPr>
                <a:spLocks noChangeShapeType="1"/>
              </p:cNvSpPr>
              <p:nvPr/>
            </p:nvSpPr>
            <p:spPr bwMode="auto">
              <a:xfrm flipH="1">
                <a:off x="2640" y="3072"/>
                <a:ext cx="1584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681" name="Text Box 45"/>
              <p:cNvSpPr txBox="1">
                <a:spLocks noChangeArrowheads="1"/>
              </p:cNvSpPr>
              <p:nvPr/>
            </p:nvSpPr>
            <p:spPr bwMode="auto">
              <a:xfrm>
                <a:off x="2880" y="2880"/>
                <a:ext cx="81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abbbb#</a:t>
                </a:r>
              </a:p>
            </p:txBody>
          </p:sp>
          <p:sp>
            <p:nvSpPr>
              <p:cNvPr id="26682" name="Line 46"/>
              <p:cNvSpPr>
                <a:spLocks noChangeShapeType="1"/>
              </p:cNvSpPr>
              <p:nvPr/>
            </p:nvSpPr>
            <p:spPr bwMode="auto">
              <a:xfrm>
                <a:off x="4512" y="2400"/>
                <a:ext cx="0" cy="43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683" name="Text Box 47"/>
              <p:cNvSpPr txBox="1">
                <a:spLocks noChangeArrowheads="1"/>
              </p:cNvSpPr>
              <p:nvPr/>
            </p:nvSpPr>
            <p:spPr bwMode="auto">
              <a:xfrm>
                <a:off x="4272" y="2400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26684" name="Oval 48"/>
              <p:cNvSpPr>
                <a:spLocks noChangeArrowheads="1"/>
              </p:cNvSpPr>
              <p:nvPr/>
            </p:nvSpPr>
            <p:spPr bwMode="auto">
              <a:xfrm>
                <a:off x="4320" y="3456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6685" name="Line 49"/>
              <p:cNvSpPr>
                <a:spLocks noChangeShapeType="1"/>
              </p:cNvSpPr>
              <p:nvPr/>
            </p:nvSpPr>
            <p:spPr bwMode="auto">
              <a:xfrm>
                <a:off x="4560" y="3072"/>
                <a:ext cx="0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686" name="Text Box 50"/>
              <p:cNvSpPr txBox="1">
                <a:spLocks noChangeArrowheads="1"/>
              </p:cNvSpPr>
              <p:nvPr/>
            </p:nvSpPr>
            <p:spPr bwMode="auto">
              <a:xfrm>
                <a:off x="4224" y="3072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b#</a:t>
                </a:r>
              </a:p>
            </p:txBody>
          </p:sp>
        </p:grpSp>
        <p:sp>
          <p:nvSpPr>
            <p:cNvPr id="26632" name="Text Box 51"/>
            <p:cNvSpPr txBox="1">
              <a:spLocks noChangeArrowheads="1"/>
            </p:cNvSpPr>
            <p:nvPr/>
          </p:nvSpPr>
          <p:spPr bwMode="auto">
            <a:xfrm>
              <a:off x="192" y="3264"/>
              <a:ext cx="2160" cy="4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4400">
                  <a:solidFill>
                    <a:schemeClr val="tx2"/>
                  </a:solidFill>
                </a:rPr>
                <a:t>abbbabbbb#</a:t>
              </a:r>
            </a:p>
          </p:txBody>
        </p:sp>
        <p:sp>
          <p:nvSpPr>
            <p:cNvPr id="26633" name="Text Box 52"/>
            <p:cNvSpPr txBox="1">
              <a:spLocks noChangeArrowheads="1"/>
            </p:cNvSpPr>
            <p:nvPr/>
          </p:nvSpPr>
          <p:spPr bwMode="auto">
            <a:xfrm>
              <a:off x="192" y="3744"/>
              <a:ext cx="2160" cy="4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4400">
                  <a:solidFill>
                    <a:schemeClr val="hlink"/>
                  </a:solidFill>
                </a:rPr>
                <a:t>12345678910</a:t>
              </a:r>
            </a:p>
          </p:txBody>
        </p:sp>
        <p:sp>
          <p:nvSpPr>
            <p:cNvPr id="26634" name="Text Box 53"/>
            <p:cNvSpPr txBox="1">
              <a:spLocks noChangeArrowheads="1"/>
            </p:cNvSpPr>
            <p:nvPr/>
          </p:nvSpPr>
          <p:spPr bwMode="auto">
            <a:xfrm>
              <a:off x="672" y="2112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26635" name="Text Box 54"/>
            <p:cNvSpPr txBox="1">
              <a:spLocks noChangeArrowheads="1"/>
            </p:cNvSpPr>
            <p:nvPr/>
          </p:nvSpPr>
          <p:spPr bwMode="auto">
            <a:xfrm>
              <a:off x="1296" y="2112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5</a:t>
              </a:r>
            </a:p>
          </p:txBody>
        </p:sp>
        <p:sp>
          <p:nvSpPr>
            <p:cNvPr id="26636" name="Text Box 55"/>
            <p:cNvSpPr txBox="1">
              <a:spLocks noChangeArrowheads="1"/>
            </p:cNvSpPr>
            <p:nvPr/>
          </p:nvSpPr>
          <p:spPr bwMode="auto">
            <a:xfrm>
              <a:off x="2016" y="2160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4</a:t>
              </a:r>
            </a:p>
          </p:txBody>
        </p:sp>
        <p:sp>
          <p:nvSpPr>
            <p:cNvPr id="26637" name="Text Box 56"/>
            <p:cNvSpPr txBox="1">
              <a:spLocks noChangeArrowheads="1"/>
            </p:cNvSpPr>
            <p:nvPr/>
          </p:nvSpPr>
          <p:spPr bwMode="auto">
            <a:xfrm>
              <a:off x="2544" y="2736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3</a:t>
              </a:r>
            </a:p>
          </p:txBody>
        </p:sp>
        <p:sp>
          <p:nvSpPr>
            <p:cNvPr id="26638" name="Text Box 57"/>
            <p:cNvSpPr txBox="1">
              <a:spLocks noChangeArrowheads="1"/>
            </p:cNvSpPr>
            <p:nvPr/>
          </p:nvSpPr>
          <p:spPr bwMode="auto">
            <a:xfrm>
              <a:off x="2544" y="3408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2</a:t>
              </a:r>
            </a:p>
          </p:txBody>
        </p:sp>
        <p:sp>
          <p:nvSpPr>
            <p:cNvPr id="26639" name="Text Box 58"/>
            <p:cNvSpPr txBox="1">
              <a:spLocks noChangeArrowheads="1"/>
            </p:cNvSpPr>
            <p:nvPr/>
          </p:nvSpPr>
          <p:spPr bwMode="auto">
            <a:xfrm>
              <a:off x="4464" y="3408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6</a:t>
              </a:r>
            </a:p>
          </p:txBody>
        </p:sp>
        <p:sp>
          <p:nvSpPr>
            <p:cNvPr id="26640" name="Text Box 59"/>
            <p:cNvSpPr txBox="1">
              <a:spLocks noChangeArrowheads="1"/>
            </p:cNvSpPr>
            <p:nvPr/>
          </p:nvSpPr>
          <p:spPr bwMode="auto">
            <a:xfrm>
              <a:off x="5280" y="3360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7</a:t>
              </a:r>
            </a:p>
          </p:txBody>
        </p:sp>
        <p:sp>
          <p:nvSpPr>
            <p:cNvPr id="26641" name="Text Box 60"/>
            <p:cNvSpPr txBox="1">
              <a:spLocks noChangeArrowheads="1"/>
            </p:cNvSpPr>
            <p:nvPr/>
          </p:nvSpPr>
          <p:spPr bwMode="auto">
            <a:xfrm>
              <a:off x="5280" y="2640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8</a:t>
              </a:r>
            </a:p>
          </p:txBody>
        </p:sp>
        <p:sp>
          <p:nvSpPr>
            <p:cNvPr id="26642" name="Text Box 61"/>
            <p:cNvSpPr txBox="1">
              <a:spLocks noChangeArrowheads="1"/>
            </p:cNvSpPr>
            <p:nvPr/>
          </p:nvSpPr>
          <p:spPr bwMode="auto">
            <a:xfrm>
              <a:off x="5280" y="2112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9</a:t>
              </a:r>
            </a:p>
          </p:txBody>
        </p:sp>
        <p:sp>
          <p:nvSpPr>
            <p:cNvPr id="26643" name="Text Box 62"/>
            <p:cNvSpPr txBox="1">
              <a:spLocks noChangeArrowheads="1"/>
            </p:cNvSpPr>
            <p:nvPr/>
          </p:nvSpPr>
          <p:spPr bwMode="auto">
            <a:xfrm>
              <a:off x="5232" y="1392"/>
              <a:ext cx="5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0808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9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9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9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9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9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9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427" grpId="0" animBg="1" autoUpdateAnimBg="0"/>
      <p:bldP spid="359428" grpId="0" animBg="1" autoUpdateAnimBg="0"/>
      <p:bldP spid="359429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of Suffix Tries (2)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Check whether q is a </a:t>
            </a:r>
            <a:r>
              <a:rPr lang="en-IN" b="1" dirty="0"/>
              <a:t>suffix </a:t>
            </a:r>
            <a:r>
              <a:rPr lang="en-IN" dirty="0"/>
              <a:t>of T:</a:t>
            </a:r>
          </a:p>
          <a:p>
            <a:r>
              <a:rPr lang="en-IN" dirty="0"/>
              <a:t>Follow the path for q starting from the root.</a:t>
            </a:r>
          </a:p>
          <a:p>
            <a:r>
              <a:rPr lang="en-IN" dirty="0"/>
              <a:t>If you end at a leaf at the end of q, then q is a suffix of T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3075057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Applications of Suffix Tries (1)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2271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763000" cy="762000"/>
          </a:xfrm>
        </p:spPr>
        <p:txBody>
          <a:bodyPr/>
          <a:lstStyle/>
          <a:p>
            <a:r>
              <a:rPr lang="en-US" altLang="en-US"/>
              <a:t>Search Terminates At Element Node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990600"/>
            <a:ext cx="9144000" cy="5715000"/>
            <a:chOff x="0" y="624"/>
            <a:chExt cx="5760" cy="3600"/>
          </a:xfrm>
        </p:grpSpPr>
        <p:grpSp>
          <p:nvGrpSpPr>
            <p:cNvPr id="28677" name="Group 4"/>
            <p:cNvGrpSpPr>
              <a:grpSpLocks/>
            </p:cNvGrpSpPr>
            <p:nvPr/>
          </p:nvGrpSpPr>
          <p:grpSpPr bwMode="auto">
            <a:xfrm>
              <a:off x="0" y="624"/>
              <a:ext cx="5616" cy="3120"/>
              <a:chOff x="0" y="624"/>
              <a:chExt cx="5616" cy="3120"/>
            </a:xfrm>
          </p:grpSpPr>
          <p:sp>
            <p:nvSpPr>
              <p:cNvPr id="28690" name="Rectangle 5"/>
              <p:cNvSpPr>
                <a:spLocks noChangeArrowheads="1"/>
              </p:cNvSpPr>
              <p:nvPr/>
            </p:nvSpPr>
            <p:spPr bwMode="auto">
              <a:xfrm>
                <a:off x="2400" y="624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691" name="Rectangle 6"/>
              <p:cNvSpPr>
                <a:spLocks noChangeArrowheads="1"/>
              </p:cNvSpPr>
              <p:nvPr/>
            </p:nvSpPr>
            <p:spPr bwMode="auto">
              <a:xfrm>
                <a:off x="768" y="1488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692" name="Rectangle 7"/>
              <p:cNvSpPr>
                <a:spLocks noChangeArrowheads="1"/>
              </p:cNvSpPr>
              <p:nvPr/>
            </p:nvSpPr>
            <p:spPr bwMode="auto">
              <a:xfrm>
                <a:off x="3744" y="1488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693" name="Oval 8"/>
              <p:cNvSpPr>
                <a:spLocks noChangeArrowheads="1"/>
              </p:cNvSpPr>
              <p:nvPr/>
            </p:nvSpPr>
            <p:spPr bwMode="auto">
              <a:xfrm>
                <a:off x="5136" y="144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694" name="Line 9"/>
              <p:cNvSpPr>
                <a:spLocks noChangeShapeType="1"/>
              </p:cNvSpPr>
              <p:nvPr/>
            </p:nvSpPr>
            <p:spPr bwMode="auto">
              <a:xfrm flipH="1">
                <a:off x="864" y="864"/>
                <a:ext cx="1536" cy="624"/>
              </a:xfrm>
              <a:prstGeom prst="line">
                <a:avLst/>
              </a:prstGeom>
              <a:noFill/>
              <a:ln w="57150">
                <a:solidFill>
                  <a:schemeClr val="bg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695" name="Line 10"/>
              <p:cNvSpPr>
                <a:spLocks noChangeShapeType="1"/>
              </p:cNvSpPr>
              <p:nvPr/>
            </p:nvSpPr>
            <p:spPr bwMode="auto">
              <a:xfrm>
                <a:off x="2784" y="864"/>
                <a:ext cx="1248" cy="62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696" name="Line 11"/>
              <p:cNvSpPr>
                <a:spLocks noChangeShapeType="1"/>
              </p:cNvSpPr>
              <p:nvPr/>
            </p:nvSpPr>
            <p:spPr bwMode="auto">
              <a:xfrm>
                <a:off x="3061" y="890"/>
                <a:ext cx="2256" cy="57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697" name="Text Box 12"/>
              <p:cNvSpPr txBox="1">
                <a:spLocks noChangeArrowheads="1"/>
              </p:cNvSpPr>
              <p:nvPr/>
            </p:nvSpPr>
            <p:spPr bwMode="auto">
              <a:xfrm>
                <a:off x="1152" y="864"/>
                <a:ext cx="57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</a:t>
                </a:r>
              </a:p>
            </p:txBody>
          </p:sp>
          <p:sp>
            <p:nvSpPr>
              <p:cNvPr id="28698" name="Text Box 13"/>
              <p:cNvSpPr txBox="1">
                <a:spLocks noChangeArrowheads="1"/>
              </p:cNvSpPr>
              <p:nvPr/>
            </p:nvSpPr>
            <p:spPr bwMode="auto">
              <a:xfrm>
                <a:off x="2880" y="960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28699" name="Text Box 14"/>
              <p:cNvSpPr txBox="1">
                <a:spLocks noChangeArrowheads="1"/>
              </p:cNvSpPr>
              <p:nvPr/>
            </p:nvSpPr>
            <p:spPr bwMode="auto">
              <a:xfrm>
                <a:off x="4128" y="864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#</a:t>
                </a:r>
              </a:p>
            </p:txBody>
          </p:sp>
          <p:sp>
            <p:nvSpPr>
              <p:cNvPr id="28700" name="Oval 15"/>
              <p:cNvSpPr>
                <a:spLocks noChangeArrowheads="1"/>
              </p:cNvSpPr>
              <p:nvPr/>
            </p:nvSpPr>
            <p:spPr bwMode="auto">
              <a:xfrm>
                <a:off x="528" y="216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701" name="Oval 16"/>
              <p:cNvSpPr>
                <a:spLocks noChangeArrowheads="1"/>
              </p:cNvSpPr>
              <p:nvPr/>
            </p:nvSpPr>
            <p:spPr bwMode="auto">
              <a:xfrm>
                <a:off x="1152" y="216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702" name="Text Box 17"/>
              <p:cNvSpPr txBox="1">
                <a:spLocks noChangeArrowheads="1"/>
              </p:cNvSpPr>
              <p:nvPr/>
            </p:nvSpPr>
            <p:spPr bwMode="auto">
              <a:xfrm>
                <a:off x="0" y="1776"/>
                <a:ext cx="81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abbbb#</a:t>
                </a:r>
              </a:p>
            </p:txBody>
          </p:sp>
          <p:sp>
            <p:nvSpPr>
              <p:cNvPr id="28703" name="Line 18"/>
              <p:cNvSpPr>
                <a:spLocks noChangeShapeType="1"/>
              </p:cNvSpPr>
              <p:nvPr/>
            </p:nvSpPr>
            <p:spPr bwMode="auto">
              <a:xfrm flipH="1">
                <a:off x="768" y="1728"/>
                <a:ext cx="0" cy="43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04" name="Line 19"/>
              <p:cNvSpPr>
                <a:spLocks noChangeShapeType="1"/>
              </p:cNvSpPr>
              <p:nvPr/>
            </p:nvSpPr>
            <p:spPr bwMode="auto">
              <a:xfrm flipH="1">
                <a:off x="1440" y="1728"/>
                <a:ext cx="0" cy="43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05" name="Text Box 20"/>
              <p:cNvSpPr txBox="1">
                <a:spLocks noChangeArrowheads="1"/>
              </p:cNvSpPr>
              <p:nvPr/>
            </p:nvSpPr>
            <p:spPr bwMode="auto">
              <a:xfrm>
                <a:off x="1008" y="1776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b#</a:t>
                </a:r>
              </a:p>
            </p:txBody>
          </p:sp>
          <p:sp>
            <p:nvSpPr>
              <p:cNvPr id="28706" name="Oval 21"/>
              <p:cNvSpPr>
                <a:spLocks noChangeArrowheads="1"/>
              </p:cNvSpPr>
              <p:nvPr/>
            </p:nvSpPr>
            <p:spPr bwMode="auto">
              <a:xfrm>
                <a:off x="5136" y="216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707" name="Line 22"/>
              <p:cNvSpPr>
                <a:spLocks noChangeShapeType="1"/>
              </p:cNvSpPr>
              <p:nvPr/>
            </p:nvSpPr>
            <p:spPr bwMode="auto">
              <a:xfrm>
                <a:off x="4416" y="1680"/>
                <a:ext cx="960" cy="48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08" name="Text Box 23"/>
              <p:cNvSpPr txBox="1">
                <a:spLocks noChangeArrowheads="1"/>
              </p:cNvSpPr>
              <p:nvPr/>
            </p:nvSpPr>
            <p:spPr bwMode="auto">
              <a:xfrm>
                <a:off x="4800" y="1584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#</a:t>
                </a:r>
              </a:p>
            </p:txBody>
          </p:sp>
          <p:sp>
            <p:nvSpPr>
              <p:cNvPr id="28709" name="Oval 24"/>
              <p:cNvSpPr>
                <a:spLocks noChangeArrowheads="1"/>
              </p:cNvSpPr>
              <p:nvPr/>
            </p:nvSpPr>
            <p:spPr bwMode="auto">
              <a:xfrm>
                <a:off x="1872" y="2208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710" name="Line 25"/>
              <p:cNvSpPr>
                <a:spLocks noChangeShapeType="1"/>
              </p:cNvSpPr>
              <p:nvPr/>
            </p:nvSpPr>
            <p:spPr bwMode="auto">
              <a:xfrm flipH="1">
                <a:off x="2064" y="1728"/>
                <a:ext cx="1680" cy="48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11" name="Text Box 26"/>
              <p:cNvSpPr txBox="1">
                <a:spLocks noChangeArrowheads="1"/>
              </p:cNvSpPr>
              <p:nvPr/>
            </p:nvSpPr>
            <p:spPr bwMode="auto">
              <a:xfrm>
                <a:off x="2400" y="1584"/>
                <a:ext cx="81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abbbb#</a:t>
                </a:r>
              </a:p>
            </p:txBody>
          </p:sp>
          <p:sp>
            <p:nvSpPr>
              <p:cNvPr id="28712" name="Rectangle 27"/>
              <p:cNvSpPr>
                <a:spLocks noChangeArrowheads="1"/>
              </p:cNvSpPr>
              <p:nvPr/>
            </p:nvSpPr>
            <p:spPr bwMode="auto">
              <a:xfrm>
                <a:off x="4224" y="2160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713" name="Line 28"/>
              <p:cNvSpPr>
                <a:spLocks noChangeShapeType="1"/>
              </p:cNvSpPr>
              <p:nvPr/>
            </p:nvSpPr>
            <p:spPr bwMode="auto">
              <a:xfrm>
                <a:off x="4080" y="1728"/>
                <a:ext cx="480" cy="43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14" name="Text Box 29"/>
              <p:cNvSpPr txBox="1">
                <a:spLocks noChangeArrowheads="1"/>
              </p:cNvSpPr>
              <p:nvPr/>
            </p:nvSpPr>
            <p:spPr bwMode="auto">
              <a:xfrm>
                <a:off x="3984" y="1728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28715" name="Oval 30"/>
              <p:cNvSpPr>
                <a:spLocks noChangeArrowheads="1"/>
              </p:cNvSpPr>
              <p:nvPr/>
            </p:nvSpPr>
            <p:spPr bwMode="auto">
              <a:xfrm>
                <a:off x="5136" y="2688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716" name="Line 31"/>
              <p:cNvSpPr>
                <a:spLocks noChangeShapeType="1"/>
              </p:cNvSpPr>
              <p:nvPr/>
            </p:nvSpPr>
            <p:spPr bwMode="auto">
              <a:xfrm>
                <a:off x="4896" y="2400"/>
                <a:ext cx="480" cy="28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17" name="Text Box 32"/>
              <p:cNvSpPr txBox="1">
                <a:spLocks noChangeArrowheads="1"/>
              </p:cNvSpPr>
              <p:nvPr/>
            </p:nvSpPr>
            <p:spPr bwMode="auto">
              <a:xfrm>
                <a:off x="4896" y="2160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#</a:t>
                </a:r>
              </a:p>
            </p:txBody>
          </p:sp>
          <p:sp>
            <p:nvSpPr>
              <p:cNvPr id="28718" name="Oval 33"/>
              <p:cNvSpPr>
                <a:spLocks noChangeArrowheads="1"/>
              </p:cNvSpPr>
              <p:nvPr/>
            </p:nvSpPr>
            <p:spPr bwMode="auto">
              <a:xfrm>
                <a:off x="2400" y="2784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719" name="Line 34"/>
              <p:cNvSpPr>
                <a:spLocks noChangeShapeType="1"/>
              </p:cNvSpPr>
              <p:nvPr/>
            </p:nvSpPr>
            <p:spPr bwMode="auto">
              <a:xfrm flipH="1">
                <a:off x="2640" y="2400"/>
                <a:ext cx="1584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20" name="Text Box 35"/>
              <p:cNvSpPr txBox="1">
                <a:spLocks noChangeArrowheads="1"/>
              </p:cNvSpPr>
              <p:nvPr/>
            </p:nvSpPr>
            <p:spPr bwMode="auto">
              <a:xfrm>
                <a:off x="2880" y="2208"/>
                <a:ext cx="81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abbbb#</a:t>
                </a:r>
              </a:p>
            </p:txBody>
          </p:sp>
          <p:sp>
            <p:nvSpPr>
              <p:cNvPr id="28721" name="Rectangle 36"/>
              <p:cNvSpPr>
                <a:spLocks noChangeArrowheads="1"/>
              </p:cNvSpPr>
              <p:nvPr/>
            </p:nvSpPr>
            <p:spPr bwMode="auto">
              <a:xfrm>
                <a:off x="4224" y="2832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722" name="Oval 37"/>
              <p:cNvSpPr>
                <a:spLocks noChangeArrowheads="1"/>
              </p:cNvSpPr>
              <p:nvPr/>
            </p:nvSpPr>
            <p:spPr bwMode="auto">
              <a:xfrm>
                <a:off x="5136" y="336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723" name="Line 38"/>
              <p:cNvSpPr>
                <a:spLocks noChangeShapeType="1"/>
              </p:cNvSpPr>
              <p:nvPr/>
            </p:nvSpPr>
            <p:spPr bwMode="auto">
              <a:xfrm>
                <a:off x="4896" y="3072"/>
                <a:ext cx="480" cy="28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24" name="Text Box 39"/>
              <p:cNvSpPr txBox="1">
                <a:spLocks noChangeArrowheads="1"/>
              </p:cNvSpPr>
              <p:nvPr/>
            </p:nvSpPr>
            <p:spPr bwMode="auto">
              <a:xfrm>
                <a:off x="4896" y="2832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#</a:t>
                </a:r>
              </a:p>
            </p:txBody>
          </p:sp>
          <p:sp>
            <p:nvSpPr>
              <p:cNvPr id="28725" name="Oval 40"/>
              <p:cNvSpPr>
                <a:spLocks noChangeArrowheads="1"/>
              </p:cNvSpPr>
              <p:nvPr/>
            </p:nvSpPr>
            <p:spPr bwMode="auto">
              <a:xfrm>
                <a:off x="2400" y="3456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726" name="Line 41"/>
              <p:cNvSpPr>
                <a:spLocks noChangeShapeType="1"/>
              </p:cNvSpPr>
              <p:nvPr/>
            </p:nvSpPr>
            <p:spPr bwMode="auto">
              <a:xfrm flipH="1">
                <a:off x="2640" y="3072"/>
                <a:ext cx="1584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27" name="Text Box 42"/>
              <p:cNvSpPr txBox="1">
                <a:spLocks noChangeArrowheads="1"/>
              </p:cNvSpPr>
              <p:nvPr/>
            </p:nvSpPr>
            <p:spPr bwMode="auto">
              <a:xfrm>
                <a:off x="2880" y="2880"/>
                <a:ext cx="81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abbbb#</a:t>
                </a:r>
              </a:p>
            </p:txBody>
          </p:sp>
          <p:sp>
            <p:nvSpPr>
              <p:cNvPr id="28728" name="Line 43"/>
              <p:cNvSpPr>
                <a:spLocks noChangeShapeType="1"/>
              </p:cNvSpPr>
              <p:nvPr/>
            </p:nvSpPr>
            <p:spPr bwMode="auto">
              <a:xfrm>
                <a:off x="4512" y="2400"/>
                <a:ext cx="0" cy="43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29" name="Text Box 44"/>
              <p:cNvSpPr txBox="1">
                <a:spLocks noChangeArrowheads="1"/>
              </p:cNvSpPr>
              <p:nvPr/>
            </p:nvSpPr>
            <p:spPr bwMode="auto">
              <a:xfrm>
                <a:off x="4272" y="2400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28730" name="Oval 45"/>
              <p:cNvSpPr>
                <a:spLocks noChangeArrowheads="1"/>
              </p:cNvSpPr>
              <p:nvPr/>
            </p:nvSpPr>
            <p:spPr bwMode="auto">
              <a:xfrm>
                <a:off x="4320" y="3456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731" name="Line 46"/>
              <p:cNvSpPr>
                <a:spLocks noChangeShapeType="1"/>
              </p:cNvSpPr>
              <p:nvPr/>
            </p:nvSpPr>
            <p:spPr bwMode="auto">
              <a:xfrm>
                <a:off x="4560" y="3072"/>
                <a:ext cx="0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32" name="Text Box 47"/>
              <p:cNvSpPr txBox="1">
                <a:spLocks noChangeArrowheads="1"/>
              </p:cNvSpPr>
              <p:nvPr/>
            </p:nvSpPr>
            <p:spPr bwMode="auto">
              <a:xfrm>
                <a:off x="4224" y="3072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b#</a:t>
                </a:r>
              </a:p>
            </p:txBody>
          </p:sp>
        </p:grpSp>
        <p:sp>
          <p:nvSpPr>
            <p:cNvPr id="28678" name="Text Box 48"/>
            <p:cNvSpPr txBox="1">
              <a:spLocks noChangeArrowheads="1"/>
            </p:cNvSpPr>
            <p:nvPr/>
          </p:nvSpPr>
          <p:spPr bwMode="auto">
            <a:xfrm>
              <a:off x="192" y="3264"/>
              <a:ext cx="2160" cy="4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4400" dirty="0" err="1">
                  <a:solidFill>
                    <a:schemeClr val="tx2"/>
                  </a:solidFill>
                </a:rPr>
                <a:t>abbbabbbb</a:t>
              </a:r>
              <a:r>
                <a:rPr lang="en-US" altLang="en-US" sz="4400" dirty="0">
                  <a:solidFill>
                    <a:schemeClr val="tx2"/>
                  </a:solidFill>
                </a:rPr>
                <a:t>#</a:t>
              </a:r>
            </a:p>
          </p:txBody>
        </p:sp>
        <p:sp>
          <p:nvSpPr>
            <p:cNvPr id="28679" name="Text Box 49"/>
            <p:cNvSpPr txBox="1">
              <a:spLocks noChangeArrowheads="1"/>
            </p:cNvSpPr>
            <p:nvPr/>
          </p:nvSpPr>
          <p:spPr bwMode="auto">
            <a:xfrm>
              <a:off x="192" y="3744"/>
              <a:ext cx="2160" cy="4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4400">
                  <a:solidFill>
                    <a:schemeClr val="hlink"/>
                  </a:solidFill>
                </a:rPr>
                <a:t>12345678910</a:t>
              </a:r>
            </a:p>
          </p:txBody>
        </p:sp>
        <p:sp>
          <p:nvSpPr>
            <p:cNvPr id="28680" name="Text Box 50"/>
            <p:cNvSpPr txBox="1">
              <a:spLocks noChangeArrowheads="1"/>
            </p:cNvSpPr>
            <p:nvPr/>
          </p:nvSpPr>
          <p:spPr bwMode="auto">
            <a:xfrm>
              <a:off x="672" y="2112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28681" name="Text Box 51"/>
            <p:cNvSpPr txBox="1">
              <a:spLocks noChangeArrowheads="1"/>
            </p:cNvSpPr>
            <p:nvPr/>
          </p:nvSpPr>
          <p:spPr bwMode="auto">
            <a:xfrm>
              <a:off x="1296" y="2112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5</a:t>
              </a:r>
            </a:p>
          </p:txBody>
        </p:sp>
        <p:sp>
          <p:nvSpPr>
            <p:cNvPr id="28682" name="Text Box 52"/>
            <p:cNvSpPr txBox="1">
              <a:spLocks noChangeArrowheads="1"/>
            </p:cNvSpPr>
            <p:nvPr/>
          </p:nvSpPr>
          <p:spPr bwMode="auto">
            <a:xfrm>
              <a:off x="2016" y="2160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4</a:t>
              </a:r>
            </a:p>
          </p:txBody>
        </p:sp>
        <p:sp>
          <p:nvSpPr>
            <p:cNvPr id="28683" name="Text Box 53"/>
            <p:cNvSpPr txBox="1">
              <a:spLocks noChangeArrowheads="1"/>
            </p:cNvSpPr>
            <p:nvPr/>
          </p:nvSpPr>
          <p:spPr bwMode="auto">
            <a:xfrm>
              <a:off x="2544" y="2736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3</a:t>
              </a:r>
            </a:p>
          </p:txBody>
        </p:sp>
        <p:sp>
          <p:nvSpPr>
            <p:cNvPr id="28684" name="Text Box 54"/>
            <p:cNvSpPr txBox="1">
              <a:spLocks noChangeArrowheads="1"/>
            </p:cNvSpPr>
            <p:nvPr/>
          </p:nvSpPr>
          <p:spPr bwMode="auto">
            <a:xfrm>
              <a:off x="2544" y="3408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2</a:t>
              </a:r>
            </a:p>
          </p:txBody>
        </p:sp>
        <p:sp>
          <p:nvSpPr>
            <p:cNvPr id="28685" name="Text Box 55"/>
            <p:cNvSpPr txBox="1">
              <a:spLocks noChangeArrowheads="1"/>
            </p:cNvSpPr>
            <p:nvPr/>
          </p:nvSpPr>
          <p:spPr bwMode="auto">
            <a:xfrm>
              <a:off x="4464" y="3408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6</a:t>
              </a:r>
            </a:p>
          </p:txBody>
        </p:sp>
        <p:sp>
          <p:nvSpPr>
            <p:cNvPr id="28686" name="Text Box 56"/>
            <p:cNvSpPr txBox="1">
              <a:spLocks noChangeArrowheads="1"/>
            </p:cNvSpPr>
            <p:nvPr/>
          </p:nvSpPr>
          <p:spPr bwMode="auto">
            <a:xfrm>
              <a:off x="5280" y="3360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7</a:t>
              </a:r>
            </a:p>
          </p:txBody>
        </p:sp>
        <p:sp>
          <p:nvSpPr>
            <p:cNvPr id="28687" name="Text Box 57"/>
            <p:cNvSpPr txBox="1">
              <a:spLocks noChangeArrowheads="1"/>
            </p:cNvSpPr>
            <p:nvPr/>
          </p:nvSpPr>
          <p:spPr bwMode="auto">
            <a:xfrm>
              <a:off x="5280" y="2640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8</a:t>
              </a:r>
            </a:p>
          </p:txBody>
        </p:sp>
        <p:sp>
          <p:nvSpPr>
            <p:cNvPr id="28688" name="Text Box 58"/>
            <p:cNvSpPr txBox="1">
              <a:spLocks noChangeArrowheads="1"/>
            </p:cNvSpPr>
            <p:nvPr/>
          </p:nvSpPr>
          <p:spPr bwMode="auto">
            <a:xfrm>
              <a:off x="5280" y="2112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9</a:t>
              </a:r>
            </a:p>
          </p:txBody>
        </p:sp>
        <p:sp>
          <p:nvSpPr>
            <p:cNvPr id="28689" name="Text Box 59"/>
            <p:cNvSpPr txBox="1">
              <a:spLocks noChangeArrowheads="1"/>
            </p:cNvSpPr>
            <p:nvPr/>
          </p:nvSpPr>
          <p:spPr bwMode="auto">
            <a:xfrm>
              <a:off x="5232" y="1392"/>
              <a:ext cx="5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10</a:t>
              </a:r>
            </a:p>
          </p:txBody>
        </p:sp>
      </p:grpSp>
      <p:sp>
        <p:nvSpPr>
          <p:cNvPr id="361532" name="Text Box 60"/>
          <p:cNvSpPr txBox="1">
            <a:spLocks noChangeArrowheads="1"/>
          </p:cNvSpPr>
          <p:nvPr/>
        </p:nvSpPr>
        <p:spPr bwMode="auto">
          <a:xfrm>
            <a:off x="5029200" y="6172200"/>
            <a:ext cx="1447800" cy="5794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>
                <a:solidFill>
                  <a:schemeClr val="bg1"/>
                </a:solidFill>
              </a:rPr>
              <a:t>abbbb#</a:t>
            </a:r>
          </a:p>
        </p:txBody>
      </p:sp>
    </p:spTree>
    <p:extLst>
      <p:ext uri="{BB962C8B-B14F-4D97-AF65-F5344CB8AC3E}">
        <p14:creationId xmlns:p14="http://schemas.microsoft.com/office/powerpoint/2010/main" val="2456232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1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1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532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of Suffix Tries (3)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Count # of occurrences of q in T:</a:t>
            </a:r>
          </a:p>
          <a:p>
            <a:r>
              <a:rPr lang="en-IN" dirty="0"/>
              <a:t>Follow the path for q starting from the root.</a:t>
            </a:r>
          </a:p>
          <a:p>
            <a:r>
              <a:rPr lang="en-IN" dirty="0"/>
              <a:t>The number of leaves under the node you end up in is the</a:t>
            </a:r>
          </a:p>
          <a:p>
            <a:r>
              <a:rPr lang="en-IN" dirty="0"/>
              <a:t>number of occurrences of q.</a:t>
            </a:r>
          </a:p>
        </p:txBody>
      </p:sp>
    </p:spTree>
    <p:extLst>
      <p:ext uri="{BB962C8B-B14F-4D97-AF65-F5344CB8AC3E}">
        <p14:creationId xmlns:p14="http://schemas.microsoft.com/office/powerpoint/2010/main" val="1112049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763000" cy="762000"/>
          </a:xfrm>
        </p:spPr>
        <p:txBody>
          <a:bodyPr/>
          <a:lstStyle/>
          <a:p>
            <a:r>
              <a:rPr lang="en-US" altLang="en-US"/>
              <a:t>Search Terminates At Branch Node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990600"/>
            <a:ext cx="9144000" cy="5715000"/>
            <a:chOff x="0" y="624"/>
            <a:chExt cx="5760" cy="3600"/>
          </a:xfrm>
        </p:grpSpPr>
        <p:grpSp>
          <p:nvGrpSpPr>
            <p:cNvPr id="30725" name="Group 4"/>
            <p:cNvGrpSpPr>
              <a:grpSpLocks/>
            </p:cNvGrpSpPr>
            <p:nvPr/>
          </p:nvGrpSpPr>
          <p:grpSpPr bwMode="auto">
            <a:xfrm>
              <a:off x="0" y="624"/>
              <a:ext cx="5616" cy="3120"/>
              <a:chOff x="0" y="624"/>
              <a:chExt cx="5616" cy="3120"/>
            </a:xfrm>
          </p:grpSpPr>
          <p:sp>
            <p:nvSpPr>
              <p:cNvPr id="30738" name="Rectangle 5"/>
              <p:cNvSpPr>
                <a:spLocks noChangeArrowheads="1"/>
              </p:cNvSpPr>
              <p:nvPr/>
            </p:nvSpPr>
            <p:spPr bwMode="auto">
              <a:xfrm>
                <a:off x="2400" y="624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0739" name="Rectangle 6"/>
              <p:cNvSpPr>
                <a:spLocks noChangeArrowheads="1"/>
              </p:cNvSpPr>
              <p:nvPr/>
            </p:nvSpPr>
            <p:spPr bwMode="auto">
              <a:xfrm>
                <a:off x="768" y="1488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0740" name="Rectangle 7"/>
              <p:cNvSpPr>
                <a:spLocks noChangeArrowheads="1"/>
              </p:cNvSpPr>
              <p:nvPr/>
            </p:nvSpPr>
            <p:spPr bwMode="auto">
              <a:xfrm>
                <a:off x="3744" y="1488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0741" name="Oval 8"/>
              <p:cNvSpPr>
                <a:spLocks noChangeArrowheads="1"/>
              </p:cNvSpPr>
              <p:nvPr/>
            </p:nvSpPr>
            <p:spPr bwMode="auto">
              <a:xfrm>
                <a:off x="5136" y="144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0742" name="Line 9"/>
              <p:cNvSpPr>
                <a:spLocks noChangeShapeType="1"/>
              </p:cNvSpPr>
              <p:nvPr/>
            </p:nvSpPr>
            <p:spPr bwMode="auto">
              <a:xfrm flipH="1">
                <a:off x="864" y="864"/>
                <a:ext cx="1536" cy="624"/>
              </a:xfrm>
              <a:prstGeom prst="line">
                <a:avLst/>
              </a:prstGeom>
              <a:noFill/>
              <a:ln w="57150">
                <a:solidFill>
                  <a:schemeClr val="bg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743" name="Line 10"/>
              <p:cNvSpPr>
                <a:spLocks noChangeShapeType="1"/>
              </p:cNvSpPr>
              <p:nvPr/>
            </p:nvSpPr>
            <p:spPr bwMode="auto">
              <a:xfrm>
                <a:off x="2784" y="864"/>
                <a:ext cx="1248" cy="62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744" name="Line 11"/>
              <p:cNvSpPr>
                <a:spLocks noChangeShapeType="1"/>
              </p:cNvSpPr>
              <p:nvPr/>
            </p:nvSpPr>
            <p:spPr bwMode="auto">
              <a:xfrm>
                <a:off x="3072" y="864"/>
                <a:ext cx="2256" cy="57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745" name="Text Box 12"/>
              <p:cNvSpPr txBox="1">
                <a:spLocks noChangeArrowheads="1"/>
              </p:cNvSpPr>
              <p:nvPr/>
            </p:nvSpPr>
            <p:spPr bwMode="auto">
              <a:xfrm>
                <a:off x="1152" y="864"/>
                <a:ext cx="57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</a:t>
                </a:r>
              </a:p>
            </p:txBody>
          </p:sp>
          <p:sp>
            <p:nvSpPr>
              <p:cNvPr id="30746" name="Text Box 13"/>
              <p:cNvSpPr txBox="1">
                <a:spLocks noChangeArrowheads="1"/>
              </p:cNvSpPr>
              <p:nvPr/>
            </p:nvSpPr>
            <p:spPr bwMode="auto">
              <a:xfrm>
                <a:off x="2880" y="960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30747" name="Text Box 14"/>
              <p:cNvSpPr txBox="1">
                <a:spLocks noChangeArrowheads="1"/>
              </p:cNvSpPr>
              <p:nvPr/>
            </p:nvSpPr>
            <p:spPr bwMode="auto">
              <a:xfrm>
                <a:off x="4128" y="864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#</a:t>
                </a:r>
              </a:p>
            </p:txBody>
          </p:sp>
          <p:sp>
            <p:nvSpPr>
              <p:cNvPr id="30748" name="Oval 15"/>
              <p:cNvSpPr>
                <a:spLocks noChangeArrowheads="1"/>
              </p:cNvSpPr>
              <p:nvPr/>
            </p:nvSpPr>
            <p:spPr bwMode="auto">
              <a:xfrm>
                <a:off x="528" y="216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0749" name="Oval 16"/>
              <p:cNvSpPr>
                <a:spLocks noChangeArrowheads="1"/>
              </p:cNvSpPr>
              <p:nvPr/>
            </p:nvSpPr>
            <p:spPr bwMode="auto">
              <a:xfrm>
                <a:off x="1152" y="216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0750" name="Text Box 17"/>
              <p:cNvSpPr txBox="1">
                <a:spLocks noChangeArrowheads="1"/>
              </p:cNvSpPr>
              <p:nvPr/>
            </p:nvSpPr>
            <p:spPr bwMode="auto">
              <a:xfrm>
                <a:off x="0" y="1776"/>
                <a:ext cx="81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abbbb#</a:t>
                </a:r>
              </a:p>
            </p:txBody>
          </p:sp>
          <p:sp>
            <p:nvSpPr>
              <p:cNvPr id="30751" name="Line 18"/>
              <p:cNvSpPr>
                <a:spLocks noChangeShapeType="1"/>
              </p:cNvSpPr>
              <p:nvPr/>
            </p:nvSpPr>
            <p:spPr bwMode="auto">
              <a:xfrm flipH="1">
                <a:off x="768" y="1728"/>
                <a:ext cx="0" cy="43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752" name="Line 19"/>
              <p:cNvSpPr>
                <a:spLocks noChangeShapeType="1"/>
              </p:cNvSpPr>
              <p:nvPr/>
            </p:nvSpPr>
            <p:spPr bwMode="auto">
              <a:xfrm flipH="1">
                <a:off x="1440" y="1728"/>
                <a:ext cx="0" cy="43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753" name="Text Box 20"/>
              <p:cNvSpPr txBox="1">
                <a:spLocks noChangeArrowheads="1"/>
              </p:cNvSpPr>
              <p:nvPr/>
            </p:nvSpPr>
            <p:spPr bwMode="auto">
              <a:xfrm>
                <a:off x="1008" y="1776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b#</a:t>
                </a:r>
              </a:p>
            </p:txBody>
          </p:sp>
          <p:sp>
            <p:nvSpPr>
              <p:cNvPr id="30754" name="Oval 21"/>
              <p:cNvSpPr>
                <a:spLocks noChangeArrowheads="1"/>
              </p:cNvSpPr>
              <p:nvPr/>
            </p:nvSpPr>
            <p:spPr bwMode="auto">
              <a:xfrm>
                <a:off x="5136" y="216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0755" name="Line 22"/>
              <p:cNvSpPr>
                <a:spLocks noChangeShapeType="1"/>
              </p:cNvSpPr>
              <p:nvPr/>
            </p:nvSpPr>
            <p:spPr bwMode="auto">
              <a:xfrm>
                <a:off x="4416" y="1680"/>
                <a:ext cx="960" cy="48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756" name="Text Box 23"/>
              <p:cNvSpPr txBox="1">
                <a:spLocks noChangeArrowheads="1"/>
              </p:cNvSpPr>
              <p:nvPr/>
            </p:nvSpPr>
            <p:spPr bwMode="auto">
              <a:xfrm>
                <a:off x="4800" y="1584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#</a:t>
                </a:r>
              </a:p>
            </p:txBody>
          </p:sp>
          <p:sp>
            <p:nvSpPr>
              <p:cNvPr id="30757" name="Oval 24"/>
              <p:cNvSpPr>
                <a:spLocks noChangeArrowheads="1"/>
              </p:cNvSpPr>
              <p:nvPr/>
            </p:nvSpPr>
            <p:spPr bwMode="auto">
              <a:xfrm>
                <a:off x="1872" y="2208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0758" name="Line 25"/>
              <p:cNvSpPr>
                <a:spLocks noChangeShapeType="1"/>
              </p:cNvSpPr>
              <p:nvPr/>
            </p:nvSpPr>
            <p:spPr bwMode="auto">
              <a:xfrm flipH="1">
                <a:off x="2064" y="1728"/>
                <a:ext cx="1680" cy="48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759" name="Text Box 26"/>
              <p:cNvSpPr txBox="1">
                <a:spLocks noChangeArrowheads="1"/>
              </p:cNvSpPr>
              <p:nvPr/>
            </p:nvSpPr>
            <p:spPr bwMode="auto">
              <a:xfrm>
                <a:off x="2400" y="1584"/>
                <a:ext cx="81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abbbb#</a:t>
                </a:r>
              </a:p>
            </p:txBody>
          </p:sp>
          <p:sp>
            <p:nvSpPr>
              <p:cNvPr id="30760" name="Rectangle 27"/>
              <p:cNvSpPr>
                <a:spLocks noChangeArrowheads="1"/>
              </p:cNvSpPr>
              <p:nvPr/>
            </p:nvSpPr>
            <p:spPr bwMode="auto">
              <a:xfrm>
                <a:off x="4224" y="2160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0761" name="Line 28"/>
              <p:cNvSpPr>
                <a:spLocks noChangeShapeType="1"/>
              </p:cNvSpPr>
              <p:nvPr/>
            </p:nvSpPr>
            <p:spPr bwMode="auto">
              <a:xfrm>
                <a:off x="4080" y="1728"/>
                <a:ext cx="480" cy="43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762" name="Text Box 29"/>
              <p:cNvSpPr txBox="1">
                <a:spLocks noChangeArrowheads="1"/>
              </p:cNvSpPr>
              <p:nvPr/>
            </p:nvSpPr>
            <p:spPr bwMode="auto">
              <a:xfrm>
                <a:off x="3984" y="1728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30763" name="Oval 30"/>
              <p:cNvSpPr>
                <a:spLocks noChangeArrowheads="1"/>
              </p:cNvSpPr>
              <p:nvPr/>
            </p:nvSpPr>
            <p:spPr bwMode="auto">
              <a:xfrm>
                <a:off x="5136" y="2688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0764" name="Line 31"/>
              <p:cNvSpPr>
                <a:spLocks noChangeShapeType="1"/>
              </p:cNvSpPr>
              <p:nvPr/>
            </p:nvSpPr>
            <p:spPr bwMode="auto">
              <a:xfrm>
                <a:off x="4896" y="2400"/>
                <a:ext cx="480" cy="28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765" name="Text Box 32"/>
              <p:cNvSpPr txBox="1">
                <a:spLocks noChangeArrowheads="1"/>
              </p:cNvSpPr>
              <p:nvPr/>
            </p:nvSpPr>
            <p:spPr bwMode="auto">
              <a:xfrm>
                <a:off x="4896" y="2160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#</a:t>
                </a:r>
              </a:p>
            </p:txBody>
          </p:sp>
          <p:sp>
            <p:nvSpPr>
              <p:cNvPr id="30766" name="Oval 33"/>
              <p:cNvSpPr>
                <a:spLocks noChangeArrowheads="1"/>
              </p:cNvSpPr>
              <p:nvPr/>
            </p:nvSpPr>
            <p:spPr bwMode="auto">
              <a:xfrm>
                <a:off x="2400" y="2784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0767" name="Line 34"/>
              <p:cNvSpPr>
                <a:spLocks noChangeShapeType="1"/>
              </p:cNvSpPr>
              <p:nvPr/>
            </p:nvSpPr>
            <p:spPr bwMode="auto">
              <a:xfrm flipH="1">
                <a:off x="2640" y="2400"/>
                <a:ext cx="1584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768" name="Text Box 35"/>
              <p:cNvSpPr txBox="1">
                <a:spLocks noChangeArrowheads="1"/>
              </p:cNvSpPr>
              <p:nvPr/>
            </p:nvSpPr>
            <p:spPr bwMode="auto">
              <a:xfrm>
                <a:off x="2880" y="2208"/>
                <a:ext cx="81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abbbb#</a:t>
                </a:r>
              </a:p>
            </p:txBody>
          </p:sp>
          <p:sp>
            <p:nvSpPr>
              <p:cNvPr id="30769" name="Rectangle 36"/>
              <p:cNvSpPr>
                <a:spLocks noChangeArrowheads="1"/>
              </p:cNvSpPr>
              <p:nvPr/>
            </p:nvSpPr>
            <p:spPr bwMode="auto">
              <a:xfrm>
                <a:off x="4224" y="2832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0770" name="Oval 37"/>
              <p:cNvSpPr>
                <a:spLocks noChangeArrowheads="1"/>
              </p:cNvSpPr>
              <p:nvPr/>
            </p:nvSpPr>
            <p:spPr bwMode="auto">
              <a:xfrm>
                <a:off x="5136" y="336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0771" name="Line 38"/>
              <p:cNvSpPr>
                <a:spLocks noChangeShapeType="1"/>
              </p:cNvSpPr>
              <p:nvPr/>
            </p:nvSpPr>
            <p:spPr bwMode="auto">
              <a:xfrm>
                <a:off x="4896" y="3072"/>
                <a:ext cx="480" cy="28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772" name="Text Box 39"/>
              <p:cNvSpPr txBox="1">
                <a:spLocks noChangeArrowheads="1"/>
              </p:cNvSpPr>
              <p:nvPr/>
            </p:nvSpPr>
            <p:spPr bwMode="auto">
              <a:xfrm>
                <a:off x="4896" y="2832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#</a:t>
                </a:r>
              </a:p>
            </p:txBody>
          </p:sp>
          <p:sp>
            <p:nvSpPr>
              <p:cNvPr id="30773" name="Oval 40"/>
              <p:cNvSpPr>
                <a:spLocks noChangeArrowheads="1"/>
              </p:cNvSpPr>
              <p:nvPr/>
            </p:nvSpPr>
            <p:spPr bwMode="auto">
              <a:xfrm>
                <a:off x="2400" y="3456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0774" name="Line 41"/>
              <p:cNvSpPr>
                <a:spLocks noChangeShapeType="1"/>
              </p:cNvSpPr>
              <p:nvPr/>
            </p:nvSpPr>
            <p:spPr bwMode="auto">
              <a:xfrm flipH="1">
                <a:off x="2640" y="3072"/>
                <a:ext cx="1584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775" name="Text Box 42"/>
              <p:cNvSpPr txBox="1">
                <a:spLocks noChangeArrowheads="1"/>
              </p:cNvSpPr>
              <p:nvPr/>
            </p:nvSpPr>
            <p:spPr bwMode="auto">
              <a:xfrm>
                <a:off x="2880" y="2880"/>
                <a:ext cx="81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abbbb#</a:t>
                </a:r>
              </a:p>
            </p:txBody>
          </p:sp>
          <p:sp>
            <p:nvSpPr>
              <p:cNvPr id="30776" name="Line 43"/>
              <p:cNvSpPr>
                <a:spLocks noChangeShapeType="1"/>
              </p:cNvSpPr>
              <p:nvPr/>
            </p:nvSpPr>
            <p:spPr bwMode="auto">
              <a:xfrm>
                <a:off x="4512" y="2400"/>
                <a:ext cx="0" cy="43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777" name="Text Box 44"/>
              <p:cNvSpPr txBox="1">
                <a:spLocks noChangeArrowheads="1"/>
              </p:cNvSpPr>
              <p:nvPr/>
            </p:nvSpPr>
            <p:spPr bwMode="auto">
              <a:xfrm>
                <a:off x="4272" y="2400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30778" name="Oval 45"/>
              <p:cNvSpPr>
                <a:spLocks noChangeArrowheads="1"/>
              </p:cNvSpPr>
              <p:nvPr/>
            </p:nvSpPr>
            <p:spPr bwMode="auto">
              <a:xfrm>
                <a:off x="4320" y="3456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0779" name="Line 46"/>
              <p:cNvSpPr>
                <a:spLocks noChangeShapeType="1"/>
              </p:cNvSpPr>
              <p:nvPr/>
            </p:nvSpPr>
            <p:spPr bwMode="auto">
              <a:xfrm>
                <a:off x="4560" y="3072"/>
                <a:ext cx="0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780" name="Text Box 47"/>
              <p:cNvSpPr txBox="1">
                <a:spLocks noChangeArrowheads="1"/>
              </p:cNvSpPr>
              <p:nvPr/>
            </p:nvSpPr>
            <p:spPr bwMode="auto">
              <a:xfrm>
                <a:off x="4224" y="3072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b#</a:t>
                </a:r>
              </a:p>
            </p:txBody>
          </p:sp>
        </p:grpSp>
        <p:sp>
          <p:nvSpPr>
            <p:cNvPr id="30726" name="Text Box 48"/>
            <p:cNvSpPr txBox="1">
              <a:spLocks noChangeArrowheads="1"/>
            </p:cNvSpPr>
            <p:nvPr/>
          </p:nvSpPr>
          <p:spPr bwMode="auto">
            <a:xfrm>
              <a:off x="192" y="3264"/>
              <a:ext cx="2160" cy="4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4400">
                  <a:solidFill>
                    <a:schemeClr val="tx2"/>
                  </a:solidFill>
                </a:rPr>
                <a:t>abbbabbbb#</a:t>
              </a:r>
            </a:p>
          </p:txBody>
        </p:sp>
        <p:sp>
          <p:nvSpPr>
            <p:cNvPr id="30727" name="Text Box 49"/>
            <p:cNvSpPr txBox="1">
              <a:spLocks noChangeArrowheads="1"/>
            </p:cNvSpPr>
            <p:nvPr/>
          </p:nvSpPr>
          <p:spPr bwMode="auto">
            <a:xfrm>
              <a:off x="192" y="3744"/>
              <a:ext cx="2160" cy="4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4400">
                  <a:solidFill>
                    <a:schemeClr val="hlink"/>
                  </a:solidFill>
                </a:rPr>
                <a:t>12345678910</a:t>
              </a:r>
            </a:p>
          </p:txBody>
        </p:sp>
        <p:sp>
          <p:nvSpPr>
            <p:cNvPr id="30728" name="Text Box 50"/>
            <p:cNvSpPr txBox="1">
              <a:spLocks noChangeArrowheads="1"/>
            </p:cNvSpPr>
            <p:nvPr/>
          </p:nvSpPr>
          <p:spPr bwMode="auto">
            <a:xfrm>
              <a:off x="672" y="2112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30729" name="Text Box 51"/>
            <p:cNvSpPr txBox="1">
              <a:spLocks noChangeArrowheads="1"/>
            </p:cNvSpPr>
            <p:nvPr/>
          </p:nvSpPr>
          <p:spPr bwMode="auto">
            <a:xfrm>
              <a:off x="1296" y="2112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5</a:t>
              </a:r>
            </a:p>
          </p:txBody>
        </p:sp>
        <p:sp>
          <p:nvSpPr>
            <p:cNvPr id="30730" name="Text Box 52"/>
            <p:cNvSpPr txBox="1">
              <a:spLocks noChangeArrowheads="1"/>
            </p:cNvSpPr>
            <p:nvPr/>
          </p:nvSpPr>
          <p:spPr bwMode="auto">
            <a:xfrm>
              <a:off x="2016" y="2160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4</a:t>
              </a:r>
            </a:p>
          </p:txBody>
        </p:sp>
        <p:sp>
          <p:nvSpPr>
            <p:cNvPr id="30731" name="Text Box 53"/>
            <p:cNvSpPr txBox="1">
              <a:spLocks noChangeArrowheads="1"/>
            </p:cNvSpPr>
            <p:nvPr/>
          </p:nvSpPr>
          <p:spPr bwMode="auto">
            <a:xfrm>
              <a:off x="2544" y="2736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3</a:t>
              </a:r>
            </a:p>
          </p:txBody>
        </p:sp>
        <p:sp>
          <p:nvSpPr>
            <p:cNvPr id="30732" name="Text Box 54"/>
            <p:cNvSpPr txBox="1">
              <a:spLocks noChangeArrowheads="1"/>
            </p:cNvSpPr>
            <p:nvPr/>
          </p:nvSpPr>
          <p:spPr bwMode="auto">
            <a:xfrm>
              <a:off x="2544" y="3408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2</a:t>
              </a:r>
            </a:p>
          </p:txBody>
        </p:sp>
        <p:sp>
          <p:nvSpPr>
            <p:cNvPr id="30733" name="Text Box 55"/>
            <p:cNvSpPr txBox="1">
              <a:spLocks noChangeArrowheads="1"/>
            </p:cNvSpPr>
            <p:nvPr/>
          </p:nvSpPr>
          <p:spPr bwMode="auto">
            <a:xfrm>
              <a:off x="4464" y="3408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6</a:t>
              </a:r>
            </a:p>
          </p:txBody>
        </p:sp>
        <p:sp>
          <p:nvSpPr>
            <p:cNvPr id="30734" name="Text Box 56"/>
            <p:cNvSpPr txBox="1">
              <a:spLocks noChangeArrowheads="1"/>
            </p:cNvSpPr>
            <p:nvPr/>
          </p:nvSpPr>
          <p:spPr bwMode="auto">
            <a:xfrm>
              <a:off x="5280" y="3360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7</a:t>
              </a:r>
            </a:p>
          </p:txBody>
        </p:sp>
        <p:sp>
          <p:nvSpPr>
            <p:cNvPr id="30735" name="Text Box 57"/>
            <p:cNvSpPr txBox="1">
              <a:spLocks noChangeArrowheads="1"/>
            </p:cNvSpPr>
            <p:nvPr/>
          </p:nvSpPr>
          <p:spPr bwMode="auto">
            <a:xfrm>
              <a:off x="5280" y="2640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8</a:t>
              </a:r>
            </a:p>
          </p:txBody>
        </p:sp>
        <p:sp>
          <p:nvSpPr>
            <p:cNvPr id="30736" name="Text Box 58"/>
            <p:cNvSpPr txBox="1">
              <a:spLocks noChangeArrowheads="1"/>
            </p:cNvSpPr>
            <p:nvPr/>
          </p:nvSpPr>
          <p:spPr bwMode="auto">
            <a:xfrm>
              <a:off x="5280" y="2112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9</a:t>
              </a:r>
            </a:p>
          </p:txBody>
        </p:sp>
        <p:sp>
          <p:nvSpPr>
            <p:cNvPr id="30737" name="Text Box 59"/>
            <p:cNvSpPr txBox="1">
              <a:spLocks noChangeArrowheads="1"/>
            </p:cNvSpPr>
            <p:nvPr/>
          </p:nvSpPr>
          <p:spPr bwMode="auto">
            <a:xfrm>
              <a:off x="5232" y="1392"/>
              <a:ext cx="5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10</a:t>
              </a:r>
            </a:p>
          </p:txBody>
        </p:sp>
      </p:grpSp>
      <p:sp>
        <p:nvSpPr>
          <p:cNvPr id="363580" name="Text Box 60"/>
          <p:cNvSpPr txBox="1">
            <a:spLocks noChangeArrowheads="1"/>
          </p:cNvSpPr>
          <p:nvPr/>
        </p:nvSpPr>
        <p:spPr bwMode="auto">
          <a:xfrm>
            <a:off x="5029200" y="6172200"/>
            <a:ext cx="838200" cy="5794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>
                <a:solidFill>
                  <a:schemeClr val="bg1"/>
                </a:solidFill>
              </a:rPr>
              <a:t>ab</a:t>
            </a:r>
          </a:p>
        </p:txBody>
      </p:sp>
    </p:spTree>
    <p:extLst>
      <p:ext uri="{BB962C8B-B14F-4D97-AF65-F5344CB8AC3E}">
        <p14:creationId xmlns:p14="http://schemas.microsoft.com/office/powerpoint/2010/main" val="2340291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3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3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80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of Suffix Tries (4)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Find the longest repeat in T:</a:t>
            </a:r>
          </a:p>
          <a:p>
            <a:r>
              <a:rPr lang="en-IN" dirty="0"/>
              <a:t>Find the deepest node that has at least 2 leaves under it.</a:t>
            </a:r>
          </a:p>
        </p:txBody>
      </p:sp>
    </p:spTree>
    <p:extLst>
      <p:ext uri="{BB962C8B-B14F-4D97-AF65-F5344CB8AC3E}">
        <p14:creationId xmlns:p14="http://schemas.microsoft.com/office/powerpoint/2010/main" val="2140568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763000" cy="762000"/>
          </a:xfrm>
        </p:spPr>
        <p:txBody>
          <a:bodyPr/>
          <a:lstStyle/>
          <a:p>
            <a:r>
              <a:rPr lang="en-US" altLang="en-US"/>
              <a:t>Longest Repeating Substring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990600"/>
            <a:ext cx="9144000" cy="5715000"/>
            <a:chOff x="0" y="624"/>
            <a:chExt cx="5760" cy="3600"/>
          </a:xfrm>
        </p:grpSpPr>
        <p:grpSp>
          <p:nvGrpSpPr>
            <p:cNvPr id="34839" name="Group 4"/>
            <p:cNvGrpSpPr>
              <a:grpSpLocks/>
            </p:cNvGrpSpPr>
            <p:nvPr/>
          </p:nvGrpSpPr>
          <p:grpSpPr bwMode="auto">
            <a:xfrm>
              <a:off x="0" y="624"/>
              <a:ext cx="5616" cy="3120"/>
              <a:chOff x="0" y="624"/>
              <a:chExt cx="5616" cy="3120"/>
            </a:xfrm>
          </p:grpSpPr>
          <p:sp>
            <p:nvSpPr>
              <p:cNvPr id="34852" name="Rectangle 5"/>
              <p:cNvSpPr>
                <a:spLocks noChangeArrowheads="1"/>
              </p:cNvSpPr>
              <p:nvPr/>
            </p:nvSpPr>
            <p:spPr bwMode="auto">
              <a:xfrm>
                <a:off x="2400" y="624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53" name="Rectangle 6"/>
              <p:cNvSpPr>
                <a:spLocks noChangeArrowheads="1"/>
              </p:cNvSpPr>
              <p:nvPr/>
            </p:nvSpPr>
            <p:spPr bwMode="auto">
              <a:xfrm>
                <a:off x="768" y="1488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54" name="Rectangle 7"/>
              <p:cNvSpPr>
                <a:spLocks noChangeArrowheads="1"/>
              </p:cNvSpPr>
              <p:nvPr/>
            </p:nvSpPr>
            <p:spPr bwMode="auto">
              <a:xfrm>
                <a:off x="3744" y="1488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55" name="Oval 8"/>
              <p:cNvSpPr>
                <a:spLocks noChangeArrowheads="1"/>
              </p:cNvSpPr>
              <p:nvPr/>
            </p:nvSpPr>
            <p:spPr bwMode="auto">
              <a:xfrm>
                <a:off x="5136" y="144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56" name="Line 9"/>
              <p:cNvSpPr>
                <a:spLocks noChangeShapeType="1"/>
              </p:cNvSpPr>
              <p:nvPr/>
            </p:nvSpPr>
            <p:spPr bwMode="auto">
              <a:xfrm flipH="1">
                <a:off x="864" y="864"/>
                <a:ext cx="1536" cy="624"/>
              </a:xfrm>
              <a:prstGeom prst="line">
                <a:avLst/>
              </a:prstGeom>
              <a:noFill/>
              <a:ln w="57150">
                <a:solidFill>
                  <a:schemeClr val="bg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57" name="Line 10"/>
              <p:cNvSpPr>
                <a:spLocks noChangeShapeType="1"/>
              </p:cNvSpPr>
              <p:nvPr/>
            </p:nvSpPr>
            <p:spPr bwMode="auto">
              <a:xfrm>
                <a:off x="2784" y="864"/>
                <a:ext cx="1248" cy="62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58" name="Line 11"/>
              <p:cNvSpPr>
                <a:spLocks noChangeShapeType="1"/>
              </p:cNvSpPr>
              <p:nvPr/>
            </p:nvSpPr>
            <p:spPr bwMode="auto">
              <a:xfrm>
                <a:off x="3072" y="864"/>
                <a:ext cx="2256" cy="57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59" name="Text Box 12"/>
              <p:cNvSpPr txBox="1">
                <a:spLocks noChangeArrowheads="1"/>
              </p:cNvSpPr>
              <p:nvPr/>
            </p:nvSpPr>
            <p:spPr bwMode="auto">
              <a:xfrm>
                <a:off x="1152" y="864"/>
                <a:ext cx="57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</a:t>
                </a:r>
              </a:p>
            </p:txBody>
          </p:sp>
          <p:sp>
            <p:nvSpPr>
              <p:cNvPr id="34860" name="Text Box 13"/>
              <p:cNvSpPr txBox="1">
                <a:spLocks noChangeArrowheads="1"/>
              </p:cNvSpPr>
              <p:nvPr/>
            </p:nvSpPr>
            <p:spPr bwMode="auto">
              <a:xfrm>
                <a:off x="2880" y="960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34861" name="Text Box 14"/>
              <p:cNvSpPr txBox="1">
                <a:spLocks noChangeArrowheads="1"/>
              </p:cNvSpPr>
              <p:nvPr/>
            </p:nvSpPr>
            <p:spPr bwMode="auto">
              <a:xfrm>
                <a:off x="4128" y="864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#</a:t>
                </a:r>
              </a:p>
            </p:txBody>
          </p:sp>
          <p:sp>
            <p:nvSpPr>
              <p:cNvPr id="34862" name="Oval 15"/>
              <p:cNvSpPr>
                <a:spLocks noChangeArrowheads="1"/>
              </p:cNvSpPr>
              <p:nvPr/>
            </p:nvSpPr>
            <p:spPr bwMode="auto">
              <a:xfrm>
                <a:off x="528" y="216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63" name="Oval 16"/>
              <p:cNvSpPr>
                <a:spLocks noChangeArrowheads="1"/>
              </p:cNvSpPr>
              <p:nvPr/>
            </p:nvSpPr>
            <p:spPr bwMode="auto">
              <a:xfrm>
                <a:off x="1152" y="216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64" name="Text Box 17"/>
              <p:cNvSpPr txBox="1">
                <a:spLocks noChangeArrowheads="1"/>
              </p:cNvSpPr>
              <p:nvPr/>
            </p:nvSpPr>
            <p:spPr bwMode="auto">
              <a:xfrm>
                <a:off x="0" y="1776"/>
                <a:ext cx="81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abbbb#</a:t>
                </a:r>
              </a:p>
            </p:txBody>
          </p:sp>
          <p:sp>
            <p:nvSpPr>
              <p:cNvPr id="34865" name="Line 18"/>
              <p:cNvSpPr>
                <a:spLocks noChangeShapeType="1"/>
              </p:cNvSpPr>
              <p:nvPr/>
            </p:nvSpPr>
            <p:spPr bwMode="auto">
              <a:xfrm flipH="1">
                <a:off x="768" y="1728"/>
                <a:ext cx="0" cy="43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66" name="Line 19"/>
              <p:cNvSpPr>
                <a:spLocks noChangeShapeType="1"/>
              </p:cNvSpPr>
              <p:nvPr/>
            </p:nvSpPr>
            <p:spPr bwMode="auto">
              <a:xfrm flipH="1">
                <a:off x="1440" y="1728"/>
                <a:ext cx="0" cy="43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67" name="Text Box 20"/>
              <p:cNvSpPr txBox="1">
                <a:spLocks noChangeArrowheads="1"/>
              </p:cNvSpPr>
              <p:nvPr/>
            </p:nvSpPr>
            <p:spPr bwMode="auto">
              <a:xfrm>
                <a:off x="1008" y="1776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b#</a:t>
                </a:r>
              </a:p>
            </p:txBody>
          </p:sp>
          <p:sp>
            <p:nvSpPr>
              <p:cNvPr id="34868" name="Oval 21"/>
              <p:cNvSpPr>
                <a:spLocks noChangeArrowheads="1"/>
              </p:cNvSpPr>
              <p:nvPr/>
            </p:nvSpPr>
            <p:spPr bwMode="auto">
              <a:xfrm>
                <a:off x="5136" y="216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69" name="Line 22"/>
              <p:cNvSpPr>
                <a:spLocks noChangeShapeType="1"/>
              </p:cNvSpPr>
              <p:nvPr/>
            </p:nvSpPr>
            <p:spPr bwMode="auto">
              <a:xfrm>
                <a:off x="4416" y="1680"/>
                <a:ext cx="960" cy="48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70" name="Text Box 23"/>
              <p:cNvSpPr txBox="1">
                <a:spLocks noChangeArrowheads="1"/>
              </p:cNvSpPr>
              <p:nvPr/>
            </p:nvSpPr>
            <p:spPr bwMode="auto">
              <a:xfrm>
                <a:off x="4800" y="1584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#</a:t>
                </a:r>
              </a:p>
            </p:txBody>
          </p:sp>
          <p:sp>
            <p:nvSpPr>
              <p:cNvPr id="34871" name="Oval 24"/>
              <p:cNvSpPr>
                <a:spLocks noChangeArrowheads="1"/>
              </p:cNvSpPr>
              <p:nvPr/>
            </p:nvSpPr>
            <p:spPr bwMode="auto">
              <a:xfrm>
                <a:off x="1872" y="2208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72" name="Line 25"/>
              <p:cNvSpPr>
                <a:spLocks noChangeShapeType="1"/>
              </p:cNvSpPr>
              <p:nvPr/>
            </p:nvSpPr>
            <p:spPr bwMode="auto">
              <a:xfrm flipH="1">
                <a:off x="2064" y="1728"/>
                <a:ext cx="1680" cy="48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73" name="Text Box 26"/>
              <p:cNvSpPr txBox="1">
                <a:spLocks noChangeArrowheads="1"/>
              </p:cNvSpPr>
              <p:nvPr/>
            </p:nvSpPr>
            <p:spPr bwMode="auto">
              <a:xfrm>
                <a:off x="2400" y="1584"/>
                <a:ext cx="81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abbbb#</a:t>
                </a:r>
              </a:p>
            </p:txBody>
          </p:sp>
          <p:sp>
            <p:nvSpPr>
              <p:cNvPr id="34874" name="Rectangle 27"/>
              <p:cNvSpPr>
                <a:spLocks noChangeArrowheads="1"/>
              </p:cNvSpPr>
              <p:nvPr/>
            </p:nvSpPr>
            <p:spPr bwMode="auto">
              <a:xfrm>
                <a:off x="4224" y="2160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75" name="Line 28"/>
              <p:cNvSpPr>
                <a:spLocks noChangeShapeType="1"/>
              </p:cNvSpPr>
              <p:nvPr/>
            </p:nvSpPr>
            <p:spPr bwMode="auto">
              <a:xfrm>
                <a:off x="4080" y="1728"/>
                <a:ext cx="480" cy="43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76" name="Text Box 29"/>
              <p:cNvSpPr txBox="1">
                <a:spLocks noChangeArrowheads="1"/>
              </p:cNvSpPr>
              <p:nvPr/>
            </p:nvSpPr>
            <p:spPr bwMode="auto">
              <a:xfrm>
                <a:off x="3984" y="1728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34877" name="Oval 30"/>
              <p:cNvSpPr>
                <a:spLocks noChangeArrowheads="1"/>
              </p:cNvSpPr>
              <p:nvPr/>
            </p:nvSpPr>
            <p:spPr bwMode="auto">
              <a:xfrm>
                <a:off x="5136" y="2688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78" name="Line 31"/>
              <p:cNvSpPr>
                <a:spLocks noChangeShapeType="1"/>
              </p:cNvSpPr>
              <p:nvPr/>
            </p:nvSpPr>
            <p:spPr bwMode="auto">
              <a:xfrm>
                <a:off x="4896" y="2400"/>
                <a:ext cx="480" cy="28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79" name="Text Box 32"/>
              <p:cNvSpPr txBox="1">
                <a:spLocks noChangeArrowheads="1"/>
              </p:cNvSpPr>
              <p:nvPr/>
            </p:nvSpPr>
            <p:spPr bwMode="auto">
              <a:xfrm>
                <a:off x="4896" y="2160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#</a:t>
                </a:r>
              </a:p>
            </p:txBody>
          </p:sp>
          <p:sp>
            <p:nvSpPr>
              <p:cNvPr id="34880" name="Oval 33"/>
              <p:cNvSpPr>
                <a:spLocks noChangeArrowheads="1"/>
              </p:cNvSpPr>
              <p:nvPr/>
            </p:nvSpPr>
            <p:spPr bwMode="auto">
              <a:xfrm>
                <a:off x="2400" y="2784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81" name="Line 34"/>
              <p:cNvSpPr>
                <a:spLocks noChangeShapeType="1"/>
              </p:cNvSpPr>
              <p:nvPr/>
            </p:nvSpPr>
            <p:spPr bwMode="auto">
              <a:xfrm flipH="1">
                <a:off x="2640" y="2400"/>
                <a:ext cx="1584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82" name="Text Box 35"/>
              <p:cNvSpPr txBox="1">
                <a:spLocks noChangeArrowheads="1"/>
              </p:cNvSpPr>
              <p:nvPr/>
            </p:nvSpPr>
            <p:spPr bwMode="auto">
              <a:xfrm>
                <a:off x="2880" y="2208"/>
                <a:ext cx="81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abbbb#</a:t>
                </a:r>
              </a:p>
            </p:txBody>
          </p:sp>
          <p:sp>
            <p:nvSpPr>
              <p:cNvPr id="34883" name="Rectangle 36"/>
              <p:cNvSpPr>
                <a:spLocks noChangeArrowheads="1"/>
              </p:cNvSpPr>
              <p:nvPr/>
            </p:nvSpPr>
            <p:spPr bwMode="auto">
              <a:xfrm>
                <a:off x="4224" y="2832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84" name="Oval 37"/>
              <p:cNvSpPr>
                <a:spLocks noChangeArrowheads="1"/>
              </p:cNvSpPr>
              <p:nvPr/>
            </p:nvSpPr>
            <p:spPr bwMode="auto">
              <a:xfrm>
                <a:off x="5136" y="336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85" name="Line 38"/>
              <p:cNvSpPr>
                <a:spLocks noChangeShapeType="1"/>
              </p:cNvSpPr>
              <p:nvPr/>
            </p:nvSpPr>
            <p:spPr bwMode="auto">
              <a:xfrm>
                <a:off x="4896" y="3072"/>
                <a:ext cx="480" cy="28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86" name="Text Box 39"/>
              <p:cNvSpPr txBox="1">
                <a:spLocks noChangeArrowheads="1"/>
              </p:cNvSpPr>
              <p:nvPr/>
            </p:nvSpPr>
            <p:spPr bwMode="auto">
              <a:xfrm>
                <a:off x="4896" y="2832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#</a:t>
                </a:r>
              </a:p>
            </p:txBody>
          </p:sp>
          <p:sp>
            <p:nvSpPr>
              <p:cNvPr id="34887" name="Oval 40"/>
              <p:cNvSpPr>
                <a:spLocks noChangeArrowheads="1"/>
              </p:cNvSpPr>
              <p:nvPr/>
            </p:nvSpPr>
            <p:spPr bwMode="auto">
              <a:xfrm>
                <a:off x="2400" y="3456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88" name="Line 41"/>
              <p:cNvSpPr>
                <a:spLocks noChangeShapeType="1"/>
              </p:cNvSpPr>
              <p:nvPr/>
            </p:nvSpPr>
            <p:spPr bwMode="auto">
              <a:xfrm flipH="1">
                <a:off x="2640" y="3072"/>
                <a:ext cx="1584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89" name="Text Box 42"/>
              <p:cNvSpPr txBox="1">
                <a:spLocks noChangeArrowheads="1"/>
              </p:cNvSpPr>
              <p:nvPr/>
            </p:nvSpPr>
            <p:spPr bwMode="auto">
              <a:xfrm>
                <a:off x="2880" y="2880"/>
                <a:ext cx="81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abbbb#</a:t>
                </a:r>
              </a:p>
            </p:txBody>
          </p:sp>
          <p:sp>
            <p:nvSpPr>
              <p:cNvPr id="34890" name="Line 43"/>
              <p:cNvSpPr>
                <a:spLocks noChangeShapeType="1"/>
              </p:cNvSpPr>
              <p:nvPr/>
            </p:nvSpPr>
            <p:spPr bwMode="auto">
              <a:xfrm>
                <a:off x="4512" y="2400"/>
                <a:ext cx="0" cy="43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91" name="Text Box 44"/>
              <p:cNvSpPr txBox="1">
                <a:spLocks noChangeArrowheads="1"/>
              </p:cNvSpPr>
              <p:nvPr/>
            </p:nvSpPr>
            <p:spPr bwMode="auto">
              <a:xfrm>
                <a:off x="4272" y="2400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34892" name="Oval 45"/>
              <p:cNvSpPr>
                <a:spLocks noChangeArrowheads="1"/>
              </p:cNvSpPr>
              <p:nvPr/>
            </p:nvSpPr>
            <p:spPr bwMode="auto">
              <a:xfrm>
                <a:off x="4320" y="3456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93" name="Line 46"/>
              <p:cNvSpPr>
                <a:spLocks noChangeShapeType="1"/>
              </p:cNvSpPr>
              <p:nvPr/>
            </p:nvSpPr>
            <p:spPr bwMode="auto">
              <a:xfrm>
                <a:off x="4560" y="3072"/>
                <a:ext cx="0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94" name="Text Box 47"/>
              <p:cNvSpPr txBox="1">
                <a:spLocks noChangeArrowheads="1"/>
              </p:cNvSpPr>
              <p:nvPr/>
            </p:nvSpPr>
            <p:spPr bwMode="auto">
              <a:xfrm>
                <a:off x="4224" y="3072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b#</a:t>
                </a:r>
              </a:p>
            </p:txBody>
          </p:sp>
        </p:grpSp>
        <p:sp>
          <p:nvSpPr>
            <p:cNvPr id="34840" name="Text Box 48"/>
            <p:cNvSpPr txBox="1">
              <a:spLocks noChangeArrowheads="1"/>
            </p:cNvSpPr>
            <p:nvPr/>
          </p:nvSpPr>
          <p:spPr bwMode="auto">
            <a:xfrm>
              <a:off x="192" y="3264"/>
              <a:ext cx="2160" cy="4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4400">
                  <a:solidFill>
                    <a:schemeClr val="tx2"/>
                  </a:solidFill>
                </a:rPr>
                <a:t>abbbabbbb#</a:t>
              </a:r>
            </a:p>
          </p:txBody>
        </p:sp>
        <p:sp>
          <p:nvSpPr>
            <p:cNvPr id="34841" name="Text Box 49"/>
            <p:cNvSpPr txBox="1">
              <a:spLocks noChangeArrowheads="1"/>
            </p:cNvSpPr>
            <p:nvPr/>
          </p:nvSpPr>
          <p:spPr bwMode="auto">
            <a:xfrm>
              <a:off x="192" y="3744"/>
              <a:ext cx="2160" cy="4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4400">
                  <a:solidFill>
                    <a:schemeClr val="hlink"/>
                  </a:solidFill>
                </a:rPr>
                <a:t>12345678910</a:t>
              </a:r>
            </a:p>
          </p:txBody>
        </p:sp>
        <p:sp>
          <p:nvSpPr>
            <p:cNvPr id="34842" name="Text Box 50"/>
            <p:cNvSpPr txBox="1">
              <a:spLocks noChangeArrowheads="1"/>
            </p:cNvSpPr>
            <p:nvPr/>
          </p:nvSpPr>
          <p:spPr bwMode="auto">
            <a:xfrm>
              <a:off x="672" y="2112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34843" name="Text Box 51"/>
            <p:cNvSpPr txBox="1">
              <a:spLocks noChangeArrowheads="1"/>
            </p:cNvSpPr>
            <p:nvPr/>
          </p:nvSpPr>
          <p:spPr bwMode="auto">
            <a:xfrm>
              <a:off x="1296" y="2112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5</a:t>
              </a:r>
            </a:p>
          </p:txBody>
        </p:sp>
        <p:sp>
          <p:nvSpPr>
            <p:cNvPr id="34844" name="Text Box 52"/>
            <p:cNvSpPr txBox="1">
              <a:spLocks noChangeArrowheads="1"/>
            </p:cNvSpPr>
            <p:nvPr/>
          </p:nvSpPr>
          <p:spPr bwMode="auto">
            <a:xfrm>
              <a:off x="2016" y="2160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4</a:t>
              </a:r>
            </a:p>
          </p:txBody>
        </p:sp>
        <p:sp>
          <p:nvSpPr>
            <p:cNvPr id="34845" name="Text Box 53"/>
            <p:cNvSpPr txBox="1">
              <a:spLocks noChangeArrowheads="1"/>
            </p:cNvSpPr>
            <p:nvPr/>
          </p:nvSpPr>
          <p:spPr bwMode="auto">
            <a:xfrm>
              <a:off x="2544" y="2736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3</a:t>
              </a:r>
            </a:p>
          </p:txBody>
        </p:sp>
        <p:sp>
          <p:nvSpPr>
            <p:cNvPr id="34846" name="Text Box 54"/>
            <p:cNvSpPr txBox="1">
              <a:spLocks noChangeArrowheads="1"/>
            </p:cNvSpPr>
            <p:nvPr/>
          </p:nvSpPr>
          <p:spPr bwMode="auto">
            <a:xfrm>
              <a:off x="2544" y="3408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2</a:t>
              </a:r>
            </a:p>
          </p:txBody>
        </p:sp>
        <p:sp>
          <p:nvSpPr>
            <p:cNvPr id="34847" name="Text Box 55"/>
            <p:cNvSpPr txBox="1">
              <a:spLocks noChangeArrowheads="1"/>
            </p:cNvSpPr>
            <p:nvPr/>
          </p:nvSpPr>
          <p:spPr bwMode="auto">
            <a:xfrm>
              <a:off x="4464" y="3408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6</a:t>
              </a:r>
            </a:p>
          </p:txBody>
        </p:sp>
        <p:sp>
          <p:nvSpPr>
            <p:cNvPr id="34848" name="Text Box 56"/>
            <p:cNvSpPr txBox="1">
              <a:spLocks noChangeArrowheads="1"/>
            </p:cNvSpPr>
            <p:nvPr/>
          </p:nvSpPr>
          <p:spPr bwMode="auto">
            <a:xfrm>
              <a:off x="5280" y="3360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7</a:t>
              </a:r>
            </a:p>
          </p:txBody>
        </p:sp>
        <p:sp>
          <p:nvSpPr>
            <p:cNvPr id="34849" name="Text Box 57"/>
            <p:cNvSpPr txBox="1">
              <a:spLocks noChangeArrowheads="1"/>
            </p:cNvSpPr>
            <p:nvPr/>
          </p:nvSpPr>
          <p:spPr bwMode="auto">
            <a:xfrm>
              <a:off x="5280" y="2640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8</a:t>
              </a:r>
            </a:p>
          </p:txBody>
        </p:sp>
        <p:sp>
          <p:nvSpPr>
            <p:cNvPr id="34850" name="Text Box 58"/>
            <p:cNvSpPr txBox="1">
              <a:spLocks noChangeArrowheads="1"/>
            </p:cNvSpPr>
            <p:nvPr/>
          </p:nvSpPr>
          <p:spPr bwMode="auto">
            <a:xfrm>
              <a:off x="5280" y="2112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9</a:t>
              </a:r>
            </a:p>
          </p:txBody>
        </p:sp>
        <p:sp>
          <p:nvSpPr>
            <p:cNvPr id="34851" name="Text Box 59"/>
            <p:cNvSpPr txBox="1">
              <a:spLocks noChangeArrowheads="1"/>
            </p:cNvSpPr>
            <p:nvPr/>
          </p:nvSpPr>
          <p:spPr bwMode="auto">
            <a:xfrm>
              <a:off x="5232" y="1392"/>
              <a:ext cx="5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10</a:t>
              </a:r>
            </a:p>
          </p:txBody>
        </p:sp>
      </p:grpSp>
      <p:sp>
        <p:nvSpPr>
          <p:cNvPr id="367676" name="Text Box 60"/>
          <p:cNvSpPr txBox="1">
            <a:spLocks noChangeArrowheads="1"/>
          </p:cNvSpPr>
          <p:nvPr/>
        </p:nvSpPr>
        <p:spPr bwMode="auto">
          <a:xfrm>
            <a:off x="5029200" y="6172200"/>
            <a:ext cx="1600200" cy="5794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>
                <a:solidFill>
                  <a:schemeClr val="bg1"/>
                </a:solidFill>
              </a:rPr>
              <a:t>m = 2</a:t>
            </a:r>
          </a:p>
        </p:txBody>
      </p:sp>
      <p:grpSp>
        <p:nvGrpSpPr>
          <p:cNvPr id="4" name="Group 61"/>
          <p:cNvGrpSpPr>
            <a:grpSpLocks/>
          </p:cNvGrpSpPr>
          <p:nvPr/>
        </p:nvGrpSpPr>
        <p:grpSpPr bwMode="auto">
          <a:xfrm>
            <a:off x="533400" y="1981200"/>
            <a:ext cx="609600" cy="609600"/>
            <a:chOff x="288" y="816"/>
            <a:chExt cx="384" cy="384"/>
          </a:xfrm>
        </p:grpSpPr>
        <p:sp>
          <p:nvSpPr>
            <p:cNvPr id="34837" name="Oval 62"/>
            <p:cNvSpPr>
              <a:spLocks noChangeArrowheads="1"/>
            </p:cNvSpPr>
            <p:nvPr/>
          </p:nvSpPr>
          <p:spPr bwMode="auto">
            <a:xfrm>
              <a:off x="288" y="816"/>
              <a:ext cx="384" cy="384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34838" name="Text Box 63"/>
            <p:cNvSpPr txBox="1">
              <a:spLocks noChangeArrowheads="1"/>
            </p:cNvSpPr>
            <p:nvPr/>
          </p:nvSpPr>
          <p:spPr bwMode="auto">
            <a:xfrm>
              <a:off x="384" y="816"/>
              <a:ext cx="1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2</a:t>
              </a:r>
            </a:p>
          </p:txBody>
        </p:sp>
      </p:grpSp>
      <p:grpSp>
        <p:nvGrpSpPr>
          <p:cNvPr id="5" name="Group 64"/>
          <p:cNvGrpSpPr>
            <a:grpSpLocks/>
          </p:cNvGrpSpPr>
          <p:nvPr/>
        </p:nvGrpSpPr>
        <p:grpSpPr bwMode="auto">
          <a:xfrm>
            <a:off x="6019800" y="4114800"/>
            <a:ext cx="609600" cy="609600"/>
            <a:chOff x="288" y="816"/>
            <a:chExt cx="384" cy="384"/>
          </a:xfrm>
        </p:grpSpPr>
        <p:sp>
          <p:nvSpPr>
            <p:cNvPr id="34835" name="Oval 65"/>
            <p:cNvSpPr>
              <a:spLocks noChangeArrowheads="1"/>
            </p:cNvSpPr>
            <p:nvPr/>
          </p:nvSpPr>
          <p:spPr bwMode="auto">
            <a:xfrm>
              <a:off x="288" y="816"/>
              <a:ext cx="384" cy="384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34836" name="Text Box 66"/>
            <p:cNvSpPr txBox="1">
              <a:spLocks noChangeArrowheads="1"/>
            </p:cNvSpPr>
            <p:nvPr/>
          </p:nvSpPr>
          <p:spPr bwMode="auto">
            <a:xfrm>
              <a:off x="384" y="816"/>
              <a:ext cx="1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3</a:t>
              </a:r>
            </a:p>
          </p:txBody>
        </p:sp>
      </p:grpSp>
      <p:grpSp>
        <p:nvGrpSpPr>
          <p:cNvPr id="6" name="Group 67"/>
          <p:cNvGrpSpPr>
            <a:grpSpLocks/>
          </p:cNvGrpSpPr>
          <p:nvPr/>
        </p:nvGrpSpPr>
        <p:grpSpPr bwMode="auto">
          <a:xfrm>
            <a:off x="6019800" y="3200400"/>
            <a:ext cx="609600" cy="609600"/>
            <a:chOff x="288" y="816"/>
            <a:chExt cx="384" cy="384"/>
          </a:xfrm>
        </p:grpSpPr>
        <p:sp>
          <p:nvSpPr>
            <p:cNvPr id="34833" name="Oval 68"/>
            <p:cNvSpPr>
              <a:spLocks noChangeArrowheads="1"/>
            </p:cNvSpPr>
            <p:nvPr/>
          </p:nvSpPr>
          <p:spPr bwMode="auto">
            <a:xfrm>
              <a:off x="288" y="816"/>
              <a:ext cx="384" cy="384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34834" name="Text Box 69"/>
            <p:cNvSpPr txBox="1">
              <a:spLocks noChangeArrowheads="1"/>
            </p:cNvSpPr>
            <p:nvPr/>
          </p:nvSpPr>
          <p:spPr bwMode="auto">
            <a:xfrm>
              <a:off x="384" y="816"/>
              <a:ext cx="1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5</a:t>
              </a:r>
            </a:p>
          </p:txBody>
        </p:sp>
      </p:grpSp>
      <p:grpSp>
        <p:nvGrpSpPr>
          <p:cNvPr id="7" name="Group 70"/>
          <p:cNvGrpSpPr>
            <a:grpSpLocks/>
          </p:cNvGrpSpPr>
          <p:nvPr/>
        </p:nvGrpSpPr>
        <p:grpSpPr bwMode="auto">
          <a:xfrm>
            <a:off x="5334000" y="2057400"/>
            <a:ext cx="609600" cy="609600"/>
            <a:chOff x="288" y="816"/>
            <a:chExt cx="384" cy="384"/>
          </a:xfrm>
        </p:grpSpPr>
        <p:sp>
          <p:nvSpPr>
            <p:cNvPr id="34831" name="Oval 71"/>
            <p:cNvSpPr>
              <a:spLocks noChangeArrowheads="1"/>
            </p:cNvSpPr>
            <p:nvPr/>
          </p:nvSpPr>
          <p:spPr bwMode="auto">
            <a:xfrm>
              <a:off x="288" y="816"/>
              <a:ext cx="384" cy="384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34832" name="Text Box 72"/>
            <p:cNvSpPr txBox="1">
              <a:spLocks noChangeArrowheads="1"/>
            </p:cNvSpPr>
            <p:nvPr/>
          </p:nvSpPr>
          <p:spPr bwMode="auto">
            <a:xfrm>
              <a:off x="384" y="816"/>
              <a:ext cx="1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7</a:t>
              </a:r>
            </a:p>
          </p:txBody>
        </p:sp>
      </p:grpSp>
      <p:sp>
        <p:nvSpPr>
          <p:cNvPr id="367689" name="Text Box 73"/>
          <p:cNvSpPr txBox="1">
            <a:spLocks noChangeArrowheads="1"/>
          </p:cNvSpPr>
          <p:nvPr/>
        </p:nvSpPr>
        <p:spPr bwMode="auto">
          <a:xfrm>
            <a:off x="6781800" y="6202363"/>
            <a:ext cx="1600200" cy="5794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>
                <a:solidFill>
                  <a:schemeClr val="bg1"/>
                </a:solidFill>
              </a:rPr>
              <a:t>m = 5</a:t>
            </a:r>
          </a:p>
        </p:txBody>
      </p:sp>
      <p:grpSp>
        <p:nvGrpSpPr>
          <p:cNvPr id="8" name="Group 74"/>
          <p:cNvGrpSpPr>
            <a:grpSpLocks/>
          </p:cNvGrpSpPr>
          <p:nvPr/>
        </p:nvGrpSpPr>
        <p:grpSpPr bwMode="auto">
          <a:xfrm>
            <a:off x="5029200" y="762000"/>
            <a:ext cx="1143000" cy="609600"/>
            <a:chOff x="3168" y="480"/>
            <a:chExt cx="720" cy="384"/>
          </a:xfrm>
        </p:grpSpPr>
        <p:grpSp>
          <p:nvGrpSpPr>
            <p:cNvPr id="34827" name="Group 75"/>
            <p:cNvGrpSpPr>
              <a:grpSpLocks/>
            </p:cNvGrpSpPr>
            <p:nvPr/>
          </p:nvGrpSpPr>
          <p:grpSpPr bwMode="auto">
            <a:xfrm>
              <a:off x="3168" y="480"/>
              <a:ext cx="384" cy="384"/>
              <a:chOff x="288" y="816"/>
              <a:chExt cx="384" cy="384"/>
            </a:xfrm>
          </p:grpSpPr>
          <p:sp>
            <p:nvSpPr>
              <p:cNvPr id="34829" name="Oval 76"/>
              <p:cNvSpPr>
                <a:spLocks noChangeArrowheads="1"/>
              </p:cNvSpPr>
              <p:nvPr/>
            </p:nvSpPr>
            <p:spPr bwMode="auto">
              <a:xfrm>
                <a:off x="288" y="816"/>
                <a:ext cx="384" cy="384"/>
              </a:xfrm>
              <a:prstGeom prst="ellipse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30" name="Text Box 77"/>
              <p:cNvSpPr txBox="1">
                <a:spLocks noChangeArrowheads="1"/>
              </p:cNvSpPr>
              <p:nvPr/>
            </p:nvSpPr>
            <p:spPr bwMode="auto">
              <a:xfrm>
                <a:off x="384" y="816"/>
                <a:ext cx="19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endParaRPr lang="en-US" altLang="en-US" sz="2800">
                  <a:solidFill>
                    <a:schemeClr val="hlink"/>
                  </a:solidFill>
                </a:endParaRPr>
              </a:p>
            </p:txBody>
          </p:sp>
        </p:grpSp>
        <p:sp>
          <p:nvSpPr>
            <p:cNvPr id="34828" name="Text Box 78"/>
            <p:cNvSpPr txBox="1">
              <a:spLocks noChangeArrowheads="1"/>
            </p:cNvSpPr>
            <p:nvPr/>
          </p:nvSpPr>
          <p:spPr bwMode="auto">
            <a:xfrm>
              <a:off x="3168" y="528"/>
              <a:ext cx="7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1406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7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7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7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7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676" grpId="0" animBg="1" autoUpdateAnimBg="0"/>
      <p:bldP spid="367689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of Suffix Tries (5)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Find the lexicographically (alphabetically) order of the substrings</a:t>
            </a:r>
          </a:p>
          <a:p>
            <a:r>
              <a:rPr lang="en-IN" dirty="0"/>
              <a:t>Start at the root, and follow the edge </a:t>
            </a:r>
            <a:r>
              <a:rPr lang="en-IN" dirty="0" err="1"/>
              <a:t>labeled</a:t>
            </a:r>
            <a:r>
              <a:rPr lang="en-IN" dirty="0"/>
              <a:t> with the</a:t>
            </a:r>
          </a:p>
          <a:p>
            <a:r>
              <a:rPr lang="en-IN" dirty="0"/>
              <a:t>lexicographically (alphabetically) smallest letter</a:t>
            </a:r>
          </a:p>
        </p:txBody>
      </p:sp>
    </p:spTree>
    <p:extLst>
      <p:ext uri="{BB962C8B-B14F-4D97-AF65-F5344CB8AC3E}">
        <p14:creationId xmlns:p14="http://schemas.microsoft.com/office/powerpoint/2010/main" val="2714626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763000" cy="762000"/>
          </a:xfrm>
        </p:spPr>
        <p:txBody>
          <a:bodyPr/>
          <a:lstStyle/>
          <a:p>
            <a:r>
              <a:rPr lang="en-US" altLang="en-US"/>
              <a:t>Longest Repeating Substring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990600"/>
            <a:ext cx="9144000" cy="5715000"/>
            <a:chOff x="0" y="624"/>
            <a:chExt cx="5760" cy="3600"/>
          </a:xfrm>
        </p:grpSpPr>
        <p:grpSp>
          <p:nvGrpSpPr>
            <p:cNvPr id="34839" name="Group 4"/>
            <p:cNvGrpSpPr>
              <a:grpSpLocks/>
            </p:cNvGrpSpPr>
            <p:nvPr/>
          </p:nvGrpSpPr>
          <p:grpSpPr bwMode="auto">
            <a:xfrm>
              <a:off x="0" y="624"/>
              <a:ext cx="5616" cy="3120"/>
              <a:chOff x="0" y="624"/>
              <a:chExt cx="5616" cy="3120"/>
            </a:xfrm>
          </p:grpSpPr>
          <p:sp>
            <p:nvSpPr>
              <p:cNvPr id="34852" name="Rectangle 5"/>
              <p:cNvSpPr>
                <a:spLocks noChangeArrowheads="1"/>
              </p:cNvSpPr>
              <p:nvPr/>
            </p:nvSpPr>
            <p:spPr bwMode="auto">
              <a:xfrm>
                <a:off x="2400" y="624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53" name="Rectangle 6"/>
              <p:cNvSpPr>
                <a:spLocks noChangeArrowheads="1"/>
              </p:cNvSpPr>
              <p:nvPr/>
            </p:nvSpPr>
            <p:spPr bwMode="auto">
              <a:xfrm>
                <a:off x="768" y="1488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54" name="Rectangle 7"/>
              <p:cNvSpPr>
                <a:spLocks noChangeArrowheads="1"/>
              </p:cNvSpPr>
              <p:nvPr/>
            </p:nvSpPr>
            <p:spPr bwMode="auto">
              <a:xfrm>
                <a:off x="3744" y="1488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55" name="Oval 8"/>
              <p:cNvSpPr>
                <a:spLocks noChangeArrowheads="1"/>
              </p:cNvSpPr>
              <p:nvPr/>
            </p:nvSpPr>
            <p:spPr bwMode="auto">
              <a:xfrm>
                <a:off x="5136" y="144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56" name="Line 9"/>
              <p:cNvSpPr>
                <a:spLocks noChangeShapeType="1"/>
              </p:cNvSpPr>
              <p:nvPr/>
            </p:nvSpPr>
            <p:spPr bwMode="auto">
              <a:xfrm flipH="1">
                <a:off x="864" y="864"/>
                <a:ext cx="1536" cy="624"/>
              </a:xfrm>
              <a:prstGeom prst="line">
                <a:avLst/>
              </a:prstGeom>
              <a:noFill/>
              <a:ln w="57150">
                <a:solidFill>
                  <a:schemeClr val="bg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57" name="Line 10"/>
              <p:cNvSpPr>
                <a:spLocks noChangeShapeType="1"/>
              </p:cNvSpPr>
              <p:nvPr/>
            </p:nvSpPr>
            <p:spPr bwMode="auto">
              <a:xfrm>
                <a:off x="2784" y="864"/>
                <a:ext cx="1248" cy="62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58" name="Line 11"/>
              <p:cNvSpPr>
                <a:spLocks noChangeShapeType="1"/>
              </p:cNvSpPr>
              <p:nvPr/>
            </p:nvSpPr>
            <p:spPr bwMode="auto">
              <a:xfrm>
                <a:off x="3072" y="864"/>
                <a:ext cx="2256" cy="57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59" name="Text Box 12"/>
              <p:cNvSpPr txBox="1">
                <a:spLocks noChangeArrowheads="1"/>
              </p:cNvSpPr>
              <p:nvPr/>
            </p:nvSpPr>
            <p:spPr bwMode="auto">
              <a:xfrm>
                <a:off x="1152" y="864"/>
                <a:ext cx="57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</a:t>
                </a:r>
              </a:p>
            </p:txBody>
          </p:sp>
          <p:sp>
            <p:nvSpPr>
              <p:cNvPr id="34860" name="Text Box 13"/>
              <p:cNvSpPr txBox="1">
                <a:spLocks noChangeArrowheads="1"/>
              </p:cNvSpPr>
              <p:nvPr/>
            </p:nvSpPr>
            <p:spPr bwMode="auto">
              <a:xfrm>
                <a:off x="2880" y="960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34861" name="Text Box 14"/>
              <p:cNvSpPr txBox="1">
                <a:spLocks noChangeArrowheads="1"/>
              </p:cNvSpPr>
              <p:nvPr/>
            </p:nvSpPr>
            <p:spPr bwMode="auto">
              <a:xfrm>
                <a:off x="4128" y="864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#</a:t>
                </a:r>
              </a:p>
            </p:txBody>
          </p:sp>
          <p:sp>
            <p:nvSpPr>
              <p:cNvPr id="34862" name="Oval 15"/>
              <p:cNvSpPr>
                <a:spLocks noChangeArrowheads="1"/>
              </p:cNvSpPr>
              <p:nvPr/>
            </p:nvSpPr>
            <p:spPr bwMode="auto">
              <a:xfrm>
                <a:off x="528" y="216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63" name="Oval 16"/>
              <p:cNvSpPr>
                <a:spLocks noChangeArrowheads="1"/>
              </p:cNvSpPr>
              <p:nvPr/>
            </p:nvSpPr>
            <p:spPr bwMode="auto">
              <a:xfrm>
                <a:off x="1152" y="216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64" name="Text Box 17"/>
              <p:cNvSpPr txBox="1">
                <a:spLocks noChangeArrowheads="1"/>
              </p:cNvSpPr>
              <p:nvPr/>
            </p:nvSpPr>
            <p:spPr bwMode="auto">
              <a:xfrm>
                <a:off x="0" y="1776"/>
                <a:ext cx="81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abbbb#</a:t>
                </a:r>
              </a:p>
            </p:txBody>
          </p:sp>
          <p:sp>
            <p:nvSpPr>
              <p:cNvPr id="34865" name="Line 18"/>
              <p:cNvSpPr>
                <a:spLocks noChangeShapeType="1"/>
              </p:cNvSpPr>
              <p:nvPr/>
            </p:nvSpPr>
            <p:spPr bwMode="auto">
              <a:xfrm flipH="1">
                <a:off x="768" y="1728"/>
                <a:ext cx="0" cy="43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66" name="Line 19"/>
              <p:cNvSpPr>
                <a:spLocks noChangeShapeType="1"/>
              </p:cNvSpPr>
              <p:nvPr/>
            </p:nvSpPr>
            <p:spPr bwMode="auto">
              <a:xfrm flipH="1">
                <a:off x="1440" y="1728"/>
                <a:ext cx="0" cy="43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67" name="Text Box 20"/>
              <p:cNvSpPr txBox="1">
                <a:spLocks noChangeArrowheads="1"/>
              </p:cNvSpPr>
              <p:nvPr/>
            </p:nvSpPr>
            <p:spPr bwMode="auto">
              <a:xfrm>
                <a:off x="1008" y="1776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b#</a:t>
                </a:r>
              </a:p>
            </p:txBody>
          </p:sp>
          <p:sp>
            <p:nvSpPr>
              <p:cNvPr id="34868" name="Oval 21"/>
              <p:cNvSpPr>
                <a:spLocks noChangeArrowheads="1"/>
              </p:cNvSpPr>
              <p:nvPr/>
            </p:nvSpPr>
            <p:spPr bwMode="auto">
              <a:xfrm>
                <a:off x="5136" y="216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69" name="Line 22"/>
              <p:cNvSpPr>
                <a:spLocks noChangeShapeType="1"/>
              </p:cNvSpPr>
              <p:nvPr/>
            </p:nvSpPr>
            <p:spPr bwMode="auto">
              <a:xfrm>
                <a:off x="4416" y="1680"/>
                <a:ext cx="960" cy="48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70" name="Text Box 23"/>
              <p:cNvSpPr txBox="1">
                <a:spLocks noChangeArrowheads="1"/>
              </p:cNvSpPr>
              <p:nvPr/>
            </p:nvSpPr>
            <p:spPr bwMode="auto">
              <a:xfrm>
                <a:off x="4800" y="1584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#</a:t>
                </a:r>
              </a:p>
            </p:txBody>
          </p:sp>
          <p:sp>
            <p:nvSpPr>
              <p:cNvPr id="34871" name="Oval 24"/>
              <p:cNvSpPr>
                <a:spLocks noChangeArrowheads="1"/>
              </p:cNvSpPr>
              <p:nvPr/>
            </p:nvSpPr>
            <p:spPr bwMode="auto">
              <a:xfrm>
                <a:off x="1872" y="2208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72" name="Line 25"/>
              <p:cNvSpPr>
                <a:spLocks noChangeShapeType="1"/>
              </p:cNvSpPr>
              <p:nvPr/>
            </p:nvSpPr>
            <p:spPr bwMode="auto">
              <a:xfrm flipH="1">
                <a:off x="2064" y="1728"/>
                <a:ext cx="1680" cy="48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73" name="Text Box 26"/>
              <p:cNvSpPr txBox="1">
                <a:spLocks noChangeArrowheads="1"/>
              </p:cNvSpPr>
              <p:nvPr/>
            </p:nvSpPr>
            <p:spPr bwMode="auto">
              <a:xfrm>
                <a:off x="2400" y="1584"/>
                <a:ext cx="81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abbbb#</a:t>
                </a:r>
              </a:p>
            </p:txBody>
          </p:sp>
          <p:sp>
            <p:nvSpPr>
              <p:cNvPr id="34874" name="Rectangle 27"/>
              <p:cNvSpPr>
                <a:spLocks noChangeArrowheads="1"/>
              </p:cNvSpPr>
              <p:nvPr/>
            </p:nvSpPr>
            <p:spPr bwMode="auto">
              <a:xfrm>
                <a:off x="4224" y="2160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75" name="Line 28"/>
              <p:cNvSpPr>
                <a:spLocks noChangeShapeType="1"/>
              </p:cNvSpPr>
              <p:nvPr/>
            </p:nvSpPr>
            <p:spPr bwMode="auto">
              <a:xfrm>
                <a:off x="4080" y="1728"/>
                <a:ext cx="480" cy="43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76" name="Text Box 29"/>
              <p:cNvSpPr txBox="1">
                <a:spLocks noChangeArrowheads="1"/>
              </p:cNvSpPr>
              <p:nvPr/>
            </p:nvSpPr>
            <p:spPr bwMode="auto">
              <a:xfrm>
                <a:off x="3984" y="1728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34877" name="Oval 30"/>
              <p:cNvSpPr>
                <a:spLocks noChangeArrowheads="1"/>
              </p:cNvSpPr>
              <p:nvPr/>
            </p:nvSpPr>
            <p:spPr bwMode="auto">
              <a:xfrm>
                <a:off x="5136" y="2688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78" name="Line 31"/>
              <p:cNvSpPr>
                <a:spLocks noChangeShapeType="1"/>
              </p:cNvSpPr>
              <p:nvPr/>
            </p:nvSpPr>
            <p:spPr bwMode="auto">
              <a:xfrm>
                <a:off x="4896" y="2400"/>
                <a:ext cx="480" cy="28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79" name="Text Box 32"/>
              <p:cNvSpPr txBox="1">
                <a:spLocks noChangeArrowheads="1"/>
              </p:cNvSpPr>
              <p:nvPr/>
            </p:nvSpPr>
            <p:spPr bwMode="auto">
              <a:xfrm>
                <a:off x="4896" y="2160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#</a:t>
                </a:r>
              </a:p>
            </p:txBody>
          </p:sp>
          <p:sp>
            <p:nvSpPr>
              <p:cNvPr id="34880" name="Oval 33"/>
              <p:cNvSpPr>
                <a:spLocks noChangeArrowheads="1"/>
              </p:cNvSpPr>
              <p:nvPr/>
            </p:nvSpPr>
            <p:spPr bwMode="auto">
              <a:xfrm>
                <a:off x="2400" y="2784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81" name="Line 34"/>
              <p:cNvSpPr>
                <a:spLocks noChangeShapeType="1"/>
              </p:cNvSpPr>
              <p:nvPr/>
            </p:nvSpPr>
            <p:spPr bwMode="auto">
              <a:xfrm flipH="1">
                <a:off x="2640" y="2400"/>
                <a:ext cx="1584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82" name="Text Box 35"/>
              <p:cNvSpPr txBox="1">
                <a:spLocks noChangeArrowheads="1"/>
              </p:cNvSpPr>
              <p:nvPr/>
            </p:nvSpPr>
            <p:spPr bwMode="auto">
              <a:xfrm>
                <a:off x="2880" y="2208"/>
                <a:ext cx="81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abbbb#</a:t>
                </a:r>
              </a:p>
            </p:txBody>
          </p:sp>
          <p:sp>
            <p:nvSpPr>
              <p:cNvPr id="34883" name="Rectangle 36"/>
              <p:cNvSpPr>
                <a:spLocks noChangeArrowheads="1"/>
              </p:cNvSpPr>
              <p:nvPr/>
            </p:nvSpPr>
            <p:spPr bwMode="auto">
              <a:xfrm>
                <a:off x="4224" y="2832"/>
                <a:ext cx="6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84" name="Oval 37"/>
              <p:cNvSpPr>
                <a:spLocks noChangeArrowheads="1"/>
              </p:cNvSpPr>
              <p:nvPr/>
            </p:nvSpPr>
            <p:spPr bwMode="auto">
              <a:xfrm>
                <a:off x="5136" y="3360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85" name="Line 38"/>
              <p:cNvSpPr>
                <a:spLocks noChangeShapeType="1"/>
              </p:cNvSpPr>
              <p:nvPr/>
            </p:nvSpPr>
            <p:spPr bwMode="auto">
              <a:xfrm>
                <a:off x="4896" y="3072"/>
                <a:ext cx="480" cy="28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86" name="Text Box 39"/>
              <p:cNvSpPr txBox="1">
                <a:spLocks noChangeArrowheads="1"/>
              </p:cNvSpPr>
              <p:nvPr/>
            </p:nvSpPr>
            <p:spPr bwMode="auto">
              <a:xfrm>
                <a:off x="4896" y="2832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#</a:t>
                </a:r>
              </a:p>
            </p:txBody>
          </p:sp>
          <p:sp>
            <p:nvSpPr>
              <p:cNvPr id="34887" name="Oval 40"/>
              <p:cNvSpPr>
                <a:spLocks noChangeArrowheads="1"/>
              </p:cNvSpPr>
              <p:nvPr/>
            </p:nvSpPr>
            <p:spPr bwMode="auto">
              <a:xfrm>
                <a:off x="2400" y="3456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88" name="Line 41"/>
              <p:cNvSpPr>
                <a:spLocks noChangeShapeType="1"/>
              </p:cNvSpPr>
              <p:nvPr/>
            </p:nvSpPr>
            <p:spPr bwMode="auto">
              <a:xfrm flipH="1">
                <a:off x="2640" y="3072"/>
                <a:ext cx="1584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89" name="Text Box 42"/>
              <p:cNvSpPr txBox="1">
                <a:spLocks noChangeArrowheads="1"/>
              </p:cNvSpPr>
              <p:nvPr/>
            </p:nvSpPr>
            <p:spPr bwMode="auto">
              <a:xfrm>
                <a:off x="2880" y="2880"/>
                <a:ext cx="81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abbbb#</a:t>
                </a:r>
              </a:p>
            </p:txBody>
          </p:sp>
          <p:sp>
            <p:nvSpPr>
              <p:cNvPr id="34890" name="Line 43"/>
              <p:cNvSpPr>
                <a:spLocks noChangeShapeType="1"/>
              </p:cNvSpPr>
              <p:nvPr/>
            </p:nvSpPr>
            <p:spPr bwMode="auto">
              <a:xfrm>
                <a:off x="4512" y="2400"/>
                <a:ext cx="0" cy="43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91" name="Text Box 44"/>
              <p:cNvSpPr txBox="1">
                <a:spLocks noChangeArrowheads="1"/>
              </p:cNvSpPr>
              <p:nvPr/>
            </p:nvSpPr>
            <p:spPr bwMode="auto">
              <a:xfrm>
                <a:off x="4272" y="2400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34892" name="Oval 45"/>
              <p:cNvSpPr>
                <a:spLocks noChangeArrowheads="1"/>
              </p:cNvSpPr>
              <p:nvPr/>
            </p:nvSpPr>
            <p:spPr bwMode="auto">
              <a:xfrm>
                <a:off x="4320" y="3456"/>
                <a:ext cx="480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4893" name="Line 46"/>
              <p:cNvSpPr>
                <a:spLocks noChangeShapeType="1"/>
              </p:cNvSpPr>
              <p:nvPr/>
            </p:nvSpPr>
            <p:spPr bwMode="auto">
              <a:xfrm>
                <a:off x="4560" y="3072"/>
                <a:ext cx="0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94" name="Text Box 47"/>
              <p:cNvSpPr txBox="1">
                <a:spLocks noChangeArrowheads="1"/>
              </p:cNvSpPr>
              <p:nvPr/>
            </p:nvSpPr>
            <p:spPr bwMode="auto">
              <a:xfrm>
                <a:off x="4224" y="3072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1"/>
                    </a:solidFill>
                  </a:rPr>
                  <a:t>b#</a:t>
                </a:r>
              </a:p>
            </p:txBody>
          </p:sp>
        </p:grpSp>
        <p:sp>
          <p:nvSpPr>
            <p:cNvPr id="34840" name="Text Box 48"/>
            <p:cNvSpPr txBox="1">
              <a:spLocks noChangeArrowheads="1"/>
            </p:cNvSpPr>
            <p:nvPr/>
          </p:nvSpPr>
          <p:spPr bwMode="auto">
            <a:xfrm>
              <a:off x="192" y="3264"/>
              <a:ext cx="2160" cy="4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4400">
                  <a:solidFill>
                    <a:schemeClr val="tx2"/>
                  </a:solidFill>
                </a:rPr>
                <a:t>abbbabbbb#</a:t>
              </a:r>
            </a:p>
          </p:txBody>
        </p:sp>
        <p:sp>
          <p:nvSpPr>
            <p:cNvPr id="34841" name="Text Box 49"/>
            <p:cNvSpPr txBox="1">
              <a:spLocks noChangeArrowheads="1"/>
            </p:cNvSpPr>
            <p:nvPr/>
          </p:nvSpPr>
          <p:spPr bwMode="auto">
            <a:xfrm>
              <a:off x="192" y="3744"/>
              <a:ext cx="2160" cy="4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4400">
                  <a:solidFill>
                    <a:schemeClr val="hlink"/>
                  </a:solidFill>
                </a:rPr>
                <a:t>12345678910</a:t>
              </a:r>
            </a:p>
          </p:txBody>
        </p:sp>
        <p:sp>
          <p:nvSpPr>
            <p:cNvPr id="34842" name="Text Box 50"/>
            <p:cNvSpPr txBox="1">
              <a:spLocks noChangeArrowheads="1"/>
            </p:cNvSpPr>
            <p:nvPr/>
          </p:nvSpPr>
          <p:spPr bwMode="auto">
            <a:xfrm>
              <a:off x="672" y="2112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34843" name="Text Box 51"/>
            <p:cNvSpPr txBox="1">
              <a:spLocks noChangeArrowheads="1"/>
            </p:cNvSpPr>
            <p:nvPr/>
          </p:nvSpPr>
          <p:spPr bwMode="auto">
            <a:xfrm>
              <a:off x="1296" y="2112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5</a:t>
              </a:r>
            </a:p>
          </p:txBody>
        </p:sp>
        <p:sp>
          <p:nvSpPr>
            <p:cNvPr id="34844" name="Text Box 52"/>
            <p:cNvSpPr txBox="1">
              <a:spLocks noChangeArrowheads="1"/>
            </p:cNvSpPr>
            <p:nvPr/>
          </p:nvSpPr>
          <p:spPr bwMode="auto">
            <a:xfrm>
              <a:off x="2016" y="2160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4</a:t>
              </a:r>
            </a:p>
          </p:txBody>
        </p:sp>
        <p:sp>
          <p:nvSpPr>
            <p:cNvPr id="34845" name="Text Box 53"/>
            <p:cNvSpPr txBox="1">
              <a:spLocks noChangeArrowheads="1"/>
            </p:cNvSpPr>
            <p:nvPr/>
          </p:nvSpPr>
          <p:spPr bwMode="auto">
            <a:xfrm>
              <a:off x="2544" y="2736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3</a:t>
              </a:r>
            </a:p>
          </p:txBody>
        </p:sp>
        <p:sp>
          <p:nvSpPr>
            <p:cNvPr id="34846" name="Text Box 54"/>
            <p:cNvSpPr txBox="1">
              <a:spLocks noChangeArrowheads="1"/>
            </p:cNvSpPr>
            <p:nvPr/>
          </p:nvSpPr>
          <p:spPr bwMode="auto">
            <a:xfrm>
              <a:off x="2544" y="3408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2</a:t>
              </a:r>
            </a:p>
          </p:txBody>
        </p:sp>
        <p:sp>
          <p:nvSpPr>
            <p:cNvPr id="34847" name="Text Box 55"/>
            <p:cNvSpPr txBox="1">
              <a:spLocks noChangeArrowheads="1"/>
            </p:cNvSpPr>
            <p:nvPr/>
          </p:nvSpPr>
          <p:spPr bwMode="auto">
            <a:xfrm>
              <a:off x="4464" y="3408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6</a:t>
              </a:r>
            </a:p>
          </p:txBody>
        </p:sp>
        <p:sp>
          <p:nvSpPr>
            <p:cNvPr id="34848" name="Text Box 56"/>
            <p:cNvSpPr txBox="1">
              <a:spLocks noChangeArrowheads="1"/>
            </p:cNvSpPr>
            <p:nvPr/>
          </p:nvSpPr>
          <p:spPr bwMode="auto">
            <a:xfrm>
              <a:off x="5280" y="3360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7</a:t>
              </a:r>
            </a:p>
          </p:txBody>
        </p:sp>
        <p:sp>
          <p:nvSpPr>
            <p:cNvPr id="34849" name="Text Box 57"/>
            <p:cNvSpPr txBox="1">
              <a:spLocks noChangeArrowheads="1"/>
            </p:cNvSpPr>
            <p:nvPr/>
          </p:nvSpPr>
          <p:spPr bwMode="auto">
            <a:xfrm>
              <a:off x="5280" y="2640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8</a:t>
              </a:r>
            </a:p>
          </p:txBody>
        </p:sp>
        <p:sp>
          <p:nvSpPr>
            <p:cNvPr id="34850" name="Text Box 58"/>
            <p:cNvSpPr txBox="1">
              <a:spLocks noChangeArrowheads="1"/>
            </p:cNvSpPr>
            <p:nvPr/>
          </p:nvSpPr>
          <p:spPr bwMode="auto">
            <a:xfrm>
              <a:off x="5280" y="2112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9</a:t>
              </a:r>
            </a:p>
          </p:txBody>
        </p:sp>
        <p:sp>
          <p:nvSpPr>
            <p:cNvPr id="34851" name="Text Box 59"/>
            <p:cNvSpPr txBox="1">
              <a:spLocks noChangeArrowheads="1"/>
            </p:cNvSpPr>
            <p:nvPr/>
          </p:nvSpPr>
          <p:spPr bwMode="auto">
            <a:xfrm>
              <a:off x="5232" y="1392"/>
              <a:ext cx="5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10</a:t>
              </a:r>
            </a:p>
          </p:txBody>
        </p:sp>
      </p:grpSp>
      <p:sp>
        <p:nvSpPr>
          <p:cNvPr id="367676" name="Text Box 60"/>
          <p:cNvSpPr txBox="1">
            <a:spLocks noChangeArrowheads="1"/>
          </p:cNvSpPr>
          <p:nvPr/>
        </p:nvSpPr>
        <p:spPr bwMode="auto">
          <a:xfrm>
            <a:off x="5029200" y="6172200"/>
            <a:ext cx="1600200" cy="5794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67689" name="Text Box 73"/>
          <p:cNvSpPr txBox="1">
            <a:spLocks noChangeArrowheads="1"/>
          </p:cNvSpPr>
          <p:nvPr/>
        </p:nvSpPr>
        <p:spPr bwMode="auto">
          <a:xfrm>
            <a:off x="6781800" y="6202363"/>
            <a:ext cx="1600200" cy="5794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7693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7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7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7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7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676" grpId="0" animBg="1" autoUpdateAnimBg="0"/>
      <p:bldP spid="367689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IN" dirty="0"/>
              <a:t>GRAPHS 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0721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ChangeArrowheads="1"/>
          </p:cNvSpPr>
          <p:nvPr/>
        </p:nvSpPr>
        <p:spPr bwMode="auto">
          <a:xfrm>
            <a:off x="923925" y="239713"/>
            <a:ext cx="822007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 algn="l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defRPr>
            </a:lvl1pPr>
            <a:lvl2pPr algn="l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defRPr>
            </a:lvl2pPr>
            <a:lvl3pPr algn="l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defRPr>
            </a:lvl3pPr>
            <a:lvl4pPr algn="l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defRPr>
            </a:lvl4pPr>
            <a:lvl5pPr algn="l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defRPr>
            </a:lvl9pPr>
          </a:lstStyle>
          <a:p>
            <a:pPr algn="ctr"/>
            <a:r>
              <a:rPr lang="en-US" altLang="zh-TW"/>
              <a:t>Definition</a:t>
            </a:r>
          </a:p>
        </p:txBody>
      </p:sp>
      <p:sp>
        <p:nvSpPr>
          <p:cNvPr id="46084" name="Rectangle 4"/>
          <p:cNvSpPr>
            <a:spLocks noChangeArrowheads="1"/>
          </p:cNvSpPr>
          <p:nvPr/>
        </p:nvSpPr>
        <p:spPr bwMode="auto">
          <a:xfrm>
            <a:off x="958850" y="1312863"/>
            <a:ext cx="8991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charset="-120"/>
              </a:defRPr>
            </a:lvl1pPr>
            <a:lvl2pPr marL="742950" indent="-285750" algn="l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charset="-120"/>
              </a:defRPr>
            </a:lvl2pPr>
            <a:lvl3pPr marL="1143000" indent="-228600" algn="l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charset="-120"/>
              </a:defRPr>
            </a:lvl3pPr>
            <a:lvl4pPr marL="1600200" indent="-228600" algn="l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charset="-120"/>
              </a:defRPr>
            </a:lvl4pPr>
            <a:lvl5pPr marL="2057400" indent="-228600" algn="l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charset="-12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charset="-12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charset="-12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charset="-12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charset="-120"/>
              </a:defRPr>
            </a:lvl9pPr>
          </a:lstStyle>
          <a:p>
            <a:r>
              <a:rPr lang="en-US" altLang="zh-TW">
                <a:solidFill>
                  <a:srgbClr val="CC3300"/>
                </a:solidFill>
              </a:rPr>
              <a:t>A graph</a:t>
            </a:r>
            <a:r>
              <a:rPr lang="en-US" altLang="zh-TW"/>
              <a:t> G consists of two sets</a:t>
            </a:r>
          </a:p>
          <a:p>
            <a:pPr lvl="1"/>
            <a:r>
              <a:rPr lang="en-US" altLang="zh-TW"/>
              <a:t>a finite, nonempty set of vertices V(G)</a:t>
            </a:r>
          </a:p>
          <a:p>
            <a:pPr lvl="1"/>
            <a:r>
              <a:rPr lang="en-US" altLang="zh-TW"/>
              <a:t>a finite, possible empty set of edges E(G)</a:t>
            </a:r>
          </a:p>
          <a:p>
            <a:pPr lvl="1"/>
            <a:r>
              <a:rPr lang="en-US" altLang="zh-TW"/>
              <a:t>G(V,E) represents a graph</a:t>
            </a:r>
          </a:p>
          <a:p>
            <a:r>
              <a:rPr lang="en-US" altLang="zh-TW"/>
              <a:t>An </a:t>
            </a:r>
            <a:r>
              <a:rPr lang="en-US" altLang="zh-TW">
                <a:solidFill>
                  <a:srgbClr val="CC3300"/>
                </a:solidFill>
              </a:rPr>
              <a:t>undirected graph</a:t>
            </a:r>
            <a:r>
              <a:rPr lang="en-US" altLang="zh-TW"/>
              <a:t> is one in which the pair of vertices in a edge is unordered, (v</a:t>
            </a:r>
            <a:r>
              <a:rPr lang="en-US" altLang="zh-TW" sz="1800"/>
              <a:t>0</a:t>
            </a:r>
            <a:r>
              <a:rPr lang="en-US" altLang="zh-TW"/>
              <a:t>, v</a:t>
            </a:r>
            <a:r>
              <a:rPr lang="en-US" altLang="zh-TW" sz="1800"/>
              <a:t>1</a:t>
            </a:r>
            <a:r>
              <a:rPr lang="en-US" altLang="zh-TW"/>
              <a:t>) = (v</a:t>
            </a:r>
            <a:r>
              <a:rPr lang="en-US" altLang="zh-TW" sz="1800"/>
              <a:t>1</a:t>
            </a:r>
            <a:r>
              <a:rPr lang="en-US" altLang="zh-TW"/>
              <a:t>,v</a:t>
            </a:r>
            <a:r>
              <a:rPr lang="en-US" altLang="zh-TW" sz="1800"/>
              <a:t>0</a:t>
            </a:r>
            <a:r>
              <a:rPr lang="en-US" altLang="zh-TW"/>
              <a:t>) </a:t>
            </a:r>
          </a:p>
          <a:p>
            <a:r>
              <a:rPr lang="en-US" altLang="zh-TW"/>
              <a:t>A </a:t>
            </a:r>
            <a:r>
              <a:rPr lang="en-US" altLang="zh-TW">
                <a:solidFill>
                  <a:srgbClr val="CC3300"/>
                </a:solidFill>
              </a:rPr>
              <a:t>directed graph</a:t>
            </a:r>
            <a:r>
              <a:rPr lang="en-US" altLang="zh-TW"/>
              <a:t> is one in which each edge is a directed pair of vertices, &lt;v</a:t>
            </a:r>
            <a:r>
              <a:rPr lang="en-US" altLang="zh-TW" sz="1800"/>
              <a:t>0</a:t>
            </a:r>
            <a:r>
              <a:rPr lang="en-US" altLang="zh-TW"/>
              <a:t>, v</a:t>
            </a:r>
            <a:r>
              <a:rPr lang="en-US" altLang="zh-TW" sz="1800"/>
              <a:t>1</a:t>
            </a:r>
            <a:r>
              <a:rPr lang="en-US" altLang="zh-TW"/>
              <a:t>&gt; != &lt;v</a:t>
            </a:r>
            <a:r>
              <a:rPr lang="en-US" altLang="zh-TW" sz="1800"/>
              <a:t>1</a:t>
            </a:r>
            <a:r>
              <a:rPr lang="en-US" altLang="zh-TW"/>
              <a:t>,v</a:t>
            </a:r>
            <a:r>
              <a:rPr lang="en-US" altLang="zh-TW" sz="1800"/>
              <a:t>0</a:t>
            </a:r>
            <a:r>
              <a:rPr lang="en-US" altLang="zh-TW"/>
              <a:t>&gt;</a:t>
            </a:r>
          </a:p>
        </p:txBody>
      </p:sp>
      <p:sp>
        <p:nvSpPr>
          <p:cNvPr id="46085" name="Line 5"/>
          <p:cNvSpPr>
            <a:spLocks noChangeShapeType="1"/>
          </p:cNvSpPr>
          <p:nvPr/>
        </p:nvSpPr>
        <p:spPr bwMode="auto">
          <a:xfrm>
            <a:off x="5468938" y="5978525"/>
            <a:ext cx="21701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5168900" y="5573713"/>
            <a:ext cx="571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TW" sz="2400">
                <a:ea typeface="新細明體" charset="-120"/>
              </a:rPr>
              <a:t>tail</a:t>
            </a:r>
          </a:p>
        </p:txBody>
      </p:sp>
      <p:sp>
        <p:nvSpPr>
          <p:cNvPr id="46089" name="Text Box 9"/>
          <p:cNvSpPr txBox="1">
            <a:spLocks noChangeArrowheads="1"/>
          </p:cNvSpPr>
          <p:nvPr/>
        </p:nvSpPr>
        <p:spPr bwMode="auto">
          <a:xfrm>
            <a:off x="7207250" y="5591175"/>
            <a:ext cx="758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TW" sz="2400">
                <a:ea typeface="新細明體" charset="-120"/>
              </a:rPr>
              <a:t>head</a:t>
            </a:r>
          </a:p>
        </p:txBody>
      </p:sp>
    </p:spTree>
    <p:extLst>
      <p:ext uri="{BB962C8B-B14F-4D97-AF65-F5344CB8AC3E}">
        <p14:creationId xmlns:p14="http://schemas.microsoft.com/office/powerpoint/2010/main" val="3832822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1027"/>
          <p:cNvSpPr>
            <a:spLocks noChangeArrowheads="1"/>
          </p:cNvSpPr>
          <p:nvPr/>
        </p:nvSpPr>
        <p:spPr bwMode="auto">
          <a:xfrm>
            <a:off x="693738" y="0"/>
            <a:ext cx="8450262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 algn="l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defRPr>
            </a:lvl1pPr>
            <a:lvl2pPr algn="l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defRPr>
            </a:lvl2pPr>
            <a:lvl3pPr algn="l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defRPr>
            </a:lvl3pPr>
            <a:lvl4pPr algn="l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defRPr>
            </a:lvl4pPr>
            <a:lvl5pPr algn="l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defRPr>
            </a:lvl9pPr>
          </a:lstStyle>
          <a:p>
            <a:pPr algn="ctr"/>
            <a:r>
              <a:rPr lang="en-US" altLang="zh-TW"/>
              <a:t>Examples for Graph</a:t>
            </a:r>
          </a:p>
        </p:txBody>
      </p:sp>
      <p:sp>
        <p:nvSpPr>
          <p:cNvPr id="47108" name="Oval 1028"/>
          <p:cNvSpPr>
            <a:spLocks noChangeArrowheads="1"/>
          </p:cNvSpPr>
          <p:nvPr/>
        </p:nvSpPr>
        <p:spPr bwMode="auto">
          <a:xfrm>
            <a:off x="1744663" y="10477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新細明體" charset="-120"/>
              </a:rPr>
              <a:t>0</a:t>
            </a:r>
          </a:p>
        </p:txBody>
      </p:sp>
      <p:sp>
        <p:nvSpPr>
          <p:cNvPr id="47109" name="Oval 1029"/>
          <p:cNvSpPr>
            <a:spLocks noChangeArrowheads="1"/>
          </p:cNvSpPr>
          <p:nvPr/>
        </p:nvSpPr>
        <p:spPr bwMode="auto">
          <a:xfrm>
            <a:off x="1058863" y="18097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新細明體" charset="-120"/>
              </a:rPr>
              <a:t>1</a:t>
            </a:r>
          </a:p>
        </p:txBody>
      </p:sp>
      <p:sp>
        <p:nvSpPr>
          <p:cNvPr id="47110" name="Oval 1030"/>
          <p:cNvSpPr>
            <a:spLocks noChangeArrowheads="1"/>
          </p:cNvSpPr>
          <p:nvPr/>
        </p:nvSpPr>
        <p:spPr bwMode="auto">
          <a:xfrm>
            <a:off x="2430463" y="18097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新細明體" charset="-120"/>
              </a:rPr>
              <a:t>2</a:t>
            </a:r>
          </a:p>
        </p:txBody>
      </p:sp>
      <p:sp>
        <p:nvSpPr>
          <p:cNvPr id="47111" name="Oval 1031"/>
          <p:cNvSpPr>
            <a:spLocks noChangeArrowheads="1"/>
          </p:cNvSpPr>
          <p:nvPr/>
        </p:nvSpPr>
        <p:spPr bwMode="auto">
          <a:xfrm>
            <a:off x="1744663" y="24193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新細明體" charset="-120"/>
              </a:rPr>
              <a:t>3</a:t>
            </a:r>
          </a:p>
        </p:txBody>
      </p:sp>
      <p:sp>
        <p:nvSpPr>
          <p:cNvPr id="47112" name="Line 1032"/>
          <p:cNvSpPr>
            <a:spLocks noChangeShapeType="1"/>
          </p:cNvSpPr>
          <p:nvPr/>
        </p:nvSpPr>
        <p:spPr bwMode="auto">
          <a:xfrm>
            <a:off x="1966913" y="1498600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113" name="Line 1033"/>
          <p:cNvSpPr>
            <a:spLocks noChangeShapeType="1"/>
          </p:cNvSpPr>
          <p:nvPr/>
        </p:nvSpPr>
        <p:spPr bwMode="auto">
          <a:xfrm>
            <a:off x="1509713" y="20320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114" name="Line 1034"/>
          <p:cNvSpPr>
            <a:spLocks noChangeShapeType="1"/>
          </p:cNvSpPr>
          <p:nvPr/>
        </p:nvSpPr>
        <p:spPr bwMode="auto">
          <a:xfrm flipH="1">
            <a:off x="1398588" y="1422400"/>
            <a:ext cx="407987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115" name="Line 1035"/>
          <p:cNvSpPr>
            <a:spLocks noChangeShapeType="1"/>
          </p:cNvSpPr>
          <p:nvPr/>
        </p:nvSpPr>
        <p:spPr bwMode="auto">
          <a:xfrm>
            <a:off x="2119313" y="1422400"/>
            <a:ext cx="422275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116" name="Line 1036"/>
          <p:cNvSpPr>
            <a:spLocks noChangeShapeType="1"/>
          </p:cNvSpPr>
          <p:nvPr/>
        </p:nvSpPr>
        <p:spPr bwMode="auto">
          <a:xfrm>
            <a:off x="1384300" y="2238375"/>
            <a:ext cx="354013" cy="3127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117" name="Line 1037"/>
          <p:cNvSpPr>
            <a:spLocks noChangeShapeType="1"/>
          </p:cNvSpPr>
          <p:nvPr/>
        </p:nvSpPr>
        <p:spPr bwMode="auto">
          <a:xfrm flipH="1">
            <a:off x="2173288" y="2211388"/>
            <a:ext cx="327025" cy="339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118" name="Oval 1038"/>
          <p:cNvSpPr>
            <a:spLocks noChangeArrowheads="1"/>
          </p:cNvSpPr>
          <p:nvPr/>
        </p:nvSpPr>
        <p:spPr bwMode="auto">
          <a:xfrm>
            <a:off x="8440738" y="101917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新細明體" charset="-120"/>
              </a:rPr>
              <a:t>0</a:t>
            </a:r>
          </a:p>
        </p:txBody>
      </p:sp>
      <p:sp>
        <p:nvSpPr>
          <p:cNvPr id="47119" name="Oval 1039"/>
          <p:cNvSpPr>
            <a:spLocks noChangeArrowheads="1"/>
          </p:cNvSpPr>
          <p:nvPr/>
        </p:nvSpPr>
        <p:spPr bwMode="auto">
          <a:xfrm>
            <a:off x="8439150" y="212248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新細明體" charset="-120"/>
              </a:rPr>
              <a:t>1</a:t>
            </a:r>
          </a:p>
        </p:txBody>
      </p:sp>
      <p:sp>
        <p:nvSpPr>
          <p:cNvPr id="47120" name="Oval 1040"/>
          <p:cNvSpPr>
            <a:spLocks noChangeArrowheads="1"/>
          </p:cNvSpPr>
          <p:nvPr/>
        </p:nvSpPr>
        <p:spPr bwMode="auto">
          <a:xfrm>
            <a:off x="8455025" y="314166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新細明體" charset="-120"/>
              </a:rPr>
              <a:t>2</a:t>
            </a:r>
          </a:p>
        </p:txBody>
      </p:sp>
      <p:sp>
        <p:nvSpPr>
          <p:cNvPr id="47121" name="Line 1041"/>
          <p:cNvSpPr>
            <a:spLocks noChangeShapeType="1"/>
          </p:cNvSpPr>
          <p:nvPr/>
        </p:nvSpPr>
        <p:spPr bwMode="auto">
          <a:xfrm>
            <a:off x="8677275" y="2578100"/>
            <a:ext cx="0" cy="558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122" name="Line 1042"/>
          <p:cNvSpPr>
            <a:spLocks noChangeShapeType="1"/>
          </p:cNvSpPr>
          <p:nvPr/>
        </p:nvSpPr>
        <p:spPr bwMode="auto">
          <a:xfrm flipV="1">
            <a:off x="8855075" y="1408113"/>
            <a:ext cx="0" cy="720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123" name="Line 1043"/>
          <p:cNvSpPr>
            <a:spLocks noChangeShapeType="1"/>
          </p:cNvSpPr>
          <p:nvPr/>
        </p:nvSpPr>
        <p:spPr bwMode="auto">
          <a:xfrm>
            <a:off x="8486775" y="1435100"/>
            <a:ext cx="0" cy="7350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124" name="Oval 1044"/>
          <p:cNvSpPr>
            <a:spLocks noChangeArrowheads="1"/>
          </p:cNvSpPr>
          <p:nvPr/>
        </p:nvSpPr>
        <p:spPr bwMode="auto">
          <a:xfrm>
            <a:off x="5191125" y="109220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新細明體" charset="-120"/>
              </a:rPr>
              <a:t>0</a:t>
            </a:r>
          </a:p>
        </p:txBody>
      </p:sp>
      <p:sp>
        <p:nvSpPr>
          <p:cNvPr id="47125" name="Oval 1045"/>
          <p:cNvSpPr>
            <a:spLocks noChangeArrowheads="1"/>
          </p:cNvSpPr>
          <p:nvPr/>
        </p:nvSpPr>
        <p:spPr bwMode="auto">
          <a:xfrm>
            <a:off x="4505325" y="185420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新細明體" charset="-120"/>
              </a:rPr>
              <a:t>1</a:t>
            </a:r>
          </a:p>
        </p:txBody>
      </p:sp>
      <p:sp>
        <p:nvSpPr>
          <p:cNvPr id="47126" name="Oval 1046"/>
          <p:cNvSpPr>
            <a:spLocks noChangeArrowheads="1"/>
          </p:cNvSpPr>
          <p:nvPr/>
        </p:nvSpPr>
        <p:spPr bwMode="auto">
          <a:xfrm>
            <a:off x="5876925" y="185420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新細明體" charset="-120"/>
              </a:rPr>
              <a:t>2</a:t>
            </a:r>
          </a:p>
        </p:txBody>
      </p:sp>
      <p:sp>
        <p:nvSpPr>
          <p:cNvPr id="47127" name="Line 1047"/>
          <p:cNvSpPr>
            <a:spLocks noChangeShapeType="1"/>
          </p:cNvSpPr>
          <p:nvPr/>
        </p:nvSpPr>
        <p:spPr bwMode="auto">
          <a:xfrm flipH="1">
            <a:off x="4845050" y="1466850"/>
            <a:ext cx="407988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128" name="Line 1048"/>
          <p:cNvSpPr>
            <a:spLocks noChangeShapeType="1"/>
          </p:cNvSpPr>
          <p:nvPr/>
        </p:nvSpPr>
        <p:spPr bwMode="auto">
          <a:xfrm>
            <a:off x="5565775" y="1466850"/>
            <a:ext cx="422275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129" name="Oval 1049"/>
          <p:cNvSpPr>
            <a:spLocks noChangeArrowheads="1"/>
          </p:cNvSpPr>
          <p:nvPr/>
        </p:nvSpPr>
        <p:spPr bwMode="auto">
          <a:xfrm>
            <a:off x="4122738" y="275113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新細明體" charset="-120"/>
              </a:rPr>
              <a:t>3</a:t>
            </a:r>
          </a:p>
        </p:txBody>
      </p:sp>
      <p:sp>
        <p:nvSpPr>
          <p:cNvPr id="47130" name="Oval 1050"/>
          <p:cNvSpPr>
            <a:spLocks noChangeArrowheads="1"/>
          </p:cNvSpPr>
          <p:nvPr/>
        </p:nvSpPr>
        <p:spPr bwMode="auto">
          <a:xfrm>
            <a:off x="4883150" y="276383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新細明體" charset="-120"/>
              </a:rPr>
              <a:t>4</a:t>
            </a:r>
          </a:p>
        </p:txBody>
      </p:sp>
      <p:sp>
        <p:nvSpPr>
          <p:cNvPr id="47131" name="Line 1051"/>
          <p:cNvSpPr>
            <a:spLocks noChangeShapeType="1"/>
          </p:cNvSpPr>
          <p:nvPr/>
        </p:nvSpPr>
        <p:spPr bwMode="auto">
          <a:xfrm flipH="1">
            <a:off x="4349750" y="2295525"/>
            <a:ext cx="263525" cy="460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132" name="Line 1052"/>
          <p:cNvSpPr>
            <a:spLocks noChangeShapeType="1"/>
          </p:cNvSpPr>
          <p:nvPr/>
        </p:nvSpPr>
        <p:spPr bwMode="auto">
          <a:xfrm>
            <a:off x="4800600" y="2309813"/>
            <a:ext cx="298450" cy="4587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133" name="Oval 1053"/>
          <p:cNvSpPr>
            <a:spLocks noChangeArrowheads="1"/>
          </p:cNvSpPr>
          <p:nvPr/>
        </p:nvSpPr>
        <p:spPr bwMode="auto">
          <a:xfrm>
            <a:off x="5527675" y="275272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新細明體" charset="-120"/>
              </a:rPr>
              <a:t>5</a:t>
            </a:r>
          </a:p>
        </p:txBody>
      </p:sp>
      <p:sp>
        <p:nvSpPr>
          <p:cNvPr id="47134" name="Oval 1054"/>
          <p:cNvSpPr>
            <a:spLocks noChangeArrowheads="1"/>
          </p:cNvSpPr>
          <p:nvPr/>
        </p:nvSpPr>
        <p:spPr bwMode="auto">
          <a:xfrm>
            <a:off x="6272213" y="275113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新細明體" charset="-120"/>
              </a:rPr>
              <a:t>6</a:t>
            </a:r>
          </a:p>
        </p:txBody>
      </p:sp>
      <p:sp>
        <p:nvSpPr>
          <p:cNvPr id="47135" name="Line 1055"/>
          <p:cNvSpPr>
            <a:spLocks noChangeShapeType="1"/>
          </p:cNvSpPr>
          <p:nvPr/>
        </p:nvSpPr>
        <p:spPr bwMode="auto">
          <a:xfrm flipH="1">
            <a:off x="5724525" y="2279650"/>
            <a:ext cx="273050" cy="461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136" name="Line 1056"/>
          <p:cNvSpPr>
            <a:spLocks noChangeShapeType="1"/>
          </p:cNvSpPr>
          <p:nvPr/>
        </p:nvSpPr>
        <p:spPr bwMode="auto">
          <a:xfrm>
            <a:off x="6200775" y="2292350"/>
            <a:ext cx="273050" cy="4492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137" name="Rectangle 1057"/>
          <p:cNvSpPr>
            <a:spLocks noChangeArrowheads="1"/>
          </p:cNvSpPr>
          <p:nvPr/>
        </p:nvSpPr>
        <p:spPr bwMode="auto">
          <a:xfrm>
            <a:off x="1671638" y="3063875"/>
            <a:ext cx="555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新細明體" charset="-120"/>
              </a:rPr>
              <a:t>G</a:t>
            </a:r>
            <a:r>
              <a:rPr lang="en-US" altLang="zh-TW" sz="1800">
                <a:solidFill>
                  <a:schemeClr val="tx1"/>
                </a:solidFill>
                <a:ea typeface="新細明體" charset="-120"/>
              </a:rPr>
              <a:t>1</a:t>
            </a:r>
          </a:p>
        </p:txBody>
      </p:sp>
      <p:sp>
        <p:nvSpPr>
          <p:cNvPr id="47138" name="Rectangle 1058"/>
          <p:cNvSpPr>
            <a:spLocks noChangeArrowheads="1"/>
          </p:cNvSpPr>
          <p:nvPr/>
        </p:nvSpPr>
        <p:spPr bwMode="auto">
          <a:xfrm>
            <a:off x="5143500" y="3325813"/>
            <a:ext cx="5556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新細明體" charset="-120"/>
              </a:rPr>
              <a:t>G</a:t>
            </a:r>
            <a:r>
              <a:rPr lang="en-US" altLang="zh-TW" sz="1800">
                <a:solidFill>
                  <a:schemeClr val="tx1"/>
                </a:solidFill>
                <a:ea typeface="新細明體" charset="-120"/>
              </a:rPr>
              <a:t>2</a:t>
            </a:r>
          </a:p>
        </p:txBody>
      </p:sp>
      <p:sp>
        <p:nvSpPr>
          <p:cNvPr id="47139" name="Rectangle 1059"/>
          <p:cNvSpPr>
            <a:spLocks noChangeArrowheads="1"/>
          </p:cNvSpPr>
          <p:nvPr/>
        </p:nvSpPr>
        <p:spPr bwMode="auto">
          <a:xfrm>
            <a:off x="8491538" y="3624263"/>
            <a:ext cx="5556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新細明體" charset="-120"/>
              </a:rPr>
              <a:t>G</a:t>
            </a:r>
            <a:r>
              <a:rPr lang="en-US" altLang="zh-TW" sz="1800">
                <a:solidFill>
                  <a:schemeClr val="tx1"/>
                </a:solidFill>
                <a:ea typeface="新細明體" charset="-120"/>
              </a:rPr>
              <a:t>3</a:t>
            </a:r>
          </a:p>
        </p:txBody>
      </p:sp>
      <p:sp>
        <p:nvSpPr>
          <p:cNvPr id="47140" name="Rectangle 1060"/>
          <p:cNvSpPr>
            <a:spLocks noChangeArrowheads="1"/>
          </p:cNvSpPr>
          <p:nvPr/>
        </p:nvSpPr>
        <p:spPr bwMode="auto">
          <a:xfrm>
            <a:off x="708025" y="4167188"/>
            <a:ext cx="843597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400">
                <a:solidFill>
                  <a:schemeClr val="tx1"/>
                </a:solidFill>
                <a:ea typeface="新細明體" charset="-120"/>
              </a:rPr>
              <a:t>V(G</a:t>
            </a:r>
            <a:r>
              <a:rPr lang="en-US" altLang="zh-TW" sz="1600">
                <a:solidFill>
                  <a:schemeClr val="tx1"/>
                </a:solidFill>
                <a:ea typeface="新細明體" charset="-120"/>
              </a:rPr>
              <a:t>1</a:t>
            </a:r>
            <a:r>
              <a:rPr lang="en-US" altLang="zh-TW" sz="2400">
                <a:solidFill>
                  <a:schemeClr val="tx1"/>
                </a:solidFill>
                <a:ea typeface="新細明體" charset="-120"/>
              </a:rPr>
              <a:t>)={0,1,2,3}               E(G</a:t>
            </a:r>
            <a:r>
              <a:rPr lang="en-US" altLang="zh-TW" sz="1600">
                <a:solidFill>
                  <a:schemeClr val="tx1"/>
                </a:solidFill>
                <a:ea typeface="新細明體" charset="-120"/>
              </a:rPr>
              <a:t>1</a:t>
            </a:r>
            <a:r>
              <a:rPr lang="en-US" altLang="zh-TW" sz="2400">
                <a:solidFill>
                  <a:schemeClr val="tx1"/>
                </a:solidFill>
                <a:ea typeface="新細明體" charset="-120"/>
              </a:rPr>
              <a:t>)={(0,1),(0,2),(0,3),(1,2),(1,3),(2,3)}</a:t>
            </a:r>
          </a:p>
          <a:p>
            <a:pPr algn="l" eaLnBrk="0" hangingPunct="0"/>
            <a:r>
              <a:rPr lang="en-US" altLang="zh-TW" sz="2400">
                <a:solidFill>
                  <a:schemeClr val="tx1"/>
                </a:solidFill>
                <a:ea typeface="新細明體" charset="-120"/>
              </a:rPr>
              <a:t>V(G</a:t>
            </a:r>
            <a:r>
              <a:rPr lang="en-US" altLang="zh-TW" sz="1600">
                <a:solidFill>
                  <a:schemeClr val="tx1"/>
                </a:solidFill>
                <a:ea typeface="新細明體" charset="-120"/>
              </a:rPr>
              <a:t>2</a:t>
            </a:r>
            <a:r>
              <a:rPr lang="en-US" altLang="zh-TW" sz="2400">
                <a:solidFill>
                  <a:schemeClr val="tx1"/>
                </a:solidFill>
                <a:ea typeface="新細明體" charset="-120"/>
              </a:rPr>
              <a:t>)={0,1,2,3,4,5,6}      E(G</a:t>
            </a:r>
            <a:r>
              <a:rPr lang="en-US" altLang="zh-TW" sz="1600">
                <a:solidFill>
                  <a:schemeClr val="tx1"/>
                </a:solidFill>
                <a:ea typeface="新細明體" charset="-120"/>
              </a:rPr>
              <a:t>2</a:t>
            </a:r>
            <a:r>
              <a:rPr lang="en-US" altLang="zh-TW" sz="2400">
                <a:solidFill>
                  <a:schemeClr val="tx1"/>
                </a:solidFill>
                <a:ea typeface="新細明體" charset="-120"/>
              </a:rPr>
              <a:t>)={(0,1),(0,2),(1,3),(1,4),(2,5),(2,6)}</a:t>
            </a:r>
          </a:p>
          <a:p>
            <a:pPr algn="l" eaLnBrk="0" hangingPunct="0"/>
            <a:r>
              <a:rPr lang="en-US" altLang="zh-TW" sz="2400">
                <a:solidFill>
                  <a:schemeClr val="tx1"/>
                </a:solidFill>
                <a:ea typeface="新細明體" charset="-120"/>
              </a:rPr>
              <a:t>V(G</a:t>
            </a:r>
            <a:r>
              <a:rPr lang="en-US" altLang="zh-TW" sz="1600">
                <a:solidFill>
                  <a:schemeClr val="tx1"/>
                </a:solidFill>
                <a:ea typeface="新細明體" charset="-120"/>
              </a:rPr>
              <a:t>3</a:t>
            </a:r>
            <a:r>
              <a:rPr lang="en-US" altLang="zh-TW" sz="2400">
                <a:solidFill>
                  <a:schemeClr val="tx1"/>
                </a:solidFill>
                <a:ea typeface="新細明體" charset="-120"/>
              </a:rPr>
              <a:t>)={0,1,2}                  E(G</a:t>
            </a:r>
            <a:r>
              <a:rPr lang="en-US" altLang="zh-TW" sz="1600">
                <a:solidFill>
                  <a:schemeClr val="tx1"/>
                </a:solidFill>
                <a:ea typeface="新細明體" charset="-120"/>
              </a:rPr>
              <a:t>3</a:t>
            </a:r>
            <a:r>
              <a:rPr lang="en-US" altLang="zh-TW" sz="2400">
                <a:solidFill>
                  <a:schemeClr val="tx1"/>
                </a:solidFill>
                <a:ea typeface="新細明體" charset="-120"/>
              </a:rPr>
              <a:t>)={&lt;0,1&gt;,&lt;1,0&gt;,&lt;1,2&gt;}</a:t>
            </a:r>
          </a:p>
        </p:txBody>
      </p:sp>
      <p:sp>
        <p:nvSpPr>
          <p:cNvPr id="47141" name="Text Box 1061"/>
          <p:cNvSpPr txBox="1">
            <a:spLocks noChangeArrowheads="1"/>
          </p:cNvSpPr>
          <p:nvPr/>
        </p:nvSpPr>
        <p:spPr bwMode="auto">
          <a:xfrm>
            <a:off x="860425" y="5408613"/>
            <a:ext cx="53578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2"/>
                </a:solidFill>
                <a:ea typeface="新細明體" charset="-120"/>
              </a:rPr>
              <a:t>complete undirected graph: n(n-1)/2 edges</a:t>
            </a:r>
          </a:p>
          <a:p>
            <a:pPr algn="l"/>
            <a:r>
              <a:rPr lang="en-US" altLang="zh-TW" sz="2400">
                <a:solidFill>
                  <a:schemeClr val="tx2"/>
                </a:solidFill>
                <a:ea typeface="新細明體" charset="-120"/>
              </a:rPr>
              <a:t>complete directed graph: n(n-1) edges</a:t>
            </a:r>
            <a:endParaRPr lang="en-US" altLang="zh-TW" sz="2400">
              <a:solidFill>
                <a:schemeClr val="tx1"/>
              </a:solidFill>
              <a:ea typeface="新細明體" charset="-120"/>
            </a:endParaRPr>
          </a:p>
        </p:txBody>
      </p:sp>
      <p:sp>
        <p:nvSpPr>
          <p:cNvPr id="47142" name="Text Box 1062"/>
          <p:cNvSpPr txBox="1">
            <a:spLocks noChangeArrowheads="1"/>
          </p:cNvSpPr>
          <p:nvPr/>
        </p:nvSpPr>
        <p:spPr bwMode="auto">
          <a:xfrm>
            <a:off x="1000125" y="3581400"/>
            <a:ext cx="2068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TW" sz="2400">
                <a:ea typeface="新細明體" charset="-120"/>
              </a:rPr>
              <a:t>complete graph</a:t>
            </a:r>
          </a:p>
        </p:txBody>
      </p:sp>
      <p:sp>
        <p:nvSpPr>
          <p:cNvPr id="47143" name="Text Box 1063"/>
          <p:cNvSpPr txBox="1">
            <a:spLocks noChangeArrowheads="1"/>
          </p:cNvSpPr>
          <p:nvPr/>
        </p:nvSpPr>
        <p:spPr bwMode="auto">
          <a:xfrm>
            <a:off x="5911850" y="3616325"/>
            <a:ext cx="2305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TW" sz="2400">
                <a:ea typeface="新細明體" charset="-120"/>
              </a:rPr>
              <a:t>incomplete graph</a:t>
            </a:r>
          </a:p>
        </p:txBody>
      </p:sp>
    </p:spTree>
    <p:extLst>
      <p:ext uri="{BB962C8B-B14F-4D97-AF65-F5344CB8AC3E}">
        <p14:creationId xmlns:p14="http://schemas.microsoft.com/office/powerpoint/2010/main" val="2200011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Graph Representation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buClr>
                <a:schemeClr val="tx2"/>
              </a:buClr>
            </a:pPr>
            <a:r>
              <a:rPr lang="en-US" altLang="en-US"/>
              <a:t>Adjacency Matrix</a:t>
            </a:r>
          </a:p>
          <a:p>
            <a:pPr>
              <a:buClr>
                <a:schemeClr val="tx2"/>
              </a:buClr>
            </a:pPr>
            <a:r>
              <a:rPr lang="en-US" altLang="en-US"/>
              <a:t>Adjacency Lists</a:t>
            </a:r>
          </a:p>
          <a:p>
            <a:pPr lvl="1"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US" altLang="en-US"/>
              <a:t>Linked Adjacency Lists</a:t>
            </a:r>
          </a:p>
          <a:p>
            <a:pPr lvl="1"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US" altLang="en-US"/>
              <a:t>Array Adjacency Lists</a:t>
            </a:r>
          </a:p>
        </p:txBody>
      </p:sp>
    </p:spTree>
    <p:extLst>
      <p:ext uri="{BB962C8B-B14F-4D97-AF65-F5344CB8AC3E}">
        <p14:creationId xmlns:p14="http://schemas.microsoft.com/office/powerpoint/2010/main" val="724473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 bldLvl="2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Adjacency Matrix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7772400" cy="533400"/>
          </a:xfrm>
          <a:noFill/>
        </p:spPr>
        <p:txBody>
          <a:bodyPr/>
          <a:lstStyle/>
          <a:p>
            <a:pPr>
              <a:lnSpc>
                <a:spcPct val="90000"/>
              </a:lnSpc>
              <a:buClr>
                <a:schemeClr val="tx2"/>
              </a:buClr>
            </a:pPr>
            <a:r>
              <a:rPr lang="en-US" altLang="en-US" sz="2800">
                <a:solidFill>
                  <a:schemeClr val="hlink"/>
                </a:solidFill>
              </a:rPr>
              <a:t>0/1 n x n </a:t>
            </a:r>
            <a:r>
              <a:rPr lang="en-US" altLang="en-US" sz="2800"/>
              <a:t>matrix</a:t>
            </a:r>
            <a:r>
              <a:rPr lang="en-US" altLang="en-US" sz="2800">
                <a:solidFill>
                  <a:schemeClr val="bg2"/>
                </a:solidFill>
              </a:rPr>
              <a:t>, where </a:t>
            </a:r>
            <a:r>
              <a:rPr lang="en-US" altLang="en-US" sz="2800">
                <a:solidFill>
                  <a:schemeClr val="hlink"/>
                </a:solidFill>
              </a:rPr>
              <a:t>n = </a:t>
            </a:r>
            <a:r>
              <a:rPr lang="en-US" altLang="en-US" sz="2800">
                <a:solidFill>
                  <a:schemeClr val="bg2"/>
                </a:solidFill>
              </a:rPr>
              <a:t># of vertices</a:t>
            </a:r>
            <a:endParaRPr lang="en-US" altLang="en-US" sz="2800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  <a:buClr>
                <a:schemeClr val="tx2"/>
              </a:buClr>
            </a:pPr>
            <a:r>
              <a:rPr lang="en-US" altLang="en-US" sz="2800">
                <a:solidFill>
                  <a:schemeClr val="hlink"/>
                </a:solidFill>
              </a:rPr>
              <a:t>A(i,j) = 1</a:t>
            </a:r>
            <a:r>
              <a:rPr lang="en-US" altLang="en-US" sz="2800"/>
              <a:t> iff </a:t>
            </a:r>
            <a:r>
              <a:rPr lang="en-US" altLang="en-US" sz="2800">
                <a:solidFill>
                  <a:schemeClr val="hlink"/>
                </a:solidFill>
              </a:rPr>
              <a:t>(i,j)</a:t>
            </a:r>
            <a:r>
              <a:rPr lang="en-US" altLang="en-US" sz="2800"/>
              <a:t> is an edge</a:t>
            </a:r>
          </a:p>
        </p:txBody>
      </p:sp>
      <p:grpSp>
        <p:nvGrpSpPr>
          <p:cNvPr id="25619" name="Group 19"/>
          <p:cNvGrpSpPr>
            <a:grpSpLocks/>
          </p:cNvGrpSpPr>
          <p:nvPr/>
        </p:nvGrpSpPr>
        <p:grpSpPr bwMode="auto">
          <a:xfrm>
            <a:off x="539750" y="3816350"/>
            <a:ext cx="3035300" cy="2143125"/>
            <a:chOff x="340" y="2404"/>
            <a:chExt cx="1912" cy="1350"/>
          </a:xfrm>
        </p:grpSpPr>
        <p:sp>
          <p:nvSpPr>
            <p:cNvPr id="33835" name="Oval 4"/>
            <p:cNvSpPr>
              <a:spLocks noChangeArrowheads="1"/>
            </p:cNvSpPr>
            <p:nvPr/>
          </p:nvSpPr>
          <p:spPr bwMode="auto">
            <a:xfrm>
              <a:off x="340" y="2932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3836" name="Oval 5"/>
            <p:cNvSpPr>
              <a:spLocks noChangeArrowheads="1"/>
            </p:cNvSpPr>
            <p:nvPr/>
          </p:nvSpPr>
          <p:spPr bwMode="auto">
            <a:xfrm>
              <a:off x="964" y="240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3837" name="Oval 6"/>
            <p:cNvSpPr>
              <a:spLocks noChangeArrowheads="1"/>
            </p:cNvSpPr>
            <p:nvPr/>
          </p:nvSpPr>
          <p:spPr bwMode="auto">
            <a:xfrm>
              <a:off x="1972" y="259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3838" name="Oval 7"/>
            <p:cNvSpPr>
              <a:spLocks noChangeArrowheads="1"/>
            </p:cNvSpPr>
            <p:nvPr/>
          </p:nvSpPr>
          <p:spPr bwMode="auto">
            <a:xfrm>
              <a:off x="724" y="336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3839" name="Oval 8"/>
            <p:cNvSpPr>
              <a:spLocks noChangeArrowheads="1"/>
            </p:cNvSpPr>
            <p:nvPr/>
          </p:nvSpPr>
          <p:spPr bwMode="auto">
            <a:xfrm>
              <a:off x="1684" y="346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3840" name="Line 9"/>
            <p:cNvSpPr>
              <a:spLocks noChangeShapeType="1"/>
            </p:cNvSpPr>
            <p:nvPr/>
          </p:nvSpPr>
          <p:spPr bwMode="auto">
            <a:xfrm flipH="1">
              <a:off x="576" y="2640"/>
              <a:ext cx="384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841" name="Line 10"/>
            <p:cNvSpPr>
              <a:spLocks noChangeShapeType="1"/>
            </p:cNvSpPr>
            <p:nvPr/>
          </p:nvSpPr>
          <p:spPr bwMode="auto">
            <a:xfrm>
              <a:off x="1152" y="2688"/>
              <a:ext cx="624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842" name="Line 11"/>
            <p:cNvSpPr>
              <a:spLocks noChangeShapeType="1"/>
            </p:cNvSpPr>
            <p:nvPr/>
          </p:nvSpPr>
          <p:spPr bwMode="auto">
            <a:xfrm>
              <a:off x="576" y="3216"/>
              <a:ext cx="192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843" name="Line 12"/>
            <p:cNvSpPr>
              <a:spLocks noChangeShapeType="1"/>
            </p:cNvSpPr>
            <p:nvPr/>
          </p:nvSpPr>
          <p:spPr bwMode="auto">
            <a:xfrm flipH="1">
              <a:off x="1920" y="2832"/>
              <a:ext cx="288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844" name="Rectangle 13"/>
            <p:cNvSpPr>
              <a:spLocks noChangeArrowheads="1"/>
            </p:cNvSpPr>
            <p:nvPr/>
          </p:nvSpPr>
          <p:spPr bwMode="auto">
            <a:xfrm>
              <a:off x="1008" y="2448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3845" name="Rectangle 14"/>
            <p:cNvSpPr>
              <a:spLocks noChangeArrowheads="1"/>
            </p:cNvSpPr>
            <p:nvPr/>
          </p:nvSpPr>
          <p:spPr bwMode="auto">
            <a:xfrm>
              <a:off x="2016" y="2592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3846" name="Rectangle 15"/>
            <p:cNvSpPr>
              <a:spLocks noChangeArrowheads="1"/>
            </p:cNvSpPr>
            <p:nvPr/>
          </p:nvSpPr>
          <p:spPr bwMode="auto">
            <a:xfrm>
              <a:off x="384" y="2976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3847" name="Rectangle 16"/>
            <p:cNvSpPr>
              <a:spLocks noChangeArrowheads="1"/>
            </p:cNvSpPr>
            <p:nvPr/>
          </p:nvSpPr>
          <p:spPr bwMode="auto">
            <a:xfrm>
              <a:off x="768" y="3360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3848" name="Rectangle 17"/>
            <p:cNvSpPr>
              <a:spLocks noChangeArrowheads="1"/>
            </p:cNvSpPr>
            <p:nvPr/>
          </p:nvSpPr>
          <p:spPr bwMode="auto">
            <a:xfrm>
              <a:off x="1728" y="3504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3849" name="Line 18"/>
            <p:cNvSpPr>
              <a:spLocks noChangeShapeType="1"/>
            </p:cNvSpPr>
            <p:nvPr/>
          </p:nvSpPr>
          <p:spPr bwMode="auto">
            <a:xfrm>
              <a:off x="1008" y="3552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632" name="Group 32"/>
          <p:cNvGrpSpPr>
            <a:grpSpLocks/>
          </p:cNvGrpSpPr>
          <p:nvPr/>
        </p:nvGrpSpPr>
        <p:grpSpPr bwMode="auto">
          <a:xfrm>
            <a:off x="4419600" y="3505200"/>
            <a:ext cx="3124200" cy="2819400"/>
            <a:chOff x="2784" y="2208"/>
            <a:chExt cx="1968" cy="1776"/>
          </a:xfrm>
        </p:grpSpPr>
        <p:sp>
          <p:nvSpPr>
            <p:cNvPr id="33823" name="Rectangle 20"/>
            <p:cNvSpPr>
              <a:spLocks noChangeArrowheads="1"/>
            </p:cNvSpPr>
            <p:nvPr/>
          </p:nvSpPr>
          <p:spPr bwMode="auto">
            <a:xfrm>
              <a:off x="3120" y="2208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1</a:t>
              </a:r>
            </a:p>
          </p:txBody>
        </p:sp>
        <p:sp>
          <p:nvSpPr>
            <p:cNvPr id="33824" name="Rectangle 21"/>
            <p:cNvSpPr>
              <a:spLocks noChangeArrowheads="1"/>
            </p:cNvSpPr>
            <p:nvPr/>
          </p:nvSpPr>
          <p:spPr bwMode="auto">
            <a:xfrm>
              <a:off x="3456" y="2208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2</a:t>
              </a:r>
            </a:p>
          </p:txBody>
        </p:sp>
        <p:sp>
          <p:nvSpPr>
            <p:cNvPr id="33825" name="Rectangle 22"/>
            <p:cNvSpPr>
              <a:spLocks noChangeArrowheads="1"/>
            </p:cNvSpPr>
            <p:nvPr/>
          </p:nvSpPr>
          <p:spPr bwMode="auto">
            <a:xfrm>
              <a:off x="3792" y="2208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3</a:t>
              </a:r>
            </a:p>
          </p:txBody>
        </p:sp>
        <p:sp>
          <p:nvSpPr>
            <p:cNvPr id="33826" name="Rectangle 23"/>
            <p:cNvSpPr>
              <a:spLocks noChangeArrowheads="1"/>
            </p:cNvSpPr>
            <p:nvPr/>
          </p:nvSpPr>
          <p:spPr bwMode="auto">
            <a:xfrm>
              <a:off x="4128" y="2208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4</a:t>
              </a:r>
            </a:p>
          </p:txBody>
        </p:sp>
        <p:sp>
          <p:nvSpPr>
            <p:cNvPr id="33827" name="Rectangle 24"/>
            <p:cNvSpPr>
              <a:spLocks noChangeArrowheads="1"/>
            </p:cNvSpPr>
            <p:nvPr/>
          </p:nvSpPr>
          <p:spPr bwMode="auto">
            <a:xfrm>
              <a:off x="4464" y="2208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5</a:t>
              </a:r>
            </a:p>
          </p:txBody>
        </p:sp>
        <p:sp>
          <p:nvSpPr>
            <p:cNvPr id="33828" name="Line 25"/>
            <p:cNvSpPr>
              <a:spLocks noChangeShapeType="1"/>
            </p:cNvSpPr>
            <p:nvPr/>
          </p:nvSpPr>
          <p:spPr bwMode="auto">
            <a:xfrm>
              <a:off x="2880" y="2496"/>
              <a:ext cx="1872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829" name="Line 26"/>
            <p:cNvSpPr>
              <a:spLocks noChangeShapeType="1"/>
            </p:cNvSpPr>
            <p:nvPr/>
          </p:nvSpPr>
          <p:spPr bwMode="auto">
            <a:xfrm>
              <a:off x="3072" y="2304"/>
              <a:ext cx="0" cy="168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830" name="Rectangle 27"/>
            <p:cNvSpPr>
              <a:spLocks noChangeArrowheads="1"/>
            </p:cNvSpPr>
            <p:nvPr/>
          </p:nvSpPr>
          <p:spPr bwMode="auto">
            <a:xfrm>
              <a:off x="2784" y="2496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1</a:t>
              </a:r>
            </a:p>
          </p:txBody>
        </p:sp>
        <p:sp>
          <p:nvSpPr>
            <p:cNvPr id="33831" name="Rectangle 28"/>
            <p:cNvSpPr>
              <a:spLocks noChangeArrowheads="1"/>
            </p:cNvSpPr>
            <p:nvPr/>
          </p:nvSpPr>
          <p:spPr bwMode="auto">
            <a:xfrm>
              <a:off x="2784" y="2784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2</a:t>
              </a:r>
            </a:p>
          </p:txBody>
        </p:sp>
        <p:sp>
          <p:nvSpPr>
            <p:cNvPr id="33832" name="Rectangle 29"/>
            <p:cNvSpPr>
              <a:spLocks noChangeArrowheads="1"/>
            </p:cNvSpPr>
            <p:nvPr/>
          </p:nvSpPr>
          <p:spPr bwMode="auto">
            <a:xfrm>
              <a:off x="2784" y="3072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3</a:t>
              </a:r>
            </a:p>
          </p:txBody>
        </p:sp>
        <p:sp>
          <p:nvSpPr>
            <p:cNvPr id="33833" name="Rectangle 30"/>
            <p:cNvSpPr>
              <a:spLocks noChangeArrowheads="1"/>
            </p:cNvSpPr>
            <p:nvPr/>
          </p:nvSpPr>
          <p:spPr bwMode="auto">
            <a:xfrm>
              <a:off x="2784" y="3360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4</a:t>
              </a:r>
            </a:p>
          </p:txBody>
        </p:sp>
        <p:sp>
          <p:nvSpPr>
            <p:cNvPr id="33834" name="Rectangle 31"/>
            <p:cNvSpPr>
              <a:spLocks noChangeArrowheads="1"/>
            </p:cNvSpPr>
            <p:nvPr/>
          </p:nvSpPr>
          <p:spPr bwMode="auto">
            <a:xfrm>
              <a:off x="2784" y="3648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5</a:t>
              </a:r>
            </a:p>
          </p:txBody>
        </p:sp>
      </p:grpSp>
      <p:sp>
        <p:nvSpPr>
          <p:cNvPr id="25633" name="Rectangle 33"/>
          <p:cNvSpPr>
            <a:spLocks noChangeArrowheads="1"/>
          </p:cNvSpPr>
          <p:nvPr/>
        </p:nvSpPr>
        <p:spPr bwMode="auto">
          <a:xfrm>
            <a:off x="4953000" y="3962400"/>
            <a:ext cx="30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</a:rPr>
              <a:t>0</a:t>
            </a:r>
          </a:p>
        </p:txBody>
      </p:sp>
      <p:sp>
        <p:nvSpPr>
          <p:cNvPr id="25634" name="Rectangle 34"/>
          <p:cNvSpPr>
            <a:spLocks noChangeArrowheads="1"/>
          </p:cNvSpPr>
          <p:nvPr/>
        </p:nvSpPr>
        <p:spPr bwMode="auto">
          <a:xfrm>
            <a:off x="5486400" y="3962400"/>
            <a:ext cx="30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25635" name="Rectangle 35"/>
          <p:cNvSpPr>
            <a:spLocks noChangeArrowheads="1"/>
          </p:cNvSpPr>
          <p:nvPr/>
        </p:nvSpPr>
        <p:spPr bwMode="auto">
          <a:xfrm>
            <a:off x="6019800" y="3962400"/>
            <a:ext cx="30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</a:rPr>
              <a:t>0</a:t>
            </a:r>
          </a:p>
        </p:txBody>
      </p:sp>
      <p:sp>
        <p:nvSpPr>
          <p:cNvPr id="25636" name="Rectangle 36"/>
          <p:cNvSpPr>
            <a:spLocks noChangeArrowheads="1"/>
          </p:cNvSpPr>
          <p:nvPr/>
        </p:nvSpPr>
        <p:spPr bwMode="auto">
          <a:xfrm>
            <a:off x="6553200" y="3962400"/>
            <a:ext cx="30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25637" name="Rectangle 37"/>
          <p:cNvSpPr>
            <a:spLocks noChangeArrowheads="1"/>
          </p:cNvSpPr>
          <p:nvPr/>
        </p:nvSpPr>
        <p:spPr bwMode="auto">
          <a:xfrm>
            <a:off x="7086600" y="3962400"/>
            <a:ext cx="30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</a:rPr>
              <a:t>0</a:t>
            </a:r>
          </a:p>
        </p:txBody>
      </p:sp>
      <p:sp>
        <p:nvSpPr>
          <p:cNvPr id="25638" name="Rectangle 38"/>
          <p:cNvSpPr>
            <a:spLocks noChangeArrowheads="1"/>
          </p:cNvSpPr>
          <p:nvPr/>
        </p:nvSpPr>
        <p:spPr bwMode="auto">
          <a:xfrm>
            <a:off x="4953000" y="4419600"/>
            <a:ext cx="30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25639" name="Rectangle 39"/>
          <p:cNvSpPr>
            <a:spLocks noChangeArrowheads="1"/>
          </p:cNvSpPr>
          <p:nvPr/>
        </p:nvSpPr>
        <p:spPr bwMode="auto">
          <a:xfrm>
            <a:off x="5486400" y="4419600"/>
            <a:ext cx="30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</a:rPr>
              <a:t>0</a:t>
            </a:r>
          </a:p>
        </p:txBody>
      </p:sp>
      <p:sp>
        <p:nvSpPr>
          <p:cNvPr id="25640" name="Rectangle 40"/>
          <p:cNvSpPr>
            <a:spLocks noChangeArrowheads="1"/>
          </p:cNvSpPr>
          <p:nvPr/>
        </p:nvSpPr>
        <p:spPr bwMode="auto">
          <a:xfrm>
            <a:off x="6019800" y="4419600"/>
            <a:ext cx="30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</a:rPr>
              <a:t>0</a:t>
            </a:r>
          </a:p>
        </p:txBody>
      </p:sp>
      <p:sp>
        <p:nvSpPr>
          <p:cNvPr id="25641" name="Rectangle 41"/>
          <p:cNvSpPr>
            <a:spLocks noChangeArrowheads="1"/>
          </p:cNvSpPr>
          <p:nvPr/>
        </p:nvSpPr>
        <p:spPr bwMode="auto">
          <a:xfrm>
            <a:off x="6553200" y="4419600"/>
            <a:ext cx="30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</a:rPr>
              <a:t>0</a:t>
            </a:r>
          </a:p>
        </p:txBody>
      </p:sp>
      <p:sp>
        <p:nvSpPr>
          <p:cNvPr id="25642" name="Rectangle 42"/>
          <p:cNvSpPr>
            <a:spLocks noChangeArrowheads="1"/>
          </p:cNvSpPr>
          <p:nvPr/>
        </p:nvSpPr>
        <p:spPr bwMode="auto">
          <a:xfrm>
            <a:off x="7086600" y="4419600"/>
            <a:ext cx="30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25643" name="Rectangle 43"/>
          <p:cNvSpPr>
            <a:spLocks noChangeArrowheads="1"/>
          </p:cNvSpPr>
          <p:nvPr/>
        </p:nvSpPr>
        <p:spPr bwMode="auto">
          <a:xfrm>
            <a:off x="4953000" y="4876800"/>
            <a:ext cx="30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</a:rPr>
              <a:t>0</a:t>
            </a:r>
          </a:p>
        </p:txBody>
      </p:sp>
      <p:sp>
        <p:nvSpPr>
          <p:cNvPr id="25644" name="Rectangle 44"/>
          <p:cNvSpPr>
            <a:spLocks noChangeArrowheads="1"/>
          </p:cNvSpPr>
          <p:nvPr/>
        </p:nvSpPr>
        <p:spPr bwMode="auto">
          <a:xfrm>
            <a:off x="5486400" y="4876800"/>
            <a:ext cx="30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</a:rPr>
              <a:t>0</a:t>
            </a:r>
          </a:p>
        </p:txBody>
      </p:sp>
      <p:sp>
        <p:nvSpPr>
          <p:cNvPr id="25645" name="Rectangle 45"/>
          <p:cNvSpPr>
            <a:spLocks noChangeArrowheads="1"/>
          </p:cNvSpPr>
          <p:nvPr/>
        </p:nvSpPr>
        <p:spPr bwMode="auto">
          <a:xfrm>
            <a:off x="6019800" y="4876800"/>
            <a:ext cx="30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</a:rPr>
              <a:t>0</a:t>
            </a:r>
          </a:p>
        </p:txBody>
      </p:sp>
      <p:sp>
        <p:nvSpPr>
          <p:cNvPr id="25646" name="Rectangle 46"/>
          <p:cNvSpPr>
            <a:spLocks noChangeArrowheads="1"/>
          </p:cNvSpPr>
          <p:nvPr/>
        </p:nvSpPr>
        <p:spPr bwMode="auto">
          <a:xfrm>
            <a:off x="6553200" y="4876800"/>
            <a:ext cx="30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</a:rPr>
              <a:t>0</a:t>
            </a:r>
          </a:p>
        </p:txBody>
      </p:sp>
      <p:sp>
        <p:nvSpPr>
          <p:cNvPr id="25647" name="Rectangle 47"/>
          <p:cNvSpPr>
            <a:spLocks noChangeArrowheads="1"/>
          </p:cNvSpPr>
          <p:nvPr/>
        </p:nvSpPr>
        <p:spPr bwMode="auto">
          <a:xfrm>
            <a:off x="7086600" y="4876800"/>
            <a:ext cx="30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25648" name="Rectangle 48"/>
          <p:cNvSpPr>
            <a:spLocks noChangeArrowheads="1"/>
          </p:cNvSpPr>
          <p:nvPr/>
        </p:nvSpPr>
        <p:spPr bwMode="auto">
          <a:xfrm>
            <a:off x="4953000" y="5334000"/>
            <a:ext cx="30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25649" name="Rectangle 49"/>
          <p:cNvSpPr>
            <a:spLocks noChangeArrowheads="1"/>
          </p:cNvSpPr>
          <p:nvPr/>
        </p:nvSpPr>
        <p:spPr bwMode="auto">
          <a:xfrm>
            <a:off x="5486400" y="5334000"/>
            <a:ext cx="30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</a:rPr>
              <a:t>0</a:t>
            </a:r>
          </a:p>
        </p:txBody>
      </p:sp>
      <p:sp>
        <p:nvSpPr>
          <p:cNvPr id="25650" name="Rectangle 50"/>
          <p:cNvSpPr>
            <a:spLocks noChangeArrowheads="1"/>
          </p:cNvSpPr>
          <p:nvPr/>
        </p:nvSpPr>
        <p:spPr bwMode="auto">
          <a:xfrm>
            <a:off x="6019800" y="5334000"/>
            <a:ext cx="30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</a:rPr>
              <a:t>0</a:t>
            </a:r>
          </a:p>
        </p:txBody>
      </p:sp>
      <p:sp>
        <p:nvSpPr>
          <p:cNvPr id="25651" name="Rectangle 51"/>
          <p:cNvSpPr>
            <a:spLocks noChangeArrowheads="1"/>
          </p:cNvSpPr>
          <p:nvPr/>
        </p:nvSpPr>
        <p:spPr bwMode="auto">
          <a:xfrm>
            <a:off x="6553200" y="5334000"/>
            <a:ext cx="30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</a:rPr>
              <a:t>0</a:t>
            </a:r>
          </a:p>
        </p:txBody>
      </p:sp>
      <p:sp>
        <p:nvSpPr>
          <p:cNvPr id="25652" name="Rectangle 52"/>
          <p:cNvSpPr>
            <a:spLocks noChangeArrowheads="1"/>
          </p:cNvSpPr>
          <p:nvPr/>
        </p:nvSpPr>
        <p:spPr bwMode="auto">
          <a:xfrm>
            <a:off x="7086600" y="5334000"/>
            <a:ext cx="30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25653" name="Rectangle 53"/>
          <p:cNvSpPr>
            <a:spLocks noChangeArrowheads="1"/>
          </p:cNvSpPr>
          <p:nvPr/>
        </p:nvSpPr>
        <p:spPr bwMode="auto">
          <a:xfrm>
            <a:off x="4953000" y="5791200"/>
            <a:ext cx="30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</a:rPr>
              <a:t>0</a:t>
            </a:r>
          </a:p>
        </p:txBody>
      </p:sp>
      <p:sp>
        <p:nvSpPr>
          <p:cNvPr id="25654" name="Rectangle 54"/>
          <p:cNvSpPr>
            <a:spLocks noChangeArrowheads="1"/>
          </p:cNvSpPr>
          <p:nvPr/>
        </p:nvSpPr>
        <p:spPr bwMode="auto">
          <a:xfrm>
            <a:off x="5486400" y="5791200"/>
            <a:ext cx="30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25655" name="Rectangle 55"/>
          <p:cNvSpPr>
            <a:spLocks noChangeArrowheads="1"/>
          </p:cNvSpPr>
          <p:nvPr/>
        </p:nvSpPr>
        <p:spPr bwMode="auto">
          <a:xfrm>
            <a:off x="6019800" y="5791200"/>
            <a:ext cx="30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25656" name="Rectangle 56"/>
          <p:cNvSpPr>
            <a:spLocks noChangeArrowheads="1"/>
          </p:cNvSpPr>
          <p:nvPr/>
        </p:nvSpPr>
        <p:spPr bwMode="auto">
          <a:xfrm>
            <a:off x="6553200" y="5791200"/>
            <a:ext cx="30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25657" name="Rectangle 57"/>
          <p:cNvSpPr>
            <a:spLocks noChangeArrowheads="1"/>
          </p:cNvSpPr>
          <p:nvPr/>
        </p:nvSpPr>
        <p:spPr bwMode="auto">
          <a:xfrm>
            <a:off x="7086600" y="5791200"/>
            <a:ext cx="30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51674120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 autoUpdateAnimBg="0"/>
      <p:bldP spid="25633" grpId="0" build="p" autoUpdateAnimBg="0"/>
      <p:bldP spid="25634" grpId="0" build="p" autoUpdateAnimBg="0"/>
      <p:bldP spid="25635" grpId="0" build="p" autoUpdateAnimBg="0"/>
      <p:bldP spid="25636" grpId="0" build="p" autoUpdateAnimBg="0"/>
      <p:bldP spid="25637" grpId="0" build="p" autoUpdateAnimBg="0"/>
      <p:bldP spid="25638" grpId="0" build="p" autoUpdateAnimBg="0"/>
      <p:bldP spid="25639" grpId="0" build="p" autoUpdateAnimBg="0"/>
      <p:bldP spid="25640" grpId="0" build="p" autoUpdateAnimBg="0"/>
      <p:bldP spid="25641" grpId="0" build="p" autoUpdateAnimBg="0"/>
      <p:bldP spid="25642" grpId="0" build="p" autoUpdateAnimBg="0"/>
      <p:bldP spid="25643" grpId="0" build="p" autoUpdateAnimBg="0"/>
      <p:bldP spid="25644" grpId="0" build="p" autoUpdateAnimBg="0"/>
      <p:bldP spid="25645" grpId="0" build="p" autoUpdateAnimBg="0"/>
      <p:bldP spid="25646" grpId="0" build="p" autoUpdateAnimBg="0"/>
      <p:bldP spid="25647" grpId="0" build="p" autoUpdateAnimBg="0"/>
      <p:bldP spid="25648" grpId="0" build="p" autoUpdateAnimBg="0"/>
      <p:bldP spid="25649" grpId="0" build="p" autoUpdateAnimBg="0"/>
      <p:bldP spid="25650" grpId="0" build="p" autoUpdateAnimBg="0"/>
      <p:bldP spid="25651" grpId="0" build="p" autoUpdateAnimBg="0"/>
      <p:bldP spid="25652" grpId="0" build="p" autoUpdateAnimBg="0"/>
      <p:bldP spid="25653" grpId="0" build="p" autoUpdateAnimBg="0"/>
      <p:bldP spid="25654" grpId="0" build="p" autoUpdateAnimBg="0"/>
      <p:bldP spid="25655" grpId="0" build="p" autoUpdateAnimBg="0"/>
      <p:bldP spid="25656" grpId="0" build="p" autoUpdateAnimBg="0"/>
      <p:bldP spid="25657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Adjacency Matrix Properties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6070600"/>
            <a:ext cx="7772400" cy="25400"/>
          </a:xfrm>
        </p:spPr>
        <p:txBody>
          <a:bodyPr/>
          <a:lstStyle/>
          <a:p>
            <a:endParaRPr lang="en-US" altLang="en-US"/>
          </a:p>
        </p:txBody>
      </p:sp>
      <p:grpSp>
        <p:nvGrpSpPr>
          <p:cNvPr id="26685" name="Group 61"/>
          <p:cNvGrpSpPr>
            <a:grpSpLocks/>
          </p:cNvGrpSpPr>
          <p:nvPr/>
        </p:nvGrpSpPr>
        <p:grpSpPr bwMode="auto">
          <a:xfrm>
            <a:off x="615950" y="1447800"/>
            <a:ext cx="7004050" cy="2819400"/>
            <a:chOff x="388" y="912"/>
            <a:chExt cx="4412" cy="1776"/>
          </a:xfrm>
        </p:grpSpPr>
        <p:grpSp>
          <p:nvGrpSpPr>
            <p:cNvPr id="34822" name="Group 19"/>
            <p:cNvGrpSpPr>
              <a:grpSpLocks/>
            </p:cNvGrpSpPr>
            <p:nvPr/>
          </p:nvGrpSpPr>
          <p:grpSpPr bwMode="auto">
            <a:xfrm>
              <a:off x="388" y="1108"/>
              <a:ext cx="1912" cy="1350"/>
              <a:chOff x="388" y="1108"/>
              <a:chExt cx="1912" cy="1350"/>
            </a:xfrm>
          </p:grpSpPr>
          <p:sp>
            <p:nvSpPr>
              <p:cNvPr id="34862" name="Oval 4"/>
              <p:cNvSpPr>
                <a:spLocks noChangeArrowheads="1"/>
              </p:cNvSpPr>
              <p:nvPr/>
            </p:nvSpPr>
            <p:spPr bwMode="auto">
              <a:xfrm>
                <a:off x="388" y="1636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IN" altLang="en-US"/>
              </a:p>
            </p:txBody>
          </p:sp>
          <p:sp>
            <p:nvSpPr>
              <p:cNvPr id="34863" name="Oval 5"/>
              <p:cNvSpPr>
                <a:spLocks noChangeArrowheads="1"/>
              </p:cNvSpPr>
              <p:nvPr/>
            </p:nvSpPr>
            <p:spPr bwMode="auto">
              <a:xfrm>
                <a:off x="1012" y="1108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IN" altLang="en-US"/>
              </a:p>
            </p:txBody>
          </p:sp>
          <p:sp>
            <p:nvSpPr>
              <p:cNvPr id="34864" name="Oval 6"/>
              <p:cNvSpPr>
                <a:spLocks noChangeArrowheads="1"/>
              </p:cNvSpPr>
              <p:nvPr/>
            </p:nvSpPr>
            <p:spPr bwMode="auto">
              <a:xfrm>
                <a:off x="2020" y="1300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IN" altLang="en-US"/>
              </a:p>
            </p:txBody>
          </p:sp>
          <p:sp>
            <p:nvSpPr>
              <p:cNvPr id="34865" name="Oval 7"/>
              <p:cNvSpPr>
                <a:spLocks noChangeArrowheads="1"/>
              </p:cNvSpPr>
              <p:nvPr/>
            </p:nvSpPr>
            <p:spPr bwMode="auto">
              <a:xfrm>
                <a:off x="772" y="2068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IN" altLang="en-US"/>
              </a:p>
            </p:txBody>
          </p:sp>
          <p:sp>
            <p:nvSpPr>
              <p:cNvPr id="34866" name="Oval 8"/>
              <p:cNvSpPr>
                <a:spLocks noChangeArrowheads="1"/>
              </p:cNvSpPr>
              <p:nvPr/>
            </p:nvSpPr>
            <p:spPr bwMode="auto">
              <a:xfrm>
                <a:off x="1732" y="2164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IN" altLang="en-US"/>
              </a:p>
            </p:txBody>
          </p:sp>
          <p:sp>
            <p:nvSpPr>
              <p:cNvPr id="34867" name="Line 9"/>
              <p:cNvSpPr>
                <a:spLocks noChangeShapeType="1"/>
              </p:cNvSpPr>
              <p:nvPr/>
            </p:nvSpPr>
            <p:spPr bwMode="auto">
              <a:xfrm flipH="1">
                <a:off x="624" y="1344"/>
                <a:ext cx="384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68" name="Line 10"/>
              <p:cNvSpPr>
                <a:spLocks noChangeShapeType="1"/>
              </p:cNvSpPr>
              <p:nvPr/>
            </p:nvSpPr>
            <p:spPr bwMode="auto">
              <a:xfrm>
                <a:off x="1200" y="1392"/>
                <a:ext cx="624" cy="8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69" name="Line 11"/>
              <p:cNvSpPr>
                <a:spLocks noChangeShapeType="1"/>
              </p:cNvSpPr>
              <p:nvPr/>
            </p:nvSpPr>
            <p:spPr bwMode="auto">
              <a:xfrm>
                <a:off x="624" y="1920"/>
                <a:ext cx="192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70" name="Line 12"/>
              <p:cNvSpPr>
                <a:spLocks noChangeShapeType="1"/>
              </p:cNvSpPr>
              <p:nvPr/>
            </p:nvSpPr>
            <p:spPr bwMode="auto">
              <a:xfrm flipH="1">
                <a:off x="1968" y="1536"/>
                <a:ext cx="288" cy="67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71" name="Rectangle 13"/>
              <p:cNvSpPr>
                <a:spLocks noChangeArrowheads="1"/>
              </p:cNvSpPr>
              <p:nvPr/>
            </p:nvSpPr>
            <p:spPr bwMode="auto">
              <a:xfrm>
                <a:off x="1056" y="1152"/>
                <a:ext cx="14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20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4872" name="Rectangle 14"/>
              <p:cNvSpPr>
                <a:spLocks noChangeArrowheads="1"/>
              </p:cNvSpPr>
              <p:nvPr/>
            </p:nvSpPr>
            <p:spPr bwMode="auto">
              <a:xfrm>
                <a:off x="2064" y="1296"/>
                <a:ext cx="14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200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34873" name="Rectangle 15"/>
              <p:cNvSpPr>
                <a:spLocks noChangeArrowheads="1"/>
              </p:cNvSpPr>
              <p:nvPr/>
            </p:nvSpPr>
            <p:spPr bwMode="auto">
              <a:xfrm>
                <a:off x="432" y="1680"/>
                <a:ext cx="14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200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4874" name="Rectangle 16"/>
              <p:cNvSpPr>
                <a:spLocks noChangeArrowheads="1"/>
              </p:cNvSpPr>
              <p:nvPr/>
            </p:nvSpPr>
            <p:spPr bwMode="auto">
              <a:xfrm>
                <a:off x="816" y="2064"/>
                <a:ext cx="14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200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34875" name="Rectangle 17"/>
              <p:cNvSpPr>
                <a:spLocks noChangeArrowheads="1"/>
              </p:cNvSpPr>
              <p:nvPr/>
            </p:nvSpPr>
            <p:spPr bwMode="auto">
              <a:xfrm>
                <a:off x="1776" y="2208"/>
                <a:ext cx="14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200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4876" name="Line 18"/>
              <p:cNvSpPr>
                <a:spLocks noChangeShapeType="1"/>
              </p:cNvSpPr>
              <p:nvPr/>
            </p:nvSpPr>
            <p:spPr bwMode="auto">
              <a:xfrm>
                <a:off x="1056" y="2256"/>
                <a:ext cx="67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34823" name="Group 32"/>
            <p:cNvGrpSpPr>
              <a:grpSpLocks/>
            </p:cNvGrpSpPr>
            <p:nvPr/>
          </p:nvGrpSpPr>
          <p:grpSpPr bwMode="auto">
            <a:xfrm>
              <a:off x="2832" y="912"/>
              <a:ext cx="1968" cy="1776"/>
              <a:chOff x="2832" y="912"/>
              <a:chExt cx="1968" cy="1776"/>
            </a:xfrm>
          </p:grpSpPr>
          <p:sp>
            <p:nvSpPr>
              <p:cNvPr id="34850" name="Rectangle 20"/>
              <p:cNvSpPr>
                <a:spLocks noChangeArrowheads="1"/>
              </p:cNvSpPr>
              <p:nvPr/>
            </p:nvSpPr>
            <p:spPr bwMode="auto">
              <a:xfrm>
                <a:off x="3168" y="912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/>
                  <a:t>1</a:t>
                </a:r>
              </a:p>
            </p:txBody>
          </p:sp>
          <p:sp>
            <p:nvSpPr>
              <p:cNvPr id="34851" name="Rectangle 21"/>
              <p:cNvSpPr>
                <a:spLocks noChangeArrowheads="1"/>
              </p:cNvSpPr>
              <p:nvPr/>
            </p:nvSpPr>
            <p:spPr bwMode="auto">
              <a:xfrm>
                <a:off x="3504" y="912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/>
                  <a:t>2</a:t>
                </a:r>
              </a:p>
            </p:txBody>
          </p:sp>
          <p:sp>
            <p:nvSpPr>
              <p:cNvPr id="34852" name="Rectangle 22"/>
              <p:cNvSpPr>
                <a:spLocks noChangeArrowheads="1"/>
              </p:cNvSpPr>
              <p:nvPr/>
            </p:nvSpPr>
            <p:spPr bwMode="auto">
              <a:xfrm>
                <a:off x="3840" y="912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/>
                  <a:t>3</a:t>
                </a:r>
              </a:p>
            </p:txBody>
          </p:sp>
          <p:sp>
            <p:nvSpPr>
              <p:cNvPr id="34853" name="Rectangle 23"/>
              <p:cNvSpPr>
                <a:spLocks noChangeArrowheads="1"/>
              </p:cNvSpPr>
              <p:nvPr/>
            </p:nvSpPr>
            <p:spPr bwMode="auto">
              <a:xfrm>
                <a:off x="4176" y="912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/>
                  <a:t>4</a:t>
                </a:r>
              </a:p>
            </p:txBody>
          </p:sp>
          <p:sp>
            <p:nvSpPr>
              <p:cNvPr id="34854" name="Rectangle 24"/>
              <p:cNvSpPr>
                <a:spLocks noChangeArrowheads="1"/>
              </p:cNvSpPr>
              <p:nvPr/>
            </p:nvSpPr>
            <p:spPr bwMode="auto">
              <a:xfrm>
                <a:off x="4512" y="912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/>
                  <a:t>5</a:t>
                </a:r>
              </a:p>
            </p:txBody>
          </p:sp>
          <p:sp>
            <p:nvSpPr>
              <p:cNvPr id="34855" name="Line 25"/>
              <p:cNvSpPr>
                <a:spLocks noChangeShapeType="1"/>
              </p:cNvSpPr>
              <p:nvPr/>
            </p:nvSpPr>
            <p:spPr bwMode="auto">
              <a:xfrm>
                <a:off x="2928" y="1200"/>
                <a:ext cx="1872" cy="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56" name="Line 26"/>
              <p:cNvSpPr>
                <a:spLocks noChangeShapeType="1"/>
              </p:cNvSpPr>
              <p:nvPr/>
            </p:nvSpPr>
            <p:spPr bwMode="auto">
              <a:xfrm>
                <a:off x="3120" y="1008"/>
                <a:ext cx="0" cy="168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857" name="Rectangle 27"/>
              <p:cNvSpPr>
                <a:spLocks noChangeArrowheads="1"/>
              </p:cNvSpPr>
              <p:nvPr/>
            </p:nvSpPr>
            <p:spPr bwMode="auto">
              <a:xfrm>
                <a:off x="2832" y="1200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/>
                  <a:t>1</a:t>
                </a:r>
              </a:p>
            </p:txBody>
          </p:sp>
          <p:sp>
            <p:nvSpPr>
              <p:cNvPr id="34858" name="Rectangle 28"/>
              <p:cNvSpPr>
                <a:spLocks noChangeArrowheads="1"/>
              </p:cNvSpPr>
              <p:nvPr/>
            </p:nvSpPr>
            <p:spPr bwMode="auto">
              <a:xfrm>
                <a:off x="2832" y="1488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/>
                  <a:t>2</a:t>
                </a:r>
              </a:p>
            </p:txBody>
          </p:sp>
          <p:sp>
            <p:nvSpPr>
              <p:cNvPr id="34859" name="Rectangle 29"/>
              <p:cNvSpPr>
                <a:spLocks noChangeArrowheads="1"/>
              </p:cNvSpPr>
              <p:nvPr/>
            </p:nvSpPr>
            <p:spPr bwMode="auto">
              <a:xfrm>
                <a:off x="2832" y="1776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/>
                  <a:t>3</a:t>
                </a:r>
              </a:p>
            </p:txBody>
          </p:sp>
          <p:sp>
            <p:nvSpPr>
              <p:cNvPr id="34860" name="Rectangle 30"/>
              <p:cNvSpPr>
                <a:spLocks noChangeArrowheads="1"/>
              </p:cNvSpPr>
              <p:nvPr/>
            </p:nvSpPr>
            <p:spPr bwMode="auto">
              <a:xfrm>
                <a:off x="2832" y="2064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/>
                  <a:t>4</a:t>
                </a:r>
              </a:p>
            </p:txBody>
          </p:sp>
          <p:sp>
            <p:nvSpPr>
              <p:cNvPr id="34861" name="Rectangle 31"/>
              <p:cNvSpPr>
                <a:spLocks noChangeArrowheads="1"/>
              </p:cNvSpPr>
              <p:nvPr/>
            </p:nvSpPr>
            <p:spPr bwMode="auto">
              <a:xfrm>
                <a:off x="2832" y="2352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/>
                  <a:t>5</a:t>
                </a:r>
              </a:p>
            </p:txBody>
          </p:sp>
        </p:grpSp>
        <p:sp>
          <p:nvSpPr>
            <p:cNvPr id="34824" name="Rectangle 33"/>
            <p:cNvSpPr>
              <a:spLocks noChangeArrowheads="1"/>
            </p:cNvSpPr>
            <p:nvPr/>
          </p:nvSpPr>
          <p:spPr bwMode="auto">
            <a:xfrm>
              <a:off x="3168" y="1200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4825" name="Rectangle 34"/>
            <p:cNvSpPr>
              <a:spLocks noChangeArrowheads="1"/>
            </p:cNvSpPr>
            <p:nvPr/>
          </p:nvSpPr>
          <p:spPr bwMode="auto">
            <a:xfrm>
              <a:off x="3504" y="1200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34826" name="Rectangle 35"/>
            <p:cNvSpPr>
              <a:spLocks noChangeArrowheads="1"/>
            </p:cNvSpPr>
            <p:nvPr/>
          </p:nvSpPr>
          <p:spPr bwMode="auto">
            <a:xfrm>
              <a:off x="3840" y="1200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4827" name="Rectangle 36"/>
            <p:cNvSpPr>
              <a:spLocks noChangeArrowheads="1"/>
            </p:cNvSpPr>
            <p:nvPr/>
          </p:nvSpPr>
          <p:spPr bwMode="auto">
            <a:xfrm>
              <a:off x="4176" y="1200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34828" name="Rectangle 37"/>
            <p:cNvSpPr>
              <a:spLocks noChangeArrowheads="1"/>
            </p:cNvSpPr>
            <p:nvPr/>
          </p:nvSpPr>
          <p:spPr bwMode="auto">
            <a:xfrm>
              <a:off x="4512" y="1200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4829" name="Rectangle 38"/>
            <p:cNvSpPr>
              <a:spLocks noChangeArrowheads="1"/>
            </p:cNvSpPr>
            <p:nvPr/>
          </p:nvSpPr>
          <p:spPr bwMode="auto">
            <a:xfrm>
              <a:off x="3168" y="1488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34830" name="Rectangle 39"/>
            <p:cNvSpPr>
              <a:spLocks noChangeArrowheads="1"/>
            </p:cNvSpPr>
            <p:nvPr/>
          </p:nvSpPr>
          <p:spPr bwMode="auto">
            <a:xfrm>
              <a:off x="3504" y="1488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4831" name="Rectangle 40"/>
            <p:cNvSpPr>
              <a:spLocks noChangeArrowheads="1"/>
            </p:cNvSpPr>
            <p:nvPr/>
          </p:nvSpPr>
          <p:spPr bwMode="auto">
            <a:xfrm>
              <a:off x="3840" y="1488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4832" name="Rectangle 41"/>
            <p:cNvSpPr>
              <a:spLocks noChangeArrowheads="1"/>
            </p:cNvSpPr>
            <p:nvPr/>
          </p:nvSpPr>
          <p:spPr bwMode="auto">
            <a:xfrm>
              <a:off x="4176" y="1488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4833" name="Rectangle 42"/>
            <p:cNvSpPr>
              <a:spLocks noChangeArrowheads="1"/>
            </p:cNvSpPr>
            <p:nvPr/>
          </p:nvSpPr>
          <p:spPr bwMode="auto">
            <a:xfrm>
              <a:off x="4512" y="1488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34834" name="Rectangle 43"/>
            <p:cNvSpPr>
              <a:spLocks noChangeArrowheads="1"/>
            </p:cNvSpPr>
            <p:nvPr/>
          </p:nvSpPr>
          <p:spPr bwMode="auto">
            <a:xfrm>
              <a:off x="3168" y="1776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4835" name="Rectangle 44"/>
            <p:cNvSpPr>
              <a:spLocks noChangeArrowheads="1"/>
            </p:cNvSpPr>
            <p:nvPr/>
          </p:nvSpPr>
          <p:spPr bwMode="auto">
            <a:xfrm>
              <a:off x="3504" y="1776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4836" name="Rectangle 45"/>
            <p:cNvSpPr>
              <a:spLocks noChangeArrowheads="1"/>
            </p:cNvSpPr>
            <p:nvPr/>
          </p:nvSpPr>
          <p:spPr bwMode="auto">
            <a:xfrm>
              <a:off x="3840" y="1776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4837" name="Rectangle 46"/>
            <p:cNvSpPr>
              <a:spLocks noChangeArrowheads="1"/>
            </p:cNvSpPr>
            <p:nvPr/>
          </p:nvSpPr>
          <p:spPr bwMode="auto">
            <a:xfrm>
              <a:off x="4176" y="1776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4838" name="Rectangle 47"/>
            <p:cNvSpPr>
              <a:spLocks noChangeArrowheads="1"/>
            </p:cNvSpPr>
            <p:nvPr/>
          </p:nvSpPr>
          <p:spPr bwMode="auto">
            <a:xfrm>
              <a:off x="4512" y="1776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34839" name="Rectangle 48"/>
            <p:cNvSpPr>
              <a:spLocks noChangeArrowheads="1"/>
            </p:cNvSpPr>
            <p:nvPr/>
          </p:nvSpPr>
          <p:spPr bwMode="auto">
            <a:xfrm>
              <a:off x="3168" y="2064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34840" name="Rectangle 49"/>
            <p:cNvSpPr>
              <a:spLocks noChangeArrowheads="1"/>
            </p:cNvSpPr>
            <p:nvPr/>
          </p:nvSpPr>
          <p:spPr bwMode="auto">
            <a:xfrm>
              <a:off x="3504" y="2064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4841" name="Rectangle 50"/>
            <p:cNvSpPr>
              <a:spLocks noChangeArrowheads="1"/>
            </p:cNvSpPr>
            <p:nvPr/>
          </p:nvSpPr>
          <p:spPr bwMode="auto">
            <a:xfrm>
              <a:off x="3840" y="2064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4842" name="Rectangle 51"/>
            <p:cNvSpPr>
              <a:spLocks noChangeArrowheads="1"/>
            </p:cNvSpPr>
            <p:nvPr/>
          </p:nvSpPr>
          <p:spPr bwMode="auto">
            <a:xfrm>
              <a:off x="4176" y="2064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4843" name="Rectangle 52"/>
            <p:cNvSpPr>
              <a:spLocks noChangeArrowheads="1"/>
            </p:cNvSpPr>
            <p:nvPr/>
          </p:nvSpPr>
          <p:spPr bwMode="auto">
            <a:xfrm>
              <a:off x="4512" y="2064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34844" name="Rectangle 53"/>
            <p:cNvSpPr>
              <a:spLocks noChangeArrowheads="1"/>
            </p:cNvSpPr>
            <p:nvPr/>
          </p:nvSpPr>
          <p:spPr bwMode="auto">
            <a:xfrm>
              <a:off x="3168" y="2352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4845" name="Rectangle 54"/>
            <p:cNvSpPr>
              <a:spLocks noChangeArrowheads="1"/>
            </p:cNvSpPr>
            <p:nvPr/>
          </p:nvSpPr>
          <p:spPr bwMode="auto">
            <a:xfrm>
              <a:off x="3504" y="2352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34846" name="Rectangle 55"/>
            <p:cNvSpPr>
              <a:spLocks noChangeArrowheads="1"/>
            </p:cNvSpPr>
            <p:nvPr/>
          </p:nvSpPr>
          <p:spPr bwMode="auto">
            <a:xfrm>
              <a:off x="3840" y="2352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34847" name="Rectangle 56"/>
            <p:cNvSpPr>
              <a:spLocks noChangeArrowheads="1"/>
            </p:cNvSpPr>
            <p:nvPr/>
          </p:nvSpPr>
          <p:spPr bwMode="auto">
            <a:xfrm>
              <a:off x="4176" y="2352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34848" name="Rectangle 57"/>
            <p:cNvSpPr>
              <a:spLocks noChangeArrowheads="1"/>
            </p:cNvSpPr>
            <p:nvPr/>
          </p:nvSpPr>
          <p:spPr bwMode="auto">
            <a:xfrm>
              <a:off x="4512" y="2352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4849" name="Line 58"/>
            <p:cNvSpPr>
              <a:spLocks noChangeShapeType="1"/>
            </p:cNvSpPr>
            <p:nvPr/>
          </p:nvSpPr>
          <p:spPr bwMode="auto">
            <a:xfrm>
              <a:off x="3216" y="1248"/>
              <a:ext cx="1536" cy="1392"/>
            </a:xfrm>
            <a:prstGeom prst="line">
              <a:avLst/>
            </a:prstGeom>
            <a:noFill/>
            <a:ln w="57150">
              <a:solidFill>
                <a:srgbClr val="FFCC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6683" name="Rectangle 59"/>
          <p:cNvSpPr>
            <a:spLocks noChangeArrowheads="1"/>
          </p:cNvSpPr>
          <p:nvPr/>
        </p:nvSpPr>
        <p:spPr bwMode="auto">
          <a:xfrm>
            <a:off x="838200" y="4344988"/>
            <a:ext cx="8077200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>
                <a:schemeClr val="tx2"/>
              </a:buClr>
              <a:buFontTx/>
              <a:buChar char="•"/>
            </a:pPr>
            <a:r>
              <a:rPr lang="en-US" altLang="en-US" sz="3200">
                <a:solidFill>
                  <a:schemeClr val="bg2"/>
                </a:solidFill>
              </a:rPr>
              <a:t>Diagonal entries are zero.</a:t>
            </a:r>
          </a:p>
          <a:p>
            <a:pPr>
              <a:spcBef>
                <a:spcPct val="50000"/>
              </a:spcBef>
              <a:buClr>
                <a:schemeClr val="tx2"/>
              </a:buClr>
              <a:buFontTx/>
              <a:buChar char="•"/>
            </a:pPr>
            <a:r>
              <a:rPr lang="en-US" altLang="en-US" sz="3200">
                <a:solidFill>
                  <a:schemeClr val="bg2"/>
                </a:solidFill>
              </a:rPr>
              <a:t>Adjacency matrix of an undirected graph is symmetric. </a:t>
            </a:r>
          </a:p>
          <a:p>
            <a:pPr lvl="1"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US" altLang="en-US" sz="3200"/>
              <a:t>A(i,j) = A(j,i) </a:t>
            </a:r>
            <a:r>
              <a:rPr lang="en-US" altLang="en-US" sz="3200">
                <a:solidFill>
                  <a:schemeClr val="bg2"/>
                </a:solidFill>
              </a:rPr>
              <a:t>for all</a:t>
            </a:r>
            <a:r>
              <a:rPr lang="en-US" altLang="en-US" sz="3200"/>
              <a:t> i </a:t>
            </a:r>
            <a:r>
              <a:rPr lang="en-US" altLang="en-US" sz="3200">
                <a:solidFill>
                  <a:schemeClr val="bg2"/>
                </a:solidFill>
              </a:rPr>
              <a:t>and </a:t>
            </a:r>
            <a:r>
              <a:rPr lang="en-US" altLang="en-US" sz="3200"/>
              <a:t>j.</a:t>
            </a:r>
          </a:p>
        </p:txBody>
      </p:sp>
    </p:spTree>
    <p:extLst>
      <p:ext uri="{BB962C8B-B14F-4D97-AF65-F5344CB8AC3E}">
        <p14:creationId xmlns:p14="http://schemas.microsoft.com/office/powerpoint/2010/main" val="290514990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83" grpId="0" build="p" bldLvl="2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Adjacency Matrix (Digraph)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6070600"/>
            <a:ext cx="7772400" cy="25400"/>
          </a:xfrm>
        </p:spPr>
        <p:txBody>
          <a:bodyPr/>
          <a:lstStyle/>
          <a:p>
            <a:endParaRPr lang="en-US" altLang="en-US"/>
          </a:p>
        </p:txBody>
      </p:sp>
      <p:grpSp>
        <p:nvGrpSpPr>
          <p:cNvPr id="27707" name="Group 59"/>
          <p:cNvGrpSpPr>
            <a:grpSpLocks/>
          </p:cNvGrpSpPr>
          <p:nvPr/>
        </p:nvGrpSpPr>
        <p:grpSpPr bwMode="auto">
          <a:xfrm>
            <a:off x="615950" y="1447800"/>
            <a:ext cx="7004050" cy="2819400"/>
            <a:chOff x="388" y="912"/>
            <a:chExt cx="4412" cy="1776"/>
          </a:xfrm>
        </p:grpSpPr>
        <p:sp>
          <p:nvSpPr>
            <p:cNvPr id="35846" name="Oval 4"/>
            <p:cNvSpPr>
              <a:spLocks noChangeArrowheads="1"/>
            </p:cNvSpPr>
            <p:nvPr/>
          </p:nvSpPr>
          <p:spPr bwMode="auto">
            <a:xfrm>
              <a:off x="388" y="163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47" name="Oval 5"/>
            <p:cNvSpPr>
              <a:spLocks noChangeArrowheads="1"/>
            </p:cNvSpPr>
            <p:nvPr/>
          </p:nvSpPr>
          <p:spPr bwMode="auto">
            <a:xfrm>
              <a:off x="1012" y="110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48" name="Oval 6"/>
            <p:cNvSpPr>
              <a:spLocks noChangeArrowheads="1"/>
            </p:cNvSpPr>
            <p:nvPr/>
          </p:nvSpPr>
          <p:spPr bwMode="auto">
            <a:xfrm>
              <a:off x="2020" y="130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49" name="Oval 7"/>
            <p:cNvSpPr>
              <a:spLocks noChangeArrowheads="1"/>
            </p:cNvSpPr>
            <p:nvPr/>
          </p:nvSpPr>
          <p:spPr bwMode="auto">
            <a:xfrm>
              <a:off x="772" y="206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50" name="Oval 8"/>
            <p:cNvSpPr>
              <a:spLocks noChangeArrowheads="1"/>
            </p:cNvSpPr>
            <p:nvPr/>
          </p:nvSpPr>
          <p:spPr bwMode="auto">
            <a:xfrm>
              <a:off x="1732" y="216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51" name="Line 9"/>
            <p:cNvSpPr>
              <a:spLocks noChangeShapeType="1"/>
            </p:cNvSpPr>
            <p:nvPr/>
          </p:nvSpPr>
          <p:spPr bwMode="auto">
            <a:xfrm flipH="1">
              <a:off x="624" y="1344"/>
              <a:ext cx="384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852" name="Line 10"/>
            <p:cNvSpPr>
              <a:spLocks noChangeShapeType="1"/>
            </p:cNvSpPr>
            <p:nvPr/>
          </p:nvSpPr>
          <p:spPr bwMode="auto">
            <a:xfrm>
              <a:off x="1200" y="1392"/>
              <a:ext cx="624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853" name="Line 11"/>
            <p:cNvSpPr>
              <a:spLocks noChangeShapeType="1"/>
            </p:cNvSpPr>
            <p:nvPr/>
          </p:nvSpPr>
          <p:spPr bwMode="auto">
            <a:xfrm>
              <a:off x="624" y="1920"/>
              <a:ext cx="192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854" name="Line 12"/>
            <p:cNvSpPr>
              <a:spLocks noChangeShapeType="1"/>
            </p:cNvSpPr>
            <p:nvPr/>
          </p:nvSpPr>
          <p:spPr bwMode="auto">
            <a:xfrm flipH="1">
              <a:off x="1968" y="1536"/>
              <a:ext cx="288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855" name="Rectangle 13"/>
            <p:cNvSpPr>
              <a:spLocks noChangeArrowheads="1"/>
            </p:cNvSpPr>
            <p:nvPr/>
          </p:nvSpPr>
          <p:spPr bwMode="auto">
            <a:xfrm>
              <a:off x="1056" y="1152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5856" name="Rectangle 14"/>
            <p:cNvSpPr>
              <a:spLocks noChangeArrowheads="1"/>
            </p:cNvSpPr>
            <p:nvPr/>
          </p:nvSpPr>
          <p:spPr bwMode="auto">
            <a:xfrm>
              <a:off x="2064" y="1296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5857" name="Rectangle 15"/>
            <p:cNvSpPr>
              <a:spLocks noChangeArrowheads="1"/>
            </p:cNvSpPr>
            <p:nvPr/>
          </p:nvSpPr>
          <p:spPr bwMode="auto">
            <a:xfrm>
              <a:off x="432" y="1680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5858" name="Rectangle 16"/>
            <p:cNvSpPr>
              <a:spLocks noChangeArrowheads="1"/>
            </p:cNvSpPr>
            <p:nvPr/>
          </p:nvSpPr>
          <p:spPr bwMode="auto">
            <a:xfrm>
              <a:off x="816" y="2064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5859" name="Rectangle 17"/>
            <p:cNvSpPr>
              <a:spLocks noChangeArrowheads="1"/>
            </p:cNvSpPr>
            <p:nvPr/>
          </p:nvSpPr>
          <p:spPr bwMode="auto">
            <a:xfrm>
              <a:off x="1776" y="2208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5860" name="Line 18"/>
            <p:cNvSpPr>
              <a:spLocks noChangeShapeType="1"/>
            </p:cNvSpPr>
            <p:nvPr/>
          </p:nvSpPr>
          <p:spPr bwMode="auto">
            <a:xfrm>
              <a:off x="1056" y="2256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35861" name="Group 31"/>
            <p:cNvGrpSpPr>
              <a:grpSpLocks/>
            </p:cNvGrpSpPr>
            <p:nvPr/>
          </p:nvGrpSpPr>
          <p:grpSpPr bwMode="auto">
            <a:xfrm>
              <a:off x="2832" y="912"/>
              <a:ext cx="1968" cy="1776"/>
              <a:chOff x="2832" y="912"/>
              <a:chExt cx="1968" cy="1776"/>
            </a:xfrm>
          </p:grpSpPr>
          <p:sp>
            <p:nvSpPr>
              <p:cNvPr id="35887" name="Rectangle 19"/>
              <p:cNvSpPr>
                <a:spLocks noChangeArrowheads="1"/>
              </p:cNvSpPr>
              <p:nvPr/>
            </p:nvSpPr>
            <p:spPr bwMode="auto">
              <a:xfrm>
                <a:off x="3168" y="912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/>
                  <a:t>1</a:t>
                </a:r>
              </a:p>
            </p:txBody>
          </p:sp>
          <p:sp>
            <p:nvSpPr>
              <p:cNvPr id="35888" name="Rectangle 20"/>
              <p:cNvSpPr>
                <a:spLocks noChangeArrowheads="1"/>
              </p:cNvSpPr>
              <p:nvPr/>
            </p:nvSpPr>
            <p:spPr bwMode="auto">
              <a:xfrm>
                <a:off x="3504" y="912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/>
                  <a:t>2</a:t>
                </a:r>
              </a:p>
            </p:txBody>
          </p:sp>
          <p:sp>
            <p:nvSpPr>
              <p:cNvPr id="35889" name="Rectangle 21"/>
              <p:cNvSpPr>
                <a:spLocks noChangeArrowheads="1"/>
              </p:cNvSpPr>
              <p:nvPr/>
            </p:nvSpPr>
            <p:spPr bwMode="auto">
              <a:xfrm>
                <a:off x="3840" y="912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/>
                  <a:t>3</a:t>
                </a:r>
              </a:p>
            </p:txBody>
          </p:sp>
          <p:sp>
            <p:nvSpPr>
              <p:cNvPr id="35890" name="Rectangle 22"/>
              <p:cNvSpPr>
                <a:spLocks noChangeArrowheads="1"/>
              </p:cNvSpPr>
              <p:nvPr/>
            </p:nvSpPr>
            <p:spPr bwMode="auto">
              <a:xfrm>
                <a:off x="4176" y="912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/>
                  <a:t>4</a:t>
                </a:r>
              </a:p>
            </p:txBody>
          </p:sp>
          <p:sp>
            <p:nvSpPr>
              <p:cNvPr id="35891" name="Rectangle 23"/>
              <p:cNvSpPr>
                <a:spLocks noChangeArrowheads="1"/>
              </p:cNvSpPr>
              <p:nvPr/>
            </p:nvSpPr>
            <p:spPr bwMode="auto">
              <a:xfrm>
                <a:off x="4512" y="912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/>
                  <a:t>5</a:t>
                </a:r>
              </a:p>
            </p:txBody>
          </p:sp>
          <p:sp>
            <p:nvSpPr>
              <p:cNvPr id="35892" name="Line 24"/>
              <p:cNvSpPr>
                <a:spLocks noChangeShapeType="1"/>
              </p:cNvSpPr>
              <p:nvPr/>
            </p:nvSpPr>
            <p:spPr bwMode="auto">
              <a:xfrm>
                <a:off x="2928" y="1200"/>
                <a:ext cx="1872" cy="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893" name="Line 25"/>
              <p:cNvSpPr>
                <a:spLocks noChangeShapeType="1"/>
              </p:cNvSpPr>
              <p:nvPr/>
            </p:nvSpPr>
            <p:spPr bwMode="auto">
              <a:xfrm>
                <a:off x="3120" y="1008"/>
                <a:ext cx="0" cy="168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894" name="Rectangle 26"/>
              <p:cNvSpPr>
                <a:spLocks noChangeArrowheads="1"/>
              </p:cNvSpPr>
              <p:nvPr/>
            </p:nvSpPr>
            <p:spPr bwMode="auto">
              <a:xfrm>
                <a:off x="2832" y="1200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/>
                  <a:t>1</a:t>
                </a:r>
              </a:p>
            </p:txBody>
          </p:sp>
          <p:sp>
            <p:nvSpPr>
              <p:cNvPr id="35895" name="Rectangle 27"/>
              <p:cNvSpPr>
                <a:spLocks noChangeArrowheads="1"/>
              </p:cNvSpPr>
              <p:nvPr/>
            </p:nvSpPr>
            <p:spPr bwMode="auto">
              <a:xfrm>
                <a:off x="2832" y="1488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/>
                  <a:t>2</a:t>
                </a:r>
              </a:p>
            </p:txBody>
          </p:sp>
          <p:sp>
            <p:nvSpPr>
              <p:cNvPr id="35896" name="Rectangle 28"/>
              <p:cNvSpPr>
                <a:spLocks noChangeArrowheads="1"/>
              </p:cNvSpPr>
              <p:nvPr/>
            </p:nvSpPr>
            <p:spPr bwMode="auto">
              <a:xfrm>
                <a:off x="2832" y="1776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/>
                  <a:t>3</a:t>
                </a:r>
              </a:p>
            </p:txBody>
          </p:sp>
          <p:sp>
            <p:nvSpPr>
              <p:cNvPr id="35897" name="Rectangle 29"/>
              <p:cNvSpPr>
                <a:spLocks noChangeArrowheads="1"/>
              </p:cNvSpPr>
              <p:nvPr/>
            </p:nvSpPr>
            <p:spPr bwMode="auto">
              <a:xfrm>
                <a:off x="2832" y="2064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/>
                  <a:t>4</a:t>
                </a:r>
              </a:p>
            </p:txBody>
          </p:sp>
          <p:sp>
            <p:nvSpPr>
              <p:cNvPr id="35898" name="Rectangle 30"/>
              <p:cNvSpPr>
                <a:spLocks noChangeArrowheads="1"/>
              </p:cNvSpPr>
              <p:nvPr/>
            </p:nvSpPr>
            <p:spPr bwMode="auto">
              <a:xfrm>
                <a:off x="2832" y="2352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/>
                  <a:t>5</a:t>
                </a:r>
              </a:p>
            </p:txBody>
          </p:sp>
        </p:grpSp>
        <p:sp>
          <p:nvSpPr>
            <p:cNvPr id="35862" name="Rectangle 32"/>
            <p:cNvSpPr>
              <a:spLocks noChangeArrowheads="1"/>
            </p:cNvSpPr>
            <p:nvPr/>
          </p:nvSpPr>
          <p:spPr bwMode="auto">
            <a:xfrm>
              <a:off x="3168" y="1200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5863" name="Rectangle 33"/>
            <p:cNvSpPr>
              <a:spLocks noChangeArrowheads="1"/>
            </p:cNvSpPr>
            <p:nvPr/>
          </p:nvSpPr>
          <p:spPr bwMode="auto">
            <a:xfrm>
              <a:off x="3504" y="1200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5864" name="Rectangle 34"/>
            <p:cNvSpPr>
              <a:spLocks noChangeArrowheads="1"/>
            </p:cNvSpPr>
            <p:nvPr/>
          </p:nvSpPr>
          <p:spPr bwMode="auto">
            <a:xfrm>
              <a:off x="3840" y="1200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5865" name="Rectangle 35"/>
            <p:cNvSpPr>
              <a:spLocks noChangeArrowheads="1"/>
            </p:cNvSpPr>
            <p:nvPr/>
          </p:nvSpPr>
          <p:spPr bwMode="auto">
            <a:xfrm>
              <a:off x="4176" y="1200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35866" name="Rectangle 36"/>
            <p:cNvSpPr>
              <a:spLocks noChangeArrowheads="1"/>
            </p:cNvSpPr>
            <p:nvPr/>
          </p:nvSpPr>
          <p:spPr bwMode="auto">
            <a:xfrm>
              <a:off x="4512" y="1200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5867" name="Rectangle 37"/>
            <p:cNvSpPr>
              <a:spLocks noChangeArrowheads="1"/>
            </p:cNvSpPr>
            <p:nvPr/>
          </p:nvSpPr>
          <p:spPr bwMode="auto">
            <a:xfrm>
              <a:off x="3168" y="1488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35868" name="Rectangle 38"/>
            <p:cNvSpPr>
              <a:spLocks noChangeArrowheads="1"/>
            </p:cNvSpPr>
            <p:nvPr/>
          </p:nvSpPr>
          <p:spPr bwMode="auto">
            <a:xfrm>
              <a:off x="3504" y="1488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5869" name="Rectangle 39"/>
            <p:cNvSpPr>
              <a:spLocks noChangeArrowheads="1"/>
            </p:cNvSpPr>
            <p:nvPr/>
          </p:nvSpPr>
          <p:spPr bwMode="auto">
            <a:xfrm>
              <a:off x="3840" y="1488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5870" name="Rectangle 40"/>
            <p:cNvSpPr>
              <a:spLocks noChangeArrowheads="1"/>
            </p:cNvSpPr>
            <p:nvPr/>
          </p:nvSpPr>
          <p:spPr bwMode="auto">
            <a:xfrm>
              <a:off x="4176" y="1488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5871" name="Rectangle 41"/>
            <p:cNvSpPr>
              <a:spLocks noChangeArrowheads="1"/>
            </p:cNvSpPr>
            <p:nvPr/>
          </p:nvSpPr>
          <p:spPr bwMode="auto">
            <a:xfrm>
              <a:off x="4512" y="1488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35872" name="Rectangle 42"/>
            <p:cNvSpPr>
              <a:spLocks noChangeArrowheads="1"/>
            </p:cNvSpPr>
            <p:nvPr/>
          </p:nvSpPr>
          <p:spPr bwMode="auto">
            <a:xfrm>
              <a:off x="3168" y="1776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5873" name="Rectangle 43"/>
            <p:cNvSpPr>
              <a:spLocks noChangeArrowheads="1"/>
            </p:cNvSpPr>
            <p:nvPr/>
          </p:nvSpPr>
          <p:spPr bwMode="auto">
            <a:xfrm>
              <a:off x="3504" y="1776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5874" name="Rectangle 44"/>
            <p:cNvSpPr>
              <a:spLocks noChangeArrowheads="1"/>
            </p:cNvSpPr>
            <p:nvPr/>
          </p:nvSpPr>
          <p:spPr bwMode="auto">
            <a:xfrm>
              <a:off x="3840" y="1776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5875" name="Rectangle 45"/>
            <p:cNvSpPr>
              <a:spLocks noChangeArrowheads="1"/>
            </p:cNvSpPr>
            <p:nvPr/>
          </p:nvSpPr>
          <p:spPr bwMode="auto">
            <a:xfrm>
              <a:off x="4176" y="1776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5876" name="Rectangle 46"/>
            <p:cNvSpPr>
              <a:spLocks noChangeArrowheads="1"/>
            </p:cNvSpPr>
            <p:nvPr/>
          </p:nvSpPr>
          <p:spPr bwMode="auto">
            <a:xfrm>
              <a:off x="4512" y="1776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5877" name="Rectangle 47"/>
            <p:cNvSpPr>
              <a:spLocks noChangeArrowheads="1"/>
            </p:cNvSpPr>
            <p:nvPr/>
          </p:nvSpPr>
          <p:spPr bwMode="auto">
            <a:xfrm>
              <a:off x="3168" y="2064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5878" name="Rectangle 48"/>
            <p:cNvSpPr>
              <a:spLocks noChangeArrowheads="1"/>
            </p:cNvSpPr>
            <p:nvPr/>
          </p:nvSpPr>
          <p:spPr bwMode="auto">
            <a:xfrm>
              <a:off x="3504" y="2064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5879" name="Rectangle 49"/>
            <p:cNvSpPr>
              <a:spLocks noChangeArrowheads="1"/>
            </p:cNvSpPr>
            <p:nvPr/>
          </p:nvSpPr>
          <p:spPr bwMode="auto">
            <a:xfrm>
              <a:off x="3840" y="2064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5880" name="Rectangle 50"/>
            <p:cNvSpPr>
              <a:spLocks noChangeArrowheads="1"/>
            </p:cNvSpPr>
            <p:nvPr/>
          </p:nvSpPr>
          <p:spPr bwMode="auto">
            <a:xfrm>
              <a:off x="4176" y="2064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5881" name="Rectangle 51"/>
            <p:cNvSpPr>
              <a:spLocks noChangeArrowheads="1"/>
            </p:cNvSpPr>
            <p:nvPr/>
          </p:nvSpPr>
          <p:spPr bwMode="auto">
            <a:xfrm>
              <a:off x="4512" y="2064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35882" name="Rectangle 52"/>
            <p:cNvSpPr>
              <a:spLocks noChangeArrowheads="1"/>
            </p:cNvSpPr>
            <p:nvPr/>
          </p:nvSpPr>
          <p:spPr bwMode="auto">
            <a:xfrm>
              <a:off x="3168" y="2352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5883" name="Rectangle 53"/>
            <p:cNvSpPr>
              <a:spLocks noChangeArrowheads="1"/>
            </p:cNvSpPr>
            <p:nvPr/>
          </p:nvSpPr>
          <p:spPr bwMode="auto">
            <a:xfrm>
              <a:off x="3504" y="2352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35884" name="Rectangle 54"/>
            <p:cNvSpPr>
              <a:spLocks noChangeArrowheads="1"/>
            </p:cNvSpPr>
            <p:nvPr/>
          </p:nvSpPr>
          <p:spPr bwMode="auto">
            <a:xfrm>
              <a:off x="3840" y="2352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35885" name="Rectangle 55"/>
            <p:cNvSpPr>
              <a:spLocks noChangeArrowheads="1"/>
            </p:cNvSpPr>
            <p:nvPr/>
          </p:nvSpPr>
          <p:spPr bwMode="auto">
            <a:xfrm>
              <a:off x="4176" y="2352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35886" name="Rectangle 56"/>
            <p:cNvSpPr>
              <a:spLocks noChangeArrowheads="1"/>
            </p:cNvSpPr>
            <p:nvPr/>
          </p:nvSpPr>
          <p:spPr bwMode="auto">
            <a:xfrm>
              <a:off x="4512" y="2352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</a:t>
              </a:r>
            </a:p>
          </p:txBody>
        </p:sp>
      </p:grpSp>
      <p:sp>
        <p:nvSpPr>
          <p:cNvPr id="27705" name="Rectangle 57"/>
          <p:cNvSpPr>
            <a:spLocks noChangeArrowheads="1"/>
          </p:cNvSpPr>
          <p:nvPr/>
        </p:nvSpPr>
        <p:spPr bwMode="auto">
          <a:xfrm>
            <a:off x="838200" y="4344988"/>
            <a:ext cx="8077200" cy="179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>
                <a:schemeClr val="tx2"/>
              </a:buClr>
              <a:buFontTx/>
              <a:buChar char="•"/>
            </a:pPr>
            <a:r>
              <a:rPr lang="en-US" altLang="en-US" sz="3200">
                <a:solidFill>
                  <a:schemeClr val="bg2"/>
                </a:solidFill>
              </a:rPr>
              <a:t>Diagonal entries are zero.</a:t>
            </a:r>
          </a:p>
          <a:p>
            <a:pPr>
              <a:spcBef>
                <a:spcPct val="50000"/>
              </a:spcBef>
              <a:buClr>
                <a:schemeClr val="tx2"/>
              </a:buClr>
              <a:buFontTx/>
              <a:buChar char="•"/>
            </a:pPr>
            <a:r>
              <a:rPr lang="en-US" altLang="en-US" sz="3200">
                <a:solidFill>
                  <a:schemeClr val="bg2"/>
                </a:solidFill>
              </a:rPr>
              <a:t>Adjacency matrix of a digraph need not be symmetric. </a:t>
            </a:r>
          </a:p>
        </p:txBody>
      </p:sp>
    </p:spTree>
    <p:extLst>
      <p:ext uri="{BB962C8B-B14F-4D97-AF65-F5344CB8AC3E}">
        <p14:creationId xmlns:p14="http://schemas.microsoft.com/office/powerpoint/2010/main" val="278992367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05" grpId="0" build="p" bldLvl="2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Adjacency Matrix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buClr>
                <a:schemeClr val="tx2"/>
              </a:buClr>
            </a:pPr>
            <a:r>
              <a:rPr lang="en-US" altLang="en-US">
                <a:solidFill>
                  <a:schemeClr val="tx2"/>
                </a:solidFill>
              </a:rPr>
              <a:t>n</a:t>
            </a:r>
            <a:r>
              <a:rPr lang="en-US" altLang="en-US" baseline="30000">
                <a:solidFill>
                  <a:schemeClr val="tx2"/>
                </a:solidFill>
              </a:rPr>
              <a:t>2</a:t>
            </a:r>
            <a:r>
              <a:rPr lang="en-US" altLang="en-US">
                <a:solidFill>
                  <a:schemeClr val="tx2"/>
                </a:solidFill>
              </a:rPr>
              <a:t> </a:t>
            </a:r>
            <a:r>
              <a:rPr lang="en-US" altLang="en-US"/>
              <a:t>bits of space</a:t>
            </a:r>
          </a:p>
          <a:p>
            <a:pPr>
              <a:buClr>
                <a:schemeClr val="tx2"/>
              </a:buClr>
            </a:pPr>
            <a:r>
              <a:rPr lang="en-US" altLang="en-US"/>
              <a:t>For an undirected graph, may store only lower or upper triangle (exclude diagonal).</a:t>
            </a:r>
          </a:p>
          <a:p>
            <a:pPr lvl="1"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US" altLang="en-US"/>
              <a:t> </a:t>
            </a:r>
            <a:r>
              <a:rPr lang="en-US" altLang="en-US">
                <a:solidFill>
                  <a:schemeClr val="hlink"/>
                </a:solidFill>
              </a:rPr>
              <a:t>(n-1)n/2</a:t>
            </a:r>
            <a:r>
              <a:rPr lang="en-US" altLang="en-US"/>
              <a:t> bits</a:t>
            </a:r>
          </a:p>
          <a:p>
            <a:pPr>
              <a:buClr>
                <a:schemeClr val="tx2"/>
              </a:buClr>
            </a:pPr>
            <a:r>
              <a:rPr lang="en-US" altLang="en-US">
                <a:solidFill>
                  <a:schemeClr val="hlink"/>
                </a:solidFill>
              </a:rPr>
              <a:t>O(n) </a:t>
            </a:r>
            <a:r>
              <a:rPr lang="en-US" altLang="en-US"/>
              <a:t>time to find vertex degree and/or vertices adjacent to a given vertex.</a:t>
            </a:r>
          </a:p>
        </p:txBody>
      </p:sp>
    </p:spTree>
    <p:extLst>
      <p:ext uri="{BB962C8B-B14F-4D97-AF65-F5344CB8AC3E}">
        <p14:creationId xmlns:p14="http://schemas.microsoft.com/office/powerpoint/2010/main" val="946459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 bldLvl="2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Adjacency Lists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7772400" cy="533400"/>
          </a:xfrm>
          <a:noFill/>
        </p:spPr>
        <p:txBody>
          <a:bodyPr/>
          <a:lstStyle/>
          <a:p>
            <a:pPr>
              <a:buClr>
                <a:schemeClr val="tx2"/>
              </a:buClr>
            </a:pPr>
            <a:r>
              <a:rPr lang="en-US" altLang="en-US">
                <a:solidFill>
                  <a:schemeClr val="bg2"/>
                </a:solidFill>
              </a:rPr>
              <a:t>Adjacency list for vertex</a:t>
            </a:r>
            <a:r>
              <a:rPr lang="en-US" altLang="en-US">
                <a:solidFill>
                  <a:schemeClr val="hlink"/>
                </a:solidFill>
              </a:rPr>
              <a:t> i </a:t>
            </a:r>
            <a:r>
              <a:rPr lang="en-US" altLang="en-US">
                <a:solidFill>
                  <a:schemeClr val="bg2"/>
                </a:solidFill>
              </a:rPr>
              <a:t>is a linear list of</a:t>
            </a:r>
            <a:r>
              <a:rPr lang="en-US" altLang="en-US">
                <a:solidFill>
                  <a:schemeClr val="hlink"/>
                </a:solidFill>
              </a:rPr>
              <a:t> </a:t>
            </a:r>
            <a:r>
              <a:rPr lang="en-US" altLang="en-US">
                <a:solidFill>
                  <a:schemeClr val="bg2"/>
                </a:solidFill>
              </a:rPr>
              <a:t>vertices adjacent from vertex</a:t>
            </a:r>
            <a:r>
              <a:rPr lang="en-US" altLang="en-US">
                <a:solidFill>
                  <a:schemeClr val="hlink"/>
                </a:solidFill>
              </a:rPr>
              <a:t> i.</a:t>
            </a:r>
          </a:p>
          <a:p>
            <a:pPr>
              <a:buClr>
                <a:schemeClr val="tx2"/>
              </a:buClr>
            </a:pPr>
            <a:r>
              <a:rPr lang="en-US" altLang="en-US">
                <a:solidFill>
                  <a:schemeClr val="bg2"/>
                </a:solidFill>
              </a:rPr>
              <a:t>An array of</a:t>
            </a:r>
            <a:r>
              <a:rPr lang="en-US" altLang="en-US">
                <a:solidFill>
                  <a:schemeClr val="hlink"/>
                </a:solidFill>
              </a:rPr>
              <a:t> n </a:t>
            </a:r>
            <a:r>
              <a:rPr lang="en-US" altLang="en-US">
                <a:solidFill>
                  <a:schemeClr val="bg2"/>
                </a:solidFill>
              </a:rPr>
              <a:t>adjacency lists.</a:t>
            </a:r>
          </a:p>
        </p:txBody>
      </p:sp>
      <p:grpSp>
        <p:nvGrpSpPr>
          <p:cNvPr id="29715" name="Group 19"/>
          <p:cNvGrpSpPr>
            <a:grpSpLocks/>
          </p:cNvGrpSpPr>
          <p:nvPr/>
        </p:nvGrpSpPr>
        <p:grpSpPr bwMode="auto">
          <a:xfrm>
            <a:off x="539750" y="3816350"/>
            <a:ext cx="3035300" cy="2143125"/>
            <a:chOff x="340" y="2404"/>
            <a:chExt cx="1912" cy="1350"/>
          </a:xfrm>
        </p:grpSpPr>
        <p:sp>
          <p:nvSpPr>
            <p:cNvPr id="37894" name="Oval 4"/>
            <p:cNvSpPr>
              <a:spLocks noChangeArrowheads="1"/>
            </p:cNvSpPr>
            <p:nvPr/>
          </p:nvSpPr>
          <p:spPr bwMode="auto">
            <a:xfrm>
              <a:off x="340" y="2932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895" name="Oval 5"/>
            <p:cNvSpPr>
              <a:spLocks noChangeArrowheads="1"/>
            </p:cNvSpPr>
            <p:nvPr/>
          </p:nvSpPr>
          <p:spPr bwMode="auto">
            <a:xfrm>
              <a:off x="964" y="240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896" name="Oval 6"/>
            <p:cNvSpPr>
              <a:spLocks noChangeArrowheads="1"/>
            </p:cNvSpPr>
            <p:nvPr/>
          </p:nvSpPr>
          <p:spPr bwMode="auto">
            <a:xfrm>
              <a:off x="1972" y="259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897" name="Oval 7"/>
            <p:cNvSpPr>
              <a:spLocks noChangeArrowheads="1"/>
            </p:cNvSpPr>
            <p:nvPr/>
          </p:nvSpPr>
          <p:spPr bwMode="auto">
            <a:xfrm>
              <a:off x="724" y="336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898" name="Oval 8"/>
            <p:cNvSpPr>
              <a:spLocks noChangeArrowheads="1"/>
            </p:cNvSpPr>
            <p:nvPr/>
          </p:nvSpPr>
          <p:spPr bwMode="auto">
            <a:xfrm>
              <a:off x="1684" y="346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899" name="Line 9"/>
            <p:cNvSpPr>
              <a:spLocks noChangeShapeType="1"/>
            </p:cNvSpPr>
            <p:nvPr/>
          </p:nvSpPr>
          <p:spPr bwMode="auto">
            <a:xfrm flipH="1">
              <a:off x="576" y="2640"/>
              <a:ext cx="384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900" name="Line 10"/>
            <p:cNvSpPr>
              <a:spLocks noChangeShapeType="1"/>
            </p:cNvSpPr>
            <p:nvPr/>
          </p:nvSpPr>
          <p:spPr bwMode="auto">
            <a:xfrm>
              <a:off x="1152" y="2688"/>
              <a:ext cx="624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901" name="Line 11"/>
            <p:cNvSpPr>
              <a:spLocks noChangeShapeType="1"/>
            </p:cNvSpPr>
            <p:nvPr/>
          </p:nvSpPr>
          <p:spPr bwMode="auto">
            <a:xfrm>
              <a:off x="576" y="3216"/>
              <a:ext cx="192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902" name="Line 12"/>
            <p:cNvSpPr>
              <a:spLocks noChangeShapeType="1"/>
            </p:cNvSpPr>
            <p:nvPr/>
          </p:nvSpPr>
          <p:spPr bwMode="auto">
            <a:xfrm flipH="1">
              <a:off x="1920" y="2832"/>
              <a:ext cx="288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903" name="Rectangle 13"/>
            <p:cNvSpPr>
              <a:spLocks noChangeArrowheads="1"/>
            </p:cNvSpPr>
            <p:nvPr/>
          </p:nvSpPr>
          <p:spPr bwMode="auto">
            <a:xfrm>
              <a:off x="1008" y="2448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7904" name="Rectangle 14"/>
            <p:cNvSpPr>
              <a:spLocks noChangeArrowheads="1"/>
            </p:cNvSpPr>
            <p:nvPr/>
          </p:nvSpPr>
          <p:spPr bwMode="auto">
            <a:xfrm>
              <a:off x="2016" y="2592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7905" name="Rectangle 15"/>
            <p:cNvSpPr>
              <a:spLocks noChangeArrowheads="1"/>
            </p:cNvSpPr>
            <p:nvPr/>
          </p:nvSpPr>
          <p:spPr bwMode="auto">
            <a:xfrm>
              <a:off x="384" y="2976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7906" name="Rectangle 16"/>
            <p:cNvSpPr>
              <a:spLocks noChangeArrowheads="1"/>
            </p:cNvSpPr>
            <p:nvPr/>
          </p:nvSpPr>
          <p:spPr bwMode="auto">
            <a:xfrm>
              <a:off x="768" y="3360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7907" name="Rectangle 17"/>
            <p:cNvSpPr>
              <a:spLocks noChangeArrowheads="1"/>
            </p:cNvSpPr>
            <p:nvPr/>
          </p:nvSpPr>
          <p:spPr bwMode="auto">
            <a:xfrm>
              <a:off x="1728" y="3504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7908" name="Line 18"/>
            <p:cNvSpPr>
              <a:spLocks noChangeShapeType="1"/>
            </p:cNvSpPr>
            <p:nvPr/>
          </p:nvSpPr>
          <p:spPr bwMode="auto">
            <a:xfrm>
              <a:off x="1008" y="3552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9716" name="Rectangle 20"/>
          <p:cNvSpPr>
            <a:spLocks noChangeArrowheads="1"/>
          </p:cNvSpPr>
          <p:nvPr/>
        </p:nvSpPr>
        <p:spPr bwMode="auto">
          <a:xfrm>
            <a:off x="4038600" y="3125788"/>
            <a:ext cx="4800600" cy="308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aList[1] = (2,4)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aList[2] = (1,5)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aList[3] = (5)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aList[4] = (5,1)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aList[5] = (2,4,3)</a:t>
            </a:r>
          </a:p>
        </p:txBody>
      </p:sp>
    </p:spTree>
    <p:extLst>
      <p:ext uri="{BB962C8B-B14F-4D97-AF65-F5344CB8AC3E}">
        <p14:creationId xmlns:p14="http://schemas.microsoft.com/office/powerpoint/2010/main" val="105880526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 autoUpdateAnimBg="0"/>
      <p:bldP spid="29716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Linked Adjacency Lists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7772400" cy="533400"/>
          </a:xfrm>
          <a:noFill/>
        </p:spPr>
        <p:txBody>
          <a:bodyPr/>
          <a:lstStyle/>
          <a:p>
            <a:pPr>
              <a:buClr>
                <a:schemeClr val="tx2"/>
              </a:buClr>
            </a:pPr>
            <a:r>
              <a:rPr lang="en-US" altLang="en-US">
                <a:solidFill>
                  <a:schemeClr val="bg2"/>
                </a:solidFill>
              </a:rPr>
              <a:t>Each adjacency list is a chain.</a:t>
            </a:r>
          </a:p>
        </p:txBody>
      </p:sp>
      <p:grpSp>
        <p:nvGrpSpPr>
          <p:cNvPr id="30739" name="Group 19"/>
          <p:cNvGrpSpPr>
            <a:grpSpLocks/>
          </p:cNvGrpSpPr>
          <p:nvPr/>
        </p:nvGrpSpPr>
        <p:grpSpPr bwMode="auto">
          <a:xfrm>
            <a:off x="692150" y="2139950"/>
            <a:ext cx="3035300" cy="2143125"/>
            <a:chOff x="436" y="1348"/>
            <a:chExt cx="1912" cy="1350"/>
          </a:xfrm>
        </p:grpSpPr>
        <p:sp>
          <p:nvSpPr>
            <p:cNvPr id="38974" name="Oval 4"/>
            <p:cNvSpPr>
              <a:spLocks noChangeArrowheads="1"/>
            </p:cNvSpPr>
            <p:nvPr/>
          </p:nvSpPr>
          <p:spPr bwMode="auto">
            <a:xfrm>
              <a:off x="436" y="187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75" name="Oval 5"/>
            <p:cNvSpPr>
              <a:spLocks noChangeArrowheads="1"/>
            </p:cNvSpPr>
            <p:nvPr/>
          </p:nvSpPr>
          <p:spPr bwMode="auto">
            <a:xfrm>
              <a:off x="1060" y="134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76" name="Oval 6"/>
            <p:cNvSpPr>
              <a:spLocks noChangeArrowheads="1"/>
            </p:cNvSpPr>
            <p:nvPr/>
          </p:nvSpPr>
          <p:spPr bwMode="auto">
            <a:xfrm>
              <a:off x="2068" y="15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77" name="Oval 7"/>
            <p:cNvSpPr>
              <a:spLocks noChangeArrowheads="1"/>
            </p:cNvSpPr>
            <p:nvPr/>
          </p:nvSpPr>
          <p:spPr bwMode="auto">
            <a:xfrm>
              <a:off x="820" y="230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78" name="Oval 8"/>
            <p:cNvSpPr>
              <a:spLocks noChangeArrowheads="1"/>
            </p:cNvSpPr>
            <p:nvPr/>
          </p:nvSpPr>
          <p:spPr bwMode="auto">
            <a:xfrm>
              <a:off x="1780" y="240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79" name="Line 9"/>
            <p:cNvSpPr>
              <a:spLocks noChangeShapeType="1"/>
            </p:cNvSpPr>
            <p:nvPr/>
          </p:nvSpPr>
          <p:spPr bwMode="auto">
            <a:xfrm flipH="1">
              <a:off x="672" y="1584"/>
              <a:ext cx="384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980" name="Line 10"/>
            <p:cNvSpPr>
              <a:spLocks noChangeShapeType="1"/>
            </p:cNvSpPr>
            <p:nvPr/>
          </p:nvSpPr>
          <p:spPr bwMode="auto">
            <a:xfrm>
              <a:off x="1248" y="1632"/>
              <a:ext cx="624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981" name="Line 11"/>
            <p:cNvSpPr>
              <a:spLocks noChangeShapeType="1"/>
            </p:cNvSpPr>
            <p:nvPr/>
          </p:nvSpPr>
          <p:spPr bwMode="auto">
            <a:xfrm>
              <a:off x="672" y="2160"/>
              <a:ext cx="192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982" name="Line 12"/>
            <p:cNvSpPr>
              <a:spLocks noChangeShapeType="1"/>
            </p:cNvSpPr>
            <p:nvPr/>
          </p:nvSpPr>
          <p:spPr bwMode="auto">
            <a:xfrm flipH="1">
              <a:off x="2016" y="1776"/>
              <a:ext cx="288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983" name="Rectangle 13"/>
            <p:cNvSpPr>
              <a:spLocks noChangeArrowheads="1"/>
            </p:cNvSpPr>
            <p:nvPr/>
          </p:nvSpPr>
          <p:spPr bwMode="auto">
            <a:xfrm>
              <a:off x="1104" y="1392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8984" name="Rectangle 14"/>
            <p:cNvSpPr>
              <a:spLocks noChangeArrowheads="1"/>
            </p:cNvSpPr>
            <p:nvPr/>
          </p:nvSpPr>
          <p:spPr bwMode="auto">
            <a:xfrm>
              <a:off x="2112" y="1536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8985" name="Rectangle 15"/>
            <p:cNvSpPr>
              <a:spLocks noChangeArrowheads="1"/>
            </p:cNvSpPr>
            <p:nvPr/>
          </p:nvSpPr>
          <p:spPr bwMode="auto">
            <a:xfrm>
              <a:off x="480" y="1920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8986" name="Rectangle 16"/>
            <p:cNvSpPr>
              <a:spLocks noChangeArrowheads="1"/>
            </p:cNvSpPr>
            <p:nvPr/>
          </p:nvSpPr>
          <p:spPr bwMode="auto">
            <a:xfrm>
              <a:off x="864" y="2304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8987" name="Rectangle 17"/>
            <p:cNvSpPr>
              <a:spLocks noChangeArrowheads="1"/>
            </p:cNvSpPr>
            <p:nvPr/>
          </p:nvSpPr>
          <p:spPr bwMode="auto">
            <a:xfrm>
              <a:off x="1824" y="2448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8988" name="Line 18"/>
            <p:cNvSpPr>
              <a:spLocks noChangeShapeType="1"/>
            </p:cNvSpPr>
            <p:nvPr/>
          </p:nvSpPr>
          <p:spPr bwMode="auto">
            <a:xfrm>
              <a:off x="1104" y="2496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0750" name="Group 30"/>
          <p:cNvGrpSpPr>
            <a:grpSpLocks/>
          </p:cNvGrpSpPr>
          <p:nvPr/>
        </p:nvGrpSpPr>
        <p:grpSpPr bwMode="auto">
          <a:xfrm>
            <a:off x="4191000" y="2209800"/>
            <a:ext cx="1593850" cy="2043113"/>
            <a:chOff x="2640" y="1392"/>
            <a:chExt cx="1004" cy="1287"/>
          </a:xfrm>
        </p:grpSpPr>
        <p:sp>
          <p:nvSpPr>
            <p:cNvPr id="38964" name="Rectangle 20"/>
            <p:cNvSpPr>
              <a:spLocks noChangeArrowheads="1"/>
            </p:cNvSpPr>
            <p:nvPr/>
          </p:nvSpPr>
          <p:spPr bwMode="auto">
            <a:xfrm>
              <a:off x="3412" y="1444"/>
              <a:ext cx="232" cy="2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65" name="Rectangle 21"/>
            <p:cNvSpPr>
              <a:spLocks noChangeArrowheads="1"/>
            </p:cNvSpPr>
            <p:nvPr/>
          </p:nvSpPr>
          <p:spPr bwMode="auto">
            <a:xfrm>
              <a:off x="3412" y="1684"/>
              <a:ext cx="232" cy="2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66" name="Rectangle 22"/>
            <p:cNvSpPr>
              <a:spLocks noChangeArrowheads="1"/>
            </p:cNvSpPr>
            <p:nvPr/>
          </p:nvSpPr>
          <p:spPr bwMode="auto">
            <a:xfrm>
              <a:off x="3412" y="1924"/>
              <a:ext cx="232" cy="2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67" name="Rectangle 23"/>
            <p:cNvSpPr>
              <a:spLocks noChangeArrowheads="1"/>
            </p:cNvSpPr>
            <p:nvPr/>
          </p:nvSpPr>
          <p:spPr bwMode="auto">
            <a:xfrm>
              <a:off x="3412" y="2164"/>
              <a:ext cx="232" cy="2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68" name="Rectangle 24"/>
            <p:cNvSpPr>
              <a:spLocks noChangeArrowheads="1"/>
            </p:cNvSpPr>
            <p:nvPr/>
          </p:nvSpPr>
          <p:spPr bwMode="auto">
            <a:xfrm>
              <a:off x="3412" y="2404"/>
              <a:ext cx="232" cy="2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69" name="Rectangle 25"/>
            <p:cNvSpPr>
              <a:spLocks noChangeArrowheads="1"/>
            </p:cNvSpPr>
            <p:nvPr/>
          </p:nvSpPr>
          <p:spPr bwMode="auto">
            <a:xfrm>
              <a:off x="2640" y="1392"/>
              <a:ext cx="8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bg2"/>
                  </a:solidFill>
                </a:rPr>
                <a:t>aList[1]</a:t>
              </a:r>
            </a:p>
          </p:txBody>
        </p:sp>
        <p:sp>
          <p:nvSpPr>
            <p:cNvPr id="38970" name="Rectangle 26"/>
            <p:cNvSpPr>
              <a:spLocks noChangeArrowheads="1"/>
            </p:cNvSpPr>
            <p:nvPr/>
          </p:nvSpPr>
          <p:spPr bwMode="auto">
            <a:xfrm>
              <a:off x="2640" y="2352"/>
              <a:ext cx="8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bg2"/>
                  </a:solidFill>
                </a:rPr>
                <a:t>aList[5]</a:t>
              </a:r>
            </a:p>
          </p:txBody>
        </p:sp>
        <p:sp>
          <p:nvSpPr>
            <p:cNvPr id="38971" name="Rectangle 27"/>
            <p:cNvSpPr>
              <a:spLocks noChangeArrowheads="1"/>
            </p:cNvSpPr>
            <p:nvPr/>
          </p:nvSpPr>
          <p:spPr bwMode="auto">
            <a:xfrm>
              <a:off x="3072" y="163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bg2"/>
                  </a:solidFill>
                </a:rPr>
                <a:t>[2]</a:t>
              </a:r>
            </a:p>
          </p:txBody>
        </p:sp>
        <p:sp>
          <p:nvSpPr>
            <p:cNvPr id="38972" name="Rectangle 28"/>
            <p:cNvSpPr>
              <a:spLocks noChangeArrowheads="1"/>
            </p:cNvSpPr>
            <p:nvPr/>
          </p:nvSpPr>
          <p:spPr bwMode="auto">
            <a:xfrm>
              <a:off x="3072" y="187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bg2"/>
                  </a:solidFill>
                </a:rPr>
                <a:t>[3]</a:t>
              </a:r>
            </a:p>
          </p:txBody>
        </p:sp>
        <p:sp>
          <p:nvSpPr>
            <p:cNvPr id="38973" name="Rectangle 29"/>
            <p:cNvSpPr>
              <a:spLocks noChangeArrowheads="1"/>
            </p:cNvSpPr>
            <p:nvPr/>
          </p:nvSpPr>
          <p:spPr bwMode="auto">
            <a:xfrm>
              <a:off x="3072" y="211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bg2"/>
                  </a:solidFill>
                </a:rPr>
                <a:t>[4]</a:t>
              </a:r>
            </a:p>
          </p:txBody>
        </p:sp>
      </p:grpSp>
      <p:grpSp>
        <p:nvGrpSpPr>
          <p:cNvPr id="30759" name="Group 39"/>
          <p:cNvGrpSpPr>
            <a:grpSpLocks/>
          </p:cNvGrpSpPr>
          <p:nvPr/>
        </p:nvGrpSpPr>
        <p:grpSpPr bwMode="auto">
          <a:xfrm>
            <a:off x="5562600" y="2209800"/>
            <a:ext cx="2279650" cy="519113"/>
            <a:chOff x="3504" y="1392"/>
            <a:chExt cx="1436" cy="327"/>
          </a:xfrm>
        </p:grpSpPr>
        <p:sp>
          <p:nvSpPr>
            <p:cNvPr id="38956" name="Rectangle 31"/>
            <p:cNvSpPr>
              <a:spLocks noChangeArrowheads="1"/>
            </p:cNvSpPr>
            <p:nvPr/>
          </p:nvSpPr>
          <p:spPr bwMode="auto">
            <a:xfrm>
              <a:off x="3844" y="1444"/>
              <a:ext cx="280" cy="1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57" name="Rectangle 32"/>
            <p:cNvSpPr>
              <a:spLocks noChangeArrowheads="1"/>
            </p:cNvSpPr>
            <p:nvPr/>
          </p:nvSpPr>
          <p:spPr bwMode="auto">
            <a:xfrm>
              <a:off x="3878" y="1392"/>
              <a:ext cx="1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38958" name="Rectangle 33"/>
            <p:cNvSpPr>
              <a:spLocks noChangeArrowheads="1"/>
            </p:cNvSpPr>
            <p:nvPr/>
          </p:nvSpPr>
          <p:spPr bwMode="auto">
            <a:xfrm>
              <a:off x="4132" y="1444"/>
              <a:ext cx="184" cy="184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59" name="Rectangle 34"/>
            <p:cNvSpPr>
              <a:spLocks noChangeArrowheads="1"/>
            </p:cNvSpPr>
            <p:nvPr/>
          </p:nvSpPr>
          <p:spPr bwMode="auto">
            <a:xfrm>
              <a:off x="4468" y="1444"/>
              <a:ext cx="280" cy="1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60" name="Rectangle 35"/>
            <p:cNvSpPr>
              <a:spLocks noChangeArrowheads="1"/>
            </p:cNvSpPr>
            <p:nvPr/>
          </p:nvSpPr>
          <p:spPr bwMode="auto">
            <a:xfrm>
              <a:off x="4502" y="1392"/>
              <a:ext cx="1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38961" name="Rectangle 36"/>
            <p:cNvSpPr>
              <a:spLocks noChangeArrowheads="1"/>
            </p:cNvSpPr>
            <p:nvPr/>
          </p:nvSpPr>
          <p:spPr bwMode="auto">
            <a:xfrm>
              <a:off x="4756" y="1444"/>
              <a:ext cx="184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62" name="Line 37"/>
            <p:cNvSpPr>
              <a:spLocks noChangeShapeType="1"/>
            </p:cNvSpPr>
            <p:nvPr/>
          </p:nvSpPr>
          <p:spPr bwMode="auto">
            <a:xfrm>
              <a:off x="3504" y="1536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963" name="Line 38"/>
            <p:cNvSpPr>
              <a:spLocks noChangeShapeType="1"/>
            </p:cNvSpPr>
            <p:nvPr/>
          </p:nvSpPr>
          <p:spPr bwMode="auto">
            <a:xfrm>
              <a:off x="4224" y="1536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0768" name="Group 48"/>
          <p:cNvGrpSpPr>
            <a:grpSpLocks/>
          </p:cNvGrpSpPr>
          <p:nvPr/>
        </p:nvGrpSpPr>
        <p:grpSpPr bwMode="auto">
          <a:xfrm>
            <a:off x="5562600" y="2590800"/>
            <a:ext cx="2279650" cy="519113"/>
            <a:chOff x="3504" y="1632"/>
            <a:chExt cx="1436" cy="327"/>
          </a:xfrm>
        </p:grpSpPr>
        <p:sp>
          <p:nvSpPr>
            <p:cNvPr id="38948" name="Rectangle 40"/>
            <p:cNvSpPr>
              <a:spLocks noChangeArrowheads="1"/>
            </p:cNvSpPr>
            <p:nvPr/>
          </p:nvSpPr>
          <p:spPr bwMode="auto">
            <a:xfrm>
              <a:off x="3844" y="1684"/>
              <a:ext cx="280" cy="1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49" name="Rectangle 41"/>
            <p:cNvSpPr>
              <a:spLocks noChangeArrowheads="1"/>
            </p:cNvSpPr>
            <p:nvPr/>
          </p:nvSpPr>
          <p:spPr bwMode="auto">
            <a:xfrm>
              <a:off x="3878" y="1632"/>
              <a:ext cx="1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38950" name="Rectangle 42"/>
            <p:cNvSpPr>
              <a:spLocks noChangeArrowheads="1"/>
            </p:cNvSpPr>
            <p:nvPr/>
          </p:nvSpPr>
          <p:spPr bwMode="auto">
            <a:xfrm>
              <a:off x="4132" y="1684"/>
              <a:ext cx="184" cy="184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51" name="Rectangle 43"/>
            <p:cNvSpPr>
              <a:spLocks noChangeArrowheads="1"/>
            </p:cNvSpPr>
            <p:nvPr/>
          </p:nvSpPr>
          <p:spPr bwMode="auto">
            <a:xfrm>
              <a:off x="4468" y="1684"/>
              <a:ext cx="280" cy="1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52" name="Rectangle 44"/>
            <p:cNvSpPr>
              <a:spLocks noChangeArrowheads="1"/>
            </p:cNvSpPr>
            <p:nvPr/>
          </p:nvSpPr>
          <p:spPr bwMode="auto">
            <a:xfrm>
              <a:off x="4502" y="1632"/>
              <a:ext cx="1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5</a:t>
              </a:r>
            </a:p>
          </p:txBody>
        </p:sp>
        <p:sp>
          <p:nvSpPr>
            <p:cNvPr id="38953" name="Rectangle 45"/>
            <p:cNvSpPr>
              <a:spLocks noChangeArrowheads="1"/>
            </p:cNvSpPr>
            <p:nvPr/>
          </p:nvSpPr>
          <p:spPr bwMode="auto">
            <a:xfrm>
              <a:off x="4756" y="1684"/>
              <a:ext cx="184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54" name="Line 46"/>
            <p:cNvSpPr>
              <a:spLocks noChangeShapeType="1"/>
            </p:cNvSpPr>
            <p:nvPr/>
          </p:nvSpPr>
          <p:spPr bwMode="auto">
            <a:xfrm>
              <a:off x="3504" y="1776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955" name="Line 47"/>
            <p:cNvSpPr>
              <a:spLocks noChangeShapeType="1"/>
            </p:cNvSpPr>
            <p:nvPr/>
          </p:nvSpPr>
          <p:spPr bwMode="auto">
            <a:xfrm>
              <a:off x="4224" y="1776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0773" name="Group 53"/>
          <p:cNvGrpSpPr>
            <a:grpSpLocks/>
          </p:cNvGrpSpPr>
          <p:nvPr/>
        </p:nvGrpSpPr>
        <p:grpSpPr bwMode="auto">
          <a:xfrm>
            <a:off x="5562600" y="2971800"/>
            <a:ext cx="1289050" cy="519113"/>
            <a:chOff x="3504" y="1872"/>
            <a:chExt cx="812" cy="327"/>
          </a:xfrm>
        </p:grpSpPr>
        <p:sp>
          <p:nvSpPr>
            <p:cNvPr id="38944" name="Rectangle 49"/>
            <p:cNvSpPr>
              <a:spLocks noChangeArrowheads="1"/>
            </p:cNvSpPr>
            <p:nvPr/>
          </p:nvSpPr>
          <p:spPr bwMode="auto">
            <a:xfrm>
              <a:off x="3844" y="1924"/>
              <a:ext cx="280" cy="1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45" name="Rectangle 50"/>
            <p:cNvSpPr>
              <a:spLocks noChangeArrowheads="1"/>
            </p:cNvSpPr>
            <p:nvPr/>
          </p:nvSpPr>
          <p:spPr bwMode="auto">
            <a:xfrm>
              <a:off x="4132" y="1924"/>
              <a:ext cx="184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46" name="Line 51"/>
            <p:cNvSpPr>
              <a:spLocks noChangeShapeType="1"/>
            </p:cNvSpPr>
            <p:nvPr/>
          </p:nvSpPr>
          <p:spPr bwMode="auto">
            <a:xfrm>
              <a:off x="3504" y="2016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947" name="Rectangle 52"/>
            <p:cNvSpPr>
              <a:spLocks noChangeArrowheads="1"/>
            </p:cNvSpPr>
            <p:nvPr/>
          </p:nvSpPr>
          <p:spPr bwMode="auto">
            <a:xfrm>
              <a:off x="3878" y="1872"/>
              <a:ext cx="1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5</a:t>
              </a:r>
            </a:p>
          </p:txBody>
        </p:sp>
      </p:grpSp>
      <p:grpSp>
        <p:nvGrpSpPr>
          <p:cNvPr id="30782" name="Group 62"/>
          <p:cNvGrpSpPr>
            <a:grpSpLocks/>
          </p:cNvGrpSpPr>
          <p:nvPr/>
        </p:nvGrpSpPr>
        <p:grpSpPr bwMode="auto">
          <a:xfrm>
            <a:off x="5562600" y="3352800"/>
            <a:ext cx="2279650" cy="519113"/>
            <a:chOff x="3504" y="2112"/>
            <a:chExt cx="1436" cy="327"/>
          </a:xfrm>
        </p:grpSpPr>
        <p:sp>
          <p:nvSpPr>
            <p:cNvPr id="38936" name="Rectangle 54"/>
            <p:cNvSpPr>
              <a:spLocks noChangeArrowheads="1"/>
            </p:cNvSpPr>
            <p:nvPr/>
          </p:nvSpPr>
          <p:spPr bwMode="auto">
            <a:xfrm>
              <a:off x="3844" y="2164"/>
              <a:ext cx="280" cy="1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37" name="Rectangle 55"/>
            <p:cNvSpPr>
              <a:spLocks noChangeArrowheads="1"/>
            </p:cNvSpPr>
            <p:nvPr/>
          </p:nvSpPr>
          <p:spPr bwMode="auto">
            <a:xfrm>
              <a:off x="4132" y="2164"/>
              <a:ext cx="184" cy="184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38" name="Rectangle 56"/>
            <p:cNvSpPr>
              <a:spLocks noChangeArrowheads="1"/>
            </p:cNvSpPr>
            <p:nvPr/>
          </p:nvSpPr>
          <p:spPr bwMode="auto">
            <a:xfrm>
              <a:off x="4468" y="2164"/>
              <a:ext cx="280" cy="1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39" name="Rectangle 57"/>
            <p:cNvSpPr>
              <a:spLocks noChangeArrowheads="1"/>
            </p:cNvSpPr>
            <p:nvPr/>
          </p:nvSpPr>
          <p:spPr bwMode="auto">
            <a:xfrm>
              <a:off x="4756" y="2164"/>
              <a:ext cx="184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40" name="Line 58"/>
            <p:cNvSpPr>
              <a:spLocks noChangeShapeType="1"/>
            </p:cNvSpPr>
            <p:nvPr/>
          </p:nvSpPr>
          <p:spPr bwMode="auto">
            <a:xfrm>
              <a:off x="3504" y="2256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941" name="Line 59"/>
            <p:cNvSpPr>
              <a:spLocks noChangeShapeType="1"/>
            </p:cNvSpPr>
            <p:nvPr/>
          </p:nvSpPr>
          <p:spPr bwMode="auto">
            <a:xfrm>
              <a:off x="4224" y="2256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942" name="Rectangle 60"/>
            <p:cNvSpPr>
              <a:spLocks noChangeArrowheads="1"/>
            </p:cNvSpPr>
            <p:nvPr/>
          </p:nvSpPr>
          <p:spPr bwMode="auto">
            <a:xfrm>
              <a:off x="3878" y="2112"/>
              <a:ext cx="1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5</a:t>
              </a:r>
            </a:p>
          </p:txBody>
        </p:sp>
        <p:sp>
          <p:nvSpPr>
            <p:cNvPr id="38943" name="Rectangle 61"/>
            <p:cNvSpPr>
              <a:spLocks noChangeArrowheads="1"/>
            </p:cNvSpPr>
            <p:nvPr/>
          </p:nvSpPr>
          <p:spPr bwMode="auto">
            <a:xfrm>
              <a:off x="4502" y="2112"/>
              <a:ext cx="1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1</a:t>
              </a:r>
            </a:p>
          </p:txBody>
        </p:sp>
      </p:grpSp>
      <p:grpSp>
        <p:nvGrpSpPr>
          <p:cNvPr id="30795" name="Group 75"/>
          <p:cNvGrpSpPr>
            <a:grpSpLocks/>
          </p:cNvGrpSpPr>
          <p:nvPr/>
        </p:nvGrpSpPr>
        <p:grpSpPr bwMode="auto">
          <a:xfrm>
            <a:off x="5562600" y="3733800"/>
            <a:ext cx="3422650" cy="519113"/>
            <a:chOff x="3504" y="2352"/>
            <a:chExt cx="2156" cy="327"/>
          </a:xfrm>
        </p:grpSpPr>
        <p:sp>
          <p:nvSpPr>
            <p:cNvPr id="38924" name="Rectangle 63"/>
            <p:cNvSpPr>
              <a:spLocks noChangeArrowheads="1"/>
            </p:cNvSpPr>
            <p:nvPr/>
          </p:nvSpPr>
          <p:spPr bwMode="auto">
            <a:xfrm>
              <a:off x="3844" y="2404"/>
              <a:ext cx="280" cy="1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25" name="Line 64"/>
            <p:cNvSpPr>
              <a:spLocks noChangeShapeType="1"/>
            </p:cNvSpPr>
            <p:nvPr/>
          </p:nvSpPr>
          <p:spPr bwMode="auto">
            <a:xfrm>
              <a:off x="3504" y="2496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926" name="Rectangle 65"/>
            <p:cNvSpPr>
              <a:spLocks noChangeArrowheads="1"/>
            </p:cNvSpPr>
            <p:nvPr/>
          </p:nvSpPr>
          <p:spPr bwMode="auto">
            <a:xfrm>
              <a:off x="3878" y="2352"/>
              <a:ext cx="1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38927" name="Rectangle 66"/>
            <p:cNvSpPr>
              <a:spLocks noChangeArrowheads="1"/>
            </p:cNvSpPr>
            <p:nvPr/>
          </p:nvSpPr>
          <p:spPr bwMode="auto">
            <a:xfrm>
              <a:off x="4132" y="2404"/>
              <a:ext cx="184" cy="184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28" name="Rectangle 67"/>
            <p:cNvSpPr>
              <a:spLocks noChangeArrowheads="1"/>
            </p:cNvSpPr>
            <p:nvPr/>
          </p:nvSpPr>
          <p:spPr bwMode="auto">
            <a:xfrm>
              <a:off x="4468" y="2404"/>
              <a:ext cx="280" cy="1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29" name="Rectangle 68"/>
            <p:cNvSpPr>
              <a:spLocks noChangeArrowheads="1"/>
            </p:cNvSpPr>
            <p:nvPr/>
          </p:nvSpPr>
          <p:spPr bwMode="auto">
            <a:xfrm>
              <a:off x="4756" y="2404"/>
              <a:ext cx="184" cy="184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30" name="Line 69"/>
            <p:cNvSpPr>
              <a:spLocks noChangeShapeType="1"/>
            </p:cNvSpPr>
            <p:nvPr/>
          </p:nvSpPr>
          <p:spPr bwMode="auto">
            <a:xfrm>
              <a:off x="4224" y="2496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931" name="Rectangle 70"/>
            <p:cNvSpPr>
              <a:spLocks noChangeArrowheads="1"/>
            </p:cNvSpPr>
            <p:nvPr/>
          </p:nvSpPr>
          <p:spPr bwMode="auto">
            <a:xfrm>
              <a:off x="5188" y="2404"/>
              <a:ext cx="280" cy="1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32" name="Rectangle 71"/>
            <p:cNvSpPr>
              <a:spLocks noChangeArrowheads="1"/>
            </p:cNvSpPr>
            <p:nvPr/>
          </p:nvSpPr>
          <p:spPr bwMode="auto">
            <a:xfrm>
              <a:off x="5476" y="2404"/>
              <a:ext cx="184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8933" name="Line 72"/>
            <p:cNvSpPr>
              <a:spLocks noChangeShapeType="1"/>
            </p:cNvSpPr>
            <p:nvPr/>
          </p:nvSpPr>
          <p:spPr bwMode="auto">
            <a:xfrm>
              <a:off x="4848" y="2496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934" name="Rectangle 73"/>
            <p:cNvSpPr>
              <a:spLocks noChangeArrowheads="1"/>
            </p:cNvSpPr>
            <p:nvPr/>
          </p:nvSpPr>
          <p:spPr bwMode="auto">
            <a:xfrm>
              <a:off x="4502" y="2352"/>
              <a:ext cx="1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38935" name="Rectangle 74"/>
            <p:cNvSpPr>
              <a:spLocks noChangeArrowheads="1"/>
            </p:cNvSpPr>
            <p:nvPr/>
          </p:nvSpPr>
          <p:spPr bwMode="auto">
            <a:xfrm>
              <a:off x="5222" y="2352"/>
              <a:ext cx="1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3</a:t>
              </a:r>
            </a:p>
          </p:txBody>
        </p:sp>
      </p:grpSp>
      <p:sp>
        <p:nvSpPr>
          <p:cNvPr id="30796" name="Rectangle 76"/>
          <p:cNvSpPr>
            <a:spLocks noChangeArrowheads="1"/>
          </p:cNvSpPr>
          <p:nvPr/>
        </p:nvSpPr>
        <p:spPr bwMode="auto">
          <a:xfrm>
            <a:off x="685800" y="5105400"/>
            <a:ext cx="8382000" cy="244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Array Length</a:t>
            </a:r>
            <a:r>
              <a:rPr lang="en-US" altLang="en-US"/>
              <a:t> = n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# of chain nodes</a:t>
            </a:r>
            <a:r>
              <a:rPr lang="en-US" altLang="en-US"/>
              <a:t> = 2e </a:t>
            </a:r>
            <a:r>
              <a:rPr lang="en-US" altLang="en-US">
                <a:solidFill>
                  <a:schemeClr val="bg2"/>
                </a:solidFill>
              </a:rPr>
              <a:t>(undirected graph)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# of chain nodes</a:t>
            </a:r>
            <a:r>
              <a:rPr lang="en-US" altLang="en-US"/>
              <a:t> = e </a:t>
            </a:r>
            <a:r>
              <a:rPr lang="en-US" altLang="en-US">
                <a:solidFill>
                  <a:schemeClr val="bg2"/>
                </a:solidFill>
              </a:rPr>
              <a:t>(digraph)</a:t>
            </a:r>
          </a:p>
          <a:p>
            <a:pPr>
              <a:spcBef>
                <a:spcPct val="50000"/>
              </a:spcBef>
            </a:pPr>
            <a:endParaRPr lang="en-US" alt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00058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 autoUpdateAnimBg="0"/>
      <p:bldP spid="30796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Array Adjacency Lists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7772400" cy="533400"/>
          </a:xfrm>
          <a:noFill/>
        </p:spPr>
        <p:txBody>
          <a:bodyPr/>
          <a:lstStyle/>
          <a:p>
            <a:pPr>
              <a:buClr>
                <a:schemeClr val="tx2"/>
              </a:buClr>
            </a:pPr>
            <a:r>
              <a:rPr lang="en-US" altLang="en-US">
                <a:solidFill>
                  <a:schemeClr val="bg2"/>
                </a:solidFill>
              </a:rPr>
              <a:t>Each adjacency list is an array list.</a:t>
            </a:r>
          </a:p>
        </p:txBody>
      </p:sp>
      <p:grpSp>
        <p:nvGrpSpPr>
          <p:cNvPr id="31799" name="Group 55"/>
          <p:cNvGrpSpPr>
            <a:grpSpLocks/>
          </p:cNvGrpSpPr>
          <p:nvPr/>
        </p:nvGrpSpPr>
        <p:grpSpPr bwMode="auto">
          <a:xfrm>
            <a:off x="692150" y="2139950"/>
            <a:ext cx="6769100" cy="2143125"/>
            <a:chOff x="436" y="1348"/>
            <a:chExt cx="4264" cy="1350"/>
          </a:xfrm>
        </p:grpSpPr>
        <p:sp>
          <p:nvSpPr>
            <p:cNvPr id="40966" name="Oval 4"/>
            <p:cNvSpPr>
              <a:spLocks noChangeArrowheads="1"/>
            </p:cNvSpPr>
            <p:nvPr/>
          </p:nvSpPr>
          <p:spPr bwMode="auto">
            <a:xfrm>
              <a:off x="436" y="187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40967" name="Oval 5"/>
            <p:cNvSpPr>
              <a:spLocks noChangeArrowheads="1"/>
            </p:cNvSpPr>
            <p:nvPr/>
          </p:nvSpPr>
          <p:spPr bwMode="auto">
            <a:xfrm>
              <a:off x="1060" y="134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40968" name="Oval 6"/>
            <p:cNvSpPr>
              <a:spLocks noChangeArrowheads="1"/>
            </p:cNvSpPr>
            <p:nvPr/>
          </p:nvSpPr>
          <p:spPr bwMode="auto">
            <a:xfrm>
              <a:off x="2068" y="15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40969" name="Oval 7"/>
            <p:cNvSpPr>
              <a:spLocks noChangeArrowheads="1"/>
            </p:cNvSpPr>
            <p:nvPr/>
          </p:nvSpPr>
          <p:spPr bwMode="auto">
            <a:xfrm>
              <a:off x="820" y="230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40970" name="Oval 8"/>
            <p:cNvSpPr>
              <a:spLocks noChangeArrowheads="1"/>
            </p:cNvSpPr>
            <p:nvPr/>
          </p:nvSpPr>
          <p:spPr bwMode="auto">
            <a:xfrm>
              <a:off x="1780" y="240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40971" name="Line 9"/>
            <p:cNvSpPr>
              <a:spLocks noChangeShapeType="1"/>
            </p:cNvSpPr>
            <p:nvPr/>
          </p:nvSpPr>
          <p:spPr bwMode="auto">
            <a:xfrm flipH="1">
              <a:off x="672" y="1584"/>
              <a:ext cx="384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972" name="Line 10"/>
            <p:cNvSpPr>
              <a:spLocks noChangeShapeType="1"/>
            </p:cNvSpPr>
            <p:nvPr/>
          </p:nvSpPr>
          <p:spPr bwMode="auto">
            <a:xfrm>
              <a:off x="1248" y="1632"/>
              <a:ext cx="624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973" name="Line 11"/>
            <p:cNvSpPr>
              <a:spLocks noChangeShapeType="1"/>
            </p:cNvSpPr>
            <p:nvPr/>
          </p:nvSpPr>
          <p:spPr bwMode="auto">
            <a:xfrm>
              <a:off x="672" y="2160"/>
              <a:ext cx="192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974" name="Line 12"/>
            <p:cNvSpPr>
              <a:spLocks noChangeShapeType="1"/>
            </p:cNvSpPr>
            <p:nvPr/>
          </p:nvSpPr>
          <p:spPr bwMode="auto">
            <a:xfrm flipH="1">
              <a:off x="2016" y="1776"/>
              <a:ext cx="288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975" name="Rectangle 13"/>
            <p:cNvSpPr>
              <a:spLocks noChangeArrowheads="1"/>
            </p:cNvSpPr>
            <p:nvPr/>
          </p:nvSpPr>
          <p:spPr bwMode="auto">
            <a:xfrm>
              <a:off x="1104" y="1392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0976" name="Rectangle 14"/>
            <p:cNvSpPr>
              <a:spLocks noChangeArrowheads="1"/>
            </p:cNvSpPr>
            <p:nvPr/>
          </p:nvSpPr>
          <p:spPr bwMode="auto">
            <a:xfrm>
              <a:off x="2112" y="1536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0977" name="Rectangle 15"/>
            <p:cNvSpPr>
              <a:spLocks noChangeArrowheads="1"/>
            </p:cNvSpPr>
            <p:nvPr/>
          </p:nvSpPr>
          <p:spPr bwMode="auto">
            <a:xfrm>
              <a:off x="480" y="1920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0978" name="Rectangle 16"/>
            <p:cNvSpPr>
              <a:spLocks noChangeArrowheads="1"/>
            </p:cNvSpPr>
            <p:nvPr/>
          </p:nvSpPr>
          <p:spPr bwMode="auto">
            <a:xfrm>
              <a:off x="864" y="2304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0979" name="Rectangle 17"/>
            <p:cNvSpPr>
              <a:spLocks noChangeArrowheads="1"/>
            </p:cNvSpPr>
            <p:nvPr/>
          </p:nvSpPr>
          <p:spPr bwMode="auto">
            <a:xfrm>
              <a:off x="1824" y="2448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40980" name="Line 18"/>
            <p:cNvSpPr>
              <a:spLocks noChangeShapeType="1"/>
            </p:cNvSpPr>
            <p:nvPr/>
          </p:nvSpPr>
          <p:spPr bwMode="auto">
            <a:xfrm>
              <a:off x="1104" y="2496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981" name="Rectangle 19"/>
            <p:cNvSpPr>
              <a:spLocks noChangeArrowheads="1"/>
            </p:cNvSpPr>
            <p:nvPr/>
          </p:nvSpPr>
          <p:spPr bwMode="auto">
            <a:xfrm>
              <a:off x="3412" y="1444"/>
              <a:ext cx="232" cy="2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40982" name="Rectangle 20"/>
            <p:cNvSpPr>
              <a:spLocks noChangeArrowheads="1"/>
            </p:cNvSpPr>
            <p:nvPr/>
          </p:nvSpPr>
          <p:spPr bwMode="auto">
            <a:xfrm>
              <a:off x="3412" y="1684"/>
              <a:ext cx="232" cy="2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40983" name="Rectangle 21"/>
            <p:cNvSpPr>
              <a:spLocks noChangeArrowheads="1"/>
            </p:cNvSpPr>
            <p:nvPr/>
          </p:nvSpPr>
          <p:spPr bwMode="auto">
            <a:xfrm>
              <a:off x="3412" y="1924"/>
              <a:ext cx="232" cy="2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40984" name="Rectangle 22"/>
            <p:cNvSpPr>
              <a:spLocks noChangeArrowheads="1"/>
            </p:cNvSpPr>
            <p:nvPr/>
          </p:nvSpPr>
          <p:spPr bwMode="auto">
            <a:xfrm>
              <a:off x="3412" y="2164"/>
              <a:ext cx="232" cy="2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40985" name="Rectangle 23"/>
            <p:cNvSpPr>
              <a:spLocks noChangeArrowheads="1"/>
            </p:cNvSpPr>
            <p:nvPr/>
          </p:nvSpPr>
          <p:spPr bwMode="auto">
            <a:xfrm>
              <a:off x="3412" y="2404"/>
              <a:ext cx="232" cy="2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40986" name="Rectangle 24"/>
            <p:cNvSpPr>
              <a:spLocks noChangeArrowheads="1"/>
            </p:cNvSpPr>
            <p:nvPr/>
          </p:nvSpPr>
          <p:spPr bwMode="auto">
            <a:xfrm>
              <a:off x="2640" y="1392"/>
              <a:ext cx="8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</a:rPr>
                <a:t>aList[1]</a:t>
              </a:r>
            </a:p>
          </p:txBody>
        </p:sp>
        <p:sp>
          <p:nvSpPr>
            <p:cNvPr id="40987" name="Rectangle 25"/>
            <p:cNvSpPr>
              <a:spLocks noChangeArrowheads="1"/>
            </p:cNvSpPr>
            <p:nvPr/>
          </p:nvSpPr>
          <p:spPr bwMode="auto">
            <a:xfrm>
              <a:off x="2640" y="2352"/>
              <a:ext cx="8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</a:rPr>
                <a:t>aList[5]</a:t>
              </a:r>
            </a:p>
          </p:txBody>
        </p:sp>
        <p:sp>
          <p:nvSpPr>
            <p:cNvPr id="40988" name="Rectangle 26"/>
            <p:cNvSpPr>
              <a:spLocks noChangeArrowheads="1"/>
            </p:cNvSpPr>
            <p:nvPr/>
          </p:nvSpPr>
          <p:spPr bwMode="auto">
            <a:xfrm>
              <a:off x="3072" y="163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</a:rPr>
                <a:t>[2]</a:t>
              </a:r>
            </a:p>
          </p:txBody>
        </p:sp>
        <p:sp>
          <p:nvSpPr>
            <p:cNvPr id="40989" name="Rectangle 27"/>
            <p:cNvSpPr>
              <a:spLocks noChangeArrowheads="1"/>
            </p:cNvSpPr>
            <p:nvPr/>
          </p:nvSpPr>
          <p:spPr bwMode="auto">
            <a:xfrm>
              <a:off x="3072" y="187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</a:rPr>
                <a:t>[3]</a:t>
              </a:r>
            </a:p>
          </p:txBody>
        </p:sp>
        <p:sp>
          <p:nvSpPr>
            <p:cNvPr id="40990" name="Rectangle 28"/>
            <p:cNvSpPr>
              <a:spLocks noChangeArrowheads="1"/>
            </p:cNvSpPr>
            <p:nvPr/>
          </p:nvSpPr>
          <p:spPr bwMode="auto">
            <a:xfrm>
              <a:off x="3072" y="211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</a:rPr>
                <a:t>[4]</a:t>
              </a:r>
            </a:p>
          </p:txBody>
        </p:sp>
        <p:sp>
          <p:nvSpPr>
            <p:cNvPr id="40991" name="Rectangle 29"/>
            <p:cNvSpPr>
              <a:spLocks noChangeArrowheads="1"/>
            </p:cNvSpPr>
            <p:nvPr/>
          </p:nvSpPr>
          <p:spPr bwMode="auto">
            <a:xfrm>
              <a:off x="3844" y="1444"/>
              <a:ext cx="280" cy="1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40992" name="Rectangle 30"/>
            <p:cNvSpPr>
              <a:spLocks noChangeArrowheads="1"/>
            </p:cNvSpPr>
            <p:nvPr/>
          </p:nvSpPr>
          <p:spPr bwMode="auto">
            <a:xfrm>
              <a:off x="3878" y="1392"/>
              <a:ext cx="1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0993" name="Rectangle 31"/>
            <p:cNvSpPr>
              <a:spLocks noChangeArrowheads="1"/>
            </p:cNvSpPr>
            <p:nvPr/>
          </p:nvSpPr>
          <p:spPr bwMode="auto">
            <a:xfrm>
              <a:off x="4132" y="1444"/>
              <a:ext cx="280" cy="1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40994" name="Rectangle 32"/>
            <p:cNvSpPr>
              <a:spLocks noChangeArrowheads="1"/>
            </p:cNvSpPr>
            <p:nvPr/>
          </p:nvSpPr>
          <p:spPr bwMode="auto">
            <a:xfrm>
              <a:off x="4166" y="1392"/>
              <a:ext cx="1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0995" name="Line 33"/>
            <p:cNvSpPr>
              <a:spLocks noChangeShapeType="1"/>
            </p:cNvSpPr>
            <p:nvPr/>
          </p:nvSpPr>
          <p:spPr bwMode="auto">
            <a:xfrm>
              <a:off x="3504" y="1536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996" name="Rectangle 34"/>
            <p:cNvSpPr>
              <a:spLocks noChangeArrowheads="1"/>
            </p:cNvSpPr>
            <p:nvPr/>
          </p:nvSpPr>
          <p:spPr bwMode="auto">
            <a:xfrm>
              <a:off x="3844" y="1684"/>
              <a:ext cx="280" cy="1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40997" name="Rectangle 35"/>
            <p:cNvSpPr>
              <a:spLocks noChangeArrowheads="1"/>
            </p:cNvSpPr>
            <p:nvPr/>
          </p:nvSpPr>
          <p:spPr bwMode="auto">
            <a:xfrm>
              <a:off x="3878" y="1632"/>
              <a:ext cx="1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0998" name="Rectangle 36"/>
            <p:cNvSpPr>
              <a:spLocks noChangeArrowheads="1"/>
            </p:cNvSpPr>
            <p:nvPr/>
          </p:nvSpPr>
          <p:spPr bwMode="auto">
            <a:xfrm>
              <a:off x="4132" y="1684"/>
              <a:ext cx="280" cy="1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40999" name="Rectangle 37"/>
            <p:cNvSpPr>
              <a:spLocks noChangeArrowheads="1"/>
            </p:cNvSpPr>
            <p:nvPr/>
          </p:nvSpPr>
          <p:spPr bwMode="auto">
            <a:xfrm>
              <a:off x="4166" y="1632"/>
              <a:ext cx="1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41000" name="Line 38"/>
            <p:cNvSpPr>
              <a:spLocks noChangeShapeType="1"/>
            </p:cNvSpPr>
            <p:nvPr/>
          </p:nvSpPr>
          <p:spPr bwMode="auto">
            <a:xfrm>
              <a:off x="3504" y="1776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001" name="Rectangle 39"/>
            <p:cNvSpPr>
              <a:spLocks noChangeArrowheads="1"/>
            </p:cNvSpPr>
            <p:nvPr/>
          </p:nvSpPr>
          <p:spPr bwMode="auto">
            <a:xfrm>
              <a:off x="3844" y="1924"/>
              <a:ext cx="280" cy="1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41002" name="Line 40"/>
            <p:cNvSpPr>
              <a:spLocks noChangeShapeType="1"/>
            </p:cNvSpPr>
            <p:nvPr/>
          </p:nvSpPr>
          <p:spPr bwMode="auto">
            <a:xfrm>
              <a:off x="3504" y="2016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003" name="Rectangle 41"/>
            <p:cNvSpPr>
              <a:spLocks noChangeArrowheads="1"/>
            </p:cNvSpPr>
            <p:nvPr/>
          </p:nvSpPr>
          <p:spPr bwMode="auto">
            <a:xfrm>
              <a:off x="3878" y="1872"/>
              <a:ext cx="1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41004" name="Rectangle 42"/>
            <p:cNvSpPr>
              <a:spLocks noChangeArrowheads="1"/>
            </p:cNvSpPr>
            <p:nvPr/>
          </p:nvSpPr>
          <p:spPr bwMode="auto">
            <a:xfrm>
              <a:off x="3844" y="2164"/>
              <a:ext cx="280" cy="1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41005" name="Rectangle 43"/>
            <p:cNvSpPr>
              <a:spLocks noChangeArrowheads="1"/>
            </p:cNvSpPr>
            <p:nvPr/>
          </p:nvSpPr>
          <p:spPr bwMode="auto">
            <a:xfrm>
              <a:off x="4132" y="2164"/>
              <a:ext cx="280" cy="1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41006" name="Line 44"/>
            <p:cNvSpPr>
              <a:spLocks noChangeShapeType="1"/>
            </p:cNvSpPr>
            <p:nvPr/>
          </p:nvSpPr>
          <p:spPr bwMode="auto">
            <a:xfrm>
              <a:off x="3504" y="2256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007" name="Rectangle 45"/>
            <p:cNvSpPr>
              <a:spLocks noChangeArrowheads="1"/>
            </p:cNvSpPr>
            <p:nvPr/>
          </p:nvSpPr>
          <p:spPr bwMode="auto">
            <a:xfrm>
              <a:off x="3878" y="2112"/>
              <a:ext cx="1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41008" name="Rectangle 46"/>
            <p:cNvSpPr>
              <a:spLocks noChangeArrowheads="1"/>
            </p:cNvSpPr>
            <p:nvPr/>
          </p:nvSpPr>
          <p:spPr bwMode="auto">
            <a:xfrm>
              <a:off x="4166" y="2112"/>
              <a:ext cx="1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1009" name="Rectangle 47"/>
            <p:cNvSpPr>
              <a:spLocks noChangeArrowheads="1"/>
            </p:cNvSpPr>
            <p:nvPr/>
          </p:nvSpPr>
          <p:spPr bwMode="auto">
            <a:xfrm>
              <a:off x="3844" y="2404"/>
              <a:ext cx="280" cy="1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41010" name="Line 48"/>
            <p:cNvSpPr>
              <a:spLocks noChangeShapeType="1"/>
            </p:cNvSpPr>
            <p:nvPr/>
          </p:nvSpPr>
          <p:spPr bwMode="auto">
            <a:xfrm>
              <a:off x="3504" y="2496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011" name="Rectangle 49"/>
            <p:cNvSpPr>
              <a:spLocks noChangeArrowheads="1"/>
            </p:cNvSpPr>
            <p:nvPr/>
          </p:nvSpPr>
          <p:spPr bwMode="auto">
            <a:xfrm>
              <a:off x="3878" y="2352"/>
              <a:ext cx="1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1012" name="Rectangle 50"/>
            <p:cNvSpPr>
              <a:spLocks noChangeArrowheads="1"/>
            </p:cNvSpPr>
            <p:nvPr/>
          </p:nvSpPr>
          <p:spPr bwMode="auto">
            <a:xfrm>
              <a:off x="4132" y="2404"/>
              <a:ext cx="280" cy="1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41013" name="Rectangle 51"/>
            <p:cNvSpPr>
              <a:spLocks noChangeArrowheads="1"/>
            </p:cNvSpPr>
            <p:nvPr/>
          </p:nvSpPr>
          <p:spPr bwMode="auto">
            <a:xfrm>
              <a:off x="4420" y="2404"/>
              <a:ext cx="280" cy="1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41014" name="Rectangle 52"/>
            <p:cNvSpPr>
              <a:spLocks noChangeArrowheads="1"/>
            </p:cNvSpPr>
            <p:nvPr/>
          </p:nvSpPr>
          <p:spPr bwMode="auto">
            <a:xfrm>
              <a:off x="4166" y="2352"/>
              <a:ext cx="1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1015" name="Rectangle 53"/>
            <p:cNvSpPr>
              <a:spLocks noChangeArrowheads="1"/>
            </p:cNvSpPr>
            <p:nvPr/>
          </p:nvSpPr>
          <p:spPr bwMode="auto">
            <a:xfrm>
              <a:off x="4454" y="2352"/>
              <a:ext cx="1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hlink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31798" name="Rectangle 54"/>
          <p:cNvSpPr>
            <a:spLocks noChangeArrowheads="1"/>
          </p:cNvSpPr>
          <p:nvPr/>
        </p:nvSpPr>
        <p:spPr bwMode="auto">
          <a:xfrm>
            <a:off x="685800" y="5105400"/>
            <a:ext cx="8382000" cy="244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Array Length</a:t>
            </a:r>
            <a:r>
              <a:rPr lang="en-US" altLang="en-US"/>
              <a:t> = n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# of list elements</a:t>
            </a:r>
            <a:r>
              <a:rPr lang="en-US" altLang="en-US"/>
              <a:t> = 2e </a:t>
            </a:r>
            <a:r>
              <a:rPr lang="en-US" altLang="en-US">
                <a:solidFill>
                  <a:schemeClr val="bg2"/>
                </a:solidFill>
              </a:rPr>
              <a:t>(undirected graph)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# of list elements</a:t>
            </a:r>
            <a:r>
              <a:rPr lang="en-US" altLang="en-US"/>
              <a:t> = e </a:t>
            </a:r>
            <a:r>
              <a:rPr lang="en-US" altLang="en-US">
                <a:solidFill>
                  <a:schemeClr val="bg2"/>
                </a:solidFill>
              </a:rPr>
              <a:t>(digraph)</a:t>
            </a:r>
          </a:p>
          <a:p>
            <a:pPr>
              <a:spcBef>
                <a:spcPct val="50000"/>
              </a:spcBef>
            </a:pPr>
            <a:endParaRPr lang="en-US" alt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99956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 autoUpdateAnimBg="0"/>
      <p:bldP spid="31798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Weighted Graphs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buClr>
                <a:schemeClr val="tx2"/>
              </a:buClr>
            </a:pPr>
            <a:r>
              <a:rPr lang="en-US" altLang="en-US"/>
              <a:t>Cost adjacency matrix.</a:t>
            </a:r>
          </a:p>
          <a:p>
            <a:pPr lvl="1"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US" altLang="en-US">
                <a:solidFill>
                  <a:schemeClr val="hlink"/>
                </a:solidFill>
              </a:rPr>
              <a:t>C(i,j)</a:t>
            </a:r>
            <a:r>
              <a:rPr lang="en-US" altLang="en-US"/>
              <a:t> = cost of edge </a:t>
            </a:r>
            <a:r>
              <a:rPr lang="en-US" altLang="en-US">
                <a:solidFill>
                  <a:schemeClr val="hlink"/>
                </a:solidFill>
              </a:rPr>
              <a:t>(i,j)</a:t>
            </a:r>
          </a:p>
          <a:p>
            <a:pPr>
              <a:buClr>
                <a:schemeClr val="tx2"/>
              </a:buClr>
            </a:pPr>
            <a:r>
              <a:rPr lang="en-US" altLang="en-US"/>
              <a:t>Adjacency lists </a:t>
            </a:r>
            <a:r>
              <a:rPr lang="en-US" altLang="en-US">
                <a:solidFill>
                  <a:schemeClr val="hlink"/>
                </a:solidFill>
              </a:rPr>
              <a:t>=&gt; </a:t>
            </a:r>
            <a:r>
              <a:rPr lang="en-US" altLang="en-US">
                <a:solidFill>
                  <a:schemeClr val="bg2"/>
                </a:solidFill>
              </a:rPr>
              <a:t>each list element is a pair </a:t>
            </a:r>
            <a:r>
              <a:rPr lang="en-US" altLang="en-US">
                <a:solidFill>
                  <a:schemeClr val="hlink"/>
                </a:solidFill>
              </a:rPr>
              <a:t>(adjacent vertex, edge weight)</a:t>
            </a:r>
          </a:p>
        </p:txBody>
      </p:sp>
    </p:spTree>
    <p:extLst>
      <p:ext uri="{BB962C8B-B14F-4D97-AF65-F5344CB8AC3E}">
        <p14:creationId xmlns:p14="http://schemas.microsoft.com/office/powerpoint/2010/main" val="672815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 bldLvl="2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"/>
            <a:ext cx="7772400" cy="1143000"/>
          </a:xfrm>
          <a:noFill/>
        </p:spPr>
        <p:txBody>
          <a:bodyPr anchor="ctr"/>
          <a:lstStyle/>
          <a:p>
            <a:r>
              <a:rPr lang="en-US" altLang="en-US" sz="4400"/>
              <a:t>Graph Search Methods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4800" y="762000"/>
            <a:ext cx="8763000" cy="4800600"/>
          </a:xfrm>
          <a:noFill/>
        </p:spPr>
        <p:txBody>
          <a:bodyPr/>
          <a:lstStyle/>
          <a:p>
            <a:pPr marL="342900" indent="-342900" algn="l"/>
            <a:endParaRPr lang="en-US" altLang="en-US" sz="3200"/>
          </a:p>
          <a:p>
            <a:pPr marL="342900" indent="-342900" algn="l">
              <a:buClr>
                <a:schemeClr val="tx2"/>
              </a:buClr>
              <a:buFontTx/>
              <a:buChar char="•"/>
            </a:pPr>
            <a:r>
              <a:rPr lang="en-US" altLang="en-US" sz="3200"/>
              <a:t>Many graph problems solved using a search method.</a:t>
            </a:r>
          </a:p>
          <a:p>
            <a:pPr marL="742950" lvl="1" indent="-285750" algn="l"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US" altLang="en-US" sz="2800"/>
              <a:t>Path from one vertex to another.</a:t>
            </a:r>
          </a:p>
          <a:p>
            <a:pPr marL="742950" lvl="1" indent="-285750" algn="l"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US" altLang="en-US" sz="2800"/>
              <a:t>Is the graph connected?</a:t>
            </a:r>
          </a:p>
          <a:p>
            <a:pPr marL="742950" lvl="1" indent="-285750" algn="l"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US" altLang="en-US" sz="2800"/>
              <a:t>Find a spanning tree.</a:t>
            </a:r>
          </a:p>
          <a:p>
            <a:pPr marL="742950" lvl="1" indent="-285750" algn="l"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US" altLang="en-US" sz="2800"/>
              <a:t>Etc.</a:t>
            </a:r>
          </a:p>
          <a:p>
            <a:pPr marL="342900" indent="-342900" algn="l">
              <a:buClr>
                <a:schemeClr val="tx2"/>
              </a:buClr>
              <a:buFontTx/>
              <a:buChar char="•"/>
            </a:pPr>
            <a:r>
              <a:rPr lang="en-US" altLang="en-US" sz="3200"/>
              <a:t>Commonly used search methods:</a:t>
            </a:r>
          </a:p>
          <a:p>
            <a:pPr marL="742950" lvl="1" indent="-285750" algn="l"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US" altLang="en-US" sz="2800"/>
              <a:t>Breadth-first search.</a:t>
            </a:r>
          </a:p>
          <a:p>
            <a:pPr marL="742950" lvl="1" indent="-285750" algn="l"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US" altLang="en-US" sz="2800"/>
              <a:t>Depth-first search.</a:t>
            </a:r>
          </a:p>
        </p:txBody>
      </p:sp>
    </p:spTree>
    <p:extLst>
      <p:ext uri="{BB962C8B-B14F-4D97-AF65-F5344CB8AC3E}">
        <p14:creationId xmlns:p14="http://schemas.microsoft.com/office/powerpoint/2010/main" val="739356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uild="p" bldLvl="2" autoUpdateAnimBg="0"/>
    </p:bldLst>
  </p:timing>
</p:sld>
</file>

<file path=ppt/theme/theme1.xml><?xml version="1.0" encoding="utf-8"?>
<a:theme xmlns:a="http://schemas.openxmlformats.org/drawingml/2006/main" name="Blank Presentation">
  <a:themeElements>
    <a:clrScheme name="">
      <a:dk1>
        <a:srgbClr val="000000"/>
      </a:dk1>
      <a:lt1>
        <a:srgbClr val="0000FF"/>
      </a:lt1>
      <a:dk2>
        <a:srgbClr val="000099"/>
      </a:dk2>
      <a:lt2>
        <a:srgbClr val="000000"/>
      </a:lt2>
      <a:accent1>
        <a:srgbClr val="FF9900"/>
      </a:accent1>
      <a:accent2>
        <a:srgbClr val="00FFFF"/>
      </a:accent2>
      <a:accent3>
        <a:srgbClr val="AAAAFF"/>
      </a:accent3>
      <a:accent4>
        <a:srgbClr val="000000"/>
      </a:accent4>
      <a:accent5>
        <a:srgbClr val="FFCAAA"/>
      </a:accent5>
      <a:accent6>
        <a:srgbClr val="00E7E7"/>
      </a:accent6>
      <a:hlink>
        <a:srgbClr val="FF0033"/>
      </a:hlink>
      <a:folHlink>
        <a:srgbClr val="969696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C:\MSOffice\Templates\Blank Presentation.pot</Template>
  <TotalTime>5559</TotalTime>
  <Words>1345</Words>
  <Application>Microsoft Office PowerPoint</Application>
  <PresentationFormat>On-screen Show (4:3)</PresentationFormat>
  <Paragraphs>488</Paragraphs>
  <Slides>28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Blank Presentation</vt:lpstr>
      <vt:lpstr>Suffix Trees-Applications &amp; GRAPHS </vt:lpstr>
      <vt:lpstr>Suffix Trees</vt:lpstr>
      <vt:lpstr>Suffix Trees  </vt:lpstr>
      <vt:lpstr>Construct a Suffix tree </vt:lpstr>
      <vt:lpstr> </vt:lpstr>
      <vt:lpstr>Applications of Suffix Tries (1) </vt:lpstr>
      <vt:lpstr>O(|pi|) Time Substring Matching</vt:lpstr>
      <vt:lpstr>Applications of Suffix Tries (2) </vt:lpstr>
      <vt:lpstr>Search Terminates At Element Node</vt:lpstr>
      <vt:lpstr>Applications of Suffix Tries (3) </vt:lpstr>
      <vt:lpstr>Search Terminates At Branch Node</vt:lpstr>
      <vt:lpstr>Applications of Suffix Tries (4) </vt:lpstr>
      <vt:lpstr>Longest Repeating Substring</vt:lpstr>
      <vt:lpstr>Applications of Suffix Tries (5) </vt:lpstr>
      <vt:lpstr>Longest Repeating Substring</vt:lpstr>
      <vt:lpstr>GRAPHS    </vt:lpstr>
      <vt:lpstr>PowerPoint Presentation</vt:lpstr>
      <vt:lpstr>PowerPoint Presentation</vt:lpstr>
      <vt:lpstr>Graph Representation</vt:lpstr>
      <vt:lpstr>Adjacency Matrix</vt:lpstr>
      <vt:lpstr>Adjacency Matrix Properties</vt:lpstr>
      <vt:lpstr>Adjacency Matrix (Digraph)</vt:lpstr>
      <vt:lpstr>Adjacency Matrix</vt:lpstr>
      <vt:lpstr>Adjacency Lists</vt:lpstr>
      <vt:lpstr>Linked Adjacency Lists</vt:lpstr>
      <vt:lpstr>Array Adjacency Lists</vt:lpstr>
      <vt:lpstr>Weighted Graphs</vt:lpstr>
      <vt:lpstr>Graph Search Methods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Representation Methods</dc:title>
  <dc:creator>Preferred Customer</dc:creator>
  <cp:lastModifiedBy>tejeswara rao kutikuppla</cp:lastModifiedBy>
  <cp:revision>215</cp:revision>
  <dcterms:created xsi:type="dcterms:W3CDTF">1995-06-17T23:31:02Z</dcterms:created>
  <dcterms:modified xsi:type="dcterms:W3CDTF">2023-02-11T02:11:29Z</dcterms:modified>
</cp:coreProperties>
</file>