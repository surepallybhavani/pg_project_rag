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92" r:id="rId14"/>
    <p:sldId id="288" r:id="rId15"/>
    <p:sldId id="289" r:id="rId16"/>
    <p:sldId id="290" r:id="rId17"/>
    <p:sldId id="291" r:id="rId18"/>
    <p:sldId id="293" r:id="rId19"/>
    <p:sldId id="294" r:id="rId20"/>
    <p:sldId id="295" r:id="rId21"/>
    <p:sldId id="296" r:id="rId22"/>
    <p:sldId id="297"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24" autoAdjust="0"/>
    <p:restoredTop sz="94069" autoAdjust="0"/>
  </p:normalViewPr>
  <p:slideViewPr>
    <p:cSldViewPr>
      <p:cViewPr varScale="1">
        <p:scale>
          <a:sx n="76" d="100"/>
          <a:sy n="76" d="100"/>
        </p:scale>
        <p:origin x="165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22FE6D5-28BF-CCBC-EA0D-74DC789186C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F7AC031-9F29-82AE-6CC6-B6E9223DB1C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DD711E0-B82A-0427-7060-33E6159177EF}"/>
              </a:ext>
            </a:extLst>
          </p:cNvPr>
          <p:cNvSpPr>
            <a:spLocks noGrp="1" noChangeArrowheads="1"/>
          </p:cNvSpPr>
          <p:nvPr>
            <p:ph type="sldNum" sz="quarter" idx="12"/>
          </p:nvPr>
        </p:nvSpPr>
        <p:spPr>
          <a:ln/>
        </p:spPr>
        <p:txBody>
          <a:bodyPr/>
          <a:lstStyle>
            <a:lvl1pPr>
              <a:defRPr/>
            </a:lvl1pPr>
          </a:lstStyle>
          <a:p>
            <a:fld id="{716D4200-629C-4644-8491-90278841F67F}" type="slidenum">
              <a:rPr lang="en-US" altLang="en-US"/>
              <a:pPr/>
              <a:t>‹#›</a:t>
            </a:fld>
            <a:endParaRPr lang="en-US" altLang="en-US"/>
          </a:p>
        </p:txBody>
      </p:sp>
    </p:spTree>
    <p:extLst>
      <p:ext uri="{BB962C8B-B14F-4D97-AF65-F5344CB8AC3E}">
        <p14:creationId xmlns:p14="http://schemas.microsoft.com/office/powerpoint/2010/main" val="1279688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ED17562-6801-4C7D-90EF-9A9E989A04B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CF12F7F-85A6-6CB1-9435-D4499C7BFC6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6DD3516-8EA0-9A55-4D18-E70DF4F114F6}"/>
              </a:ext>
            </a:extLst>
          </p:cNvPr>
          <p:cNvSpPr>
            <a:spLocks noGrp="1" noChangeArrowheads="1"/>
          </p:cNvSpPr>
          <p:nvPr>
            <p:ph type="sldNum" sz="quarter" idx="12"/>
          </p:nvPr>
        </p:nvSpPr>
        <p:spPr>
          <a:ln/>
        </p:spPr>
        <p:txBody>
          <a:bodyPr/>
          <a:lstStyle>
            <a:lvl1pPr>
              <a:defRPr/>
            </a:lvl1pPr>
          </a:lstStyle>
          <a:p>
            <a:fld id="{EBA7C8D8-76A1-4B71-9F9A-E90DF7F069B0}" type="slidenum">
              <a:rPr lang="en-US" altLang="en-US"/>
              <a:pPr/>
              <a:t>‹#›</a:t>
            </a:fld>
            <a:endParaRPr lang="en-US" altLang="en-US"/>
          </a:p>
        </p:txBody>
      </p:sp>
    </p:spTree>
    <p:extLst>
      <p:ext uri="{BB962C8B-B14F-4D97-AF65-F5344CB8AC3E}">
        <p14:creationId xmlns:p14="http://schemas.microsoft.com/office/powerpoint/2010/main" val="223520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624E52E0-B160-589B-1BDD-64A72CFE60B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972688E-45B4-B046-433F-77877718E2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61D82A1-F4BC-080F-E701-FABA349364C7}"/>
              </a:ext>
            </a:extLst>
          </p:cNvPr>
          <p:cNvSpPr>
            <a:spLocks noGrp="1" noChangeArrowheads="1"/>
          </p:cNvSpPr>
          <p:nvPr>
            <p:ph type="sldNum" sz="quarter" idx="12"/>
          </p:nvPr>
        </p:nvSpPr>
        <p:spPr>
          <a:ln/>
        </p:spPr>
        <p:txBody>
          <a:bodyPr/>
          <a:lstStyle>
            <a:lvl1pPr>
              <a:defRPr/>
            </a:lvl1pPr>
          </a:lstStyle>
          <a:p>
            <a:fld id="{05119D79-E38B-4778-9FBF-4296087571D8}" type="slidenum">
              <a:rPr lang="en-US" altLang="en-US"/>
              <a:pPr/>
              <a:t>‹#›</a:t>
            </a:fld>
            <a:endParaRPr lang="en-US" altLang="en-US"/>
          </a:p>
        </p:txBody>
      </p:sp>
    </p:spTree>
    <p:extLst>
      <p:ext uri="{BB962C8B-B14F-4D97-AF65-F5344CB8AC3E}">
        <p14:creationId xmlns:p14="http://schemas.microsoft.com/office/powerpoint/2010/main" val="474335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D50DCE7-4699-3EA9-194A-13BB3E37534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007395A-4AD5-B163-5FA8-1AEE85117F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F85D9D4-3D4A-A658-F089-E59BC78CF454}"/>
              </a:ext>
            </a:extLst>
          </p:cNvPr>
          <p:cNvSpPr>
            <a:spLocks noGrp="1" noChangeArrowheads="1"/>
          </p:cNvSpPr>
          <p:nvPr>
            <p:ph type="sldNum" sz="quarter" idx="12"/>
          </p:nvPr>
        </p:nvSpPr>
        <p:spPr>
          <a:ln/>
        </p:spPr>
        <p:txBody>
          <a:bodyPr/>
          <a:lstStyle>
            <a:lvl1pPr>
              <a:defRPr/>
            </a:lvl1pPr>
          </a:lstStyle>
          <a:p>
            <a:fld id="{940953AB-243C-468D-ACA7-9FEEF9733569}" type="slidenum">
              <a:rPr lang="en-US" altLang="en-US"/>
              <a:pPr/>
              <a:t>‹#›</a:t>
            </a:fld>
            <a:endParaRPr lang="en-US" altLang="en-US"/>
          </a:p>
        </p:txBody>
      </p:sp>
    </p:spTree>
    <p:extLst>
      <p:ext uri="{BB962C8B-B14F-4D97-AF65-F5344CB8AC3E}">
        <p14:creationId xmlns:p14="http://schemas.microsoft.com/office/powerpoint/2010/main" val="2821135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078E476B-1DFA-50C7-275E-13A45F3D68A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B2AF40BD-D96F-0B35-BBDD-370A8AA38D1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8C158F5-BAA0-967E-52CF-FDB7618434A6}"/>
              </a:ext>
            </a:extLst>
          </p:cNvPr>
          <p:cNvSpPr>
            <a:spLocks noGrp="1" noChangeArrowheads="1"/>
          </p:cNvSpPr>
          <p:nvPr>
            <p:ph type="sldNum" sz="quarter" idx="12"/>
          </p:nvPr>
        </p:nvSpPr>
        <p:spPr>
          <a:ln/>
        </p:spPr>
        <p:txBody>
          <a:bodyPr/>
          <a:lstStyle>
            <a:lvl1pPr>
              <a:defRPr/>
            </a:lvl1pPr>
          </a:lstStyle>
          <a:p>
            <a:fld id="{B026607F-8E03-4531-A55C-F172E648DF3E}" type="slidenum">
              <a:rPr lang="en-US" altLang="en-US"/>
              <a:pPr/>
              <a:t>‹#›</a:t>
            </a:fld>
            <a:endParaRPr lang="en-US" altLang="en-US"/>
          </a:p>
        </p:txBody>
      </p:sp>
    </p:spTree>
    <p:extLst>
      <p:ext uri="{BB962C8B-B14F-4D97-AF65-F5344CB8AC3E}">
        <p14:creationId xmlns:p14="http://schemas.microsoft.com/office/powerpoint/2010/main" val="1705806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A73F9552-B99A-34F7-8C78-E6536C884A6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D6475A9-7C3A-D797-513F-94ECF4182B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DDD7868-8998-871A-EBAF-A976BCC435BA}"/>
              </a:ext>
            </a:extLst>
          </p:cNvPr>
          <p:cNvSpPr>
            <a:spLocks noGrp="1" noChangeArrowheads="1"/>
          </p:cNvSpPr>
          <p:nvPr>
            <p:ph type="sldNum" sz="quarter" idx="12"/>
          </p:nvPr>
        </p:nvSpPr>
        <p:spPr>
          <a:ln/>
        </p:spPr>
        <p:txBody>
          <a:bodyPr/>
          <a:lstStyle>
            <a:lvl1pPr>
              <a:defRPr/>
            </a:lvl1pPr>
          </a:lstStyle>
          <a:p>
            <a:fld id="{9DB40B61-3B34-4ACE-853B-7DCB19CBC118}" type="slidenum">
              <a:rPr lang="en-US" altLang="en-US"/>
              <a:pPr/>
              <a:t>‹#›</a:t>
            </a:fld>
            <a:endParaRPr lang="en-US" altLang="en-US"/>
          </a:p>
        </p:txBody>
      </p:sp>
    </p:spTree>
    <p:extLst>
      <p:ext uri="{BB962C8B-B14F-4D97-AF65-F5344CB8AC3E}">
        <p14:creationId xmlns:p14="http://schemas.microsoft.com/office/powerpoint/2010/main" val="1721242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47BE129-8FFC-7431-9B47-CFEBA42A27B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FE43D591-F96D-91D9-9BBE-745FF8FDDD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934E768-BF27-4B80-3FD8-E7F179323F50}"/>
              </a:ext>
            </a:extLst>
          </p:cNvPr>
          <p:cNvSpPr>
            <a:spLocks noGrp="1" noChangeArrowheads="1"/>
          </p:cNvSpPr>
          <p:nvPr>
            <p:ph type="sldNum" sz="quarter" idx="12"/>
          </p:nvPr>
        </p:nvSpPr>
        <p:spPr>
          <a:ln/>
        </p:spPr>
        <p:txBody>
          <a:bodyPr/>
          <a:lstStyle>
            <a:lvl1pPr>
              <a:defRPr/>
            </a:lvl1pPr>
          </a:lstStyle>
          <a:p>
            <a:fld id="{9B5F932F-A1A1-456B-82B2-0BADC805E4A9}" type="slidenum">
              <a:rPr lang="en-US" altLang="en-US"/>
              <a:pPr/>
              <a:t>‹#›</a:t>
            </a:fld>
            <a:endParaRPr lang="en-US" altLang="en-US"/>
          </a:p>
        </p:txBody>
      </p:sp>
    </p:spTree>
    <p:extLst>
      <p:ext uri="{BB962C8B-B14F-4D97-AF65-F5344CB8AC3E}">
        <p14:creationId xmlns:p14="http://schemas.microsoft.com/office/powerpoint/2010/main" val="551192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F71C5CB-4A2D-436E-9CDE-D8D07A6194B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428DF95-5E99-2056-F27B-73AB6D428E7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4E01C51-1DD9-58D8-0E3E-30191BFFC97F}"/>
              </a:ext>
            </a:extLst>
          </p:cNvPr>
          <p:cNvSpPr>
            <a:spLocks noGrp="1" noChangeArrowheads="1"/>
          </p:cNvSpPr>
          <p:nvPr>
            <p:ph type="sldNum" sz="quarter" idx="12"/>
          </p:nvPr>
        </p:nvSpPr>
        <p:spPr>
          <a:ln/>
        </p:spPr>
        <p:txBody>
          <a:bodyPr/>
          <a:lstStyle>
            <a:lvl1pPr>
              <a:defRPr/>
            </a:lvl1pPr>
          </a:lstStyle>
          <a:p>
            <a:fld id="{E1212419-D639-4A84-86C8-C2267ABA3EA5}" type="slidenum">
              <a:rPr lang="en-US" altLang="en-US"/>
              <a:pPr/>
              <a:t>‹#›</a:t>
            </a:fld>
            <a:endParaRPr lang="en-US" altLang="en-US"/>
          </a:p>
        </p:txBody>
      </p:sp>
    </p:spTree>
    <p:extLst>
      <p:ext uri="{BB962C8B-B14F-4D97-AF65-F5344CB8AC3E}">
        <p14:creationId xmlns:p14="http://schemas.microsoft.com/office/powerpoint/2010/main" val="1335488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9320E35-F09D-41A6-89B5-EE1311BD7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EB3D3B6-A4FA-13BE-27E4-88D95878FF2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EF0C64F-4280-B134-27CB-16A498BBCAFF}"/>
              </a:ext>
            </a:extLst>
          </p:cNvPr>
          <p:cNvSpPr>
            <a:spLocks noGrp="1" noChangeArrowheads="1"/>
          </p:cNvSpPr>
          <p:nvPr>
            <p:ph type="sldNum" sz="quarter" idx="12"/>
          </p:nvPr>
        </p:nvSpPr>
        <p:spPr>
          <a:ln/>
        </p:spPr>
        <p:txBody>
          <a:bodyPr/>
          <a:lstStyle>
            <a:lvl1pPr>
              <a:defRPr/>
            </a:lvl1pPr>
          </a:lstStyle>
          <a:p>
            <a:fld id="{74EE8631-4C66-4B2E-9A3D-8A52164D7660}" type="slidenum">
              <a:rPr lang="en-US" altLang="en-US"/>
              <a:pPr/>
              <a:t>‹#›</a:t>
            </a:fld>
            <a:endParaRPr lang="en-US" altLang="en-US"/>
          </a:p>
        </p:txBody>
      </p:sp>
    </p:spTree>
    <p:extLst>
      <p:ext uri="{BB962C8B-B14F-4D97-AF65-F5344CB8AC3E}">
        <p14:creationId xmlns:p14="http://schemas.microsoft.com/office/powerpoint/2010/main" val="3936749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2F0F24F-629F-C4D9-02D7-21F246C9970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8E03883-07E1-76A2-4A67-072555D536B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A903E79-2C4D-FB49-CD0B-E3F1CC39D118}"/>
              </a:ext>
            </a:extLst>
          </p:cNvPr>
          <p:cNvSpPr>
            <a:spLocks noGrp="1" noChangeArrowheads="1"/>
          </p:cNvSpPr>
          <p:nvPr>
            <p:ph type="sldNum" sz="quarter" idx="12"/>
          </p:nvPr>
        </p:nvSpPr>
        <p:spPr>
          <a:ln/>
        </p:spPr>
        <p:txBody>
          <a:bodyPr/>
          <a:lstStyle>
            <a:lvl1pPr>
              <a:defRPr/>
            </a:lvl1pPr>
          </a:lstStyle>
          <a:p>
            <a:fld id="{CFE492E8-2EDF-44F1-911E-B504D8451A53}" type="slidenum">
              <a:rPr lang="en-US" altLang="en-US"/>
              <a:pPr/>
              <a:t>‹#›</a:t>
            </a:fld>
            <a:endParaRPr lang="en-US" altLang="en-US"/>
          </a:p>
        </p:txBody>
      </p:sp>
    </p:spTree>
    <p:extLst>
      <p:ext uri="{BB962C8B-B14F-4D97-AF65-F5344CB8AC3E}">
        <p14:creationId xmlns:p14="http://schemas.microsoft.com/office/powerpoint/2010/main" val="1923936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E244BEE-E09F-F1DB-18CB-7276A17BC3C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C560260-7F6C-9D0A-13B0-A939C228E65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2DE5889-5AEB-7965-5BC2-3807C6154E34}"/>
              </a:ext>
            </a:extLst>
          </p:cNvPr>
          <p:cNvSpPr>
            <a:spLocks noGrp="1" noChangeArrowheads="1"/>
          </p:cNvSpPr>
          <p:nvPr>
            <p:ph type="sldNum" sz="quarter" idx="12"/>
          </p:nvPr>
        </p:nvSpPr>
        <p:spPr>
          <a:ln/>
        </p:spPr>
        <p:txBody>
          <a:bodyPr/>
          <a:lstStyle>
            <a:lvl1pPr>
              <a:defRPr/>
            </a:lvl1pPr>
          </a:lstStyle>
          <a:p>
            <a:fld id="{2CB3FBEA-363B-4B45-83F6-CFC959083404}" type="slidenum">
              <a:rPr lang="en-US" altLang="en-US"/>
              <a:pPr/>
              <a:t>‹#›</a:t>
            </a:fld>
            <a:endParaRPr lang="en-US" altLang="en-US"/>
          </a:p>
        </p:txBody>
      </p:sp>
    </p:spTree>
    <p:extLst>
      <p:ext uri="{BB962C8B-B14F-4D97-AF65-F5344CB8AC3E}">
        <p14:creationId xmlns:p14="http://schemas.microsoft.com/office/powerpoint/2010/main" val="197192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3BDF5A9-AD54-E171-BE1E-730F91FE0E7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BE87BC72-E5DE-80E4-A654-707A7B2EFF1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F31F6DB-566A-8023-0309-D4F4E1FBCF7F}"/>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614AC16A-E1BE-7DBE-5D3C-C97E8D116FE0}"/>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3408E54B-B32C-794E-CF06-033E54130643}"/>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C3830A28-38CD-4612-8707-E2E022DBB23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4D0C3D1-BB9D-D6D6-126B-07493E12A590}"/>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The main function</a:t>
            </a:r>
          </a:p>
        </p:txBody>
      </p:sp>
      <p:sp>
        <p:nvSpPr>
          <p:cNvPr id="2051" name="Rectangle 3">
            <a:extLst>
              <a:ext uri="{FF2B5EF4-FFF2-40B4-BE49-F238E27FC236}">
                <a16:creationId xmlns:a16="http://schemas.microsoft.com/office/drawing/2014/main" id="{3436B505-86DA-369B-D746-F7C0EB766941}"/>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400">
                <a:latin typeface="Times New Roman" panose="02020603050405020304" pitchFamily="18" charset="0"/>
              </a:rPr>
              <a:t>C does not specify any return type for the main() function, which is the starting point for the execution of a program.</a:t>
            </a:r>
          </a:p>
          <a:p>
            <a:pPr lvl="1" algn="just" eaLnBrk="1" hangingPunct="1">
              <a:lnSpc>
                <a:spcPct val="80000"/>
              </a:lnSpc>
            </a:pPr>
            <a:r>
              <a:rPr lang="en-US" altLang="en-US" sz="2000">
                <a:latin typeface="Times New Roman" panose="02020603050405020304" pitchFamily="18" charset="0"/>
              </a:rPr>
              <a:t>main()</a:t>
            </a:r>
          </a:p>
          <a:p>
            <a:pPr lvl="1" algn="just" eaLnBrk="1" hangingPunct="1">
              <a:lnSpc>
                <a:spcPct val="80000"/>
              </a:lnSpc>
            </a:pPr>
            <a:r>
              <a:rPr lang="en-US" altLang="en-US" sz="2000">
                <a:latin typeface="Times New Roman" panose="02020603050405020304" pitchFamily="18" charset="0"/>
              </a:rPr>
              <a:t>{</a:t>
            </a:r>
          </a:p>
          <a:p>
            <a:pPr lvl="1" algn="just" eaLnBrk="1" hangingPunct="1">
              <a:lnSpc>
                <a:spcPct val="80000"/>
              </a:lnSpc>
            </a:pPr>
            <a:r>
              <a:rPr lang="en-US" altLang="en-US" sz="2000">
                <a:latin typeface="Times New Roman" panose="02020603050405020304" pitchFamily="18" charset="0"/>
              </a:rPr>
              <a:t>	/* main program statements*/</a:t>
            </a:r>
          </a:p>
          <a:p>
            <a:pPr lvl="1" algn="just" eaLnBrk="1" hangingPunct="1">
              <a:lnSpc>
                <a:spcPct val="80000"/>
              </a:lnSpc>
            </a:pPr>
            <a:r>
              <a:rPr lang="en-US" altLang="en-US" sz="2000">
                <a:latin typeface="Times New Roman" panose="02020603050405020304" pitchFamily="18" charset="0"/>
              </a:rPr>
              <a:t>}</a:t>
            </a:r>
          </a:p>
          <a:p>
            <a:pPr algn="just" eaLnBrk="1" hangingPunct="1">
              <a:lnSpc>
                <a:spcPct val="80000"/>
              </a:lnSpc>
              <a:buFontTx/>
              <a:buChar char="•"/>
            </a:pPr>
            <a:r>
              <a:rPr lang="en-US" altLang="en-US" sz="2400">
                <a:latin typeface="Times New Roman" panose="02020603050405020304" pitchFamily="18" charset="0"/>
              </a:rPr>
              <a:t>In C++ main() returns a value of type int to the operating system. C++ explicitly defines main() as matching one of the following prototypes:</a:t>
            </a:r>
          </a:p>
          <a:p>
            <a:pPr algn="just" eaLnBrk="1" hangingPunct="1">
              <a:lnSpc>
                <a:spcPct val="80000"/>
              </a:lnSpc>
            </a:pPr>
            <a:r>
              <a:rPr lang="en-US" altLang="en-US" sz="2400">
                <a:latin typeface="Times New Roman" panose="02020603050405020304" pitchFamily="18" charset="0"/>
              </a:rPr>
              <a:t>	int main();</a:t>
            </a:r>
          </a:p>
          <a:p>
            <a:pPr algn="just" eaLnBrk="1" hangingPunct="1">
              <a:lnSpc>
                <a:spcPct val="80000"/>
              </a:lnSpc>
            </a:pPr>
            <a:r>
              <a:rPr lang="en-US" altLang="en-US" sz="2400">
                <a:latin typeface="Times New Roman" panose="02020603050405020304" pitchFamily="18" charset="0"/>
              </a:rPr>
              <a:t>	int main(int argc, char * argv[ ] );</a:t>
            </a:r>
          </a:p>
          <a:p>
            <a:pPr algn="just" eaLnBrk="1" hangingPunct="1">
              <a:lnSpc>
                <a:spcPct val="80000"/>
              </a:lnSpc>
              <a:buFontTx/>
              <a:buChar char="•"/>
            </a:pPr>
            <a:r>
              <a:rPr lang="en-US" altLang="en-US" sz="2400">
                <a:latin typeface="Times New Roman" panose="02020603050405020304" pitchFamily="18" charset="0"/>
              </a:rPr>
              <a:t>Default return type of main() is int, the keyword int is optional</a:t>
            </a:r>
          </a:p>
          <a:p>
            <a:pPr algn="just" eaLnBrk="1" hangingPunct="1">
              <a:lnSpc>
                <a:spcPct val="80000"/>
              </a:lnSpc>
              <a:buFontTx/>
              <a:buChar char="•"/>
            </a:pPr>
            <a:r>
              <a:rPr lang="en-US" altLang="en-US" sz="2400">
                <a:latin typeface="Times New Roman" panose="02020603050405020304" pitchFamily="18" charset="0"/>
              </a:rPr>
              <a:t>Most of the C++ compilers will generate an error or warning if there is no return statement. Turbo C++ issues a warning like “function should return a value”</a:t>
            </a:r>
          </a:p>
          <a:p>
            <a:pPr algn="just" eaLnBrk="1" hangingPunct="1">
              <a:lnSpc>
                <a:spcPct val="80000"/>
              </a:lnSpc>
              <a:buFontTx/>
              <a:buChar char="•"/>
            </a:pPr>
            <a:r>
              <a:rPr lang="en-US" altLang="en-US" sz="2400">
                <a:latin typeface="Times New Roman" panose="02020603050405020304" pitchFamily="18" charset="0"/>
              </a:rPr>
              <a:t>Many operating systems test the return value to determine if there is any problem (Eg: 0 means program ran successfully, non zero some problem)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6F9C475-4BDD-8301-68A0-F64E4684A96F}"/>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Function prototyping</a:t>
            </a:r>
          </a:p>
        </p:txBody>
      </p:sp>
      <p:sp>
        <p:nvSpPr>
          <p:cNvPr id="3075" name="Rectangle 3">
            <a:extLst>
              <a:ext uri="{FF2B5EF4-FFF2-40B4-BE49-F238E27FC236}">
                <a16:creationId xmlns:a16="http://schemas.microsoft.com/office/drawing/2014/main" id="{C0B85ADF-0253-E7FD-4F62-B5B74522A7CD}"/>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a:latin typeface="Times New Roman" panose="02020603050405020304" pitchFamily="18" charset="0"/>
              </a:rPr>
              <a:t>It is one of the major improvements added to C++ functions</a:t>
            </a:r>
          </a:p>
          <a:p>
            <a:pPr algn="just" eaLnBrk="1" hangingPunct="1">
              <a:lnSpc>
                <a:spcPct val="90000"/>
              </a:lnSpc>
              <a:buFontTx/>
              <a:buChar char="•"/>
            </a:pPr>
            <a:r>
              <a:rPr lang="en-US" altLang="en-US">
                <a:latin typeface="Times New Roman" panose="02020603050405020304" pitchFamily="18" charset="0"/>
              </a:rPr>
              <a:t>The prototype describes the function interface to the compiler by giving details such as name of the function, number &amp; type of arguments and the type of return values</a:t>
            </a:r>
          </a:p>
          <a:p>
            <a:pPr algn="just" eaLnBrk="1" hangingPunct="1">
              <a:lnSpc>
                <a:spcPct val="90000"/>
              </a:lnSpc>
              <a:buFontTx/>
              <a:buChar char="•"/>
            </a:pPr>
            <a:r>
              <a:rPr lang="en-US" altLang="en-US">
                <a:latin typeface="Times New Roman" panose="02020603050405020304" pitchFamily="18" charset="0"/>
              </a:rPr>
              <a:t>With function prototyping, a template is always used when declaring and defining function</a:t>
            </a:r>
          </a:p>
          <a:p>
            <a:pPr algn="just" eaLnBrk="1" hangingPunct="1">
              <a:lnSpc>
                <a:spcPct val="90000"/>
              </a:lnSpc>
              <a:buFontTx/>
              <a:buChar char="•"/>
            </a:pPr>
            <a:r>
              <a:rPr lang="en-US" altLang="en-US">
                <a:latin typeface="Times New Roman" panose="02020603050405020304" pitchFamily="18" charset="0"/>
              </a:rPr>
              <a:t>When a function is called, the compiler uses the template to ensure that proper arguments are passed and the return value is treated correctly.</a:t>
            </a:r>
          </a:p>
          <a:p>
            <a:pPr algn="just" eaLnBrk="1" hangingPunct="1">
              <a:lnSpc>
                <a:spcPct val="90000"/>
              </a:lnSpc>
              <a:buFontTx/>
              <a:buChar char="•"/>
            </a:pPr>
            <a:r>
              <a:rPr lang="en-US" altLang="en-US">
                <a:latin typeface="Times New Roman" panose="02020603050405020304" pitchFamily="18" charset="0"/>
              </a:rPr>
              <a:t>Any violation will be caught by the compiler at the time of compilation itself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A00BDAD-F7C8-F4CC-835F-87246F7D9A20}"/>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Function prototyping contd…</a:t>
            </a:r>
          </a:p>
        </p:txBody>
      </p:sp>
      <p:sp>
        <p:nvSpPr>
          <p:cNvPr id="4099" name="Rectangle 3">
            <a:extLst>
              <a:ext uri="{FF2B5EF4-FFF2-40B4-BE49-F238E27FC236}">
                <a16:creationId xmlns:a16="http://schemas.microsoft.com/office/drawing/2014/main" id="{823F45D8-18F0-B41D-E8CB-59B4AF26B9B8}"/>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sz="2400">
                <a:latin typeface="Times New Roman" panose="02020603050405020304" pitchFamily="18" charset="0"/>
              </a:rPr>
              <a:t>Function prototype is a declaration statement in the calling program and is of the following form</a:t>
            </a:r>
          </a:p>
          <a:p>
            <a:pPr algn="just" eaLnBrk="1" hangingPunct="1">
              <a:lnSpc>
                <a:spcPct val="90000"/>
              </a:lnSpc>
            </a:pPr>
            <a:r>
              <a:rPr lang="en-US" altLang="en-US" sz="2400">
                <a:latin typeface="Times New Roman" panose="02020603050405020304" pitchFamily="18" charset="0"/>
              </a:rPr>
              <a:t>	</a:t>
            </a:r>
            <a:r>
              <a:rPr lang="en-US" altLang="en-US" sz="2400">
                <a:solidFill>
                  <a:srgbClr val="0066CC"/>
                </a:solidFill>
                <a:latin typeface="Times New Roman" panose="02020603050405020304" pitchFamily="18" charset="0"/>
              </a:rPr>
              <a:t>type function-name (argument-list);</a:t>
            </a:r>
          </a:p>
          <a:p>
            <a:pPr algn="just" eaLnBrk="1" hangingPunct="1">
              <a:lnSpc>
                <a:spcPct val="90000"/>
              </a:lnSpc>
            </a:pPr>
            <a:r>
              <a:rPr lang="en-US" altLang="en-US" sz="2400">
                <a:latin typeface="Times New Roman" panose="02020603050405020304" pitchFamily="18" charset="0"/>
              </a:rPr>
              <a:t>The argument-list contains the types and names of the arguments that must be passed to the function</a:t>
            </a:r>
          </a:p>
          <a:p>
            <a:pPr algn="just" eaLnBrk="1" hangingPunct="1">
              <a:lnSpc>
                <a:spcPct val="90000"/>
              </a:lnSpc>
            </a:pPr>
            <a:r>
              <a:rPr lang="en-US" altLang="en-US" sz="2400">
                <a:latin typeface="Times New Roman" panose="02020603050405020304" pitchFamily="18" charset="0"/>
              </a:rPr>
              <a:t>	Eg: float volume(int x, float y, float z);</a:t>
            </a:r>
          </a:p>
          <a:p>
            <a:pPr algn="just" eaLnBrk="1" hangingPunct="1">
              <a:lnSpc>
                <a:spcPct val="90000"/>
              </a:lnSpc>
            </a:pPr>
            <a:r>
              <a:rPr lang="en-US" altLang="en-US" sz="2400">
                <a:latin typeface="Times New Roman" panose="02020603050405020304" pitchFamily="18" charset="0"/>
              </a:rPr>
              <a:t>	      float volume(int x, float y, z);   //illegal</a:t>
            </a:r>
          </a:p>
          <a:p>
            <a:pPr algn="just" eaLnBrk="1" hangingPunct="1">
              <a:lnSpc>
                <a:spcPct val="90000"/>
              </a:lnSpc>
            </a:pPr>
            <a:r>
              <a:rPr lang="en-US" altLang="en-US" sz="2400">
                <a:latin typeface="Times New Roman" panose="02020603050405020304" pitchFamily="18" charset="0"/>
              </a:rPr>
              <a:t>	** each argument variable must be declared independently</a:t>
            </a:r>
          </a:p>
          <a:p>
            <a:pPr algn="just" eaLnBrk="1" hangingPunct="1">
              <a:lnSpc>
                <a:spcPct val="90000"/>
              </a:lnSpc>
              <a:buFontTx/>
              <a:buChar char="•"/>
            </a:pPr>
            <a:r>
              <a:rPr lang="en-US" altLang="en-US" sz="2400">
                <a:latin typeface="Times New Roman" panose="02020603050405020304" pitchFamily="18" charset="0"/>
              </a:rPr>
              <a:t>Names are optional because they are dummy variables</a:t>
            </a:r>
          </a:p>
          <a:p>
            <a:pPr algn="just" eaLnBrk="1" hangingPunct="1">
              <a:lnSpc>
                <a:spcPct val="90000"/>
              </a:lnSpc>
            </a:pPr>
            <a:r>
              <a:rPr lang="en-US" altLang="en-US" sz="2400">
                <a:latin typeface="Times New Roman" panose="02020603050405020304" pitchFamily="18" charset="0"/>
              </a:rPr>
              <a:t>	</a:t>
            </a:r>
            <a:r>
              <a:rPr lang="en-US" altLang="en-US" sz="2400">
                <a:solidFill>
                  <a:srgbClr val="0066CC"/>
                </a:solidFill>
                <a:latin typeface="Times New Roman" panose="02020603050405020304" pitchFamily="18" charset="0"/>
              </a:rPr>
              <a:t>float volume(int , float , float );</a:t>
            </a:r>
          </a:p>
          <a:p>
            <a:pPr algn="just" eaLnBrk="1" hangingPunct="1">
              <a:lnSpc>
                <a:spcPct val="90000"/>
              </a:lnSpc>
            </a:pPr>
            <a:r>
              <a:rPr lang="en-US" altLang="en-US" sz="2400">
                <a:latin typeface="Times New Roman" panose="02020603050405020304" pitchFamily="18" charset="0"/>
              </a:rPr>
              <a:t>	** at this stage the compiler only checks for the type of arguments</a:t>
            </a:r>
          </a:p>
          <a:p>
            <a:pPr algn="just" eaLnBrk="1" hangingPunct="1">
              <a:lnSpc>
                <a:spcPct val="90000"/>
              </a:lnSpc>
              <a:buFontTx/>
              <a:buChar char="•"/>
            </a:pPr>
            <a:r>
              <a:rPr lang="en-US" altLang="en-US" sz="2400">
                <a:latin typeface="Times New Roman" panose="02020603050405020304" pitchFamily="18" charset="0"/>
              </a:rPr>
              <a:t>The variable names in the prototype just acts as placeholders and therefore, if names are used, then don’t have to match the names used in the function call or function definition</a:t>
            </a:r>
          </a:p>
          <a:p>
            <a:pPr algn="just" eaLnBrk="1" hangingPunct="1">
              <a:lnSpc>
                <a:spcPct val="90000"/>
              </a:lnSpc>
            </a:pPr>
            <a:endParaRPr lang="en-US" altLang="en-US" sz="2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AF0695D-1EC9-21A0-D260-F6044AA2BEE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Function prototyping contd…</a:t>
            </a:r>
          </a:p>
        </p:txBody>
      </p:sp>
      <p:sp>
        <p:nvSpPr>
          <p:cNvPr id="5123" name="Rectangle 3">
            <a:extLst>
              <a:ext uri="{FF2B5EF4-FFF2-40B4-BE49-F238E27FC236}">
                <a16:creationId xmlns:a16="http://schemas.microsoft.com/office/drawing/2014/main" id="{DD674606-3DCF-AC45-B9B3-D41F807C1D0F}"/>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sz="2400">
                <a:latin typeface="Times New Roman" panose="02020603050405020304" pitchFamily="18" charset="0"/>
              </a:rPr>
              <a:t>In the function definition, names are required because the arguments must be referenced inside the function</a:t>
            </a:r>
          </a:p>
          <a:p>
            <a:pPr algn="just" eaLnBrk="1" hangingPunct="1">
              <a:lnSpc>
                <a:spcPct val="90000"/>
              </a:lnSpc>
            </a:pPr>
            <a:r>
              <a:rPr lang="en-US" altLang="en-US" sz="2400">
                <a:latin typeface="Times New Roman" panose="02020603050405020304" pitchFamily="18" charset="0"/>
              </a:rPr>
              <a:t>	 float volume(int x, float y, float z) //function definition</a:t>
            </a:r>
          </a:p>
          <a:p>
            <a:pPr algn="just" eaLnBrk="1" hangingPunct="1">
              <a:lnSpc>
                <a:spcPct val="90000"/>
              </a:lnSpc>
            </a:pPr>
            <a:r>
              <a:rPr lang="en-US" altLang="en-US" sz="2400">
                <a:latin typeface="Times New Roman" panose="02020603050405020304" pitchFamily="18" charset="0"/>
              </a:rPr>
              <a:t>	{</a:t>
            </a:r>
          </a:p>
          <a:p>
            <a:pPr algn="just" eaLnBrk="1" hangingPunct="1">
              <a:lnSpc>
                <a:spcPct val="90000"/>
              </a:lnSpc>
            </a:pPr>
            <a:r>
              <a:rPr lang="en-US" altLang="en-US" sz="2400">
                <a:latin typeface="Times New Roman" panose="02020603050405020304" pitchFamily="18" charset="0"/>
              </a:rPr>
              <a:t>		float vol = x*y*z;</a:t>
            </a:r>
          </a:p>
          <a:p>
            <a:pPr algn="just" eaLnBrk="1" hangingPunct="1">
              <a:lnSpc>
                <a:spcPct val="90000"/>
              </a:lnSpc>
            </a:pPr>
            <a:r>
              <a:rPr lang="en-US" altLang="en-US" sz="2400">
                <a:latin typeface="Times New Roman" panose="02020603050405020304" pitchFamily="18" charset="0"/>
              </a:rPr>
              <a:t>		………..</a:t>
            </a:r>
          </a:p>
          <a:p>
            <a:pPr algn="just" eaLnBrk="1" hangingPunct="1">
              <a:lnSpc>
                <a:spcPct val="90000"/>
              </a:lnSpc>
            </a:pPr>
            <a:r>
              <a:rPr lang="en-US" altLang="en-US" sz="2400">
                <a:latin typeface="Times New Roman" panose="02020603050405020304" pitchFamily="18" charset="0"/>
              </a:rPr>
              <a:t>	}</a:t>
            </a:r>
          </a:p>
          <a:p>
            <a:pPr algn="just" eaLnBrk="1" hangingPunct="1">
              <a:lnSpc>
                <a:spcPct val="90000"/>
              </a:lnSpc>
              <a:buFontTx/>
              <a:buChar char="•"/>
            </a:pPr>
            <a:r>
              <a:rPr lang="en-US" altLang="en-US" sz="2400">
                <a:latin typeface="Times New Roman" panose="02020603050405020304" pitchFamily="18" charset="0"/>
              </a:rPr>
              <a:t>The function volume can be invoked in a program using</a:t>
            </a:r>
          </a:p>
          <a:p>
            <a:pPr algn="just" eaLnBrk="1" hangingPunct="1">
              <a:lnSpc>
                <a:spcPct val="90000"/>
              </a:lnSpc>
            </a:pPr>
            <a:r>
              <a:rPr lang="en-US" altLang="en-US" sz="2400">
                <a:latin typeface="Times New Roman" panose="02020603050405020304" pitchFamily="18" charset="0"/>
              </a:rPr>
              <a:t>	float cubevol = volume(b,w,h);	//function call</a:t>
            </a:r>
          </a:p>
          <a:p>
            <a:pPr algn="just" eaLnBrk="1" hangingPunct="1">
              <a:lnSpc>
                <a:spcPct val="90000"/>
              </a:lnSpc>
              <a:buFontTx/>
              <a:buChar char="•"/>
            </a:pPr>
            <a:r>
              <a:rPr lang="en-US" altLang="en-US" sz="2400">
                <a:solidFill>
                  <a:srgbClr val="0066CC"/>
                </a:solidFill>
                <a:latin typeface="Times New Roman" panose="02020603050405020304" pitchFamily="18" charset="0"/>
              </a:rPr>
              <a:t>x,y,z</a:t>
            </a:r>
            <a:r>
              <a:rPr lang="en-US" altLang="en-US" sz="2400">
                <a:latin typeface="Times New Roman" panose="02020603050405020304" pitchFamily="18" charset="0"/>
              </a:rPr>
              <a:t> are known as </a:t>
            </a:r>
            <a:r>
              <a:rPr lang="en-US" altLang="en-US" sz="2400">
                <a:solidFill>
                  <a:srgbClr val="0066CC"/>
                </a:solidFill>
                <a:latin typeface="Times New Roman" panose="02020603050405020304" pitchFamily="18" charset="0"/>
              </a:rPr>
              <a:t>formal arguments</a:t>
            </a:r>
          </a:p>
          <a:p>
            <a:pPr algn="just" eaLnBrk="1" hangingPunct="1">
              <a:lnSpc>
                <a:spcPct val="90000"/>
              </a:lnSpc>
              <a:buFontTx/>
              <a:buChar char="•"/>
            </a:pPr>
            <a:r>
              <a:rPr lang="en-US" altLang="en-US" sz="2400">
                <a:solidFill>
                  <a:srgbClr val="0066CC"/>
                </a:solidFill>
                <a:latin typeface="Times New Roman" panose="02020603050405020304" pitchFamily="18" charset="0"/>
              </a:rPr>
              <a:t>b,w,h</a:t>
            </a:r>
            <a:r>
              <a:rPr lang="en-US" altLang="en-US" sz="2400">
                <a:latin typeface="Times New Roman" panose="02020603050405020304" pitchFamily="18" charset="0"/>
              </a:rPr>
              <a:t> are known as  </a:t>
            </a:r>
            <a:r>
              <a:rPr lang="en-US" altLang="en-US" sz="2400">
                <a:solidFill>
                  <a:srgbClr val="0066CC"/>
                </a:solidFill>
                <a:latin typeface="Times New Roman" panose="02020603050405020304" pitchFamily="18" charset="0"/>
              </a:rPr>
              <a:t>actual arguments</a:t>
            </a:r>
          </a:p>
          <a:p>
            <a:pPr algn="just" eaLnBrk="1" hangingPunct="1">
              <a:lnSpc>
                <a:spcPct val="90000"/>
              </a:lnSpc>
              <a:buFontTx/>
              <a:buChar char="•"/>
            </a:pPr>
            <a:r>
              <a:rPr lang="en-US" altLang="en-US" sz="2400">
                <a:latin typeface="Times New Roman" panose="02020603050405020304" pitchFamily="18" charset="0"/>
              </a:rPr>
              <a:t>Actual arguments types should </a:t>
            </a:r>
            <a:r>
              <a:rPr lang="en-US" altLang="en-US" sz="2400">
                <a:solidFill>
                  <a:srgbClr val="0066CC"/>
                </a:solidFill>
                <a:latin typeface="Times New Roman" panose="02020603050405020304" pitchFamily="18" charset="0"/>
              </a:rPr>
              <a:t>m</a:t>
            </a:r>
            <a:r>
              <a:rPr lang="en-US" altLang="en-US" sz="2400" i="1">
                <a:solidFill>
                  <a:srgbClr val="0066CC"/>
                </a:solidFill>
                <a:latin typeface="Times New Roman" panose="02020603050405020304" pitchFamily="18" charset="0"/>
              </a:rPr>
              <a:t>atc</a:t>
            </a:r>
            <a:r>
              <a:rPr lang="en-US" altLang="en-US" sz="2400" i="1">
                <a:latin typeface="Times New Roman" panose="02020603050405020304" pitchFamily="18" charset="0"/>
              </a:rPr>
              <a:t>h</a:t>
            </a:r>
            <a:r>
              <a:rPr lang="en-US" altLang="en-US" sz="2400">
                <a:latin typeface="Times New Roman" panose="02020603050405020304" pitchFamily="18" charset="0"/>
              </a:rPr>
              <a:t> with the types declared in the prototype</a:t>
            </a:r>
          </a:p>
          <a:p>
            <a:pPr algn="just" eaLnBrk="1" hangingPunct="1">
              <a:lnSpc>
                <a:spcPct val="90000"/>
              </a:lnSpc>
              <a:buFontTx/>
              <a:buChar char="•"/>
            </a:pPr>
            <a:r>
              <a:rPr lang="en-US" altLang="en-US" sz="2400">
                <a:latin typeface="Times New Roman" panose="02020603050405020304" pitchFamily="18" charset="0"/>
              </a:rPr>
              <a:t>We can declare a function with an empty argument list </a:t>
            </a:r>
          </a:p>
          <a:p>
            <a:pPr algn="just" eaLnBrk="1" hangingPunct="1">
              <a:lnSpc>
                <a:spcPct val="90000"/>
              </a:lnSpc>
            </a:pPr>
            <a:r>
              <a:rPr lang="en-US" altLang="en-US" sz="2400">
                <a:latin typeface="Times New Roman" panose="02020603050405020304" pitchFamily="18" charset="0"/>
              </a:rPr>
              <a:t>	</a:t>
            </a:r>
            <a:r>
              <a:rPr lang="en-US" altLang="en-US" sz="2400">
                <a:solidFill>
                  <a:srgbClr val="0066CC"/>
                </a:solidFill>
                <a:latin typeface="Times New Roman" panose="02020603050405020304" pitchFamily="18" charset="0"/>
              </a:rPr>
              <a:t>void print(void);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93268BC-EF61-F213-494A-39F1D27B8DFD}"/>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Call by Reference</a:t>
            </a:r>
          </a:p>
        </p:txBody>
      </p:sp>
      <p:sp>
        <p:nvSpPr>
          <p:cNvPr id="6147" name="Rectangle 3">
            <a:extLst>
              <a:ext uri="{FF2B5EF4-FFF2-40B4-BE49-F238E27FC236}">
                <a16:creationId xmlns:a16="http://schemas.microsoft.com/office/drawing/2014/main" id="{382CCF5D-D7B8-2FAC-8708-F55EE86CAE8C}"/>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a:t>In some situations we would like to change the values of variables in called program</a:t>
            </a:r>
          </a:p>
          <a:p>
            <a:pPr algn="just" eaLnBrk="1" hangingPunct="1">
              <a:lnSpc>
                <a:spcPct val="90000"/>
              </a:lnSpc>
              <a:buFontTx/>
              <a:buChar char="•"/>
            </a:pPr>
            <a:r>
              <a:rPr lang="en-US" altLang="en-US"/>
              <a:t>For example, in </a:t>
            </a:r>
            <a:r>
              <a:rPr lang="en-US" altLang="en-US">
                <a:solidFill>
                  <a:srgbClr val="0066CC"/>
                </a:solidFill>
              </a:rPr>
              <a:t>bubble sort</a:t>
            </a:r>
            <a:r>
              <a:rPr lang="en-US" altLang="en-US"/>
              <a:t>, we compare two adjacent elements in the list and interchange their values if the first element is greater than second. If we use a function then it should alter the values, then </a:t>
            </a:r>
            <a:r>
              <a:rPr lang="en-US" altLang="en-US">
                <a:solidFill>
                  <a:srgbClr val="0066CC"/>
                </a:solidFill>
              </a:rPr>
              <a:t>call by value method is not sufficient</a:t>
            </a:r>
          </a:p>
          <a:p>
            <a:pPr algn="just" eaLnBrk="1" hangingPunct="1">
              <a:lnSpc>
                <a:spcPct val="90000"/>
              </a:lnSpc>
              <a:buFontTx/>
              <a:buChar char="•"/>
            </a:pPr>
            <a:r>
              <a:rPr lang="en-US" altLang="en-US"/>
              <a:t>Reference variables in C++ permits us to pass parameters to the function by reference, in this case </a:t>
            </a:r>
            <a:r>
              <a:rPr lang="en-US" altLang="en-US">
                <a:solidFill>
                  <a:srgbClr val="0066CC"/>
                </a:solidFill>
              </a:rPr>
              <a:t>formal arguments in the function call become aliases to the actual arguments in the called function.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44FAE86-21BD-63E5-AB61-17B3B81306E3}"/>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Call by Reference contd…</a:t>
            </a:r>
          </a:p>
        </p:txBody>
      </p:sp>
      <p:sp>
        <p:nvSpPr>
          <p:cNvPr id="7171" name="Rectangle 3">
            <a:extLst>
              <a:ext uri="{FF2B5EF4-FFF2-40B4-BE49-F238E27FC236}">
                <a16:creationId xmlns:a16="http://schemas.microsoft.com/office/drawing/2014/main" id="{FA727CF6-EA20-2DEF-BA38-455F93720A61}"/>
              </a:ext>
            </a:extLst>
          </p:cNvPr>
          <p:cNvSpPr>
            <a:spLocks noGrp="1" noChangeArrowheads="1"/>
          </p:cNvSpPr>
          <p:nvPr>
            <p:ph type="subTitle" idx="1"/>
          </p:nvPr>
        </p:nvSpPr>
        <p:spPr>
          <a:xfrm>
            <a:off x="228600" y="609600"/>
            <a:ext cx="8686800" cy="6019800"/>
          </a:xfrm>
        </p:spPr>
        <p:txBody>
          <a:bodyPr/>
          <a:lstStyle/>
          <a:p>
            <a:pPr algn="l" eaLnBrk="1" hangingPunct="1">
              <a:lnSpc>
                <a:spcPct val="80000"/>
              </a:lnSpc>
            </a:pPr>
            <a:r>
              <a:rPr lang="en-US" altLang="en-US" sz="2000"/>
              <a:t>//without reference variables</a:t>
            </a:r>
          </a:p>
          <a:p>
            <a:pPr algn="l" eaLnBrk="1" hangingPunct="1">
              <a:lnSpc>
                <a:spcPct val="80000"/>
              </a:lnSpc>
            </a:pPr>
            <a:r>
              <a:rPr lang="en-US" altLang="en-US" sz="2000"/>
              <a:t>#include &lt;iostream&gt;</a:t>
            </a:r>
          </a:p>
          <a:p>
            <a:pPr algn="l" eaLnBrk="1" hangingPunct="1">
              <a:lnSpc>
                <a:spcPct val="80000"/>
              </a:lnSpc>
            </a:pPr>
            <a:r>
              <a:rPr lang="en-US" altLang="en-US" sz="2000"/>
              <a:t>using namespace std;</a:t>
            </a:r>
          </a:p>
          <a:p>
            <a:pPr algn="l" eaLnBrk="1" hangingPunct="1">
              <a:lnSpc>
                <a:spcPct val="80000"/>
              </a:lnSpc>
            </a:pPr>
            <a:r>
              <a:rPr lang="en-US" altLang="en-US" sz="2000"/>
              <a:t>void swap(int a,int b)</a:t>
            </a:r>
          </a:p>
          <a:p>
            <a:pPr algn="l" eaLnBrk="1" hangingPunct="1">
              <a:lnSpc>
                <a:spcPct val="80000"/>
              </a:lnSpc>
            </a:pPr>
            <a:r>
              <a:rPr lang="en-US" altLang="en-US" sz="2000"/>
              <a:t>{</a:t>
            </a:r>
          </a:p>
          <a:p>
            <a:pPr algn="l" eaLnBrk="1" hangingPunct="1">
              <a:lnSpc>
                <a:spcPct val="80000"/>
              </a:lnSpc>
            </a:pPr>
            <a:r>
              <a:rPr lang="en-US" altLang="en-US" sz="2000"/>
              <a:t>	int t=a;</a:t>
            </a:r>
          </a:p>
          <a:p>
            <a:pPr algn="l" eaLnBrk="1" hangingPunct="1">
              <a:lnSpc>
                <a:spcPct val="80000"/>
              </a:lnSpc>
            </a:pPr>
            <a:r>
              <a:rPr lang="en-US" altLang="en-US" sz="2000"/>
              <a:t>	a=b;</a:t>
            </a:r>
          </a:p>
          <a:p>
            <a:pPr algn="l" eaLnBrk="1" hangingPunct="1">
              <a:lnSpc>
                <a:spcPct val="80000"/>
              </a:lnSpc>
            </a:pPr>
            <a:r>
              <a:rPr lang="en-US" altLang="en-US" sz="2000"/>
              <a:t>	b=t;</a:t>
            </a:r>
          </a:p>
          <a:p>
            <a:pPr algn="l" eaLnBrk="1" hangingPunct="1">
              <a:lnSpc>
                <a:spcPct val="80000"/>
              </a:lnSpc>
            </a:pPr>
            <a:r>
              <a:rPr lang="en-US" altLang="en-US" sz="2000"/>
              <a:t>}</a:t>
            </a:r>
          </a:p>
          <a:p>
            <a:pPr algn="l" eaLnBrk="1" hangingPunct="1">
              <a:lnSpc>
                <a:spcPct val="80000"/>
              </a:lnSpc>
            </a:pPr>
            <a:r>
              <a:rPr lang="en-US" altLang="en-US" sz="2000"/>
              <a:t>int main()</a:t>
            </a:r>
          </a:p>
          <a:p>
            <a:pPr algn="l" eaLnBrk="1" hangingPunct="1">
              <a:lnSpc>
                <a:spcPct val="80000"/>
              </a:lnSpc>
            </a:pPr>
            <a:r>
              <a:rPr lang="en-US" altLang="en-US" sz="2000"/>
              <a:t>{</a:t>
            </a:r>
          </a:p>
          <a:p>
            <a:pPr algn="l" eaLnBrk="1" hangingPunct="1">
              <a:lnSpc>
                <a:spcPct val="80000"/>
              </a:lnSpc>
            </a:pPr>
            <a:r>
              <a:rPr lang="en-US" altLang="en-US" sz="2000"/>
              <a:t>	int x=10,y=5;</a:t>
            </a:r>
          </a:p>
          <a:p>
            <a:pPr algn="l" eaLnBrk="1" hangingPunct="1">
              <a:lnSpc>
                <a:spcPct val="80000"/>
              </a:lnSpc>
            </a:pPr>
            <a:r>
              <a:rPr lang="en-US" altLang="en-US" sz="2000"/>
              <a:t>	cout &lt;&lt; "x = " &lt;&lt; x &lt;&lt; "y = " &lt;&lt; y&lt;&lt;endl;</a:t>
            </a:r>
          </a:p>
          <a:p>
            <a:pPr algn="l" eaLnBrk="1" hangingPunct="1">
              <a:lnSpc>
                <a:spcPct val="80000"/>
              </a:lnSpc>
            </a:pPr>
            <a:r>
              <a:rPr lang="en-US" altLang="en-US" sz="2000"/>
              <a:t>	swap(x,y);</a:t>
            </a:r>
          </a:p>
          <a:p>
            <a:pPr algn="l" eaLnBrk="1" hangingPunct="1">
              <a:lnSpc>
                <a:spcPct val="80000"/>
              </a:lnSpc>
            </a:pPr>
            <a:r>
              <a:rPr lang="en-US" altLang="en-US" sz="2000"/>
              <a:t>	cout &lt;&lt; "x = " &lt;&lt; x &lt;&lt;"y = " &lt;&lt; y;</a:t>
            </a:r>
          </a:p>
          <a:p>
            <a:pPr algn="l" eaLnBrk="1" hangingPunct="1">
              <a:lnSpc>
                <a:spcPct val="80000"/>
              </a:lnSpc>
            </a:pPr>
            <a:r>
              <a:rPr lang="en-US" altLang="en-US" sz="2000"/>
              <a:t>	return 0;</a:t>
            </a:r>
          </a:p>
          <a:p>
            <a:pPr algn="l" eaLnBrk="1" hangingPunct="1">
              <a:lnSpc>
                <a:spcPct val="80000"/>
              </a:lnSpc>
            </a:pPr>
            <a:r>
              <a:rPr lang="en-US" altLang="en-US" sz="2000"/>
              <a:t>}</a:t>
            </a:r>
          </a:p>
          <a:p>
            <a:pPr algn="l" eaLnBrk="1" hangingPunct="1">
              <a:lnSpc>
                <a:spcPct val="80000"/>
              </a:lnSpc>
            </a:pPr>
            <a:r>
              <a:rPr lang="en-US" altLang="en-US" sz="2000"/>
              <a:t>Output :</a:t>
            </a:r>
          </a:p>
          <a:p>
            <a:pPr algn="l" eaLnBrk="1" hangingPunct="1">
              <a:lnSpc>
                <a:spcPct val="80000"/>
              </a:lnSpc>
            </a:pPr>
            <a:r>
              <a:rPr lang="en-US" altLang="en-US" sz="2000"/>
              <a:t>x = 10	y = 5</a:t>
            </a:r>
          </a:p>
          <a:p>
            <a:pPr algn="l" eaLnBrk="1" hangingPunct="1">
              <a:lnSpc>
                <a:spcPct val="80000"/>
              </a:lnSpc>
            </a:pPr>
            <a:r>
              <a:rPr lang="en-US" altLang="en-US" sz="2000"/>
              <a:t>x = 10	y =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8605DAD-3F57-94BE-69F3-27E8B55C4AA4}"/>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Call by Reference contd…</a:t>
            </a:r>
          </a:p>
        </p:txBody>
      </p:sp>
      <p:sp>
        <p:nvSpPr>
          <p:cNvPr id="8195" name="Rectangle 3">
            <a:extLst>
              <a:ext uri="{FF2B5EF4-FFF2-40B4-BE49-F238E27FC236}">
                <a16:creationId xmlns:a16="http://schemas.microsoft.com/office/drawing/2014/main" id="{B8A4B507-6046-86C0-9A70-75E3B24C359B}"/>
              </a:ext>
            </a:extLst>
          </p:cNvPr>
          <p:cNvSpPr>
            <a:spLocks noGrp="1" noChangeArrowheads="1"/>
          </p:cNvSpPr>
          <p:nvPr>
            <p:ph type="subTitle" idx="1"/>
          </p:nvPr>
        </p:nvSpPr>
        <p:spPr>
          <a:xfrm>
            <a:off x="228600" y="609600"/>
            <a:ext cx="8686800" cy="6019800"/>
          </a:xfrm>
        </p:spPr>
        <p:txBody>
          <a:bodyPr/>
          <a:lstStyle/>
          <a:p>
            <a:pPr algn="l" eaLnBrk="1" hangingPunct="1">
              <a:lnSpc>
                <a:spcPct val="80000"/>
              </a:lnSpc>
            </a:pPr>
            <a:r>
              <a:rPr lang="en-US" altLang="en-US" sz="2000"/>
              <a:t>//with reference variables just and vefore a and b</a:t>
            </a:r>
          </a:p>
          <a:p>
            <a:pPr algn="l" eaLnBrk="1" hangingPunct="1">
              <a:lnSpc>
                <a:spcPct val="80000"/>
              </a:lnSpc>
            </a:pPr>
            <a:r>
              <a:rPr lang="en-US" altLang="en-US" sz="2000"/>
              <a:t>#include &lt;iostream&gt;</a:t>
            </a:r>
          </a:p>
          <a:p>
            <a:pPr algn="l" eaLnBrk="1" hangingPunct="1">
              <a:lnSpc>
                <a:spcPct val="80000"/>
              </a:lnSpc>
            </a:pPr>
            <a:r>
              <a:rPr lang="en-US" altLang="en-US" sz="2000"/>
              <a:t>using namespace std;</a:t>
            </a:r>
          </a:p>
          <a:p>
            <a:pPr algn="l" eaLnBrk="1" hangingPunct="1">
              <a:lnSpc>
                <a:spcPct val="80000"/>
              </a:lnSpc>
            </a:pPr>
            <a:r>
              <a:rPr lang="en-US" altLang="en-US" sz="2000"/>
              <a:t>void swap(int &amp; a,int &amp; b)</a:t>
            </a:r>
          </a:p>
          <a:p>
            <a:pPr algn="l" eaLnBrk="1" hangingPunct="1">
              <a:lnSpc>
                <a:spcPct val="80000"/>
              </a:lnSpc>
            </a:pPr>
            <a:r>
              <a:rPr lang="en-US" altLang="en-US" sz="2000"/>
              <a:t>{</a:t>
            </a:r>
          </a:p>
          <a:p>
            <a:pPr algn="l" eaLnBrk="1" hangingPunct="1">
              <a:lnSpc>
                <a:spcPct val="80000"/>
              </a:lnSpc>
            </a:pPr>
            <a:r>
              <a:rPr lang="en-US" altLang="en-US" sz="2000"/>
              <a:t>	int t=a;</a:t>
            </a:r>
          </a:p>
          <a:p>
            <a:pPr algn="l" eaLnBrk="1" hangingPunct="1">
              <a:lnSpc>
                <a:spcPct val="80000"/>
              </a:lnSpc>
            </a:pPr>
            <a:r>
              <a:rPr lang="en-US" altLang="en-US" sz="2000"/>
              <a:t>	a=b;</a:t>
            </a:r>
          </a:p>
          <a:p>
            <a:pPr algn="l" eaLnBrk="1" hangingPunct="1">
              <a:lnSpc>
                <a:spcPct val="80000"/>
              </a:lnSpc>
            </a:pPr>
            <a:r>
              <a:rPr lang="en-US" altLang="en-US" sz="2000"/>
              <a:t>	b=t;</a:t>
            </a:r>
          </a:p>
          <a:p>
            <a:pPr algn="l" eaLnBrk="1" hangingPunct="1">
              <a:lnSpc>
                <a:spcPct val="80000"/>
              </a:lnSpc>
            </a:pPr>
            <a:r>
              <a:rPr lang="en-US" altLang="en-US" sz="2000"/>
              <a:t>}</a:t>
            </a:r>
          </a:p>
          <a:p>
            <a:pPr algn="l" eaLnBrk="1" hangingPunct="1">
              <a:lnSpc>
                <a:spcPct val="80000"/>
              </a:lnSpc>
            </a:pPr>
            <a:r>
              <a:rPr lang="en-US" altLang="en-US" sz="2000"/>
              <a:t>int main()</a:t>
            </a:r>
          </a:p>
          <a:p>
            <a:pPr algn="l" eaLnBrk="1" hangingPunct="1">
              <a:lnSpc>
                <a:spcPct val="80000"/>
              </a:lnSpc>
            </a:pPr>
            <a:r>
              <a:rPr lang="en-US" altLang="en-US" sz="2000"/>
              <a:t>{</a:t>
            </a:r>
          </a:p>
          <a:p>
            <a:pPr algn="l" eaLnBrk="1" hangingPunct="1">
              <a:lnSpc>
                <a:spcPct val="80000"/>
              </a:lnSpc>
            </a:pPr>
            <a:r>
              <a:rPr lang="en-US" altLang="en-US" sz="2000"/>
              <a:t>	int x=10,y=5;</a:t>
            </a:r>
          </a:p>
          <a:p>
            <a:pPr algn="l" eaLnBrk="1" hangingPunct="1">
              <a:lnSpc>
                <a:spcPct val="80000"/>
              </a:lnSpc>
            </a:pPr>
            <a:r>
              <a:rPr lang="en-US" altLang="en-US" sz="2000"/>
              <a:t>	cout &lt;&lt; "x = " &lt;&lt; x &lt;&lt; "y = " &lt;&lt; y&lt;&lt;endl;</a:t>
            </a:r>
          </a:p>
          <a:p>
            <a:pPr algn="l" eaLnBrk="1" hangingPunct="1">
              <a:lnSpc>
                <a:spcPct val="80000"/>
              </a:lnSpc>
            </a:pPr>
            <a:r>
              <a:rPr lang="en-US" altLang="en-US" sz="2000"/>
              <a:t>	swap(x,y);</a:t>
            </a:r>
          </a:p>
          <a:p>
            <a:pPr algn="l" eaLnBrk="1" hangingPunct="1">
              <a:lnSpc>
                <a:spcPct val="80000"/>
              </a:lnSpc>
            </a:pPr>
            <a:r>
              <a:rPr lang="en-US" altLang="en-US" sz="2000"/>
              <a:t>	cout &lt;&lt; "x = " &lt;&lt; x &lt;&lt;"y = " &lt;&lt; y;</a:t>
            </a:r>
          </a:p>
          <a:p>
            <a:pPr algn="l" eaLnBrk="1" hangingPunct="1">
              <a:lnSpc>
                <a:spcPct val="80000"/>
              </a:lnSpc>
            </a:pPr>
            <a:r>
              <a:rPr lang="en-US" altLang="en-US" sz="2000"/>
              <a:t>	return 0;</a:t>
            </a:r>
          </a:p>
          <a:p>
            <a:pPr algn="l" eaLnBrk="1" hangingPunct="1">
              <a:lnSpc>
                <a:spcPct val="80000"/>
              </a:lnSpc>
            </a:pPr>
            <a:r>
              <a:rPr lang="en-US" altLang="en-US" sz="2000"/>
              <a:t>}</a:t>
            </a:r>
          </a:p>
          <a:p>
            <a:pPr algn="l" eaLnBrk="1" hangingPunct="1">
              <a:lnSpc>
                <a:spcPct val="80000"/>
              </a:lnSpc>
            </a:pPr>
            <a:r>
              <a:rPr lang="en-US" altLang="en-US" sz="2000"/>
              <a:t>Output :</a:t>
            </a:r>
          </a:p>
          <a:p>
            <a:pPr algn="l" eaLnBrk="1" hangingPunct="1">
              <a:lnSpc>
                <a:spcPct val="80000"/>
              </a:lnSpc>
            </a:pPr>
            <a:r>
              <a:rPr lang="en-US" altLang="en-US" sz="2000"/>
              <a:t>x = 10	y = 5</a:t>
            </a:r>
          </a:p>
          <a:p>
            <a:pPr algn="l" eaLnBrk="1" hangingPunct="1">
              <a:lnSpc>
                <a:spcPct val="80000"/>
              </a:lnSpc>
            </a:pPr>
            <a:r>
              <a:rPr lang="en-US" altLang="en-US" sz="2000"/>
              <a:t>x = 5	y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000252F-0B58-806C-EDD6-BAC3EE3203D7}"/>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Call by Reference contd…</a:t>
            </a:r>
          </a:p>
        </p:txBody>
      </p:sp>
      <p:sp>
        <p:nvSpPr>
          <p:cNvPr id="9219" name="Rectangle 3">
            <a:extLst>
              <a:ext uri="{FF2B5EF4-FFF2-40B4-BE49-F238E27FC236}">
                <a16:creationId xmlns:a16="http://schemas.microsoft.com/office/drawing/2014/main" id="{DD3A3C99-7461-C3EA-C600-C6804CC5BCF1}"/>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1800"/>
              <a:t>In traditional C we can accomplish using pointers. This is also valid in C++</a:t>
            </a:r>
          </a:p>
          <a:p>
            <a:pPr algn="just" eaLnBrk="1" hangingPunct="1">
              <a:lnSpc>
                <a:spcPct val="80000"/>
              </a:lnSpc>
            </a:pPr>
            <a:r>
              <a:rPr lang="en-US" altLang="en-US" sz="1800"/>
              <a:t>//with pointer variables</a:t>
            </a:r>
          </a:p>
          <a:p>
            <a:pPr algn="just" eaLnBrk="1" hangingPunct="1">
              <a:lnSpc>
                <a:spcPct val="80000"/>
              </a:lnSpc>
            </a:pPr>
            <a:r>
              <a:rPr lang="en-US" altLang="en-US" sz="1800"/>
              <a:t>#include &lt;iostream&gt;</a:t>
            </a:r>
          </a:p>
          <a:p>
            <a:pPr algn="just" eaLnBrk="1" hangingPunct="1">
              <a:lnSpc>
                <a:spcPct val="80000"/>
              </a:lnSpc>
            </a:pPr>
            <a:r>
              <a:rPr lang="en-US" altLang="en-US" sz="1800"/>
              <a:t>using namespace std;</a:t>
            </a:r>
          </a:p>
          <a:p>
            <a:pPr algn="just" eaLnBrk="1" hangingPunct="1">
              <a:lnSpc>
                <a:spcPct val="80000"/>
              </a:lnSpc>
            </a:pPr>
            <a:r>
              <a:rPr lang="en-US" altLang="en-US" sz="1800"/>
              <a:t>void swap(int *a,int *b)</a:t>
            </a:r>
          </a:p>
          <a:p>
            <a:pPr algn="just" eaLnBrk="1" hangingPunct="1">
              <a:lnSpc>
                <a:spcPct val="80000"/>
              </a:lnSpc>
            </a:pPr>
            <a:r>
              <a:rPr lang="en-US" altLang="en-US" sz="1800"/>
              <a:t>{</a:t>
            </a:r>
          </a:p>
          <a:p>
            <a:pPr algn="just" eaLnBrk="1" hangingPunct="1">
              <a:lnSpc>
                <a:spcPct val="80000"/>
              </a:lnSpc>
            </a:pPr>
            <a:r>
              <a:rPr lang="en-US" altLang="en-US" sz="1800"/>
              <a:t>	int t = *a;</a:t>
            </a:r>
          </a:p>
          <a:p>
            <a:pPr algn="just" eaLnBrk="1" hangingPunct="1">
              <a:lnSpc>
                <a:spcPct val="80000"/>
              </a:lnSpc>
            </a:pPr>
            <a:r>
              <a:rPr lang="en-US" altLang="en-US" sz="1800"/>
              <a:t>	*a = *b;</a:t>
            </a:r>
          </a:p>
          <a:p>
            <a:pPr algn="just" eaLnBrk="1" hangingPunct="1">
              <a:lnSpc>
                <a:spcPct val="80000"/>
              </a:lnSpc>
            </a:pPr>
            <a:r>
              <a:rPr lang="en-US" altLang="en-US" sz="1800"/>
              <a:t>	*b = t;</a:t>
            </a:r>
          </a:p>
          <a:p>
            <a:pPr algn="just" eaLnBrk="1" hangingPunct="1">
              <a:lnSpc>
                <a:spcPct val="80000"/>
              </a:lnSpc>
            </a:pPr>
            <a:r>
              <a:rPr lang="en-US" altLang="en-US" sz="1800"/>
              <a:t>}</a:t>
            </a:r>
          </a:p>
          <a:p>
            <a:pPr algn="just" eaLnBrk="1" hangingPunct="1">
              <a:lnSpc>
                <a:spcPct val="80000"/>
              </a:lnSpc>
            </a:pPr>
            <a:r>
              <a:rPr lang="en-US" altLang="en-US" sz="1800"/>
              <a:t>int main()</a:t>
            </a:r>
          </a:p>
          <a:p>
            <a:pPr algn="just" eaLnBrk="1" hangingPunct="1">
              <a:lnSpc>
                <a:spcPct val="80000"/>
              </a:lnSpc>
            </a:pPr>
            <a:r>
              <a:rPr lang="en-US" altLang="en-US" sz="1800"/>
              <a:t>{</a:t>
            </a:r>
          </a:p>
          <a:p>
            <a:pPr algn="just" eaLnBrk="1" hangingPunct="1">
              <a:lnSpc>
                <a:spcPct val="80000"/>
              </a:lnSpc>
            </a:pPr>
            <a:r>
              <a:rPr lang="en-US" altLang="en-US" sz="1800"/>
              <a:t>	int x=10,y=5;</a:t>
            </a:r>
          </a:p>
          <a:p>
            <a:pPr algn="just" eaLnBrk="1" hangingPunct="1">
              <a:lnSpc>
                <a:spcPct val="80000"/>
              </a:lnSpc>
            </a:pPr>
            <a:r>
              <a:rPr lang="en-US" altLang="en-US" sz="1800"/>
              <a:t>	cout &lt;&lt; "x = " &lt;&lt; x &lt;&lt; "y = " &lt;&lt; y&lt;&lt;endl;</a:t>
            </a:r>
          </a:p>
          <a:p>
            <a:pPr algn="just" eaLnBrk="1" hangingPunct="1">
              <a:lnSpc>
                <a:spcPct val="80000"/>
              </a:lnSpc>
            </a:pPr>
            <a:r>
              <a:rPr lang="en-US" altLang="en-US" sz="1800"/>
              <a:t>	swap(&amp;x,&amp;y);</a:t>
            </a:r>
          </a:p>
          <a:p>
            <a:pPr algn="just" eaLnBrk="1" hangingPunct="1">
              <a:lnSpc>
                <a:spcPct val="80000"/>
              </a:lnSpc>
            </a:pPr>
            <a:r>
              <a:rPr lang="en-US" altLang="en-US" sz="1800"/>
              <a:t>	cout &lt;&lt; "x = " &lt;&lt; x &lt;&lt;"y = " &lt;&lt; y;</a:t>
            </a:r>
          </a:p>
          <a:p>
            <a:pPr algn="just" eaLnBrk="1" hangingPunct="1">
              <a:lnSpc>
                <a:spcPct val="80000"/>
              </a:lnSpc>
            </a:pPr>
            <a:r>
              <a:rPr lang="en-US" altLang="en-US" sz="1800"/>
              <a:t>	return 0;</a:t>
            </a:r>
          </a:p>
          <a:p>
            <a:pPr algn="just" eaLnBrk="1" hangingPunct="1">
              <a:lnSpc>
                <a:spcPct val="80000"/>
              </a:lnSpc>
            </a:pPr>
            <a:r>
              <a:rPr lang="en-US" altLang="en-US" sz="1800"/>
              <a:t>}</a:t>
            </a:r>
          </a:p>
          <a:p>
            <a:pPr algn="l" eaLnBrk="1" hangingPunct="1">
              <a:lnSpc>
                <a:spcPct val="80000"/>
              </a:lnSpc>
            </a:pPr>
            <a:r>
              <a:rPr lang="en-US" altLang="en-US" sz="1800"/>
              <a:t>Output :</a:t>
            </a:r>
          </a:p>
          <a:p>
            <a:pPr algn="l" eaLnBrk="1" hangingPunct="1">
              <a:lnSpc>
                <a:spcPct val="80000"/>
              </a:lnSpc>
            </a:pPr>
            <a:r>
              <a:rPr lang="en-US" altLang="en-US" sz="1800"/>
              <a:t>x = 10	y = 5</a:t>
            </a:r>
          </a:p>
          <a:p>
            <a:pPr algn="l" eaLnBrk="1" hangingPunct="1">
              <a:lnSpc>
                <a:spcPct val="80000"/>
              </a:lnSpc>
            </a:pPr>
            <a:r>
              <a:rPr lang="en-US" altLang="en-US" sz="1800"/>
              <a:t>x = 5	y = 10</a:t>
            </a:r>
          </a:p>
          <a:p>
            <a:pPr algn="just" eaLnBrk="1" hangingPunct="1">
              <a:lnSpc>
                <a:spcPct val="80000"/>
              </a:lnSpc>
            </a:pPr>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999047A-F24D-8D75-E603-E2CDB3665978}"/>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Return by Reference</a:t>
            </a:r>
          </a:p>
        </p:txBody>
      </p:sp>
      <p:sp>
        <p:nvSpPr>
          <p:cNvPr id="10243" name="Rectangle 3">
            <a:extLst>
              <a:ext uri="{FF2B5EF4-FFF2-40B4-BE49-F238E27FC236}">
                <a16:creationId xmlns:a16="http://schemas.microsoft.com/office/drawing/2014/main" id="{FB893AE7-3053-9680-F3F2-AA3B3D1FEE72}"/>
              </a:ext>
            </a:extLst>
          </p:cNvPr>
          <p:cNvSpPr>
            <a:spLocks noGrp="1" noChangeArrowheads="1"/>
          </p:cNvSpPr>
          <p:nvPr>
            <p:ph type="subTitle" idx="1"/>
          </p:nvPr>
        </p:nvSpPr>
        <p:spPr>
          <a:xfrm>
            <a:off x="228600" y="457200"/>
            <a:ext cx="8686800" cy="6172200"/>
          </a:xfrm>
        </p:spPr>
        <p:txBody>
          <a:bodyPr/>
          <a:lstStyle/>
          <a:p>
            <a:pPr algn="just" eaLnBrk="1" hangingPunct="1">
              <a:lnSpc>
                <a:spcPct val="80000"/>
              </a:lnSpc>
              <a:buFontTx/>
              <a:buChar char="•"/>
            </a:pPr>
            <a:r>
              <a:rPr lang="en-US" altLang="en-US" sz="1600"/>
              <a:t>A function can also return a reference</a:t>
            </a:r>
          </a:p>
          <a:p>
            <a:pPr algn="just" eaLnBrk="1" hangingPunct="1">
              <a:lnSpc>
                <a:spcPct val="80000"/>
              </a:lnSpc>
              <a:buFontTx/>
              <a:buChar char="•"/>
            </a:pPr>
            <a:r>
              <a:rPr lang="en-US" altLang="en-US" sz="1600"/>
              <a:t>Below function returns reference of a or b (not values) and function call can appear on LHS of an assignment statement.</a:t>
            </a:r>
          </a:p>
          <a:p>
            <a:pPr algn="just" eaLnBrk="1" hangingPunct="1">
              <a:lnSpc>
                <a:spcPct val="80000"/>
              </a:lnSpc>
              <a:buFontTx/>
              <a:buChar char="•"/>
            </a:pPr>
            <a:endParaRPr lang="en-US" altLang="en-US" sz="1600"/>
          </a:p>
          <a:p>
            <a:pPr algn="l" eaLnBrk="1" hangingPunct="1">
              <a:lnSpc>
                <a:spcPct val="80000"/>
              </a:lnSpc>
            </a:pPr>
            <a:r>
              <a:rPr lang="en-US" altLang="en-US" sz="1600"/>
              <a:t>//function returning reference</a:t>
            </a:r>
          </a:p>
          <a:p>
            <a:pPr algn="l" eaLnBrk="1" hangingPunct="1">
              <a:lnSpc>
                <a:spcPct val="80000"/>
              </a:lnSpc>
            </a:pPr>
            <a:r>
              <a:rPr lang="en-US" altLang="en-US" sz="1600"/>
              <a:t>#include &lt;iostream&gt;</a:t>
            </a:r>
          </a:p>
          <a:p>
            <a:pPr algn="l" eaLnBrk="1" hangingPunct="1">
              <a:lnSpc>
                <a:spcPct val="80000"/>
              </a:lnSpc>
            </a:pPr>
            <a:r>
              <a:rPr lang="en-US" altLang="en-US" sz="1600"/>
              <a:t>using namespace std;</a:t>
            </a:r>
          </a:p>
          <a:p>
            <a:pPr algn="l" eaLnBrk="1" hangingPunct="1">
              <a:lnSpc>
                <a:spcPct val="80000"/>
              </a:lnSpc>
            </a:pPr>
            <a:r>
              <a:rPr lang="en-US" altLang="en-US" sz="1600"/>
              <a:t>int &amp;  max(int &amp;a,int &amp;b)</a:t>
            </a:r>
          </a:p>
          <a:p>
            <a:pPr algn="l" eaLnBrk="1" hangingPunct="1">
              <a:lnSpc>
                <a:spcPct val="80000"/>
              </a:lnSpc>
            </a:pPr>
            <a:r>
              <a:rPr lang="en-US" altLang="en-US" sz="1600"/>
              <a:t>{</a:t>
            </a:r>
          </a:p>
          <a:p>
            <a:pPr algn="l" eaLnBrk="1" hangingPunct="1">
              <a:lnSpc>
                <a:spcPct val="80000"/>
              </a:lnSpc>
            </a:pPr>
            <a:r>
              <a:rPr lang="en-US" altLang="en-US" sz="1600"/>
              <a:t>	if (a&gt;b)</a:t>
            </a:r>
          </a:p>
          <a:p>
            <a:pPr algn="l" eaLnBrk="1" hangingPunct="1">
              <a:lnSpc>
                <a:spcPct val="80000"/>
              </a:lnSpc>
            </a:pPr>
            <a:r>
              <a:rPr lang="en-US" altLang="en-US" sz="1600"/>
              <a:t>		return a;</a:t>
            </a:r>
          </a:p>
          <a:p>
            <a:pPr algn="l" eaLnBrk="1" hangingPunct="1">
              <a:lnSpc>
                <a:spcPct val="80000"/>
              </a:lnSpc>
            </a:pPr>
            <a:r>
              <a:rPr lang="en-US" altLang="en-US" sz="1600"/>
              <a:t>	else</a:t>
            </a:r>
          </a:p>
          <a:p>
            <a:pPr algn="l" eaLnBrk="1" hangingPunct="1">
              <a:lnSpc>
                <a:spcPct val="80000"/>
              </a:lnSpc>
            </a:pPr>
            <a:r>
              <a:rPr lang="en-US" altLang="en-US" sz="1600"/>
              <a:t>		return b;</a:t>
            </a:r>
          </a:p>
          <a:p>
            <a:pPr algn="l" eaLnBrk="1" hangingPunct="1">
              <a:lnSpc>
                <a:spcPct val="80000"/>
              </a:lnSpc>
            </a:pPr>
            <a:r>
              <a:rPr lang="en-US" altLang="en-US" sz="1600"/>
              <a:t>}</a:t>
            </a:r>
          </a:p>
          <a:p>
            <a:pPr algn="l" eaLnBrk="1" hangingPunct="1">
              <a:lnSpc>
                <a:spcPct val="80000"/>
              </a:lnSpc>
            </a:pPr>
            <a:r>
              <a:rPr lang="en-US" altLang="en-US" sz="1600"/>
              <a:t>int main()</a:t>
            </a:r>
          </a:p>
          <a:p>
            <a:pPr algn="l" eaLnBrk="1" hangingPunct="1">
              <a:lnSpc>
                <a:spcPct val="80000"/>
              </a:lnSpc>
            </a:pPr>
            <a:r>
              <a:rPr lang="en-US" altLang="en-US" sz="1600"/>
              <a:t>{</a:t>
            </a:r>
          </a:p>
          <a:p>
            <a:pPr algn="l" eaLnBrk="1" hangingPunct="1">
              <a:lnSpc>
                <a:spcPct val="80000"/>
              </a:lnSpc>
            </a:pPr>
            <a:r>
              <a:rPr lang="en-US" altLang="en-US" sz="1600"/>
              <a:t>	int x=10,y=5;</a:t>
            </a:r>
          </a:p>
          <a:p>
            <a:pPr algn="l" eaLnBrk="1" hangingPunct="1">
              <a:lnSpc>
                <a:spcPct val="80000"/>
              </a:lnSpc>
            </a:pPr>
            <a:r>
              <a:rPr lang="en-US" altLang="en-US" sz="1600"/>
              <a:t>	cout &lt;&lt; "calling function  " &lt;&lt; max(x,y)&lt;&lt;endl;</a:t>
            </a:r>
          </a:p>
          <a:p>
            <a:pPr algn="l" eaLnBrk="1" hangingPunct="1">
              <a:lnSpc>
                <a:spcPct val="80000"/>
              </a:lnSpc>
            </a:pPr>
            <a:r>
              <a:rPr lang="en-US" altLang="en-US" sz="1600"/>
              <a:t>	max(x,y)=-1;</a:t>
            </a:r>
          </a:p>
          <a:p>
            <a:pPr algn="l" eaLnBrk="1" hangingPunct="1">
              <a:lnSpc>
                <a:spcPct val="80000"/>
              </a:lnSpc>
            </a:pPr>
            <a:r>
              <a:rPr lang="en-US" altLang="en-US" sz="1600"/>
              <a:t>	cout &lt;&lt;"calling function left hand side" &lt;&lt; "x= " &lt;&lt;x&lt;&lt;"y = "&lt;&lt; y&lt;&lt;endl;</a:t>
            </a:r>
          </a:p>
          <a:p>
            <a:pPr algn="l" eaLnBrk="1" hangingPunct="1">
              <a:lnSpc>
                <a:spcPct val="80000"/>
              </a:lnSpc>
            </a:pPr>
            <a:r>
              <a:rPr lang="en-US" altLang="en-US" sz="1600"/>
              <a:t>}</a:t>
            </a:r>
          </a:p>
          <a:p>
            <a:pPr algn="l" eaLnBrk="1" hangingPunct="1">
              <a:lnSpc>
                <a:spcPct val="80000"/>
              </a:lnSpc>
            </a:pPr>
            <a:r>
              <a:rPr lang="en-US" altLang="en-US" sz="1600"/>
              <a:t>Output </a:t>
            </a:r>
          </a:p>
          <a:p>
            <a:pPr algn="l"/>
            <a:r>
              <a:rPr lang="en-US" altLang="en-US" sz="1600"/>
              <a:t>calling function  10                                                                                                                      calling function left hand side x= -1y =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C5ED6A4-5F27-FC36-6DB1-4C7E24C547A3}"/>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Inline functions</a:t>
            </a:r>
          </a:p>
        </p:txBody>
      </p:sp>
      <p:sp>
        <p:nvSpPr>
          <p:cNvPr id="11267" name="Rectangle 3">
            <a:extLst>
              <a:ext uri="{FF2B5EF4-FFF2-40B4-BE49-F238E27FC236}">
                <a16:creationId xmlns:a16="http://schemas.microsoft.com/office/drawing/2014/main" id="{C77D8275-E248-3532-3904-2E4B8C13B71A}"/>
              </a:ext>
            </a:extLst>
          </p:cNvPr>
          <p:cNvSpPr>
            <a:spLocks noGrp="1" noChangeArrowheads="1"/>
          </p:cNvSpPr>
          <p:nvPr>
            <p:ph type="subTitle" idx="1"/>
          </p:nvPr>
        </p:nvSpPr>
        <p:spPr>
          <a:xfrm>
            <a:off x="228600" y="457200"/>
            <a:ext cx="8686800" cy="6172200"/>
          </a:xfrm>
        </p:spPr>
        <p:txBody>
          <a:bodyPr/>
          <a:lstStyle/>
          <a:p>
            <a:pPr algn="just" eaLnBrk="1" hangingPunct="1">
              <a:buFontTx/>
              <a:buChar char="•"/>
            </a:pPr>
            <a:r>
              <a:rPr lang="en-US" altLang="en-US" sz="2800">
                <a:latin typeface="Times New Roman" panose="02020603050405020304" pitchFamily="18" charset="0"/>
              </a:rPr>
              <a:t>Main objective of using functions is to save some memory space, which becomes appreciable when function is called many times</a:t>
            </a:r>
          </a:p>
          <a:p>
            <a:pPr algn="just" eaLnBrk="1" hangingPunct="1">
              <a:buFontTx/>
              <a:buChar char="•"/>
            </a:pPr>
            <a:r>
              <a:rPr lang="en-US" altLang="en-US" sz="2800">
                <a:latin typeface="Times New Roman" panose="02020603050405020304" pitchFamily="18" charset="0"/>
              </a:rPr>
              <a:t>Each time a function is called, it takes lot of overhead in calling function, saving registers etc</a:t>
            </a:r>
          </a:p>
          <a:p>
            <a:pPr algn="just" eaLnBrk="1" hangingPunct="1">
              <a:buFontTx/>
              <a:buChar char="•"/>
            </a:pPr>
            <a:r>
              <a:rPr lang="en-US" altLang="en-US" sz="2800">
                <a:latin typeface="Times New Roman" panose="02020603050405020304" pitchFamily="18" charset="0"/>
              </a:rPr>
              <a:t>When a function is small, a substantial percentage of execution time may be spent in such overheads</a:t>
            </a:r>
          </a:p>
          <a:p>
            <a:pPr algn="just" eaLnBrk="1" hangingPunct="1">
              <a:buFontTx/>
              <a:buChar char="•"/>
            </a:pPr>
            <a:r>
              <a:rPr lang="en-US" altLang="en-US" sz="2800">
                <a:latin typeface="Times New Roman" panose="02020603050405020304" pitchFamily="18" charset="0"/>
              </a:rPr>
              <a:t>One solution to this problem is macro definitions known as macros. </a:t>
            </a:r>
          </a:p>
          <a:p>
            <a:pPr algn="just" eaLnBrk="1" hangingPunct="1">
              <a:buFontTx/>
              <a:buChar char="•"/>
            </a:pPr>
            <a:r>
              <a:rPr lang="en-US" altLang="en-US" sz="2800">
                <a:latin typeface="Times New Roman" panose="02020603050405020304" pitchFamily="18" charset="0"/>
              </a:rPr>
              <a:t>Preprocessor macros are very popular in C</a:t>
            </a:r>
          </a:p>
          <a:p>
            <a:pPr algn="just" eaLnBrk="1" hangingPunct="1">
              <a:buFontTx/>
              <a:buChar char="•"/>
            </a:pPr>
            <a:r>
              <a:rPr lang="en-US" altLang="en-US" sz="2800">
                <a:latin typeface="Times New Roman" panose="02020603050405020304" pitchFamily="18" charset="0"/>
              </a:rPr>
              <a:t>Major drawback is they are not really functions, so usual error checking does not occur during compilation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1103F4A-D5F6-8832-35A9-B9412DEC4856}"/>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Inline functions contd…</a:t>
            </a:r>
          </a:p>
        </p:txBody>
      </p:sp>
      <p:sp>
        <p:nvSpPr>
          <p:cNvPr id="12291" name="Rectangle 3">
            <a:extLst>
              <a:ext uri="{FF2B5EF4-FFF2-40B4-BE49-F238E27FC236}">
                <a16:creationId xmlns:a16="http://schemas.microsoft.com/office/drawing/2014/main" id="{1C556C74-A6B6-6F30-813B-8C5567778D72}"/>
              </a:ext>
            </a:extLst>
          </p:cNvPr>
          <p:cNvSpPr>
            <a:spLocks noGrp="1" noChangeArrowheads="1"/>
          </p:cNvSpPr>
          <p:nvPr>
            <p:ph type="subTitle" idx="1"/>
          </p:nvPr>
        </p:nvSpPr>
        <p:spPr>
          <a:xfrm>
            <a:off x="228600" y="457200"/>
            <a:ext cx="8686800" cy="6172200"/>
          </a:xfrm>
        </p:spPr>
        <p:txBody>
          <a:bodyPr/>
          <a:lstStyle/>
          <a:p>
            <a:pPr algn="just" eaLnBrk="1" hangingPunct="1">
              <a:lnSpc>
                <a:spcPct val="80000"/>
              </a:lnSpc>
              <a:buFontTx/>
              <a:buChar char="•"/>
            </a:pPr>
            <a:r>
              <a:rPr lang="en-US" altLang="en-US" sz="2800">
                <a:latin typeface="Times New Roman" panose="02020603050405020304" pitchFamily="18" charset="0"/>
              </a:rPr>
              <a:t>C++ provides different solution for this problem i.e. inline functions</a:t>
            </a:r>
          </a:p>
          <a:p>
            <a:pPr algn="just" eaLnBrk="1" hangingPunct="1">
              <a:lnSpc>
                <a:spcPct val="80000"/>
              </a:lnSpc>
              <a:buFontTx/>
              <a:buChar char="•"/>
            </a:pPr>
            <a:r>
              <a:rPr lang="en-US" altLang="en-US" sz="2800">
                <a:latin typeface="Times New Roman" panose="02020603050405020304" pitchFamily="18" charset="0"/>
              </a:rPr>
              <a:t>An inline function is a function that is expanded inline when it is invoked.</a:t>
            </a:r>
          </a:p>
          <a:p>
            <a:pPr algn="just" eaLnBrk="1" hangingPunct="1">
              <a:lnSpc>
                <a:spcPct val="80000"/>
              </a:lnSpc>
              <a:buFontTx/>
              <a:buChar char="•"/>
            </a:pPr>
            <a:r>
              <a:rPr lang="en-US" altLang="en-US" sz="2800">
                <a:latin typeface="Times New Roman" panose="02020603050405020304" pitchFamily="18" charset="0"/>
              </a:rPr>
              <a:t>Compiler replaces the function call with the corresponding function code</a:t>
            </a:r>
          </a:p>
          <a:p>
            <a:pPr algn="just" eaLnBrk="1" hangingPunct="1">
              <a:lnSpc>
                <a:spcPct val="80000"/>
              </a:lnSpc>
            </a:pPr>
            <a:r>
              <a:rPr lang="en-US" altLang="en-US" sz="2800">
                <a:latin typeface="Times New Roman" panose="02020603050405020304" pitchFamily="18" charset="0"/>
              </a:rPr>
              <a:t>	inline function-header</a:t>
            </a:r>
          </a:p>
          <a:p>
            <a:pPr algn="just" eaLnBrk="1" hangingPunct="1">
              <a:lnSpc>
                <a:spcPct val="80000"/>
              </a:lnSpc>
            </a:pPr>
            <a:r>
              <a:rPr lang="en-US" altLang="en-US" sz="2800">
                <a:latin typeface="Times New Roman" panose="02020603050405020304" pitchFamily="18" charset="0"/>
              </a:rPr>
              <a:t>	{</a:t>
            </a:r>
          </a:p>
          <a:p>
            <a:pPr algn="just" eaLnBrk="1" hangingPunct="1">
              <a:lnSpc>
                <a:spcPct val="80000"/>
              </a:lnSpc>
            </a:pPr>
            <a:r>
              <a:rPr lang="en-US" altLang="en-US" sz="2800">
                <a:latin typeface="Times New Roman" panose="02020603050405020304" pitchFamily="18" charset="0"/>
              </a:rPr>
              <a:t>		// function body</a:t>
            </a:r>
          </a:p>
          <a:p>
            <a:pPr algn="just" eaLnBrk="1" hangingPunct="1">
              <a:lnSpc>
                <a:spcPct val="80000"/>
              </a:lnSpc>
            </a:pPr>
            <a:r>
              <a:rPr lang="en-US" altLang="en-US" sz="2800">
                <a:latin typeface="Times New Roman" panose="02020603050405020304" pitchFamily="18" charset="0"/>
              </a:rPr>
              <a:t>	}</a:t>
            </a:r>
          </a:p>
          <a:p>
            <a:pPr algn="just" eaLnBrk="1" hangingPunct="1">
              <a:lnSpc>
                <a:spcPct val="80000"/>
              </a:lnSpc>
            </a:pPr>
            <a:r>
              <a:rPr lang="en-US" altLang="en-US" sz="2800">
                <a:latin typeface="Times New Roman" panose="02020603050405020304" pitchFamily="18" charset="0"/>
              </a:rPr>
              <a:t>Eg:	inline float vol(float a)</a:t>
            </a:r>
          </a:p>
          <a:p>
            <a:pPr algn="just" eaLnBrk="1" hangingPunct="1">
              <a:lnSpc>
                <a:spcPct val="80000"/>
              </a:lnSpc>
            </a:pPr>
            <a:r>
              <a:rPr lang="en-US" altLang="en-US" sz="2800">
                <a:latin typeface="Times New Roman" panose="02020603050405020304" pitchFamily="18" charset="0"/>
              </a:rPr>
              <a:t>	{</a:t>
            </a:r>
          </a:p>
          <a:p>
            <a:pPr algn="just" eaLnBrk="1" hangingPunct="1">
              <a:lnSpc>
                <a:spcPct val="80000"/>
              </a:lnSpc>
            </a:pPr>
            <a:r>
              <a:rPr lang="en-US" altLang="en-US" sz="2800">
                <a:latin typeface="Times New Roman" panose="02020603050405020304" pitchFamily="18" charset="0"/>
              </a:rPr>
              <a:t>		return(a*a*a);</a:t>
            </a:r>
          </a:p>
          <a:p>
            <a:pPr algn="just" eaLnBrk="1" hangingPunct="1">
              <a:lnSpc>
                <a:spcPct val="80000"/>
              </a:lnSpc>
            </a:pPr>
            <a:r>
              <a:rPr lang="en-US" altLang="en-US" sz="2800">
                <a:latin typeface="Times New Roman" panose="02020603050405020304" pitchFamily="18" charset="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66F8FB5-B1C3-3AD2-5103-254E417464E7}"/>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Inline functions contd…</a:t>
            </a:r>
          </a:p>
        </p:txBody>
      </p:sp>
      <p:sp>
        <p:nvSpPr>
          <p:cNvPr id="13315" name="Rectangle 3">
            <a:extLst>
              <a:ext uri="{FF2B5EF4-FFF2-40B4-BE49-F238E27FC236}">
                <a16:creationId xmlns:a16="http://schemas.microsoft.com/office/drawing/2014/main" id="{BC4B8A86-2B77-13C7-DA01-78F283D6D352}"/>
              </a:ext>
            </a:extLst>
          </p:cNvPr>
          <p:cNvSpPr>
            <a:spLocks noGrp="1" noChangeArrowheads="1"/>
          </p:cNvSpPr>
          <p:nvPr>
            <p:ph type="subTitle" idx="1"/>
          </p:nvPr>
        </p:nvSpPr>
        <p:spPr>
          <a:xfrm>
            <a:off x="228600" y="457200"/>
            <a:ext cx="8686800" cy="6172200"/>
          </a:xfrm>
        </p:spPr>
        <p:txBody>
          <a:bodyPr/>
          <a:lstStyle/>
          <a:p>
            <a:pPr algn="just" eaLnBrk="1" hangingPunct="1">
              <a:lnSpc>
                <a:spcPct val="90000"/>
              </a:lnSpc>
              <a:buFontTx/>
              <a:buChar char="•"/>
            </a:pPr>
            <a:r>
              <a:rPr lang="en-US" altLang="en-US">
                <a:latin typeface="Times New Roman" panose="02020603050405020304" pitchFamily="18" charset="0"/>
              </a:rPr>
              <a:t>We should exercise care before making a function inline</a:t>
            </a:r>
          </a:p>
          <a:p>
            <a:pPr algn="just" eaLnBrk="1" hangingPunct="1">
              <a:lnSpc>
                <a:spcPct val="90000"/>
              </a:lnSpc>
              <a:buFontTx/>
              <a:buChar char="•"/>
            </a:pPr>
            <a:r>
              <a:rPr lang="en-US" altLang="en-US">
                <a:latin typeface="Times New Roman" panose="02020603050405020304" pitchFamily="18" charset="0"/>
              </a:rPr>
              <a:t>The speed benefits of inline functions diminish as the function grows in size. At some point the overhead of the function call becomes small compared to the execution of the function.</a:t>
            </a:r>
          </a:p>
          <a:p>
            <a:pPr algn="just" eaLnBrk="1" hangingPunct="1">
              <a:lnSpc>
                <a:spcPct val="90000"/>
              </a:lnSpc>
              <a:buFontTx/>
              <a:buChar char="•"/>
            </a:pPr>
            <a:r>
              <a:rPr lang="en-US" altLang="en-US">
                <a:latin typeface="Times New Roman" panose="02020603050405020304" pitchFamily="18" charset="0"/>
              </a:rPr>
              <a:t>Usually we made function inline if we can define function in 1 or 2 lines</a:t>
            </a:r>
          </a:p>
          <a:p>
            <a:pPr algn="just" eaLnBrk="1" hangingPunct="1">
              <a:lnSpc>
                <a:spcPct val="90000"/>
              </a:lnSpc>
              <a:buFontTx/>
              <a:buChar char="•"/>
            </a:pPr>
            <a:r>
              <a:rPr lang="en-US" altLang="en-US">
                <a:latin typeface="Times New Roman" panose="02020603050405020304" pitchFamily="18" charset="0"/>
              </a:rPr>
              <a:t>inline keyword merely sends a request, not a command, to the compiler</a:t>
            </a:r>
          </a:p>
          <a:p>
            <a:pPr algn="just" eaLnBrk="1" hangingPunct="1">
              <a:lnSpc>
                <a:spcPct val="90000"/>
              </a:lnSpc>
              <a:buFontTx/>
              <a:buChar char="•"/>
            </a:pPr>
            <a:r>
              <a:rPr lang="en-US" altLang="en-US">
                <a:latin typeface="Times New Roman" panose="02020603050405020304" pitchFamily="18" charset="0"/>
              </a:rPr>
              <a:t>The compiler may ignore this request if function definition is too longer or too complicated</a:t>
            </a:r>
          </a:p>
          <a:p>
            <a:pPr algn="just" eaLnBrk="1" hangingPunct="1">
              <a:lnSpc>
                <a:spcPct val="90000"/>
              </a:lnSpc>
            </a:pPr>
            <a:endParaRPr lang="en-US" altLang="en-US">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69D958A8-FBBA-4079-8C36-342796123F6D}"/>
              </a:ext>
            </a:extLst>
          </p:cNvPr>
          <p:cNvSpPr>
            <a:spLocks noGrp="1" noChangeArrowheads="1"/>
          </p:cNvSpPr>
          <p:nvPr>
            <p:ph type="subTitle" idx="1"/>
          </p:nvPr>
        </p:nvSpPr>
        <p:spPr>
          <a:xfrm>
            <a:off x="228600" y="228600"/>
            <a:ext cx="8686800" cy="6172200"/>
          </a:xfrm>
        </p:spPr>
        <p:txBody>
          <a:bodyPr/>
          <a:lstStyle/>
          <a:p>
            <a:pPr marL="609600" indent="-609600" algn="just" eaLnBrk="1" hangingPunct="1">
              <a:lnSpc>
                <a:spcPct val="80000"/>
              </a:lnSpc>
            </a:pPr>
            <a:r>
              <a:rPr lang="en-US" altLang="en-US" sz="2600">
                <a:latin typeface="Times New Roman" panose="02020603050405020304" pitchFamily="18" charset="0"/>
              </a:rPr>
              <a:t>//inline function</a:t>
            </a:r>
          </a:p>
          <a:p>
            <a:pPr marL="609600" indent="-609600" algn="just" eaLnBrk="1" hangingPunct="1">
              <a:spcBef>
                <a:spcPct val="0"/>
              </a:spcBef>
            </a:pPr>
            <a:r>
              <a:rPr lang="en-US" altLang="en-US" sz="2000">
                <a:latin typeface="Times New Roman" panose="02020603050405020304" pitchFamily="18" charset="0"/>
              </a:rPr>
              <a:t>#include &lt;iostream&gt;</a:t>
            </a:r>
          </a:p>
          <a:p>
            <a:pPr marL="609600" indent="-609600" algn="just" eaLnBrk="1" hangingPunct="1">
              <a:spcBef>
                <a:spcPct val="0"/>
              </a:spcBef>
            </a:pPr>
            <a:r>
              <a:rPr lang="en-US" altLang="en-US" sz="2000">
                <a:latin typeface="Times New Roman" panose="02020603050405020304" pitchFamily="18" charset="0"/>
              </a:rPr>
              <a:t>using namespace std;</a:t>
            </a:r>
          </a:p>
          <a:p>
            <a:pPr marL="609600" indent="-609600" algn="just" eaLnBrk="1" hangingPunct="1">
              <a:spcBef>
                <a:spcPct val="0"/>
              </a:spcBef>
            </a:pPr>
            <a:r>
              <a:rPr lang="en-US" altLang="en-US" sz="2000">
                <a:latin typeface="Times New Roman" panose="02020603050405020304" pitchFamily="18" charset="0"/>
              </a:rPr>
              <a:t>inline void printline();   //prototype of printline function</a:t>
            </a:r>
          </a:p>
          <a:p>
            <a:pPr marL="609600" indent="-609600" algn="just" eaLnBrk="1" hangingPunct="1">
              <a:spcBef>
                <a:spcPct val="0"/>
              </a:spcBef>
            </a:pPr>
            <a:endParaRPr lang="en-US" altLang="en-US" sz="2000">
              <a:latin typeface="Times New Roman" panose="02020603050405020304" pitchFamily="18" charset="0"/>
            </a:endParaRPr>
          </a:p>
          <a:p>
            <a:pPr marL="609600" indent="-609600" algn="just" eaLnBrk="1" hangingPunct="1">
              <a:spcBef>
                <a:spcPct val="0"/>
              </a:spcBef>
            </a:pPr>
            <a:r>
              <a:rPr lang="en-US" altLang="en-US" sz="2000">
                <a:latin typeface="Times New Roman" panose="02020603050405020304" pitchFamily="18" charset="0"/>
              </a:rPr>
              <a:t>int main()</a:t>
            </a:r>
          </a:p>
          <a:p>
            <a:pPr marL="609600" indent="-609600" algn="just" eaLnBrk="1" hangingPunct="1">
              <a:spcBef>
                <a:spcPct val="0"/>
              </a:spcBef>
            </a:pPr>
            <a:r>
              <a:rPr lang="en-US" altLang="en-US" sz="2000">
                <a:latin typeface="Times New Roman" panose="02020603050405020304" pitchFamily="18" charset="0"/>
              </a:rPr>
              <a:t>{</a:t>
            </a:r>
          </a:p>
          <a:p>
            <a:pPr marL="609600" indent="-609600" algn="just" eaLnBrk="1" hangingPunct="1">
              <a:spcBef>
                <a:spcPct val="0"/>
              </a:spcBef>
            </a:pPr>
            <a:r>
              <a:rPr lang="en-US" altLang="en-US" sz="2000">
                <a:latin typeface="Times New Roman" panose="02020603050405020304" pitchFamily="18" charset="0"/>
              </a:rPr>
              <a:t>	printline();</a:t>
            </a:r>
          </a:p>
          <a:p>
            <a:pPr marL="609600" indent="-609600" algn="just" eaLnBrk="1" hangingPunct="1">
              <a:spcBef>
                <a:spcPct val="0"/>
              </a:spcBef>
            </a:pPr>
            <a:r>
              <a:rPr lang="en-US" altLang="en-US" sz="2000">
                <a:latin typeface="Times New Roman" panose="02020603050405020304" pitchFamily="18" charset="0"/>
              </a:rPr>
              <a:t>	cout&lt;&lt;"This is the header"&lt;&lt;endl;</a:t>
            </a:r>
          </a:p>
          <a:p>
            <a:pPr marL="609600" indent="-609600" algn="just" eaLnBrk="1" hangingPunct="1">
              <a:spcBef>
                <a:spcPct val="0"/>
              </a:spcBef>
            </a:pPr>
            <a:r>
              <a:rPr lang="en-US" altLang="en-US" sz="2000">
                <a:latin typeface="Times New Roman" panose="02020603050405020304" pitchFamily="18" charset="0"/>
              </a:rPr>
              <a:t>	printline();</a:t>
            </a:r>
          </a:p>
          <a:p>
            <a:pPr marL="609600" indent="-609600" algn="just" eaLnBrk="1" hangingPunct="1">
              <a:spcBef>
                <a:spcPct val="0"/>
              </a:spcBef>
            </a:pPr>
            <a:r>
              <a:rPr lang="en-US" altLang="en-US" sz="2000">
                <a:latin typeface="Times New Roman" panose="02020603050405020304" pitchFamily="18" charset="0"/>
              </a:rPr>
              <a:t>	return 0;</a:t>
            </a:r>
          </a:p>
          <a:p>
            <a:pPr marL="609600" indent="-609600" algn="just" eaLnBrk="1" hangingPunct="1">
              <a:spcBef>
                <a:spcPct val="0"/>
              </a:spcBef>
            </a:pPr>
            <a:r>
              <a:rPr lang="en-US" altLang="en-US" sz="2000">
                <a:latin typeface="Times New Roman" panose="02020603050405020304" pitchFamily="18" charset="0"/>
              </a:rPr>
              <a:t>}</a:t>
            </a:r>
          </a:p>
          <a:p>
            <a:pPr marL="609600" indent="-609600" algn="just" eaLnBrk="1" hangingPunct="1">
              <a:spcBef>
                <a:spcPct val="0"/>
              </a:spcBef>
            </a:pPr>
            <a:r>
              <a:rPr lang="en-US" altLang="en-US" sz="2000">
                <a:latin typeface="Times New Roman" panose="02020603050405020304" pitchFamily="18" charset="0"/>
              </a:rPr>
              <a:t>inline void printline()</a:t>
            </a:r>
          </a:p>
          <a:p>
            <a:pPr marL="609600" indent="-609600" algn="just" eaLnBrk="1" hangingPunct="1">
              <a:spcBef>
                <a:spcPct val="0"/>
              </a:spcBef>
            </a:pPr>
            <a:r>
              <a:rPr lang="en-US" altLang="en-US" sz="2000">
                <a:latin typeface="Times New Roman" panose="02020603050405020304" pitchFamily="18" charset="0"/>
              </a:rPr>
              <a:t>{</a:t>
            </a:r>
          </a:p>
          <a:p>
            <a:pPr marL="609600" indent="-609600" algn="just" eaLnBrk="1" hangingPunct="1">
              <a:spcBef>
                <a:spcPct val="0"/>
              </a:spcBef>
            </a:pPr>
            <a:r>
              <a:rPr lang="en-US" altLang="en-US" sz="2000">
                <a:latin typeface="Times New Roman" panose="02020603050405020304" pitchFamily="18" charset="0"/>
              </a:rPr>
              <a:t>	cout &lt;&lt; "---------------------------------"&lt;&lt;endl;</a:t>
            </a:r>
          </a:p>
          <a:p>
            <a:pPr marL="609600" indent="-609600" algn="just" eaLnBrk="1" hangingPunct="1">
              <a:spcBef>
                <a:spcPct val="0"/>
              </a:spcBef>
            </a:pPr>
            <a:r>
              <a:rPr lang="en-US" altLang="en-US" sz="2000">
                <a:latin typeface="Times New Roman" panose="02020603050405020304" pitchFamily="18" charset="0"/>
              </a:rPr>
              <a:t>}</a:t>
            </a:r>
          </a:p>
          <a:p>
            <a:pPr marL="609600" indent="-609600" algn="just" eaLnBrk="1" hangingPunct="1">
              <a:spcBef>
                <a:spcPct val="0"/>
              </a:spcBef>
            </a:pPr>
            <a:r>
              <a:rPr lang="en-US" altLang="en-US" sz="2000">
                <a:latin typeface="Times New Roman" panose="02020603050405020304" pitchFamily="18" charset="0"/>
              </a:rPr>
              <a:t>Output</a:t>
            </a:r>
          </a:p>
          <a:p>
            <a:pPr marL="609600" indent="-609600" algn="l" eaLnBrk="1" hangingPunct="1">
              <a:spcBef>
                <a:spcPct val="0"/>
              </a:spcBef>
            </a:pPr>
            <a:r>
              <a:rPr lang="en-US" altLang="en-US" sz="2000">
                <a:latin typeface="Times New Roman" panose="02020603050405020304" pitchFamily="18" charset="0"/>
              </a:rPr>
              <a:t>---------------------------------</a:t>
            </a:r>
          </a:p>
          <a:p>
            <a:pPr marL="609600" indent="-609600" algn="l" eaLnBrk="1" hangingPunct="1">
              <a:spcBef>
                <a:spcPct val="0"/>
              </a:spcBef>
            </a:pPr>
            <a:r>
              <a:rPr lang="en-US" altLang="en-US" sz="2000">
                <a:latin typeface="Times New Roman" panose="02020603050405020304" pitchFamily="18" charset="0"/>
              </a:rPr>
              <a:t>This is the header</a:t>
            </a:r>
          </a:p>
          <a:p>
            <a:pPr marL="609600" indent="-609600" algn="l" eaLnBrk="1" hangingPunct="1">
              <a:spcBef>
                <a:spcPct val="0"/>
              </a:spcBef>
            </a:pPr>
            <a:r>
              <a:rPr lang="en-US" altLang="en-US" sz="2000">
                <a:latin typeface="Times New Roman" panose="02020603050405020304" pitchFamily="18" charset="0"/>
              </a:rPr>
              <a:t>---------------------------------</a:t>
            </a:r>
            <a:r>
              <a:rPr lang="en-US" altLang="en-US" sz="2000"/>
              <a:t>                                                                                                                                                                                                                                                                                                                                                                                                                                                                                                                                       </a:t>
            </a:r>
          </a:p>
          <a:p>
            <a:pPr marL="609600" indent="-609600" algn="just" eaLnBrk="1" hangingPunct="1">
              <a:spcBef>
                <a:spcPct val="0"/>
              </a:spcBef>
            </a:pPr>
            <a:endParaRPr lang="en-US" altLang="en-US" sz="20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8417D2F-6A9D-75E8-AF5B-2BE63D48A8D8}"/>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Inline functions contd…</a:t>
            </a:r>
          </a:p>
        </p:txBody>
      </p:sp>
      <p:sp>
        <p:nvSpPr>
          <p:cNvPr id="15363" name="Rectangle 3">
            <a:extLst>
              <a:ext uri="{FF2B5EF4-FFF2-40B4-BE49-F238E27FC236}">
                <a16:creationId xmlns:a16="http://schemas.microsoft.com/office/drawing/2014/main" id="{808A817B-9606-DA32-D23E-55603C207E7C}"/>
              </a:ext>
            </a:extLst>
          </p:cNvPr>
          <p:cNvSpPr>
            <a:spLocks noGrp="1" noChangeArrowheads="1"/>
          </p:cNvSpPr>
          <p:nvPr>
            <p:ph type="subTitle" idx="1"/>
          </p:nvPr>
        </p:nvSpPr>
        <p:spPr>
          <a:xfrm>
            <a:off x="228600" y="457200"/>
            <a:ext cx="8686800" cy="6172200"/>
          </a:xfrm>
        </p:spPr>
        <p:txBody>
          <a:bodyPr/>
          <a:lstStyle/>
          <a:p>
            <a:pPr marL="609600" indent="-609600" algn="just" eaLnBrk="1" hangingPunct="1">
              <a:buFontTx/>
              <a:buChar char="•"/>
            </a:pPr>
            <a:r>
              <a:rPr lang="en-US" altLang="en-US">
                <a:latin typeface="Times New Roman" panose="02020603050405020304" pitchFamily="18" charset="0"/>
              </a:rPr>
              <a:t>Some of the situations where inline expansion may not work</a:t>
            </a:r>
          </a:p>
          <a:p>
            <a:pPr marL="990600" lvl="1" indent="-533400" algn="just" eaLnBrk="1" hangingPunct="1">
              <a:buFontTx/>
              <a:buAutoNum type="arabicPeriod"/>
            </a:pPr>
            <a:r>
              <a:rPr lang="en-US" altLang="en-US">
                <a:latin typeface="Times New Roman" panose="02020603050405020304" pitchFamily="18" charset="0"/>
              </a:rPr>
              <a:t>For functions if a loop, a switch or a goto exists</a:t>
            </a:r>
          </a:p>
          <a:p>
            <a:pPr marL="990600" lvl="1" indent="-533400" algn="just" eaLnBrk="1" hangingPunct="1">
              <a:buFontTx/>
              <a:buAutoNum type="arabicPeriod"/>
            </a:pPr>
            <a:r>
              <a:rPr lang="en-US" altLang="en-US">
                <a:latin typeface="Times New Roman" panose="02020603050405020304" pitchFamily="18" charset="0"/>
              </a:rPr>
              <a:t>For functions returning values, if a return statement exists</a:t>
            </a:r>
          </a:p>
          <a:p>
            <a:pPr marL="990600" lvl="1" indent="-533400" algn="just" eaLnBrk="1" hangingPunct="1">
              <a:buFontTx/>
              <a:buAutoNum type="arabicPeriod"/>
            </a:pPr>
            <a:r>
              <a:rPr lang="en-US" altLang="en-US">
                <a:latin typeface="Times New Roman" panose="02020603050405020304" pitchFamily="18" charset="0"/>
              </a:rPr>
              <a:t>If function contain static variables</a:t>
            </a:r>
          </a:p>
          <a:p>
            <a:pPr marL="990600" lvl="1" indent="-533400" algn="just" eaLnBrk="1" hangingPunct="1">
              <a:buFontTx/>
              <a:buAutoNum type="arabicPeriod"/>
            </a:pPr>
            <a:r>
              <a:rPr lang="en-US" altLang="en-US">
                <a:latin typeface="Times New Roman" panose="02020603050405020304" pitchFamily="18" charset="0"/>
              </a:rPr>
              <a:t>If inline functions are recursive</a:t>
            </a:r>
          </a:p>
          <a:p>
            <a:pPr marL="609600" indent="-609600" algn="just" eaLnBrk="1" hangingPunct="1"/>
            <a:endParaRPr lang="en-US" altLang="en-US">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7468210-CE5A-A0EA-6DBE-AE799FBB8A32}"/>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Default arguments</a:t>
            </a:r>
          </a:p>
        </p:txBody>
      </p:sp>
      <p:sp>
        <p:nvSpPr>
          <p:cNvPr id="16387" name="Rectangle 3">
            <a:extLst>
              <a:ext uri="{FF2B5EF4-FFF2-40B4-BE49-F238E27FC236}">
                <a16:creationId xmlns:a16="http://schemas.microsoft.com/office/drawing/2014/main" id="{89ECDDF3-BE54-84DB-2454-B6C115B4EB6D}"/>
              </a:ext>
            </a:extLst>
          </p:cNvPr>
          <p:cNvSpPr>
            <a:spLocks noGrp="1" noChangeArrowheads="1"/>
          </p:cNvSpPr>
          <p:nvPr>
            <p:ph type="subTitle" idx="1"/>
          </p:nvPr>
        </p:nvSpPr>
        <p:spPr>
          <a:xfrm>
            <a:off x="228600" y="457200"/>
            <a:ext cx="8686800" cy="6172200"/>
          </a:xfrm>
        </p:spPr>
        <p:txBody>
          <a:bodyPr/>
          <a:lstStyle/>
          <a:p>
            <a:pPr marL="609600" indent="-609600" algn="just" eaLnBrk="1" hangingPunct="1">
              <a:lnSpc>
                <a:spcPct val="80000"/>
              </a:lnSpc>
              <a:buFontTx/>
              <a:buChar char="•"/>
            </a:pPr>
            <a:r>
              <a:rPr lang="en-US" altLang="en-US" sz="2800">
                <a:latin typeface="Times New Roman" panose="02020603050405020304" pitchFamily="18" charset="0"/>
              </a:rPr>
              <a:t>C++ allows us to call a function without specifying all its arguments</a:t>
            </a:r>
          </a:p>
          <a:p>
            <a:pPr marL="609600" indent="-609600" algn="just" eaLnBrk="1" hangingPunct="1">
              <a:lnSpc>
                <a:spcPct val="80000"/>
              </a:lnSpc>
              <a:buFontTx/>
              <a:buChar char="•"/>
            </a:pPr>
            <a:r>
              <a:rPr lang="en-US" altLang="en-US" sz="2800">
                <a:latin typeface="Times New Roman" panose="02020603050405020304" pitchFamily="18" charset="0"/>
              </a:rPr>
              <a:t>In such cases the function assigns a default value to the parameter which does not have a matching argument in the function call</a:t>
            </a:r>
          </a:p>
          <a:p>
            <a:pPr marL="609600" indent="-609600" algn="just" eaLnBrk="1" hangingPunct="1">
              <a:lnSpc>
                <a:spcPct val="80000"/>
              </a:lnSpc>
              <a:buFontTx/>
              <a:buChar char="•"/>
            </a:pPr>
            <a:r>
              <a:rPr lang="en-US" altLang="en-US" sz="2800">
                <a:latin typeface="Times New Roman" panose="02020603050405020304" pitchFamily="18" charset="0"/>
              </a:rPr>
              <a:t>Default values are specified when the function is declared</a:t>
            </a:r>
          </a:p>
          <a:p>
            <a:pPr marL="609600" indent="-609600" algn="just" eaLnBrk="1" hangingPunct="1">
              <a:lnSpc>
                <a:spcPct val="80000"/>
              </a:lnSpc>
            </a:pPr>
            <a:r>
              <a:rPr lang="en-US" altLang="en-US" sz="2800">
                <a:latin typeface="Times New Roman" panose="02020603050405020304" pitchFamily="18" charset="0"/>
              </a:rPr>
              <a:t>	eg :  float amount(float pri, int period, int rate=0.1);</a:t>
            </a:r>
          </a:p>
          <a:p>
            <a:pPr marL="609600" indent="-609600" algn="just" eaLnBrk="1" hangingPunct="1">
              <a:lnSpc>
                <a:spcPct val="80000"/>
              </a:lnSpc>
            </a:pPr>
            <a:r>
              <a:rPr lang="en-US" altLang="en-US" sz="2800">
                <a:latin typeface="Times New Roman" panose="02020603050405020304" pitchFamily="18" charset="0"/>
              </a:rPr>
              <a:t>	amout (10000,5); // assigns 0.1 to rate</a:t>
            </a:r>
          </a:p>
          <a:p>
            <a:pPr marL="609600" indent="-609600" algn="just" eaLnBrk="1" hangingPunct="1">
              <a:lnSpc>
                <a:spcPct val="80000"/>
              </a:lnSpc>
            </a:pPr>
            <a:r>
              <a:rPr lang="en-US" altLang="en-US" sz="2800">
                <a:latin typeface="Times New Roman" panose="02020603050405020304" pitchFamily="18" charset="0"/>
              </a:rPr>
              <a:t>	amout (10000,5,0.25); // assigns 0.25 to rate</a:t>
            </a:r>
          </a:p>
          <a:p>
            <a:pPr marL="609600" indent="-609600" algn="just" eaLnBrk="1" hangingPunct="1">
              <a:lnSpc>
                <a:spcPct val="80000"/>
              </a:lnSpc>
            </a:pPr>
            <a:r>
              <a:rPr lang="en-US" altLang="en-US" sz="2800">
                <a:latin typeface="Times New Roman" panose="02020603050405020304" pitchFamily="18" charset="0"/>
              </a:rPr>
              <a:t>**only trailing arguments can have default values</a:t>
            </a:r>
          </a:p>
          <a:p>
            <a:pPr marL="609600" indent="-609600" algn="just" eaLnBrk="1" hangingPunct="1">
              <a:lnSpc>
                <a:spcPct val="80000"/>
              </a:lnSpc>
            </a:pPr>
            <a:r>
              <a:rPr lang="en-US" altLang="en-US" sz="2800">
                <a:latin typeface="Times New Roman" panose="02020603050405020304" pitchFamily="18" charset="0"/>
              </a:rPr>
              <a:t>** we must add default from right to left</a:t>
            </a:r>
          </a:p>
          <a:p>
            <a:pPr marL="609600" indent="-609600" algn="just" eaLnBrk="1" hangingPunct="1">
              <a:lnSpc>
                <a:spcPct val="80000"/>
              </a:lnSpc>
            </a:pPr>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int add(int a, int b, int c=10);		//legal</a:t>
            </a:r>
          </a:p>
          <a:p>
            <a:pPr marL="609600" indent="-609600" algn="just" eaLnBrk="1" hangingPunct="1">
              <a:lnSpc>
                <a:spcPct val="80000"/>
              </a:lnSpc>
            </a:pPr>
            <a:r>
              <a:rPr lang="en-US" altLang="en-US" sz="2800">
                <a:latin typeface="Times New Roman" panose="02020603050405020304" pitchFamily="18" charset="0"/>
              </a:rPr>
              <a:t>	</a:t>
            </a:r>
            <a:r>
              <a:rPr lang="en-US" altLang="en-US" sz="2800">
                <a:solidFill>
                  <a:srgbClr val="CC3300"/>
                </a:solidFill>
                <a:latin typeface="Times New Roman" panose="02020603050405020304" pitchFamily="18" charset="0"/>
              </a:rPr>
              <a:t>int add(int a=5, int b, int c=10);		//illegal</a:t>
            </a:r>
          </a:p>
          <a:p>
            <a:pPr marL="609600" indent="-609600" algn="just" eaLnBrk="1" hangingPunct="1">
              <a:lnSpc>
                <a:spcPct val="80000"/>
              </a:lnSpc>
            </a:pPr>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int add(int a=10, int b=40, int c=10);	//legal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4700D14-3915-8098-81BE-3A2389ECFEA0}"/>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Default arguments</a:t>
            </a:r>
          </a:p>
        </p:txBody>
      </p:sp>
      <p:sp>
        <p:nvSpPr>
          <p:cNvPr id="17411" name="Rectangle 3">
            <a:extLst>
              <a:ext uri="{FF2B5EF4-FFF2-40B4-BE49-F238E27FC236}">
                <a16:creationId xmlns:a16="http://schemas.microsoft.com/office/drawing/2014/main" id="{AA0FFDAA-07C3-CE80-F145-353116B59AF1}"/>
              </a:ext>
            </a:extLst>
          </p:cNvPr>
          <p:cNvSpPr>
            <a:spLocks noGrp="1" noChangeArrowheads="1"/>
          </p:cNvSpPr>
          <p:nvPr>
            <p:ph type="subTitle" idx="1"/>
          </p:nvPr>
        </p:nvSpPr>
        <p:spPr>
          <a:xfrm>
            <a:off x="228600" y="457200"/>
            <a:ext cx="8686800" cy="6172200"/>
          </a:xfrm>
        </p:spPr>
        <p:txBody>
          <a:bodyPr/>
          <a:lstStyle/>
          <a:p>
            <a:pPr marL="609600" indent="-609600" algn="just" eaLnBrk="1" hangingPunct="1">
              <a:lnSpc>
                <a:spcPct val="80000"/>
              </a:lnSpc>
              <a:buFontTx/>
              <a:buChar char="•"/>
            </a:pPr>
            <a:r>
              <a:rPr lang="en-US" altLang="en-US" sz="2000">
                <a:latin typeface="Times New Roman" panose="02020603050405020304" pitchFamily="18" charset="0"/>
              </a:rPr>
              <a:t>Advantages:</a:t>
            </a:r>
          </a:p>
          <a:p>
            <a:pPr marL="990600" lvl="1" indent="-533400" algn="just" eaLnBrk="1" hangingPunct="1">
              <a:lnSpc>
                <a:spcPct val="80000"/>
              </a:lnSpc>
              <a:buFontTx/>
              <a:buChar char="–"/>
            </a:pPr>
            <a:r>
              <a:rPr lang="en-US" altLang="en-US" sz="1800">
                <a:latin typeface="Times New Roman" panose="02020603050405020304" pitchFamily="18" charset="0"/>
              </a:rPr>
              <a:t>We can use default arguments to add new parameters to the existing function</a:t>
            </a:r>
          </a:p>
          <a:p>
            <a:pPr marL="990600" lvl="1" indent="-533400" algn="just" eaLnBrk="1" hangingPunct="1">
              <a:lnSpc>
                <a:spcPct val="80000"/>
              </a:lnSpc>
              <a:buFontTx/>
              <a:buChar char="–"/>
            </a:pPr>
            <a:r>
              <a:rPr lang="en-US" altLang="en-US" sz="1800">
                <a:latin typeface="Times New Roman" panose="02020603050405020304" pitchFamily="18" charset="0"/>
              </a:rPr>
              <a:t>Default arguments can be used to combine similar functions into one</a:t>
            </a:r>
          </a:p>
          <a:p>
            <a:pPr marL="990600" lvl="1" indent="-533400" algn="l" eaLnBrk="1" hangingPunct="1">
              <a:lnSpc>
                <a:spcPct val="80000"/>
              </a:lnSpc>
            </a:pPr>
            <a:endParaRPr lang="en-US" altLang="en-US" sz="1800">
              <a:latin typeface="Times New Roman" panose="02020603050405020304" pitchFamily="18" charset="0"/>
            </a:endParaRPr>
          </a:p>
          <a:p>
            <a:pPr marL="990600" lvl="1" indent="-533400" algn="l" eaLnBrk="1" hangingPunct="1">
              <a:lnSpc>
                <a:spcPct val="80000"/>
              </a:lnSpc>
            </a:pPr>
            <a:r>
              <a:rPr lang="en-US" altLang="en-US" sz="1800">
                <a:latin typeface="Times New Roman" panose="02020603050405020304" pitchFamily="18" charset="0"/>
              </a:rPr>
              <a:t>#include &lt;iostream&gt;</a:t>
            </a:r>
          </a:p>
          <a:p>
            <a:pPr marL="990600" lvl="1" indent="-533400" algn="l" eaLnBrk="1" hangingPunct="1">
              <a:lnSpc>
                <a:spcPct val="80000"/>
              </a:lnSpc>
            </a:pPr>
            <a:r>
              <a:rPr lang="en-US" altLang="en-US" sz="1800">
                <a:latin typeface="Times New Roman" panose="02020603050405020304" pitchFamily="18" charset="0"/>
              </a:rPr>
              <a:t>using namespace std;</a:t>
            </a:r>
          </a:p>
          <a:p>
            <a:pPr marL="990600" lvl="1" indent="-533400" algn="l" eaLnBrk="1" hangingPunct="1">
              <a:lnSpc>
                <a:spcPct val="80000"/>
              </a:lnSpc>
            </a:pPr>
            <a:r>
              <a:rPr lang="en-US" altLang="en-US" sz="1800">
                <a:latin typeface="Times New Roman" panose="02020603050405020304" pitchFamily="18" charset="0"/>
              </a:rPr>
              <a:t>int main()</a:t>
            </a:r>
          </a:p>
          <a:p>
            <a:pPr marL="990600" lvl="1" indent="-533400" algn="l" eaLnBrk="1" hangingPunct="1">
              <a:lnSpc>
                <a:spcPct val="80000"/>
              </a:lnSpc>
            </a:pPr>
            <a:r>
              <a:rPr lang="en-US" altLang="en-US" sz="1800">
                <a:latin typeface="Times New Roman" panose="02020603050405020304" pitchFamily="18" charset="0"/>
              </a:rPr>
              <a:t>{</a:t>
            </a:r>
          </a:p>
          <a:p>
            <a:pPr marL="990600" lvl="1" indent="-533400" algn="l" eaLnBrk="1" hangingPunct="1">
              <a:lnSpc>
                <a:spcPct val="80000"/>
              </a:lnSpc>
            </a:pPr>
            <a:r>
              <a:rPr lang="en-US" altLang="en-US" sz="1800">
                <a:latin typeface="Times New Roman" panose="02020603050405020304" pitchFamily="18" charset="0"/>
              </a:rPr>
              <a:t>	void printline(char ch='#',int length = 40); //prototype</a:t>
            </a:r>
          </a:p>
          <a:p>
            <a:pPr marL="990600" lvl="1" indent="-533400" algn="l" eaLnBrk="1" hangingPunct="1">
              <a:lnSpc>
                <a:spcPct val="80000"/>
              </a:lnSpc>
            </a:pPr>
            <a:r>
              <a:rPr lang="en-US" altLang="en-US" sz="1800">
                <a:latin typeface="Times New Roman" panose="02020603050405020304" pitchFamily="18" charset="0"/>
              </a:rPr>
              <a:t>	printline();</a:t>
            </a:r>
          </a:p>
          <a:p>
            <a:pPr marL="990600" lvl="1" indent="-533400" algn="l" eaLnBrk="1" hangingPunct="1">
              <a:lnSpc>
                <a:spcPct val="80000"/>
              </a:lnSpc>
            </a:pPr>
            <a:r>
              <a:rPr lang="en-US" altLang="en-US" sz="1800">
                <a:latin typeface="Times New Roman" panose="02020603050405020304" pitchFamily="18" charset="0"/>
              </a:rPr>
              <a:t>	cout &lt;&lt;"this is an example for default arguments" &lt;&lt; endl;</a:t>
            </a:r>
          </a:p>
          <a:p>
            <a:pPr marL="990600" lvl="1" indent="-533400" algn="l" eaLnBrk="1" hangingPunct="1">
              <a:lnSpc>
                <a:spcPct val="80000"/>
              </a:lnSpc>
            </a:pPr>
            <a:r>
              <a:rPr lang="en-US" altLang="en-US" sz="1800">
                <a:latin typeface="Times New Roman" panose="02020603050405020304" pitchFamily="18" charset="0"/>
              </a:rPr>
              <a:t>	printline('*');</a:t>
            </a:r>
          </a:p>
          <a:p>
            <a:pPr marL="990600" lvl="1" indent="-533400" algn="l" eaLnBrk="1" hangingPunct="1">
              <a:lnSpc>
                <a:spcPct val="80000"/>
              </a:lnSpc>
            </a:pPr>
            <a:r>
              <a:rPr lang="en-US" altLang="en-US" sz="1800">
                <a:latin typeface="Times New Roman" panose="02020603050405020304" pitchFamily="18" charset="0"/>
              </a:rPr>
              <a:t>	return 0;</a:t>
            </a:r>
          </a:p>
          <a:p>
            <a:pPr marL="990600" lvl="1" indent="-533400" algn="l" eaLnBrk="1" hangingPunct="1">
              <a:lnSpc>
                <a:spcPct val="80000"/>
              </a:lnSpc>
            </a:pPr>
            <a:r>
              <a:rPr lang="en-US" altLang="en-US" sz="1800">
                <a:latin typeface="Times New Roman" panose="02020603050405020304" pitchFamily="18" charset="0"/>
              </a:rPr>
              <a:t>}</a:t>
            </a:r>
          </a:p>
          <a:p>
            <a:pPr marL="990600" lvl="1" indent="-533400" algn="l" eaLnBrk="1" hangingPunct="1">
              <a:lnSpc>
                <a:spcPct val="80000"/>
              </a:lnSpc>
            </a:pPr>
            <a:r>
              <a:rPr lang="en-US" altLang="en-US" sz="1800">
                <a:latin typeface="Times New Roman" panose="02020603050405020304" pitchFamily="18" charset="0"/>
              </a:rPr>
              <a:t>void printline(char ch, int length)</a:t>
            </a:r>
          </a:p>
          <a:p>
            <a:pPr marL="990600" lvl="1" indent="-533400" algn="l" eaLnBrk="1" hangingPunct="1">
              <a:lnSpc>
                <a:spcPct val="80000"/>
              </a:lnSpc>
            </a:pPr>
            <a:r>
              <a:rPr lang="en-US" altLang="en-US" sz="1800">
                <a:latin typeface="Times New Roman" panose="02020603050405020304" pitchFamily="18" charset="0"/>
              </a:rPr>
              <a:t>{</a:t>
            </a:r>
          </a:p>
          <a:p>
            <a:pPr marL="990600" lvl="1" indent="-533400" algn="l" eaLnBrk="1" hangingPunct="1">
              <a:lnSpc>
                <a:spcPct val="80000"/>
              </a:lnSpc>
            </a:pPr>
            <a:r>
              <a:rPr lang="en-US" altLang="en-US" sz="1800">
                <a:latin typeface="Times New Roman" panose="02020603050405020304" pitchFamily="18" charset="0"/>
              </a:rPr>
              <a:t>	for (int i=1;i&lt;=length;i++)</a:t>
            </a:r>
          </a:p>
          <a:p>
            <a:pPr marL="990600" lvl="1" indent="-533400" algn="l" eaLnBrk="1" hangingPunct="1">
              <a:lnSpc>
                <a:spcPct val="80000"/>
              </a:lnSpc>
            </a:pPr>
            <a:r>
              <a:rPr lang="en-US" altLang="en-US" sz="1800">
                <a:latin typeface="Times New Roman" panose="02020603050405020304" pitchFamily="18" charset="0"/>
              </a:rPr>
              <a:t>		cout&lt;&lt;ch;</a:t>
            </a:r>
          </a:p>
          <a:p>
            <a:pPr marL="990600" lvl="1" indent="-533400" algn="l" eaLnBrk="1" hangingPunct="1">
              <a:lnSpc>
                <a:spcPct val="80000"/>
              </a:lnSpc>
            </a:pPr>
            <a:r>
              <a:rPr lang="en-US" altLang="en-US" sz="1800">
                <a:latin typeface="Times New Roman" panose="02020603050405020304" pitchFamily="18" charset="0"/>
              </a:rPr>
              <a:t>	cout &lt;&lt;endl;</a:t>
            </a:r>
          </a:p>
          <a:p>
            <a:pPr marL="990600" lvl="1" indent="-533400" algn="l" eaLnBrk="1" hangingPunct="1">
              <a:lnSpc>
                <a:spcPct val="80000"/>
              </a:lnSpc>
            </a:pPr>
            <a:r>
              <a:rPr lang="en-US" altLang="en-US" sz="1800">
                <a:latin typeface="Times New Roman" panose="02020603050405020304" pitchFamily="18" charset="0"/>
              </a:rPr>
              <a:t>}</a:t>
            </a:r>
          </a:p>
          <a:p>
            <a:pPr marL="990600" lvl="1" indent="-533400" algn="l" eaLnBrk="1" hangingPunct="1">
              <a:lnSpc>
                <a:spcPct val="80000"/>
              </a:lnSpc>
            </a:pPr>
            <a:r>
              <a:rPr lang="en-US" altLang="en-US" sz="1800">
                <a:latin typeface="Times New Roman" panose="02020603050405020304" pitchFamily="18" charset="0"/>
              </a:rPr>
              <a:t>########################################</a:t>
            </a:r>
          </a:p>
          <a:p>
            <a:pPr marL="990600" lvl="1" indent="-533400" algn="l" eaLnBrk="1" hangingPunct="1">
              <a:lnSpc>
                <a:spcPct val="80000"/>
              </a:lnSpc>
            </a:pPr>
            <a:r>
              <a:rPr lang="en-US" altLang="en-US" sz="2200">
                <a:latin typeface="Times New Roman" panose="02020603050405020304" pitchFamily="18" charset="0"/>
              </a:rPr>
              <a:t>this is an example for default arguments</a:t>
            </a:r>
          </a:p>
          <a:p>
            <a:pPr marL="990600" lvl="1" indent="-533400" algn="l" eaLnBrk="1" hangingPunct="1">
              <a:lnSpc>
                <a:spcPct val="80000"/>
              </a:lnSpc>
            </a:pPr>
            <a:r>
              <a:rPr lang="en-US" altLang="en-US" sz="1800">
                <a:latin typeface="Times New Roman" panose="02020603050405020304" pitchFamily="18" charset="0"/>
              </a:rPr>
              <a:t>****************************************</a:t>
            </a:r>
            <a:endParaRPr lang="en-US" altLang="en-US" sz="26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37D420A-7DE3-B6C0-0413-586CE7C719E1}"/>
              </a:ext>
            </a:extLst>
          </p:cNvPr>
          <p:cNvSpPr>
            <a:spLocks noGrp="1" noChangeArrowheads="1"/>
          </p:cNvSpPr>
          <p:nvPr>
            <p:ph type="ctrTitle"/>
          </p:nvPr>
        </p:nvSpPr>
        <p:spPr>
          <a:xfrm>
            <a:off x="685800" y="152400"/>
            <a:ext cx="7772400" cy="228600"/>
          </a:xfrm>
        </p:spPr>
        <p:txBody>
          <a:bodyPr/>
          <a:lstStyle/>
          <a:p>
            <a:pPr eaLnBrk="1" hangingPunct="1"/>
            <a:r>
              <a:rPr lang="en-US" altLang="en-US" sz="3200">
                <a:solidFill>
                  <a:schemeClr val="accent2"/>
                </a:solidFill>
              </a:rPr>
              <a:t>Constant arguments</a:t>
            </a:r>
          </a:p>
        </p:txBody>
      </p:sp>
      <p:sp>
        <p:nvSpPr>
          <p:cNvPr id="18435" name="Rectangle 3">
            <a:extLst>
              <a:ext uri="{FF2B5EF4-FFF2-40B4-BE49-F238E27FC236}">
                <a16:creationId xmlns:a16="http://schemas.microsoft.com/office/drawing/2014/main" id="{FEDF15ED-6239-A998-98B8-538BE6190DBE}"/>
              </a:ext>
            </a:extLst>
          </p:cNvPr>
          <p:cNvSpPr>
            <a:spLocks noGrp="1" noChangeArrowheads="1"/>
          </p:cNvSpPr>
          <p:nvPr>
            <p:ph type="subTitle" idx="1"/>
          </p:nvPr>
        </p:nvSpPr>
        <p:spPr>
          <a:xfrm>
            <a:off x="304800" y="914400"/>
            <a:ext cx="8686800" cy="6172200"/>
          </a:xfrm>
        </p:spPr>
        <p:txBody>
          <a:bodyPr/>
          <a:lstStyle/>
          <a:p>
            <a:pPr marL="609600" indent="-609600" algn="just" eaLnBrk="1" hangingPunct="1">
              <a:buFontTx/>
              <a:buChar char="•"/>
            </a:pPr>
            <a:r>
              <a:rPr lang="en-US" altLang="en-US">
                <a:latin typeface="Times New Roman" panose="02020603050405020304" pitchFamily="18" charset="0"/>
              </a:rPr>
              <a:t>In C++ an argument to a function can be declared as const</a:t>
            </a:r>
          </a:p>
          <a:p>
            <a:pPr marL="609600" indent="-609600" algn="just" eaLnBrk="1" hangingPunct="1"/>
            <a:r>
              <a:rPr lang="en-US" altLang="en-US">
                <a:latin typeface="Times New Roman" panose="02020603050405020304" pitchFamily="18" charset="0"/>
              </a:rPr>
              <a:t>	int length(const string &amp;s);</a:t>
            </a:r>
          </a:p>
          <a:p>
            <a:pPr marL="609600" indent="-609600" algn="just" eaLnBrk="1" hangingPunct="1">
              <a:buFontTx/>
              <a:buChar char="•"/>
            </a:pPr>
            <a:r>
              <a:rPr lang="en-US" altLang="en-US">
                <a:latin typeface="Times New Roman" panose="02020603050405020304" pitchFamily="18" charset="0"/>
              </a:rPr>
              <a:t>The qualifier const tells the compiler that the function should not modify the argument</a:t>
            </a:r>
          </a:p>
          <a:p>
            <a:pPr marL="609600" indent="-609600" algn="just" eaLnBrk="1" hangingPunct="1">
              <a:buFontTx/>
              <a:buChar char="•"/>
            </a:pPr>
            <a:r>
              <a:rPr lang="en-US" altLang="en-US">
                <a:latin typeface="Times New Roman" panose="02020603050405020304" pitchFamily="18" charset="0"/>
              </a:rPr>
              <a:t>The compiler will generate an error when this condition is violated</a:t>
            </a:r>
          </a:p>
          <a:p>
            <a:pPr marL="609600" indent="-609600" algn="just" eaLnBrk="1" hangingPunct="1">
              <a:buFontTx/>
              <a:buChar char="•"/>
            </a:pPr>
            <a:r>
              <a:rPr lang="en-US" altLang="en-US">
                <a:latin typeface="Times New Roman" panose="02020603050405020304" pitchFamily="18" charset="0"/>
              </a:rPr>
              <a:t>This type of declaration is significant only when we pass arguments by reference or pointers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9541FDC-4D23-5E12-0D5A-B224C1E24073}"/>
              </a:ext>
            </a:extLst>
          </p:cNvPr>
          <p:cNvSpPr>
            <a:spLocks noGrp="1" noChangeArrowheads="1"/>
          </p:cNvSpPr>
          <p:nvPr>
            <p:ph type="ctrTitle"/>
          </p:nvPr>
        </p:nvSpPr>
        <p:spPr>
          <a:xfrm>
            <a:off x="685800" y="152400"/>
            <a:ext cx="7772400" cy="228600"/>
          </a:xfrm>
        </p:spPr>
        <p:txBody>
          <a:bodyPr/>
          <a:lstStyle/>
          <a:p>
            <a:pPr eaLnBrk="1" hangingPunct="1"/>
            <a:r>
              <a:rPr lang="en-US" altLang="en-US" sz="2800">
                <a:solidFill>
                  <a:schemeClr val="accent2"/>
                </a:solidFill>
              </a:rPr>
              <a:t>Constant arguments</a:t>
            </a:r>
          </a:p>
        </p:txBody>
      </p:sp>
      <p:sp>
        <p:nvSpPr>
          <p:cNvPr id="19459" name="Rectangle 3">
            <a:extLst>
              <a:ext uri="{FF2B5EF4-FFF2-40B4-BE49-F238E27FC236}">
                <a16:creationId xmlns:a16="http://schemas.microsoft.com/office/drawing/2014/main" id="{235B4CE7-3572-6C3B-7AFD-F83C13BF3A5E}"/>
              </a:ext>
            </a:extLst>
          </p:cNvPr>
          <p:cNvSpPr>
            <a:spLocks noGrp="1" noChangeArrowheads="1"/>
          </p:cNvSpPr>
          <p:nvPr>
            <p:ph type="subTitle" idx="1"/>
          </p:nvPr>
        </p:nvSpPr>
        <p:spPr>
          <a:xfrm>
            <a:off x="228600" y="457200"/>
            <a:ext cx="8686800" cy="6172200"/>
          </a:xfrm>
        </p:spPr>
        <p:txBody>
          <a:bodyPr/>
          <a:lstStyle/>
          <a:p>
            <a:pPr marL="990600" lvl="1" indent="-533400" algn="l" eaLnBrk="1" hangingPunct="1">
              <a:lnSpc>
                <a:spcPct val="80000"/>
              </a:lnSpc>
            </a:pPr>
            <a:r>
              <a:rPr lang="en-US" altLang="en-US" sz="2600">
                <a:latin typeface="Times New Roman" panose="02020603050405020304" pitchFamily="18" charset="0"/>
              </a:rPr>
              <a:t>#include &lt;iostream&gt;</a:t>
            </a:r>
          </a:p>
          <a:p>
            <a:pPr marL="990600" lvl="1" indent="-533400" algn="l" eaLnBrk="1" hangingPunct="1">
              <a:lnSpc>
                <a:spcPct val="80000"/>
              </a:lnSpc>
            </a:pPr>
            <a:r>
              <a:rPr lang="en-US" altLang="en-US" sz="2600">
                <a:latin typeface="Times New Roman" panose="02020603050405020304" pitchFamily="18" charset="0"/>
              </a:rPr>
              <a:t>using namespace std;</a:t>
            </a:r>
          </a:p>
          <a:p>
            <a:pPr marL="990600" lvl="1" indent="-533400" algn="l" eaLnBrk="1" hangingPunct="1">
              <a:lnSpc>
                <a:spcPct val="80000"/>
              </a:lnSpc>
            </a:pPr>
            <a:r>
              <a:rPr lang="en-US" altLang="en-US" sz="2600">
                <a:latin typeface="Times New Roman" panose="02020603050405020304" pitchFamily="18" charset="0"/>
              </a:rPr>
              <a:t>ivoid printline(const int i);   //prototype of printline function</a:t>
            </a:r>
          </a:p>
          <a:p>
            <a:pPr marL="990600" lvl="1" indent="-533400" algn="l" eaLnBrk="1" hangingPunct="1">
              <a:lnSpc>
                <a:spcPct val="80000"/>
              </a:lnSpc>
            </a:pPr>
            <a:endParaRPr lang="en-US" altLang="en-US" sz="2600">
              <a:latin typeface="Times New Roman" panose="02020603050405020304" pitchFamily="18" charset="0"/>
            </a:endParaRPr>
          </a:p>
          <a:p>
            <a:pPr marL="990600" lvl="1" indent="-533400" algn="l" eaLnBrk="1" hangingPunct="1">
              <a:lnSpc>
                <a:spcPct val="80000"/>
              </a:lnSpc>
            </a:pPr>
            <a:r>
              <a:rPr lang="en-US" altLang="en-US" sz="2600">
                <a:latin typeface="Times New Roman" panose="02020603050405020304" pitchFamily="18" charset="0"/>
              </a:rPr>
              <a:t>int main()</a:t>
            </a:r>
          </a:p>
          <a:p>
            <a:pPr marL="990600" lvl="1" indent="-533400" algn="l" eaLnBrk="1" hangingPunct="1">
              <a:lnSpc>
                <a:spcPct val="80000"/>
              </a:lnSpc>
            </a:pPr>
            <a:r>
              <a:rPr lang="en-US" altLang="en-US" sz="2600">
                <a:latin typeface="Times New Roman" panose="02020603050405020304" pitchFamily="18" charset="0"/>
              </a:rPr>
              <a:t>{</a:t>
            </a:r>
          </a:p>
          <a:p>
            <a:pPr marL="990600" lvl="1" indent="-533400" algn="l" eaLnBrk="1" hangingPunct="1">
              <a:lnSpc>
                <a:spcPct val="80000"/>
              </a:lnSpc>
            </a:pPr>
            <a:r>
              <a:rPr lang="en-US" altLang="en-US" sz="2600">
                <a:latin typeface="Times New Roman" panose="02020603050405020304" pitchFamily="18" charset="0"/>
              </a:rPr>
              <a:t>	printline(20);</a:t>
            </a:r>
          </a:p>
          <a:p>
            <a:pPr marL="990600" lvl="1" indent="-533400" algn="l" eaLnBrk="1" hangingPunct="1">
              <a:lnSpc>
                <a:spcPct val="80000"/>
              </a:lnSpc>
            </a:pPr>
            <a:r>
              <a:rPr lang="en-US" altLang="en-US" sz="2600">
                <a:latin typeface="Times New Roman" panose="02020603050405020304" pitchFamily="18" charset="0"/>
              </a:rPr>
              <a:t>	return 0;</a:t>
            </a:r>
          </a:p>
          <a:p>
            <a:pPr marL="990600" lvl="1" indent="-533400" algn="l" eaLnBrk="1" hangingPunct="1">
              <a:lnSpc>
                <a:spcPct val="80000"/>
              </a:lnSpc>
            </a:pPr>
            <a:r>
              <a:rPr lang="en-US" altLang="en-US" sz="2600">
                <a:latin typeface="Times New Roman" panose="02020603050405020304" pitchFamily="18" charset="0"/>
              </a:rPr>
              <a:t>}</a:t>
            </a:r>
          </a:p>
          <a:p>
            <a:pPr marL="990600" lvl="1" indent="-533400" algn="l" eaLnBrk="1" hangingPunct="1">
              <a:lnSpc>
                <a:spcPct val="80000"/>
              </a:lnSpc>
            </a:pPr>
            <a:endParaRPr lang="en-US" altLang="en-US" sz="2600">
              <a:latin typeface="Times New Roman" panose="02020603050405020304" pitchFamily="18" charset="0"/>
            </a:endParaRPr>
          </a:p>
          <a:p>
            <a:pPr marL="990600" lvl="1" indent="-533400" algn="l" eaLnBrk="1" hangingPunct="1">
              <a:lnSpc>
                <a:spcPct val="80000"/>
              </a:lnSpc>
            </a:pPr>
            <a:r>
              <a:rPr lang="en-US" altLang="en-US" sz="2600">
                <a:latin typeface="Times New Roman" panose="02020603050405020304" pitchFamily="18" charset="0"/>
              </a:rPr>
              <a:t>inline void printline(const int i)</a:t>
            </a:r>
          </a:p>
          <a:p>
            <a:pPr marL="990600" lvl="1" indent="-533400" algn="l" eaLnBrk="1" hangingPunct="1">
              <a:lnSpc>
                <a:spcPct val="80000"/>
              </a:lnSpc>
            </a:pPr>
            <a:r>
              <a:rPr lang="en-US" altLang="en-US" sz="2600">
                <a:latin typeface="Times New Roman" panose="02020603050405020304" pitchFamily="18" charset="0"/>
              </a:rPr>
              <a:t>{</a:t>
            </a:r>
          </a:p>
          <a:p>
            <a:pPr marL="990600" lvl="1" indent="-533400" algn="l" eaLnBrk="1" hangingPunct="1">
              <a:lnSpc>
                <a:spcPct val="80000"/>
              </a:lnSpc>
            </a:pPr>
            <a:r>
              <a:rPr lang="en-US" altLang="en-US" sz="2600">
                <a:latin typeface="Times New Roman" panose="02020603050405020304" pitchFamily="18" charset="0"/>
              </a:rPr>
              <a:t>	i++; //compilation error because i is constant</a:t>
            </a:r>
          </a:p>
          <a:p>
            <a:pPr marL="990600" lvl="1" indent="-533400" algn="l" eaLnBrk="1" hangingPunct="1">
              <a:lnSpc>
                <a:spcPct val="80000"/>
              </a:lnSpc>
            </a:pPr>
            <a:r>
              <a:rPr lang="en-US" altLang="en-US" sz="2600">
                <a:latin typeface="Times New Roman" panose="02020603050405020304" pitchFamily="18"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BBCC189-5ADB-C214-7FD1-917CBF132EDD}"/>
              </a:ext>
            </a:extLst>
          </p:cNvPr>
          <p:cNvSpPr>
            <a:spLocks noGrp="1" noChangeArrowheads="1"/>
          </p:cNvSpPr>
          <p:nvPr>
            <p:ph type="ctrTitle"/>
          </p:nvPr>
        </p:nvSpPr>
        <p:spPr>
          <a:xfrm>
            <a:off x="685800" y="152400"/>
            <a:ext cx="7772400" cy="228600"/>
          </a:xfrm>
        </p:spPr>
        <p:txBody>
          <a:bodyPr/>
          <a:lstStyle/>
          <a:p>
            <a:pPr eaLnBrk="1" hangingPunct="1"/>
            <a:r>
              <a:rPr lang="en-US" altLang="en-US" sz="3200">
                <a:solidFill>
                  <a:schemeClr val="accent2"/>
                </a:solidFill>
              </a:rPr>
              <a:t>Pointers to functions</a:t>
            </a:r>
          </a:p>
        </p:txBody>
      </p:sp>
      <p:sp>
        <p:nvSpPr>
          <p:cNvPr id="20483" name="Rectangle 3">
            <a:extLst>
              <a:ext uri="{FF2B5EF4-FFF2-40B4-BE49-F238E27FC236}">
                <a16:creationId xmlns:a16="http://schemas.microsoft.com/office/drawing/2014/main" id="{3D460CD2-0A3D-DCA3-B9C3-D6DDB4C9A59E}"/>
              </a:ext>
            </a:extLst>
          </p:cNvPr>
          <p:cNvSpPr>
            <a:spLocks noGrp="1" noChangeArrowheads="1"/>
          </p:cNvSpPr>
          <p:nvPr>
            <p:ph type="subTitle" idx="1"/>
          </p:nvPr>
        </p:nvSpPr>
        <p:spPr>
          <a:xfrm>
            <a:off x="304800" y="990600"/>
            <a:ext cx="8686800" cy="6172200"/>
          </a:xfrm>
        </p:spPr>
        <p:txBody>
          <a:bodyPr/>
          <a:lstStyle/>
          <a:p>
            <a:pPr algn="just"/>
            <a:r>
              <a:rPr lang="en-US" altLang="en-US" sz="2400" b="1"/>
              <a:t>Following are some interesting facts about function pointers.</a:t>
            </a:r>
            <a:endParaRPr lang="en-US" altLang="en-US" sz="2400"/>
          </a:p>
          <a:p>
            <a:pPr algn="just"/>
            <a:r>
              <a:rPr lang="en-US" altLang="en-US" sz="2400"/>
              <a:t> </a:t>
            </a:r>
            <a:br>
              <a:rPr lang="en-US" altLang="en-US" sz="2400"/>
            </a:br>
            <a:r>
              <a:rPr lang="en-US" altLang="en-US" sz="2400" b="1"/>
              <a:t>1)</a:t>
            </a:r>
            <a:r>
              <a:rPr lang="en-US" altLang="en-US" sz="2400"/>
              <a:t> Unlike normal pointers, a function pointer points to code, not data. Typically a function pointer stores the start of executable code.</a:t>
            </a:r>
          </a:p>
          <a:p>
            <a:pPr algn="just"/>
            <a:r>
              <a:rPr lang="en-US" altLang="en-US" sz="2400" b="1"/>
              <a:t>2) </a:t>
            </a:r>
            <a:r>
              <a:rPr lang="en-US" altLang="en-US" sz="2400"/>
              <a:t>Unlike normal pointers, we do not allocate de-allocate memory using function pointers.</a:t>
            </a:r>
          </a:p>
          <a:p>
            <a:pPr algn="just"/>
            <a:br>
              <a:rPr lang="en-US" altLang="en-US" sz="2400"/>
            </a:br>
            <a:endParaRPr lang="en-US" altLang="en-US" sz="2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D73C3D34-2950-0034-DB00-CEF9DC73FD01}"/>
              </a:ext>
            </a:extLst>
          </p:cNvPr>
          <p:cNvSpPr>
            <a:spLocks noGrp="1" noChangeArrowheads="1"/>
          </p:cNvSpPr>
          <p:nvPr>
            <p:ph type="subTitle" idx="1"/>
          </p:nvPr>
        </p:nvSpPr>
        <p:spPr>
          <a:xfrm>
            <a:off x="228600" y="457200"/>
            <a:ext cx="8686800" cy="6172200"/>
          </a:xfrm>
        </p:spPr>
        <p:txBody>
          <a:bodyPr/>
          <a:lstStyle/>
          <a:p>
            <a:pPr marL="990600" lvl="1" indent="-533400" algn="l" eaLnBrk="1" hangingPunct="1">
              <a:spcBef>
                <a:spcPct val="0"/>
              </a:spcBef>
            </a:pPr>
            <a:r>
              <a:rPr lang="en-US" altLang="en-US" sz="2000">
                <a:latin typeface="Times New Roman" panose="02020603050405020304" pitchFamily="18" charset="0"/>
              </a:rPr>
              <a:t>#include &lt;iostream&gt;</a:t>
            </a:r>
          </a:p>
          <a:p>
            <a:pPr marL="990600" lvl="1" indent="-533400" algn="l" eaLnBrk="1" hangingPunct="1">
              <a:spcBef>
                <a:spcPct val="0"/>
              </a:spcBef>
            </a:pPr>
            <a:r>
              <a:rPr lang="en-US" altLang="en-US" sz="2000">
                <a:latin typeface="Times New Roman" panose="02020603050405020304" pitchFamily="18" charset="0"/>
              </a:rPr>
              <a:t>using namespace std;</a:t>
            </a:r>
          </a:p>
          <a:p>
            <a:pPr marL="990600" lvl="1" indent="-533400" algn="l" eaLnBrk="1" hangingPunct="1">
              <a:spcBef>
                <a:spcPct val="0"/>
              </a:spcBef>
            </a:pPr>
            <a:r>
              <a:rPr lang="en-US" altLang="en-US" sz="2000">
                <a:latin typeface="Times New Roman" panose="02020603050405020304" pitchFamily="18" charset="0"/>
              </a:rPr>
              <a:t>void fun(int a) </a:t>
            </a:r>
          </a:p>
          <a:p>
            <a:pPr marL="990600" lvl="1" indent="-533400" algn="l" eaLnBrk="1" hangingPunct="1">
              <a:spcBef>
                <a:spcPct val="0"/>
              </a:spcBef>
            </a:pPr>
            <a:r>
              <a:rPr lang="en-US" altLang="en-US" sz="2000">
                <a:latin typeface="Times New Roman" panose="02020603050405020304" pitchFamily="18" charset="0"/>
              </a:rPr>
              <a:t>{ </a:t>
            </a:r>
          </a:p>
          <a:p>
            <a:pPr marL="990600" lvl="1" indent="-533400" algn="l" eaLnBrk="1" hangingPunct="1">
              <a:spcBef>
                <a:spcPct val="0"/>
              </a:spcBef>
            </a:pPr>
            <a:r>
              <a:rPr lang="en-US" altLang="en-US" sz="2000">
                <a:latin typeface="Times New Roman" panose="02020603050405020304" pitchFamily="18" charset="0"/>
              </a:rPr>
              <a:t>    cout &lt;&lt;"Value of a is  “ &lt;&lt; a&lt;&lt;endl; </a:t>
            </a:r>
          </a:p>
          <a:p>
            <a:pPr marL="990600" lvl="1" indent="-533400" algn="l" eaLnBrk="1" hangingPunct="1">
              <a:spcBef>
                <a:spcPct val="0"/>
              </a:spcBef>
            </a:pPr>
            <a:r>
              <a:rPr lang="en-US" altLang="en-US" sz="2000">
                <a:latin typeface="Times New Roman" panose="02020603050405020304" pitchFamily="18" charset="0"/>
              </a:rPr>
              <a:t>} </a:t>
            </a:r>
          </a:p>
          <a:p>
            <a:pPr marL="990600" lvl="1" indent="-533400" algn="l" eaLnBrk="1" hangingPunct="1">
              <a:spcBef>
                <a:spcPct val="0"/>
              </a:spcBef>
            </a:pPr>
            <a:r>
              <a:rPr lang="en-US" altLang="en-US" sz="2000">
                <a:latin typeface="Times New Roman" panose="02020603050405020304" pitchFamily="18" charset="0"/>
              </a:rPr>
              <a:t> int main() </a:t>
            </a:r>
          </a:p>
          <a:p>
            <a:pPr marL="990600" lvl="1" indent="-533400" algn="l" eaLnBrk="1" hangingPunct="1">
              <a:spcBef>
                <a:spcPct val="0"/>
              </a:spcBef>
            </a:pPr>
            <a:r>
              <a:rPr lang="en-US" altLang="en-US" sz="2000">
                <a:latin typeface="Times New Roman" panose="02020603050405020304" pitchFamily="18" charset="0"/>
              </a:rPr>
              <a:t>{ </a:t>
            </a:r>
          </a:p>
          <a:p>
            <a:pPr marL="990600" lvl="1" indent="-533400" algn="l" eaLnBrk="1" hangingPunct="1">
              <a:spcBef>
                <a:spcPct val="0"/>
              </a:spcBef>
            </a:pPr>
            <a:r>
              <a:rPr lang="en-US" altLang="en-US" sz="2000">
                <a:latin typeface="Times New Roman" panose="02020603050405020304" pitchFamily="18" charset="0"/>
              </a:rPr>
              <a:t>    // fun_ptr is a pointer to function fun()  </a:t>
            </a:r>
          </a:p>
          <a:p>
            <a:pPr marL="990600" lvl="1" indent="-533400" algn="l" eaLnBrk="1" hangingPunct="1">
              <a:spcBef>
                <a:spcPct val="0"/>
              </a:spcBef>
            </a:pPr>
            <a:r>
              <a:rPr lang="en-US" altLang="en-US" sz="2000">
                <a:latin typeface="Times New Roman" panose="02020603050405020304" pitchFamily="18" charset="0"/>
              </a:rPr>
              <a:t>    void (*fun_ptr)(int) = &amp;fun; </a:t>
            </a:r>
          </a:p>
          <a:p>
            <a:pPr marL="990600" lvl="1" indent="-533400" algn="l" eaLnBrk="1" hangingPunct="1">
              <a:spcBef>
                <a:spcPct val="0"/>
              </a:spcBef>
            </a:pPr>
            <a:r>
              <a:rPr lang="en-US" altLang="en-US" sz="2000">
                <a:latin typeface="Times New Roman" panose="02020603050405020304" pitchFamily="18" charset="0"/>
              </a:rPr>
              <a:t>  </a:t>
            </a:r>
          </a:p>
          <a:p>
            <a:pPr marL="990600" lvl="1" indent="-533400" algn="l" eaLnBrk="1" hangingPunct="1">
              <a:spcBef>
                <a:spcPct val="0"/>
              </a:spcBef>
            </a:pPr>
            <a:r>
              <a:rPr lang="en-US" altLang="en-US" sz="2000">
                <a:latin typeface="Times New Roman" panose="02020603050405020304" pitchFamily="18" charset="0"/>
              </a:rPr>
              <a:t>    /* The above line is equivalent of following two </a:t>
            </a:r>
          </a:p>
          <a:p>
            <a:pPr marL="990600" lvl="1" indent="-533400" algn="l" eaLnBrk="1" hangingPunct="1">
              <a:spcBef>
                <a:spcPct val="0"/>
              </a:spcBef>
            </a:pPr>
            <a:r>
              <a:rPr lang="en-US" altLang="en-US" sz="2000">
                <a:latin typeface="Times New Roman" panose="02020603050405020304" pitchFamily="18" charset="0"/>
              </a:rPr>
              <a:t>       void (*fun_ptr)(int); </a:t>
            </a:r>
          </a:p>
          <a:p>
            <a:pPr marL="990600" lvl="1" indent="-533400" algn="l" eaLnBrk="1" hangingPunct="1">
              <a:spcBef>
                <a:spcPct val="0"/>
              </a:spcBef>
            </a:pPr>
            <a:r>
              <a:rPr lang="en-US" altLang="en-US" sz="2000">
                <a:latin typeface="Times New Roman" panose="02020603050405020304" pitchFamily="18" charset="0"/>
              </a:rPr>
              <a:t>       fun_ptr = &amp;fun;  </a:t>
            </a:r>
          </a:p>
          <a:p>
            <a:pPr marL="990600" lvl="1" indent="-533400" algn="l" eaLnBrk="1" hangingPunct="1">
              <a:spcBef>
                <a:spcPct val="0"/>
              </a:spcBef>
            </a:pPr>
            <a:r>
              <a:rPr lang="en-US" altLang="en-US" sz="2000">
                <a:latin typeface="Times New Roman" panose="02020603050405020304" pitchFamily="18" charset="0"/>
              </a:rPr>
              <a:t>    */</a:t>
            </a:r>
          </a:p>
          <a:p>
            <a:pPr marL="990600" lvl="1" indent="-533400" algn="l" eaLnBrk="1" hangingPunct="1">
              <a:spcBef>
                <a:spcPct val="0"/>
              </a:spcBef>
            </a:pPr>
            <a:r>
              <a:rPr lang="en-US" altLang="en-US" sz="2000">
                <a:latin typeface="Times New Roman" panose="02020603050405020304" pitchFamily="18" charset="0"/>
              </a:rPr>
              <a:t>      // Invoking fun() using fun_ptr </a:t>
            </a:r>
          </a:p>
          <a:p>
            <a:pPr marL="990600" lvl="1" indent="-533400" algn="l" eaLnBrk="1" hangingPunct="1">
              <a:spcBef>
                <a:spcPct val="0"/>
              </a:spcBef>
            </a:pPr>
            <a:r>
              <a:rPr lang="en-US" altLang="en-US" sz="2000">
                <a:latin typeface="Times New Roman" panose="02020603050405020304" pitchFamily="18" charset="0"/>
              </a:rPr>
              <a:t>    (*fun_ptr)(10); </a:t>
            </a:r>
          </a:p>
          <a:p>
            <a:pPr marL="990600" lvl="1" indent="-533400" algn="l" eaLnBrk="1" hangingPunct="1">
              <a:spcBef>
                <a:spcPct val="0"/>
              </a:spcBef>
            </a:pPr>
            <a:r>
              <a:rPr lang="en-US" altLang="en-US" sz="2000">
                <a:latin typeface="Times New Roman" panose="02020603050405020304" pitchFamily="18" charset="0"/>
              </a:rPr>
              <a:t>  </a:t>
            </a:r>
          </a:p>
          <a:p>
            <a:pPr marL="990600" lvl="1" indent="-533400" algn="l" eaLnBrk="1" hangingPunct="1">
              <a:spcBef>
                <a:spcPct val="0"/>
              </a:spcBef>
            </a:pPr>
            <a:r>
              <a:rPr lang="en-US" altLang="en-US" sz="2000">
                <a:latin typeface="Times New Roman" panose="02020603050405020304" pitchFamily="18" charset="0"/>
              </a:rPr>
              <a:t>    return 0; </a:t>
            </a:r>
          </a:p>
          <a:p>
            <a:pPr marL="990600" lvl="1" indent="-533400" algn="l" eaLnBrk="1" hangingPunct="1">
              <a:spcBef>
                <a:spcPct val="0"/>
              </a:spcBef>
            </a:pPr>
            <a:r>
              <a:rPr lang="en-US" altLang="en-US" sz="2000">
                <a:latin typeface="Times New Roman" panose="02020603050405020304" pitchFamily="18"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E72E38A9-5CCD-9630-4F43-780E5B319617}"/>
              </a:ext>
            </a:extLst>
          </p:cNvPr>
          <p:cNvSpPr>
            <a:spLocks noGrp="1" noChangeArrowheads="1"/>
          </p:cNvSpPr>
          <p:nvPr>
            <p:ph type="subTitle" idx="1"/>
          </p:nvPr>
        </p:nvSpPr>
        <p:spPr>
          <a:xfrm>
            <a:off x="0" y="152400"/>
            <a:ext cx="8686800" cy="6172200"/>
          </a:xfrm>
        </p:spPr>
        <p:txBody>
          <a:bodyPr/>
          <a:lstStyle/>
          <a:p>
            <a:pPr algn="just"/>
            <a:r>
              <a:rPr lang="en-US" altLang="en-US" sz="1800"/>
              <a:t>A function’s name can also be used to get function’s address. For example, in the below program, we have removed address operator ‘&amp;’ in assignment. We have also changed function call by removing *, the program still works.</a:t>
            </a:r>
          </a:p>
          <a:p>
            <a:pPr algn="just"/>
            <a:r>
              <a:rPr lang="en-US" altLang="en-US" sz="1800"/>
              <a:t>#include &lt;iostream&gt;</a:t>
            </a:r>
          </a:p>
          <a:p>
            <a:pPr algn="just"/>
            <a:r>
              <a:rPr lang="en-US" altLang="en-US" sz="1800"/>
              <a:t>using namespace std;</a:t>
            </a:r>
          </a:p>
          <a:p>
            <a:pPr algn="just"/>
            <a:r>
              <a:rPr lang="en-US" altLang="en-US" sz="1800"/>
              <a:t>void fun(int a) </a:t>
            </a:r>
          </a:p>
          <a:p>
            <a:pPr algn="just"/>
            <a:r>
              <a:rPr lang="en-US" altLang="en-US" sz="1800"/>
              <a:t>{ </a:t>
            </a:r>
          </a:p>
          <a:p>
            <a:pPr algn="just"/>
            <a:r>
              <a:rPr lang="en-US" altLang="en-US" sz="1800"/>
              <a:t>    cout &lt;&lt;"Value of a is "&lt;&lt; a&lt;&lt;endl; </a:t>
            </a:r>
          </a:p>
          <a:p>
            <a:pPr algn="just"/>
            <a:r>
              <a:rPr lang="en-US" altLang="en-US" sz="1800"/>
              <a:t>} </a:t>
            </a:r>
          </a:p>
          <a:p>
            <a:pPr algn="just"/>
            <a:r>
              <a:rPr lang="en-US" altLang="en-US" sz="1800"/>
              <a:t>int main() </a:t>
            </a:r>
          </a:p>
          <a:p>
            <a:pPr algn="just"/>
            <a:r>
              <a:rPr lang="en-US" altLang="en-US" sz="1800"/>
              <a:t>{ </a:t>
            </a:r>
          </a:p>
          <a:p>
            <a:pPr algn="just"/>
            <a:r>
              <a:rPr lang="en-US" altLang="en-US" sz="1800"/>
              <a:t>    void (*fun_ptr)(int) = fun; // &amp; removed </a:t>
            </a:r>
          </a:p>
          <a:p>
            <a:pPr algn="just">
              <a:spcBef>
                <a:spcPct val="0"/>
              </a:spcBef>
            </a:pPr>
            <a:endParaRPr lang="en-US" altLang="en-US" sz="1800"/>
          </a:p>
          <a:p>
            <a:pPr algn="just"/>
            <a:r>
              <a:rPr lang="en-US" altLang="en-US" sz="1800"/>
              <a:t>    fun_ptr(10); // * removed </a:t>
            </a:r>
          </a:p>
          <a:p>
            <a:pPr algn="just"/>
            <a:endParaRPr lang="en-US" altLang="en-US" sz="1800"/>
          </a:p>
          <a:p>
            <a:pPr algn="just"/>
            <a:r>
              <a:rPr lang="en-US" altLang="en-US" sz="1800"/>
              <a:t>return 0; </a:t>
            </a:r>
          </a:p>
          <a:p>
            <a:pPr algn="just"/>
            <a:r>
              <a:rPr lang="en-US" altLang="en-US" sz="1800"/>
              <a:t>}</a:t>
            </a:r>
          </a:p>
          <a:p>
            <a:pPr algn="l"/>
            <a:r>
              <a:rPr lang="en-US" altLang="en-US" sz="1800">
                <a:latin typeface="Times New Roman" panose="02020603050405020304" pitchFamily="18" charset="0"/>
              </a:rPr>
              <a:t>Output </a:t>
            </a:r>
          </a:p>
          <a:p>
            <a:pPr algn="l"/>
            <a:r>
              <a:rPr lang="en-US" altLang="en-US" sz="1800">
                <a:latin typeface="Times New Roman" panose="02020603050405020304" pitchFamily="18" charset="0"/>
              </a:rPr>
              <a:t>Value of  a is 10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78FDA696-A3C7-3413-22E0-F50E6D9D458F}"/>
              </a:ext>
            </a:extLst>
          </p:cNvPr>
          <p:cNvSpPr>
            <a:spLocks noGrp="1" noChangeArrowheads="1"/>
          </p:cNvSpPr>
          <p:nvPr>
            <p:ph type="subTitle" idx="1"/>
          </p:nvPr>
        </p:nvSpPr>
        <p:spPr>
          <a:xfrm>
            <a:off x="304800" y="152400"/>
            <a:ext cx="4114800" cy="6172200"/>
          </a:xfrm>
        </p:spPr>
        <p:txBody>
          <a:bodyPr/>
          <a:lstStyle/>
          <a:p>
            <a:pPr algn="just">
              <a:buFontTx/>
              <a:buChar char="•"/>
            </a:pPr>
            <a:r>
              <a:rPr lang="en-US" altLang="en-US" sz="1800"/>
              <a:t>Like normal pointers, we can have an array of function pointers. Below example shows syntax for array of pointers.</a:t>
            </a:r>
          </a:p>
          <a:p>
            <a:pPr algn="just">
              <a:buFontTx/>
              <a:buChar char="•"/>
            </a:pPr>
            <a:r>
              <a:rPr lang="en-US" altLang="en-US" sz="1800"/>
              <a:t> Function pointer can be used in place of switch case. For example, in below program, user is asked for a choice between 0 and 2 to do different tasks.</a:t>
            </a:r>
          </a:p>
          <a:p>
            <a:pPr algn="just"/>
            <a:r>
              <a:rPr lang="en-US" altLang="en-US" sz="1800">
                <a:latin typeface="Times New Roman" panose="02020603050405020304" pitchFamily="18" charset="0"/>
              </a:rPr>
              <a:t>//function pointers</a:t>
            </a:r>
          </a:p>
          <a:p>
            <a:pPr algn="just"/>
            <a:endParaRPr lang="en-US" altLang="en-US" sz="1800">
              <a:latin typeface="Times New Roman" panose="02020603050405020304" pitchFamily="18" charset="0"/>
            </a:endParaRPr>
          </a:p>
          <a:p>
            <a:pPr algn="just"/>
            <a:r>
              <a:rPr lang="en-US" altLang="en-US" sz="1800">
                <a:latin typeface="Times New Roman" panose="02020603050405020304" pitchFamily="18" charset="0"/>
              </a:rPr>
              <a:t>#include &lt;iostream&gt;</a:t>
            </a:r>
          </a:p>
          <a:p>
            <a:pPr algn="just"/>
            <a:r>
              <a:rPr lang="en-US" altLang="en-US" sz="1800">
                <a:latin typeface="Times New Roman" panose="02020603050405020304" pitchFamily="18" charset="0"/>
              </a:rPr>
              <a:t>using namespace std;</a:t>
            </a:r>
          </a:p>
          <a:p>
            <a:pPr algn="just"/>
            <a:r>
              <a:rPr lang="en-US" altLang="en-US" sz="1800">
                <a:latin typeface="Times New Roman" panose="02020603050405020304" pitchFamily="18" charset="0"/>
              </a:rPr>
              <a:t>void add(int a, int b) </a:t>
            </a:r>
          </a:p>
          <a:p>
            <a:pPr algn="just"/>
            <a:r>
              <a:rPr lang="en-US" altLang="en-US" sz="1800">
                <a:latin typeface="Times New Roman" panose="02020603050405020304" pitchFamily="18" charset="0"/>
              </a:rPr>
              <a:t>{ </a:t>
            </a:r>
          </a:p>
          <a:p>
            <a:pPr algn="just"/>
            <a:r>
              <a:rPr lang="en-US" altLang="en-US" sz="1800">
                <a:latin typeface="Times New Roman" panose="02020603050405020304" pitchFamily="18" charset="0"/>
              </a:rPr>
              <a:t>    cout &lt;&lt; "Addition is "&lt;&lt; a+b&lt;&lt;endl; </a:t>
            </a:r>
          </a:p>
          <a:p>
            <a:pPr algn="just"/>
            <a:r>
              <a:rPr lang="en-US" altLang="en-US" sz="1800">
                <a:latin typeface="Times New Roman" panose="02020603050405020304" pitchFamily="18" charset="0"/>
              </a:rPr>
              <a:t>} </a:t>
            </a:r>
          </a:p>
          <a:p>
            <a:pPr algn="just"/>
            <a:r>
              <a:rPr lang="en-US" altLang="en-US" sz="1800">
                <a:latin typeface="Times New Roman" panose="02020603050405020304" pitchFamily="18" charset="0"/>
              </a:rPr>
              <a:t>void subtract(int a, int b) </a:t>
            </a:r>
          </a:p>
          <a:p>
            <a:pPr algn="just"/>
            <a:r>
              <a:rPr lang="en-US" altLang="en-US" sz="1800">
                <a:latin typeface="Times New Roman" panose="02020603050405020304" pitchFamily="18" charset="0"/>
              </a:rPr>
              <a:t>{ </a:t>
            </a:r>
          </a:p>
          <a:p>
            <a:pPr algn="just"/>
            <a:r>
              <a:rPr lang="en-US" altLang="en-US" sz="1800">
                <a:latin typeface="Times New Roman" panose="02020603050405020304" pitchFamily="18" charset="0"/>
              </a:rPr>
              <a:t>    cout &lt;&lt; "subtraction is "&lt;&lt; a-b &lt;&lt;endl;  </a:t>
            </a:r>
          </a:p>
          <a:p>
            <a:pPr algn="just"/>
            <a:r>
              <a:rPr lang="en-US" altLang="en-US" sz="1800">
                <a:latin typeface="Times New Roman" panose="02020603050405020304" pitchFamily="18" charset="0"/>
              </a:rPr>
              <a:t>} </a:t>
            </a:r>
          </a:p>
        </p:txBody>
      </p:sp>
      <p:sp>
        <p:nvSpPr>
          <p:cNvPr id="3" name="Rectangle 3">
            <a:extLst>
              <a:ext uri="{FF2B5EF4-FFF2-40B4-BE49-F238E27FC236}">
                <a16:creationId xmlns:a16="http://schemas.microsoft.com/office/drawing/2014/main" id="{51BFDA7E-24FC-91B8-B8E0-C3844A5CE7A0}"/>
              </a:ext>
            </a:extLst>
          </p:cNvPr>
          <p:cNvSpPr txBox="1">
            <a:spLocks noChangeArrowheads="1"/>
          </p:cNvSpPr>
          <p:nvPr/>
        </p:nvSpPr>
        <p:spPr bwMode="auto">
          <a:xfrm>
            <a:off x="4572000" y="76200"/>
            <a:ext cx="4114800" cy="6172200"/>
          </a:xfrm>
          <a:prstGeom prst="rect">
            <a:avLst/>
          </a:prstGeom>
          <a:noFill/>
          <a:ln w="9525">
            <a:noFill/>
            <a:miter lim="800000"/>
            <a:headEnd/>
            <a:tailEnd/>
          </a:ln>
        </p:spPr>
        <p:txBody>
          <a:bodyPr/>
          <a:lstStyle/>
          <a:p>
            <a:pPr algn="just">
              <a:defRPr/>
            </a:pPr>
            <a:r>
              <a:rPr lang="en-US" dirty="0">
                <a:latin typeface="Times New Roman" pitchFamily="18" charset="0"/>
              </a:rPr>
              <a:t>void multiply(</a:t>
            </a:r>
            <a:r>
              <a:rPr lang="en-US" dirty="0" err="1">
                <a:latin typeface="Times New Roman" pitchFamily="18" charset="0"/>
              </a:rPr>
              <a:t>int</a:t>
            </a:r>
            <a:r>
              <a:rPr lang="en-US" dirty="0">
                <a:latin typeface="Times New Roman" pitchFamily="18" charset="0"/>
              </a:rPr>
              <a:t> a, </a:t>
            </a:r>
            <a:r>
              <a:rPr lang="en-US" dirty="0" err="1">
                <a:latin typeface="Times New Roman" pitchFamily="18" charset="0"/>
              </a:rPr>
              <a:t>int</a:t>
            </a:r>
            <a:r>
              <a:rPr lang="en-US" dirty="0">
                <a:latin typeface="Times New Roman" pitchFamily="18" charset="0"/>
              </a:rPr>
              <a:t> b) </a:t>
            </a:r>
          </a:p>
          <a:p>
            <a:pPr algn="just">
              <a:defRPr/>
            </a:pPr>
            <a:r>
              <a:rPr lang="en-US" dirty="0">
                <a:latin typeface="Times New Roman" pitchFamily="18" charset="0"/>
              </a:rPr>
              <a:t>{  </a:t>
            </a:r>
          </a:p>
          <a:p>
            <a:pPr algn="just">
              <a:defRPr/>
            </a:pPr>
            <a:r>
              <a:rPr lang="en-US" dirty="0">
                <a:latin typeface="Times New Roman" pitchFamily="18" charset="0"/>
              </a:rPr>
              <a:t>   </a:t>
            </a:r>
            <a:r>
              <a:rPr lang="en-US" dirty="0" err="1">
                <a:latin typeface="Times New Roman" pitchFamily="18" charset="0"/>
              </a:rPr>
              <a:t>cout</a:t>
            </a:r>
            <a:r>
              <a:rPr lang="en-US" dirty="0">
                <a:latin typeface="Times New Roman" pitchFamily="18" charset="0"/>
              </a:rPr>
              <a:t>&lt;&lt;"multiplication is "&lt;&lt; a*b&lt;&lt;</a:t>
            </a:r>
            <a:r>
              <a:rPr lang="en-US" dirty="0" err="1">
                <a:latin typeface="Times New Roman" pitchFamily="18" charset="0"/>
              </a:rPr>
              <a:t>endl</a:t>
            </a:r>
            <a:r>
              <a:rPr lang="en-US" dirty="0">
                <a:latin typeface="Times New Roman" pitchFamily="18" charset="0"/>
              </a:rPr>
              <a:t>; </a:t>
            </a:r>
          </a:p>
          <a:p>
            <a:pPr algn="just">
              <a:defRPr/>
            </a:pPr>
            <a:r>
              <a:rPr lang="en-US" dirty="0">
                <a:latin typeface="Times New Roman" pitchFamily="18" charset="0"/>
              </a:rPr>
              <a:t>} </a:t>
            </a:r>
          </a:p>
          <a:p>
            <a:pPr algn="just">
              <a:defRPr/>
            </a:pPr>
            <a:r>
              <a:rPr lang="en-US" dirty="0">
                <a:latin typeface="Times New Roman" pitchFamily="18" charset="0"/>
              </a:rPr>
              <a:t>  </a:t>
            </a:r>
          </a:p>
          <a:p>
            <a:pPr algn="just">
              <a:defRPr/>
            </a:pPr>
            <a:r>
              <a:rPr lang="en-US" dirty="0" err="1">
                <a:latin typeface="Times New Roman" pitchFamily="18" charset="0"/>
              </a:rPr>
              <a:t>int</a:t>
            </a:r>
            <a:r>
              <a:rPr lang="en-US" dirty="0">
                <a:latin typeface="Times New Roman" pitchFamily="18" charset="0"/>
              </a:rPr>
              <a:t> main() </a:t>
            </a:r>
          </a:p>
          <a:p>
            <a:pPr algn="just">
              <a:defRPr/>
            </a:pPr>
            <a:r>
              <a:rPr lang="en-US" dirty="0">
                <a:latin typeface="Times New Roman" pitchFamily="18" charset="0"/>
              </a:rPr>
              <a:t>{ </a:t>
            </a:r>
          </a:p>
          <a:p>
            <a:pPr algn="just">
              <a:defRPr/>
            </a:pPr>
            <a:r>
              <a:rPr lang="en-US" dirty="0">
                <a:latin typeface="Times New Roman" pitchFamily="18" charset="0"/>
              </a:rPr>
              <a:t>    // </a:t>
            </a:r>
            <a:r>
              <a:rPr lang="en-US" dirty="0" err="1">
                <a:latin typeface="Times New Roman" pitchFamily="18" charset="0"/>
              </a:rPr>
              <a:t>fun_ptr_arr</a:t>
            </a:r>
            <a:r>
              <a:rPr lang="en-US" dirty="0">
                <a:latin typeface="Times New Roman" pitchFamily="18" charset="0"/>
              </a:rPr>
              <a:t> is an array of function pointers </a:t>
            </a:r>
          </a:p>
          <a:p>
            <a:pPr algn="just">
              <a:defRPr/>
            </a:pPr>
            <a:r>
              <a:rPr lang="en-US" dirty="0">
                <a:latin typeface="Times New Roman" pitchFamily="18" charset="0"/>
              </a:rPr>
              <a:t>    void (*</a:t>
            </a:r>
            <a:r>
              <a:rPr lang="en-US" dirty="0" err="1">
                <a:latin typeface="Times New Roman" pitchFamily="18" charset="0"/>
              </a:rPr>
              <a:t>fun_ptr_arr</a:t>
            </a:r>
            <a:r>
              <a:rPr lang="en-US" dirty="0">
                <a:latin typeface="Times New Roman" pitchFamily="18" charset="0"/>
              </a:rPr>
              <a:t>[])(</a:t>
            </a:r>
            <a:r>
              <a:rPr lang="en-US" dirty="0" err="1">
                <a:latin typeface="Times New Roman" pitchFamily="18" charset="0"/>
              </a:rPr>
              <a:t>int</a:t>
            </a:r>
            <a:r>
              <a:rPr lang="en-US" dirty="0">
                <a:latin typeface="Times New Roman" pitchFamily="18" charset="0"/>
              </a:rPr>
              <a:t>, </a:t>
            </a:r>
            <a:r>
              <a:rPr lang="en-US" dirty="0" err="1">
                <a:latin typeface="Times New Roman" pitchFamily="18" charset="0"/>
              </a:rPr>
              <a:t>int</a:t>
            </a:r>
            <a:r>
              <a:rPr lang="en-US" dirty="0">
                <a:latin typeface="Times New Roman" pitchFamily="18" charset="0"/>
              </a:rPr>
              <a:t>) = {add, subtract, multiply}; </a:t>
            </a:r>
          </a:p>
          <a:p>
            <a:pPr algn="just">
              <a:defRPr/>
            </a:pPr>
            <a:r>
              <a:rPr lang="en-US" dirty="0">
                <a:latin typeface="Times New Roman" pitchFamily="18" charset="0"/>
              </a:rPr>
              <a:t>    unsigned </a:t>
            </a:r>
            <a:r>
              <a:rPr lang="en-US" dirty="0" err="1">
                <a:latin typeface="Times New Roman" pitchFamily="18" charset="0"/>
              </a:rPr>
              <a:t>int</a:t>
            </a:r>
            <a:r>
              <a:rPr lang="en-US" dirty="0">
                <a:latin typeface="Times New Roman" pitchFamily="18" charset="0"/>
              </a:rPr>
              <a:t> </a:t>
            </a:r>
            <a:r>
              <a:rPr lang="en-US" dirty="0" err="1">
                <a:latin typeface="Times New Roman" pitchFamily="18" charset="0"/>
              </a:rPr>
              <a:t>ch</a:t>
            </a:r>
            <a:r>
              <a:rPr lang="en-US" dirty="0">
                <a:latin typeface="Times New Roman" pitchFamily="18" charset="0"/>
              </a:rPr>
              <a:t>, a = 15, b = 10; </a:t>
            </a:r>
          </a:p>
          <a:p>
            <a:pPr algn="just">
              <a:defRPr/>
            </a:pPr>
            <a:r>
              <a:rPr lang="en-US" dirty="0">
                <a:latin typeface="Times New Roman" pitchFamily="18" charset="0"/>
              </a:rPr>
              <a:t>  </a:t>
            </a:r>
          </a:p>
          <a:p>
            <a:pPr algn="just">
              <a:defRPr/>
            </a:pPr>
            <a:r>
              <a:rPr lang="en-US" dirty="0">
                <a:latin typeface="Times New Roman" pitchFamily="18" charset="0"/>
              </a:rPr>
              <a:t>    </a:t>
            </a:r>
            <a:r>
              <a:rPr lang="en-US" dirty="0" err="1">
                <a:latin typeface="Times New Roman" pitchFamily="18" charset="0"/>
              </a:rPr>
              <a:t>cout</a:t>
            </a:r>
            <a:r>
              <a:rPr lang="en-US" dirty="0">
                <a:latin typeface="Times New Roman" pitchFamily="18" charset="0"/>
              </a:rPr>
              <a:t>&lt;&lt;"Enter Choice: 0 for add, 1 for subtract and 2 for multiply" &lt;&lt; </a:t>
            </a:r>
            <a:r>
              <a:rPr lang="en-US" dirty="0" err="1">
                <a:latin typeface="Times New Roman" pitchFamily="18" charset="0"/>
              </a:rPr>
              <a:t>endl</a:t>
            </a:r>
            <a:r>
              <a:rPr lang="en-US" dirty="0">
                <a:latin typeface="Times New Roman" pitchFamily="18" charset="0"/>
              </a:rPr>
              <a:t>; </a:t>
            </a:r>
          </a:p>
          <a:p>
            <a:pPr algn="just">
              <a:defRPr/>
            </a:pPr>
            <a:r>
              <a:rPr lang="en-US" dirty="0">
                <a:latin typeface="Times New Roman" pitchFamily="18" charset="0"/>
              </a:rPr>
              <a:t>    </a:t>
            </a:r>
            <a:r>
              <a:rPr lang="en-US" dirty="0" err="1">
                <a:latin typeface="Times New Roman" pitchFamily="18" charset="0"/>
              </a:rPr>
              <a:t>cin</a:t>
            </a:r>
            <a:r>
              <a:rPr lang="en-US" dirty="0">
                <a:latin typeface="Times New Roman" pitchFamily="18" charset="0"/>
              </a:rPr>
              <a:t> &gt;&gt;</a:t>
            </a:r>
            <a:r>
              <a:rPr lang="en-US" dirty="0" err="1">
                <a:latin typeface="Times New Roman" pitchFamily="18" charset="0"/>
              </a:rPr>
              <a:t>ch</a:t>
            </a:r>
            <a:r>
              <a:rPr lang="en-US" dirty="0">
                <a:latin typeface="Times New Roman" pitchFamily="18" charset="0"/>
              </a:rPr>
              <a:t>; </a:t>
            </a:r>
          </a:p>
          <a:p>
            <a:pPr algn="just">
              <a:defRPr/>
            </a:pPr>
            <a:r>
              <a:rPr lang="en-US" dirty="0">
                <a:latin typeface="Times New Roman" pitchFamily="18" charset="0"/>
              </a:rPr>
              <a:t>  </a:t>
            </a:r>
          </a:p>
          <a:p>
            <a:pPr algn="just">
              <a:defRPr/>
            </a:pPr>
            <a:r>
              <a:rPr lang="en-US" dirty="0">
                <a:latin typeface="Times New Roman" pitchFamily="18" charset="0"/>
              </a:rPr>
              <a:t>    if (</a:t>
            </a:r>
            <a:r>
              <a:rPr lang="en-US" dirty="0" err="1">
                <a:latin typeface="Times New Roman" pitchFamily="18" charset="0"/>
              </a:rPr>
              <a:t>ch</a:t>
            </a:r>
            <a:r>
              <a:rPr lang="en-US" dirty="0">
                <a:latin typeface="Times New Roman" pitchFamily="18" charset="0"/>
              </a:rPr>
              <a:t> &gt; 2) return 0; </a:t>
            </a:r>
          </a:p>
          <a:p>
            <a:pPr algn="just">
              <a:defRPr/>
            </a:pPr>
            <a:r>
              <a:rPr lang="en-US" dirty="0">
                <a:latin typeface="Times New Roman" pitchFamily="18" charset="0"/>
              </a:rPr>
              <a:t>  </a:t>
            </a:r>
          </a:p>
          <a:p>
            <a:pPr algn="just">
              <a:defRPr/>
            </a:pPr>
            <a:r>
              <a:rPr lang="en-US" dirty="0">
                <a:latin typeface="Times New Roman" pitchFamily="18" charset="0"/>
              </a:rPr>
              <a:t>    (*</a:t>
            </a:r>
            <a:r>
              <a:rPr lang="en-US" dirty="0" err="1">
                <a:latin typeface="Times New Roman" pitchFamily="18" charset="0"/>
              </a:rPr>
              <a:t>fun_ptr_arr</a:t>
            </a:r>
            <a:r>
              <a:rPr lang="en-US" dirty="0">
                <a:latin typeface="Times New Roman" pitchFamily="18" charset="0"/>
              </a:rPr>
              <a:t>[</a:t>
            </a:r>
            <a:r>
              <a:rPr lang="en-US" dirty="0" err="1">
                <a:latin typeface="Times New Roman" pitchFamily="18" charset="0"/>
              </a:rPr>
              <a:t>ch</a:t>
            </a:r>
            <a:r>
              <a:rPr lang="en-US" dirty="0">
                <a:latin typeface="Times New Roman" pitchFamily="18" charset="0"/>
              </a:rPr>
              <a:t>])(a, b); </a:t>
            </a:r>
          </a:p>
          <a:p>
            <a:pPr algn="just">
              <a:defRPr/>
            </a:pPr>
            <a:r>
              <a:rPr lang="en-US" dirty="0">
                <a:latin typeface="Times New Roman" pitchFamily="18" charset="0"/>
              </a:rPr>
              <a:t>  </a:t>
            </a:r>
          </a:p>
          <a:p>
            <a:pPr algn="just">
              <a:defRPr/>
            </a:pPr>
            <a:r>
              <a:rPr lang="en-US" dirty="0">
                <a:latin typeface="Times New Roman" pitchFamily="18" charset="0"/>
              </a:rPr>
              <a:t>    return 0; </a:t>
            </a:r>
          </a:p>
          <a:p>
            <a:pPr algn="just">
              <a:defRPr/>
            </a:pPr>
            <a:r>
              <a:rPr lang="en-US" dirty="0">
                <a:latin typeface="Times New Roman" pitchFamily="18" charset="0"/>
              </a:rPr>
              <a:t>}</a:t>
            </a:r>
          </a:p>
          <a:p>
            <a:pPr algn="just">
              <a:spcBef>
                <a:spcPct val="20000"/>
              </a:spcBef>
              <a:defRPr/>
            </a:pPr>
            <a:endParaRPr lang="en-US" kern="0" dirty="0">
              <a:latin typeface="Times New Roman" pitchFamily="18"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843</TotalTime>
  <Words>2508</Words>
  <Application>Microsoft Office PowerPoint</Application>
  <PresentationFormat>On-screen Show (4:3)</PresentationFormat>
  <Paragraphs>318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Default Design</vt:lpstr>
      <vt:lpstr>The main function</vt:lpstr>
      <vt:lpstr>Function prototyping</vt:lpstr>
      <vt:lpstr>Function prototyping contd…</vt:lpstr>
      <vt:lpstr>Function prototyping contd…</vt:lpstr>
      <vt:lpstr>Call by Reference</vt:lpstr>
      <vt:lpstr>Call by Reference contd…</vt:lpstr>
      <vt:lpstr>Call by Reference contd…</vt:lpstr>
      <vt:lpstr>Call by Reference contd…</vt:lpstr>
      <vt:lpstr>Return by Reference</vt:lpstr>
      <vt:lpstr>Inline functions</vt:lpstr>
      <vt:lpstr>Inline functions contd…</vt:lpstr>
      <vt:lpstr>Inline functions contd…</vt:lpstr>
      <vt:lpstr>PowerPoint Presentation</vt:lpstr>
      <vt:lpstr>Inline functions contd…</vt:lpstr>
      <vt:lpstr>Default arguments</vt:lpstr>
      <vt:lpstr>Default arguments</vt:lpstr>
      <vt:lpstr>Constant arguments</vt:lpstr>
      <vt:lpstr>Constant arguments</vt:lpstr>
      <vt:lpstr>Pointers to functions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saila</dc:creator>
  <cp:lastModifiedBy>S Bhavani</cp:lastModifiedBy>
  <cp:revision>472</cp:revision>
  <cp:lastPrinted>1601-01-01T00:00:00Z</cp:lastPrinted>
  <dcterms:created xsi:type="dcterms:W3CDTF">1601-01-01T00:00:00Z</dcterms:created>
  <dcterms:modified xsi:type="dcterms:W3CDTF">2026-04-07T06:26:29Z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