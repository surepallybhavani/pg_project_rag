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76" r:id="rId3"/>
    <p:sldId id="277" r:id="rId4"/>
    <p:sldId id="278" r:id="rId5"/>
    <p:sldId id="279" r:id="rId6"/>
    <p:sldId id="280" r:id="rId7"/>
    <p:sldId id="282" r:id="rId8"/>
    <p:sldId id="283" r:id="rId9"/>
    <p:sldId id="284" r:id="rId10"/>
    <p:sldId id="285" r:id="rId11"/>
    <p:sldId id="286" r:id="rId12"/>
    <p:sldId id="287" r:id="rId13"/>
    <p:sldId id="288" r:id="rId14"/>
    <p:sldId id="289" r:id="rId15"/>
    <p:sldId id="290" r:id="rId16"/>
    <p:sldId id="291" r:id="rId17"/>
    <p:sldId id="292" r:id="rId18"/>
    <p:sldId id="293"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069" autoAdjust="0"/>
  </p:normalViewPr>
  <p:slideViewPr>
    <p:cSldViewPr>
      <p:cViewPr varScale="1">
        <p:scale>
          <a:sx n="76" d="100"/>
          <a:sy n="76" d="100"/>
        </p:scale>
        <p:origin x="164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5C4B918-5CA1-60D1-325E-1DDD1779FDE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696078B-EF09-19F0-9586-545D1FB062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8555C38-7AB7-9772-06AC-32C52749881B}"/>
              </a:ext>
            </a:extLst>
          </p:cNvPr>
          <p:cNvSpPr>
            <a:spLocks noGrp="1" noChangeArrowheads="1"/>
          </p:cNvSpPr>
          <p:nvPr>
            <p:ph type="sldNum" sz="quarter" idx="12"/>
          </p:nvPr>
        </p:nvSpPr>
        <p:spPr>
          <a:ln/>
        </p:spPr>
        <p:txBody>
          <a:bodyPr/>
          <a:lstStyle>
            <a:lvl1pPr>
              <a:defRPr/>
            </a:lvl1pPr>
          </a:lstStyle>
          <a:p>
            <a:fld id="{CF237525-9A26-49DF-AB23-B4ECE2E962E6}" type="slidenum">
              <a:rPr lang="en-US" altLang="en-US"/>
              <a:pPr/>
              <a:t>‹#›</a:t>
            </a:fld>
            <a:endParaRPr lang="en-US" altLang="en-US"/>
          </a:p>
        </p:txBody>
      </p:sp>
    </p:spTree>
    <p:extLst>
      <p:ext uri="{BB962C8B-B14F-4D97-AF65-F5344CB8AC3E}">
        <p14:creationId xmlns:p14="http://schemas.microsoft.com/office/powerpoint/2010/main" val="1924951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3F959D4-BF8A-80C5-2298-643DFF11DCE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3A1F1E1-B38B-B694-18D6-FA1EACC51BA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FF49F6D-B598-7C1E-829E-7D3C4F90E95E}"/>
              </a:ext>
            </a:extLst>
          </p:cNvPr>
          <p:cNvSpPr>
            <a:spLocks noGrp="1" noChangeArrowheads="1"/>
          </p:cNvSpPr>
          <p:nvPr>
            <p:ph type="sldNum" sz="quarter" idx="12"/>
          </p:nvPr>
        </p:nvSpPr>
        <p:spPr>
          <a:ln/>
        </p:spPr>
        <p:txBody>
          <a:bodyPr/>
          <a:lstStyle>
            <a:lvl1pPr>
              <a:defRPr/>
            </a:lvl1pPr>
          </a:lstStyle>
          <a:p>
            <a:fld id="{182DA13D-26B2-4DE5-A487-FB957E819FE6}" type="slidenum">
              <a:rPr lang="en-US" altLang="en-US"/>
              <a:pPr/>
              <a:t>‹#›</a:t>
            </a:fld>
            <a:endParaRPr lang="en-US" altLang="en-US"/>
          </a:p>
        </p:txBody>
      </p:sp>
    </p:spTree>
    <p:extLst>
      <p:ext uri="{BB962C8B-B14F-4D97-AF65-F5344CB8AC3E}">
        <p14:creationId xmlns:p14="http://schemas.microsoft.com/office/powerpoint/2010/main" val="2906748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4D2AE5D-E68F-9389-9A36-9B11724A48F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E87CAF5-BEC7-205B-E9E0-C98CF87106C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3B45C06-4824-2FDA-442A-E94A46DF3C94}"/>
              </a:ext>
            </a:extLst>
          </p:cNvPr>
          <p:cNvSpPr>
            <a:spLocks noGrp="1" noChangeArrowheads="1"/>
          </p:cNvSpPr>
          <p:nvPr>
            <p:ph type="sldNum" sz="quarter" idx="12"/>
          </p:nvPr>
        </p:nvSpPr>
        <p:spPr>
          <a:ln/>
        </p:spPr>
        <p:txBody>
          <a:bodyPr/>
          <a:lstStyle>
            <a:lvl1pPr>
              <a:defRPr/>
            </a:lvl1pPr>
          </a:lstStyle>
          <a:p>
            <a:fld id="{9820B1C9-BCB4-4482-BAEC-621344742A42}" type="slidenum">
              <a:rPr lang="en-US" altLang="en-US"/>
              <a:pPr/>
              <a:t>‹#›</a:t>
            </a:fld>
            <a:endParaRPr lang="en-US" altLang="en-US"/>
          </a:p>
        </p:txBody>
      </p:sp>
    </p:spTree>
    <p:extLst>
      <p:ext uri="{BB962C8B-B14F-4D97-AF65-F5344CB8AC3E}">
        <p14:creationId xmlns:p14="http://schemas.microsoft.com/office/powerpoint/2010/main" val="3673680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8B9326A-A865-5AE7-4687-E30600BDCA4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23C621A-A743-2B0C-382E-6E9E12F6FD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BB12490-8083-8A05-81C3-A4F408B2DF26}"/>
              </a:ext>
            </a:extLst>
          </p:cNvPr>
          <p:cNvSpPr>
            <a:spLocks noGrp="1" noChangeArrowheads="1"/>
          </p:cNvSpPr>
          <p:nvPr>
            <p:ph type="sldNum" sz="quarter" idx="12"/>
          </p:nvPr>
        </p:nvSpPr>
        <p:spPr>
          <a:ln/>
        </p:spPr>
        <p:txBody>
          <a:bodyPr/>
          <a:lstStyle>
            <a:lvl1pPr>
              <a:defRPr/>
            </a:lvl1pPr>
          </a:lstStyle>
          <a:p>
            <a:fld id="{4F0BE5E5-D35A-428E-B6EF-4089A43138EB}" type="slidenum">
              <a:rPr lang="en-US" altLang="en-US"/>
              <a:pPr/>
              <a:t>‹#›</a:t>
            </a:fld>
            <a:endParaRPr lang="en-US" altLang="en-US"/>
          </a:p>
        </p:txBody>
      </p:sp>
    </p:spTree>
    <p:extLst>
      <p:ext uri="{BB962C8B-B14F-4D97-AF65-F5344CB8AC3E}">
        <p14:creationId xmlns:p14="http://schemas.microsoft.com/office/powerpoint/2010/main" val="1552425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49C1E9D-2926-DAD7-D2FD-9FC9C3F3E78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535BC5E-040D-622A-25BC-0AD67E0C92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CB4201E6-4E2E-D7D6-BE1F-1590D7FEB629}"/>
              </a:ext>
            </a:extLst>
          </p:cNvPr>
          <p:cNvSpPr>
            <a:spLocks noGrp="1" noChangeArrowheads="1"/>
          </p:cNvSpPr>
          <p:nvPr>
            <p:ph type="sldNum" sz="quarter" idx="12"/>
          </p:nvPr>
        </p:nvSpPr>
        <p:spPr>
          <a:ln/>
        </p:spPr>
        <p:txBody>
          <a:bodyPr/>
          <a:lstStyle>
            <a:lvl1pPr>
              <a:defRPr/>
            </a:lvl1pPr>
          </a:lstStyle>
          <a:p>
            <a:fld id="{8795D79F-A3B9-43A8-AB9A-F0588E87AD40}" type="slidenum">
              <a:rPr lang="en-US" altLang="en-US"/>
              <a:pPr/>
              <a:t>‹#›</a:t>
            </a:fld>
            <a:endParaRPr lang="en-US" altLang="en-US"/>
          </a:p>
        </p:txBody>
      </p:sp>
    </p:spTree>
    <p:extLst>
      <p:ext uri="{BB962C8B-B14F-4D97-AF65-F5344CB8AC3E}">
        <p14:creationId xmlns:p14="http://schemas.microsoft.com/office/powerpoint/2010/main" val="1747568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E881A86-4EC1-350F-E704-8ECACBD194E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44895C4B-A92F-BDA0-77B7-12092C9E14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98EE7E2-3CA4-A0CB-C1CB-ADC916579D7D}"/>
              </a:ext>
            </a:extLst>
          </p:cNvPr>
          <p:cNvSpPr>
            <a:spLocks noGrp="1" noChangeArrowheads="1"/>
          </p:cNvSpPr>
          <p:nvPr>
            <p:ph type="sldNum" sz="quarter" idx="12"/>
          </p:nvPr>
        </p:nvSpPr>
        <p:spPr>
          <a:ln/>
        </p:spPr>
        <p:txBody>
          <a:bodyPr/>
          <a:lstStyle>
            <a:lvl1pPr>
              <a:defRPr/>
            </a:lvl1pPr>
          </a:lstStyle>
          <a:p>
            <a:fld id="{C8D39016-2C88-46D1-8BD2-454332DBA8DE}" type="slidenum">
              <a:rPr lang="en-US" altLang="en-US"/>
              <a:pPr/>
              <a:t>‹#›</a:t>
            </a:fld>
            <a:endParaRPr lang="en-US" altLang="en-US"/>
          </a:p>
        </p:txBody>
      </p:sp>
    </p:spTree>
    <p:extLst>
      <p:ext uri="{BB962C8B-B14F-4D97-AF65-F5344CB8AC3E}">
        <p14:creationId xmlns:p14="http://schemas.microsoft.com/office/powerpoint/2010/main" val="2591263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5F247A7-A75B-3255-3CC1-C583506E145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5045CE07-0CA6-BAC2-042D-ACD22B01441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CE37034-3561-13BC-8918-1DFFC7CCDB74}"/>
              </a:ext>
            </a:extLst>
          </p:cNvPr>
          <p:cNvSpPr>
            <a:spLocks noGrp="1" noChangeArrowheads="1"/>
          </p:cNvSpPr>
          <p:nvPr>
            <p:ph type="sldNum" sz="quarter" idx="12"/>
          </p:nvPr>
        </p:nvSpPr>
        <p:spPr>
          <a:ln/>
        </p:spPr>
        <p:txBody>
          <a:bodyPr/>
          <a:lstStyle>
            <a:lvl1pPr>
              <a:defRPr/>
            </a:lvl1pPr>
          </a:lstStyle>
          <a:p>
            <a:fld id="{4E2E4AE8-F064-4B30-851B-B3F450B9126E}" type="slidenum">
              <a:rPr lang="en-US" altLang="en-US"/>
              <a:pPr/>
              <a:t>‹#›</a:t>
            </a:fld>
            <a:endParaRPr lang="en-US" altLang="en-US"/>
          </a:p>
        </p:txBody>
      </p:sp>
    </p:spTree>
    <p:extLst>
      <p:ext uri="{BB962C8B-B14F-4D97-AF65-F5344CB8AC3E}">
        <p14:creationId xmlns:p14="http://schemas.microsoft.com/office/powerpoint/2010/main" val="362268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037097F-C878-0796-D094-58D766E026F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4425413-281A-38B4-0127-F998109C43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7B45DED-5C47-A725-2B86-5FD88EB46ACD}"/>
              </a:ext>
            </a:extLst>
          </p:cNvPr>
          <p:cNvSpPr>
            <a:spLocks noGrp="1" noChangeArrowheads="1"/>
          </p:cNvSpPr>
          <p:nvPr>
            <p:ph type="sldNum" sz="quarter" idx="12"/>
          </p:nvPr>
        </p:nvSpPr>
        <p:spPr>
          <a:ln/>
        </p:spPr>
        <p:txBody>
          <a:bodyPr/>
          <a:lstStyle>
            <a:lvl1pPr>
              <a:defRPr/>
            </a:lvl1pPr>
          </a:lstStyle>
          <a:p>
            <a:fld id="{FAB958A5-3545-4E16-85B7-772FD098FD15}" type="slidenum">
              <a:rPr lang="en-US" altLang="en-US"/>
              <a:pPr/>
              <a:t>‹#›</a:t>
            </a:fld>
            <a:endParaRPr lang="en-US" altLang="en-US"/>
          </a:p>
        </p:txBody>
      </p:sp>
    </p:spTree>
    <p:extLst>
      <p:ext uri="{BB962C8B-B14F-4D97-AF65-F5344CB8AC3E}">
        <p14:creationId xmlns:p14="http://schemas.microsoft.com/office/powerpoint/2010/main" val="2193535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192CCE4-9CAE-E9C8-17C7-2A4E2083D6C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7111853-18E7-8742-720F-51F0AAB408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E9387DC-6D52-4EB7-78B5-87C51536F40B}"/>
              </a:ext>
            </a:extLst>
          </p:cNvPr>
          <p:cNvSpPr>
            <a:spLocks noGrp="1" noChangeArrowheads="1"/>
          </p:cNvSpPr>
          <p:nvPr>
            <p:ph type="sldNum" sz="quarter" idx="12"/>
          </p:nvPr>
        </p:nvSpPr>
        <p:spPr>
          <a:ln/>
        </p:spPr>
        <p:txBody>
          <a:bodyPr/>
          <a:lstStyle>
            <a:lvl1pPr>
              <a:defRPr/>
            </a:lvl1pPr>
          </a:lstStyle>
          <a:p>
            <a:fld id="{9CB7CEAD-C80B-462F-8BD4-CE957D33DF22}" type="slidenum">
              <a:rPr lang="en-US" altLang="en-US"/>
              <a:pPr/>
              <a:t>‹#›</a:t>
            </a:fld>
            <a:endParaRPr lang="en-US" altLang="en-US"/>
          </a:p>
        </p:txBody>
      </p:sp>
    </p:spTree>
    <p:extLst>
      <p:ext uri="{BB962C8B-B14F-4D97-AF65-F5344CB8AC3E}">
        <p14:creationId xmlns:p14="http://schemas.microsoft.com/office/powerpoint/2010/main" val="3165744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8DF6754-7C4A-4523-C1CD-D03FDB33511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4E6D5A1-4E5F-E3B8-190E-519B9E1E6B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73A34C4-39A9-FF91-1EB1-D2EB0A2F1C10}"/>
              </a:ext>
            </a:extLst>
          </p:cNvPr>
          <p:cNvSpPr>
            <a:spLocks noGrp="1" noChangeArrowheads="1"/>
          </p:cNvSpPr>
          <p:nvPr>
            <p:ph type="sldNum" sz="quarter" idx="12"/>
          </p:nvPr>
        </p:nvSpPr>
        <p:spPr>
          <a:ln/>
        </p:spPr>
        <p:txBody>
          <a:bodyPr/>
          <a:lstStyle>
            <a:lvl1pPr>
              <a:defRPr/>
            </a:lvl1pPr>
          </a:lstStyle>
          <a:p>
            <a:fld id="{49C9DC53-8276-4589-9365-9D73F186C60D}" type="slidenum">
              <a:rPr lang="en-US" altLang="en-US"/>
              <a:pPr/>
              <a:t>‹#›</a:t>
            </a:fld>
            <a:endParaRPr lang="en-US" altLang="en-US"/>
          </a:p>
        </p:txBody>
      </p:sp>
    </p:spTree>
    <p:extLst>
      <p:ext uri="{BB962C8B-B14F-4D97-AF65-F5344CB8AC3E}">
        <p14:creationId xmlns:p14="http://schemas.microsoft.com/office/powerpoint/2010/main" val="302287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0FE5D30-03BA-4973-24E9-73BC61885C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7597436-563F-9A6E-1773-AAF47B9560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D80CD83-4E90-1F0C-960F-BCDA0A18D993}"/>
              </a:ext>
            </a:extLst>
          </p:cNvPr>
          <p:cNvSpPr>
            <a:spLocks noGrp="1" noChangeArrowheads="1"/>
          </p:cNvSpPr>
          <p:nvPr>
            <p:ph type="sldNum" sz="quarter" idx="12"/>
          </p:nvPr>
        </p:nvSpPr>
        <p:spPr>
          <a:ln/>
        </p:spPr>
        <p:txBody>
          <a:bodyPr/>
          <a:lstStyle>
            <a:lvl1pPr>
              <a:defRPr/>
            </a:lvl1pPr>
          </a:lstStyle>
          <a:p>
            <a:fld id="{127348DF-B033-4462-A73A-7395E17EC446}" type="slidenum">
              <a:rPr lang="en-US" altLang="en-US"/>
              <a:pPr/>
              <a:t>‹#›</a:t>
            </a:fld>
            <a:endParaRPr lang="en-US" altLang="en-US"/>
          </a:p>
        </p:txBody>
      </p:sp>
    </p:spTree>
    <p:extLst>
      <p:ext uri="{BB962C8B-B14F-4D97-AF65-F5344CB8AC3E}">
        <p14:creationId xmlns:p14="http://schemas.microsoft.com/office/powerpoint/2010/main" val="412508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6C95B61-D734-CA91-5BC7-5B512B00A1E1}"/>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3E9018A5-286B-C382-9AF0-602873978B4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BE0D15C-97D4-2D68-D896-9310610E0A12}"/>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smtClean="0">
                <a:latin typeface="Arial" charset="0"/>
              </a:defRPr>
            </a:lvl1pPr>
          </a:lstStyle>
          <a:p>
            <a:pPr>
              <a:defRPr/>
            </a:pPr>
            <a:endParaRPr lang="en-US"/>
          </a:p>
        </p:txBody>
      </p:sp>
      <p:sp>
        <p:nvSpPr>
          <p:cNvPr id="1029" name="Rectangle 5">
            <a:extLst>
              <a:ext uri="{FF2B5EF4-FFF2-40B4-BE49-F238E27FC236}">
                <a16:creationId xmlns:a16="http://schemas.microsoft.com/office/drawing/2014/main" id="{12D6543C-5FAA-4AE5-EC78-58B572550D23}"/>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smtClean="0">
                <a:latin typeface="Arial" charset="0"/>
              </a:defRPr>
            </a:lvl1pPr>
          </a:lstStyle>
          <a:p>
            <a:pPr>
              <a:defRPr/>
            </a:pPr>
            <a:endParaRPr lang="en-US"/>
          </a:p>
        </p:txBody>
      </p:sp>
      <p:sp>
        <p:nvSpPr>
          <p:cNvPr id="1030" name="Rectangle 6">
            <a:extLst>
              <a:ext uri="{FF2B5EF4-FFF2-40B4-BE49-F238E27FC236}">
                <a16:creationId xmlns:a16="http://schemas.microsoft.com/office/drawing/2014/main" id="{154BEF38-9AE3-0182-52B1-3BBB1212EA6D}"/>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EF88FD8A-5E1F-471C-B7B9-5840D22E8D3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a:extLst>
              <a:ext uri="{FF2B5EF4-FFF2-40B4-BE49-F238E27FC236}">
                <a16:creationId xmlns:a16="http://schemas.microsoft.com/office/drawing/2014/main" id="{97D21FCE-7F7B-5987-C22E-4B154D6A58F2}"/>
              </a:ext>
            </a:extLst>
          </p:cNvPr>
          <p:cNvSpPr>
            <a:spLocks noGrp="1" noChangeArrowheads="1"/>
          </p:cNvSpPr>
          <p:nvPr>
            <p:ph type="ctrTitle"/>
          </p:nvPr>
        </p:nvSpPr>
        <p:spPr/>
        <p:txBody>
          <a:bodyPr/>
          <a:lstStyle/>
          <a:p>
            <a:pPr eaLnBrk="1" hangingPunct="1"/>
            <a:r>
              <a:rPr lang="en-US" altLang="en-US"/>
              <a:t>Function overloading and</a:t>
            </a:r>
            <a:br>
              <a:rPr lang="en-US" altLang="en-US"/>
            </a:br>
            <a:r>
              <a:rPr lang="en-US" altLang="en-US"/>
              <a:t>operator overloading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8D9539F-BCEF-73F1-B0BD-6821A694EBE7}"/>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Function overloading</a:t>
            </a:r>
          </a:p>
        </p:txBody>
      </p:sp>
      <p:sp>
        <p:nvSpPr>
          <p:cNvPr id="3075" name="Rectangle 3">
            <a:extLst>
              <a:ext uri="{FF2B5EF4-FFF2-40B4-BE49-F238E27FC236}">
                <a16:creationId xmlns:a16="http://schemas.microsoft.com/office/drawing/2014/main" id="{171B7132-9D8E-BE22-47A1-1EE33E3D68AC}"/>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a:latin typeface="Times New Roman" panose="02020603050405020304" pitchFamily="18" charset="0"/>
              </a:rPr>
              <a:t> We can use the same function name to create functions that perform a variety of different tasks</a:t>
            </a:r>
          </a:p>
          <a:p>
            <a:pPr algn="just" eaLnBrk="1" hangingPunct="1">
              <a:buFontTx/>
              <a:buChar char="•"/>
            </a:pPr>
            <a:r>
              <a:rPr lang="en-US" altLang="en-US">
                <a:latin typeface="Times New Roman" panose="02020603050405020304" pitchFamily="18" charset="0"/>
              </a:rPr>
              <a:t> Using this we can design a family of functions with one function name but with different argument lists. The function performs different task depends on argument list</a:t>
            </a:r>
          </a:p>
          <a:p>
            <a:pPr algn="just" eaLnBrk="1" hangingPunct="1">
              <a:buFontTx/>
              <a:buChar char="•"/>
            </a:pPr>
            <a:r>
              <a:rPr lang="en-US" altLang="en-US">
                <a:latin typeface="Times New Roman" panose="02020603050405020304" pitchFamily="18" charset="0"/>
              </a:rPr>
              <a:t> The correct function can be invoked by checking the number and type of the arguments but not on the function type</a:t>
            </a:r>
          </a:p>
          <a:p>
            <a:pPr algn="just" eaLnBrk="1" hangingPunct="1"/>
            <a:endParaRPr lang="en-US" altLang="en-US" sz="280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095A159-9D57-5892-46DA-91EFF4388B46}"/>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Function overloading</a:t>
            </a:r>
          </a:p>
        </p:txBody>
      </p:sp>
      <p:sp>
        <p:nvSpPr>
          <p:cNvPr id="4099" name="Rectangle 3">
            <a:extLst>
              <a:ext uri="{FF2B5EF4-FFF2-40B4-BE49-F238E27FC236}">
                <a16:creationId xmlns:a16="http://schemas.microsoft.com/office/drawing/2014/main" id="{F3207E67-3E43-0B73-E64E-E2450F8A82CD}"/>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a:latin typeface="Times New Roman" panose="02020603050405020304" pitchFamily="18" charset="0"/>
              </a:rPr>
              <a:t>Eg:</a:t>
            </a:r>
            <a:r>
              <a:rPr lang="en-US" altLang="en-US">
                <a:solidFill>
                  <a:srgbClr val="0066CC"/>
                </a:solidFill>
                <a:latin typeface="Times New Roman" panose="02020603050405020304" pitchFamily="18" charset="0"/>
              </a:rPr>
              <a:t>	Declarations</a:t>
            </a:r>
          </a:p>
          <a:p>
            <a:pPr algn="just" eaLnBrk="1" hangingPunct="1">
              <a:lnSpc>
                <a:spcPct val="90000"/>
              </a:lnSpc>
            </a:pPr>
            <a:r>
              <a:rPr lang="en-US" altLang="en-US" sz="2800">
                <a:latin typeface="Times New Roman" panose="02020603050405020304" pitchFamily="18" charset="0"/>
              </a:rPr>
              <a:t>	int add(int x);				//prototype 1</a:t>
            </a:r>
          </a:p>
          <a:p>
            <a:pPr lvl="1" algn="just" eaLnBrk="1" hangingPunct="1">
              <a:lnSpc>
                <a:spcPct val="90000"/>
              </a:lnSpc>
            </a:pPr>
            <a:r>
              <a:rPr lang="en-US" altLang="en-US">
                <a:latin typeface="Times New Roman" panose="02020603050405020304" pitchFamily="18" charset="0"/>
              </a:rPr>
              <a:t>	int add(int x, int y);			//prototype 2</a:t>
            </a:r>
            <a:endParaRPr lang="en-US" altLang="en-US" sz="3200">
              <a:latin typeface="Times New Roman" panose="02020603050405020304" pitchFamily="18" charset="0"/>
            </a:endParaRPr>
          </a:p>
          <a:p>
            <a:pPr algn="just" eaLnBrk="1" hangingPunct="1">
              <a:lnSpc>
                <a:spcPct val="90000"/>
              </a:lnSpc>
            </a:pPr>
            <a:r>
              <a:rPr lang="en-US" altLang="en-US" sz="2800">
                <a:latin typeface="Times New Roman" panose="02020603050405020304" pitchFamily="18" charset="0"/>
              </a:rPr>
              <a:t>	int add(int x, int y, int z);			//prototype 3</a:t>
            </a:r>
          </a:p>
          <a:p>
            <a:pPr algn="just" eaLnBrk="1" hangingPunct="1">
              <a:lnSpc>
                <a:spcPct val="90000"/>
              </a:lnSpc>
            </a:pPr>
            <a:r>
              <a:rPr lang="en-US" altLang="en-US" sz="2800">
                <a:latin typeface="Times New Roman" panose="02020603050405020304" pitchFamily="18" charset="0"/>
              </a:rPr>
              <a:t>	double add(double x, double y);		//prototype 4</a:t>
            </a:r>
          </a:p>
          <a:p>
            <a:pPr algn="just" eaLnBrk="1" hangingPunct="1">
              <a:lnSpc>
                <a:spcPct val="90000"/>
              </a:lnSpc>
            </a:pPr>
            <a:r>
              <a:rPr lang="en-US" altLang="en-US" sz="2800">
                <a:latin typeface="Times New Roman" panose="02020603050405020304" pitchFamily="18" charset="0"/>
              </a:rPr>
              <a:t>	double add(double x, int y);		//prototype 5</a:t>
            </a:r>
          </a:p>
          <a:p>
            <a:pPr algn="just" eaLnBrk="1" hangingPunct="1">
              <a:lnSpc>
                <a:spcPct val="90000"/>
              </a:lnSpc>
            </a:pPr>
            <a:r>
              <a:rPr lang="en-US" altLang="en-US" sz="2800">
                <a:latin typeface="Times New Roman" panose="02020603050405020304" pitchFamily="18" charset="0"/>
              </a:rPr>
              <a:t>	double add(int x, double y);		//prototype 6</a:t>
            </a:r>
          </a:p>
          <a:p>
            <a:pPr algn="just" eaLnBrk="1" hangingPunct="1">
              <a:lnSpc>
                <a:spcPct val="90000"/>
              </a:lnSpc>
            </a:pPr>
            <a:r>
              <a:rPr lang="en-US" altLang="en-US" sz="2800">
                <a:latin typeface="Times New Roman" panose="02020603050405020304" pitchFamily="18" charset="0"/>
              </a:rPr>
              <a:t>	</a:t>
            </a:r>
            <a:r>
              <a:rPr lang="en-US" altLang="en-US">
                <a:solidFill>
                  <a:srgbClr val="0066CC"/>
                </a:solidFill>
                <a:latin typeface="Times New Roman" panose="02020603050405020304" pitchFamily="18" charset="0"/>
              </a:rPr>
              <a:t>function calls</a:t>
            </a:r>
          </a:p>
          <a:p>
            <a:pPr algn="just" eaLnBrk="1" hangingPunct="1">
              <a:lnSpc>
                <a:spcPct val="90000"/>
              </a:lnSpc>
            </a:pPr>
            <a:r>
              <a:rPr lang="en-US" altLang="en-US" sz="2800">
                <a:solidFill>
                  <a:srgbClr val="0066CC"/>
                </a:solidFill>
                <a:latin typeface="Times New Roman" panose="02020603050405020304" pitchFamily="18" charset="0"/>
              </a:rPr>
              <a:t>	</a:t>
            </a:r>
            <a:r>
              <a:rPr lang="en-US" altLang="en-US" sz="2800">
                <a:latin typeface="Times New Roman" panose="02020603050405020304" pitchFamily="18" charset="0"/>
              </a:rPr>
              <a:t>add(2,4);			//uses prototype 2</a:t>
            </a:r>
          </a:p>
          <a:p>
            <a:pPr algn="just" eaLnBrk="1" hangingPunct="1">
              <a:lnSpc>
                <a:spcPct val="90000"/>
              </a:lnSpc>
            </a:pPr>
            <a:r>
              <a:rPr lang="en-US" altLang="en-US" sz="2800">
                <a:latin typeface="Times New Roman" panose="02020603050405020304" pitchFamily="18" charset="0"/>
              </a:rPr>
              <a:t>	add(2,4,3);			//uses prototype 3</a:t>
            </a:r>
          </a:p>
          <a:p>
            <a:pPr algn="just" eaLnBrk="1" hangingPunct="1">
              <a:lnSpc>
                <a:spcPct val="90000"/>
              </a:lnSpc>
            </a:pPr>
            <a:r>
              <a:rPr lang="en-US" altLang="en-US" sz="2800">
                <a:latin typeface="Times New Roman" panose="02020603050405020304" pitchFamily="18" charset="0"/>
              </a:rPr>
              <a:t>	add(2,4.3);			//uses prototype 6</a:t>
            </a:r>
          </a:p>
          <a:p>
            <a:pPr algn="just" eaLnBrk="1" hangingPunct="1">
              <a:lnSpc>
                <a:spcPct val="90000"/>
              </a:lnSpc>
            </a:pPr>
            <a:r>
              <a:rPr lang="en-US" altLang="en-US" sz="2800">
                <a:latin typeface="Times New Roman" panose="02020603050405020304" pitchFamily="18" charset="0"/>
              </a:rPr>
              <a:t>	add(2.1,4.9);			//uses prototype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4054A09-01B0-3A7B-7DE1-12EECE58DB9D}"/>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Function overloading</a:t>
            </a:r>
          </a:p>
        </p:txBody>
      </p:sp>
      <p:sp>
        <p:nvSpPr>
          <p:cNvPr id="5123" name="Rectangle 3">
            <a:extLst>
              <a:ext uri="{FF2B5EF4-FFF2-40B4-BE49-F238E27FC236}">
                <a16:creationId xmlns:a16="http://schemas.microsoft.com/office/drawing/2014/main" id="{14130A04-9FDF-70D0-40FD-86DEFDCFB565}"/>
              </a:ext>
            </a:extLst>
          </p:cNvPr>
          <p:cNvSpPr>
            <a:spLocks noGrp="1" noChangeArrowheads="1"/>
          </p:cNvSpPr>
          <p:nvPr>
            <p:ph type="subTitle" idx="1"/>
          </p:nvPr>
        </p:nvSpPr>
        <p:spPr>
          <a:xfrm>
            <a:off x="228600" y="609600"/>
            <a:ext cx="8686800" cy="6019800"/>
          </a:xfrm>
        </p:spPr>
        <p:txBody>
          <a:bodyPr/>
          <a:lstStyle/>
          <a:p>
            <a:pPr marL="609600" indent="-609600" algn="just" eaLnBrk="1" hangingPunct="1">
              <a:lnSpc>
                <a:spcPct val="80000"/>
              </a:lnSpc>
              <a:buFontTx/>
              <a:buChar char="•"/>
            </a:pPr>
            <a:r>
              <a:rPr lang="en-US" altLang="en-US" sz="2800">
                <a:latin typeface="Times New Roman" panose="02020603050405020304" pitchFamily="18" charset="0"/>
              </a:rPr>
              <a:t>A function call first matches the prototype having the same number and type of arguments and then calls the appropriate function for execution</a:t>
            </a:r>
          </a:p>
          <a:p>
            <a:pPr marL="609600" indent="-609600" algn="just" eaLnBrk="1" hangingPunct="1">
              <a:lnSpc>
                <a:spcPct val="80000"/>
              </a:lnSpc>
              <a:buFontTx/>
              <a:buChar char="•"/>
            </a:pPr>
            <a:r>
              <a:rPr lang="en-US" altLang="en-US" sz="2800">
                <a:latin typeface="Times New Roman" panose="02020603050405020304" pitchFamily="18" charset="0"/>
              </a:rPr>
              <a:t>A best match must be unique</a:t>
            </a:r>
          </a:p>
          <a:p>
            <a:pPr marL="609600" indent="-609600" algn="just" eaLnBrk="1" hangingPunct="1">
              <a:lnSpc>
                <a:spcPct val="80000"/>
              </a:lnSpc>
              <a:buFontTx/>
              <a:buChar char="•"/>
            </a:pPr>
            <a:r>
              <a:rPr lang="en-US" altLang="en-US" sz="2800">
                <a:latin typeface="Times New Roman" panose="02020603050405020304" pitchFamily="18" charset="0"/>
              </a:rPr>
              <a:t>The function selection involves the following steps</a:t>
            </a:r>
          </a:p>
          <a:p>
            <a:pPr marL="990600" lvl="1" indent="-533400" algn="just" eaLnBrk="1" hangingPunct="1">
              <a:lnSpc>
                <a:spcPct val="80000"/>
              </a:lnSpc>
              <a:buFontTx/>
              <a:buAutoNum type="arabicPeriod"/>
            </a:pPr>
            <a:r>
              <a:rPr lang="en-US" altLang="en-US" sz="2000">
                <a:latin typeface="Times New Roman" panose="02020603050405020304" pitchFamily="18" charset="0"/>
              </a:rPr>
              <a:t>The compiler first tries to find an exact match in which the types of actual arguments are the same and use the function</a:t>
            </a:r>
          </a:p>
          <a:p>
            <a:pPr marL="990600" lvl="1" indent="-533400" algn="just" eaLnBrk="1" hangingPunct="1">
              <a:lnSpc>
                <a:spcPct val="80000"/>
              </a:lnSpc>
              <a:buFontTx/>
              <a:buAutoNum type="arabicPeriod"/>
            </a:pPr>
            <a:r>
              <a:rPr lang="en-US" altLang="en-US" sz="2000">
                <a:latin typeface="Times New Roman" panose="02020603050405020304" pitchFamily="18" charset="0"/>
              </a:rPr>
              <a:t>If exact match not found, the compiler uses the </a:t>
            </a:r>
            <a:r>
              <a:rPr lang="en-US" altLang="en-US" sz="2000">
                <a:solidFill>
                  <a:schemeClr val="accent2"/>
                </a:solidFill>
                <a:latin typeface="Times New Roman" panose="02020603050405020304" pitchFamily="18" charset="0"/>
              </a:rPr>
              <a:t>integral promotions</a:t>
            </a:r>
            <a:r>
              <a:rPr lang="en-US" altLang="en-US" sz="2000">
                <a:latin typeface="Times New Roman" panose="02020603050405020304" pitchFamily="18" charset="0"/>
              </a:rPr>
              <a:t> to the actual arguments such as </a:t>
            </a:r>
            <a:r>
              <a:rPr lang="en-US" altLang="en-US" sz="2000">
                <a:solidFill>
                  <a:schemeClr val="accent2"/>
                </a:solidFill>
                <a:latin typeface="Times New Roman" panose="02020603050405020304" pitchFamily="18" charset="0"/>
              </a:rPr>
              <a:t>char to int, float to double </a:t>
            </a:r>
            <a:r>
              <a:rPr lang="en-US" altLang="en-US" sz="2000">
                <a:latin typeface="Times New Roman" panose="02020603050405020304" pitchFamily="18" charset="0"/>
              </a:rPr>
              <a:t>to find a match</a:t>
            </a:r>
            <a:endParaRPr lang="en-US" altLang="en-US" sz="2000">
              <a:solidFill>
                <a:schemeClr val="accent2"/>
              </a:solidFill>
              <a:latin typeface="Times New Roman" panose="02020603050405020304" pitchFamily="18" charset="0"/>
            </a:endParaRPr>
          </a:p>
          <a:p>
            <a:pPr marL="990600" lvl="1" indent="-533400" algn="just" eaLnBrk="1" hangingPunct="1">
              <a:lnSpc>
                <a:spcPct val="80000"/>
              </a:lnSpc>
              <a:buFontTx/>
              <a:buAutoNum type="arabicPeriod"/>
            </a:pPr>
            <a:r>
              <a:rPr lang="en-US" altLang="en-US" sz="2000">
                <a:latin typeface="Times New Roman" panose="02020603050405020304" pitchFamily="18" charset="0"/>
              </a:rPr>
              <a:t>If 1 and 2 fails Compiler uses built in conversions or implicit assignment conversions and then uses the function whose match is unique. If multiple matches occur then the compiler will generate an error message</a:t>
            </a:r>
          </a:p>
          <a:p>
            <a:pPr marL="1371600" lvl="2" indent="-457200" algn="just" eaLnBrk="1" hangingPunct="1">
              <a:lnSpc>
                <a:spcPct val="80000"/>
              </a:lnSpc>
            </a:pPr>
            <a:r>
              <a:rPr lang="en-US" altLang="en-US" sz="1800">
                <a:latin typeface="Times New Roman" panose="02020603050405020304" pitchFamily="18" charset="0"/>
              </a:rPr>
              <a:t>Eg:	long square(long n)</a:t>
            </a:r>
          </a:p>
          <a:p>
            <a:pPr marL="1371600" lvl="2" indent="-457200" algn="just" eaLnBrk="1" hangingPunct="1">
              <a:lnSpc>
                <a:spcPct val="80000"/>
              </a:lnSpc>
            </a:pPr>
            <a:r>
              <a:rPr lang="en-US" altLang="en-US" sz="1800">
                <a:latin typeface="Times New Roman" panose="02020603050405020304" pitchFamily="18" charset="0"/>
              </a:rPr>
              <a:t>	double square(double x)</a:t>
            </a:r>
          </a:p>
          <a:p>
            <a:pPr marL="1371600" lvl="2" indent="-457200" algn="just" eaLnBrk="1" hangingPunct="1">
              <a:lnSpc>
                <a:spcPct val="80000"/>
              </a:lnSpc>
            </a:pPr>
            <a:r>
              <a:rPr lang="en-US" altLang="en-US" sz="1800">
                <a:latin typeface="Times New Roman" panose="02020603050405020304" pitchFamily="18" charset="0"/>
              </a:rPr>
              <a:t>	function call:	square(5) //cause error because int can be converted to long or</a:t>
            </a:r>
          </a:p>
          <a:p>
            <a:pPr marL="1371600" lvl="2" indent="-457200" algn="just" eaLnBrk="1" hangingPunct="1">
              <a:lnSpc>
                <a:spcPct val="80000"/>
              </a:lnSpc>
            </a:pPr>
            <a:r>
              <a:rPr lang="en-US" altLang="en-US" sz="1800">
                <a:latin typeface="Times New Roman" panose="02020603050405020304" pitchFamily="18" charset="0"/>
              </a:rPr>
              <a:t>								 double</a:t>
            </a:r>
          </a:p>
          <a:p>
            <a:pPr marL="990600" lvl="1" indent="-533400" algn="just" eaLnBrk="1" hangingPunct="1">
              <a:lnSpc>
                <a:spcPct val="80000"/>
              </a:lnSpc>
              <a:buFontTx/>
              <a:buAutoNum type="arabicPeriod"/>
            </a:pPr>
            <a:r>
              <a:rPr lang="en-US" altLang="en-US" sz="2000">
                <a:latin typeface="Times New Roman" panose="02020603050405020304" pitchFamily="18" charset="0"/>
              </a:rPr>
              <a:t>If all of the steps fail, then the compiler will try the user-defined conversions in combination with integral promotions and built-in conversions to find a unique match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841BD667-DF60-A38A-9A6E-80749484755B}"/>
              </a:ext>
            </a:extLst>
          </p:cNvPr>
          <p:cNvSpPr>
            <a:spLocks noGrp="1" noChangeArrowheads="1"/>
          </p:cNvSpPr>
          <p:nvPr>
            <p:ph type="subTitle" idx="1"/>
          </p:nvPr>
        </p:nvSpPr>
        <p:spPr>
          <a:xfrm>
            <a:off x="228600" y="152400"/>
            <a:ext cx="8686800" cy="6477000"/>
          </a:xfrm>
        </p:spPr>
        <p:txBody>
          <a:bodyPr/>
          <a:lstStyle/>
          <a:p>
            <a:pPr marL="609600" indent="-609600" algn="l" eaLnBrk="1" hangingPunct="1">
              <a:lnSpc>
                <a:spcPct val="80000"/>
              </a:lnSpc>
            </a:pPr>
            <a:r>
              <a:rPr lang="en-US" altLang="en-US" sz="1800"/>
              <a:t>#include &lt;iostream&gt;</a:t>
            </a:r>
          </a:p>
          <a:p>
            <a:pPr marL="609600" indent="-609600" algn="l" eaLnBrk="1" hangingPunct="1">
              <a:lnSpc>
                <a:spcPct val="80000"/>
              </a:lnSpc>
            </a:pPr>
            <a:r>
              <a:rPr lang="en-US" altLang="en-US" sz="1800"/>
              <a:t>using namespace std;</a:t>
            </a:r>
          </a:p>
          <a:p>
            <a:pPr marL="609600" indent="-609600" algn="l" eaLnBrk="1" hangingPunct="1">
              <a:lnSpc>
                <a:spcPct val="80000"/>
              </a:lnSpc>
            </a:pPr>
            <a:endParaRPr lang="en-US" altLang="en-US" sz="1800"/>
          </a:p>
          <a:p>
            <a:pPr marL="609600" indent="-609600" algn="l" eaLnBrk="1" hangingPunct="1">
              <a:lnSpc>
                <a:spcPct val="80000"/>
              </a:lnSpc>
            </a:pPr>
            <a:r>
              <a:rPr lang="en-US" altLang="en-US" sz="1800"/>
              <a:t>int add(int x, int y)</a:t>
            </a:r>
          </a:p>
          <a:p>
            <a:pPr marL="609600" indent="-609600" algn="l" eaLnBrk="1" hangingPunct="1">
              <a:lnSpc>
                <a:spcPct val="80000"/>
              </a:lnSpc>
            </a:pPr>
            <a:r>
              <a:rPr lang="en-US" altLang="en-US" sz="1800"/>
              <a:t>{</a:t>
            </a:r>
          </a:p>
          <a:p>
            <a:pPr marL="609600" indent="-609600" algn="l" eaLnBrk="1" hangingPunct="1">
              <a:lnSpc>
                <a:spcPct val="80000"/>
              </a:lnSpc>
            </a:pPr>
            <a:r>
              <a:rPr lang="en-US" altLang="en-US" sz="1800"/>
              <a:t>	return (x+y);</a:t>
            </a:r>
          </a:p>
          <a:p>
            <a:pPr marL="609600" indent="-609600" algn="l" eaLnBrk="1" hangingPunct="1">
              <a:lnSpc>
                <a:spcPct val="80000"/>
              </a:lnSpc>
            </a:pPr>
            <a:r>
              <a:rPr lang="en-US" altLang="en-US" sz="1800"/>
              <a:t>}</a:t>
            </a:r>
          </a:p>
          <a:p>
            <a:pPr marL="609600" indent="-609600" algn="l" eaLnBrk="1" hangingPunct="1">
              <a:lnSpc>
                <a:spcPct val="80000"/>
              </a:lnSpc>
            </a:pPr>
            <a:r>
              <a:rPr lang="en-US" altLang="en-US" sz="1800"/>
              <a:t>int add(int x, int y, int z)</a:t>
            </a:r>
          </a:p>
          <a:p>
            <a:pPr marL="609600" indent="-609600" algn="l" eaLnBrk="1" hangingPunct="1">
              <a:lnSpc>
                <a:spcPct val="80000"/>
              </a:lnSpc>
            </a:pPr>
            <a:r>
              <a:rPr lang="en-US" altLang="en-US" sz="1800"/>
              <a:t>{</a:t>
            </a:r>
          </a:p>
          <a:p>
            <a:pPr marL="609600" indent="-609600" algn="l" eaLnBrk="1" hangingPunct="1">
              <a:lnSpc>
                <a:spcPct val="80000"/>
              </a:lnSpc>
            </a:pPr>
            <a:r>
              <a:rPr lang="en-US" altLang="en-US" sz="1800"/>
              <a:t>	return (x+y+z);</a:t>
            </a:r>
          </a:p>
          <a:p>
            <a:pPr marL="609600" indent="-609600" algn="l" eaLnBrk="1" hangingPunct="1">
              <a:lnSpc>
                <a:spcPct val="80000"/>
              </a:lnSpc>
            </a:pPr>
            <a:r>
              <a:rPr lang="en-US" altLang="en-US" sz="1800"/>
              <a:t>}</a:t>
            </a:r>
          </a:p>
          <a:p>
            <a:pPr marL="609600" indent="-609600" algn="l" eaLnBrk="1" hangingPunct="1">
              <a:lnSpc>
                <a:spcPct val="80000"/>
              </a:lnSpc>
            </a:pPr>
            <a:r>
              <a:rPr lang="en-US" altLang="en-US" sz="1800"/>
              <a:t>double add(double x, double y)</a:t>
            </a:r>
          </a:p>
          <a:p>
            <a:pPr marL="609600" indent="-609600" algn="l" eaLnBrk="1" hangingPunct="1">
              <a:lnSpc>
                <a:spcPct val="80000"/>
              </a:lnSpc>
            </a:pPr>
            <a:r>
              <a:rPr lang="en-US" altLang="en-US" sz="1800"/>
              <a:t>{</a:t>
            </a:r>
          </a:p>
          <a:p>
            <a:pPr marL="609600" indent="-609600" algn="l" eaLnBrk="1" hangingPunct="1">
              <a:lnSpc>
                <a:spcPct val="80000"/>
              </a:lnSpc>
            </a:pPr>
            <a:r>
              <a:rPr lang="en-US" altLang="en-US" sz="1800"/>
              <a:t>    return (x+y);</a:t>
            </a:r>
          </a:p>
          <a:p>
            <a:pPr marL="609600" indent="-609600" algn="l" eaLnBrk="1" hangingPunct="1">
              <a:lnSpc>
                <a:spcPct val="80000"/>
              </a:lnSpc>
            </a:pPr>
            <a:r>
              <a:rPr lang="en-US" altLang="en-US" sz="1800"/>
              <a:t>}</a:t>
            </a:r>
          </a:p>
          <a:p>
            <a:pPr marL="609600" indent="-609600" algn="l" eaLnBrk="1" hangingPunct="1">
              <a:lnSpc>
                <a:spcPct val="80000"/>
              </a:lnSpc>
            </a:pPr>
            <a:endParaRPr lang="en-US" altLang="en-US" sz="1800"/>
          </a:p>
          <a:p>
            <a:pPr marL="609600" indent="-609600" algn="l" eaLnBrk="1" hangingPunct="1">
              <a:lnSpc>
                <a:spcPct val="80000"/>
              </a:lnSpc>
            </a:pPr>
            <a:r>
              <a:rPr lang="en-US" altLang="en-US" sz="1800"/>
              <a:t>int main()</a:t>
            </a:r>
          </a:p>
          <a:p>
            <a:pPr marL="609600" indent="-609600" algn="l" eaLnBrk="1" hangingPunct="1">
              <a:lnSpc>
                <a:spcPct val="80000"/>
              </a:lnSpc>
            </a:pPr>
            <a:r>
              <a:rPr lang="en-US" altLang="en-US" sz="1800"/>
              <a:t>{</a:t>
            </a:r>
          </a:p>
          <a:p>
            <a:pPr marL="609600" indent="-609600" algn="l" eaLnBrk="1" hangingPunct="1">
              <a:lnSpc>
                <a:spcPct val="80000"/>
              </a:lnSpc>
            </a:pPr>
            <a:r>
              <a:rPr lang="en-US" altLang="en-US" sz="1800"/>
              <a:t>	cout&lt;&lt;add(3,2) &lt;&lt; endl;   // call fn1</a:t>
            </a:r>
          </a:p>
          <a:p>
            <a:pPr marL="609600" indent="-609600" algn="l" eaLnBrk="1" hangingPunct="1">
              <a:lnSpc>
                <a:spcPct val="80000"/>
              </a:lnSpc>
            </a:pPr>
            <a:r>
              <a:rPr lang="en-US" altLang="en-US" sz="1800"/>
              <a:t>	cout&lt;&lt;add(8,9,2) &lt;&lt; endl;  // call fn2</a:t>
            </a:r>
          </a:p>
          <a:p>
            <a:pPr marL="609600" indent="-609600" algn="l" eaLnBrk="1" hangingPunct="1">
              <a:lnSpc>
                <a:spcPct val="80000"/>
              </a:lnSpc>
            </a:pPr>
            <a:r>
              <a:rPr lang="en-US" altLang="en-US" sz="1800"/>
              <a:t>	cout&lt;&lt;add(5.5,2.8) &lt;&lt; endl;  //call fn3</a:t>
            </a:r>
          </a:p>
          <a:p>
            <a:pPr marL="609600" indent="-609600" algn="l" eaLnBrk="1" hangingPunct="1">
              <a:lnSpc>
                <a:spcPct val="80000"/>
              </a:lnSpc>
            </a:pPr>
            <a:r>
              <a:rPr lang="en-US" altLang="en-US" sz="1800"/>
              <a:t>	</a:t>
            </a:r>
          </a:p>
          <a:p>
            <a:pPr marL="609600" indent="-609600" algn="l" eaLnBrk="1" hangingPunct="1">
              <a:lnSpc>
                <a:spcPct val="80000"/>
              </a:lnSpc>
            </a:pPr>
            <a:r>
              <a:rPr lang="en-US" altLang="en-US" sz="1800"/>
              <a:t>	return 0;</a:t>
            </a:r>
          </a:p>
          <a:p>
            <a:pPr marL="609600" indent="-609600" algn="l" eaLnBrk="1" hangingPunct="1">
              <a:lnSpc>
                <a:spcPct val="80000"/>
              </a:lnSpc>
            </a:pPr>
            <a:r>
              <a:rPr lang="en-US" altLang="en-US" sz="180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9978ED-7631-917E-9BB4-EAA650B54AEC}"/>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Operator overloading</a:t>
            </a:r>
          </a:p>
        </p:txBody>
      </p:sp>
      <p:sp>
        <p:nvSpPr>
          <p:cNvPr id="7171" name="Rectangle 3">
            <a:extLst>
              <a:ext uri="{FF2B5EF4-FFF2-40B4-BE49-F238E27FC236}">
                <a16:creationId xmlns:a16="http://schemas.microsoft.com/office/drawing/2014/main" id="{1A1DE066-049B-311B-32B4-7F0FCB55D8AC}"/>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sz="2400">
                <a:latin typeface="Times New Roman" panose="02020603050405020304" pitchFamily="18" charset="0"/>
              </a:rPr>
              <a:t>It enhanced the power of extensibility of C++</a:t>
            </a:r>
          </a:p>
          <a:p>
            <a:pPr algn="just" eaLnBrk="1" hangingPunct="1">
              <a:lnSpc>
                <a:spcPct val="90000"/>
              </a:lnSpc>
              <a:buFontTx/>
              <a:buChar char="•"/>
            </a:pPr>
            <a:r>
              <a:rPr lang="en-US" altLang="en-US" sz="2400">
                <a:latin typeface="Times New Roman" panose="02020603050405020304" pitchFamily="18" charset="0"/>
              </a:rPr>
              <a:t>C++ permits us to add two variables of user-defined types with the same syntax that is applied to the basic types</a:t>
            </a:r>
          </a:p>
          <a:p>
            <a:pPr algn="just" eaLnBrk="1" hangingPunct="1">
              <a:lnSpc>
                <a:spcPct val="90000"/>
              </a:lnSpc>
              <a:buFontTx/>
              <a:buChar char="•"/>
            </a:pPr>
            <a:r>
              <a:rPr lang="en-US" altLang="en-US" sz="2400">
                <a:latin typeface="Times New Roman" panose="02020603050405020304" pitchFamily="18" charset="0"/>
              </a:rPr>
              <a:t>C++ has the ability to provide the operators with a special meaning for a data type. The mechanism of giving such special meanings to an operator is known as operator overloading</a:t>
            </a:r>
          </a:p>
          <a:p>
            <a:pPr algn="just" eaLnBrk="1" hangingPunct="1">
              <a:lnSpc>
                <a:spcPct val="90000"/>
              </a:lnSpc>
              <a:buFontTx/>
              <a:buChar char="•"/>
            </a:pPr>
            <a:r>
              <a:rPr lang="en-US" altLang="en-US" sz="2400">
                <a:latin typeface="Times New Roman" panose="02020603050405020304" pitchFamily="18" charset="0"/>
              </a:rPr>
              <a:t>We cannot overload the below operators</a:t>
            </a:r>
          </a:p>
          <a:p>
            <a:pPr lvl="1" algn="just" eaLnBrk="1" hangingPunct="1">
              <a:lnSpc>
                <a:spcPct val="90000"/>
              </a:lnSpc>
              <a:buFontTx/>
              <a:buChar char="–"/>
            </a:pPr>
            <a:r>
              <a:rPr lang="en-US" altLang="en-US" sz="1800">
                <a:latin typeface="Times New Roman" panose="02020603050405020304" pitchFamily="18" charset="0"/>
              </a:rPr>
              <a:t>Class member access operators (</a:t>
            </a:r>
            <a:r>
              <a:rPr lang="en-US" altLang="en-US" sz="3600">
                <a:latin typeface="Times New Roman" panose="02020603050405020304" pitchFamily="18" charset="0"/>
              </a:rPr>
              <a:t>.</a:t>
            </a:r>
            <a:r>
              <a:rPr lang="en-US" altLang="en-US" sz="1800">
                <a:latin typeface="Times New Roman" panose="02020603050405020304" pitchFamily="18" charset="0"/>
              </a:rPr>
              <a:t>,</a:t>
            </a:r>
            <a:r>
              <a:rPr lang="en-US" altLang="en-US" sz="4000">
                <a:latin typeface="Times New Roman" panose="02020603050405020304" pitchFamily="18" charset="0"/>
              </a:rPr>
              <a:t>.</a:t>
            </a:r>
            <a:r>
              <a:rPr lang="en-US" altLang="en-US" sz="1800">
                <a:latin typeface="Times New Roman" panose="02020603050405020304" pitchFamily="18" charset="0"/>
              </a:rPr>
              <a:t>*)</a:t>
            </a:r>
          </a:p>
          <a:p>
            <a:pPr lvl="1" algn="just" eaLnBrk="1" hangingPunct="1">
              <a:lnSpc>
                <a:spcPct val="90000"/>
              </a:lnSpc>
              <a:buFontTx/>
              <a:buChar char="–"/>
            </a:pPr>
            <a:r>
              <a:rPr lang="en-US" altLang="en-US" sz="1800">
                <a:latin typeface="Times New Roman" panose="02020603050405020304" pitchFamily="18" charset="0"/>
              </a:rPr>
              <a:t>Scope resolution operator(::)</a:t>
            </a:r>
          </a:p>
          <a:p>
            <a:pPr lvl="1" algn="just" eaLnBrk="1" hangingPunct="1">
              <a:lnSpc>
                <a:spcPct val="90000"/>
              </a:lnSpc>
              <a:buFontTx/>
              <a:buChar char="–"/>
            </a:pPr>
            <a:r>
              <a:rPr lang="en-US" altLang="en-US" sz="1800">
                <a:latin typeface="Times New Roman" panose="02020603050405020304" pitchFamily="18" charset="0"/>
              </a:rPr>
              <a:t>Size operator (sizeof)</a:t>
            </a:r>
          </a:p>
          <a:p>
            <a:pPr lvl="1" algn="just" eaLnBrk="1" hangingPunct="1">
              <a:lnSpc>
                <a:spcPct val="90000"/>
              </a:lnSpc>
              <a:buFontTx/>
              <a:buChar char="–"/>
            </a:pPr>
            <a:r>
              <a:rPr lang="en-US" altLang="en-US" sz="1800">
                <a:latin typeface="Times New Roman" panose="02020603050405020304" pitchFamily="18" charset="0"/>
              </a:rPr>
              <a:t>Conditional operator(?:)</a:t>
            </a:r>
          </a:p>
          <a:p>
            <a:pPr algn="just" eaLnBrk="1" hangingPunct="1">
              <a:lnSpc>
                <a:spcPct val="90000"/>
              </a:lnSpc>
              <a:buFontTx/>
              <a:buChar char="•"/>
            </a:pPr>
            <a:r>
              <a:rPr lang="en-US" altLang="en-US" sz="2000">
                <a:latin typeface="Times New Roman" panose="02020603050405020304" pitchFamily="18" charset="0"/>
              </a:rPr>
              <a:t>We can extend the semantics of an operator, but we cannot change its syntax, the grammatical rules such number of operands, precedence and associativity</a:t>
            </a:r>
          </a:p>
          <a:p>
            <a:pPr algn="just" eaLnBrk="1" hangingPunct="1">
              <a:lnSpc>
                <a:spcPct val="90000"/>
              </a:lnSpc>
              <a:buFontTx/>
              <a:buChar char="•"/>
            </a:pPr>
            <a:r>
              <a:rPr lang="en-US" altLang="en-US" sz="2000">
                <a:latin typeface="Times New Roman" panose="02020603050405020304" pitchFamily="18" charset="0"/>
              </a:rPr>
              <a:t>Eg: * enjoy higher precedence than +</a:t>
            </a:r>
          </a:p>
          <a:p>
            <a:pPr algn="just" eaLnBrk="1" hangingPunct="1">
              <a:lnSpc>
                <a:spcPct val="90000"/>
              </a:lnSpc>
              <a:buFontTx/>
              <a:buChar char="•"/>
            </a:pPr>
            <a:r>
              <a:rPr lang="en-US" altLang="en-US" sz="2000">
                <a:latin typeface="Times New Roman" panose="02020603050405020304" pitchFamily="18" charset="0"/>
              </a:rPr>
              <a:t>When an operator is overloaded its original meaning is not lost</a:t>
            </a:r>
          </a:p>
          <a:p>
            <a:pPr lvl="1" algn="just" eaLnBrk="1" hangingPunct="1">
              <a:lnSpc>
                <a:spcPct val="90000"/>
              </a:lnSpc>
              <a:buFontTx/>
              <a:buChar char="–"/>
            </a:pPr>
            <a:endParaRPr lang="en-US" altLang="en-US" sz="18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B0C8A4B-30D6-C86D-0A09-149EDA528F65}"/>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Defining Operator overloading</a:t>
            </a:r>
          </a:p>
        </p:txBody>
      </p:sp>
      <p:sp>
        <p:nvSpPr>
          <p:cNvPr id="8195" name="Rectangle 3">
            <a:extLst>
              <a:ext uri="{FF2B5EF4-FFF2-40B4-BE49-F238E27FC236}">
                <a16:creationId xmlns:a16="http://schemas.microsoft.com/office/drawing/2014/main" id="{467692D0-CE43-5B0D-5E0C-57A16384441B}"/>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a:latin typeface="Times New Roman" panose="02020603050405020304" pitchFamily="18" charset="0"/>
              </a:rPr>
              <a:t>To define additional task to an operator, we must specify what it means in relation to the class to which the operator is applied. We can achieve this using </a:t>
            </a:r>
            <a:r>
              <a:rPr lang="en-US" altLang="en-US">
                <a:solidFill>
                  <a:schemeClr val="accent2"/>
                </a:solidFill>
                <a:latin typeface="Times New Roman" panose="02020603050405020304" pitchFamily="18" charset="0"/>
              </a:rPr>
              <a:t>operator function</a:t>
            </a:r>
          </a:p>
          <a:p>
            <a:pPr algn="just" eaLnBrk="1" hangingPunct="1">
              <a:lnSpc>
                <a:spcPct val="90000"/>
              </a:lnSpc>
              <a:buFontTx/>
              <a:buChar char="•"/>
            </a:pPr>
            <a:r>
              <a:rPr lang="en-US" altLang="en-US">
                <a:solidFill>
                  <a:schemeClr val="accent2"/>
                </a:solidFill>
                <a:latin typeface="Times New Roman" panose="02020603050405020304" pitchFamily="18" charset="0"/>
              </a:rPr>
              <a:t>General form</a:t>
            </a:r>
          </a:p>
          <a:p>
            <a:pPr lvl="1" algn="just" eaLnBrk="1" hangingPunct="1">
              <a:lnSpc>
                <a:spcPct val="90000"/>
              </a:lnSpc>
            </a:pPr>
            <a:r>
              <a:rPr lang="en-US" altLang="en-US" sz="2400">
                <a:latin typeface="Times New Roman" panose="02020603050405020304" pitchFamily="18" charset="0"/>
              </a:rPr>
              <a:t>Retruntype classname :: operatorop(op-arglist)</a:t>
            </a:r>
          </a:p>
          <a:p>
            <a:pPr lvl="1" algn="just" eaLnBrk="1" hangingPunct="1">
              <a:lnSpc>
                <a:spcPct val="90000"/>
              </a:lnSpc>
            </a:pPr>
            <a:r>
              <a:rPr lang="en-US" altLang="en-US" sz="2400">
                <a:latin typeface="Times New Roman" panose="02020603050405020304" pitchFamily="18" charset="0"/>
              </a:rPr>
              <a:t>{</a:t>
            </a:r>
          </a:p>
          <a:p>
            <a:pPr lvl="1" algn="just" eaLnBrk="1" hangingPunct="1">
              <a:lnSpc>
                <a:spcPct val="90000"/>
              </a:lnSpc>
            </a:pPr>
            <a:r>
              <a:rPr lang="en-US" altLang="en-US" sz="2400">
                <a:latin typeface="Times New Roman" panose="02020603050405020304" pitchFamily="18" charset="0"/>
              </a:rPr>
              <a:t>	function body 		//task defined</a:t>
            </a:r>
          </a:p>
          <a:p>
            <a:pPr lvl="1" algn="just" eaLnBrk="1" hangingPunct="1">
              <a:lnSpc>
                <a:spcPct val="90000"/>
              </a:lnSpc>
            </a:pPr>
            <a:r>
              <a:rPr lang="en-US" altLang="en-US" sz="2400">
                <a:latin typeface="Times New Roman" panose="02020603050405020304" pitchFamily="18" charset="0"/>
              </a:rPr>
              <a:t>}</a:t>
            </a:r>
          </a:p>
          <a:p>
            <a:pPr lvl="1" algn="just" eaLnBrk="1" hangingPunct="1">
              <a:lnSpc>
                <a:spcPct val="90000"/>
              </a:lnSpc>
            </a:pPr>
            <a:r>
              <a:rPr lang="en-US" altLang="en-US" sz="2400">
                <a:latin typeface="Times New Roman" panose="02020603050405020304" pitchFamily="18" charset="0"/>
              </a:rPr>
              <a:t>****returntype is type of value returned by the specified operatior and op is operator being overloaded</a:t>
            </a:r>
          </a:p>
          <a:p>
            <a:pPr lvl="1" algn="just" eaLnBrk="1" hangingPunct="1">
              <a:lnSpc>
                <a:spcPct val="90000"/>
              </a:lnSpc>
            </a:pPr>
            <a:r>
              <a:rPr lang="en-US" altLang="en-US" sz="2400">
                <a:latin typeface="Times New Roman" panose="02020603050405020304" pitchFamily="18" charset="0"/>
              </a:rPr>
              <a:t>operatorop is the function name</a:t>
            </a:r>
          </a:p>
          <a:p>
            <a:pPr algn="just" eaLnBrk="1" hangingPunct="1">
              <a:lnSpc>
                <a:spcPct val="90000"/>
              </a:lnSpc>
              <a:buFontTx/>
              <a:buChar char="•"/>
            </a:pPr>
            <a:r>
              <a:rPr lang="en-US" altLang="en-US" sz="2800">
                <a:latin typeface="Times New Roman" panose="02020603050405020304" pitchFamily="18" charset="0"/>
              </a:rPr>
              <a:t>Operator functions must be either member functions(non-static) or friend functions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08D35922-4807-ACC6-582B-CFF04C019BFD}"/>
              </a:ext>
            </a:extLst>
          </p:cNvPr>
          <p:cNvSpPr>
            <a:spLocks noGrp="1" noChangeArrowheads="1"/>
          </p:cNvSpPr>
          <p:nvPr>
            <p:ph type="subTitle" idx="1"/>
          </p:nvPr>
        </p:nvSpPr>
        <p:spPr>
          <a:xfrm>
            <a:off x="228600" y="609600"/>
            <a:ext cx="8686800" cy="6019800"/>
          </a:xfrm>
        </p:spPr>
        <p:txBody>
          <a:bodyPr/>
          <a:lstStyle/>
          <a:p>
            <a:pPr algn="just" eaLnBrk="1" hangingPunct="1"/>
            <a:r>
              <a:rPr lang="en-US" altLang="en-US" sz="2800">
                <a:latin typeface="Times New Roman" panose="02020603050405020304" pitchFamily="18" charset="0"/>
              </a:rPr>
              <a:t>Friend functions			member function</a:t>
            </a:r>
          </a:p>
          <a:p>
            <a:pPr algn="just" eaLnBrk="1" hangingPunct="1"/>
            <a:r>
              <a:rPr lang="en-US" altLang="en-US" sz="2800">
                <a:latin typeface="Times New Roman" panose="02020603050405020304" pitchFamily="18" charset="0"/>
              </a:rPr>
              <a:t>1 arg for unary			no args for unary</a:t>
            </a:r>
          </a:p>
          <a:p>
            <a:pPr algn="just" eaLnBrk="1" hangingPunct="1"/>
            <a:r>
              <a:rPr lang="en-US" altLang="en-US" sz="2800">
                <a:latin typeface="Times New Roman" panose="02020603050405020304" pitchFamily="18" charset="0"/>
              </a:rPr>
              <a:t>2 args for binary			1 arg for binary</a:t>
            </a:r>
          </a:p>
          <a:p>
            <a:pPr algn="just" eaLnBrk="1" hangingPunct="1"/>
            <a:r>
              <a:rPr lang="en-US" altLang="en-US" sz="2800">
                <a:latin typeface="Times New Roman" panose="02020603050405020304" pitchFamily="18" charset="0"/>
              </a:rPr>
              <a:t>					**object used to invoke is 						passed implicitly</a:t>
            </a:r>
          </a:p>
          <a:p>
            <a:pPr algn="just" eaLnBrk="1" hangingPunct="1">
              <a:buFontTx/>
              <a:buChar char="•"/>
            </a:pPr>
            <a:r>
              <a:rPr lang="en-US" altLang="en-US" sz="2800">
                <a:latin typeface="Times New Roman" panose="02020603050405020304" pitchFamily="18" charset="0"/>
              </a:rPr>
              <a:t>Args can be passed by val or by ref</a:t>
            </a:r>
          </a:p>
          <a:p>
            <a:pPr algn="just" eaLnBrk="1" hangingPunct="1">
              <a:buFontTx/>
              <a:buChar char="•"/>
            </a:pPr>
            <a:r>
              <a:rPr lang="en-US" altLang="en-US" sz="2800">
                <a:latin typeface="Times New Roman" panose="02020603050405020304" pitchFamily="18" charset="0"/>
              </a:rPr>
              <a:t>Eg:	</a:t>
            </a:r>
            <a:r>
              <a:rPr lang="en-US" altLang="en-US" sz="2400">
                <a:latin typeface="Times New Roman" panose="02020603050405020304" pitchFamily="18" charset="0"/>
              </a:rPr>
              <a:t>vector operator+(vector)			//vector addition</a:t>
            </a:r>
          </a:p>
          <a:p>
            <a:pPr lvl="1" algn="just" eaLnBrk="1" hangingPunct="1"/>
            <a:r>
              <a:rPr lang="en-US" altLang="en-US" sz="2400">
                <a:latin typeface="Times New Roman" panose="02020603050405020304" pitchFamily="18" charset="0"/>
              </a:rPr>
              <a:t>	vector operator-()				//unary minus</a:t>
            </a:r>
          </a:p>
          <a:p>
            <a:pPr lvl="1" algn="just" eaLnBrk="1" hangingPunct="1"/>
            <a:r>
              <a:rPr lang="en-US" altLang="en-US" sz="2400">
                <a:latin typeface="Times New Roman" panose="02020603050405020304" pitchFamily="18" charset="0"/>
              </a:rPr>
              <a:t>	friend vector operator+(vector,vector)	//vector addition</a:t>
            </a:r>
          </a:p>
          <a:p>
            <a:pPr lvl="1" algn="just" eaLnBrk="1" hangingPunct="1"/>
            <a:r>
              <a:rPr lang="en-US" altLang="en-US" sz="2400">
                <a:latin typeface="Times New Roman" panose="02020603050405020304" pitchFamily="18" charset="0"/>
              </a:rPr>
              <a:t>	friend vector operator-(vector)		//unary minus</a:t>
            </a:r>
          </a:p>
          <a:p>
            <a:pPr lvl="1" algn="just" eaLnBrk="1" hangingPunct="1"/>
            <a:r>
              <a:rPr lang="en-US" altLang="en-US" sz="2400">
                <a:latin typeface="Times New Roman" panose="02020603050405020304" pitchFamily="18" charset="0"/>
              </a:rPr>
              <a:t>	int operator==(vector)				//comparison</a:t>
            </a:r>
          </a:p>
          <a:p>
            <a:pPr lvl="1" algn="just" eaLnBrk="1" hangingPunct="1"/>
            <a:r>
              <a:rPr lang="en-US" altLang="en-US" sz="2400">
                <a:latin typeface="Times New Roman" panose="02020603050405020304" pitchFamily="18" charset="0"/>
              </a:rPr>
              <a:t>	friend int operator==(vector, vector)		//comparison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EFAC395-1326-5DBC-CE41-97118EE67733}"/>
              </a:ext>
            </a:extLst>
          </p:cNvPr>
          <p:cNvSpPr>
            <a:spLocks noGrp="1" noChangeArrowheads="1"/>
          </p:cNvSpPr>
          <p:nvPr>
            <p:ph type="subTitle" idx="1"/>
          </p:nvPr>
        </p:nvSpPr>
        <p:spPr>
          <a:xfrm>
            <a:off x="228600" y="304800"/>
            <a:ext cx="8686800" cy="6324600"/>
          </a:xfrm>
        </p:spPr>
        <p:txBody>
          <a:bodyPr/>
          <a:lstStyle/>
          <a:p>
            <a:pPr marL="609600" indent="-609600" algn="just" eaLnBrk="1" hangingPunct="1">
              <a:buFontTx/>
              <a:buChar char="•"/>
            </a:pPr>
            <a:r>
              <a:rPr lang="en-US" altLang="en-US" sz="2800">
                <a:latin typeface="Times New Roman" panose="02020603050405020304" pitchFamily="18" charset="0"/>
              </a:rPr>
              <a:t>The process of overloading involves the following steps:</a:t>
            </a:r>
          </a:p>
          <a:p>
            <a:pPr marL="990600" lvl="1" indent="-533400" algn="just" eaLnBrk="1" hangingPunct="1">
              <a:buFontTx/>
              <a:buAutoNum type="arabicPeriod"/>
            </a:pPr>
            <a:r>
              <a:rPr lang="en-US" altLang="en-US" sz="2400">
                <a:latin typeface="Times New Roman" panose="02020603050405020304" pitchFamily="18" charset="0"/>
              </a:rPr>
              <a:t>Create a class that defines the data type that is to be used in the overloading function</a:t>
            </a:r>
          </a:p>
          <a:p>
            <a:pPr marL="990600" lvl="1" indent="-533400" algn="just" eaLnBrk="1" hangingPunct="1">
              <a:buFontTx/>
              <a:buAutoNum type="arabicPeriod"/>
            </a:pPr>
            <a:r>
              <a:rPr lang="en-US" altLang="en-US" sz="2400">
                <a:latin typeface="Times New Roman" panose="02020603050405020304" pitchFamily="18" charset="0"/>
              </a:rPr>
              <a:t>Declare the operator function operator op( ) in the public part of the class (member or friend)</a:t>
            </a:r>
          </a:p>
          <a:p>
            <a:pPr marL="990600" lvl="1" indent="-533400" algn="just" eaLnBrk="1" hangingPunct="1">
              <a:buFontTx/>
              <a:buAutoNum type="arabicPeriod"/>
            </a:pPr>
            <a:r>
              <a:rPr lang="en-US" altLang="en-US" sz="2400">
                <a:latin typeface="Times New Roman" panose="02020603050405020304" pitchFamily="18" charset="0"/>
              </a:rPr>
              <a:t>Define the operator function to implement the required operations</a:t>
            </a:r>
          </a:p>
          <a:p>
            <a:pPr marL="609600" indent="-609600" algn="just" eaLnBrk="1" hangingPunct="1">
              <a:buFontTx/>
              <a:buChar char="•"/>
            </a:pPr>
            <a:r>
              <a:rPr lang="en-US" altLang="en-US" sz="2800">
                <a:latin typeface="Times New Roman" panose="02020603050405020304" pitchFamily="18" charset="0"/>
              </a:rPr>
              <a:t>Overloaded operator can be invoked by exp</a:t>
            </a:r>
          </a:p>
          <a:p>
            <a:pPr marL="990600" lvl="1" indent="-533400" algn="just" eaLnBrk="1" hangingPunct="1"/>
            <a:r>
              <a:rPr lang="en-US" altLang="en-US" sz="2400">
                <a:latin typeface="Times New Roman" panose="02020603050405020304" pitchFamily="18" charset="0"/>
              </a:rPr>
              <a:t>op x		x  op		//unary</a:t>
            </a:r>
          </a:p>
          <a:p>
            <a:pPr marL="990600" lvl="1" indent="-533400" algn="just" eaLnBrk="1" hangingPunct="1"/>
            <a:r>
              <a:rPr lang="en-US" altLang="en-US" sz="2400">
                <a:latin typeface="Times New Roman" panose="02020603050405020304" pitchFamily="18" charset="0"/>
              </a:rPr>
              <a:t>x op y	//binary</a:t>
            </a:r>
          </a:p>
          <a:p>
            <a:pPr marL="990600" lvl="1" indent="-533400" algn="just" eaLnBrk="1" hangingPunct="1"/>
            <a:endParaRPr lang="en-US" altLang="en-US" sz="240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57A32FA-8D84-C4E7-5A6C-D3F8507915A1}"/>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Overloading unary operators</a:t>
            </a:r>
          </a:p>
        </p:txBody>
      </p:sp>
      <p:sp>
        <p:nvSpPr>
          <p:cNvPr id="11267" name="Rectangle 3">
            <a:extLst>
              <a:ext uri="{FF2B5EF4-FFF2-40B4-BE49-F238E27FC236}">
                <a16:creationId xmlns:a16="http://schemas.microsoft.com/office/drawing/2014/main" id="{6BA91A30-7525-399E-3DFD-AECFCBBC7D7A}"/>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sz="3600">
                <a:latin typeface="Times New Roman" panose="02020603050405020304" pitchFamily="18" charset="0"/>
              </a:rPr>
              <a:t>Eg unary minus</a:t>
            </a:r>
          </a:p>
          <a:p>
            <a:pPr algn="just" eaLnBrk="1" hangingPunct="1">
              <a:buFontTx/>
              <a:buChar char="•"/>
            </a:pPr>
            <a:r>
              <a:rPr lang="en-US" altLang="en-US" sz="3600">
                <a:latin typeface="Times New Roman" panose="02020603050405020304" pitchFamily="18" charset="0"/>
              </a:rPr>
              <a:t>It will take just one operand</a:t>
            </a:r>
          </a:p>
          <a:p>
            <a:pPr algn="just" eaLnBrk="1" hangingPunct="1">
              <a:buFontTx/>
              <a:buChar char="•"/>
            </a:pPr>
            <a:r>
              <a:rPr lang="en-US" altLang="en-US" sz="3600">
                <a:latin typeface="Times New Roman" panose="02020603050405020304" pitchFamily="18" charset="0"/>
              </a:rPr>
              <a:t>It changes the sign of the operand when applied to basic data item</a:t>
            </a:r>
          </a:p>
          <a:p>
            <a:pPr algn="just" eaLnBrk="1" hangingPunct="1">
              <a:buFontTx/>
              <a:buChar char="•"/>
            </a:pPr>
            <a:r>
              <a:rPr lang="en-US" altLang="en-US" sz="3600">
                <a:latin typeface="Times New Roman" panose="02020603050405020304" pitchFamily="18" charset="0"/>
              </a:rPr>
              <a:t>It changes the sign of the all data its when it applied to object</a:t>
            </a:r>
          </a:p>
          <a:p>
            <a:pPr algn="just" eaLnBrk="1" hangingPunct="1">
              <a:buFontTx/>
              <a:buChar char="•"/>
            </a:pPr>
            <a:endParaRPr lang="en-US" altLang="en-US">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C8D06960-7771-16D9-8CA5-520CB940DAFD}"/>
              </a:ext>
            </a:extLst>
          </p:cNvPr>
          <p:cNvSpPr>
            <a:spLocks noGrp="1" noChangeArrowheads="1"/>
          </p:cNvSpPr>
          <p:nvPr>
            <p:ph type="subTitle" idx="1"/>
          </p:nvPr>
        </p:nvSpPr>
        <p:spPr>
          <a:xfrm>
            <a:off x="228600" y="152400"/>
            <a:ext cx="8686800" cy="6477000"/>
          </a:xfrm>
        </p:spPr>
        <p:txBody>
          <a:bodyPr/>
          <a:lstStyle/>
          <a:p>
            <a:pPr algn="l" eaLnBrk="1" hangingPunct="1">
              <a:lnSpc>
                <a:spcPct val="80000"/>
              </a:lnSpc>
            </a:pPr>
            <a:r>
              <a:rPr lang="en-US" altLang="en-US" sz="1200"/>
              <a:t>#include &lt;iostream.h&gt;</a:t>
            </a:r>
          </a:p>
          <a:p>
            <a:pPr algn="l" eaLnBrk="1" hangingPunct="1">
              <a:lnSpc>
                <a:spcPct val="80000"/>
              </a:lnSpc>
            </a:pPr>
            <a:r>
              <a:rPr lang="en-US" altLang="en-US" sz="1200"/>
              <a:t>class unaryopex</a:t>
            </a:r>
          </a:p>
          <a:p>
            <a:pPr algn="l" eaLnBrk="1" hangingPunct="1">
              <a:lnSpc>
                <a:spcPct val="80000"/>
              </a:lnSpc>
            </a:pPr>
            <a:r>
              <a:rPr lang="en-US" altLang="en-US" sz="1200"/>
              <a:t>{</a:t>
            </a:r>
          </a:p>
          <a:p>
            <a:pPr algn="l" eaLnBrk="1" hangingPunct="1">
              <a:lnSpc>
                <a:spcPct val="80000"/>
              </a:lnSpc>
            </a:pPr>
            <a:r>
              <a:rPr lang="en-US" altLang="en-US" sz="1200"/>
              <a:t>	int x,y;</a:t>
            </a:r>
          </a:p>
          <a:p>
            <a:pPr algn="l" eaLnBrk="1" hangingPunct="1">
              <a:lnSpc>
                <a:spcPct val="80000"/>
              </a:lnSpc>
            </a:pPr>
            <a:r>
              <a:rPr lang="en-US" altLang="en-US" sz="1200"/>
              <a:t>	public:</a:t>
            </a:r>
          </a:p>
          <a:p>
            <a:pPr algn="l" eaLnBrk="1" hangingPunct="1">
              <a:lnSpc>
                <a:spcPct val="80000"/>
              </a:lnSpc>
            </a:pPr>
            <a:r>
              <a:rPr lang="en-US" altLang="en-US" sz="1200"/>
              <a:t>		void getdata(int a,int b);</a:t>
            </a:r>
          </a:p>
          <a:p>
            <a:pPr algn="l" eaLnBrk="1" hangingPunct="1">
              <a:lnSpc>
                <a:spcPct val="80000"/>
              </a:lnSpc>
            </a:pPr>
            <a:r>
              <a:rPr lang="en-US" altLang="en-US" sz="1200"/>
              <a:t>		void disp();</a:t>
            </a:r>
          </a:p>
          <a:p>
            <a:pPr algn="l" eaLnBrk="1" hangingPunct="1">
              <a:lnSpc>
                <a:spcPct val="80000"/>
              </a:lnSpc>
            </a:pPr>
            <a:r>
              <a:rPr lang="en-US" altLang="en-US" sz="1200"/>
              <a:t>		void operator-();	//overload unaryminus</a:t>
            </a:r>
          </a:p>
          <a:p>
            <a:pPr algn="l" eaLnBrk="1" hangingPunct="1">
              <a:lnSpc>
                <a:spcPct val="80000"/>
              </a:lnSpc>
            </a:pPr>
            <a:r>
              <a:rPr lang="en-US" altLang="en-US" sz="1200"/>
              <a:t>};</a:t>
            </a:r>
          </a:p>
          <a:p>
            <a:pPr algn="l" eaLnBrk="1" hangingPunct="1">
              <a:lnSpc>
                <a:spcPct val="80000"/>
              </a:lnSpc>
            </a:pPr>
            <a:r>
              <a:rPr lang="en-US" altLang="en-US" sz="1200"/>
              <a:t>void unaryopex :: getdata(int a,int b)</a:t>
            </a:r>
          </a:p>
          <a:p>
            <a:pPr algn="l" eaLnBrk="1" hangingPunct="1">
              <a:lnSpc>
                <a:spcPct val="80000"/>
              </a:lnSpc>
            </a:pPr>
            <a:r>
              <a:rPr lang="en-US" altLang="en-US" sz="1200"/>
              <a:t>{</a:t>
            </a:r>
          </a:p>
          <a:p>
            <a:pPr algn="l" eaLnBrk="1" hangingPunct="1">
              <a:lnSpc>
                <a:spcPct val="80000"/>
              </a:lnSpc>
            </a:pPr>
            <a:r>
              <a:rPr lang="en-US" altLang="en-US" sz="1200"/>
              <a:t>	x=a; y=b;</a:t>
            </a:r>
          </a:p>
          <a:p>
            <a:pPr algn="l" eaLnBrk="1" hangingPunct="1">
              <a:lnSpc>
                <a:spcPct val="80000"/>
              </a:lnSpc>
            </a:pPr>
            <a:r>
              <a:rPr lang="en-US" altLang="en-US" sz="1200"/>
              <a:t>}</a:t>
            </a:r>
          </a:p>
          <a:p>
            <a:pPr algn="l" eaLnBrk="1" hangingPunct="1">
              <a:lnSpc>
                <a:spcPct val="80000"/>
              </a:lnSpc>
            </a:pPr>
            <a:r>
              <a:rPr lang="en-US" altLang="en-US" sz="1200"/>
              <a:t>void unaryopex :: disp()</a:t>
            </a:r>
          </a:p>
          <a:p>
            <a:pPr algn="l" eaLnBrk="1" hangingPunct="1">
              <a:lnSpc>
                <a:spcPct val="80000"/>
              </a:lnSpc>
            </a:pPr>
            <a:r>
              <a:rPr lang="en-US" altLang="en-US" sz="1200"/>
              <a:t>{</a:t>
            </a:r>
          </a:p>
          <a:p>
            <a:pPr algn="l" eaLnBrk="1" hangingPunct="1">
              <a:lnSpc>
                <a:spcPct val="80000"/>
              </a:lnSpc>
            </a:pPr>
            <a:r>
              <a:rPr lang="en-US" altLang="en-US" sz="1200"/>
              <a:t>	cout &lt;&lt; "x = "&lt;&lt;x&lt;&lt;"\n";</a:t>
            </a:r>
          </a:p>
          <a:p>
            <a:pPr algn="l" eaLnBrk="1" hangingPunct="1">
              <a:lnSpc>
                <a:spcPct val="80000"/>
              </a:lnSpc>
            </a:pPr>
            <a:r>
              <a:rPr lang="en-US" altLang="en-US" sz="1200"/>
              <a:t>	cout &lt;&lt; "y = "&lt;&lt;y&lt;&lt;"\n";</a:t>
            </a:r>
          </a:p>
          <a:p>
            <a:pPr algn="l" eaLnBrk="1" hangingPunct="1">
              <a:lnSpc>
                <a:spcPct val="80000"/>
              </a:lnSpc>
            </a:pPr>
            <a:r>
              <a:rPr lang="en-US" altLang="en-US" sz="1200"/>
              <a:t>}</a:t>
            </a:r>
          </a:p>
          <a:p>
            <a:pPr algn="l" eaLnBrk="1" hangingPunct="1">
              <a:lnSpc>
                <a:spcPct val="80000"/>
              </a:lnSpc>
            </a:pPr>
            <a:r>
              <a:rPr lang="en-US" altLang="en-US" sz="1200"/>
              <a:t>void unaryopex :: operator-()</a:t>
            </a:r>
          </a:p>
          <a:p>
            <a:pPr algn="l" eaLnBrk="1" hangingPunct="1">
              <a:lnSpc>
                <a:spcPct val="80000"/>
              </a:lnSpc>
            </a:pPr>
            <a:r>
              <a:rPr lang="en-US" altLang="en-US" sz="1200"/>
              <a:t>{</a:t>
            </a:r>
          </a:p>
          <a:p>
            <a:pPr algn="l" eaLnBrk="1" hangingPunct="1">
              <a:lnSpc>
                <a:spcPct val="80000"/>
              </a:lnSpc>
            </a:pPr>
            <a:r>
              <a:rPr lang="en-US" altLang="en-US" sz="1200"/>
              <a:t>	x=-x; 	y=-y;</a:t>
            </a:r>
          </a:p>
          <a:p>
            <a:pPr algn="l" eaLnBrk="1" hangingPunct="1">
              <a:lnSpc>
                <a:spcPct val="80000"/>
              </a:lnSpc>
            </a:pPr>
            <a:r>
              <a:rPr lang="en-US" altLang="en-US" sz="1200"/>
              <a:t>}</a:t>
            </a:r>
          </a:p>
          <a:p>
            <a:pPr algn="l" eaLnBrk="1" hangingPunct="1">
              <a:lnSpc>
                <a:spcPct val="80000"/>
              </a:lnSpc>
            </a:pPr>
            <a:r>
              <a:rPr lang="en-US" altLang="en-US" sz="1200"/>
              <a:t>void main()</a:t>
            </a:r>
          </a:p>
          <a:p>
            <a:pPr algn="l" eaLnBrk="1" hangingPunct="1">
              <a:lnSpc>
                <a:spcPct val="80000"/>
              </a:lnSpc>
            </a:pPr>
            <a:r>
              <a:rPr lang="en-US" altLang="en-US" sz="1200"/>
              <a:t>{</a:t>
            </a:r>
          </a:p>
          <a:p>
            <a:pPr algn="l" eaLnBrk="1" hangingPunct="1">
              <a:lnSpc>
                <a:spcPct val="80000"/>
              </a:lnSpc>
            </a:pPr>
            <a:r>
              <a:rPr lang="en-US" altLang="en-US" sz="1200"/>
              <a:t>	unaryopex u;</a:t>
            </a:r>
          </a:p>
          <a:p>
            <a:pPr algn="l" eaLnBrk="1" hangingPunct="1">
              <a:lnSpc>
                <a:spcPct val="80000"/>
              </a:lnSpc>
            </a:pPr>
            <a:r>
              <a:rPr lang="en-US" altLang="en-US" sz="1200"/>
              <a:t>	u.getdata(10,20);</a:t>
            </a:r>
          </a:p>
          <a:p>
            <a:pPr algn="l" eaLnBrk="1" hangingPunct="1">
              <a:lnSpc>
                <a:spcPct val="80000"/>
              </a:lnSpc>
            </a:pPr>
            <a:r>
              <a:rPr lang="en-US" altLang="en-US" sz="1200"/>
              <a:t>	u.disp();</a:t>
            </a:r>
          </a:p>
          <a:p>
            <a:pPr algn="l" eaLnBrk="1" hangingPunct="1">
              <a:lnSpc>
                <a:spcPct val="80000"/>
              </a:lnSpc>
            </a:pPr>
            <a:r>
              <a:rPr lang="en-US" altLang="en-US" sz="1200"/>
              <a:t>	-u;</a:t>
            </a:r>
          </a:p>
          <a:p>
            <a:pPr algn="l" eaLnBrk="1" hangingPunct="1">
              <a:lnSpc>
                <a:spcPct val="80000"/>
              </a:lnSpc>
            </a:pPr>
            <a:r>
              <a:rPr lang="en-US" altLang="en-US" sz="1200"/>
              <a:t>	u.disp();</a:t>
            </a:r>
          </a:p>
          <a:p>
            <a:pPr algn="l" eaLnBrk="1" hangingPunct="1">
              <a:lnSpc>
                <a:spcPct val="80000"/>
              </a:lnSpc>
            </a:pPr>
            <a:r>
              <a:rPr lang="en-US" altLang="en-US" sz="1200"/>
              <a:t>}</a:t>
            </a:r>
          </a:p>
          <a:p>
            <a:pPr algn="l" eaLnBrk="1" hangingPunct="1">
              <a:lnSpc>
                <a:spcPct val="80000"/>
              </a:lnSpc>
            </a:pPr>
            <a:r>
              <a:rPr lang="en-US" altLang="en-US" sz="1200"/>
              <a:t>Output:</a:t>
            </a:r>
          </a:p>
          <a:p>
            <a:pPr algn="l" eaLnBrk="1" hangingPunct="1">
              <a:lnSpc>
                <a:spcPct val="80000"/>
              </a:lnSpc>
            </a:pPr>
            <a:r>
              <a:rPr lang="en-US" altLang="en-US" sz="1200"/>
              <a:t>X=10</a:t>
            </a:r>
          </a:p>
          <a:p>
            <a:pPr algn="l" eaLnBrk="1" hangingPunct="1">
              <a:lnSpc>
                <a:spcPct val="80000"/>
              </a:lnSpc>
            </a:pPr>
            <a:r>
              <a:rPr lang="en-US" altLang="en-US" sz="1200"/>
              <a:t>Y=20</a:t>
            </a:r>
          </a:p>
          <a:p>
            <a:pPr algn="l" eaLnBrk="1" hangingPunct="1">
              <a:lnSpc>
                <a:spcPct val="80000"/>
              </a:lnSpc>
            </a:pPr>
            <a:r>
              <a:rPr lang="en-US" altLang="en-US" sz="1200"/>
              <a:t>X=-10</a:t>
            </a:r>
          </a:p>
          <a:p>
            <a:pPr algn="l" eaLnBrk="1" hangingPunct="1">
              <a:lnSpc>
                <a:spcPct val="80000"/>
              </a:lnSpc>
            </a:pPr>
            <a:r>
              <a:rPr lang="en-US" altLang="en-US" sz="1200"/>
              <a:t>Y=-20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19DCF73-1AD9-97CA-9241-A6330BAA4E3E}"/>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Overloading unary operators</a:t>
            </a:r>
          </a:p>
        </p:txBody>
      </p:sp>
      <p:sp>
        <p:nvSpPr>
          <p:cNvPr id="13315" name="Rectangle 3">
            <a:extLst>
              <a:ext uri="{FF2B5EF4-FFF2-40B4-BE49-F238E27FC236}">
                <a16:creationId xmlns:a16="http://schemas.microsoft.com/office/drawing/2014/main" id="{D0A77FD6-B19E-0BBB-A476-3E7AE49B3949}"/>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a:latin typeface="Times New Roman" panose="02020603050405020304" pitchFamily="18" charset="0"/>
              </a:rPr>
              <a:t>u=-u will not work because operator-() does not return any value</a:t>
            </a:r>
          </a:p>
          <a:p>
            <a:pPr algn="just" eaLnBrk="1" hangingPunct="1">
              <a:buFontTx/>
              <a:buChar char="•"/>
            </a:pPr>
            <a:r>
              <a:rPr lang="en-US" altLang="en-US">
                <a:latin typeface="Times New Roman" panose="02020603050405020304" pitchFamily="18" charset="0"/>
              </a:rPr>
              <a:t>It can work like this if operator-() will return an object</a:t>
            </a:r>
          </a:p>
          <a:p>
            <a:pPr algn="just" eaLnBrk="1" hangingPunct="1"/>
            <a:endParaRPr lang="en-US" altLang="en-US">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182C9BC-CEF8-1EB0-5DBA-60CFC57B2748}"/>
              </a:ext>
            </a:extLst>
          </p:cNvPr>
          <p:cNvSpPr>
            <a:spLocks noGrp="1" noChangeArrowheads="1"/>
          </p:cNvSpPr>
          <p:nvPr>
            <p:ph type="subTitle" idx="1"/>
          </p:nvPr>
        </p:nvSpPr>
        <p:spPr>
          <a:xfrm>
            <a:off x="228600" y="152400"/>
            <a:ext cx="8686800" cy="6477000"/>
          </a:xfrm>
        </p:spPr>
        <p:txBody>
          <a:bodyPr/>
          <a:lstStyle/>
          <a:p>
            <a:pPr algn="l" eaLnBrk="1" hangingPunct="1">
              <a:lnSpc>
                <a:spcPct val="80000"/>
              </a:lnSpc>
            </a:pPr>
            <a:r>
              <a:rPr lang="en-US" altLang="en-US" sz="1200"/>
              <a:t>#include &lt;iostream.h&gt;</a:t>
            </a:r>
          </a:p>
          <a:p>
            <a:pPr algn="l" eaLnBrk="1" hangingPunct="1">
              <a:lnSpc>
                <a:spcPct val="80000"/>
              </a:lnSpc>
            </a:pPr>
            <a:r>
              <a:rPr lang="en-US" altLang="en-US" sz="1200"/>
              <a:t>class unaryopex</a:t>
            </a:r>
          </a:p>
          <a:p>
            <a:pPr algn="l" eaLnBrk="1" hangingPunct="1">
              <a:lnSpc>
                <a:spcPct val="80000"/>
              </a:lnSpc>
            </a:pPr>
            <a:r>
              <a:rPr lang="en-US" altLang="en-US" sz="1200"/>
              <a:t>{</a:t>
            </a:r>
          </a:p>
          <a:p>
            <a:pPr algn="l" eaLnBrk="1" hangingPunct="1">
              <a:lnSpc>
                <a:spcPct val="80000"/>
              </a:lnSpc>
            </a:pPr>
            <a:r>
              <a:rPr lang="en-US" altLang="en-US" sz="1200"/>
              <a:t>	int x,y;</a:t>
            </a:r>
          </a:p>
          <a:p>
            <a:pPr algn="l" eaLnBrk="1" hangingPunct="1">
              <a:lnSpc>
                <a:spcPct val="80000"/>
              </a:lnSpc>
            </a:pPr>
            <a:r>
              <a:rPr lang="en-US" altLang="en-US" sz="1200"/>
              <a:t>	public:</a:t>
            </a:r>
          </a:p>
          <a:p>
            <a:pPr algn="l" eaLnBrk="1" hangingPunct="1">
              <a:lnSpc>
                <a:spcPct val="80000"/>
              </a:lnSpc>
            </a:pPr>
            <a:r>
              <a:rPr lang="en-US" altLang="en-US" sz="1200"/>
              <a:t>		void getdata(int a,int b);</a:t>
            </a:r>
          </a:p>
          <a:p>
            <a:pPr algn="l" eaLnBrk="1" hangingPunct="1">
              <a:lnSpc>
                <a:spcPct val="80000"/>
              </a:lnSpc>
            </a:pPr>
            <a:r>
              <a:rPr lang="en-US" altLang="en-US" sz="1200"/>
              <a:t>		void disp();</a:t>
            </a:r>
          </a:p>
          <a:p>
            <a:pPr algn="l" eaLnBrk="1" hangingPunct="1">
              <a:lnSpc>
                <a:spcPct val="80000"/>
              </a:lnSpc>
            </a:pPr>
            <a:r>
              <a:rPr lang="en-US" altLang="en-US" sz="1200"/>
              <a:t>		</a:t>
            </a:r>
            <a:r>
              <a:rPr lang="en-US" altLang="en-US" sz="1200">
                <a:solidFill>
                  <a:schemeClr val="accent2"/>
                </a:solidFill>
              </a:rPr>
              <a:t>friend void operator-(unaryopex &amp;u);</a:t>
            </a:r>
            <a:r>
              <a:rPr lang="en-US" altLang="en-US" sz="1200"/>
              <a:t>	//overload unaryminus</a:t>
            </a:r>
          </a:p>
          <a:p>
            <a:pPr algn="l" eaLnBrk="1" hangingPunct="1">
              <a:lnSpc>
                <a:spcPct val="80000"/>
              </a:lnSpc>
            </a:pPr>
            <a:r>
              <a:rPr lang="en-US" altLang="en-US" sz="1200"/>
              <a:t>};</a:t>
            </a:r>
          </a:p>
          <a:p>
            <a:pPr algn="l" eaLnBrk="1" hangingPunct="1">
              <a:lnSpc>
                <a:spcPct val="80000"/>
              </a:lnSpc>
            </a:pPr>
            <a:r>
              <a:rPr lang="en-US" altLang="en-US" sz="1200"/>
              <a:t>void unaryopex :: getdata(int a,int b)</a:t>
            </a:r>
          </a:p>
          <a:p>
            <a:pPr algn="l" eaLnBrk="1" hangingPunct="1">
              <a:lnSpc>
                <a:spcPct val="80000"/>
              </a:lnSpc>
            </a:pPr>
            <a:r>
              <a:rPr lang="en-US" altLang="en-US" sz="1200"/>
              <a:t>{</a:t>
            </a:r>
          </a:p>
          <a:p>
            <a:pPr algn="l" eaLnBrk="1" hangingPunct="1">
              <a:lnSpc>
                <a:spcPct val="80000"/>
              </a:lnSpc>
            </a:pPr>
            <a:r>
              <a:rPr lang="en-US" altLang="en-US" sz="1200"/>
              <a:t>	x=a; y=b;</a:t>
            </a:r>
          </a:p>
          <a:p>
            <a:pPr algn="l" eaLnBrk="1" hangingPunct="1">
              <a:lnSpc>
                <a:spcPct val="80000"/>
              </a:lnSpc>
            </a:pPr>
            <a:r>
              <a:rPr lang="en-US" altLang="en-US" sz="1200"/>
              <a:t>}</a:t>
            </a:r>
          </a:p>
          <a:p>
            <a:pPr algn="l" eaLnBrk="1" hangingPunct="1">
              <a:lnSpc>
                <a:spcPct val="80000"/>
              </a:lnSpc>
            </a:pPr>
            <a:r>
              <a:rPr lang="en-US" altLang="en-US" sz="1200"/>
              <a:t>void unaryopex :: disp()</a:t>
            </a:r>
          </a:p>
          <a:p>
            <a:pPr algn="l" eaLnBrk="1" hangingPunct="1">
              <a:lnSpc>
                <a:spcPct val="80000"/>
              </a:lnSpc>
            </a:pPr>
            <a:r>
              <a:rPr lang="en-US" altLang="en-US" sz="1200"/>
              <a:t>{</a:t>
            </a:r>
          </a:p>
          <a:p>
            <a:pPr algn="l" eaLnBrk="1" hangingPunct="1">
              <a:lnSpc>
                <a:spcPct val="80000"/>
              </a:lnSpc>
            </a:pPr>
            <a:r>
              <a:rPr lang="en-US" altLang="en-US" sz="1200"/>
              <a:t>	cout &lt;&lt; "x = "&lt;&lt;x&lt;&lt;"\n";</a:t>
            </a:r>
          </a:p>
          <a:p>
            <a:pPr algn="l" eaLnBrk="1" hangingPunct="1">
              <a:lnSpc>
                <a:spcPct val="80000"/>
              </a:lnSpc>
            </a:pPr>
            <a:r>
              <a:rPr lang="en-US" altLang="en-US" sz="1200"/>
              <a:t>	cout &lt;&lt; "y = "&lt;&lt;y&lt;&lt;"\n";</a:t>
            </a:r>
          </a:p>
          <a:p>
            <a:pPr algn="l" eaLnBrk="1" hangingPunct="1">
              <a:lnSpc>
                <a:spcPct val="80000"/>
              </a:lnSpc>
            </a:pPr>
            <a:r>
              <a:rPr lang="en-US" altLang="en-US" sz="1200"/>
              <a:t>}</a:t>
            </a:r>
          </a:p>
          <a:p>
            <a:pPr algn="l" eaLnBrk="1" hangingPunct="1">
              <a:lnSpc>
                <a:spcPct val="80000"/>
              </a:lnSpc>
            </a:pPr>
            <a:r>
              <a:rPr lang="en-US" altLang="en-US" sz="1200">
                <a:solidFill>
                  <a:schemeClr val="accent2"/>
                </a:solidFill>
              </a:rPr>
              <a:t>void operator-(unaryopex &amp;u)</a:t>
            </a:r>
          </a:p>
          <a:p>
            <a:pPr algn="l" eaLnBrk="1" hangingPunct="1">
              <a:lnSpc>
                <a:spcPct val="80000"/>
              </a:lnSpc>
            </a:pPr>
            <a:r>
              <a:rPr lang="en-US" altLang="en-US" sz="1200">
                <a:solidFill>
                  <a:schemeClr val="accent2"/>
                </a:solidFill>
              </a:rPr>
              <a:t>{</a:t>
            </a:r>
          </a:p>
          <a:p>
            <a:pPr algn="l" eaLnBrk="1" hangingPunct="1">
              <a:lnSpc>
                <a:spcPct val="80000"/>
              </a:lnSpc>
            </a:pPr>
            <a:r>
              <a:rPr lang="en-US" altLang="en-US" sz="1200">
                <a:solidFill>
                  <a:schemeClr val="accent2"/>
                </a:solidFill>
              </a:rPr>
              <a:t>	u.x=-u.x; 	u.y=-u.y;</a:t>
            </a:r>
          </a:p>
          <a:p>
            <a:pPr algn="l" eaLnBrk="1" hangingPunct="1">
              <a:lnSpc>
                <a:spcPct val="80000"/>
              </a:lnSpc>
            </a:pPr>
            <a:r>
              <a:rPr lang="en-US" altLang="en-US" sz="1200">
                <a:solidFill>
                  <a:schemeClr val="accent2"/>
                </a:solidFill>
              </a:rPr>
              <a:t>}</a:t>
            </a:r>
          </a:p>
          <a:p>
            <a:pPr algn="l" eaLnBrk="1" hangingPunct="1">
              <a:lnSpc>
                <a:spcPct val="80000"/>
              </a:lnSpc>
            </a:pPr>
            <a:r>
              <a:rPr lang="en-US" altLang="en-US" sz="1200"/>
              <a:t>void main()</a:t>
            </a:r>
          </a:p>
          <a:p>
            <a:pPr algn="l" eaLnBrk="1" hangingPunct="1">
              <a:lnSpc>
                <a:spcPct val="80000"/>
              </a:lnSpc>
            </a:pPr>
            <a:r>
              <a:rPr lang="en-US" altLang="en-US" sz="1200"/>
              <a:t>{</a:t>
            </a:r>
          </a:p>
          <a:p>
            <a:pPr algn="l" eaLnBrk="1" hangingPunct="1">
              <a:lnSpc>
                <a:spcPct val="80000"/>
              </a:lnSpc>
            </a:pPr>
            <a:r>
              <a:rPr lang="en-US" altLang="en-US" sz="1200"/>
              <a:t>	unaryopex u;</a:t>
            </a:r>
          </a:p>
          <a:p>
            <a:pPr algn="l" eaLnBrk="1" hangingPunct="1">
              <a:lnSpc>
                <a:spcPct val="80000"/>
              </a:lnSpc>
            </a:pPr>
            <a:r>
              <a:rPr lang="en-US" altLang="en-US" sz="1200"/>
              <a:t>	u.getdata(10,20);</a:t>
            </a:r>
          </a:p>
          <a:p>
            <a:pPr algn="l" eaLnBrk="1" hangingPunct="1">
              <a:lnSpc>
                <a:spcPct val="80000"/>
              </a:lnSpc>
            </a:pPr>
            <a:r>
              <a:rPr lang="en-US" altLang="en-US" sz="1200"/>
              <a:t>	u.disp();</a:t>
            </a:r>
          </a:p>
          <a:p>
            <a:pPr algn="l" eaLnBrk="1" hangingPunct="1">
              <a:lnSpc>
                <a:spcPct val="80000"/>
              </a:lnSpc>
            </a:pPr>
            <a:r>
              <a:rPr lang="en-US" altLang="en-US" sz="1200"/>
              <a:t>	-u;</a:t>
            </a:r>
          </a:p>
          <a:p>
            <a:pPr algn="l" eaLnBrk="1" hangingPunct="1">
              <a:lnSpc>
                <a:spcPct val="80000"/>
              </a:lnSpc>
            </a:pPr>
            <a:r>
              <a:rPr lang="en-US" altLang="en-US" sz="1200"/>
              <a:t>	u.disp();</a:t>
            </a:r>
          </a:p>
          <a:p>
            <a:pPr algn="l" eaLnBrk="1" hangingPunct="1">
              <a:lnSpc>
                <a:spcPct val="80000"/>
              </a:lnSpc>
            </a:pPr>
            <a:r>
              <a:rPr lang="en-US" altLang="en-US" sz="1200"/>
              <a:t>}</a:t>
            </a:r>
          </a:p>
          <a:p>
            <a:pPr algn="l" eaLnBrk="1" hangingPunct="1">
              <a:lnSpc>
                <a:spcPct val="80000"/>
              </a:lnSpc>
            </a:pPr>
            <a:r>
              <a:rPr lang="en-US" altLang="en-US" sz="1200"/>
              <a:t>Output:</a:t>
            </a:r>
          </a:p>
          <a:p>
            <a:pPr algn="l" eaLnBrk="1" hangingPunct="1">
              <a:lnSpc>
                <a:spcPct val="80000"/>
              </a:lnSpc>
            </a:pPr>
            <a:r>
              <a:rPr lang="en-US" altLang="en-US" sz="1200"/>
              <a:t>X=10</a:t>
            </a:r>
          </a:p>
          <a:p>
            <a:pPr algn="l" eaLnBrk="1" hangingPunct="1">
              <a:lnSpc>
                <a:spcPct val="80000"/>
              </a:lnSpc>
            </a:pPr>
            <a:r>
              <a:rPr lang="en-US" altLang="en-US" sz="1200"/>
              <a:t>Y=20</a:t>
            </a:r>
          </a:p>
          <a:p>
            <a:pPr algn="l" eaLnBrk="1" hangingPunct="1">
              <a:lnSpc>
                <a:spcPct val="80000"/>
              </a:lnSpc>
            </a:pPr>
            <a:r>
              <a:rPr lang="en-US" altLang="en-US" sz="1200"/>
              <a:t>X=-10</a:t>
            </a:r>
          </a:p>
          <a:p>
            <a:pPr algn="l" eaLnBrk="1" hangingPunct="1">
              <a:lnSpc>
                <a:spcPct val="80000"/>
              </a:lnSpc>
            </a:pPr>
            <a:r>
              <a:rPr lang="en-US" altLang="en-US" sz="1200"/>
              <a:t>Y=-20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4189327-5741-47C9-C2BF-40AF508B89A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Overloading binary operators</a:t>
            </a:r>
          </a:p>
        </p:txBody>
      </p:sp>
      <p:sp>
        <p:nvSpPr>
          <p:cNvPr id="15363" name="Rectangle 3">
            <a:extLst>
              <a:ext uri="{FF2B5EF4-FFF2-40B4-BE49-F238E27FC236}">
                <a16:creationId xmlns:a16="http://schemas.microsoft.com/office/drawing/2014/main" id="{8B8DBFBA-8958-7C46-FECB-EADBF211C5EC}"/>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sz="3600">
                <a:latin typeface="Times New Roman" panose="02020603050405020304" pitchFamily="18" charset="0"/>
              </a:rPr>
              <a:t>We can overload a binary operators also</a:t>
            </a:r>
          </a:p>
          <a:p>
            <a:pPr algn="just" eaLnBrk="1" hangingPunct="1">
              <a:buFontTx/>
              <a:buChar char="•"/>
            </a:pPr>
            <a:r>
              <a:rPr lang="en-US" altLang="en-US" sz="3600">
                <a:latin typeface="Times New Roman" panose="02020603050405020304" pitchFamily="18" charset="0"/>
              </a:rPr>
              <a:t>We can add two complex numbers</a:t>
            </a:r>
          </a:p>
          <a:p>
            <a:pPr algn="just" eaLnBrk="1" hangingPunct="1"/>
            <a:r>
              <a:rPr lang="en-US" altLang="en-US" sz="3600">
                <a:latin typeface="Times New Roman" panose="02020603050405020304" pitchFamily="18" charset="0"/>
              </a:rPr>
              <a:t>		c3=c1+c2</a:t>
            </a:r>
          </a:p>
          <a:p>
            <a:pPr algn="just" eaLnBrk="1" hangingPunct="1"/>
            <a:r>
              <a:rPr lang="en-US" altLang="en-US" sz="3600">
                <a:latin typeface="Times New Roman" panose="02020603050405020304" pitchFamily="18" charset="0"/>
              </a:rPr>
              <a:t>	c3=c1.operator+(c2)</a:t>
            </a:r>
          </a:p>
          <a:p>
            <a:pPr algn="just" eaLnBrk="1" hangingPunct="1"/>
            <a:r>
              <a:rPr lang="en-US" altLang="en-US" sz="3600">
                <a:latin typeface="Times New Roman" panose="02020603050405020304" pitchFamily="18" charset="0"/>
              </a:rPr>
              <a:t>***c1 it can access directly and c2 is passed</a:t>
            </a:r>
          </a:p>
          <a:p>
            <a:pPr algn="just" eaLnBrk="1" hangingPunct="1">
              <a:buFontTx/>
              <a:buChar char="•"/>
            </a:pPr>
            <a:endParaRPr lang="en-US" altLang="en-US">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993FF6A-8F88-B620-C3FC-AECDFE61CB95}"/>
              </a:ext>
            </a:extLst>
          </p:cNvPr>
          <p:cNvSpPr>
            <a:spLocks noGrp="1" noChangeArrowheads="1"/>
          </p:cNvSpPr>
          <p:nvPr>
            <p:ph type="subTitle" idx="1"/>
          </p:nvPr>
        </p:nvSpPr>
        <p:spPr>
          <a:xfrm>
            <a:off x="228600" y="152400"/>
            <a:ext cx="8686800" cy="6477000"/>
          </a:xfrm>
        </p:spPr>
        <p:txBody>
          <a:bodyPr/>
          <a:lstStyle/>
          <a:p>
            <a:pPr algn="l" eaLnBrk="1" hangingPunct="1">
              <a:lnSpc>
                <a:spcPct val="80000"/>
              </a:lnSpc>
            </a:pPr>
            <a:r>
              <a:rPr lang="en-US" altLang="en-US" sz="1200"/>
              <a:t>#include &lt;iostream.h&gt;</a:t>
            </a:r>
          </a:p>
          <a:p>
            <a:pPr algn="l" eaLnBrk="1" hangingPunct="1">
              <a:lnSpc>
                <a:spcPct val="80000"/>
              </a:lnSpc>
            </a:pPr>
            <a:r>
              <a:rPr lang="en-US" altLang="en-US" sz="1200"/>
              <a:t>class complex</a:t>
            </a:r>
          </a:p>
          <a:p>
            <a:pPr algn="l" eaLnBrk="1" hangingPunct="1">
              <a:lnSpc>
                <a:spcPct val="80000"/>
              </a:lnSpc>
            </a:pPr>
            <a:r>
              <a:rPr lang="en-US" altLang="en-US" sz="1200"/>
              <a:t>{</a:t>
            </a:r>
          </a:p>
          <a:p>
            <a:pPr algn="l" eaLnBrk="1" hangingPunct="1">
              <a:lnSpc>
                <a:spcPct val="80000"/>
              </a:lnSpc>
            </a:pPr>
            <a:r>
              <a:rPr lang="en-US" altLang="en-US" sz="1200"/>
              <a:t>	float real,img; //real and imaginary parts</a:t>
            </a:r>
          </a:p>
          <a:p>
            <a:pPr algn="l" eaLnBrk="1" hangingPunct="1">
              <a:lnSpc>
                <a:spcPct val="80000"/>
              </a:lnSpc>
            </a:pPr>
            <a:r>
              <a:rPr lang="en-US" altLang="en-US" sz="1200"/>
              <a:t>	public:</a:t>
            </a:r>
          </a:p>
          <a:p>
            <a:pPr algn="l" eaLnBrk="1" hangingPunct="1">
              <a:lnSpc>
                <a:spcPct val="80000"/>
              </a:lnSpc>
            </a:pPr>
            <a:r>
              <a:rPr lang="en-US" altLang="en-US" sz="1200"/>
              <a:t>		complex(){ }</a:t>
            </a:r>
          </a:p>
          <a:p>
            <a:pPr algn="l" eaLnBrk="1" hangingPunct="1">
              <a:lnSpc>
                <a:spcPct val="80000"/>
              </a:lnSpc>
            </a:pPr>
            <a:r>
              <a:rPr lang="en-US" altLang="en-US" sz="1200"/>
              <a:t>		complex(float r, float i) {real=r;img=i;}</a:t>
            </a:r>
          </a:p>
          <a:p>
            <a:pPr algn="l" eaLnBrk="1" hangingPunct="1">
              <a:lnSpc>
                <a:spcPct val="80000"/>
              </a:lnSpc>
            </a:pPr>
            <a:r>
              <a:rPr lang="en-US" altLang="en-US" sz="1200"/>
              <a:t>		void disp(void);</a:t>
            </a:r>
          </a:p>
          <a:p>
            <a:pPr algn="l" eaLnBrk="1" hangingPunct="1">
              <a:lnSpc>
                <a:spcPct val="80000"/>
              </a:lnSpc>
            </a:pPr>
            <a:r>
              <a:rPr lang="en-US" altLang="en-US" sz="1200"/>
              <a:t>		complex operator+(complex);	//overload binaryplus</a:t>
            </a:r>
          </a:p>
          <a:p>
            <a:pPr algn="l" eaLnBrk="1" hangingPunct="1">
              <a:lnSpc>
                <a:spcPct val="80000"/>
              </a:lnSpc>
            </a:pPr>
            <a:r>
              <a:rPr lang="en-US" altLang="en-US" sz="1200"/>
              <a:t>};</a:t>
            </a:r>
          </a:p>
          <a:p>
            <a:pPr algn="l" eaLnBrk="1" hangingPunct="1">
              <a:lnSpc>
                <a:spcPct val="80000"/>
              </a:lnSpc>
            </a:pPr>
            <a:r>
              <a:rPr lang="en-US" altLang="en-US" sz="1200"/>
              <a:t>void complex :: disp(void)</a:t>
            </a:r>
          </a:p>
          <a:p>
            <a:pPr algn="l" eaLnBrk="1" hangingPunct="1">
              <a:lnSpc>
                <a:spcPct val="80000"/>
              </a:lnSpc>
            </a:pPr>
            <a:r>
              <a:rPr lang="en-US" altLang="en-US" sz="1200"/>
              <a:t>{</a:t>
            </a:r>
          </a:p>
          <a:p>
            <a:pPr algn="l" eaLnBrk="1" hangingPunct="1">
              <a:lnSpc>
                <a:spcPct val="80000"/>
              </a:lnSpc>
            </a:pPr>
            <a:r>
              <a:rPr lang="en-US" altLang="en-US" sz="1200"/>
              <a:t>	cout &lt;&lt; real &lt;&lt; "+J"&lt;&lt;img&lt;&lt;"\n";</a:t>
            </a:r>
          </a:p>
          <a:p>
            <a:pPr algn="l" eaLnBrk="1" hangingPunct="1">
              <a:lnSpc>
                <a:spcPct val="80000"/>
              </a:lnSpc>
            </a:pPr>
            <a:r>
              <a:rPr lang="en-US" altLang="en-US" sz="1200"/>
              <a:t>}</a:t>
            </a:r>
          </a:p>
          <a:p>
            <a:pPr algn="l" eaLnBrk="1" hangingPunct="1">
              <a:lnSpc>
                <a:spcPct val="80000"/>
              </a:lnSpc>
            </a:pPr>
            <a:r>
              <a:rPr lang="en-US" altLang="en-US" sz="1200"/>
              <a:t>complex complex :: operator+(complex c)</a:t>
            </a:r>
          </a:p>
          <a:p>
            <a:pPr algn="l" eaLnBrk="1" hangingPunct="1">
              <a:lnSpc>
                <a:spcPct val="80000"/>
              </a:lnSpc>
            </a:pPr>
            <a:r>
              <a:rPr lang="en-US" altLang="en-US" sz="1200"/>
              <a:t>{</a:t>
            </a:r>
          </a:p>
          <a:p>
            <a:pPr algn="l" eaLnBrk="1" hangingPunct="1">
              <a:lnSpc>
                <a:spcPct val="80000"/>
              </a:lnSpc>
            </a:pPr>
            <a:r>
              <a:rPr lang="en-US" altLang="en-US" sz="1200"/>
              <a:t>	complex temp;</a:t>
            </a:r>
          </a:p>
          <a:p>
            <a:pPr algn="l" eaLnBrk="1" hangingPunct="1">
              <a:lnSpc>
                <a:spcPct val="80000"/>
              </a:lnSpc>
            </a:pPr>
            <a:r>
              <a:rPr lang="en-US" altLang="en-US" sz="1200"/>
              <a:t>	temp.real=real+c.real;</a:t>
            </a:r>
          </a:p>
          <a:p>
            <a:pPr algn="l" eaLnBrk="1" hangingPunct="1">
              <a:lnSpc>
                <a:spcPct val="80000"/>
              </a:lnSpc>
            </a:pPr>
            <a:r>
              <a:rPr lang="en-US" altLang="en-US" sz="1200"/>
              <a:t>	temp.img=img+c.img;</a:t>
            </a:r>
          </a:p>
          <a:p>
            <a:pPr algn="l" eaLnBrk="1" hangingPunct="1">
              <a:lnSpc>
                <a:spcPct val="80000"/>
              </a:lnSpc>
            </a:pPr>
            <a:r>
              <a:rPr lang="en-US" altLang="en-US" sz="1200"/>
              <a:t>	return temp;</a:t>
            </a:r>
          </a:p>
          <a:p>
            <a:pPr algn="l" eaLnBrk="1" hangingPunct="1">
              <a:lnSpc>
                <a:spcPct val="80000"/>
              </a:lnSpc>
            </a:pPr>
            <a:r>
              <a:rPr lang="en-US" altLang="en-US" sz="1200"/>
              <a:t>}</a:t>
            </a:r>
          </a:p>
          <a:p>
            <a:pPr algn="l" eaLnBrk="1" hangingPunct="1">
              <a:lnSpc>
                <a:spcPct val="80000"/>
              </a:lnSpc>
            </a:pPr>
            <a:r>
              <a:rPr lang="en-US" altLang="en-US" sz="1200"/>
              <a:t>void main()</a:t>
            </a:r>
          </a:p>
          <a:p>
            <a:pPr algn="l" eaLnBrk="1" hangingPunct="1">
              <a:lnSpc>
                <a:spcPct val="80000"/>
              </a:lnSpc>
            </a:pPr>
            <a:r>
              <a:rPr lang="en-US" altLang="en-US" sz="1200"/>
              <a:t>{</a:t>
            </a:r>
          </a:p>
          <a:p>
            <a:pPr algn="l" eaLnBrk="1" hangingPunct="1">
              <a:lnSpc>
                <a:spcPct val="80000"/>
              </a:lnSpc>
            </a:pPr>
            <a:r>
              <a:rPr lang="en-US" altLang="en-US" sz="1200"/>
              <a:t>	complex c1(1.3,2.5),c2(2.1,4.2),c3;</a:t>
            </a:r>
          </a:p>
          <a:p>
            <a:pPr algn="l" eaLnBrk="1" hangingPunct="1">
              <a:lnSpc>
                <a:spcPct val="80000"/>
              </a:lnSpc>
            </a:pPr>
            <a:r>
              <a:rPr lang="en-US" altLang="en-US" sz="1200"/>
              <a:t>	c3=c1+c2;</a:t>
            </a:r>
          </a:p>
          <a:p>
            <a:pPr algn="l" eaLnBrk="1" hangingPunct="1">
              <a:lnSpc>
                <a:spcPct val="80000"/>
              </a:lnSpc>
            </a:pPr>
            <a:r>
              <a:rPr lang="en-US" altLang="en-US" sz="1200"/>
              <a:t>	cout &lt;&lt; "c1=";	c1.disp();</a:t>
            </a:r>
          </a:p>
          <a:p>
            <a:pPr algn="l" eaLnBrk="1" hangingPunct="1">
              <a:lnSpc>
                <a:spcPct val="80000"/>
              </a:lnSpc>
            </a:pPr>
            <a:r>
              <a:rPr lang="en-US" altLang="en-US" sz="1200"/>
              <a:t>	cout &lt;&lt; "c2=";	c2.disp();</a:t>
            </a:r>
          </a:p>
          <a:p>
            <a:pPr algn="l" eaLnBrk="1" hangingPunct="1">
              <a:lnSpc>
                <a:spcPct val="80000"/>
              </a:lnSpc>
            </a:pPr>
            <a:r>
              <a:rPr lang="en-US" altLang="en-US" sz="1200"/>
              <a:t>	cout &lt;&lt; "c3=";	c3.disp();</a:t>
            </a:r>
          </a:p>
          <a:p>
            <a:pPr algn="l" eaLnBrk="1" hangingPunct="1">
              <a:lnSpc>
                <a:spcPct val="80000"/>
              </a:lnSpc>
            </a:pPr>
            <a:r>
              <a:rPr lang="en-US" altLang="en-US" sz="1200"/>
              <a:t>}</a:t>
            </a:r>
          </a:p>
          <a:p>
            <a:pPr algn="l" eaLnBrk="1" hangingPunct="1">
              <a:lnSpc>
                <a:spcPct val="80000"/>
              </a:lnSpc>
            </a:pPr>
            <a:r>
              <a:rPr lang="en-US" altLang="en-US" sz="1200"/>
              <a:t>Output:</a:t>
            </a:r>
          </a:p>
          <a:p>
            <a:pPr algn="l" eaLnBrk="1" hangingPunct="1">
              <a:lnSpc>
                <a:spcPct val="80000"/>
              </a:lnSpc>
            </a:pPr>
            <a:r>
              <a:rPr lang="en-US" altLang="en-US" sz="1200"/>
              <a:t>c1= 1.3+J2.5;</a:t>
            </a:r>
          </a:p>
          <a:p>
            <a:pPr algn="l" eaLnBrk="1" hangingPunct="1">
              <a:lnSpc>
                <a:spcPct val="80000"/>
              </a:lnSpc>
            </a:pPr>
            <a:r>
              <a:rPr lang="en-US" altLang="en-US" sz="1200"/>
              <a:t>c2= 2.1+J4.2;</a:t>
            </a:r>
          </a:p>
          <a:p>
            <a:pPr algn="l" eaLnBrk="1" hangingPunct="1">
              <a:lnSpc>
                <a:spcPct val="80000"/>
              </a:lnSpc>
            </a:pPr>
            <a:r>
              <a:rPr lang="en-US" altLang="en-US" sz="1200"/>
              <a:t>c3= 3.4+J6.7;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7FE2F23-6D24-3072-29DC-D57AF0D2C156}"/>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Overloading binary operators using friend</a:t>
            </a:r>
          </a:p>
        </p:txBody>
      </p:sp>
      <p:sp>
        <p:nvSpPr>
          <p:cNvPr id="17411" name="Rectangle 3">
            <a:extLst>
              <a:ext uri="{FF2B5EF4-FFF2-40B4-BE49-F238E27FC236}">
                <a16:creationId xmlns:a16="http://schemas.microsoft.com/office/drawing/2014/main" id="{82313F81-E4E0-5FD1-899A-CA21EA8618D6}"/>
              </a:ext>
            </a:extLst>
          </p:cNvPr>
          <p:cNvSpPr>
            <a:spLocks noGrp="1" noChangeArrowheads="1"/>
          </p:cNvSpPr>
          <p:nvPr>
            <p:ph type="subTitle" idx="1"/>
          </p:nvPr>
        </p:nvSpPr>
        <p:spPr>
          <a:xfrm>
            <a:off x="228600" y="609600"/>
            <a:ext cx="8686800" cy="6019800"/>
          </a:xfrm>
        </p:spPr>
        <p:txBody>
          <a:bodyPr/>
          <a:lstStyle/>
          <a:p>
            <a:pPr marL="609600" indent="-609600" algn="just" eaLnBrk="1" hangingPunct="1">
              <a:buFontTx/>
              <a:buChar char="•"/>
            </a:pPr>
            <a:r>
              <a:rPr lang="en-US" altLang="en-US" sz="3600">
                <a:latin typeface="Times New Roman" panose="02020603050405020304" pitchFamily="18" charset="0"/>
              </a:rPr>
              <a:t>Friend function requires two arguments to be explicitly passed to it while a member function requires only one</a:t>
            </a:r>
          </a:p>
          <a:p>
            <a:pPr marL="609600" indent="-609600" algn="just" eaLnBrk="1" hangingPunct="1">
              <a:buFontTx/>
              <a:buChar char="•"/>
            </a:pPr>
            <a:r>
              <a:rPr lang="en-US" altLang="en-US" sz="3600">
                <a:latin typeface="Times New Roman" panose="02020603050405020304" pitchFamily="18" charset="0"/>
              </a:rPr>
              <a:t>In the previous program we have to do two changes only</a:t>
            </a:r>
          </a:p>
          <a:p>
            <a:pPr marL="990600" lvl="1" indent="-533400" algn="just" eaLnBrk="1" hangingPunct="1">
              <a:buFontTx/>
              <a:buAutoNum type="arabicPeriod"/>
            </a:pPr>
            <a:r>
              <a:rPr lang="en-US" altLang="en-US">
                <a:latin typeface="Times New Roman" panose="02020603050405020304" pitchFamily="18" charset="0"/>
              </a:rPr>
              <a:t>Replace the member function declaration with friend function declaration</a:t>
            </a:r>
          </a:p>
          <a:p>
            <a:pPr marL="1371600" lvl="2" indent="-457200" algn="just" eaLnBrk="1" hangingPunct="1"/>
            <a:r>
              <a:rPr lang="en-US" altLang="en-US">
                <a:latin typeface="Times New Roman" panose="02020603050405020304" pitchFamily="18" charset="0"/>
              </a:rPr>
              <a:t>friend complex operator+(complex,complex)</a:t>
            </a:r>
          </a:p>
          <a:p>
            <a:pPr marL="990600" lvl="1" indent="-533400" algn="just" eaLnBrk="1" hangingPunct="1">
              <a:buFontTx/>
              <a:buAutoNum type="arabicPeriod"/>
            </a:pPr>
            <a:r>
              <a:rPr lang="en-US" altLang="en-US">
                <a:latin typeface="Times New Roman" panose="02020603050405020304" pitchFamily="18" charset="0"/>
              </a:rPr>
              <a:t>Redefine the operator function as follows</a:t>
            </a:r>
          </a:p>
          <a:p>
            <a:pPr marL="990600" lvl="1" indent="-533400" algn="just" eaLnBrk="1" hangingPunct="1"/>
            <a:r>
              <a:rPr lang="en-US" altLang="en-US">
                <a:latin typeface="Times New Roman" panose="02020603050405020304" pitchFamily="18" charset="0"/>
              </a:rPr>
              <a:t>	</a:t>
            </a:r>
          </a:p>
          <a:p>
            <a:pPr marL="990600" lvl="1" indent="-533400" algn="just" eaLnBrk="1" hangingPunct="1">
              <a:buFontTx/>
              <a:buAutoNum type="arabicPeriod"/>
            </a:pPr>
            <a:endParaRPr lang="en-US" altLang="en-US">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4A34B6B-8C2F-E80D-7151-F961E2A8BD53}"/>
              </a:ext>
            </a:extLst>
          </p:cNvPr>
          <p:cNvSpPr>
            <a:spLocks noGrp="1" noChangeArrowheads="1"/>
          </p:cNvSpPr>
          <p:nvPr>
            <p:ph type="subTitle" idx="1"/>
          </p:nvPr>
        </p:nvSpPr>
        <p:spPr>
          <a:xfrm>
            <a:off x="228600" y="152400"/>
            <a:ext cx="8686800" cy="6477000"/>
          </a:xfrm>
        </p:spPr>
        <p:txBody>
          <a:bodyPr/>
          <a:lstStyle/>
          <a:p>
            <a:pPr algn="l" eaLnBrk="1" hangingPunct="1">
              <a:lnSpc>
                <a:spcPct val="80000"/>
              </a:lnSpc>
            </a:pPr>
            <a:r>
              <a:rPr lang="en-US" altLang="en-US" sz="1600"/>
              <a:t>#include &lt;iostream.h&gt;</a:t>
            </a:r>
          </a:p>
          <a:p>
            <a:pPr algn="l" eaLnBrk="1" hangingPunct="1">
              <a:lnSpc>
                <a:spcPct val="80000"/>
              </a:lnSpc>
            </a:pPr>
            <a:r>
              <a:rPr lang="en-US" altLang="en-US" sz="1600"/>
              <a:t>class complex</a:t>
            </a:r>
          </a:p>
          <a:p>
            <a:pPr algn="l" eaLnBrk="1" hangingPunct="1">
              <a:lnSpc>
                <a:spcPct val="80000"/>
              </a:lnSpc>
            </a:pPr>
            <a:r>
              <a:rPr lang="en-US" altLang="en-US" sz="1600"/>
              <a:t>{</a:t>
            </a:r>
          </a:p>
          <a:p>
            <a:pPr algn="l" eaLnBrk="1" hangingPunct="1">
              <a:lnSpc>
                <a:spcPct val="80000"/>
              </a:lnSpc>
            </a:pPr>
            <a:r>
              <a:rPr lang="en-US" altLang="en-US" sz="1600"/>
              <a:t>	float real,img; //real and imaginary parts</a:t>
            </a:r>
          </a:p>
          <a:p>
            <a:pPr algn="l" eaLnBrk="1" hangingPunct="1">
              <a:lnSpc>
                <a:spcPct val="80000"/>
              </a:lnSpc>
            </a:pPr>
            <a:r>
              <a:rPr lang="en-US" altLang="en-US" sz="1600"/>
              <a:t>	public:</a:t>
            </a:r>
          </a:p>
          <a:p>
            <a:pPr algn="l" eaLnBrk="1" hangingPunct="1">
              <a:lnSpc>
                <a:spcPct val="80000"/>
              </a:lnSpc>
            </a:pPr>
            <a:r>
              <a:rPr lang="en-US" altLang="en-US" sz="1600"/>
              <a:t>		complex(){ }</a:t>
            </a:r>
          </a:p>
          <a:p>
            <a:pPr algn="l" eaLnBrk="1" hangingPunct="1">
              <a:lnSpc>
                <a:spcPct val="80000"/>
              </a:lnSpc>
            </a:pPr>
            <a:r>
              <a:rPr lang="en-US" altLang="en-US" sz="1600"/>
              <a:t>		complex(float r, float i) {real=r;img=i;}</a:t>
            </a:r>
          </a:p>
          <a:p>
            <a:pPr algn="l" eaLnBrk="1" hangingPunct="1">
              <a:lnSpc>
                <a:spcPct val="80000"/>
              </a:lnSpc>
            </a:pPr>
            <a:r>
              <a:rPr lang="en-US" altLang="en-US" sz="1600"/>
              <a:t>		void disp(void);</a:t>
            </a:r>
          </a:p>
          <a:p>
            <a:pPr algn="l" eaLnBrk="1" hangingPunct="1">
              <a:lnSpc>
                <a:spcPct val="80000"/>
              </a:lnSpc>
            </a:pPr>
            <a:r>
              <a:rPr lang="en-US" altLang="en-US" sz="1600"/>
              <a:t>		</a:t>
            </a:r>
            <a:r>
              <a:rPr lang="en-US" altLang="en-US" sz="1600">
                <a:solidFill>
                  <a:schemeClr val="accent2"/>
                </a:solidFill>
              </a:rPr>
              <a:t>friend complex operator+(complex,complex);</a:t>
            </a:r>
            <a:r>
              <a:rPr lang="en-US" altLang="en-US" sz="1600"/>
              <a:t>	//overload binaryplus</a:t>
            </a:r>
          </a:p>
          <a:p>
            <a:pPr algn="l" eaLnBrk="1" hangingPunct="1">
              <a:lnSpc>
                <a:spcPct val="80000"/>
              </a:lnSpc>
            </a:pPr>
            <a:r>
              <a:rPr lang="en-US" altLang="en-US" sz="1600"/>
              <a:t>};</a:t>
            </a:r>
          </a:p>
          <a:p>
            <a:pPr algn="l" eaLnBrk="1" hangingPunct="1">
              <a:lnSpc>
                <a:spcPct val="80000"/>
              </a:lnSpc>
            </a:pPr>
            <a:r>
              <a:rPr lang="en-US" altLang="en-US" sz="1600"/>
              <a:t>void complex :: disp(void)</a:t>
            </a:r>
          </a:p>
          <a:p>
            <a:pPr algn="l" eaLnBrk="1" hangingPunct="1">
              <a:lnSpc>
                <a:spcPct val="80000"/>
              </a:lnSpc>
            </a:pPr>
            <a:r>
              <a:rPr lang="en-US" altLang="en-US" sz="1600"/>
              <a:t>{</a:t>
            </a:r>
          </a:p>
          <a:p>
            <a:pPr algn="l" eaLnBrk="1" hangingPunct="1">
              <a:lnSpc>
                <a:spcPct val="80000"/>
              </a:lnSpc>
            </a:pPr>
            <a:r>
              <a:rPr lang="en-US" altLang="en-US" sz="1600"/>
              <a:t>	cout &lt;&lt; real &lt;&lt; "+J"&lt;&lt;img&lt;&lt;"\n";</a:t>
            </a:r>
          </a:p>
          <a:p>
            <a:pPr algn="l" eaLnBrk="1" hangingPunct="1">
              <a:lnSpc>
                <a:spcPct val="80000"/>
              </a:lnSpc>
            </a:pPr>
            <a:r>
              <a:rPr lang="en-US" altLang="en-US" sz="1600"/>
              <a:t>}</a:t>
            </a:r>
          </a:p>
          <a:p>
            <a:pPr algn="l" eaLnBrk="1" hangingPunct="1">
              <a:lnSpc>
                <a:spcPct val="80000"/>
              </a:lnSpc>
            </a:pPr>
            <a:r>
              <a:rPr lang="en-US" altLang="en-US" sz="1600">
                <a:solidFill>
                  <a:schemeClr val="accent2"/>
                </a:solidFill>
              </a:rPr>
              <a:t>complex operator+(complex a,complex b)</a:t>
            </a:r>
          </a:p>
          <a:p>
            <a:pPr algn="l" eaLnBrk="1" hangingPunct="1">
              <a:lnSpc>
                <a:spcPct val="80000"/>
              </a:lnSpc>
            </a:pPr>
            <a:r>
              <a:rPr lang="en-US" altLang="en-US" sz="1600">
                <a:solidFill>
                  <a:schemeClr val="accent2"/>
                </a:solidFill>
              </a:rPr>
              <a:t>{</a:t>
            </a:r>
          </a:p>
          <a:p>
            <a:pPr algn="l" eaLnBrk="1" hangingPunct="1">
              <a:lnSpc>
                <a:spcPct val="80000"/>
              </a:lnSpc>
            </a:pPr>
            <a:r>
              <a:rPr lang="en-US" altLang="en-US" sz="1600">
                <a:solidFill>
                  <a:schemeClr val="accent2"/>
                </a:solidFill>
              </a:rPr>
              <a:t>	return complex((a.real+b.real),(a.img+b.img));</a:t>
            </a:r>
          </a:p>
          <a:p>
            <a:pPr algn="l" eaLnBrk="1" hangingPunct="1">
              <a:lnSpc>
                <a:spcPct val="80000"/>
              </a:lnSpc>
            </a:pPr>
            <a:r>
              <a:rPr lang="en-US" altLang="en-US" sz="1600">
                <a:solidFill>
                  <a:schemeClr val="accent2"/>
                </a:solidFill>
              </a:rPr>
              <a:t>}</a:t>
            </a:r>
          </a:p>
          <a:p>
            <a:pPr algn="l" eaLnBrk="1" hangingPunct="1">
              <a:lnSpc>
                <a:spcPct val="80000"/>
              </a:lnSpc>
            </a:pPr>
            <a:r>
              <a:rPr lang="en-US" altLang="en-US" sz="1600"/>
              <a:t>void main()</a:t>
            </a:r>
          </a:p>
          <a:p>
            <a:pPr algn="l" eaLnBrk="1" hangingPunct="1">
              <a:lnSpc>
                <a:spcPct val="80000"/>
              </a:lnSpc>
            </a:pPr>
            <a:r>
              <a:rPr lang="en-US" altLang="en-US" sz="1600"/>
              <a:t>{</a:t>
            </a:r>
          </a:p>
          <a:p>
            <a:pPr algn="l" eaLnBrk="1" hangingPunct="1">
              <a:lnSpc>
                <a:spcPct val="80000"/>
              </a:lnSpc>
            </a:pPr>
            <a:r>
              <a:rPr lang="en-US" altLang="en-US" sz="1600"/>
              <a:t>	complex c1(1.3,2.5),c2(2.1,4.2),c3;</a:t>
            </a:r>
          </a:p>
          <a:p>
            <a:pPr algn="l" eaLnBrk="1" hangingPunct="1">
              <a:lnSpc>
                <a:spcPct val="80000"/>
              </a:lnSpc>
            </a:pPr>
            <a:r>
              <a:rPr lang="en-US" altLang="en-US" sz="1600"/>
              <a:t>	c3=c1+c2;</a:t>
            </a:r>
          </a:p>
          <a:p>
            <a:pPr algn="l" eaLnBrk="1" hangingPunct="1">
              <a:lnSpc>
                <a:spcPct val="80000"/>
              </a:lnSpc>
            </a:pPr>
            <a:r>
              <a:rPr lang="en-US" altLang="en-US" sz="1600"/>
              <a:t>	cout &lt;&lt; "c1=";	c1.disp();</a:t>
            </a:r>
          </a:p>
          <a:p>
            <a:pPr algn="l" eaLnBrk="1" hangingPunct="1">
              <a:lnSpc>
                <a:spcPct val="80000"/>
              </a:lnSpc>
            </a:pPr>
            <a:r>
              <a:rPr lang="en-US" altLang="en-US" sz="1600"/>
              <a:t>	cout &lt;&lt; "c2=";	c2.disp();</a:t>
            </a:r>
          </a:p>
          <a:p>
            <a:pPr algn="l" eaLnBrk="1" hangingPunct="1">
              <a:lnSpc>
                <a:spcPct val="80000"/>
              </a:lnSpc>
            </a:pPr>
            <a:r>
              <a:rPr lang="en-US" altLang="en-US" sz="1600"/>
              <a:t>	cout &lt;&lt; "c3=";	c3.disp();</a:t>
            </a:r>
          </a:p>
          <a:p>
            <a:pPr algn="l" eaLnBrk="1" hangingPunct="1">
              <a:lnSpc>
                <a:spcPct val="80000"/>
              </a:lnSpc>
            </a:pPr>
            <a:r>
              <a:rPr lang="en-US" altLang="en-US" sz="160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FD9302A2-8CCA-ABD4-AB3D-15DACF0F52E5}"/>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Rules for Overloading operators</a:t>
            </a:r>
          </a:p>
        </p:txBody>
      </p:sp>
      <p:sp>
        <p:nvSpPr>
          <p:cNvPr id="19459" name="Rectangle 3">
            <a:extLst>
              <a:ext uri="{FF2B5EF4-FFF2-40B4-BE49-F238E27FC236}">
                <a16:creationId xmlns:a16="http://schemas.microsoft.com/office/drawing/2014/main" id="{FA8977CB-AF98-7445-278D-15C2C888F43B}"/>
              </a:ext>
            </a:extLst>
          </p:cNvPr>
          <p:cNvSpPr>
            <a:spLocks noGrp="1" noChangeArrowheads="1"/>
          </p:cNvSpPr>
          <p:nvPr>
            <p:ph type="subTitle" idx="1"/>
          </p:nvPr>
        </p:nvSpPr>
        <p:spPr>
          <a:xfrm>
            <a:off x="228600" y="609600"/>
            <a:ext cx="8686800" cy="6248400"/>
          </a:xfrm>
        </p:spPr>
        <p:txBody>
          <a:bodyPr/>
          <a:lstStyle/>
          <a:p>
            <a:pPr marL="609600" indent="-609600" algn="just" eaLnBrk="1" hangingPunct="1">
              <a:lnSpc>
                <a:spcPct val="80000"/>
              </a:lnSpc>
            </a:pPr>
            <a:r>
              <a:rPr lang="en-US" altLang="en-US" sz="2800">
                <a:latin typeface="Times New Roman" panose="02020603050405020304" pitchFamily="18" charset="0"/>
              </a:rPr>
              <a:t>Restrictions and limitations in overloading operators</a:t>
            </a:r>
          </a:p>
          <a:p>
            <a:pPr marL="990600" lvl="1" indent="-533400" algn="just" eaLnBrk="1" hangingPunct="1">
              <a:lnSpc>
                <a:spcPct val="80000"/>
              </a:lnSpc>
              <a:buFontTx/>
              <a:buAutoNum type="arabicPeriod"/>
            </a:pPr>
            <a:r>
              <a:rPr lang="en-US" altLang="en-US" sz="2000">
                <a:latin typeface="Times New Roman" panose="02020603050405020304" pitchFamily="18" charset="0"/>
              </a:rPr>
              <a:t>Only existing operators can be overloaded. New operators cannot be created</a:t>
            </a:r>
          </a:p>
          <a:p>
            <a:pPr marL="990600" lvl="1" indent="-533400" algn="just" eaLnBrk="1" hangingPunct="1">
              <a:lnSpc>
                <a:spcPct val="80000"/>
              </a:lnSpc>
              <a:buFontTx/>
              <a:buAutoNum type="arabicPeriod"/>
            </a:pPr>
            <a:r>
              <a:rPr lang="en-US" altLang="en-US" sz="2000">
                <a:latin typeface="Times New Roman" panose="02020603050405020304" pitchFamily="18" charset="0"/>
              </a:rPr>
              <a:t>The overloaded operator must have atleast one operand that is of user-defined type</a:t>
            </a:r>
          </a:p>
          <a:p>
            <a:pPr marL="990600" lvl="1" indent="-533400" algn="just" eaLnBrk="1" hangingPunct="1">
              <a:lnSpc>
                <a:spcPct val="80000"/>
              </a:lnSpc>
              <a:buFontTx/>
              <a:buAutoNum type="arabicPeriod"/>
            </a:pPr>
            <a:r>
              <a:rPr lang="en-US" altLang="en-US" sz="2000">
                <a:latin typeface="Times New Roman" panose="02020603050405020304" pitchFamily="18" charset="0"/>
              </a:rPr>
              <a:t>We cannot change the basic meaning of an operator</a:t>
            </a:r>
          </a:p>
          <a:p>
            <a:pPr marL="990600" lvl="1" indent="-533400" algn="just" eaLnBrk="1" hangingPunct="1">
              <a:lnSpc>
                <a:spcPct val="80000"/>
              </a:lnSpc>
              <a:buFontTx/>
              <a:buAutoNum type="arabicPeriod"/>
            </a:pPr>
            <a:r>
              <a:rPr lang="en-US" altLang="en-US" sz="2000">
                <a:latin typeface="Times New Roman" panose="02020603050405020304" pitchFamily="18" charset="0"/>
              </a:rPr>
              <a:t>Overloaded operators follow the syntax rules of the original operators. They cannot be overridden</a:t>
            </a:r>
          </a:p>
          <a:p>
            <a:pPr marL="990600" lvl="1" indent="-533400" algn="just" eaLnBrk="1" hangingPunct="1">
              <a:lnSpc>
                <a:spcPct val="80000"/>
              </a:lnSpc>
              <a:buFontTx/>
              <a:buAutoNum type="arabicPeriod"/>
            </a:pPr>
            <a:r>
              <a:rPr lang="en-US" altLang="en-US" sz="2000">
                <a:latin typeface="Times New Roman" panose="02020603050405020304" pitchFamily="18" charset="0"/>
              </a:rPr>
              <a:t>Some operators cannot be overloaded</a:t>
            </a:r>
          </a:p>
          <a:p>
            <a:pPr marL="990600" lvl="1" indent="-533400" algn="just" eaLnBrk="1" hangingPunct="1">
              <a:lnSpc>
                <a:spcPct val="80000"/>
              </a:lnSpc>
              <a:buFontTx/>
              <a:buAutoNum type="arabicPeriod"/>
            </a:pPr>
            <a:r>
              <a:rPr lang="en-US" altLang="en-US" sz="2000">
                <a:latin typeface="Times New Roman" panose="02020603050405020304" pitchFamily="18" charset="0"/>
              </a:rPr>
              <a:t>We cannot use friend functions to overload certain operators eg: = ( ) [ ]  -&gt;. But we can use member functions</a:t>
            </a:r>
          </a:p>
          <a:p>
            <a:pPr marL="990600" lvl="1" indent="-533400" algn="just" eaLnBrk="1" hangingPunct="1">
              <a:lnSpc>
                <a:spcPct val="80000"/>
              </a:lnSpc>
              <a:buFontTx/>
              <a:buAutoNum type="arabicPeriod"/>
            </a:pPr>
            <a:r>
              <a:rPr lang="en-US" altLang="en-US" sz="2000">
                <a:latin typeface="Times New Roman" panose="02020603050405020304" pitchFamily="18" charset="0"/>
              </a:rPr>
              <a:t>Unary operator, overloaded by means of a member function, take no explicit args, and return no explicit value, but overloaded by means of a friend function, take one reference argument( the object of the relevant class)</a:t>
            </a:r>
          </a:p>
          <a:p>
            <a:pPr marL="990600" lvl="1" indent="-533400" algn="just" eaLnBrk="1" hangingPunct="1">
              <a:lnSpc>
                <a:spcPct val="80000"/>
              </a:lnSpc>
              <a:buFontTx/>
              <a:buAutoNum type="arabicPeriod"/>
            </a:pPr>
            <a:r>
              <a:rPr lang="en-US" altLang="en-US" sz="2000">
                <a:latin typeface="Times New Roman" panose="02020603050405020304" pitchFamily="18" charset="0"/>
              </a:rPr>
              <a:t>binary operator, overloaded by means of a member function, take one explicit arg, but overloaded by means of a friend function, take two explicit argumens</a:t>
            </a:r>
          </a:p>
          <a:p>
            <a:pPr marL="990600" lvl="1" indent="-533400" algn="just" eaLnBrk="1" hangingPunct="1">
              <a:lnSpc>
                <a:spcPct val="80000"/>
              </a:lnSpc>
              <a:buFontTx/>
              <a:buAutoNum type="arabicPeriod"/>
            </a:pPr>
            <a:r>
              <a:rPr lang="en-US" altLang="en-US" sz="2000">
                <a:latin typeface="Times New Roman" panose="02020603050405020304" pitchFamily="18" charset="0"/>
              </a:rPr>
              <a:t>When using binary operators overloaded through a member function, the left hand operand must be an object of the relevant class</a:t>
            </a:r>
          </a:p>
          <a:p>
            <a:pPr marL="990600" lvl="1" indent="-533400" algn="just" eaLnBrk="1" hangingPunct="1">
              <a:lnSpc>
                <a:spcPct val="80000"/>
              </a:lnSpc>
              <a:buFontTx/>
              <a:buAutoNum type="arabicPeriod"/>
            </a:pPr>
            <a:r>
              <a:rPr lang="en-US" altLang="en-US" sz="2000">
                <a:latin typeface="Times New Roman" panose="02020603050405020304" pitchFamily="18" charset="0"/>
              </a:rPr>
              <a:t>Binary arithmetic operators such as +,-,*,/ must explicitly return a value. They must not attempt to change their own arguments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673</TotalTime>
  <Words>2055</Words>
  <Application>Microsoft Office PowerPoint</Application>
  <PresentationFormat>On-screen Show (4:3)</PresentationFormat>
  <Paragraphs>256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Default Design</vt:lpstr>
      <vt:lpstr>Function overloading and operator overloading</vt:lpstr>
      <vt:lpstr>Function overloading</vt:lpstr>
      <vt:lpstr>Function overloading</vt:lpstr>
      <vt:lpstr>Function overloading</vt:lpstr>
      <vt:lpstr>PowerPoint Presentation</vt:lpstr>
      <vt:lpstr>Operator overloading</vt:lpstr>
      <vt:lpstr>Defining Operator overloading</vt:lpstr>
      <vt:lpstr>PowerPoint Presentation</vt:lpstr>
      <vt:lpstr>PowerPoint Presentation</vt:lpstr>
      <vt:lpstr>Overloading unary operators</vt:lpstr>
      <vt:lpstr>PowerPoint Presentation</vt:lpstr>
      <vt:lpstr>Overloading unary operators</vt:lpstr>
      <vt:lpstr>PowerPoint Presentation</vt:lpstr>
      <vt:lpstr>Overloading binary operators</vt:lpstr>
      <vt:lpstr>PowerPoint Presentation</vt:lpstr>
      <vt:lpstr>Overloading binary operators using friend</vt:lpstr>
      <vt:lpstr>PowerPoint Presentation</vt:lpstr>
      <vt:lpstr>Rules for Overloading operators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S Bhavani</cp:lastModifiedBy>
  <cp:revision>354</cp:revision>
  <cp:lastPrinted>1601-01-01T00:00:00Z</cp:lastPrinted>
  <dcterms:created xsi:type="dcterms:W3CDTF">1601-01-01T00:00:00Z</dcterms:created>
  <dcterms:modified xsi:type="dcterms:W3CDTF">2026-04-07T06:27:58Z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