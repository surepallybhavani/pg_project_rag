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88" r:id="rId3"/>
    <p:sldId id="289" r:id="rId4"/>
    <p:sldId id="276" r:id="rId5"/>
    <p:sldId id="277" r:id="rId6"/>
    <p:sldId id="278" r:id="rId7"/>
    <p:sldId id="279" r:id="rId8"/>
    <p:sldId id="280" r:id="rId9"/>
    <p:sldId id="281" r:id="rId10"/>
    <p:sldId id="282" r:id="rId11"/>
    <p:sldId id="283" r:id="rId12"/>
    <p:sldId id="284" r:id="rId13"/>
    <p:sldId id="285" r:id="rId14"/>
    <p:sldId id="286" r:id="rId1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069" autoAdjust="0"/>
  </p:normalViewPr>
  <p:slideViewPr>
    <p:cSldViewPr>
      <p:cViewPr varScale="1">
        <p:scale>
          <a:sx n="76" d="100"/>
          <a:sy n="76" d="100"/>
        </p:scale>
        <p:origin x="164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9A4A980F-3F4B-9A80-68F4-AA29ED7EAB1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920B1B6-50B8-A258-A0AF-A47795F790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275B5A9-D3EB-34C5-0BF8-1A9ECE6F3BA3}"/>
              </a:ext>
            </a:extLst>
          </p:cNvPr>
          <p:cNvSpPr>
            <a:spLocks noGrp="1" noChangeArrowheads="1"/>
          </p:cNvSpPr>
          <p:nvPr>
            <p:ph type="sldNum" sz="quarter" idx="12"/>
          </p:nvPr>
        </p:nvSpPr>
        <p:spPr>
          <a:ln/>
        </p:spPr>
        <p:txBody>
          <a:bodyPr/>
          <a:lstStyle>
            <a:lvl1pPr>
              <a:defRPr/>
            </a:lvl1pPr>
          </a:lstStyle>
          <a:p>
            <a:fld id="{2898680E-FD27-401C-A51A-54700361A616}" type="slidenum">
              <a:rPr lang="en-US" altLang="en-US"/>
              <a:pPr/>
              <a:t>‹#›</a:t>
            </a:fld>
            <a:endParaRPr lang="en-US" altLang="en-US"/>
          </a:p>
        </p:txBody>
      </p:sp>
    </p:spTree>
    <p:extLst>
      <p:ext uri="{BB962C8B-B14F-4D97-AF65-F5344CB8AC3E}">
        <p14:creationId xmlns:p14="http://schemas.microsoft.com/office/powerpoint/2010/main" val="2064520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BB0BBA8-6405-7C8D-CDCC-84F87429E49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039BDFF-64F3-79BD-690A-3EF7769EB3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631287E-CCE2-E8ED-E777-AAE713D9AB9F}"/>
              </a:ext>
            </a:extLst>
          </p:cNvPr>
          <p:cNvSpPr>
            <a:spLocks noGrp="1" noChangeArrowheads="1"/>
          </p:cNvSpPr>
          <p:nvPr>
            <p:ph type="sldNum" sz="quarter" idx="12"/>
          </p:nvPr>
        </p:nvSpPr>
        <p:spPr>
          <a:ln/>
        </p:spPr>
        <p:txBody>
          <a:bodyPr/>
          <a:lstStyle>
            <a:lvl1pPr>
              <a:defRPr/>
            </a:lvl1pPr>
          </a:lstStyle>
          <a:p>
            <a:fld id="{8BA1EA44-D0CD-4179-A78A-96DD7D136C15}" type="slidenum">
              <a:rPr lang="en-US" altLang="en-US"/>
              <a:pPr/>
              <a:t>‹#›</a:t>
            </a:fld>
            <a:endParaRPr lang="en-US" altLang="en-US"/>
          </a:p>
        </p:txBody>
      </p:sp>
    </p:spTree>
    <p:extLst>
      <p:ext uri="{BB962C8B-B14F-4D97-AF65-F5344CB8AC3E}">
        <p14:creationId xmlns:p14="http://schemas.microsoft.com/office/powerpoint/2010/main" val="24426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C85B158-E5A6-3144-EE88-157E625B0AE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077972A-6067-F6B6-BBF2-5B034E7170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07FF6E5-69E6-9B09-B414-C1FD002BA19C}"/>
              </a:ext>
            </a:extLst>
          </p:cNvPr>
          <p:cNvSpPr>
            <a:spLocks noGrp="1" noChangeArrowheads="1"/>
          </p:cNvSpPr>
          <p:nvPr>
            <p:ph type="sldNum" sz="quarter" idx="12"/>
          </p:nvPr>
        </p:nvSpPr>
        <p:spPr>
          <a:ln/>
        </p:spPr>
        <p:txBody>
          <a:bodyPr/>
          <a:lstStyle>
            <a:lvl1pPr>
              <a:defRPr/>
            </a:lvl1pPr>
          </a:lstStyle>
          <a:p>
            <a:fld id="{C456D94E-1DFD-4397-B728-3456F3E661C3}" type="slidenum">
              <a:rPr lang="en-US" altLang="en-US"/>
              <a:pPr/>
              <a:t>‹#›</a:t>
            </a:fld>
            <a:endParaRPr lang="en-US" altLang="en-US"/>
          </a:p>
        </p:txBody>
      </p:sp>
    </p:spTree>
    <p:extLst>
      <p:ext uri="{BB962C8B-B14F-4D97-AF65-F5344CB8AC3E}">
        <p14:creationId xmlns:p14="http://schemas.microsoft.com/office/powerpoint/2010/main" val="3201897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90438DC-329F-BE2F-DB0E-5EEA77D832B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5E80E56-F816-163F-7764-29FACD7CEC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AD6E7F9-6A49-93AF-7B76-F3B0FFC8B030}"/>
              </a:ext>
            </a:extLst>
          </p:cNvPr>
          <p:cNvSpPr>
            <a:spLocks noGrp="1" noChangeArrowheads="1"/>
          </p:cNvSpPr>
          <p:nvPr>
            <p:ph type="sldNum" sz="quarter" idx="12"/>
          </p:nvPr>
        </p:nvSpPr>
        <p:spPr>
          <a:ln/>
        </p:spPr>
        <p:txBody>
          <a:bodyPr/>
          <a:lstStyle>
            <a:lvl1pPr>
              <a:defRPr/>
            </a:lvl1pPr>
          </a:lstStyle>
          <a:p>
            <a:fld id="{CC3048D1-07A2-40AB-A01E-2A25F9815A31}" type="slidenum">
              <a:rPr lang="en-US" altLang="en-US"/>
              <a:pPr/>
              <a:t>‹#›</a:t>
            </a:fld>
            <a:endParaRPr lang="en-US" altLang="en-US"/>
          </a:p>
        </p:txBody>
      </p:sp>
    </p:spTree>
    <p:extLst>
      <p:ext uri="{BB962C8B-B14F-4D97-AF65-F5344CB8AC3E}">
        <p14:creationId xmlns:p14="http://schemas.microsoft.com/office/powerpoint/2010/main" val="2727172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0ABD290C-7713-60CF-DBE8-71C13B8BCA7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2CF0D3B0-81D6-8E7A-9075-102F08FF3D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4B6113E-F3A1-4BCD-BFCF-D38870567785}"/>
              </a:ext>
            </a:extLst>
          </p:cNvPr>
          <p:cNvSpPr>
            <a:spLocks noGrp="1" noChangeArrowheads="1"/>
          </p:cNvSpPr>
          <p:nvPr>
            <p:ph type="sldNum" sz="quarter" idx="12"/>
          </p:nvPr>
        </p:nvSpPr>
        <p:spPr>
          <a:ln/>
        </p:spPr>
        <p:txBody>
          <a:bodyPr/>
          <a:lstStyle>
            <a:lvl1pPr>
              <a:defRPr/>
            </a:lvl1pPr>
          </a:lstStyle>
          <a:p>
            <a:fld id="{00D096DC-77CB-4B11-8047-22DA06913CBF}" type="slidenum">
              <a:rPr lang="en-US" altLang="en-US"/>
              <a:pPr/>
              <a:t>‹#›</a:t>
            </a:fld>
            <a:endParaRPr lang="en-US" altLang="en-US"/>
          </a:p>
        </p:txBody>
      </p:sp>
    </p:spTree>
    <p:extLst>
      <p:ext uri="{BB962C8B-B14F-4D97-AF65-F5344CB8AC3E}">
        <p14:creationId xmlns:p14="http://schemas.microsoft.com/office/powerpoint/2010/main" val="2470619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5754D50-4DF8-5D84-8E9B-B39ACAF3598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0BC76D1-3622-44D6-737E-696F313E9E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146C8B3-9D41-2D2C-F093-5640A6FC3C93}"/>
              </a:ext>
            </a:extLst>
          </p:cNvPr>
          <p:cNvSpPr>
            <a:spLocks noGrp="1" noChangeArrowheads="1"/>
          </p:cNvSpPr>
          <p:nvPr>
            <p:ph type="sldNum" sz="quarter" idx="12"/>
          </p:nvPr>
        </p:nvSpPr>
        <p:spPr>
          <a:ln/>
        </p:spPr>
        <p:txBody>
          <a:bodyPr/>
          <a:lstStyle>
            <a:lvl1pPr>
              <a:defRPr/>
            </a:lvl1pPr>
          </a:lstStyle>
          <a:p>
            <a:fld id="{A743BC4F-9408-46CE-B1DB-C8C872C7AD21}" type="slidenum">
              <a:rPr lang="en-US" altLang="en-US"/>
              <a:pPr/>
              <a:t>‹#›</a:t>
            </a:fld>
            <a:endParaRPr lang="en-US" altLang="en-US"/>
          </a:p>
        </p:txBody>
      </p:sp>
    </p:spTree>
    <p:extLst>
      <p:ext uri="{BB962C8B-B14F-4D97-AF65-F5344CB8AC3E}">
        <p14:creationId xmlns:p14="http://schemas.microsoft.com/office/powerpoint/2010/main" val="3416967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B03B277-B3F8-9EDD-3EA5-71B10E2BCFF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D970FF5E-26E7-6565-ADC6-72D41124D7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2968C9C-C47F-3E42-E60D-33F747EEB39C}"/>
              </a:ext>
            </a:extLst>
          </p:cNvPr>
          <p:cNvSpPr>
            <a:spLocks noGrp="1" noChangeArrowheads="1"/>
          </p:cNvSpPr>
          <p:nvPr>
            <p:ph type="sldNum" sz="quarter" idx="12"/>
          </p:nvPr>
        </p:nvSpPr>
        <p:spPr>
          <a:ln/>
        </p:spPr>
        <p:txBody>
          <a:bodyPr/>
          <a:lstStyle>
            <a:lvl1pPr>
              <a:defRPr/>
            </a:lvl1pPr>
          </a:lstStyle>
          <a:p>
            <a:fld id="{3D72C1BE-592C-4462-B982-E4978E7FFE40}" type="slidenum">
              <a:rPr lang="en-US" altLang="en-US"/>
              <a:pPr/>
              <a:t>‹#›</a:t>
            </a:fld>
            <a:endParaRPr lang="en-US" altLang="en-US"/>
          </a:p>
        </p:txBody>
      </p:sp>
    </p:spTree>
    <p:extLst>
      <p:ext uri="{BB962C8B-B14F-4D97-AF65-F5344CB8AC3E}">
        <p14:creationId xmlns:p14="http://schemas.microsoft.com/office/powerpoint/2010/main" val="71710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C50E85F-B3D2-45A9-4B6B-DE720E7ACA5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DB40894-8962-AF4A-EC57-1CC3409FBD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D4F1214-B3B3-8D91-1019-996BDA77C463}"/>
              </a:ext>
            </a:extLst>
          </p:cNvPr>
          <p:cNvSpPr>
            <a:spLocks noGrp="1" noChangeArrowheads="1"/>
          </p:cNvSpPr>
          <p:nvPr>
            <p:ph type="sldNum" sz="quarter" idx="12"/>
          </p:nvPr>
        </p:nvSpPr>
        <p:spPr>
          <a:ln/>
        </p:spPr>
        <p:txBody>
          <a:bodyPr/>
          <a:lstStyle>
            <a:lvl1pPr>
              <a:defRPr/>
            </a:lvl1pPr>
          </a:lstStyle>
          <a:p>
            <a:fld id="{739B82F7-DB08-42DB-929C-08D1B0F36B85}" type="slidenum">
              <a:rPr lang="en-US" altLang="en-US"/>
              <a:pPr/>
              <a:t>‹#›</a:t>
            </a:fld>
            <a:endParaRPr lang="en-US" altLang="en-US"/>
          </a:p>
        </p:txBody>
      </p:sp>
    </p:spTree>
    <p:extLst>
      <p:ext uri="{BB962C8B-B14F-4D97-AF65-F5344CB8AC3E}">
        <p14:creationId xmlns:p14="http://schemas.microsoft.com/office/powerpoint/2010/main" val="369717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87D5ACF-9806-F14B-F612-FFEC9CD7D6F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231ADA2-C2D3-3965-4D55-25F8B76448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78DE781-9BE9-A466-A334-3E721E151C7D}"/>
              </a:ext>
            </a:extLst>
          </p:cNvPr>
          <p:cNvSpPr>
            <a:spLocks noGrp="1" noChangeArrowheads="1"/>
          </p:cNvSpPr>
          <p:nvPr>
            <p:ph type="sldNum" sz="quarter" idx="12"/>
          </p:nvPr>
        </p:nvSpPr>
        <p:spPr>
          <a:ln/>
        </p:spPr>
        <p:txBody>
          <a:bodyPr/>
          <a:lstStyle>
            <a:lvl1pPr>
              <a:defRPr/>
            </a:lvl1pPr>
          </a:lstStyle>
          <a:p>
            <a:fld id="{E23B3F4B-06F3-4D33-BA5E-6A9FC21838A4}" type="slidenum">
              <a:rPr lang="en-US" altLang="en-US"/>
              <a:pPr/>
              <a:t>‹#›</a:t>
            </a:fld>
            <a:endParaRPr lang="en-US" altLang="en-US"/>
          </a:p>
        </p:txBody>
      </p:sp>
    </p:spTree>
    <p:extLst>
      <p:ext uri="{BB962C8B-B14F-4D97-AF65-F5344CB8AC3E}">
        <p14:creationId xmlns:p14="http://schemas.microsoft.com/office/powerpoint/2010/main" val="2422581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3068E96-D19C-8323-C4A0-7A8A6C9F937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8B8646D-6018-7235-FA49-E82ED8F7B49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A78CAC8-2F18-052F-2ECE-646B972E9E6F}"/>
              </a:ext>
            </a:extLst>
          </p:cNvPr>
          <p:cNvSpPr>
            <a:spLocks noGrp="1" noChangeArrowheads="1"/>
          </p:cNvSpPr>
          <p:nvPr>
            <p:ph type="sldNum" sz="quarter" idx="12"/>
          </p:nvPr>
        </p:nvSpPr>
        <p:spPr>
          <a:ln/>
        </p:spPr>
        <p:txBody>
          <a:bodyPr/>
          <a:lstStyle>
            <a:lvl1pPr>
              <a:defRPr/>
            </a:lvl1pPr>
          </a:lstStyle>
          <a:p>
            <a:fld id="{06F0BE3A-89F5-4F40-89C0-944BF2FD0CA3}" type="slidenum">
              <a:rPr lang="en-US" altLang="en-US"/>
              <a:pPr/>
              <a:t>‹#›</a:t>
            </a:fld>
            <a:endParaRPr lang="en-US" altLang="en-US"/>
          </a:p>
        </p:txBody>
      </p:sp>
    </p:spTree>
    <p:extLst>
      <p:ext uri="{BB962C8B-B14F-4D97-AF65-F5344CB8AC3E}">
        <p14:creationId xmlns:p14="http://schemas.microsoft.com/office/powerpoint/2010/main" val="1184768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A5E1CC3-E1F0-8458-84CD-919A673ED8A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D41377E-1889-3AB5-228B-106EB60AFD1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1F62F93-621F-E282-5BDB-B96B34F3F8A5}"/>
              </a:ext>
            </a:extLst>
          </p:cNvPr>
          <p:cNvSpPr>
            <a:spLocks noGrp="1" noChangeArrowheads="1"/>
          </p:cNvSpPr>
          <p:nvPr>
            <p:ph type="sldNum" sz="quarter" idx="12"/>
          </p:nvPr>
        </p:nvSpPr>
        <p:spPr>
          <a:ln/>
        </p:spPr>
        <p:txBody>
          <a:bodyPr/>
          <a:lstStyle>
            <a:lvl1pPr>
              <a:defRPr/>
            </a:lvl1pPr>
          </a:lstStyle>
          <a:p>
            <a:fld id="{96FA8401-B7D3-4B34-80FF-6A60EF1A1D74}" type="slidenum">
              <a:rPr lang="en-US" altLang="en-US"/>
              <a:pPr/>
              <a:t>‹#›</a:t>
            </a:fld>
            <a:endParaRPr lang="en-US" altLang="en-US"/>
          </a:p>
        </p:txBody>
      </p:sp>
    </p:spTree>
    <p:extLst>
      <p:ext uri="{BB962C8B-B14F-4D97-AF65-F5344CB8AC3E}">
        <p14:creationId xmlns:p14="http://schemas.microsoft.com/office/powerpoint/2010/main" val="1162200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56498E4-CF54-39E7-B340-4227C93176B9}"/>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F22590A6-29A6-8916-9297-765A33F49110}"/>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E5CD77E-C160-75F8-511D-052CA0FA25A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9A78FA02-1959-4561-1DE2-A38AF520181E}"/>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A10D733C-C5CD-BC93-B88B-74BB5155E649}"/>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0CFE3D44-E923-43D2-9058-99ED4CB5861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8429F5A-BF79-2D8C-A225-0F38CA26433B}"/>
              </a:ext>
            </a:extLst>
          </p:cNvPr>
          <p:cNvSpPr>
            <a:spLocks noGrp="1" noChangeArrowheads="1"/>
          </p:cNvSpPr>
          <p:nvPr>
            <p:ph type="ctrTitle"/>
          </p:nvPr>
        </p:nvSpPr>
        <p:spPr>
          <a:xfrm>
            <a:off x="685800" y="152400"/>
            <a:ext cx="7772400" cy="457200"/>
          </a:xfrm>
        </p:spPr>
        <p:txBody>
          <a:bodyPr/>
          <a:lstStyle/>
          <a:p>
            <a:pPr eaLnBrk="1" hangingPunct="1"/>
            <a:r>
              <a:rPr lang="en-US" altLang="en-US" sz="4000">
                <a:solidFill>
                  <a:schemeClr val="accent2"/>
                </a:solidFill>
                <a:latin typeface="Times New Roman" panose="02020603050405020304" pitchFamily="18" charset="0"/>
              </a:rPr>
              <a:t>Constructors and Destructors</a:t>
            </a:r>
          </a:p>
        </p:txBody>
      </p:sp>
      <p:sp>
        <p:nvSpPr>
          <p:cNvPr id="2051" name="Rectangle 3">
            <a:extLst>
              <a:ext uri="{FF2B5EF4-FFF2-40B4-BE49-F238E27FC236}">
                <a16:creationId xmlns:a16="http://schemas.microsoft.com/office/drawing/2014/main" id="{7395A3D9-C1DB-D1C7-EB54-05DA323FDFF6}"/>
              </a:ext>
            </a:extLst>
          </p:cNvPr>
          <p:cNvSpPr>
            <a:spLocks noGrp="1" noChangeArrowheads="1"/>
          </p:cNvSpPr>
          <p:nvPr>
            <p:ph type="subTitle" idx="1"/>
          </p:nvPr>
        </p:nvSpPr>
        <p:spPr>
          <a:xfrm>
            <a:off x="228600" y="685800"/>
            <a:ext cx="8686800" cy="5943600"/>
          </a:xfrm>
        </p:spPr>
        <p:txBody>
          <a:bodyPr/>
          <a:lstStyle/>
          <a:p>
            <a:pPr marL="609600" indent="-609600" algn="just" eaLnBrk="1" hangingPunct="1">
              <a:buFontTx/>
              <a:buChar char="•"/>
            </a:pPr>
            <a:r>
              <a:rPr lang="en-US" altLang="en-US" sz="2800">
                <a:latin typeface="Times New Roman" panose="02020603050405020304" pitchFamily="18" charset="0"/>
              </a:rPr>
              <a:t>In before class examples we have used functions like setVal(), putdata() etc to provide initial values to the private member variables</a:t>
            </a:r>
          </a:p>
          <a:p>
            <a:pPr marL="609600" indent="-609600" algn="just" eaLnBrk="1" hangingPunct="1">
              <a:buFontTx/>
              <a:buChar char="•"/>
            </a:pPr>
            <a:r>
              <a:rPr lang="en-US" altLang="en-US" sz="2800">
                <a:latin typeface="Times New Roman" panose="02020603050405020304" pitchFamily="18" charset="0"/>
              </a:rPr>
              <a:t>These functions cannot be used to initialize the member variables at the time of creation of their objects</a:t>
            </a:r>
          </a:p>
          <a:p>
            <a:pPr marL="609600" indent="-609600" algn="just" eaLnBrk="1" hangingPunct="1">
              <a:buFontTx/>
              <a:buChar char="•"/>
            </a:pPr>
            <a:r>
              <a:rPr lang="en-US" altLang="en-US" sz="2800">
                <a:latin typeface="Times New Roman" panose="02020603050405020304" pitchFamily="18" charset="0"/>
              </a:rPr>
              <a:t>Classes should behave like built-in data types i.e like initialization of variable, destroying the variable when it is going out of scope etc</a:t>
            </a:r>
          </a:p>
          <a:p>
            <a:pPr marL="609600" indent="-609600" algn="just" eaLnBrk="1" hangingPunct="1">
              <a:buFontTx/>
              <a:buChar char="•"/>
            </a:pPr>
            <a:r>
              <a:rPr lang="en-US" altLang="en-US" sz="2800">
                <a:latin typeface="Times New Roman" panose="02020603050405020304" pitchFamily="18" charset="0"/>
              </a:rPr>
              <a:t>C++ provides a special member function called the constructor and destructors</a:t>
            </a:r>
          </a:p>
          <a:p>
            <a:pPr marL="609600" indent="-609600" algn="just" eaLnBrk="1" hangingPunct="1"/>
            <a:endParaRPr lang="en-US" altLang="en-US" sz="280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D7BB564-9D2C-928A-BB84-05A4A74D7BE2}"/>
              </a:ext>
            </a:extLst>
          </p:cNvPr>
          <p:cNvSpPr>
            <a:spLocks noGrp="1" noChangeArrowheads="1"/>
          </p:cNvSpPr>
          <p:nvPr>
            <p:ph type="ctrTitle"/>
          </p:nvPr>
        </p:nvSpPr>
        <p:spPr>
          <a:xfrm>
            <a:off x="685800" y="152400"/>
            <a:ext cx="7772400" cy="457200"/>
          </a:xfrm>
        </p:spPr>
        <p:txBody>
          <a:bodyPr/>
          <a:lstStyle/>
          <a:p>
            <a:pPr eaLnBrk="1" hangingPunct="1"/>
            <a:r>
              <a:rPr lang="en-US" altLang="en-US" sz="4000">
                <a:solidFill>
                  <a:schemeClr val="accent2"/>
                </a:solidFill>
                <a:latin typeface="Times New Roman" panose="02020603050405020304" pitchFamily="18" charset="0"/>
              </a:rPr>
              <a:t>Constructors</a:t>
            </a:r>
          </a:p>
        </p:txBody>
      </p:sp>
      <p:sp>
        <p:nvSpPr>
          <p:cNvPr id="3075" name="Rectangle 3">
            <a:extLst>
              <a:ext uri="{FF2B5EF4-FFF2-40B4-BE49-F238E27FC236}">
                <a16:creationId xmlns:a16="http://schemas.microsoft.com/office/drawing/2014/main" id="{74AC1A91-B65E-250F-3BE2-0047C88B340E}"/>
              </a:ext>
            </a:extLst>
          </p:cNvPr>
          <p:cNvSpPr>
            <a:spLocks noGrp="1" noChangeArrowheads="1"/>
          </p:cNvSpPr>
          <p:nvPr>
            <p:ph type="subTitle" idx="1"/>
          </p:nvPr>
        </p:nvSpPr>
        <p:spPr>
          <a:xfrm>
            <a:off x="228600" y="685800"/>
            <a:ext cx="8686800" cy="5943600"/>
          </a:xfrm>
        </p:spPr>
        <p:txBody>
          <a:bodyPr/>
          <a:lstStyle/>
          <a:p>
            <a:pPr marL="609600" indent="-609600" algn="just" eaLnBrk="1" hangingPunct="1">
              <a:lnSpc>
                <a:spcPct val="90000"/>
              </a:lnSpc>
              <a:buFontTx/>
              <a:buChar char="•"/>
            </a:pPr>
            <a:r>
              <a:rPr lang="en-US" altLang="en-US" sz="2400">
                <a:latin typeface="Times New Roman" panose="02020603050405020304" pitchFamily="18" charset="0"/>
              </a:rPr>
              <a:t>It a special member function whose task is to initialize the objects of its class</a:t>
            </a:r>
          </a:p>
          <a:p>
            <a:pPr marL="609600" indent="-609600" algn="just" eaLnBrk="1" hangingPunct="1">
              <a:lnSpc>
                <a:spcPct val="90000"/>
              </a:lnSpc>
              <a:buFontTx/>
              <a:buChar char="•"/>
            </a:pPr>
            <a:r>
              <a:rPr lang="en-US" altLang="en-US" sz="2400">
                <a:latin typeface="Times New Roman" panose="02020603050405020304" pitchFamily="18" charset="0"/>
              </a:rPr>
              <a:t>It is invoked whenever object of its associated class is created</a:t>
            </a:r>
          </a:p>
          <a:p>
            <a:pPr marL="609600" indent="-609600" algn="just" eaLnBrk="1" hangingPunct="1">
              <a:lnSpc>
                <a:spcPct val="90000"/>
              </a:lnSpc>
              <a:buFontTx/>
              <a:buChar char="•"/>
            </a:pPr>
            <a:r>
              <a:rPr lang="en-US" altLang="en-US" sz="2400">
                <a:latin typeface="Times New Roman" panose="02020603050405020304" pitchFamily="18" charset="0"/>
              </a:rPr>
              <a:t>It has the same name as class name</a:t>
            </a:r>
          </a:p>
          <a:p>
            <a:pPr marL="609600" indent="-609600" algn="just" eaLnBrk="1" hangingPunct="1">
              <a:lnSpc>
                <a:spcPct val="90000"/>
              </a:lnSpc>
            </a:pPr>
            <a:r>
              <a:rPr lang="en-US" altLang="en-US" sz="2400">
                <a:latin typeface="Times New Roman" panose="02020603050405020304" pitchFamily="18" charset="0"/>
              </a:rPr>
              <a:t>class X</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pPr>
            <a:r>
              <a:rPr lang="en-US" altLang="en-US" sz="2400">
                <a:latin typeface="Times New Roman" panose="02020603050405020304" pitchFamily="18" charset="0"/>
              </a:rPr>
              <a:t>	int a,b;</a:t>
            </a:r>
          </a:p>
          <a:p>
            <a:pPr marL="609600" indent="-609600" algn="just" eaLnBrk="1" hangingPunct="1">
              <a:lnSpc>
                <a:spcPct val="90000"/>
              </a:lnSpc>
            </a:pPr>
            <a:r>
              <a:rPr lang="en-US" altLang="en-US" sz="2400">
                <a:latin typeface="Times New Roman" panose="02020603050405020304" pitchFamily="18" charset="0"/>
              </a:rPr>
              <a:t>public:</a:t>
            </a:r>
          </a:p>
          <a:p>
            <a:pPr marL="609600" indent="-609600" algn="just" eaLnBrk="1" hangingPunct="1">
              <a:lnSpc>
                <a:spcPct val="90000"/>
              </a:lnSpc>
            </a:pPr>
            <a:r>
              <a:rPr lang="en-US" altLang="en-US" sz="2400">
                <a:latin typeface="Times New Roman" panose="02020603050405020304" pitchFamily="18" charset="0"/>
              </a:rPr>
              <a:t>	X(void);	//constructor declared</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pPr>
            <a:r>
              <a:rPr lang="en-US" altLang="en-US" sz="2400">
                <a:latin typeface="Times New Roman" panose="02020603050405020304" pitchFamily="18" charset="0"/>
              </a:rPr>
              <a:t>X :: X(void)		//constructor defined</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pPr>
            <a:r>
              <a:rPr lang="en-US" altLang="en-US" sz="2400">
                <a:latin typeface="Times New Roman" panose="02020603050405020304" pitchFamily="18" charset="0"/>
              </a:rPr>
              <a:t>	a=0;b=0;</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pPr>
            <a:endParaRPr lang="en-US" altLang="en-US" sz="240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7B9D9F43-AB08-D54B-20EB-45CFB7A444CB}"/>
              </a:ext>
            </a:extLst>
          </p:cNvPr>
          <p:cNvSpPr>
            <a:spLocks noGrp="1" noChangeArrowheads="1"/>
          </p:cNvSpPr>
          <p:nvPr>
            <p:ph type="subTitle" idx="1"/>
          </p:nvPr>
        </p:nvSpPr>
        <p:spPr>
          <a:xfrm>
            <a:off x="228600" y="304800"/>
            <a:ext cx="8686800" cy="6324600"/>
          </a:xfrm>
        </p:spPr>
        <p:txBody>
          <a:bodyPr/>
          <a:lstStyle/>
          <a:p>
            <a:pPr marL="609600" indent="-609600" algn="just" eaLnBrk="1" hangingPunct="1">
              <a:buFontTx/>
              <a:buChar char="•"/>
            </a:pPr>
            <a:r>
              <a:rPr lang="en-US" altLang="en-US" sz="2800">
                <a:solidFill>
                  <a:schemeClr val="accent2"/>
                </a:solidFill>
                <a:latin typeface="Times New Roman" panose="02020603050405020304" pitchFamily="18" charset="0"/>
              </a:rPr>
              <a:t>Special Characteristics of Constructors:</a:t>
            </a:r>
          </a:p>
          <a:p>
            <a:pPr marL="990600" lvl="1" indent="-533400" algn="just" eaLnBrk="1" hangingPunct="1">
              <a:buFontTx/>
              <a:buChar char="–"/>
            </a:pPr>
            <a:r>
              <a:rPr lang="en-US" altLang="en-US" sz="2400">
                <a:latin typeface="Times New Roman" panose="02020603050405020304" pitchFamily="18" charset="0"/>
              </a:rPr>
              <a:t>They should be declared in the public section</a:t>
            </a:r>
          </a:p>
          <a:p>
            <a:pPr marL="990600" lvl="1" indent="-533400" algn="just" eaLnBrk="1" hangingPunct="1">
              <a:buFontTx/>
              <a:buChar char="–"/>
            </a:pPr>
            <a:r>
              <a:rPr lang="en-US" altLang="en-US" sz="2400">
                <a:latin typeface="Times New Roman" panose="02020603050405020304" pitchFamily="18" charset="0"/>
              </a:rPr>
              <a:t>They are invoked automatically when the objects are created</a:t>
            </a:r>
          </a:p>
          <a:p>
            <a:pPr marL="990600" lvl="1" indent="-533400" algn="just" eaLnBrk="1" hangingPunct="1">
              <a:buFontTx/>
              <a:buChar char="–"/>
            </a:pPr>
            <a:r>
              <a:rPr lang="en-US" altLang="en-US" sz="2400">
                <a:latin typeface="Times New Roman" panose="02020603050405020304" pitchFamily="18" charset="0"/>
              </a:rPr>
              <a:t>They do not have return types, not even void, they cannot return any values</a:t>
            </a:r>
          </a:p>
          <a:p>
            <a:pPr marL="990600" lvl="1" indent="-533400" algn="just" eaLnBrk="1" hangingPunct="1">
              <a:buFontTx/>
              <a:buChar char="–"/>
            </a:pPr>
            <a:r>
              <a:rPr lang="en-US" altLang="en-US" sz="2400">
                <a:latin typeface="Times New Roman" panose="02020603050405020304" pitchFamily="18" charset="0"/>
              </a:rPr>
              <a:t>They cannot be inherited, but derived class can call the base class constructor</a:t>
            </a:r>
          </a:p>
          <a:p>
            <a:pPr marL="990600" lvl="1" indent="-533400" algn="just" eaLnBrk="1" hangingPunct="1">
              <a:buFontTx/>
              <a:buChar char="–"/>
            </a:pPr>
            <a:r>
              <a:rPr lang="en-US" altLang="en-US" sz="2400">
                <a:latin typeface="Times New Roman" panose="02020603050405020304" pitchFamily="18" charset="0"/>
              </a:rPr>
              <a:t>They can have default arguments</a:t>
            </a:r>
          </a:p>
          <a:p>
            <a:pPr marL="990600" lvl="1" indent="-533400" algn="just" eaLnBrk="1" hangingPunct="1">
              <a:buFontTx/>
              <a:buChar char="–"/>
            </a:pPr>
            <a:r>
              <a:rPr lang="en-US" altLang="en-US" sz="2400">
                <a:latin typeface="Times New Roman" panose="02020603050405020304" pitchFamily="18" charset="0"/>
              </a:rPr>
              <a:t>They cannot be virtual</a:t>
            </a:r>
          </a:p>
          <a:p>
            <a:pPr marL="990600" lvl="1" indent="-533400" algn="just" eaLnBrk="1" hangingPunct="1">
              <a:buFontTx/>
              <a:buChar char="–"/>
            </a:pPr>
            <a:r>
              <a:rPr lang="en-US" altLang="en-US" sz="2400">
                <a:latin typeface="Times New Roman" panose="02020603050405020304" pitchFamily="18" charset="0"/>
              </a:rPr>
              <a:t>We cannot refer to their addresses</a:t>
            </a:r>
          </a:p>
          <a:p>
            <a:pPr marL="990600" lvl="1" indent="-533400" algn="just" eaLnBrk="1" hangingPunct="1">
              <a:buFontTx/>
              <a:buChar char="–"/>
            </a:pPr>
            <a:r>
              <a:rPr lang="en-US" altLang="en-US" sz="2400">
                <a:latin typeface="Times New Roman" panose="02020603050405020304" pitchFamily="18" charset="0"/>
              </a:rPr>
              <a:t>An object with a constructor or destructor cannot be used as a member of union</a:t>
            </a:r>
          </a:p>
          <a:p>
            <a:pPr marL="990600" lvl="1" indent="-533400" algn="just" eaLnBrk="1" hangingPunct="1">
              <a:buFontTx/>
              <a:buChar char="–"/>
            </a:pPr>
            <a:r>
              <a:rPr lang="en-US" altLang="en-US" sz="2400">
                <a:latin typeface="Times New Roman" panose="02020603050405020304" pitchFamily="18" charset="0"/>
              </a:rPr>
              <a:t>They make implicit calls to the operators new and delete when memory allocation is required</a:t>
            </a:r>
          </a:p>
          <a:p>
            <a:pPr marL="609600" indent="-609600" algn="just" eaLnBrk="1" hangingPunct="1"/>
            <a:endParaRPr lang="en-US" altLang="en-US" sz="28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05B5C7F-1D0D-73DD-86C6-EA436B34FB7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Parameterized constructors</a:t>
            </a:r>
          </a:p>
        </p:txBody>
      </p:sp>
      <p:sp>
        <p:nvSpPr>
          <p:cNvPr id="5123" name="Rectangle 3">
            <a:extLst>
              <a:ext uri="{FF2B5EF4-FFF2-40B4-BE49-F238E27FC236}">
                <a16:creationId xmlns:a16="http://schemas.microsoft.com/office/drawing/2014/main" id="{6EE12B58-E256-46F5-28C8-5DFE42F184E0}"/>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400">
                <a:latin typeface="Times New Roman" panose="02020603050405020304" pitchFamily="18" charset="0"/>
              </a:rPr>
              <a:t>In the previous example the constructor initializes same value to all objects created using constructor</a:t>
            </a:r>
          </a:p>
          <a:p>
            <a:pPr algn="just" eaLnBrk="1" hangingPunct="1">
              <a:lnSpc>
                <a:spcPct val="80000"/>
              </a:lnSpc>
              <a:buFontTx/>
              <a:buChar char="•"/>
            </a:pPr>
            <a:r>
              <a:rPr lang="en-US" altLang="en-US" sz="2400">
                <a:latin typeface="Times New Roman" panose="02020603050405020304" pitchFamily="18" charset="0"/>
              </a:rPr>
              <a:t>Various data elements of different objects with different values is possible by passing arguments to the constructor function when the objects are created. Such type of constructors are called as parameterized constructors</a:t>
            </a:r>
          </a:p>
          <a:p>
            <a:pPr algn="just" eaLnBrk="1" hangingPunct="1">
              <a:lnSpc>
                <a:spcPct val="80000"/>
              </a:lnSpc>
            </a:pPr>
            <a:r>
              <a:rPr lang="en-US" altLang="en-US" sz="2400">
                <a:latin typeface="Times New Roman" panose="02020603050405020304" pitchFamily="18" charset="0"/>
              </a:rPr>
              <a:t>class integer</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	int m,n;</a:t>
            </a:r>
          </a:p>
          <a:p>
            <a:pPr algn="just" eaLnBrk="1" hangingPunct="1">
              <a:lnSpc>
                <a:spcPct val="80000"/>
              </a:lnSpc>
            </a:pPr>
            <a:r>
              <a:rPr lang="en-US" altLang="en-US" sz="2400">
                <a:latin typeface="Times New Roman" panose="02020603050405020304" pitchFamily="18" charset="0"/>
              </a:rPr>
              <a:t>	public:</a:t>
            </a:r>
          </a:p>
          <a:p>
            <a:pPr algn="just" eaLnBrk="1" hangingPunct="1">
              <a:lnSpc>
                <a:spcPct val="80000"/>
              </a:lnSpc>
            </a:pPr>
            <a:r>
              <a:rPr lang="en-US" altLang="en-US" sz="2400">
                <a:latin typeface="Times New Roman" panose="02020603050405020304" pitchFamily="18" charset="0"/>
              </a:rPr>
              <a:t>		integer(int x, int y);	//parameterized constructor</a:t>
            </a:r>
          </a:p>
          <a:p>
            <a:pPr algn="just" eaLnBrk="1" hangingPunct="1">
              <a:lnSpc>
                <a:spcPct val="80000"/>
              </a:lnSpc>
            </a:pPr>
            <a:r>
              <a:rPr lang="en-US" altLang="en-US" sz="2400">
                <a:latin typeface="Times New Roman" panose="02020603050405020304" pitchFamily="18" charset="0"/>
              </a:rPr>
              <a:t>		……</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integer :: integer(int x, int y)</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	m=x; n=y;</a:t>
            </a:r>
          </a:p>
          <a:p>
            <a:pPr algn="just" eaLnBrk="1" hangingPunct="1">
              <a:lnSpc>
                <a:spcPct val="80000"/>
              </a:lnSpc>
            </a:pPr>
            <a:r>
              <a:rPr lang="en-US" altLang="en-US" sz="2400">
                <a:latin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412C8D80-7619-D178-6200-CE92C27AC7B8}"/>
              </a:ext>
            </a:extLst>
          </p:cNvPr>
          <p:cNvSpPr>
            <a:spLocks noGrp="1" noChangeArrowheads="1"/>
          </p:cNvSpPr>
          <p:nvPr>
            <p:ph type="subTitle" idx="1"/>
          </p:nvPr>
        </p:nvSpPr>
        <p:spPr>
          <a:xfrm>
            <a:off x="228600" y="228600"/>
            <a:ext cx="8686800" cy="6400800"/>
          </a:xfrm>
        </p:spPr>
        <p:txBody>
          <a:bodyPr/>
          <a:lstStyle/>
          <a:p>
            <a:pPr marL="609600" indent="-609600" algn="just" eaLnBrk="1" hangingPunct="1">
              <a:lnSpc>
                <a:spcPct val="90000"/>
              </a:lnSpc>
              <a:buFontTx/>
              <a:buChar char="•"/>
            </a:pPr>
            <a:r>
              <a:rPr lang="en-US" altLang="en-US" sz="2400">
                <a:latin typeface="Times New Roman" panose="02020603050405020304" pitchFamily="18" charset="0"/>
              </a:rPr>
              <a:t>We must pass the initial values as arguments to the constructor function when an object is declared. This can be done in two ways:</a:t>
            </a:r>
          </a:p>
          <a:p>
            <a:pPr marL="990600" lvl="1" indent="-533400" algn="just" eaLnBrk="1" hangingPunct="1">
              <a:lnSpc>
                <a:spcPct val="90000"/>
              </a:lnSpc>
              <a:buFontTx/>
              <a:buAutoNum type="arabicPeriod"/>
            </a:pPr>
            <a:r>
              <a:rPr lang="en-US" altLang="en-US" sz="2000">
                <a:latin typeface="Times New Roman" panose="02020603050405020304" pitchFamily="18" charset="0"/>
              </a:rPr>
              <a:t>By calling the constructor </a:t>
            </a:r>
            <a:r>
              <a:rPr lang="en-US" altLang="en-US" sz="2000">
                <a:solidFill>
                  <a:schemeClr val="accent2"/>
                </a:solidFill>
                <a:latin typeface="Times New Roman" panose="02020603050405020304" pitchFamily="18" charset="0"/>
              </a:rPr>
              <a:t>explicitly</a:t>
            </a:r>
          </a:p>
          <a:p>
            <a:pPr marL="1371600" lvl="2" indent="-457200" algn="just" eaLnBrk="1" hangingPunct="1">
              <a:lnSpc>
                <a:spcPct val="90000"/>
              </a:lnSpc>
            </a:pPr>
            <a:r>
              <a:rPr lang="en-US" altLang="en-US" sz="1800">
                <a:latin typeface="Times New Roman" panose="02020603050405020304" pitchFamily="18" charset="0"/>
              </a:rPr>
              <a:t>integer int1 = integer(10,100);</a:t>
            </a:r>
          </a:p>
          <a:p>
            <a:pPr marL="990600" lvl="1" indent="-533400" algn="just" eaLnBrk="1" hangingPunct="1">
              <a:lnSpc>
                <a:spcPct val="90000"/>
              </a:lnSpc>
              <a:buFontTx/>
              <a:buAutoNum type="arabicPeriod"/>
            </a:pPr>
            <a:r>
              <a:rPr lang="en-US" altLang="en-US" sz="2000">
                <a:latin typeface="Times New Roman" panose="02020603050405020304" pitchFamily="18" charset="0"/>
              </a:rPr>
              <a:t>By calling the constructor </a:t>
            </a:r>
            <a:r>
              <a:rPr lang="en-US" altLang="en-US" sz="2000">
                <a:solidFill>
                  <a:schemeClr val="accent2"/>
                </a:solidFill>
                <a:latin typeface="Times New Roman" panose="02020603050405020304" pitchFamily="18" charset="0"/>
              </a:rPr>
              <a:t>implicitly</a:t>
            </a:r>
          </a:p>
          <a:p>
            <a:pPr marL="990600" lvl="1" indent="-533400" algn="just" eaLnBrk="1" hangingPunct="1">
              <a:lnSpc>
                <a:spcPct val="90000"/>
              </a:lnSpc>
            </a:pPr>
            <a:r>
              <a:rPr lang="en-US" altLang="en-US" sz="2000">
                <a:latin typeface="Times New Roman" panose="02020603050405020304" pitchFamily="18" charset="0"/>
              </a:rPr>
              <a:t>	integer int1(10,100);</a:t>
            </a:r>
          </a:p>
          <a:p>
            <a:pPr marL="609600" indent="-609600" algn="just" eaLnBrk="1" hangingPunct="1">
              <a:lnSpc>
                <a:spcPct val="90000"/>
              </a:lnSpc>
              <a:buFontTx/>
              <a:buChar char="•"/>
            </a:pPr>
            <a:r>
              <a:rPr lang="en-US" altLang="en-US" sz="2400">
                <a:latin typeface="Times New Roman" panose="02020603050405020304" pitchFamily="18" charset="0"/>
              </a:rPr>
              <a:t>The parameters of a constructor can be of any type except that of the class to which it belongs</a:t>
            </a:r>
          </a:p>
          <a:p>
            <a:pPr marL="990600" lvl="1" indent="-533400" algn="just" eaLnBrk="1" hangingPunct="1">
              <a:lnSpc>
                <a:spcPct val="90000"/>
              </a:lnSpc>
            </a:pPr>
            <a:r>
              <a:rPr lang="en-US" altLang="en-US" sz="2000">
                <a:latin typeface="Times New Roman" panose="02020603050405020304" pitchFamily="18" charset="0"/>
              </a:rPr>
              <a:t>class A				class A</a:t>
            </a:r>
          </a:p>
          <a:p>
            <a:pPr marL="990600" lvl="1" indent="-533400" algn="just" eaLnBrk="1" hangingPunct="1">
              <a:lnSpc>
                <a:spcPct val="90000"/>
              </a:lnSpc>
            </a:pPr>
            <a:r>
              <a:rPr lang="en-US" altLang="en-US" sz="2000">
                <a:latin typeface="Times New Roman" panose="02020603050405020304" pitchFamily="18" charset="0"/>
              </a:rPr>
              <a:t>{					{</a:t>
            </a:r>
          </a:p>
          <a:p>
            <a:pPr marL="990600" lvl="1" indent="-533400" algn="just" eaLnBrk="1" hangingPunct="1">
              <a:lnSpc>
                <a:spcPct val="90000"/>
              </a:lnSpc>
            </a:pPr>
            <a:r>
              <a:rPr lang="en-US" altLang="en-US" sz="2000">
                <a:latin typeface="Times New Roman" panose="02020603050405020304" pitchFamily="18" charset="0"/>
              </a:rPr>
              <a:t>	…..					……</a:t>
            </a:r>
          </a:p>
          <a:p>
            <a:pPr marL="990600" lvl="1" indent="-533400" algn="just" eaLnBrk="1" hangingPunct="1">
              <a:lnSpc>
                <a:spcPct val="90000"/>
              </a:lnSpc>
            </a:pPr>
            <a:r>
              <a:rPr lang="en-US" altLang="en-US" sz="2000">
                <a:latin typeface="Times New Roman" panose="02020603050405020304" pitchFamily="18" charset="0"/>
              </a:rPr>
              <a:t> 	public: 				public:</a:t>
            </a:r>
          </a:p>
          <a:p>
            <a:pPr marL="990600" lvl="1" indent="-533400" algn="just" eaLnBrk="1" hangingPunct="1">
              <a:lnSpc>
                <a:spcPct val="90000"/>
              </a:lnSpc>
            </a:pPr>
            <a:r>
              <a:rPr lang="en-US" altLang="en-US" sz="2000">
                <a:latin typeface="Times New Roman" panose="02020603050405020304" pitchFamily="18" charset="0"/>
              </a:rPr>
              <a:t>		A(A);					A(&amp;A);</a:t>
            </a:r>
          </a:p>
          <a:p>
            <a:pPr marL="990600" lvl="1" indent="-533400" algn="just" eaLnBrk="1" hangingPunct="1">
              <a:lnSpc>
                <a:spcPct val="90000"/>
              </a:lnSpc>
            </a:pPr>
            <a:r>
              <a:rPr lang="en-US" altLang="en-US" sz="2000">
                <a:latin typeface="Times New Roman" panose="02020603050405020304" pitchFamily="18" charset="0"/>
              </a:rPr>
              <a:t>};	// illegal			};	//legal</a:t>
            </a:r>
          </a:p>
          <a:p>
            <a:pPr marL="609600" indent="-609600" algn="just" eaLnBrk="1" hangingPunct="1">
              <a:lnSpc>
                <a:spcPct val="90000"/>
              </a:lnSpc>
              <a:buFontTx/>
              <a:buChar char="•"/>
            </a:pPr>
            <a:r>
              <a:rPr lang="en-US" altLang="en-US" sz="2400">
                <a:latin typeface="Times New Roman" panose="02020603050405020304" pitchFamily="18" charset="0"/>
              </a:rPr>
              <a:t>A constructor can accept a reference to its own class as a parameter. This type of constructor is called the </a:t>
            </a:r>
            <a:r>
              <a:rPr lang="en-US" altLang="en-US" sz="2400">
                <a:solidFill>
                  <a:schemeClr val="accent2"/>
                </a:solidFill>
                <a:latin typeface="Times New Roman" panose="02020603050405020304" pitchFamily="18" charset="0"/>
              </a:rPr>
              <a:t>copy constructor</a:t>
            </a:r>
            <a:r>
              <a:rPr lang="en-US" altLang="en-US" sz="2400">
                <a:latin typeface="Times New Roman" panose="02020603050405020304" pitchFamily="18"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1AC6AF6-B355-86DF-A29A-41CC7C19BA43}"/>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Multiple constructors in a class</a:t>
            </a:r>
          </a:p>
        </p:txBody>
      </p:sp>
      <p:sp>
        <p:nvSpPr>
          <p:cNvPr id="7171" name="Rectangle 3">
            <a:extLst>
              <a:ext uri="{FF2B5EF4-FFF2-40B4-BE49-F238E27FC236}">
                <a16:creationId xmlns:a16="http://schemas.microsoft.com/office/drawing/2014/main" id="{E8C0A133-0863-A7F8-D07C-D27AE99B18BF}"/>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000">
                <a:latin typeface="Times New Roman" panose="02020603050405020304" pitchFamily="18" charset="0"/>
              </a:rPr>
              <a:t>C++ permits us to create more than one constructor in the same class</a:t>
            </a:r>
          </a:p>
          <a:p>
            <a:pPr algn="just" eaLnBrk="1" hangingPunct="1">
              <a:lnSpc>
                <a:spcPct val="80000"/>
              </a:lnSpc>
              <a:buFontTx/>
              <a:buChar char="•"/>
            </a:pPr>
            <a:r>
              <a:rPr lang="en-US" altLang="en-US" sz="2000">
                <a:latin typeface="Times New Roman" panose="02020603050405020304" pitchFamily="18" charset="0"/>
              </a:rPr>
              <a:t>When more than one constructor is defined in a class, we say that the constructor is over loaded</a:t>
            </a:r>
          </a:p>
          <a:p>
            <a:pPr algn="just" eaLnBrk="1" hangingPunct="1">
              <a:lnSpc>
                <a:spcPct val="80000"/>
              </a:lnSpc>
            </a:pPr>
            <a:r>
              <a:rPr lang="en-US" altLang="en-US" sz="2000">
                <a:latin typeface="Times New Roman" panose="02020603050405020304" pitchFamily="18" charset="0"/>
              </a:rPr>
              <a:t>class integer</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pPr>
            <a:r>
              <a:rPr lang="en-US" altLang="en-US" sz="2000">
                <a:latin typeface="Times New Roman" panose="02020603050405020304" pitchFamily="18" charset="0"/>
              </a:rPr>
              <a:t>	int m,n;</a:t>
            </a:r>
          </a:p>
          <a:p>
            <a:pPr algn="just" eaLnBrk="1" hangingPunct="1">
              <a:lnSpc>
                <a:spcPct val="80000"/>
              </a:lnSpc>
            </a:pPr>
            <a:r>
              <a:rPr lang="en-US" altLang="en-US" sz="2000">
                <a:latin typeface="Times New Roman" panose="02020603050405020304" pitchFamily="18" charset="0"/>
              </a:rPr>
              <a:t>	public:</a:t>
            </a:r>
          </a:p>
          <a:p>
            <a:pPr algn="just" eaLnBrk="1" hangingPunct="1">
              <a:lnSpc>
                <a:spcPct val="80000"/>
              </a:lnSpc>
            </a:pPr>
            <a:r>
              <a:rPr lang="en-US" altLang="en-US" sz="2000">
                <a:latin typeface="Times New Roman" panose="02020603050405020304" pitchFamily="18" charset="0"/>
              </a:rPr>
              <a:t>		integer() { x=0;n=0;}</a:t>
            </a:r>
          </a:p>
          <a:p>
            <a:pPr algn="just" eaLnBrk="1" hangingPunct="1">
              <a:lnSpc>
                <a:spcPct val="80000"/>
              </a:lnSpc>
            </a:pPr>
            <a:r>
              <a:rPr lang="en-US" altLang="en-US" sz="2000">
                <a:latin typeface="Times New Roman" panose="02020603050405020304" pitchFamily="18" charset="0"/>
              </a:rPr>
              <a:t>		integer(int x, int y)</a:t>
            </a:r>
          </a:p>
          <a:p>
            <a:pPr algn="just" eaLnBrk="1" hangingPunct="1">
              <a:lnSpc>
                <a:spcPct val="80000"/>
              </a:lnSpc>
            </a:pPr>
            <a:r>
              <a:rPr lang="en-US" altLang="en-US" sz="2000">
                <a:latin typeface="Times New Roman" panose="02020603050405020304" pitchFamily="18" charset="0"/>
              </a:rPr>
              <a:t>		{m=x; n=y;}</a:t>
            </a:r>
          </a:p>
          <a:p>
            <a:pPr algn="just" eaLnBrk="1" hangingPunct="1">
              <a:lnSpc>
                <a:spcPct val="80000"/>
              </a:lnSpc>
            </a:pPr>
            <a:r>
              <a:rPr lang="en-US" altLang="en-US" sz="2000">
                <a:latin typeface="Times New Roman" panose="02020603050405020304" pitchFamily="18" charset="0"/>
              </a:rPr>
              <a:t>		integer (integer &amp; i)</a:t>
            </a:r>
          </a:p>
          <a:p>
            <a:pPr algn="just" eaLnBrk="1" hangingPunct="1">
              <a:lnSpc>
                <a:spcPct val="80000"/>
              </a:lnSpc>
            </a:pPr>
            <a:r>
              <a:rPr lang="en-US" altLang="en-US" sz="2000">
                <a:latin typeface="Times New Roman" panose="02020603050405020304" pitchFamily="18" charset="0"/>
              </a:rPr>
              <a:t>		{ m=i.m;n=i.n;}</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buFontTx/>
              <a:buChar char="•"/>
            </a:pPr>
            <a:r>
              <a:rPr lang="en-US" altLang="en-US" sz="2000">
                <a:latin typeface="Times New Roman" panose="02020603050405020304" pitchFamily="18" charset="0"/>
              </a:rPr>
              <a:t>Above class declares 3 constructors. Constructors are overloaded</a:t>
            </a:r>
          </a:p>
          <a:p>
            <a:pPr algn="just" eaLnBrk="1" hangingPunct="1">
              <a:lnSpc>
                <a:spcPct val="80000"/>
              </a:lnSpc>
            </a:pPr>
            <a:r>
              <a:rPr lang="en-US" altLang="en-US" sz="2000">
                <a:latin typeface="Times New Roman" panose="02020603050405020304" pitchFamily="18" charset="0"/>
              </a:rPr>
              <a:t>	integer I1;		//calls first constructor</a:t>
            </a:r>
          </a:p>
          <a:p>
            <a:pPr algn="just" eaLnBrk="1" hangingPunct="1">
              <a:lnSpc>
                <a:spcPct val="80000"/>
              </a:lnSpc>
            </a:pPr>
            <a:r>
              <a:rPr lang="en-US" altLang="en-US" sz="2000">
                <a:latin typeface="Times New Roman" panose="02020603050405020304" pitchFamily="18" charset="0"/>
              </a:rPr>
              <a:t>	integer I2(10,100);	//calls second constructor</a:t>
            </a:r>
          </a:p>
          <a:p>
            <a:pPr algn="just" eaLnBrk="1" hangingPunct="1">
              <a:lnSpc>
                <a:spcPct val="80000"/>
              </a:lnSpc>
            </a:pPr>
            <a:r>
              <a:rPr lang="en-US" altLang="en-US" sz="2000">
                <a:latin typeface="Times New Roman" panose="02020603050405020304" pitchFamily="18" charset="0"/>
              </a:rPr>
              <a:t>	integer I3(I1);	         	//calls third constructor, copy constructor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BDF3981-3A7C-A213-9B65-B72BD4DE6C88}"/>
              </a:ext>
            </a:extLst>
          </p:cNvPr>
          <p:cNvSpPr>
            <a:spLocks noGrp="1" noChangeArrowheads="1"/>
          </p:cNvSpPr>
          <p:nvPr>
            <p:ph type="subTitle" idx="1"/>
          </p:nvPr>
        </p:nvSpPr>
        <p:spPr>
          <a:xfrm>
            <a:off x="228600" y="228600"/>
            <a:ext cx="8686800" cy="6400800"/>
          </a:xfrm>
        </p:spPr>
        <p:txBody>
          <a:bodyPr/>
          <a:lstStyle/>
          <a:p>
            <a:pPr marL="609600" indent="-609600" algn="just" eaLnBrk="1" hangingPunct="1">
              <a:lnSpc>
                <a:spcPct val="90000"/>
              </a:lnSpc>
            </a:pPr>
            <a:r>
              <a:rPr lang="en-US" altLang="en-US" sz="2400">
                <a:latin typeface="Times New Roman" panose="02020603050405020304" pitchFamily="18" charset="0"/>
              </a:rPr>
              <a:t>#include &lt;iostream.h&gt;</a:t>
            </a:r>
          </a:p>
          <a:p>
            <a:pPr marL="609600" indent="-609600" algn="just" eaLnBrk="1" hangingPunct="1">
              <a:lnSpc>
                <a:spcPct val="90000"/>
              </a:lnSpc>
            </a:pPr>
            <a:r>
              <a:rPr lang="en-US" altLang="en-US" sz="2400">
                <a:latin typeface="Times New Roman" panose="02020603050405020304" pitchFamily="18" charset="0"/>
              </a:rPr>
              <a:t>class A</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pPr>
            <a:r>
              <a:rPr lang="en-US" altLang="en-US" sz="2400">
                <a:latin typeface="Times New Roman" panose="02020603050405020304" pitchFamily="18" charset="0"/>
              </a:rPr>
              <a:t>	int a,b;</a:t>
            </a:r>
          </a:p>
          <a:p>
            <a:pPr marL="609600" indent="-609600" algn="just" eaLnBrk="1" hangingPunct="1">
              <a:lnSpc>
                <a:spcPct val="90000"/>
              </a:lnSpc>
            </a:pPr>
            <a:r>
              <a:rPr lang="en-US" altLang="en-US" sz="2400">
                <a:latin typeface="Times New Roman" panose="02020603050405020304" pitchFamily="18" charset="0"/>
              </a:rPr>
              <a:t>	public:</a:t>
            </a:r>
          </a:p>
          <a:p>
            <a:pPr marL="609600" indent="-609600" algn="just" eaLnBrk="1" hangingPunct="1">
              <a:lnSpc>
                <a:spcPct val="90000"/>
              </a:lnSpc>
            </a:pPr>
            <a:r>
              <a:rPr lang="en-US" altLang="en-US" sz="2400">
                <a:latin typeface="Times New Roman" panose="02020603050405020304" pitchFamily="18" charset="0"/>
              </a:rPr>
              <a:t>		A(){}			//constructor no args</a:t>
            </a:r>
          </a:p>
          <a:p>
            <a:pPr marL="609600" indent="-609600" algn="just" eaLnBrk="1" hangingPunct="1">
              <a:lnSpc>
                <a:spcPct val="90000"/>
              </a:lnSpc>
            </a:pPr>
            <a:r>
              <a:rPr lang="en-US" altLang="en-US" sz="2400">
                <a:latin typeface="Times New Roman" panose="02020603050405020304" pitchFamily="18" charset="0"/>
              </a:rPr>
              <a:t>		A(int x){a=b=x;)}	 //constructor one args</a:t>
            </a:r>
          </a:p>
          <a:p>
            <a:pPr marL="609600" indent="-609600" algn="just" eaLnBrk="1" hangingPunct="1">
              <a:lnSpc>
                <a:spcPct val="90000"/>
              </a:lnSpc>
            </a:pPr>
            <a:r>
              <a:rPr lang="en-US" altLang="en-US" sz="2400">
                <a:latin typeface="Times New Roman" panose="02020603050405020304" pitchFamily="18" charset="0"/>
              </a:rPr>
              <a:t>		A(int x,int y){a=x;b=y;)} //constructor two args</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buFontTx/>
              <a:buChar char="•"/>
            </a:pPr>
            <a:r>
              <a:rPr lang="en-US" altLang="en-US" sz="2400">
                <a:latin typeface="Times New Roman" panose="02020603050405020304" pitchFamily="18" charset="0"/>
              </a:rPr>
              <a:t>A(){}	</a:t>
            </a:r>
          </a:p>
          <a:p>
            <a:pPr marL="990600" lvl="1" indent="-533400" algn="just" eaLnBrk="1" hangingPunct="1">
              <a:lnSpc>
                <a:spcPct val="90000"/>
              </a:lnSpc>
              <a:buFontTx/>
              <a:buChar char="–"/>
            </a:pPr>
            <a:r>
              <a:rPr lang="en-US" altLang="en-US" sz="2000">
                <a:latin typeface="Times New Roman" panose="02020603050405020304" pitchFamily="18" charset="0"/>
              </a:rPr>
              <a:t>It contains empty body and does not do anything</a:t>
            </a:r>
          </a:p>
          <a:p>
            <a:pPr marL="990600" lvl="1" indent="-533400" algn="just" eaLnBrk="1" hangingPunct="1">
              <a:lnSpc>
                <a:spcPct val="90000"/>
              </a:lnSpc>
              <a:buFontTx/>
              <a:buChar char="–"/>
            </a:pPr>
            <a:r>
              <a:rPr lang="en-US" altLang="en-US" sz="2000">
                <a:latin typeface="Times New Roman" panose="02020603050405020304" pitchFamily="18" charset="0"/>
              </a:rPr>
              <a:t>It is used to create objects without any initial values</a:t>
            </a:r>
          </a:p>
          <a:p>
            <a:pPr marL="990600" lvl="1" indent="-533400" algn="just" eaLnBrk="1" hangingPunct="1">
              <a:lnSpc>
                <a:spcPct val="90000"/>
              </a:lnSpc>
              <a:buFontTx/>
              <a:buChar char="–"/>
            </a:pPr>
            <a:r>
              <a:rPr lang="en-US" altLang="en-US" sz="2000">
                <a:latin typeface="Times New Roman" panose="02020603050405020304" pitchFamily="18" charset="0"/>
              </a:rPr>
              <a:t>C++ compiler will provide implicit constructor which creates objects if we did not provide any constructors</a:t>
            </a:r>
          </a:p>
          <a:p>
            <a:pPr marL="990600" lvl="1" indent="-533400" algn="just" eaLnBrk="1" hangingPunct="1">
              <a:lnSpc>
                <a:spcPct val="90000"/>
              </a:lnSpc>
              <a:buFontTx/>
              <a:buChar char="–"/>
            </a:pPr>
            <a:r>
              <a:rPr lang="en-US" altLang="en-US" sz="2000">
                <a:latin typeface="Times New Roman" panose="02020603050405020304" pitchFamily="18" charset="0"/>
              </a:rPr>
              <a:t>However, once we define the constructor, we must also define the “do-nothing” implicit constructor.</a:t>
            </a:r>
          </a:p>
          <a:p>
            <a:pPr marL="990600" lvl="1" indent="-533400" algn="just" eaLnBrk="1" hangingPunct="1">
              <a:lnSpc>
                <a:spcPct val="90000"/>
              </a:lnSpc>
              <a:buFontTx/>
              <a:buChar char="–"/>
            </a:pPr>
            <a:r>
              <a:rPr lang="en-US" altLang="en-US" sz="2000">
                <a:latin typeface="Times New Roman" panose="02020603050405020304" pitchFamily="18" charset="0"/>
              </a:rPr>
              <a:t>Just to satisfy the compiler we have to define this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68CF4FD-1372-D9B5-1D23-466BFABB5FC8}"/>
              </a:ext>
            </a:extLst>
          </p:cNvPr>
          <p:cNvSpPr>
            <a:spLocks noGrp="1" noChangeArrowheads="1"/>
          </p:cNvSpPr>
          <p:nvPr>
            <p:ph type="subTitle" idx="1"/>
          </p:nvPr>
        </p:nvSpPr>
        <p:spPr>
          <a:xfrm>
            <a:off x="228600" y="152400"/>
            <a:ext cx="8686800" cy="6705600"/>
          </a:xfrm>
        </p:spPr>
        <p:txBody>
          <a:bodyPr/>
          <a:lstStyle/>
          <a:p>
            <a:pPr marL="609600" indent="-609600" algn="just" eaLnBrk="1" hangingPunct="1">
              <a:lnSpc>
                <a:spcPct val="80000"/>
              </a:lnSpc>
            </a:pPr>
            <a:r>
              <a:rPr lang="en-US" altLang="en-US" sz="1200">
                <a:latin typeface="Times New Roman" panose="02020603050405020304" pitchFamily="18" charset="0"/>
              </a:rPr>
              <a:t>#include &lt;iostream.h&gt;</a:t>
            </a:r>
          </a:p>
          <a:p>
            <a:pPr marL="609600" indent="-609600" algn="just" eaLnBrk="1" hangingPunct="1">
              <a:lnSpc>
                <a:spcPct val="80000"/>
              </a:lnSpc>
            </a:pPr>
            <a:r>
              <a:rPr lang="en-US" altLang="en-US" sz="1200">
                <a:latin typeface="Times New Roman" panose="02020603050405020304" pitchFamily="18" charset="0"/>
              </a:rPr>
              <a:t>class complex</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float x,y;</a:t>
            </a:r>
          </a:p>
          <a:p>
            <a:pPr marL="609600" indent="-609600" algn="just" eaLnBrk="1" hangingPunct="1">
              <a:lnSpc>
                <a:spcPct val="80000"/>
              </a:lnSpc>
            </a:pPr>
            <a:r>
              <a:rPr lang="en-US" altLang="en-US" sz="1200">
                <a:latin typeface="Times New Roman" panose="02020603050405020304" pitchFamily="18" charset="0"/>
              </a:rPr>
              <a:t>	public:</a:t>
            </a:r>
          </a:p>
          <a:p>
            <a:pPr marL="609600" indent="-609600" algn="just" eaLnBrk="1" hangingPunct="1">
              <a:lnSpc>
                <a:spcPct val="80000"/>
              </a:lnSpc>
            </a:pPr>
            <a:r>
              <a:rPr lang="en-US" altLang="en-US" sz="1200">
                <a:latin typeface="Times New Roman" panose="02020603050405020304" pitchFamily="18" charset="0"/>
              </a:rPr>
              <a:t>		complex(){ }</a:t>
            </a:r>
          </a:p>
          <a:p>
            <a:pPr marL="609600" indent="-609600" algn="just" eaLnBrk="1" hangingPunct="1">
              <a:lnSpc>
                <a:spcPct val="80000"/>
              </a:lnSpc>
            </a:pPr>
            <a:r>
              <a:rPr lang="en-US" altLang="en-US" sz="1200">
                <a:latin typeface="Times New Roman" panose="02020603050405020304" pitchFamily="18" charset="0"/>
              </a:rPr>
              <a:t>		complex(float a) { x=y=a;}</a:t>
            </a:r>
          </a:p>
          <a:p>
            <a:pPr marL="609600" indent="-609600" algn="just" eaLnBrk="1" hangingPunct="1">
              <a:lnSpc>
                <a:spcPct val="80000"/>
              </a:lnSpc>
            </a:pPr>
            <a:r>
              <a:rPr lang="en-US" altLang="en-US" sz="1200">
                <a:latin typeface="Times New Roman" panose="02020603050405020304" pitchFamily="18" charset="0"/>
              </a:rPr>
              <a:t>		complex(float r, float i) {x=r;y=I;}</a:t>
            </a:r>
          </a:p>
          <a:p>
            <a:pPr marL="609600" indent="-609600" algn="just" eaLnBrk="1" hangingPunct="1">
              <a:lnSpc>
                <a:spcPct val="80000"/>
              </a:lnSpc>
            </a:pPr>
            <a:r>
              <a:rPr lang="en-US" altLang="en-US" sz="1200">
                <a:latin typeface="Times New Roman" panose="02020603050405020304" pitchFamily="18" charset="0"/>
              </a:rPr>
              <a:t>		friend complex sum(complex, complex);</a:t>
            </a:r>
          </a:p>
          <a:p>
            <a:pPr marL="609600" indent="-609600" algn="just" eaLnBrk="1" hangingPunct="1">
              <a:lnSpc>
                <a:spcPct val="80000"/>
              </a:lnSpc>
            </a:pPr>
            <a:r>
              <a:rPr lang="en-US" altLang="en-US" sz="1200">
                <a:latin typeface="Times New Roman" panose="02020603050405020304" pitchFamily="18" charset="0"/>
              </a:rPr>
              <a:t>		friend void show(complex);</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complex sum(complex c1, complex c2)</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complex c3;</a:t>
            </a:r>
          </a:p>
          <a:p>
            <a:pPr marL="609600" indent="-609600" algn="just" eaLnBrk="1" hangingPunct="1">
              <a:lnSpc>
                <a:spcPct val="80000"/>
              </a:lnSpc>
            </a:pPr>
            <a:r>
              <a:rPr lang="en-US" altLang="en-US" sz="1200">
                <a:latin typeface="Times New Roman" panose="02020603050405020304" pitchFamily="18" charset="0"/>
              </a:rPr>
              <a:t>	c3.x=c1.x+c2.x;</a:t>
            </a:r>
          </a:p>
          <a:p>
            <a:pPr marL="609600" indent="-609600" algn="just" eaLnBrk="1" hangingPunct="1">
              <a:lnSpc>
                <a:spcPct val="80000"/>
              </a:lnSpc>
            </a:pPr>
            <a:r>
              <a:rPr lang="en-US" altLang="en-US" sz="1200">
                <a:latin typeface="Times New Roman" panose="02020603050405020304" pitchFamily="18" charset="0"/>
              </a:rPr>
              <a:t>	c3.y=c1.y+c2.y;</a:t>
            </a:r>
          </a:p>
          <a:p>
            <a:pPr marL="609600" indent="-609600" algn="just" eaLnBrk="1" hangingPunct="1">
              <a:lnSpc>
                <a:spcPct val="80000"/>
              </a:lnSpc>
            </a:pPr>
            <a:r>
              <a:rPr lang="en-US" altLang="en-US" sz="1200">
                <a:latin typeface="Times New Roman" panose="02020603050405020304" pitchFamily="18" charset="0"/>
              </a:rPr>
              <a:t>	return (c3);</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void show(complex c){</a:t>
            </a:r>
          </a:p>
          <a:p>
            <a:pPr marL="609600" indent="-609600" algn="just" eaLnBrk="1" hangingPunct="1">
              <a:lnSpc>
                <a:spcPct val="80000"/>
              </a:lnSpc>
            </a:pPr>
            <a:r>
              <a:rPr lang="en-US" altLang="en-US" sz="1200">
                <a:latin typeface="Times New Roman" panose="02020603050405020304" pitchFamily="18" charset="0"/>
              </a:rPr>
              <a:t>	cout &lt;&lt; c.x &lt;&lt;“+ J” &lt;&lt;c.y &lt;&lt;“\n”;</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int main()</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complex A,B,C; </a:t>
            </a:r>
          </a:p>
          <a:p>
            <a:pPr marL="609600" indent="-609600" algn="just" eaLnBrk="1" hangingPunct="1">
              <a:lnSpc>
                <a:spcPct val="80000"/>
              </a:lnSpc>
            </a:pPr>
            <a:r>
              <a:rPr lang="en-US" altLang="en-US" sz="1200">
                <a:latin typeface="Times New Roman" panose="02020603050405020304" pitchFamily="18" charset="0"/>
              </a:rPr>
              <a:t>	A=complex(4.2,2.1);</a:t>
            </a:r>
          </a:p>
          <a:p>
            <a:pPr marL="609600" indent="-609600" algn="just" eaLnBrk="1" hangingPunct="1">
              <a:lnSpc>
                <a:spcPct val="80000"/>
              </a:lnSpc>
            </a:pPr>
            <a:r>
              <a:rPr lang="en-US" altLang="en-US" sz="1200">
                <a:latin typeface="Times New Roman" panose="02020603050405020304" pitchFamily="18" charset="0"/>
              </a:rPr>
              <a:t>	B=complex(6.3);</a:t>
            </a:r>
          </a:p>
          <a:p>
            <a:pPr marL="609600" indent="-609600" algn="just" eaLnBrk="1" hangingPunct="1">
              <a:lnSpc>
                <a:spcPct val="80000"/>
              </a:lnSpc>
            </a:pPr>
            <a:r>
              <a:rPr lang="en-US" altLang="en-US" sz="1200">
                <a:latin typeface="Times New Roman" panose="02020603050405020304" pitchFamily="18" charset="0"/>
              </a:rPr>
              <a:t>	C=sum(A,B);</a:t>
            </a:r>
          </a:p>
          <a:p>
            <a:pPr marL="609600" indent="-609600" algn="just" eaLnBrk="1" hangingPunct="1">
              <a:lnSpc>
                <a:spcPct val="80000"/>
              </a:lnSpc>
            </a:pPr>
            <a:r>
              <a:rPr lang="en-US" altLang="en-US" sz="1200">
                <a:latin typeface="Times New Roman" panose="02020603050405020304" pitchFamily="18" charset="0"/>
              </a:rPr>
              <a:t>	cout &lt; “A = “; show(A);</a:t>
            </a:r>
          </a:p>
          <a:p>
            <a:pPr marL="609600" indent="-609600" algn="just" eaLnBrk="1" hangingPunct="1">
              <a:lnSpc>
                <a:spcPct val="80000"/>
              </a:lnSpc>
            </a:pPr>
            <a:r>
              <a:rPr lang="en-US" altLang="en-US" sz="1200">
                <a:latin typeface="Times New Roman" panose="02020603050405020304" pitchFamily="18" charset="0"/>
              </a:rPr>
              <a:t>	cout &lt; “B = “; show(B);</a:t>
            </a:r>
          </a:p>
          <a:p>
            <a:pPr marL="609600" indent="-609600" algn="just" eaLnBrk="1" hangingPunct="1">
              <a:lnSpc>
                <a:spcPct val="80000"/>
              </a:lnSpc>
            </a:pPr>
            <a:r>
              <a:rPr lang="en-US" altLang="en-US" sz="1200">
                <a:latin typeface="Times New Roman" panose="02020603050405020304" pitchFamily="18" charset="0"/>
              </a:rPr>
              <a:t>	cout &lt; “C = “; show(C);</a:t>
            </a:r>
          </a:p>
          <a:p>
            <a:pPr marL="609600" indent="-609600" algn="just" eaLnBrk="1" hangingPunct="1">
              <a:lnSpc>
                <a:spcPct val="80000"/>
              </a:lnSpc>
            </a:pPr>
            <a:r>
              <a:rPr lang="en-US" altLang="en-US" sz="1200">
                <a:latin typeface="Times New Roman" panose="02020603050405020304" pitchFamily="18" charset="0"/>
              </a:rPr>
              <a:t>	return 0;</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OUTPUT</a:t>
            </a:r>
          </a:p>
          <a:p>
            <a:pPr marL="609600" indent="-609600" algn="just" eaLnBrk="1" hangingPunct="1">
              <a:lnSpc>
                <a:spcPct val="80000"/>
              </a:lnSpc>
            </a:pPr>
            <a:r>
              <a:rPr lang="en-US" altLang="en-US" sz="1200">
                <a:latin typeface="Times New Roman" panose="02020603050405020304" pitchFamily="18" charset="0"/>
              </a:rPr>
              <a:t>A = 4.2+J2.1</a:t>
            </a:r>
          </a:p>
          <a:p>
            <a:pPr marL="609600" indent="-609600" algn="just" eaLnBrk="1" hangingPunct="1">
              <a:lnSpc>
                <a:spcPct val="80000"/>
              </a:lnSpc>
            </a:pPr>
            <a:r>
              <a:rPr lang="en-US" altLang="en-US" sz="1200">
                <a:latin typeface="Times New Roman" panose="02020603050405020304" pitchFamily="18" charset="0"/>
              </a:rPr>
              <a:t>B = 6.3+J6.3</a:t>
            </a:r>
          </a:p>
          <a:p>
            <a:pPr marL="609600" indent="-609600" algn="just" eaLnBrk="1" hangingPunct="1">
              <a:lnSpc>
                <a:spcPct val="80000"/>
              </a:lnSpc>
            </a:pPr>
            <a:r>
              <a:rPr lang="en-US" altLang="en-US" sz="1200">
                <a:latin typeface="Times New Roman" panose="02020603050405020304" pitchFamily="18" charset="0"/>
              </a:rPr>
              <a:t>A = 10.5+J8.4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F0B20CF-6234-FDFF-D687-7C47D06183B6}"/>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Constructors with default arguments</a:t>
            </a:r>
          </a:p>
        </p:txBody>
      </p:sp>
      <p:sp>
        <p:nvSpPr>
          <p:cNvPr id="10243" name="Rectangle 3">
            <a:extLst>
              <a:ext uri="{FF2B5EF4-FFF2-40B4-BE49-F238E27FC236}">
                <a16:creationId xmlns:a16="http://schemas.microsoft.com/office/drawing/2014/main" id="{075F4C6B-BA25-839D-6EC0-B5F87422AC48}"/>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a:latin typeface="Times New Roman" panose="02020603050405020304" pitchFamily="18" charset="0"/>
              </a:rPr>
              <a:t>It is possible to define constructors with default arguments</a:t>
            </a:r>
          </a:p>
          <a:p>
            <a:pPr algn="just" eaLnBrk="1" hangingPunct="1">
              <a:buFontTx/>
              <a:buChar char="•"/>
            </a:pPr>
            <a:r>
              <a:rPr lang="en-US" altLang="en-US">
                <a:latin typeface="Times New Roman" panose="02020603050405020304" pitchFamily="18" charset="0"/>
              </a:rPr>
              <a:t>Eg:	complex(float r, float i=0);</a:t>
            </a:r>
          </a:p>
          <a:p>
            <a:pPr lvl="1" algn="just" eaLnBrk="1" hangingPunct="1"/>
            <a:r>
              <a:rPr lang="en-US" altLang="en-US">
                <a:latin typeface="Times New Roman" panose="02020603050405020304" pitchFamily="18" charset="0"/>
              </a:rPr>
              <a:t>	complex C(3.4);	//imaginary part is zero</a:t>
            </a:r>
          </a:p>
          <a:p>
            <a:pPr lvl="1" algn="just" eaLnBrk="1" hangingPunct="1"/>
            <a:r>
              <a:rPr lang="en-US" altLang="en-US">
                <a:latin typeface="Times New Roman" panose="02020603050405020304" pitchFamily="18" charset="0"/>
              </a:rPr>
              <a:t>	complex C(2.3,4.3);	//real = 2.3, imaginary=4.3</a:t>
            </a:r>
          </a:p>
          <a:p>
            <a:pPr lvl="1" algn="just" eaLnBrk="1" hangingPunct="1"/>
            <a:endParaRPr lang="en-US" altLang="en-US">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7F03803-265F-5C7A-D089-10B999E3631C}"/>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Dynamic initialization of Constructors</a:t>
            </a:r>
          </a:p>
        </p:txBody>
      </p:sp>
      <p:sp>
        <p:nvSpPr>
          <p:cNvPr id="11267" name="Rectangle 3">
            <a:extLst>
              <a:ext uri="{FF2B5EF4-FFF2-40B4-BE49-F238E27FC236}">
                <a16:creationId xmlns:a16="http://schemas.microsoft.com/office/drawing/2014/main" id="{FED435F1-3CD6-CC73-9F47-D59B84DAFD48}"/>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a:latin typeface="Times New Roman" panose="02020603050405020304" pitchFamily="18" charset="0"/>
              </a:rPr>
              <a:t>The initial value of an object may be provided during run time</a:t>
            </a:r>
          </a:p>
          <a:p>
            <a:pPr algn="just" eaLnBrk="1" hangingPunct="1">
              <a:buFontTx/>
              <a:buChar char="•"/>
            </a:pPr>
            <a:r>
              <a:rPr lang="en-US" altLang="en-US">
                <a:latin typeface="Times New Roman" panose="02020603050405020304" pitchFamily="18" charset="0"/>
              </a:rPr>
              <a:t>We can provide various initialization formats using overloaded constructors i.e flexibility of using different formats of data at runtime depending upon the situation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EA2EFE3-708C-EE07-E325-6FB31CF67618}"/>
              </a:ext>
            </a:extLst>
          </p:cNvPr>
          <p:cNvSpPr>
            <a:spLocks noGrp="1" noChangeArrowheads="1"/>
          </p:cNvSpPr>
          <p:nvPr>
            <p:ph type="subTitle" idx="1"/>
          </p:nvPr>
        </p:nvSpPr>
        <p:spPr>
          <a:xfrm>
            <a:off x="228600" y="152400"/>
            <a:ext cx="8686800" cy="6705600"/>
          </a:xfrm>
        </p:spPr>
        <p:txBody>
          <a:bodyPr/>
          <a:lstStyle/>
          <a:p>
            <a:pPr marL="609600" indent="-609600" algn="just" eaLnBrk="1" hangingPunct="1">
              <a:lnSpc>
                <a:spcPct val="80000"/>
              </a:lnSpc>
            </a:pPr>
            <a:r>
              <a:rPr lang="en-US" altLang="en-US" sz="1200">
                <a:latin typeface="Times New Roman" panose="02020603050405020304" pitchFamily="18" charset="0"/>
              </a:rPr>
              <a:t>#include &lt;iostream.h&gt;</a:t>
            </a:r>
          </a:p>
          <a:p>
            <a:pPr marL="609600" indent="-609600" algn="just" eaLnBrk="1" hangingPunct="1">
              <a:lnSpc>
                <a:spcPct val="80000"/>
              </a:lnSpc>
            </a:pPr>
            <a:r>
              <a:rPr lang="en-US" altLang="en-US" sz="1200">
                <a:latin typeface="Times New Roman" panose="02020603050405020304" pitchFamily="18" charset="0"/>
              </a:rPr>
              <a:t>class A</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int a,b,sum;</a:t>
            </a:r>
          </a:p>
          <a:p>
            <a:pPr marL="609600" indent="-609600" algn="just" eaLnBrk="1" hangingPunct="1">
              <a:lnSpc>
                <a:spcPct val="80000"/>
              </a:lnSpc>
            </a:pPr>
            <a:r>
              <a:rPr lang="en-US" altLang="en-US" sz="1200">
                <a:latin typeface="Times New Roman" panose="02020603050405020304" pitchFamily="18" charset="0"/>
              </a:rPr>
              <a:t>	public:</a:t>
            </a:r>
          </a:p>
          <a:p>
            <a:pPr marL="609600" indent="-609600" algn="just" eaLnBrk="1" hangingPunct="1">
              <a:lnSpc>
                <a:spcPct val="80000"/>
              </a:lnSpc>
            </a:pPr>
            <a:r>
              <a:rPr lang="en-US" altLang="en-US" sz="1200">
                <a:latin typeface="Times New Roman" panose="02020603050405020304" pitchFamily="18" charset="0"/>
              </a:rPr>
              <a:t>		A( ){ }</a:t>
            </a:r>
          </a:p>
          <a:p>
            <a:pPr marL="609600" indent="-609600" algn="just" eaLnBrk="1" hangingPunct="1">
              <a:lnSpc>
                <a:spcPct val="80000"/>
              </a:lnSpc>
            </a:pPr>
            <a:r>
              <a:rPr lang="en-US" altLang="en-US" sz="1200">
                <a:latin typeface="Times New Roman" panose="02020603050405020304" pitchFamily="18" charset="0"/>
              </a:rPr>
              <a:t>		A (int );		</a:t>
            </a:r>
          </a:p>
          <a:p>
            <a:pPr marL="609600" indent="-609600" algn="just" eaLnBrk="1" hangingPunct="1">
              <a:lnSpc>
                <a:spcPct val="80000"/>
              </a:lnSpc>
            </a:pPr>
            <a:r>
              <a:rPr lang="en-US" altLang="en-US" sz="1200">
                <a:latin typeface="Times New Roman" panose="02020603050405020304" pitchFamily="18" charset="0"/>
              </a:rPr>
              <a:t>		A(int , int );</a:t>
            </a:r>
          </a:p>
          <a:p>
            <a:pPr marL="609600" indent="-609600" algn="just" eaLnBrk="1" hangingPunct="1">
              <a:lnSpc>
                <a:spcPct val="80000"/>
              </a:lnSpc>
            </a:pPr>
            <a:r>
              <a:rPr lang="en-US" altLang="en-US" sz="1200">
                <a:latin typeface="Times New Roman" panose="02020603050405020304" pitchFamily="18" charset="0"/>
              </a:rPr>
              <a:t>		void display(void);		</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A :: A(int x)</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a=b=x;</a:t>
            </a:r>
          </a:p>
          <a:p>
            <a:pPr marL="609600" indent="-609600" algn="just" eaLnBrk="1" hangingPunct="1">
              <a:lnSpc>
                <a:spcPct val="80000"/>
              </a:lnSpc>
            </a:pPr>
            <a:r>
              <a:rPr lang="en-US" altLang="en-US" sz="1200">
                <a:latin typeface="Times New Roman" panose="02020603050405020304" pitchFamily="18" charset="0"/>
              </a:rPr>
              <a:t>	sum=a+b;</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A :: A(int x,int y)</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a=x;</a:t>
            </a:r>
          </a:p>
          <a:p>
            <a:pPr marL="609600" indent="-609600" algn="just" eaLnBrk="1" hangingPunct="1">
              <a:lnSpc>
                <a:spcPct val="80000"/>
              </a:lnSpc>
            </a:pPr>
            <a:r>
              <a:rPr lang="en-US" altLang="en-US" sz="1200">
                <a:latin typeface="Times New Roman" panose="02020603050405020304" pitchFamily="18" charset="0"/>
              </a:rPr>
              <a:t>	b=y;</a:t>
            </a:r>
          </a:p>
          <a:p>
            <a:pPr marL="609600" indent="-609600" algn="just" eaLnBrk="1" hangingPunct="1">
              <a:lnSpc>
                <a:spcPct val="80000"/>
              </a:lnSpc>
            </a:pPr>
            <a:r>
              <a:rPr lang="en-US" altLang="en-US" sz="1200">
                <a:latin typeface="Times New Roman" panose="02020603050405020304" pitchFamily="18" charset="0"/>
              </a:rPr>
              <a:t>	sum=a+b;</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void A :: display(void)</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cout &lt;&lt; “a =  “+ a + ”b = “ + b + ”sum = “ &lt;&lt; sum;</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endParaRPr lang="en-US" altLang="en-US" sz="1200">
              <a:latin typeface="Times New Roman" panose="02020603050405020304" pitchFamily="18" charset="0"/>
            </a:endParaRPr>
          </a:p>
          <a:p>
            <a:pPr marL="609600" indent="-609600" algn="just" eaLnBrk="1" hangingPunct="1">
              <a:lnSpc>
                <a:spcPct val="80000"/>
              </a:lnSpc>
            </a:pPr>
            <a:r>
              <a:rPr lang="en-US" altLang="en-US" sz="1200">
                <a:latin typeface="Times New Roman" panose="02020603050405020304" pitchFamily="18" charset="0"/>
              </a:rPr>
              <a:t>int main()</a:t>
            </a:r>
          </a:p>
          <a:p>
            <a:pPr marL="609600" indent="-609600" algn="just" eaLnBrk="1" hangingPunct="1">
              <a:lnSpc>
                <a:spcPct val="80000"/>
              </a:lnSpc>
            </a:pPr>
            <a:r>
              <a:rPr lang="en-US" altLang="en-US" sz="1200">
                <a:latin typeface="Times New Roman" panose="02020603050405020304" pitchFamily="18" charset="0"/>
              </a:rPr>
              <a:t>{</a:t>
            </a:r>
          </a:p>
          <a:p>
            <a:pPr marL="609600" indent="-609600" algn="just" eaLnBrk="1" hangingPunct="1">
              <a:lnSpc>
                <a:spcPct val="80000"/>
              </a:lnSpc>
            </a:pPr>
            <a:r>
              <a:rPr lang="en-US" altLang="en-US" sz="1200">
                <a:latin typeface="Times New Roman" panose="02020603050405020304" pitchFamily="18" charset="0"/>
              </a:rPr>
              <a:t> 	A a1;</a:t>
            </a:r>
          </a:p>
          <a:p>
            <a:pPr marL="609600" indent="-609600" algn="just" eaLnBrk="1" hangingPunct="1">
              <a:lnSpc>
                <a:spcPct val="80000"/>
              </a:lnSpc>
            </a:pPr>
            <a:r>
              <a:rPr lang="en-US" altLang="en-US" sz="1200">
                <a:latin typeface="Times New Roman" panose="02020603050405020304" pitchFamily="18" charset="0"/>
              </a:rPr>
              <a:t>	A a2(10);</a:t>
            </a:r>
          </a:p>
          <a:p>
            <a:pPr marL="609600" indent="-609600" algn="just" eaLnBrk="1" hangingPunct="1">
              <a:lnSpc>
                <a:spcPct val="80000"/>
              </a:lnSpc>
            </a:pPr>
            <a:r>
              <a:rPr lang="en-US" altLang="en-US" sz="1200">
                <a:latin typeface="Times New Roman" panose="02020603050405020304" pitchFamily="18" charset="0"/>
              </a:rPr>
              <a:t>	A a3(20,30);</a:t>
            </a:r>
          </a:p>
          <a:p>
            <a:pPr marL="609600" indent="-609600" algn="just" eaLnBrk="1" hangingPunct="1">
              <a:lnSpc>
                <a:spcPct val="80000"/>
              </a:lnSpc>
            </a:pPr>
            <a:r>
              <a:rPr lang="en-US" altLang="en-US" sz="1200">
                <a:latin typeface="Times New Roman" panose="02020603050405020304" pitchFamily="18" charset="0"/>
              </a:rPr>
              <a:t>	a1.display();</a:t>
            </a:r>
          </a:p>
          <a:p>
            <a:pPr marL="609600" indent="-609600" algn="just" eaLnBrk="1" hangingPunct="1">
              <a:lnSpc>
                <a:spcPct val="80000"/>
              </a:lnSpc>
            </a:pPr>
            <a:r>
              <a:rPr lang="en-US" altLang="en-US" sz="1200">
                <a:latin typeface="Times New Roman" panose="02020603050405020304" pitchFamily="18" charset="0"/>
              </a:rPr>
              <a:t>	a2.display(); 	</a:t>
            </a:r>
          </a:p>
          <a:p>
            <a:pPr marL="609600" indent="-609600" algn="just" eaLnBrk="1" hangingPunct="1">
              <a:lnSpc>
                <a:spcPct val="80000"/>
              </a:lnSpc>
            </a:pPr>
            <a:r>
              <a:rPr lang="en-US" altLang="en-US" sz="1200">
                <a:latin typeface="Times New Roman" panose="02020603050405020304" pitchFamily="18" charset="0"/>
              </a:rPr>
              <a:t>	a3.display();</a:t>
            </a:r>
          </a:p>
          <a:p>
            <a:pPr marL="609600" indent="-609600" algn="just" eaLnBrk="1" hangingPunct="1">
              <a:lnSpc>
                <a:spcPct val="80000"/>
              </a:lnSpc>
            </a:pPr>
            <a:r>
              <a:rPr lang="en-US" altLang="en-US" sz="1200">
                <a:latin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8872B04-4DC3-D409-1356-CCA4B9BC2202}"/>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Destructors</a:t>
            </a:r>
          </a:p>
        </p:txBody>
      </p:sp>
      <p:sp>
        <p:nvSpPr>
          <p:cNvPr id="13315" name="Rectangle 3">
            <a:extLst>
              <a:ext uri="{FF2B5EF4-FFF2-40B4-BE49-F238E27FC236}">
                <a16:creationId xmlns:a16="http://schemas.microsoft.com/office/drawing/2014/main" id="{32B78C1B-D768-E3DA-74B9-4F30AA30E31E}"/>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800">
                <a:latin typeface="Times New Roman" panose="02020603050405020304" pitchFamily="18" charset="0"/>
              </a:rPr>
              <a:t>A destructor is used to destroy the objects that have been created by a constructor</a:t>
            </a:r>
          </a:p>
          <a:p>
            <a:pPr algn="just" eaLnBrk="1" hangingPunct="1">
              <a:lnSpc>
                <a:spcPct val="80000"/>
              </a:lnSpc>
              <a:buFontTx/>
              <a:buChar char="•"/>
            </a:pPr>
            <a:r>
              <a:rPr lang="en-US" altLang="en-US" sz="2800">
                <a:latin typeface="Times New Roman" panose="02020603050405020304" pitchFamily="18" charset="0"/>
              </a:rPr>
              <a:t>It is a member function whose name is the same as the class name but is preceded  by a tilde(~)</a:t>
            </a:r>
          </a:p>
          <a:p>
            <a:pPr algn="just" eaLnBrk="1" hangingPunct="1">
              <a:lnSpc>
                <a:spcPct val="80000"/>
              </a:lnSpc>
              <a:buFontTx/>
              <a:buChar char="•"/>
            </a:pPr>
            <a:r>
              <a:rPr lang="en-US" altLang="en-US" sz="2800">
                <a:latin typeface="Times New Roman" panose="02020603050405020304" pitchFamily="18" charset="0"/>
              </a:rPr>
              <a:t>It never takes any argument nor does it return any value</a:t>
            </a:r>
          </a:p>
          <a:p>
            <a:pPr algn="just" eaLnBrk="1" hangingPunct="1">
              <a:lnSpc>
                <a:spcPct val="80000"/>
              </a:lnSpc>
              <a:buFontTx/>
              <a:buChar char="•"/>
            </a:pPr>
            <a:r>
              <a:rPr lang="en-US" altLang="en-US" sz="2800">
                <a:latin typeface="Times New Roman" panose="02020603050405020304" pitchFamily="18" charset="0"/>
              </a:rPr>
              <a:t>Invoked implicitly by the compiler upon exit from the program(or block or function as the case may be) to clean up storage that is no longer accessible</a:t>
            </a:r>
          </a:p>
          <a:p>
            <a:pPr algn="just" eaLnBrk="1" hangingPunct="1">
              <a:lnSpc>
                <a:spcPct val="80000"/>
              </a:lnSpc>
              <a:buFontTx/>
              <a:buChar char="•"/>
            </a:pPr>
            <a:r>
              <a:rPr lang="en-US" altLang="en-US" sz="2800">
                <a:latin typeface="Times New Roman" panose="02020603050405020304" pitchFamily="18" charset="0"/>
              </a:rPr>
              <a:t>Whenever new is used to allocate memory in the constructors, we should use delete to free that memory</a:t>
            </a:r>
          </a:p>
          <a:p>
            <a:pPr algn="just" eaLnBrk="1" hangingPunct="1">
              <a:lnSpc>
                <a:spcPct val="80000"/>
              </a:lnSpc>
              <a:buFontTx/>
              <a:buChar char="•"/>
            </a:pPr>
            <a:r>
              <a:rPr lang="en-US" altLang="en-US" sz="2800">
                <a:latin typeface="Times New Roman" panose="02020603050405020304" pitchFamily="18" charset="0"/>
              </a:rPr>
              <a:t>Eg: A :: ~A()</a:t>
            </a:r>
          </a:p>
          <a:p>
            <a:pPr algn="just" eaLnBrk="1" hangingPunct="1">
              <a:lnSpc>
                <a:spcPct val="80000"/>
              </a:lnSpc>
            </a:pPr>
            <a:r>
              <a:rPr lang="en-US" altLang="en-US" sz="2800">
                <a:latin typeface="Times New Roman" panose="02020603050405020304" pitchFamily="18" charset="0"/>
              </a:rPr>
              <a:t>	{</a:t>
            </a:r>
          </a:p>
          <a:p>
            <a:pPr algn="just" eaLnBrk="1" hangingPunct="1">
              <a:lnSpc>
                <a:spcPct val="80000"/>
              </a:lnSpc>
            </a:pPr>
            <a:r>
              <a:rPr lang="en-US" altLang="en-US" sz="2800">
                <a:latin typeface="Times New Roman" panose="02020603050405020304" pitchFamily="18" charset="0"/>
              </a:rPr>
              <a:t>		delete p;</a:t>
            </a:r>
          </a:p>
          <a:p>
            <a:pPr algn="just" eaLnBrk="1" hangingPunct="1">
              <a:lnSpc>
                <a:spcPct val="80000"/>
              </a:lnSpc>
            </a:pPr>
            <a:endParaRPr lang="en-US" altLang="en-US" sz="2800">
              <a:latin typeface="Times New Roman" panose="02020603050405020304" pitchFamily="18" charset="0"/>
            </a:endParaRPr>
          </a:p>
          <a:p>
            <a:pPr algn="just" eaLnBrk="1" hangingPunct="1">
              <a:lnSpc>
                <a:spcPct val="80000"/>
              </a:lnSpc>
            </a:pPr>
            <a:r>
              <a:rPr lang="en-US" altLang="en-US" sz="2800">
                <a:latin typeface="Times New Roman" panose="02020603050405020304" pitchFamily="18"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0E40728-F0F7-5C64-6F20-BD4221A0D986}"/>
              </a:ext>
            </a:extLst>
          </p:cNvPr>
          <p:cNvSpPr>
            <a:spLocks noGrp="1" noChangeArrowheads="1"/>
          </p:cNvSpPr>
          <p:nvPr>
            <p:ph type="subTitle" idx="1"/>
          </p:nvPr>
        </p:nvSpPr>
        <p:spPr>
          <a:xfrm>
            <a:off x="228600" y="152400"/>
            <a:ext cx="8686800" cy="6705600"/>
          </a:xfrm>
        </p:spPr>
        <p:txBody>
          <a:bodyPr/>
          <a:lstStyle/>
          <a:p>
            <a:pPr marL="609600" indent="-609600" algn="l" eaLnBrk="1" hangingPunct="1">
              <a:lnSpc>
                <a:spcPct val="80000"/>
              </a:lnSpc>
            </a:pPr>
            <a:r>
              <a:rPr lang="en-US" altLang="en-US" sz="1200"/>
              <a:t>#include &lt;iostream.h&gt;</a:t>
            </a:r>
          </a:p>
          <a:p>
            <a:pPr marL="609600" indent="-609600" algn="l" eaLnBrk="1" hangingPunct="1">
              <a:lnSpc>
                <a:spcPct val="80000"/>
              </a:lnSpc>
            </a:pPr>
            <a:r>
              <a:rPr lang="en-US" altLang="en-US" sz="1200"/>
              <a:t>#include &lt;conio.h&gt;</a:t>
            </a:r>
          </a:p>
          <a:p>
            <a:pPr marL="609600" indent="-609600" algn="l" eaLnBrk="1" hangingPunct="1">
              <a:lnSpc>
                <a:spcPct val="80000"/>
              </a:lnSpc>
            </a:pPr>
            <a:r>
              <a:rPr lang="en-US" altLang="en-US" sz="1200"/>
              <a:t>int objcount=0;</a:t>
            </a:r>
          </a:p>
          <a:p>
            <a:pPr marL="609600" indent="-609600" algn="l" eaLnBrk="1" hangingPunct="1">
              <a:lnSpc>
                <a:spcPct val="80000"/>
              </a:lnSpc>
            </a:pPr>
            <a:r>
              <a:rPr lang="en-US" altLang="en-US" sz="1200"/>
              <a:t>class A</a:t>
            </a:r>
          </a:p>
          <a:p>
            <a:pPr marL="609600" indent="-609600" algn="l" eaLnBrk="1" hangingPunct="1">
              <a:lnSpc>
                <a:spcPct val="80000"/>
              </a:lnSpc>
            </a:pPr>
            <a:r>
              <a:rPr lang="en-US" altLang="en-US" sz="1200"/>
              <a:t>{</a:t>
            </a:r>
          </a:p>
          <a:p>
            <a:pPr marL="609600" indent="-609600" algn="l" eaLnBrk="1" hangingPunct="1">
              <a:lnSpc>
                <a:spcPct val="80000"/>
              </a:lnSpc>
            </a:pPr>
            <a:r>
              <a:rPr lang="en-US" altLang="en-US" sz="1200"/>
              <a:t>	public:</a:t>
            </a:r>
          </a:p>
          <a:p>
            <a:pPr marL="609600" indent="-609600" algn="l" eaLnBrk="1" hangingPunct="1">
              <a:lnSpc>
                <a:spcPct val="80000"/>
              </a:lnSpc>
            </a:pPr>
            <a:r>
              <a:rPr lang="en-US" altLang="en-US" sz="1200"/>
              <a:t>		A()</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objcount++;</a:t>
            </a:r>
          </a:p>
          <a:p>
            <a:pPr marL="609600" indent="-609600" algn="l" eaLnBrk="1" hangingPunct="1">
              <a:lnSpc>
                <a:spcPct val="80000"/>
              </a:lnSpc>
            </a:pPr>
            <a:r>
              <a:rPr lang="en-US" altLang="en-US" sz="1200"/>
              <a:t>			cout&lt;&lt;"\n number of objects created "&lt;&lt;objcount;</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~A()</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cout&lt;&lt;"\n number of objects destroyed "&lt;&lt;objcount;</a:t>
            </a:r>
          </a:p>
          <a:p>
            <a:pPr marL="609600" indent="-609600" algn="l" eaLnBrk="1" hangingPunct="1">
              <a:lnSpc>
                <a:spcPct val="80000"/>
              </a:lnSpc>
            </a:pPr>
            <a:r>
              <a:rPr lang="en-US" altLang="en-US" sz="1200"/>
              <a:t>			objcount--;</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a:t>
            </a:r>
          </a:p>
          <a:p>
            <a:pPr marL="609600" indent="-609600" algn="l" eaLnBrk="1" hangingPunct="1">
              <a:lnSpc>
                <a:spcPct val="80000"/>
              </a:lnSpc>
            </a:pPr>
            <a:r>
              <a:rPr lang="en-US" altLang="en-US" sz="1200"/>
              <a:t>int main()</a:t>
            </a:r>
          </a:p>
          <a:p>
            <a:pPr marL="609600" indent="-609600" algn="l" eaLnBrk="1" hangingPunct="1">
              <a:lnSpc>
                <a:spcPct val="80000"/>
              </a:lnSpc>
            </a:pPr>
            <a:r>
              <a:rPr lang="en-US" altLang="en-US" sz="1200"/>
              <a:t>{</a:t>
            </a:r>
          </a:p>
          <a:p>
            <a:pPr marL="609600" indent="-609600" algn="l" eaLnBrk="1" hangingPunct="1">
              <a:lnSpc>
                <a:spcPct val="80000"/>
              </a:lnSpc>
            </a:pPr>
            <a:r>
              <a:rPr lang="en-US" altLang="en-US" sz="1200"/>
              <a:t>	clrscr();</a:t>
            </a:r>
          </a:p>
          <a:p>
            <a:pPr marL="609600" indent="-609600" algn="l" eaLnBrk="1" hangingPunct="1">
              <a:lnSpc>
                <a:spcPct val="80000"/>
              </a:lnSpc>
            </a:pPr>
            <a:r>
              <a:rPr lang="en-US" altLang="en-US" sz="1200"/>
              <a:t>	cout&lt;&lt;"\n main enter\n";</a:t>
            </a:r>
          </a:p>
          <a:p>
            <a:pPr marL="609600" indent="-609600" algn="l" eaLnBrk="1" hangingPunct="1">
              <a:lnSpc>
                <a:spcPct val="80000"/>
              </a:lnSpc>
            </a:pPr>
            <a:r>
              <a:rPr lang="en-US" altLang="en-US" sz="1200"/>
              <a:t>	A a1,a2,a3;</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cout &lt;&lt;"\n enter block1\n";</a:t>
            </a:r>
          </a:p>
          <a:p>
            <a:pPr marL="609600" indent="-609600" algn="l" eaLnBrk="1" hangingPunct="1">
              <a:lnSpc>
                <a:spcPct val="80000"/>
              </a:lnSpc>
            </a:pPr>
            <a:r>
              <a:rPr lang="en-US" altLang="en-US" sz="1200"/>
              <a:t>		A a4;</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cout &lt;&lt;"\n enter block2\n";</a:t>
            </a:r>
          </a:p>
          <a:p>
            <a:pPr marL="609600" indent="-609600" algn="l" eaLnBrk="1" hangingPunct="1">
              <a:lnSpc>
                <a:spcPct val="80000"/>
              </a:lnSpc>
            </a:pPr>
            <a:r>
              <a:rPr lang="en-US" altLang="en-US" sz="1200"/>
              <a:t>		A a5;</a:t>
            </a:r>
          </a:p>
          <a:p>
            <a:pPr marL="609600" indent="-609600" algn="l" eaLnBrk="1" hangingPunct="1">
              <a:lnSpc>
                <a:spcPct val="80000"/>
              </a:lnSpc>
            </a:pPr>
            <a:r>
              <a:rPr lang="en-US" altLang="en-US" sz="1200"/>
              <a:t>	}</a:t>
            </a:r>
          </a:p>
          <a:p>
            <a:pPr marL="609600" indent="-609600" algn="l" eaLnBrk="1" hangingPunct="1">
              <a:lnSpc>
                <a:spcPct val="80000"/>
              </a:lnSpc>
            </a:pPr>
            <a:r>
              <a:rPr lang="en-US" altLang="en-US" sz="1200"/>
              <a:t>	cout &lt;&lt; "\n re-enter main\n";</a:t>
            </a:r>
          </a:p>
          <a:p>
            <a:pPr marL="609600" indent="-609600" algn="l" eaLnBrk="1" hangingPunct="1">
              <a:lnSpc>
                <a:spcPct val="80000"/>
              </a:lnSpc>
            </a:pPr>
            <a:r>
              <a:rPr lang="en-US" altLang="en-US" sz="1200"/>
              <a:t>	return 0;</a:t>
            </a:r>
          </a:p>
          <a:p>
            <a:pPr marL="609600" indent="-609600" algn="l" eaLnBrk="1" hangingPunct="1">
              <a:lnSpc>
                <a:spcPct val="80000"/>
              </a:lnSpc>
            </a:pPr>
            <a:r>
              <a:rPr lang="en-US" altLang="en-US" sz="1200"/>
              <a:t>}</a:t>
            </a:r>
          </a:p>
          <a:p>
            <a:pPr marL="609600" indent="-609600" algn="l" eaLnBrk="1" hangingPunct="1">
              <a:lnSpc>
                <a:spcPct val="80000"/>
              </a:lnSpc>
            </a:pPr>
            <a:endParaRPr lang="en-US" altLang="en-US" sz="12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D88FAB7-1816-CE8C-9404-2D661A473446}"/>
              </a:ext>
            </a:extLst>
          </p:cNvPr>
          <p:cNvSpPr>
            <a:spLocks noGrp="1" noChangeArrowheads="1"/>
          </p:cNvSpPr>
          <p:nvPr>
            <p:ph type="subTitle" idx="1"/>
          </p:nvPr>
        </p:nvSpPr>
        <p:spPr>
          <a:xfrm>
            <a:off x="228600" y="152400"/>
            <a:ext cx="8686800" cy="6705600"/>
          </a:xfrm>
        </p:spPr>
        <p:txBody>
          <a:bodyPr/>
          <a:lstStyle/>
          <a:p>
            <a:pPr marL="609600" indent="-609600" algn="l" eaLnBrk="1" hangingPunct="1">
              <a:lnSpc>
                <a:spcPct val="80000"/>
              </a:lnSpc>
            </a:pPr>
            <a:r>
              <a:rPr lang="en-US" altLang="en-US" sz="2800">
                <a:solidFill>
                  <a:srgbClr val="0066CC"/>
                </a:solidFill>
              </a:rPr>
              <a:t>Output:</a:t>
            </a:r>
          </a:p>
          <a:p>
            <a:pPr marL="609600" indent="-609600" algn="l" eaLnBrk="1" hangingPunct="1">
              <a:lnSpc>
                <a:spcPct val="80000"/>
              </a:lnSpc>
            </a:pPr>
            <a:r>
              <a:rPr lang="en-US" altLang="en-US" sz="2800"/>
              <a:t>main enter</a:t>
            </a:r>
          </a:p>
          <a:p>
            <a:pPr marL="609600" indent="-609600" algn="l" eaLnBrk="1" hangingPunct="1">
              <a:lnSpc>
                <a:spcPct val="80000"/>
              </a:lnSpc>
            </a:pPr>
            <a:r>
              <a:rPr lang="en-US" altLang="en-US" sz="2800"/>
              <a:t>number of objects created 1</a:t>
            </a:r>
          </a:p>
          <a:p>
            <a:pPr marL="609600" indent="-609600" algn="l" eaLnBrk="1" hangingPunct="1">
              <a:lnSpc>
                <a:spcPct val="80000"/>
              </a:lnSpc>
            </a:pPr>
            <a:r>
              <a:rPr lang="en-US" altLang="en-US" sz="2800"/>
              <a:t>number of objects created 2</a:t>
            </a:r>
          </a:p>
          <a:p>
            <a:pPr marL="609600" indent="-609600" algn="l" eaLnBrk="1" hangingPunct="1">
              <a:lnSpc>
                <a:spcPct val="80000"/>
              </a:lnSpc>
            </a:pPr>
            <a:r>
              <a:rPr lang="en-US" altLang="en-US" sz="2800"/>
              <a:t>number of objects created 3</a:t>
            </a:r>
          </a:p>
          <a:p>
            <a:pPr marL="609600" indent="-609600" algn="l" eaLnBrk="1" hangingPunct="1">
              <a:lnSpc>
                <a:spcPct val="80000"/>
              </a:lnSpc>
            </a:pPr>
            <a:r>
              <a:rPr lang="en-US" altLang="en-US" sz="2800"/>
              <a:t>enter block1</a:t>
            </a:r>
          </a:p>
          <a:p>
            <a:pPr marL="609600" indent="-609600" algn="l" eaLnBrk="1" hangingPunct="1">
              <a:lnSpc>
                <a:spcPct val="80000"/>
              </a:lnSpc>
            </a:pPr>
            <a:r>
              <a:rPr lang="en-US" altLang="en-US" sz="2800"/>
              <a:t>number of objects created 4</a:t>
            </a:r>
          </a:p>
          <a:p>
            <a:pPr marL="609600" indent="-609600" algn="l" eaLnBrk="1" hangingPunct="1">
              <a:lnSpc>
                <a:spcPct val="80000"/>
              </a:lnSpc>
            </a:pPr>
            <a:r>
              <a:rPr lang="en-US" altLang="en-US" sz="2800"/>
              <a:t>number of objects destroyed 4</a:t>
            </a:r>
          </a:p>
          <a:p>
            <a:pPr marL="609600" indent="-609600" algn="l" eaLnBrk="1" hangingPunct="1">
              <a:lnSpc>
                <a:spcPct val="80000"/>
              </a:lnSpc>
            </a:pPr>
            <a:r>
              <a:rPr lang="en-US" altLang="en-US" sz="2800"/>
              <a:t>enter block2</a:t>
            </a:r>
          </a:p>
          <a:p>
            <a:pPr marL="609600" indent="-609600" algn="l" eaLnBrk="1" hangingPunct="1">
              <a:lnSpc>
                <a:spcPct val="80000"/>
              </a:lnSpc>
            </a:pPr>
            <a:r>
              <a:rPr lang="en-US" altLang="en-US" sz="2800"/>
              <a:t>number of objects created 5</a:t>
            </a:r>
          </a:p>
          <a:p>
            <a:pPr marL="609600" indent="-609600" algn="l" eaLnBrk="1" hangingPunct="1">
              <a:lnSpc>
                <a:spcPct val="80000"/>
              </a:lnSpc>
            </a:pPr>
            <a:r>
              <a:rPr lang="en-US" altLang="en-US" sz="2800"/>
              <a:t>number of objects destroyed 5</a:t>
            </a:r>
          </a:p>
          <a:p>
            <a:pPr marL="609600" indent="-609600" algn="l" eaLnBrk="1" hangingPunct="1">
              <a:lnSpc>
                <a:spcPct val="80000"/>
              </a:lnSpc>
            </a:pPr>
            <a:r>
              <a:rPr lang="en-US" altLang="en-US" sz="2800"/>
              <a:t>re-enter main</a:t>
            </a:r>
          </a:p>
          <a:p>
            <a:pPr marL="609600" indent="-609600" algn="l" eaLnBrk="1" hangingPunct="1">
              <a:lnSpc>
                <a:spcPct val="80000"/>
              </a:lnSpc>
            </a:pPr>
            <a:r>
              <a:rPr lang="en-US" altLang="en-US" sz="2800"/>
              <a:t>number of objects destroyed 3</a:t>
            </a:r>
          </a:p>
          <a:p>
            <a:pPr marL="609600" indent="-609600" algn="l" eaLnBrk="1" hangingPunct="1">
              <a:lnSpc>
                <a:spcPct val="80000"/>
              </a:lnSpc>
            </a:pPr>
            <a:r>
              <a:rPr lang="en-US" altLang="en-US" sz="2800"/>
              <a:t>number of objects destroyed 2</a:t>
            </a:r>
          </a:p>
          <a:p>
            <a:pPr marL="609600" indent="-609600" algn="l" eaLnBrk="1" hangingPunct="1">
              <a:lnSpc>
                <a:spcPct val="80000"/>
              </a:lnSpc>
            </a:pPr>
            <a:r>
              <a:rPr lang="en-US" altLang="en-US" sz="2800"/>
              <a:t>number of objects destroyed 1</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569</TotalTime>
  <Words>1631</Words>
  <Application>Microsoft Office PowerPoint</Application>
  <PresentationFormat>On-screen Show (4:3)</PresentationFormat>
  <Paragraphs>226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Default Design</vt:lpstr>
      <vt:lpstr>Constructors and Destructors</vt:lpstr>
      <vt:lpstr>Constructors</vt:lpstr>
      <vt:lpstr>PowerPoint Presentation</vt:lpstr>
      <vt:lpstr>Parameterized constructors</vt:lpstr>
      <vt:lpstr>PowerPoint Presentation</vt:lpstr>
      <vt:lpstr>Multiple constructors in a class</vt:lpstr>
      <vt:lpstr>PowerPoint Presentation</vt:lpstr>
      <vt:lpstr>PowerPoint Presentation</vt:lpstr>
      <vt:lpstr>Constructors with default arguments</vt:lpstr>
      <vt:lpstr>Dynamic initialization of Constructors</vt:lpstr>
      <vt:lpstr>PowerPoint Presentation</vt:lpstr>
      <vt:lpstr>Destructors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S Bhavani</cp:lastModifiedBy>
  <cp:revision>284</cp:revision>
  <cp:lastPrinted>1601-01-01T00:00:00Z</cp:lastPrinted>
  <dcterms:created xsi:type="dcterms:W3CDTF">1601-01-01T00:00:00Z</dcterms:created>
  <dcterms:modified xsi:type="dcterms:W3CDTF">2026-04-07T06:28:20Z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