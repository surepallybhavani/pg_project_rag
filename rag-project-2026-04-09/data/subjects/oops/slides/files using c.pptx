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58" r:id="rId3"/>
    <p:sldId id="259" r:id="rId4"/>
    <p:sldId id="260" r:id="rId5"/>
    <p:sldId id="261" r:id="rId6"/>
    <p:sldId id="262" r:id="rId7"/>
    <p:sldId id="263" r:id="rId8"/>
    <p:sldId id="264" r:id="rId9"/>
    <p:sldId id="265" r:id="rId10"/>
    <p:sldId id="266" r:id="rId11"/>
    <p:sldId id="267" r:id="rId1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7" d="100"/>
          <a:sy n="77" d="100"/>
        </p:scale>
        <p:origin x="1618"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659377D7-70CE-48A9-E793-D6883050F747}"/>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US"/>
          </a:p>
        </p:txBody>
      </p:sp>
      <p:sp>
        <p:nvSpPr>
          <p:cNvPr id="4099" name="Rectangle 3">
            <a:extLst>
              <a:ext uri="{FF2B5EF4-FFF2-40B4-BE49-F238E27FC236}">
                <a16:creationId xmlns:a16="http://schemas.microsoft.com/office/drawing/2014/main" id="{7B017309-8AF5-080F-741D-D30D0B4B8835}"/>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US"/>
          </a:p>
        </p:txBody>
      </p:sp>
      <p:sp>
        <p:nvSpPr>
          <p:cNvPr id="13316" name="Rectangle 4">
            <a:extLst>
              <a:ext uri="{FF2B5EF4-FFF2-40B4-BE49-F238E27FC236}">
                <a16:creationId xmlns:a16="http://schemas.microsoft.com/office/drawing/2014/main" id="{11A51EC8-ADB7-02EF-48E8-6EC6EE807EFE}"/>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F561EA4-2CE1-37B2-AB1B-F909FAE4FA50}"/>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a:extLst>
              <a:ext uri="{FF2B5EF4-FFF2-40B4-BE49-F238E27FC236}">
                <a16:creationId xmlns:a16="http://schemas.microsoft.com/office/drawing/2014/main" id="{E8501AA0-0B01-3B74-5E0F-523CE133ABED}"/>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US"/>
          </a:p>
        </p:txBody>
      </p:sp>
      <p:sp>
        <p:nvSpPr>
          <p:cNvPr id="4103" name="Rectangle 7">
            <a:extLst>
              <a:ext uri="{FF2B5EF4-FFF2-40B4-BE49-F238E27FC236}">
                <a16:creationId xmlns:a16="http://schemas.microsoft.com/office/drawing/2014/main" id="{3FFAF87D-EE00-4948-2233-3D83E7CB9021}"/>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9E8306B6-984D-43C6-889B-6480C3334179}"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4986918A-D6C6-C3B7-BC15-ACFB2FF729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8A20841-4311-4CA4-B52D-8473CBE83B5C}" type="slidenum">
              <a:rPr lang="en-US" altLang="en-US"/>
              <a:pPr eaLnBrk="1" hangingPunct="1"/>
              <a:t>1</a:t>
            </a:fld>
            <a:endParaRPr lang="en-US" altLang="en-US"/>
          </a:p>
        </p:txBody>
      </p:sp>
      <p:sp>
        <p:nvSpPr>
          <p:cNvPr id="14339" name="Rectangle 2">
            <a:extLst>
              <a:ext uri="{FF2B5EF4-FFF2-40B4-BE49-F238E27FC236}">
                <a16:creationId xmlns:a16="http://schemas.microsoft.com/office/drawing/2014/main" id="{D439A181-7084-E006-1527-E75C5351C3AB}"/>
              </a:ext>
            </a:extLst>
          </p:cNvPr>
          <p:cNvSpPr>
            <a:spLocks noRot="1" noChangeArrowheads="1" noTextEdit="1"/>
          </p:cNvSpPr>
          <p:nvPr>
            <p:ph type="sldImg"/>
          </p:nvPr>
        </p:nvSpPr>
        <p:spPr>
          <a:ln/>
        </p:spPr>
      </p:sp>
      <p:sp>
        <p:nvSpPr>
          <p:cNvPr id="14340" name="Rectangle 3">
            <a:extLst>
              <a:ext uri="{FF2B5EF4-FFF2-40B4-BE49-F238E27FC236}">
                <a16:creationId xmlns:a16="http://schemas.microsoft.com/office/drawing/2014/main" id="{036727BF-E9D6-DC4A-60D0-D8D7C21D3F15}"/>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Narrator:</a:t>
            </a:r>
          </a:p>
          <a:p>
            <a:pPr eaLnBrk="1" hangingPunct="1"/>
            <a:r>
              <a:rPr lang="en-US" altLang="en-US">
                <a:latin typeface="Arial" panose="020B0604020202020204" pitchFamily="34" charset="0"/>
              </a:rPr>
              <a:t>Lecture 7: File I/O in C.</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BAB62C9E-1F50-501A-E2C4-8079EB89EF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741454C-E511-4C68-B46B-0D0AD78C2BB9}" type="slidenum">
              <a:rPr lang="en-US" altLang="en-US"/>
              <a:pPr eaLnBrk="1" hangingPunct="1"/>
              <a:t>2</a:t>
            </a:fld>
            <a:endParaRPr lang="en-US" altLang="en-US"/>
          </a:p>
        </p:txBody>
      </p:sp>
      <p:sp>
        <p:nvSpPr>
          <p:cNvPr id="15363" name="Rectangle 2">
            <a:extLst>
              <a:ext uri="{FF2B5EF4-FFF2-40B4-BE49-F238E27FC236}">
                <a16:creationId xmlns:a16="http://schemas.microsoft.com/office/drawing/2014/main" id="{1BB3AABF-7CD0-CF0D-53C4-8680E367F879}"/>
              </a:ext>
            </a:extLst>
          </p:cNvPr>
          <p:cNvSpPr>
            <a:spLocks noRot="1" noChangeArrowheads="1" noTextEdit="1"/>
          </p:cNvSpPr>
          <p:nvPr>
            <p:ph type="sldImg"/>
          </p:nvPr>
        </p:nvSpPr>
        <p:spPr>
          <a:ln/>
        </p:spPr>
      </p:sp>
      <p:sp>
        <p:nvSpPr>
          <p:cNvPr id="15364" name="Rectangle 3">
            <a:extLst>
              <a:ext uri="{FF2B5EF4-FFF2-40B4-BE49-F238E27FC236}">
                <a16:creationId xmlns:a16="http://schemas.microsoft.com/office/drawing/2014/main" id="{9C67DC15-DE19-00A1-F486-525BC2D0A2CA}"/>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Instructor:</a:t>
            </a:r>
          </a:p>
          <a:p>
            <a:pPr eaLnBrk="1" hangingPunct="1"/>
            <a:r>
              <a:rPr lang="en-US" altLang="en-US">
                <a:latin typeface="Arial" panose="020B0604020202020204" pitchFamily="34" charset="0"/>
              </a:rPr>
              <a:t>Much like the keyboard and screen, file input and output is completed via streams.  The difference is the computer system typically contains many files, so the programmer must tell the computer which file to connect the stream to.</a:t>
            </a:r>
          </a:p>
          <a:p>
            <a:pPr eaLnBrk="1" hangingPunct="1"/>
            <a:endParaRPr lang="en-US" altLang="en-US">
              <a:latin typeface="Arial" panose="020B0604020202020204" pitchFamily="34" charset="0"/>
            </a:endParaRPr>
          </a:p>
          <a:p>
            <a:pPr eaLnBrk="1" hangingPunct="1"/>
            <a:r>
              <a:rPr lang="en-US" altLang="en-US">
                <a:latin typeface="Arial" panose="020B0604020202020204" pitchFamily="34" charset="0"/>
              </a:rPr>
              <a:t>Narrator:</a:t>
            </a:r>
          </a:p>
          <a:p>
            <a:pPr eaLnBrk="1" hangingPunct="1"/>
            <a:r>
              <a:rPr lang="en-US" altLang="en-US">
                <a:latin typeface="Arial" panose="020B0604020202020204" pitchFamily="34" charset="0"/>
              </a:rPr>
              <a:t>Much like the keyboard and screen, file input and output is completed via streams.  The difference is the computer system typically contains many files, so the programmer must tell the computer which file to connect the stream to by opening the file.  Once a file is open, a pointer to the address of that file structure is established.  This file structure contains a file descriptor and file control block.</a:t>
            </a:r>
          </a:p>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3971FB74-9A31-D179-2504-8FF170EA54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A31BCE9-67DC-4AE6-962B-0539CDC00BAC}" type="slidenum">
              <a:rPr lang="en-US" altLang="en-US"/>
              <a:pPr eaLnBrk="1" hangingPunct="1"/>
              <a:t>3</a:t>
            </a:fld>
            <a:endParaRPr lang="en-US" altLang="en-US"/>
          </a:p>
        </p:txBody>
      </p:sp>
      <p:sp>
        <p:nvSpPr>
          <p:cNvPr id="16387" name="Rectangle 2">
            <a:extLst>
              <a:ext uri="{FF2B5EF4-FFF2-40B4-BE49-F238E27FC236}">
                <a16:creationId xmlns:a16="http://schemas.microsoft.com/office/drawing/2014/main" id="{45CB4AEB-3AA5-6329-F829-229D968B340F}"/>
              </a:ext>
            </a:extLst>
          </p:cNvPr>
          <p:cNvSpPr>
            <a:spLocks noRot="1" noChangeArrowheads="1" noTextEdit="1"/>
          </p:cNvSpPr>
          <p:nvPr>
            <p:ph type="sldImg"/>
          </p:nvPr>
        </p:nvSpPr>
        <p:spPr>
          <a:ln/>
        </p:spPr>
      </p:sp>
      <p:sp>
        <p:nvSpPr>
          <p:cNvPr id="16388" name="Rectangle 3">
            <a:extLst>
              <a:ext uri="{FF2B5EF4-FFF2-40B4-BE49-F238E27FC236}">
                <a16:creationId xmlns:a16="http://schemas.microsoft.com/office/drawing/2014/main" id="{AE0D4610-66F6-EDAD-E745-E47C785AA9D6}"/>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Instructor:</a:t>
            </a:r>
          </a:p>
          <a:p>
            <a:pPr eaLnBrk="1" hangingPunct="1"/>
            <a:r>
              <a:rPr lang="en-US" altLang="en-US">
                <a:latin typeface="Arial" panose="020B0604020202020204" pitchFamily="34" charset="0"/>
              </a:rPr>
              <a:t>The FILE declaration is included in the same place as int, float, and char declarations.  Since FILE variables are pointers the must be preceded by a * so that the computer knows that the variable will actually contain an address (which will later point to the location of the file itself).  Declaring the variables themselves does not connect a file to them.</a:t>
            </a:r>
          </a:p>
          <a:p>
            <a:pPr eaLnBrk="1" hangingPunct="1"/>
            <a:endParaRPr lang="en-US" altLang="en-US">
              <a:latin typeface="Arial" panose="020B0604020202020204" pitchFamily="34" charset="0"/>
            </a:endParaRPr>
          </a:p>
          <a:p>
            <a:pPr eaLnBrk="1" hangingPunct="1"/>
            <a:r>
              <a:rPr lang="en-US" altLang="en-US">
                <a:latin typeface="Arial" panose="020B0604020202020204" pitchFamily="34" charset="0"/>
              </a:rPr>
              <a:t>Narrator:</a:t>
            </a:r>
          </a:p>
          <a:p>
            <a:pPr eaLnBrk="1" hangingPunct="1"/>
            <a:r>
              <a:rPr lang="en-US" altLang="en-US">
                <a:latin typeface="Arial" panose="020B0604020202020204" pitchFamily="34" charset="0"/>
              </a:rPr>
              <a:t>File pointers, like any other variable, must be declared.  The statement shown declares two file pointers.  They can now be assigned the address of a file descriptor, or the location in memory that will be associated with the input or output file stream.  Whenever you read from or write to a file, you must first open the file and assign the address of its file descriptor to a file pointer variable.  The FILE declaration is included in the same area of your program as int, float or char variable declarations.  Notice these FILE pointer variables are preceded by a * so that the computer knows that the variable will contain an address.  Declaring the variables themselves does not associate a file descriptor with them.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C9CBC9F0-18F9-C1AF-3E77-F224DA389D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838F835-BDF4-474A-B83F-0CE3CD6E5311}" type="slidenum">
              <a:rPr lang="en-US" altLang="en-US"/>
              <a:pPr eaLnBrk="1" hangingPunct="1"/>
              <a:t>4</a:t>
            </a:fld>
            <a:endParaRPr lang="en-US" altLang="en-US"/>
          </a:p>
        </p:txBody>
      </p:sp>
      <p:sp>
        <p:nvSpPr>
          <p:cNvPr id="17411" name="Rectangle 2">
            <a:extLst>
              <a:ext uri="{FF2B5EF4-FFF2-40B4-BE49-F238E27FC236}">
                <a16:creationId xmlns:a16="http://schemas.microsoft.com/office/drawing/2014/main" id="{D7FBFC35-4C32-77A8-103E-E8DB487D1DC0}"/>
              </a:ext>
            </a:extLst>
          </p:cNvPr>
          <p:cNvSpPr>
            <a:spLocks noRot="1" noChangeArrowheads="1" noTextEdit="1"/>
          </p:cNvSpPr>
          <p:nvPr>
            <p:ph type="sldImg"/>
          </p:nvPr>
        </p:nvSpPr>
        <p:spPr>
          <a:ln/>
        </p:spPr>
      </p:sp>
      <p:sp>
        <p:nvSpPr>
          <p:cNvPr id="17412" name="Rectangle 3">
            <a:extLst>
              <a:ext uri="{FF2B5EF4-FFF2-40B4-BE49-F238E27FC236}">
                <a16:creationId xmlns:a16="http://schemas.microsoft.com/office/drawing/2014/main" id="{104A35FE-8DD4-76DF-A1D8-46E8F5240A16}"/>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Instructor:</a:t>
            </a:r>
          </a:p>
          <a:p>
            <a:pPr eaLnBrk="1" hangingPunct="1"/>
            <a:r>
              <a:rPr lang="en-US" altLang="en-US">
                <a:latin typeface="Arial" panose="020B0604020202020204" pitchFamily="34" charset="0"/>
              </a:rPr>
              <a:t>Simply put, the fopen command connects the given file and creates either an input or output stream to the file.  The file pointer that can then be used as a stream is on the left hand side of the = sign.</a:t>
            </a:r>
          </a:p>
          <a:p>
            <a:pPr eaLnBrk="1" hangingPunct="1"/>
            <a:endParaRPr lang="en-US" altLang="en-US">
              <a:latin typeface="Arial" panose="020B0604020202020204" pitchFamily="34" charset="0"/>
            </a:endParaRPr>
          </a:p>
          <a:p>
            <a:pPr eaLnBrk="1" hangingPunct="1"/>
            <a:r>
              <a:rPr lang="en-US" altLang="en-US">
                <a:latin typeface="Arial" panose="020B0604020202020204" pitchFamily="34" charset="0"/>
              </a:rPr>
              <a:t>Narrator:</a:t>
            </a:r>
          </a:p>
          <a:p>
            <a:pPr eaLnBrk="1" hangingPunct="1"/>
            <a:r>
              <a:rPr lang="en-US" altLang="en-US">
                <a:latin typeface="Arial" panose="020B0604020202020204" pitchFamily="34" charset="0"/>
              </a:rPr>
              <a:t>Now that file pointers are declared, a file descriptor can now be assigned by opening a file.  This is completed by using the fopen() command.  Notice in the commands shown the file pointer is on the left hand side of the assignment and the command fopen() opens a given file by its name.  The second argument of fopen() determines how to open the file, in this case either for reading or writing.  Once these files have been opened, they stay open until you close them, or when your program terminates, which will automatically close all files.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C6BDA010-767E-78EA-341A-80087C1536D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63B458-FBE8-4547-81E7-4323CFE5FE07}" type="slidenum">
              <a:rPr lang="en-US" altLang="en-US"/>
              <a:pPr eaLnBrk="1" hangingPunct="1"/>
              <a:t>5</a:t>
            </a:fld>
            <a:endParaRPr lang="en-US" altLang="en-US"/>
          </a:p>
        </p:txBody>
      </p:sp>
      <p:sp>
        <p:nvSpPr>
          <p:cNvPr id="18435" name="Rectangle 2">
            <a:extLst>
              <a:ext uri="{FF2B5EF4-FFF2-40B4-BE49-F238E27FC236}">
                <a16:creationId xmlns:a16="http://schemas.microsoft.com/office/drawing/2014/main" id="{115B99CE-98CC-FA8F-50B3-E32372C01B02}"/>
              </a:ext>
            </a:extLst>
          </p:cNvPr>
          <p:cNvSpPr>
            <a:spLocks noRot="1" noChangeArrowheads="1" noTextEdit="1"/>
          </p:cNvSpPr>
          <p:nvPr>
            <p:ph type="sldImg"/>
          </p:nvPr>
        </p:nvSpPr>
        <p:spPr>
          <a:ln/>
        </p:spPr>
      </p:sp>
      <p:sp>
        <p:nvSpPr>
          <p:cNvPr id="18436" name="Rectangle 3">
            <a:extLst>
              <a:ext uri="{FF2B5EF4-FFF2-40B4-BE49-F238E27FC236}">
                <a16:creationId xmlns:a16="http://schemas.microsoft.com/office/drawing/2014/main" id="{3215F85D-04F1-2474-ADFF-720D8914C234}"/>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Instructor:</a:t>
            </a:r>
          </a:p>
          <a:p>
            <a:pPr eaLnBrk="1" hangingPunct="1"/>
            <a:r>
              <a:rPr lang="en-US" altLang="en-US">
                <a:latin typeface="Arial" panose="020B0604020202020204" pitchFamily="34" charset="0"/>
              </a:rPr>
              <a:t>A good way to check for fault tolerance is to check for the file pointer to be equal to NULL after attempting to open it.  If the file pointer is NULL the program should perform some alternate action besides attempting to use the file pointer (such as displaying an for the user).</a:t>
            </a:r>
          </a:p>
          <a:p>
            <a:pPr eaLnBrk="1" hangingPunct="1"/>
            <a:endParaRPr lang="en-US" altLang="en-US">
              <a:latin typeface="Arial" panose="020B0604020202020204" pitchFamily="34" charset="0"/>
            </a:endParaRPr>
          </a:p>
          <a:p>
            <a:pPr eaLnBrk="1" hangingPunct="1"/>
            <a:r>
              <a:rPr lang="en-US" altLang="en-US">
                <a:latin typeface="Arial" panose="020B0604020202020204" pitchFamily="34" charset="0"/>
              </a:rPr>
              <a:t>Narrator:</a:t>
            </a:r>
          </a:p>
          <a:p>
            <a:pPr eaLnBrk="1" hangingPunct="1"/>
            <a:r>
              <a:rPr lang="en-US" altLang="en-US">
                <a:latin typeface="Arial" panose="020B0604020202020204" pitchFamily="34" charset="0"/>
              </a:rPr>
              <a:t>Just because you attempt to open a file doesn’t guarantee it will be opened successfully.  Various problems may occur such as the file is in use, your program doesn’t have permission to open the file, or the file simply doesn’t exist or is in another directory.  But there is a method of testing for a successful file open.  In the given example we will attempt to open a file that doesn’t exist.  Notice after we attempt to open the file with fopen we then test the file pointer for a value called NULL.  If the file pointer contains NULL then the file in fact didn’t open.  Otherwise it can be assumed the file opened correctly and is ready for use.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64F2F11E-CBFE-D10A-E1C7-1D6B89390D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C4157FC-F562-40C2-9D73-A49B6F580F18}" type="slidenum">
              <a:rPr lang="en-US" altLang="en-US"/>
              <a:pPr eaLnBrk="1" hangingPunct="1"/>
              <a:t>6</a:t>
            </a:fld>
            <a:endParaRPr lang="en-US" altLang="en-US"/>
          </a:p>
        </p:txBody>
      </p:sp>
      <p:sp>
        <p:nvSpPr>
          <p:cNvPr id="19459" name="Rectangle 2">
            <a:extLst>
              <a:ext uri="{FF2B5EF4-FFF2-40B4-BE49-F238E27FC236}">
                <a16:creationId xmlns:a16="http://schemas.microsoft.com/office/drawing/2014/main" id="{714BCE26-7E93-704A-5527-569180799A8B}"/>
              </a:ext>
            </a:extLst>
          </p:cNvPr>
          <p:cNvSpPr>
            <a:spLocks noRot="1" noChangeArrowheads="1" noTextEdit="1"/>
          </p:cNvSpPr>
          <p:nvPr>
            <p:ph type="sldImg"/>
          </p:nvPr>
        </p:nvSpPr>
        <p:spPr>
          <a:ln/>
        </p:spPr>
      </p:sp>
      <p:sp>
        <p:nvSpPr>
          <p:cNvPr id="19460" name="Rectangle 3">
            <a:extLst>
              <a:ext uri="{FF2B5EF4-FFF2-40B4-BE49-F238E27FC236}">
                <a16:creationId xmlns:a16="http://schemas.microsoft.com/office/drawing/2014/main" id="{F2CA8658-6308-4558-7290-5D714C455156}"/>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Instructor:</a:t>
            </a:r>
          </a:p>
          <a:p>
            <a:pPr eaLnBrk="1" hangingPunct="1"/>
            <a:r>
              <a:rPr lang="en-US" altLang="en-US">
                <a:latin typeface="Arial" panose="020B0604020202020204" pitchFamily="34" charset="0"/>
              </a:rPr>
              <a:t>In the line: fscanf(fptr1,”%d%d”,&amp;a,&amp;b); operates much like the scanf function except it requires the name of the file pointer it should acquire data from.</a:t>
            </a:r>
          </a:p>
          <a:p>
            <a:pPr eaLnBrk="1" hangingPunct="1"/>
            <a:r>
              <a:rPr lang="en-US" altLang="en-US">
                <a:latin typeface="Arial" panose="020B0604020202020204" pitchFamily="34" charset="0"/>
              </a:rPr>
              <a:t>fscanf – the function called</a:t>
            </a:r>
          </a:p>
          <a:p>
            <a:pPr eaLnBrk="1" hangingPunct="1"/>
            <a:r>
              <a:rPr lang="en-US" altLang="en-US">
                <a:latin typeface="Arial" panose="020B0604020202020204" pitchFamily="34" charset="0"/>
              </a:rPr>
              <a:t>Fptr1 – the file pointer fscanf will acquire data from</a:t>
            </a:r>
          </a:p>
          <a:p>
            <a:pPr eaLnBrk="1" hangingPunct="1"/>
            <a:r>
              <a:rPr lang="en-US" altLang="en-US">
                <a:latin typeface="Arial" panose="020B0604020202020204" pitchFamily="34" charset="0"/>
              </a:rPr>
              <a:t>“%d%d” – the expected format of the data in the file (2 integers in this case)</a:t>
            </a:r>
          </a:p>
          <a:p>
            <a:pPr eaLnBrk="1" hangingPunct="1"/>
            <a:r>
              <a:rPr lang="en-US" altLang="en-US">
                <a:latin typeface="Arial" panose="020B0604020202020204" pitchFamily="34" charset="0"/>
              </a:rPr>
              <a:t>&amp;a,&amp;b – the variables where data from the file will be stored</a:t>
            </a:r>
          </a:p>
          <a:p>
            <a:pPr eaLnBrk="1" hangingPunct="1"/>
            <a:endParaRPr lang="en-US" altLang="en-US">
              <a:latin typeface="Arial" panose="020B0604020202020204" pitchFamily="34" charset="0"/>
            </a:endParaRPr>
          </a:p>
          <a:p>
            <a:pPr eaLnBrk="1" hangingPunct="1"/>
            <a:r>
              <a:rPr lang="en-US" altLang="en-US">
                <a:latin typeface="Arial" panose="020B0604020202020204" pitchFamily="34" charset="0"/>
              </a:rPr>
              <a:t>Narrator:</a:t>
            </a:r>
          </a:p>
          <a:p>
            <a:pPr eaLnBrk="1" hangingPunct="1"/>
            <a:r>
              <a:rPr lang="en-US" altLang="en-US">
                <a:latin typeface="Arial" panose="020B0604020202020204" pitchFamily="34" charset="0"/>
              </a:rPr>
              <a:t>Once a file is open for reading, there must be a method of reading from the file.  The is completed with the fscanf function.  It operates much like the scanf function, except this function requires the file pointer to be included as an argument.  In the segment of code shown the file mydata is opened and the file pointer fptr1 is assigned to the open file.  Then the fscanf function scans for two integers from this file and assigns the values read to the variables a and b.</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E1CE86E9-1FC7-46E8-536F-3382F299A8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26D503A-4E7F-47CC-824E-A99B50379B69}" type="slidenum">
              <a:rPr lang="en-US" altLang="en-US"/>
              <a:pPr eaLnBrk="1" hangingPunct="1"/>
              <a:t>7</a:t>
            </a:fld>
            <a:endParaRPr lang="en-US" altLang="en-US"/>
          </a:p>
        </p:txBody>
      </p:sp>
      <p:sp>
        <p:nvSpPr>
          <p:cNvPr id="20483" name="Rectangle 2">
            <a:extLst>
              <a:ext uri="{FF2B5EF4-FFF2-40B4-BE49-F238E27FC236}">
                <a16:creationId xmlns:a16="http://schemas.microsoft.com/office/drawing/2014/main" id="{CABB505B-58EA-919D-5EC7-BE379437438E}"/>
              </a:ext>
            </a:extLst>
          </p:cNvPr>
          <p:cNvSpPr>
            <a:spLocks noRot="1" noChangeArrowheads="1" noTextEdit="1"/>
          </p:cNvSpPr>
          <p:nvPr>
            <p:ph type="sldImg"/>
          </p:nvPr>
        </p:nvSpPr>
        <p:spPr>
          <a:ln/>
        </p:spPr>
      </p:sp>
      <p:sp>
        <p:nvSpPr>
          <p:cNvPr id="20484" name="Rectangle 3">
            <a:extLst>
              <a:ext uri="{FF2B5EF4-FFF2-40B4-BE49-F238E27FC236}">
                <a16:creationId xmlns:a16="http://schemas.microsoft.com/office/drawing/2014/main" id="{FC9F3FD4-F2E0-CDAC-CD03-7A63F89F6CEC}"/>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Instructor:</a:t>
            </a:r>
          </a:p>
          <a:p>
            <a:pPr eaLnBrk="1" hangingPunct="1"/>
            <a:r>
              <a:rPr lang="en-US" altLang="en-US">
                <a:latin typeface="Arial" panose="020B0604020202020204" pitchFamily="34" charset="0"/>
              </a:rPr>
              <a:t>Or to complete a section of code while not at the end of a file:</a:t>
            </a:r>
          </a:p>
          <a:p>
            <a:pPr eaLnBrk="1" hangingPunct="1"/>
            <a:r>
              <a:rPr lang="en-US" altLang="en-US">
                <a:latin typeface="Arial" panose="020B0604020202020204" pitchFamily="34" charset="0"/>
              </a:rPr>
              <a:t>Fscanf(…);</a:t>
            </a:r>
          </a:p>
          <a:p>
            <a:pPr eaLnBrk="1" hangingPunct="1"/>
            <a:r>
              <a:rPr lang="en-US" altLang="en-US">
                <a:latin typeface="Arial" panose="020B0604020202020204" pitchFamily="34" charset="0"/>
              </a:rPr>
              <a:t>While(!feof(fptr1))</a:t>
            </a:r>
          </a:p>
          <a:p>
            <a:pPr eaLnBrk="1" hangingPunct="1"/>
            <a:r>
              <a:rPr lang="en-US" altLang="en-US">
                <a:latin typeface="Arial" panose="020B0604020202020204" pitchFamily="34" charset="0"/>
              </a:rPr>
              <a:t>{</a:t>
            </a:r>
          </a:p>
          <a:p>
            <a:pPr eaLnBrk="1" hangingPunct="1"/>
            <a:r>
              <a:rPr lang="en-US" altLang="en-US">
                <a:latin typeface="Arial" panose="020B0604020202020204" pitchFamily="34" charset="0"/>
              </a:rPr>
              <a:t>	//do something with file data</a:t>
            </a:r>
          </a:p>
          <a:p>
            <a:pPr eaLnBrk="1" hangingPunct="1"/>
            <a:r>
              <a:rPr lang="en-US" altLang="en-US">
                <a:latin typeface="Arial" panose="020B0604020202020204" pitchFamily="34" charset="0"/>
              </a:rPr>
              <a:t>	fscanf(…);</a:t>
            </a:r>
          </a:p>
          <a:p>
            <a:pPr eaLnBrk="1" hangingPunct="1"/>
            <a:r>
              <a:rPr lang="en-US" altLang="en-US">
                <a:latin typeface="Arial" panose="020B0604020202020204" pitchFamily="34" charset="0"/>
              </a:rPr>
              <a:t>}</a:t>
            </a:r>
          </a:p>
          <a:p>
            <a:pPr eaLnBrk="1" hangingPunct="1"/>
            <a:endParaRPr lang="en-US" altLang="en-US">
              <a:latin typeface="Arial" panose="020B0604020202020204" pitchFamily="34" charset="0"/>
            </a:endParaRPr>
          </a:p>
          <a:p>
            <a:pPr eaLnBrk="1" hangingPunct="1"/>
            <a:r>
              <a:rPr lang="en-US" altLang="en-US">
                <a:latin typeface="Arial" panose="020B0604020202020204" pitchFamily="34" charset="0"/>
              </a:rPr>
              <a:t>Narrator:</a:t>
            </a:r>
          </a:p>
          <a:p>
            <a:pPr eaLnBrk="1" hangingPunct="1"/>
            <a:r>
              <a:rPr lang="en-US" altLang="en-US">
                <a:latin typeface="Arial" panose="020B0604020202020204" pitchFamily="34" charset="0"/>
              </a:rPr>
              <a:t>When reading continuously from a file, eventually the program will reach the end of a file.  To determine when this occurs another indicator like the NULL indicator is used, called the end-of-file indictor, or EOF.  The pointer will return this indicator when no more data is available to be processed.  There are multiple ways to test for the end-of-file condition.  A simple method is to use the feof function, which will return a true or false condition.  Its use is shown in the example in an if statement.  Feof() requires the file pointer being tested as an argument.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5FF498A5-4061-2DDC-03F9-44DDD98F6D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964FFBF-7ACF-4D16-AC58-68FA3357FC43}" type="slidenum">
              <a:rPr lang="en-US" altLang="en-US"/>
              <a:pPr eaLnBrk="1" hangingPunct="1"/>
              <a:t>8</a:t>
            </a:fld>
            <a:endParaRPr lang="en-US" altLang="en-US"/>
          </a:p>
        </p:txBody>
      </p:sp>
      <p:sp>
        <p:nvSpPr>
          <p:cNvPr id="21507" name="Rectangle 2">
            <a:extLst>
              <a:ext uri="{FF2B5EF4-FFF2-40B4-BE49-F238E27FC236}">
                <a16:creationId xmlns:a16="http://schemas.microsoft.com/office/drawing/2014/main" id="{5FE9BF10-37C2-E121-892D-90B4BF7E81CB}"/>
              </a:ext>
            </a:extLst>
          </p:cNvPr>
          <p:cNvSpPr>
            <a:spLocks noRot="1" noChangeArrowheads="1" noTextEdit="1"/>
          </p:cNvSpPr>
          <p:nvPr>
            <p:ph type="sldImg"/>
          </p:nvPr>
        </p:nvSpPr>
        <p:spPr>
          <a:ln/>
        </p:spPr>
      </p:sp>
      <p:sp>
        <p:nvSpPr>
          <p:cNvPr id="21508" name="Rectangle 3">
            <a:extLst>
              <a:ext uri="{FF2B5EF4-FFF2-40B4-BE49-F238E27FC236}">
                <a16:creationId xmlns:a16="http://schemas.microsoft.com/office/drawing/2014/main" id="{EF08945D-25E0-B2A9-42CB-D39656713D7D}"/>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Narrator:</a:t>
            </a:r>
          </a:p>
          <a:p>
            <a:pPr eaLnBrk="1" hangingPunct="1"/>
            <a:r>
              <a:rPr lang="en-US" altLang="en-US">
                <a:latin typeface="Arial" panose="020B0604020202020204" pitchFamily="34" charset="0"/>
              </a:rPr>
              <a:t>Another way to test for EOF, much like when testing for NULL, is to check the value returned from fscanf for the EOF indicator.  Note that when this method is used you must explicitly assign the output of fscanf to a variable where normally the output of fscanf is ignored.  Look closely at the fscanf line on this slide and the preceding slide for this subtle difference.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92CC0A1D-9F39-9D4A-E41B-322593BBD0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28F8A9C-6D1A-42AB-A2B3-6C31B8CCE9BE}" type="slidenum">
              <a:rPr lang="en-US" altLang="en-US"/>
              <a:pPr eaLnBrk="1" hangingPunct="1"/>
              <a:t>9</a:t>
            </a:fld>
            <a:endParaRPr lang="en-US" altLang="en-US"/>
          </a:p>
        </p:txBody>
      </p:sp>
      <p:sp>
        <p:nvSpPr>
          <p:cNvPr id="22531" name="Rectangle 2">
            <a:extLst>
              <a:ext uri="{FF2B5EF4-FFF2-40B4-BE49-F238E27FC236}">
                <a16:creationId xmlns:a16="http://schemas.microsoft.com/office/drawing/2014/main" id="{6AC87D40-C657-9B22-3B81-937D095363D6}"/>
              </a:ext>
            </a:extLst>
          </p:cNvPr>
          <p:cNvSpPr>
            <a:spLocks noRot="1" noChangeArrowheads="1" noTextEdit="1"/>
          </p:cNvSpPr>
          <p:nvPr>
            <p:ph type="sldImg"/>
          </p:nvPr>
        </p:nvSpPr>
        <p:spPr>
          <a:ln/>
        </p:spPr>
      </p:sp>
      <p:sp>
        <p:nvSpPr>
          <p:cNvPr id="22532" name="Rectangle 3">
            <a:extLst>
              <a:ext uri="{FF2B5EF4-FFF2-40B4-BE49-F238E27FC236}">
                <a16:creationId xmlns:a16="http://schemas.microsoft.com/office/drawing/2014/main" id="{59C63ABA-2A08-AEC1-6626-35A6B0908D59}"/>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Instructor:</a:t>
            </a:r>
          </a:p>
          <a:p>
            <a:pPr eaLnBrk="1" hangingPunct="1"/>
            <a:r>
              <a:rPr lang="en-US" altLang="en-US">
                <a:latin typeface="Arial" panose="020B0604020202020204" pitchFamily="34" charset="0"/>
              </a:rPr>
              <a:t>Point out that the syntax and operation of fprintf is identical to printf, except the first variable into fprintf is the file pointer it will print to.  Also the file must be open for writing.</a:t>
            </a:r>
          </a:p>
          <a:p>
            <a:pPr eaLnBrk="1" hangingPunct="1"/>
            <a:endParaRPr lang="en-US" altLang="en-US">
              <a:latin typeface="Arial" panose="020B0604020202020204" pitchFamily="34" charset="0"/>
            </a:endParaRPr>
          </a:p>
          <a:p>
            <a:pPr eaLnBrk="1" hangingPunct="1"/>
            <a:r>
              <a:rPr lang="en-US" altLang="en-US">
                <a:latin typeface="Arial" panose="020B0604020202020204" pitchFamily="34" charset="0"/>
              </a:rPr>
              <a:t>Narrator:</a:t>
            </a:r>
          </a:p>
          <a:p>
            <a:pPr eaLnBrk="1" hangingPunct="1"/>
            <a:r>
              <a:rPr lang="en-US" altLang="en-US">
                <a:latin typeface="Arial" panose="020B0604020202020204" pitchFamily="34" charset="0"/>
              </a:rPr>
              <a:t>Now that reading from files has been covered, it is useful to be able to also write to files.  The fprintf command, much like printf, allows the programmer to write data to a file.  Its format is nearly identical to printf, except the first argument must now be the file pointer of the open file the program should write to.  In the given example the fprintf writes to the file assigned to fptr2, which has been opened in write mode.  The values of the variables a and b are written to the file, with a new line appended after this data.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7855D48D-CD0B-FD25-0B87-CEEB0872F8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152D9D2-C6C8-4E61-9960-C0E205CDC4D3}" type="slidenum">
              <a:rPr lang="en-US" altLang="en-US"/>
              <a:pPr eaLnBrk="1" hangingPunct="1"/>
              <a:t>10</a:t>
            </a:fld>
            <a:endParaRPr lang="en-US" altLang="en-US"/>
          </a:p>
        </p:txBody>
      </p:sp>
      <p:sp>
        <p:nvSpPr>
          <p:cNvPr id="23555" name="Rectangle 2">
            <a:extLst>
              <a:ext uri="{FF2B5EF4-FFF2-40B4-BE49-F238E27FC236}">
                <a16:creationId xmlns:a16="http://schemas.microsoft.com/office/drawing/2014/main" id="{171EB82B-D291-8DE5-06BA-7B7D2EC685E9}"/>
              </a:ext>
            </a:extLst>
          </p:cNvPr>
          <p:cNvSpPr>
            <a:spLocks noRot="1" noChangeArrowheads="1" noTextEdit="1"/>
          </p:cNvSpPr>
          <p:nvPr>
            <p:ph type="sldImg"/>
          </p:nvPr>
        </p:nvSpPr>
        <p:spPr>
          <a:ln/>
        </p:spPr>
      </p:sp>
      <p:sp>
        <p:nvSpPr>
          <p:cNvPr id="23556" name="Rectangle 3">
            <a:extLst>
              <a:ext uri="{FF2B5EF4-FFF2-40B4-BE49-F238E27FC236}">
                <a16:creationId xmlns:a16="http://schemas.microsoft.com/office/drawing/2014/main" id="{472F80E7-8269-FD70-13EC-E66F4794717F}"/>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Instructor:</a:t>
            </a:r>
          </a:p>
          <a:p>
            <a:pPr eaLnBrk="1" hangingPunct="1"/>
            <a:r>
              <a:rPr lang="en-US" altLang="en-US">
                <a:latin typeface="Arial" panose="020B0604020202020204" pitchFamily="34" charset="0"/>
              </a:rPr>
              <a:t>Once a file pointer is closed it can be used to open another file.</a:t>
            </a:r>
          </a:p>
          <a:p>
            <a:pPr eaLnBrk="1" hangingPunct="1"/>
            <a:endParaRPr lang="en-US" altLang="en-US">
              <a:latin typeface="Arial" panose="020B0604020202020204" pitchFamily="34" charset="0"/>
            </a:endParaRPr>
          </a:p>
          <a:p>
            <a:pPr eaLnBrk="1" hangingPunct="1"/>
            <a:r>
              <a:rPr lang="en-US" altLang="en-US">
                <a:latin typeface="Arial" panose="020B0604020202020204" pitchFamily="34" charset="0"/>
              </a:rPr>
              <a:t>Narrator:</a:t>
            </a:r>
          </a:p>
          <a:p>
            <a:pPr eaLnBrk="1" hangingPunct="1"/>
            <a:r>
              <a:rPr lang="en-US" altLang="en-US">
                <a:latin typeface="Arial" panose="020B0604020202020204" pitchFamily="34" charset="0"/>
              </a:rPr>
              <a:t>A method exists for closing files besides allowing the program to terminate.  The fclose statement properly closes the file pointed to by the pointer included as an argument.  This pointer is then freed for use again in another fopen command.  This is especially useful in a program that may run for a long time and open a large number of files, so file pointers can be re-used and not fill memory with unnecessary information.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BD479A5C-9D33-39F7-8C7B-FA4FD3A99E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57451B1-26C3-41D8-9948-A3223200E733}" type="slidenum">
              <a:rPr lang="en-US" altLang="en-US"/>
              <a:pPr eaLnBrk="1" hangingPunct="1"/>
              <a:t>11</a:t>
            </a:fld>
            <a:endParaRPr lang="en-US" altLang="en-US"/>
          </a:p>
        </p:txBody>
      </p:sp>
      <p:sp>
        <p:nvSpPr>
          <p:cNvPr id="24579" name="Rectangle 2">
            <a:extLst>
              <a:ext uri="{FF2B5EF4-FFF2-40B4-BE49-F238E27FC236}">
                <a16:creationId xmlns:a16="http://schemas.microsoft.com/office/drawing/2014/main" id="{0F1577EE-48D3-766D-9654-2741414BA888}"/>
              </a:ext>
            </a:extLst>
          </p:cNvPr>
          <p:cNvSpPr>
            <a:spLocks noRot="1" noChangeArrowheads="1" noTextEdit="1"/>
          </p:cNvSpPr>
          <p:nvPr>
            <p:ph type="sldImg"/>
          </p:nvPr>
        </p:nvSpPr>
        <p:spPr>
          <a:ln/>
        </p:spPr>
      </p:sp>
      <p:sp>
        <p:nvSpPr>
          <p:cNvPr id="24580" name="Rectangle 3">
            <a:extLst>
              <a:ext uri="{FF2B5EF4-FFF2-40B4-BE49-F238E27FC236}">
                <a16:creationId xmlns:a16="http://schemas.microsoft.com/office/drawing/2014/main" id="{E634324A-6282-F457-412D-C0F73EB8728B}"/>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Instructor/Narrator:</a:t>
            </a:r>
          </a:p>
          <a:p>
            <a:pPr eaLnBrk="1" hangingPunct="1"/>
            <a:r>
              <a:rPr lang="en-US" altLang="en-US">
                <a:latin typeface="Arial" panose="020B0604020202020204" pitchFamily="34" charset="0"/>
              </a:rPr>
              <a:t>The next two slides contain a full program with file input and output and the output of the program at the end of the next slide.  This program also introduces additional formatting of the fprintf string.  When formatting data a certain number of spaces on the screen can be reserved and the precision of decimal number displayed can be chosen.  This is best described by an example:</a:t>
            </a:r>
          </a:p>
          <a:p>
            <a:pPr eaLnBrk="1" hangingPunct="1"/>
            <a:r>
              <a:rPr lang="en-US" altLang="en-US">
                <a:latin typeface="Arial" panose="020B0604020202020204" pitchFamily="34" charset="0"/>
              </a:rPr>
              <a:t>%6.2f reserves 6 total spaces on the screen (including a decimal point for floats) and displays 2 decimal points of precision.  In the case data that doesn’t fit (such as 9.1) zeros are appended to fill the number of decimal places and spaces added on the left to fill the number of total characters (so this would appear as “  9.10”).</a:t>
            </a:r>
          </a:p>
          <a:p>
            <a:pPr eaLnBrk="1" hangingPunct="1"/>
            <a:r>
              <a:rPr lang="en-US" altLang="en-US">
                <a:latin typeface="Arial" panose="020B0604020202020204" pitchFamily="34" charset="0"/>
              </a:rPr>
              <a:t>In the case of integer numbers, the number of characters reserved is the only option available (such as the %2d in the given example).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75F661E3-0A65-79E4-DEB6-3DF4BF540F0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BA5CD61-75E4-F641-3D95-FB9DA9FC806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F863352-67FA-E605-C596-AF2E2BFAC067}"/>
              </a:ext>
            </a:extLst>
          </p:cNvPr>
          <p:cNvSpPr>
            <a:spLocks noGrp="1" noChangeArrowheads="1"/>
          </p:cNvSpPr>
          <p:nvPr>
            <p:ph type="sldNum" sz="quarter" idx="12"/>
          </p:nvPr>
        </p:nvSpPr>
        <p:spPr>
          <a:ln/>
        </p:spPr>
        <p:txBody>
          <a:bodyPr/>
          <a:lstStyle>
            <a:lvl1pPr>
              <a:defRPr/>
            </a:lvl1pPr>
          </a:lstStyle>
          <a:p>
            <a:fld id="{489440DA-AC0F-4C05-AC8B-6DACACBDC3FA}" type="slidenum">
              <a:rPr lang="en-US" altLang="en-US"/>
              <a:pPr/>
              <a:t>‹#›</a:t>
            </a:fld>
            <a:endParaRPr lang="en-US" altLang="en-US"/>
          </a:p>
        </p:txBody>
      </p:sp>
    </p:spTree>
    <p:extLst>
      <p:ext uri="{BB962C8B-B14F-4D97-AF65-F5344CB8AC3E}">
        <p14:creationId xmlns:p14="http://schemas.microsoft.com/office/powerpoint/2010/main" val="46859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0F16AD3-96CD-E535-5375-E26B8AD71C0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3AB09649-DD80-0554-B499-86B1FEE1E42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AAE0807-67B2-D5FC-7076-28D4A71C321D}"/>
              </a:ext>
            </a:extLst>
          </p:cNvPr>
          <p:cNvSpPr>
            <a:spLocks noGrp="1" noChangeArrowheads="1"/>
          </p:cNvSpPr>
          <p:nvPr>
            <p:ph type="sldNum" sz="quarter" idx="12"/>
          </p:nvPr>
        </p:nvSpPr>
        <p:spPr>
          <a:ln/>
        </p:spPr>
        <p:txBody>
          <a:bodyPr/>
          <a:lstStyle>
            <a:lvl1pPr>
              <a:defRPr/>
            </a:lvl1pPr>
          </a:lstStyle>
          <a:p>
            <a:fld id="{8FF41468-E43B-433C-97BA-29648962BDCB}" type="slidenum">
              <a:rPr lang="en-US" altLang="en-US"/>
              <a:pPr/>
              <a:t>‹#›</a:t>
            </a:fld>
            <a:endParaRPr lang="en-US" altLang="en-US"/>
          </a:p>
        </p:txBody>
      </p:sp>
    </p:spTree>
    <p:extLst>
      <p:ext uri="{BB962C8B-B14F-4D97-AF65-F5344CB8AC3E}">
        <p14:creationId xmlns:p14="http://schemas.microsoft.com/office/powerpoint/2010/main" val="4279477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8FED8581-D8D1-2B75-3626-4BED1992CC5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EA8FA10-27F3-80E7-14C4-9C2E22808AB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6B0C9B7-F6FC-7AE6-FC32-B398BED714A5}"/>
              </a:ext>
            </a:extLst>
          </p:cNvPr>
          <p:cNvSpPr>
            <a:spLocks noGrp="1" noChangeArrowheads="1"/>
          </p:cNvSpPr>
          <p:nvPr>
            <p:ph type="sldNum" sz="quarter" idx="12"/>
          </p:nvPr>
        </p:nvSpPr>
        <p:spPr>
          <a:ln/>
        </p:spPr>
        <p:txBody>
          <a:bodyPr/>
          <a:lstStyle>
            <a:lvl1pPr>
              <a:defRPr/>
            </a:lvl1pPr>
          </a:lstStyle>
          <a:p>
            <a:fld id="{E59FC96F-901F-4CE0-95B5-A739DD7D97D9}" type="slidenum">
              <a:rPr lang="en-US" altLang="en-US"/>
              <a:pPr/>
              <a:t>‹#›</a:t>
            </a:fld>
            <a:endParaRPr lang="en-US" altLang="en-US"/>
          </a:p>
        </p:txBody>
      </p:sp>
    </p:spTree>
    <p:extLst>
      <p:ext uri="{BB962C8B-B14F-4D97-AF65-F5344CB8AC3E}">
        <p14:creationId xmlns:p14="http://schemas.microsoft.com/office/powerpoint/2010/main" val="3553021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FC8232D3-9D8E-6793-7E3A-E0AC829429A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E5578EAC-19EB-9B3D-3A4D-16D9F921B1B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5499231A-A99D-F8E2-56EE-368CB19D715B}"/>
              </a:ext>
            </a:extLst>
          </p:cNvPr>
          <p:cNvSpPr>
            <a:spLocks noGrp="1" noChangeArrowheads="1"/>
          </p:cNvSpPr>
          <p:nvPr>
            <p:ph type="sldNum" sz="quarter" idx="12"/>
          </p:nvPr>
        </p:nvSpPr>
        <p:spPr>
          <a:ln/>
        </p:spPr>
        <p:txBody>
          <a:bodyPr/>
          <a:lstStyle>
            <a:lvl1pPr>
              <a:defRPr/>
            </a:lvl1pPr>
          </a:lstStyle>
          <a:p>
            <a:fld id="{1FA780D6-B1EF-42A6-B993-6EEB921693AA}" type="slidenum">
              <a:rPr lang="en-US" altLang="en-US"/>
              <a:pPr/>
              <a:t>‹#›</a:t>
            </a:fld>
            <a:endParaRPr lang="en-US" altLang="en-US"/>
          </a:p>
        </p:txBody>
      </p:sp>
    </p:spTree>
    <p:extLst>
      <p:ext uri="{BB962C8B-B14F-4D97-AF65-F5344CB8AC3E}">
        <p14:creationId xmlns:p14="http://schemas.microsoft.com/office/powerpoint/2010/main" val="2750718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26D642A7-2BFB-5119-3231-148892D71362}"/>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8CE84B91-156D-0C30-BCB4-AFD61B2094B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5AF70052-FF0E-D588-8454-B3B497FACBA5}"/>
              </a:ext>
            </a:extLst>
          </p:cNvPr>
          <p:cNvSpPr>
            <a:spLocks noGrp="1" noChangeArrowheads="1"/>
          </p:cNvSpPr>
          <p:nvPr>
            <p:ph type="sldNum" sz="quarter" idx="12"/>
          </p:nvPr>
        </p:nvSpPr>
        <p:spPr>
          <a:ln/>
        </p:spPr>
        <p:txBody>
          <a:bodyPr/>
          <a:lstStyle>
            <a:lvl1pPr>
              <a:defRPr/>
            </a:lvl1pPr>
          </a:lstStyle>
          <a:p>
            <a:fld id="{03BD3AD6-F6B3-4482-A9CA-22116F86B203}" type="slidenum">
              <a:rPr lang="en-US" altLang="en-US"/>
              <a:pPr/>
              <a:t>‹#›</a:t>
            </a:fld>
            <a:endParaRPr lang="en-US" altLang="en-US"/>
          </a:p>
        </p:txBody>
      </p:sp>
    </p:spTree>
    <p:extLst>
      <p:ext uri="{BB962C8B-B14F-4D97-AF65-F5344CB8AC3E}">
        <p14:creationId xmlns:p14="http://schemas.microsoft.com/office/powerpoint/2010/main" val="3991557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F26D9E8D-36BB-E525-D289-1E9CF6BFB7EE}"/>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EFFB51A0-DC90-9C21-86E2-D8470887C4F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0A28976A-4BE8-EAF6-C2AB-C98C3C35C2F9}"/>
              </a:ext>
            </a:extLst>
          </p:cNvPr>
          <p:cNvSpPr>
            <a:spLocks noGrp="1" noChangeArrowheads="1"/>
          </p:cNvSpPr>
          <p:nvPr>
            <p:ph type="sldNum" sz="quarter" idx="12"/>
          </p:nvPr>
        </p:nvSpPr>
        <p:spPr>
          <a:ln/>
        </p:spPr>
        <p:txBody>
          <a:bodyPr/>
          <a:lstStyle>
            <a:lvl1pPr>
              <a:defRPr/>
            </a:lvl1pPr>
          </a:lstStyle>
          <a:p>
            <a:fld id="{00B82405-BD61-41C4-A1A3-9A98CFE3EA72}" type="slidenum">
              <a:rPr lang="en-US" altLang="en-US"/>
              <a:pPr/>
              <a:t>‹#›</a:t>
            </a:fld>
            <a:endParaRPr lang="en-US" altLang="en-US"/>
          </a:p>
        </p:txBody>
      </p:sp>
    </p:spTree>
    <p:extLst>
      <p:ext uri="{BB962C8B-B14F-4D97-AF65-F5344CB8AC3E}">
        <p14:creationId xmlns:p14="http://schemas.microsoft.com/office/powerpoint/2010/main" val="2850825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C1EB2B94-0D10-3A36-057C-37AD6F1E405B}"/>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CD34E4AE-5E94-F3C1-AE66-1A987F48FDA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6C7FFEF0-2B78-8BEF-B54D-9836AFB642D6}"/>
              </a:ext>
            </a:extLst>
          </p:cNvPr>
          <p:cNvSpPr>
            <a:spLocks noGrp="1" noChangeArrowheads="1"/>
          </p:cNvSpPr>
          <p:nvPr>
            <p:ph type="sldNum" sz="quarter" idx="12"/>
          </p:nvPr>
        </p:nvSpPr>
        <p:spPr>
          <a:ln/>
        </p:spPr>
        <p:txBody>
          <a:bodyPr/>
          <a:lstStyle>
            <a:lvl1pPr>
              <a:defRPr/>
            </a:lvl1pPr>
          </a:lstStyle>
          <a:p>
            <a:fld id="{B6D9F564-A2B9-45F8-A1CC-C20D77C471E5}" type="slidenum">
              <a:rPr lang="en-US" altLang="en-US"/>
              <a:pPr/>
              <a:t>‹#›</a:t>
            </a:fld>
            <a:endParaRPr lang="en-US" altLang="en-US"/>
          </a:p>
        </p:txBody>
      </p:sp>
    </p:spTree>
    <p:extLst>
      <p:ext uri="{BB962C8B-B14F-4D97-AF65-F5344CB8AC3E}">
        <p14:creationId xmlns:p14="http://schemas.microsoft.com/office/powerpoint/2010/main" val="1426609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C47D72B1-C298-E674-B6D0-50DF94A5E1C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6213A4FB-4D82-1DDC-1034-81840B6D0E8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E5F4747-98C8-9CE7-6DA1-D36523704BD1}"/>
              </a:ext>
            </a:extLst>
          </p:cNvPr>
          <p:cNvSpPr>
            <a:spLocks noGrp="1" noChangeArrowheads="1"/>
          </p:cNvSpPr>
          <p:nvPr>
            <p:ph type="sldNum" sz="quarter" idx="12"/>
          </p:nvPr>
        </p:nvSpPr>
        <p:spPr>
          <a:ln/>
        </p:spPr>
        <p:txBody>
          <a:bodyPr/>
          <a:lstStyle>
            <a:lvl1pPr>
              <a:defRPr/>
            </a:lvl1pPr>
          </a:lstStyle>
          <a:p>
            <a:fld id="{AFEC732F-F4C6-407A-9FFB-946A1624EC67}" type="slidenum">
              <a:rPr lang="en-US" altLang="en-US"/>
              <a:pPr/>
              <a:t>‹#›</a:t>
            </a:fld>
            <a:endParaRPr lang="en-US" altLang="en-US"/>
          </a:p>
        </p:txBody>
      </p:sp>
    </p:spTree>
    <p:extLst>
      <p:ext uri="{BB962C8B-B14F-4D97-AF65-F5344CB8AC3E}">
        <p14:creationId xmlns:p14="http://schemas.microsoft.com/office/powerpoint/2010/main" val="94884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FFA0AB6-8888-054E-A7A7-F2DD0ACE1A8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5D05D3CD-1978-B9C7-62DC-6DDBC8A8F28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4D16A8F2-F14A-500E-F0BC-383A19C09980}"/>
              </a:ext>
            </a:extLst>
          </p:cNvPr>
          <p:cNvSpPr>
            <a:spLocks noGrp="1" noChangeArrowheads="1"/>
          </p:cNvSpPr>
          <p:nvPr>
            <p:ph type="sldNum" sz="quarter" idx="12"/>
          </p:nvPr>
        </p:nvSpPr>
        <p:spPr>
          <a:ln/>
        </p:spPr>
        <p:txBody>
          <a:bodyPr/>
          <a:lstStyle>
            <a:lvl1pPr>
              <a:defRPr/>
            </a:lvl1pPr>
          </a:lstStyle>
          <a:p>
            <a:fld id="{79FA22CA-49C1-41EA-9ADB-C3A2E3ECF596}" type="slidenum">
              <a:rPr lang="en-US" altLang="en-US"/>
              <a:pPr/>
              <a:t>‹#›</a:t>
            </a:fld>
            <a:endParaRPr lang="en-US" altLang="en-US"/>
          </a:p>
        </p:txBody>
      </p:sp>
    </p:spTree>
    <p:extLst>
      <p:ext uri="{BB962C8B-B14F-4D97-AF65-F5344CB8AC3E}">
        <p14:creationId xmlns:p14="http://schemas.microsoft.com/office/powerpoint/2010/main" val="1707678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94CAB41-413E-8950-A267-3200F423C85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3543A22-B4BB-D91E-B272-98ACD524E87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EDF23003-8DE4-8317-A4C1-33D21EFE6D99}"/>
              </a:ext>
            </a:extLst>
          </p:cNvPr>
          <p:cNvSpPr>
            <a:spLocks noGrp="1" noChangeArrowheads="1"/>
          </p:cNvSpPr>
          <p:nvPr>
            <p:ph type="sldNum" sz="quarter" idx="12"/>
          </p:nvPr>
        </p:nvSpPr>
        <p:spPr>
          <a:ln/>
        </p:spPr>
        <p:txBody>
          <a:bodyPr/>
          <a:lstStyle>
            <a:lvl1pPr>
              <a:defRPr/>
            </a:lvl1pPr>
          </a:lstStyle>
          <a:p>
            <a:fld id="{080C5494-B282-4715-B5D0-E28220A7671B}" type="slidenum">
              <a:rPr lang="en-US" altLang="en-US"/>
              <a:pPr/>
              <a:t>‹#›</a:t>
            </a:fld>
            <a:endParaRPr lang="en-US" altLang="en-US"/>
          </a:p>
        </p:txBody>
      </p:sp>
    </p:spTree>
    <p:extLst>
      <p:ext uri="{BB962C8B-B14F-4D97-AF65-F5344CB8AC3E}">
        <p14:creationId xmlns:p14="http://schemas.microsoft.com/office/powerpoint/2010/main" val="1931214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9C79794-0E4D-EFA3-C251-987CEA98952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810CC6B-AE05-FA3A-ACCC-CD2722834BE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99A8CE4-26CD-E26F-99D9-F761E0BE5883}"/>
              </a:ext>
            </a:extLst>
          </p:cNvPr>
          <p:cNvSpPr>
            <a:spLocks noGrp="1" noChangeArrowheads="1"/>
          </p:cNvSpPr>
          <p:nvPr>
            <p:ph type="sldNum" sz="quarter" idx="12"/>
          </p:nvPr>
        </p:nvSpPr>
        <p:spPr>
          <a:ln/>
        </p:spPr>
        <p:txBody>
          <a:bodyPr/>
          <a:lstStyle>
            <a:lvl1pPr>
              <a:defRPr/>
            </a:lvl1pPr>
          </a:lstStyle>
          <a:p>
            <a:fld id="{7015CC9B-FBFF-4467-8226-957DC19DD83C}" type="slidenum">
              <a:rPr lang="en-US" altLang="en-US"/>
              <a:pPr/>
              <a:t>‹#›</a:t>
            </a:fld>
            <a:endParaRPr lang="en-US" altLang="en-US"/>
          </a:p>
        </p:txBody>
      </p:sp>
    </p:spTree>
    <p:extLst>
      <p:ext uri="{BB962C8B-B14F-4D97-AF65-F5344CB8AC3E}">
        <p14:creationId xmlns:p14="http://schemas.microsoft.com/office/powerpoint/2010/main" val="1327415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20B07A2-7FBF-8B4F-FAE6-83A71C3E6B14}"/>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4BBBDFC4-1261-00D3-AC3A-F5F49A1B1F37}"/>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77A01906-5859-C3E4-EC1A-9D27BC0BEE7B}"/>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latin typeface="Arial" charset="0"/>
              </a:defRPr>
            </a:lvl1pPr>
          </a:lstStyle>
          <a:p>
            <a:pPr>
              <a:defRPr/>
            </a:pPr>
            <a:endParaRPr lang="en-US"/>
          </a:p>
        </p:txBody>
      </p:sp>
      <p:sp>
        <p:nvSpPr>
          <p:cNvPr id="1029" name="Rectangle 5">
            <a:extLst>
              <a:ext uri="{FF2B5EF4-FFF2-40B4-BE49-F238E27FC236}">
                <a16:creationId xmlns:a16="http://schemas.microsoft.com/office/drawing/2014/main" id="{78E8B916-6A5D-DC20-3C61-59FA3ACA0719}"/>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smtClean="0">
                <a:latin typeface="Arial" charset="0"/>
              </a:defRPr>
            </a:lvl1pPr>
          </a:lstStyle>
          <a:p>
            <a:pPr>
              <a:defRPr/>
            </a:pPr>
            <a:endParaRPr lang="en-US"/>
          </a:p>
        </p:txBody>
      </p:sp>
      <p:sp>
        <p:nvSpPr>
          <p:cNvPr id="1030" name="Rectangle 6">
            <a:extLst>
              <a:ext uri="{FF2B5EF4-FFF2-40B4-BE49-F238E27FC236}">
                <a16:creationId xmlns:a16="http://schemas.microsoft.com/office/drawing/2014/main" id="{6B2A7191-BF40-2C57-977A-BBEB42D2EFE6}"/>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AC58A697-6AFA-41D4-BB73-A42F6ACB5B01}"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2DE410F0-3EC3-05CD-3659-50CE6AE27FA1}"/>
              </a:ext>
            </a:extLst>
          </p:cNvPr>
          <p:cNvSpPr>
            <a:spLocks noGrp="1" noChangeArrowheads="1"/>
          </p:cNvSpPr>
          <p:nvPr>
            <p:ph type="ctrTitle"/>
          </p:nvPr>
        </p:nvSpPr>
        <p:spPr/>
        <p:txBody>
          <a:bodyPr/>
          <a:lstStyle/>
          <a:p>
            <a:pPr eaLnBrk="1" hangingPunct="1"/>
            <a:r>
              <a:rPr lang="en-US" altLang="en-US"/>
              <a:t>File I/O in 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88B83E47-2C33-0FA9-FC3C-B020905A9885}"/>
              </a:ext>
            </a:extLst>
          </p:cNvPr>
          <p:cNvSpPr>
            <a:spLocks noGrp="1" noChangeArrowheads="1"/>
          </p:cNvSpPr>
          <p:nvPr>
            <p:ph type="title"/>
          </p:nvPr>
        </p:nvSpPr>
        <p:spPr>
          <a:xfrm>
            <a:off x="457200" y="274638"/>
            <a:ext cx="8229600" cy="487362"/>
          </a:xfrm>
        </p:spPr>
        <p:txBody>
          <a:bodyPr/>
          <a:lstStyle/>
          <a:p>
            <a:pPr eaLnBrk="1" hangingPunct="1"/>
            <a:r>
              <a:rPr lang="en-US" altLang="en-US" sz="4000"/>
              <a:t>Files in C </a:t>
            </a:r>
          </a:p>
        </p:txBody>
      </p:sp>
      <p:sp>
        <p:nvSpPr>
          <p:cNvPr id="3075" name="Rectangle 3">
            <a:extLst>
              <a:ext uri="{FF2B5EF4-FFF2-40B4-BE49-F238E27FC236}">
                <a16:creationId xmlns:a16="http://schemas.microsoft.com/office/drawing/2014/main" id="{B9B63221-D39F-FA6E-4FD0-F5A2BA319CC4}"/>
              </a:ext>
            </a:extLst>
          </p:cNvPr>
          <p:cNvSpPr>
            <a:spLocks noGrp="1" noChangeArrowheads="1"/>
          </p:cNvSpPr>
          <p:nvPr>
            <p:ph type="body" idx="1"/>
          </p:nvPr>
        </p:nvSpPr>
        <p:spPr>
          <a:xfrm>
            <a:off x="457200" y="990600"/>
            <a:ext cx="8229600" cy="5135563"/>
          </a:xfrm>
        </p:spPr>
        <p:txBody>
          <a:bodyPr/>
          <a:lstStyle/>
          <a:p>
            <a:pPr algn="just" eaLnBrk="1" hangingPunct="1"/>
            <a:r>
              <a:rPr lang="en-US" altLang="en-US">
                <a:latin typeface="Times New Roman" panose="02020603050405020304" pitchFamily="18" charset="0"/>
              </a:rPr>
              <a:t>In C, each file is simply a sequential stream of bytes.  C imposes no structure on a file.</a:t>
            </a:r>
          </a:p>
          <a:p>
            <a:pPr algn="just" eaLnBrk="1" hangingPunct="1"/>
            <a:r>
              <a:rPr lang="en-US" altLang="en-US">
                <a:latin typeface="Times New Roman" panose="02020603050405020304" pitchFamily="18" charset="0"/>
              </a:rPr>
              <a:t>A file must first be opened properly before it can be accessed for reading or writing.  </a:t>
            </a:r>
          </a:p>
          <a:p>
            <a:pPr algn="just" eaLnBrk="1" hangingPunct="1"/>
            <a:r>
              <a:rPr lang="en-US" altLang="en-US">
                <a:latin typeface="Times New Roman" panose="02020603050405020304" pitchFamily="18" charset="0"/>
              </a:rPr>
              <a:t>When a file is opened, a </a:t>
            </a:r>
            <a:r>
              <a:rPr lang="en-US" altLang="en-US">
                <a:solidFill>
                  <a:srgbClr val="FF0000"/>
                </a:solidFill>
                <a:latin typeface="Times New Roman" panose="02020603050405020304" pitchFamily="18" charset="0"/>
              </a:rPr>
              <a:t>stream</a:t>
            </a:r>
            <a:r>
              <a:rPr lang="en-US" altLang="en-US">
                <a:latin typeface="Times New Roman" panose="02020603050405020304" pitchFamily="18" charset="0"/>
              </a:rPr>
              <a:t> is associated with the file.</a:t>
            </a:r>
          </a:p>
          <a:p>
            <a:pPr algn="just" eaLnBrk="1" hangingPunct="1"/>
            <a:r>
              <a:rPr lang="en-US" altLang="en-US">
                <a:latin typeface="Times New Roman" panose="02020603050405020304" pitchFamily="18" charset="0"/>
              </a:rPr>
              <a:t>Successfully opening a file returns a pointer to (i.e., the address of) a </a:t>
            </a:r>
            <a:r>
              <a:rPr lang="en-US" altLang="en-US">
                <a:solidFill>
                  <a:srgbClr val="FF0000"/>
                </a:solidFill>
                <a:latin typeface="Times New Roman" panose="02020603050405020304" pitchFamily="18" charset="0"/>
              </a:rPr>
              <a:t>file structure</a:t>
            </a:r>
            <a:r>
              <a:rPr lang="en-US" altLang="en-US">
                <a:latin typeface="Times New Roman" panose="02020603050405020304" pitchFamily="18" charset="0"/>
              </a:rPr>
              <a:t>,</a:t>
            </a:r>
            <a:r>
              <a:rPr lang="en-US" altLang="en-US">
                <a:solidFill>
                  <a:srgbClr val="FF0000"/>
                </a:solidFill>
                <a:latin typeface="Times New Roman" panose="02020603050405020304" pitchFamily="18" charset="0"/>
              </a:rPr>
              <a:t> </a:t>
            </a:r>
            <a:r>
              <a:rPr lang="en-US" altLang="en-US">
                <a:latin typeface="Times New Roman" panose="02020603050405020304" pitchFamily="18" charset="0"/>
              </a:rPr>
              <a:t>which contains a file descriptor and a file control block.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a:extLst>
              <a:ext uri="{FF2B5EF4-FFF2-40B4-BE49-F238E27FC236}">
                <a16:creationId xmlns:a16="http://schemas.microsoft.com/office/drawing/2014/main" id="{3D67C66A-42A8-DEAF-9A70-958EB293A78A}"/>
              </a:ext>
            </a:extLst>
          </p:cNvPr>
          <p:cNvSpPr>
            <a:spLocks noGrp="1" noChangeArrowheads="1"/>
          </p:cNvSpPr>
          <p:nvPr>
            <p:ph type="body" idx="1"/>
          </p:nvPr>
        </p:nvSpPr>
        <p:spPr>
          <a:xfrm>
            <a:off x="304800" y="304800"/>
            <a:ext cx="8610600" cy="5821363"/>
          </a:xfrm>
        </p:spPr>
        <p:txBody>
          <a:bodyPr/>
          <a:lstStyle/>
          <a:p>
            <a:pPr algn="just" eaLnBrk="1" hangingPunct="1"/>
            <a:r>
              <a:rPr lang="en-US" altLang="en-US">
                <a:latin typeface="Times New Roman" panose="02020603050405020304" pitchFamily="18" charset="0"/>
              </a:rPr>
              <a:t>The statement: </a:t>
            </a:r>
          </a:p>
          <a:p>
            <a:pPr algn="just" eaLnBrk="1" hangingPunct="1">
              <a:buFontTx/>
              <a:buNone/>
            </a:pPr>
            <a:r>
              <a:rPr lang="en-US" altLang="en-US">
                <a:latin typeface="Times New Roman" panose="02020603050405020304" pitchFamily="18" charset="0"/>
              </a:rPr>
              <a:t>			FILE *fptr1, *fptr2 ;</a:t>
            </a:r>
          </a:p>
          <a:p>
            <a:pPr algn="just" eaLnBrk="1" hangingPunct="1">
              <a:buFontTx/>
              <a:buNone/>
            </a:pPr>
            <a:r>
              <a:rPr lang="en-US" altLang="en-US">
                <a:latin typeface="Times New Roman" panose="02020603050405020304" pitchFamily="18" charset="0"/>
              </a:rPr>
              <a:t>	declares that </a:t>
            </a:r>
            <a:r>
              <a:rPr lang="en-US" altLang="en-US" i="1">
                <a:solidFill>
                  <a:srgbClr val="FF0000"/>
                </a:solidFill>
                <a:latin typeface="Times New Roman" panose="02020603050405020304" pitchFamily="18" charset="0"/>
              </a:rPr>
              <a:t>fptr1</a:t>
            </a:r>
            <a:r>
              <a:rPr lang="en-US" altLang="en-US">
                <a:latin typeface="Times New Roman" panose="02020603050405020304" pitchFamily="18" charset="0"/>
              </a:rPr>
              <a:t> and </a:t>
            </a:r>
            <a:r>
              <a:rPr lang="en-US" altLang="en-US" i="1">
                <a:solidFill>
                  <a:srgbClr val="FF0000"/>
                </a:solidFill>
                <a:latin typeface="Times New Roman" panose="02020603050405020304" pitchFamily="18" charset="0"/>
              </a:rPr>
              <a:t>fptr2</a:t>
            </a:r>
            <a:r>
              <a:rPr lang="en-US" altLang="en-US">
                <a:solidFill>
                  <a:srgbClr val="FF0000"/>
                </a:solidFill>
                <a:latin typeface="Times New Roman" panose="02020603050405020304" pitchFamily="18" charset="0"/>
              </a:rPr>
              <a:t> </a:t>
            </a:r>
            <a:r>
              <a:rPr lang="en-US" altLang="en-US">
                <a:latin typeface="Times New Roman" panose="02020603050405020304" pitchFamily="18" charset="0"/>
              </a:rPr>
              <a:t>are pointer variables of type </a:t>
            </a:r>
            <a:r>
              <a:rPr lang="en-US" altLang="en-US">
                <a:solidFill>
                  <a:srgbClr val="FF0000"/>
                </a:solidFill>
                <a:latin typeface="Times New Roman" panose="02020603050405020304" pitchFamily="18" charset="0"/>
              </a:rPr>
              <a:t>FILE</a:t>
            </a:r>
            <a:r>
              <a:rPr lang="en-US" altLang="en-US">
                <a:latin typeface="Times New Roman" panose="02020603050405020304" pitchFamily="18" charset="0"/>
              </a:rPr>
              <a:t>.  </a:t>
            </a:r>
          </a:p>
          <a:p>
            <a:pPr algn="just" eaLnBrk="1" hangingPunct="1"/>
            <a:r>
              <a:rPr lang="en-US" altLang="en-US">
                <a:latin typeface="Times New Roman" panose="02020603050405020304" pitchFamily="18" charset="0"/>
              </a:rPr>
              <a:t>They will be assigned the address of a file descriptor, that is, an area of memory that will be associated with an input or output stream. </a:t>
            </a:r>
          </a:p>
          <a:p>
            <a:pPr algn="just" eaLnBrk="1" hangingPunct="1">
              <a:lnSpc>
                <a:spcPct val="60000"/>
              </a:lnSpc>
            </a:pPr>
            <a:endParaRPr lang="en-US" altLang="en-US">
              <a:latin typeface="Times New Roman" panose="02020603050405020304" pitchFamily="18" charset="0"/>
            </a:endParaRPr>
          </a:p>
          <a:p>
            <a:pPr algn="just" eaLnBrk="1" hangingPunct="1"/>
            <a:r>
              <a:rPr lang="en-US" altLang="en-US">
                <a:latin typeface="Times New Roman" panose="02020603050405020304" pitchFamily="18" charset="0"/>
              </a:rPr>
              <a:t>Whenever you are to read from or write to the file, you must first open the file and assign the address of its file descriptor (or structure) to the file pointer variable.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39F14C2-945E-E695-3960-22BB25E1425A}"/>
              </a:ext>
            </a:extLst>
          </p:cNvPr>
          <p:cNvSpPr>
            <a:spLocks noGrp="1" noChangeArrowheads="1"/>
          </p:cNvSpPr>
          <p:nvPr>
            <p:ph type="title"/>
          </p:nvPr>
        </p:nvSpPr>
        <p:spPr>
          <a:xfrm>
            <a:off x="457200" y="274638"/>
            <a:ext cx="8229600" cy="411162"/>
          </a:xfrm>
        </p:spPr>
        <p:txBody>
          <a:bodyPr/>
          <a:lstStyle/>
          <a:p>
            <a:pPr eaLnBrk="1" hangingPunct="1"/>
            <a:r>
              <a:rPr lang="en-US" altLang="en-US" sz="4000"/>
              <a:t>Opening Files</a:t>
            </a:r>
          </a:p>
        </p:txBody>
      </p:sp>
      <p:sp>
        <p:nvSpPr>
          <p:cNvPr id="5123" name="Rectangle 3">
            <a:extLst>
              <a:ext uri="{FF2B5EF4-FFF2-40B4-BE49-F238E27FC236}">
                <a16:creationId xmlns:a16="http://schemas.microsoft.com/office/drawing/2014/main" id="{8AFBB8DC-59BD-3D01-5CE0-EEBE9AA9A33A}"/>
              </a:ext>
            </a:extLst>
          </p:cNvPr>
          <p:cNvSpPr>
            <a:spLocks noGrp="1" noChangeArrowheads="1"/>
          </p:cNvSpPr>
          <p:nvPr>
            <p:ph type="body" idx="1"/>
          </p:nvPr>
        </p:nvSpPr>
        <p:spPr>
          <a:xfrm>
            <a:off x="457200" y="990600"/>
            <a:ext cx="8229600" cy="5135563"/>
          </a:xfrm>
        </p:spPr>
        <p:txBody>
          <a:bodyPr/>
          <a:lstStyle/>
          <a:p>
            <a:pPr algn="just" eaLnBrk="1" hangingPunct="1"/>
            <a:r>
              <a:rPr lang="en-US" altLang="en-US" sz="2800">
                <a:latin typeface="Times New Roman" panose="02020603050405020304" pitchFamily="18" charset="0"/>
              </a:rPr>
              <a:t>The statement:</a:t>
            </a:r>
          </a:p>
          <a:p>
            <a:pPr algn="just" eaLnBrk="1" hangingPunct="1">
              <a:buFontTx/>
              <a:buNone/>
            </a:pPr>
            <a:r>
              <a:rPr lang="en-US" altLang="en-US" sz="2800">
                <a:latin typeface="Times New Roman" panose="02020603050405020304" pitchFamily="18" charset="0"/>
              </a:rPr>
              <a:t>	fptr1 = fopen ( "mydata", "r" ) ;</a:t>
            </a:r>
          </a:p>
          <a:p>
            <a:pPr algn="just" eaLnBrk="1" hangingPunct="1">
              <a:buFontTx/>
              <a:buNone/>
            </a:pPr>
            <a:r>
              <a:rPr lang="en-US" altLang="en-US" sz="2800">
                <a:latin typeface="Times New Roman" panose="02020603050405020304" pitchFamily="18" charset="0"/>
              </a:rPr>
              <a:t>	 would open the file </a:t>
            </a:r>
            <a:r>
              <a:rPr lang="en-US" altLang="en-US" sz="2800" i="1">
                <a:solidFill>
                  <a:srgbClr val="FF0000"/>
                </a:solidFill>
                <a:latin typeface="Times New Roman" panose="02020603050405020304" pitchFamily="18" charset="0"/>
              </a:rPr>
              <a:t>mydata</a:t>
            </a:r>
            <a:r>
              <a:rPr lang="en-US" altLang="en-US" sz="2800">
                <a:latin typeface="Times New Roman" panose="02020603050405020304" pitchFamily="18" charset="0"/>
              </a:rPr>
              <a:t> for input (reading).  </a:t>
            </a:r>
          </a:p>
          <a:p>
            <a:pPr algn="just" eaLnBrk="1" hangingPunct="1">
              <a:lnSpc>
                <a:spcPct val="40000"/>
              </a:lnSpc>
            </a:pPr>
            <a:endParaRPr lang="en-US" altLang="en-US" sz="2800">
              <a:latin typeface="Times New Roman" panose="02020603050405020304" pitchFamily="18" charset="0"/>
            </a:endParaRPr>
          </a:p>
          <a:p>
            <a:pPr algn="just" eaLnBrk="1" hangingPunct="1"/>
            <a:r>
              <a:rPr lang="en-US" altLang="en-US" sz="2800">
                <a:latin typeface="Times New Roman" panose="02020603050405020304" pitchFamily="18" charset="0"/>
              </a:rPr>
              <a:t>The statement:</a:t>
            </a:r>
          </a:p>
          <a:p>
            <a:pPr algn="just" eaLnBrk="1" hangingPunct="1">
              <a:buFontTx/>
              <a:buNone/>
            </a:pPr>
            <a:r>
              <a:rPr lang="en-US" altLang="en-US" sz="2800">
                <a:latin typeface="Times New Roman" panose="02020603050405020304" pitchFamily="18" charset="0"/>
              </a:rPr>
              <a:t>	fptr2 = fopen ("results", "w" ) ;</a:t>
            </a:r>
          </a:p>
          <a:p>
            <a:pPr algn="just" eaLnBrk="1" hangingPunct="1">
              <a:buFontTx/>
              <a:buNone/>
            </a:pPr>
            <a:r>
              <a:rPr lang="en-US" altLang="en-US" sz="2800">
                <a:latin typeface="Times New Roman" panose="02020603050405020304" pitchFamily="18" charset="0"/>
              </a:rPr>
              <a:t>	 would open the file </a:t>
            </a:r>
            <a:r>
              <a:rPr lang="en-US" altLang="en-US" sz="2800" i="1">
                <a:solidFill>
                  <a:srgbClr val="FF0000"/>
                </a:solidFill>
                <a:latin typeface="Times New Roman" panose="02020603050405020304" pitchFamily="18" charset="0"/>
              </a:rPr>
              <a:t>results</a:t>
            </a:r>
            <a:r>
              <a:rPr lang="en-US" altLang="en-US" sz="2800">
                <a:latin typeface="Times New Roman" panose="02020603050405020304" pitchFamily="18" charset="0"/>
              </a:rPr>
              <a:t> for output (writing). </a:t>
            </a:r>
          </a:p>
          <a:p>
            <a:pPr algn="just" eaLnBrk="1" hangingPunct="1">
              <a:lnSpc>
                <a:spcPct val="40000"/>
              </a:lnSpc>
            </a:pPr>
            <a:endParaRPr lang="en-US" altLang="en-US" sz="2800">
              <a:latin typeface="Times New Roman" panose="02020603050405020304" pitchFamily="18" charset="0"/>
            </a:endParaRPr>
          </a:p>
          <a:p>
            <a:pPr algn="just" eaLnBrk="1" hangingPunct="1"/>
            <a:r>
              <a:rPr lang="en-US" altLang="en-US" sz="2800">
                <a:latin typeface="Times New Roman" panose="02020603050405020304" pitchFamily="18" charset="0"/>
              </a:rPr>
              <a:t>Once the files are open, they stay open until you close them or end the program (which will close all files.)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898D840-59DD-CFCA-8488-695A40C4FC9B}"/>
              </a:ext>
            </a:extLst>
          </p:cNvPr>
          <p:cNvSpPr>
            <a:spLocks noGrp="1" noChangeArrowheads="1"/>
          </p:cNvSpPr>
          <p:nvPr>
            <p:ph type="title"/>
          </p:nvPr>
        </p:nvSpPr>
        <p:spPr>
          <a:xfrm>
            <a:off x="457200" y="228600"/>
            <a:ext cx="8229600" cy="533400"/>
          </a:xfrm>
        </p:spPr>
        <p:txBody>
          <a:bodyPr/>
          <a:lstStyle/>
          <a:p>
            <a:pPr eaLnBrk="1" hangingPunct="1"/>
            <a:r>
              <a:rPr lang="en-US" altLang="en-US" sz="4000"/>
              <a:t>Testing for Successful Open </a:t>
            </a:r>
          </a:p>
        </p:txBody>
      </p:sp>
      <p:sp>
        <p:nvSpPr>
          <p:cNvPr id="6147" name="Rectangle 3">
            <a:extLst>
              <a:ext uri="{FF2B5EF4-FFF2-40B4-BE49-F238E27FC236}">
                <a16:creationId xmlns:a16="http://schemas.microsoft.com/office/drawing/2014/main" id="{935A088E-D5B9-ED2E-AE30-CEE20BEDF156}"/>
              </a:ext>
            </a:extLst>
          </p:cNvPr>
          <p:cNvSpPr>
            <a:spLocks noGrp="1" noChangeArrowheads="1"/>
          </p:cNvSpPr>
          <p:nvPr>
            <p:ph type="body" idx="1"/>
          </p:nvPr>
        </p:nvSpPr>
        <p:spPr>
          <a:xfrm>
            <a:off x="457200" y="990600"/>
            <a:ext cx="8229600" cy="5135563"/>
          </a:xfrm>
        </p:spPr>
        <p:txBody>
          <a:bodyPr/>
          <a:lstStyle/>
          <a:p>
            <a:pPr algn="just" eaLnBrk="1" hangingPunct="1"/>
            <a:r>
              <a:rPr lang="en-US" altLang="en-US" sz="2800">
                <a:latin typeface="Times New Roman" panose="02020603050405020304" pitchFamily="18" charset="0"/>
              </a:rPr>
              <a:t>If the file was not able to be opened, then the value returned by the </a:t>
            </a:r>
            <a:r>
              <a:rPr lang="en-US" altLang="en-US" sz="2800" i="1">
                <a:solidFill>
                  <a:srgbClr val="FF0000"/>
                </a:solidFill>
                <a:latin typeface="Times New Roman" panose="02020603050405020304" pitchFamily="18" charset="0"/>
              </a:rPr>
              <a:t>fopen </a:t>
            </a:r>
            <a:r>
              <a:rPr lang="en-US" altLang="en-US" sz="2800">
                <a:latin typeface="Times New Roman" panose="02020603050405020304" pitchFamily="18" charset="0"/>
              </a:rPr>
              <a:t>routine is NULL.</a:t>
            </a:r>
          </a:p>
          <a:p>
            <a:pPr algn="just" eaLnBrk="1" hangingPunct="1">
              <a:lnSpc>
                <a:spcPct val="20000"/>
              </a:lnSpc>
            </a:pPr>
            <a:endParaRPr lang="en-US" altLang="en-US" sz="2800">
              <a:latin typeface="Times New Roman" panose="02020603050405020304" pitchFamily="18" charset="0"/>
            </a:endParaRPr>
          </a:p>
          <a:p>
            <a:pPr algn="just" eaLnBrk="1" hangingPunct="1"/>
            <a:r>
              <a:rPr lang="en-US" altLang="en-US" sz="2800">
                <a:latin typeface="Times New Roman" panose="02020603050405020304" pitchFamily="18" charset="0"/>
              </a:rPr>
              <a:t>For example, let's assume that the file </a:t>
            </a:r>
            <a:r>
              <a:rPr lang="en-US" altLang="en-US" sz="2800" i="1">
                <a:solidFill>
                  <a:srgbClr val="FF0000"/>
                </a:solidFill>
                <a:latin typeface="Times New Roman" panose="02020603050405020304" pitchFamily="18" charset="0"/>
              </a:rPr>
              <a:t>mydata</a:t>
            </a:r>
            <a:r>
              <a:rPr lang="en-US" altLang="en-US" sz="2800">
                <a:latin typeface="Times New Roman" panose="02020603050405020304" pitchFamily="18" charset="0"/>
              </a:rPr>
              <a:t> does not exist.  Then:</a:t>
            </a:r>
          </a:p>
          <a:p>
            <a:pPr algn="just" eaLnBrk="1" hangingPunct="1">
              <a:lnSpc>
                <a:spcPct val="90000"/>
              </a:lnSpc>
              <a:buFontTx/>
              <a:buNone/>
            </a:pPr>
            <a:r>
              <a:rPr lang="en-US" altLang="en-US" sz="2800">
                <a:latin typeface="Times New Roman" panose="02020603050405020304" pitchFamily="18" charset="0"/>
              </a:rPr>
              <a:t>		FILE *fptr1 ;</a:t>
            </a:r>
          </a:p>
          <a:p>
            <a:pPr algn="just" eaLnBrk="1" hangingPunct="1">
              <a:lnSpc>
                <a:spcPct val="90000"/>
              </a:lnSpc>
              <a:buFontTx/>
              <a:buNone/>
            </a:pPr>
            <a:r>
              <a:rPr lang="en-US" altLang="en-US" sz="2800">
                <a:latin typeface="Times New Roman" panose="02020603050405020304" pitchFamily="18" charset="0"/>
              </a:rPr>
              <a:t>		fptr1 = fopen ( "mydata", "r") ;</a:t>
            </a:r>
          </a:p>
          <a:p>
            <a:pPr algn="just" eaLnBrk="1" hangingPunct="1">
              <a:lnSpc>
                <a:spcPct val="90000"/>
              </a:lnSpc>
              <a:buFontTx/>
              <a:buNone/>
            </a:pPr>
            <a:r>
              <a:rPr lang="en-US" altLang="en-US" sz="2800">
                <a:latin typeface="Times New Roman" panose="02020603050405020304" pitchFamily="18" charset="0"/>
              </a:rPr>
              <a:t>		if (fptr1 == NULL) </a:t>
            </a:r>
          </a:p>
          <a:p>
            <a:pPr algn="just" eaLnBrk="1" hangingPunct="1">
              <a:lnSpc>
                <a:spcPct val="90000"/>
              </a:lnSpc>
              <a:buFontTx/>
              <a:buNone/>
            </a:pPr>
            <a:r>
              <a:rPr lang="en-US" altLang="en-US" sz="2800">
                <a:latin typeface="Times New Roman" panose="02020603050405020304" pitchFamily="18" charset="0"/>
              </a:rPr>
              <a:t>		{</a:t>
            </a:r>
          </a:p>
          <a:p>
            <a:pPr algn="just" eaLnBrk="1" hangingPunct="1">
              <a:lnSpc>
                <a:spcPct val="90000"/>
              </a:lnSpc>
              <a:buFontTx/>
              <a:buNone/>
            </a:pPr>
            <a:r>
              <a:rPr lang="en-US" altLang="en-US" sz="2800">
                <a:latin typeface="Times New Roman" panose="02020603050405020304" pitchFamily="18" charset="0"/>
              </a:rPr>
              <a:t>			printf ("File 'mydata' did not open.\n") ;</a:t>
            </a:r>
          </a:p>
          <a:p>
            <a:pPr algn="just" eaLnBrk="1" hangingPunct="1">
              <a:lnSpc>
                <a:spcPct val="90000"/>
              </a:lnSpc>
              <a:buFontTx/>
              <a:buNone/>
            </a:pPr>
            <a:r>
              <a:rPr lang="en-US" altLang="en-US" sz="2800">
                <a:latin typeface="Times New Roman" panose="02020603050405020304" pitchFamily="18" charset="0"/>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0AB14952-1E06-03A5-7142-2AE90456A775}"/>
              </a:ext>
            </a:extLst>
          </p:cNvPr>
          <p:cNvSpPr>
            <a:spLocks noGrp="1" noChangeArrowheads="1"/>
          </p:cNvSpPr>
          <p:nvPr>
            <p:ph type="title"/>
          </p:nvPr>
        </p:nvSpPr>
        <p:spPr>
          <a:xfrm>
            <a:off x="457200" y="274638"/>
            <a:ext cx="8229600" cy="258762"/>
          </a:xfrm>
        </p:spPr>
        <p:txBody>
          <a:bodyPr/>
          <a:lstStyle/>
          <a:p>
            <a:pPr eaLnBrk="1" hangingPunct="1"/>
            <a:r>
              <a:rPr lang="en-US" altLang="en-US" sz="3600"/>
              <a:t>Reading From Files</a:t>
            </a:r>
          </a:p>
        </p:txBody>
      </p:sp>
      <p:sp>
        <p:nvSpPr>
          <p:cNvPr id="7171" name="Rectangle 3">
            <a:extLst>
              <a:ext uri="{FF2B5EF4-FFF2-40B4-BE49-F238E27FC236}">
                <a16:creationId xmlns:a16="http://schemas.microsoft.com/office/drawing/2014/main" id="{3A95D659-9C1A-EA01-FEE3-D08F84577CFF}"/>
              </a:ext>
            </a:extLst>
          </p:cNvPr>
          <p:cNvSpPr>
            <a:spLocks noGrp="1" noChangeArrowheads="1"/>
          </p:cNvSpPr>
          <p:nvPr>
            <p:ph type="body" idx="1"/>
          </p:nvPr>
        </p:nvSpPr>
        <p:spPr>
          <a:xfrm>
            <a:off x="457200" y="838200"/>
            <a:ext cx="8229600" cy="5287963"/>
          </a:xfrm>
        </p:spPr>
        <p:txBody>
          <a:bodyPr/>
          <a:lstStyle/>
          <a:p>
            <a:pPr algn="just" eaLnBrk="1" hangingPunct="1"/>
            <a:r>
              <a:rPr lang="en-US" altLang="en-US">
                <a:latin typeface="Times New Roman" panose="02020603050405020304" pitchFamily="18" charset="0"/>
              </a:rPr>
              <a:t>In the following segment of C language code:</a:t>
            </a:r>
          </a:p>
          <a:p>
            <a:pPr algn="just" eaLnBrk="1" hangingPunct="1">
              <a:lnSpc>
                <a:spcPct val="40000"/>
              </a:lnSpc>
              <a:buFontTx/>
              <a:buNone/>
            </a:pPr>
            <a:r>
              <a:rPr lang="en-US" altLang="en-US">
                <a:latin typeface="Times New Roman" panose="02020603050405020304" pitchFamily="18" charset="0"/>
              </a:rPr>
              <a:t> </a:t>
            </a:r>
          </a:p>
          <a:p>
            <a:pPr algn="just" eaLnBrk="1" hangingPunct="1">
              <a:buFontTx/>
              <a:buNone/>
            </a:pPr>
            <a:r>
              <a:rPr lang="en-US" altLang="en-US">
                <a:latin typeface="Times New Roman" panose="02020603050405020304" pitchFamily="18" charset="0"/>
              </a:rPr>
              <a:t>		     	int a, b ;</a:t>
            </a:r>
          </a:p>
          <a:p>
            <a:pPr algn="just" eaLnBrk="1" hangingPunct="1">
              <a:buFontTx/>
              <a:buNone/>
            </a:pPr>
            <a:r>
              <a:rPr lang="en-US" altLang="en-US">
                <a:latin typeface="Times New Roman" panose="02020603050405020304" pitchFamily="18" charset="0"/>
              </a:rPr>
              <a:t>			FILE *fptr1, *fptr2 ;</a:t>
            </a:r>
          </a:p>
          <a:p>
            <a:pPr algn="just" eaLnBrk="1" hangingPunct="1">
              <a:buFontTx/>
              <a:buNone/>
            </a:pPr>
            <a:r>
              <a:rPr lang="en-US" altLang="en-US">
                <a:latin typeface="Times New Roman" panose="02020603050405020304" pitchFamily="18" charset="0"/>
              </a:rPr>
              <a:t>			fptr1 = fopen ( "mydata", "r" ) ;</a:t>
            </a:r>
          </a:p>
          <a:p>
            <a:pPr algn="just" eaLnBrk="1" hangingPunct="1">
              <a:buFontTx/>
              <a:buNone/>
            </a:pPr>
            <a:r>
              <a:rPr lang="en-US" altLang="en-US">
                <a:latin typeface="Times New Roman" panose="02020603050405020304" pitchFamily="18" charset="0"/>
              </a:rPr>
              <a:t>			fscanf ( fptr1, "%d%d", &amp;a, &amp;b) ;</a:t>
            </a:r>
          </a:p>
          <a:p>
            <a:pPr algn="just" eaLnBrk="1" hangingPunct="1">
              <a:lnSpc>
                <a:spcPct val="50000"/>
              </a:lnSpc>
              <a:buFontTx/>
              <a:buNone/>
            </a:pPr>
            <a:endParaRPr lang="en-US" altLang="en-US">
              <a:latin typeface="Times New Roman" panose="02020603050405020304" pitchFamily="18" charset="0"/>
            </a:endParaRPr>
          </a:p>
          <a:p>
            <a:pPr algn="just" eaLnBrk="1" hangingPunct="1">
              <a:buFontTx/>
              <a:buNone/>
            </a:pPr>
            <a:r>
              <a:rPr lang="en-US" altLang="en-US">
                <a:latin typeface="Times New Roman" panose="02020603050405020304" pitchFamily="18" charset="0"/>
              </a:rPr>
              <a:t>	the </a:t>
            </a:r>
            <a:r>
              <a:rPr lang="en-US" altLang="en-US" i="1">
                <a:solidFill>
                  <a:srgbClr val="FF0000"/>
                </a:solidFill>
                <a:latin typeface="Times New Roman" panose="02020603050405020304" pitchFamily="18" charset="0"/>
              </a:rPr>
              <a:t>fscanf</a:t>
            </a:r>
            <a:r>
              <a:rPr lang="en-US" altLang="en-US">
                <a:latin typeface="Times New Roman" panose="02020603050405020304" pitchFamily="18" charset="0"/>
              </a:rPr>
              <a:t> function would read values from the file "pointed" to by </a:t>
            </a:r>
            <a:r>
              <a:rPr lang="en-US" altLang="en-US" i="1">
                <a:solidFill>
                  <a:srgbClr val="FF0000"/>
                </a:solidFill>
                <a:latin typeface="Times New Roman" panose="02020603050405020304" pitchFamily="18" charset="0"/>
              </a:rPr>
              <a:t>fptr1</a:t>
            </a:r>
            <a:r>
              <a:rPr lang="en-US" altLang="en-US">
                <a:latin typeface="Times New Roman" panose="02020603050405020304" pitchFamily="18" charset="0"/>
              </a:rPr>
              <a:t> and assign those values to </a:t>
            </a:r>
            <a:r>
              <a:rPr lang="en-US" altLang="en-US" i="1">
                <a:solidFill>
                  <a:srgbClr val="FF0000"/>
                </a:solidFill>
                <a:latin typeface="Times New Roman" panose="02020603050405020304" pitchFamily="18" charset="0"/>
              </a:rPr>
              <a:t>a</a:t>
            </a:r>
            <a:r>
              <a:rPr lang="en-US" altLang="en-US">
                <a:latin typeface="Times New Roman" panose="02020603050405020304" pitchFamily="18" charset="0"/>
              </a:rPr>
              <a:t> and </a:t>
            </a:r>
            <a:r>
              <a:rPr lang="en-US" altLang="en-US" i="1">
                <a:solidFill>
                  <a:srgbClr val="FF0000"/>
                </a:solidFill>
                <a:latin typeface="Times New Roman" panose="02020603050405020304" pitchFamily="18" charset="0"/>
              </a:rPr>
              <a:t>b</a:t>
            </a:r>
            <a:r>
              <a:rPr lang="en-US" altLang="en-US">
                <a:latin typeface="Times New Roman" panose="02020603050405020304" pitchFamily="18"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2B1AC025-7898-7419-56BE-63E418D2BF72}"/>
              </a:ext>
            </a:extLst>
          </p:cNvPr>
          <p:cNvSpPr>
            <a:spLocks noGrp="1" noChangeArrowheads="1"/>
          </p:cNvSpPr>
          <p:nvPr>
            <p:ph type="title"/>
          </p:nvPr>
        </p:nvSpPr>
        <p:spPr>
          <a:xfrm>
            <a:off x="457200" y="274638"/>
            <a:ext cx="8229600" cy="411162"/>
          </a:xfrm>
        </p:spPr>
        <p:txBody>
          <a:bodyPr/>
          <a:lstStyle/>
          <a:p>
            <a:pPr eaLnBrk="1" hangingPunct="1"/>
            <a:r>
              <a:rPr lang="en-US" altLang="en-US" sz="4000"/>
              <a:t>End of File	</a:t>
            </a:r>
          </a:p>
        </p:txBody>
      </p:sp>
      <p:sp>
        <p:nvSpPr>
          <p:cNvPr id="8195" name="Rectangle 3">
            <a:extLst>
              <a:ext uri="{FF2B5EF4-FFF2-40B4-BE49-F238E27FC236}">
                <a16:creationId xmlns:a16="http://schemas.microsoft.com/office/drawing/2014/main" id="{CC1D1160-6E3E-6B7A-9C81-DE311654B437}"/>
              </a:ext>
            </a:extLst>
          </p:cNvPr>
          <p:cNvSpPr>
            <a:spLocks noGrp="1" noChangeArrowheads="1"/>
          </p:cNvSpPr>
          <p:nvPr>
            <p:ph type="body" idx="1"/>
          </p:nvPr>
        </p:nvSpPr>
        <p:spPr>
          <a:xfrm>
            <a:off x="762000" y="914400"/>
            <a:ext cx="7772400" cy="5037138"/>
          </a:xfrm>
        </p:spPr>
        <p:txBody>
          <a:bodyPr/>
          <a:lstStyle/>
          <a:p>
            <a:pPr algn="just" eaLnBrk="1" hangingPunct="1"/>
            <a:r>
              <a:rPr lang="en-US" altLang="en-US" sz="2800">
                <a:latin typeface="Times New Roman" panose="02020603050405020304" pitchFamily="18" charset="0"/>
              </a:rPr>
              <a:t>The end-of-file indicator informs the program when there are no more data (no more bytes) to be processed.</a:t>
            </a:r>
          </a:p>
          <a:p>
            <a:pPr algn="just" eaLnBrk="1" hangingPunct="1"/>
            <a:r>
              <a:rPr lang="en-US" altLang="en-US" sz="2800">
                <a:latin typeface="Times New Roman" panose="02020603050405020304" pitchFamily="18" charset="0"/>
              </a:rPr>
              <a:t>There are a number of ways to test for the end-of-file condition.  </a:t>
            </a:r>
          </a:p>
          <a:p>
            <a:pPr algn="just" eaLnBrk="1" hangingPunct="1"/>
            <a:r>
              <a:rPr lang="en-US" altLang="en-US" sz="2800">
                <a:latin typeface="Times New Roman" panose="02020603050405020304" pitchFamily="18" charset="0"/>
              </a:rPr>
              <a:t>One is to use the </a:t>
            </a:r>
            <a:r>
              <a:rPr lang="en-US" altLang="en-US" sz="2800" i="1">
                <a:solidFill>
                  <a:srgbClr val="FF0000"/>
                </a:solidFill>
                <a:latin typeface="Times New Roman" panose="02020603050405020304" pitchFamily="18" charset="0"/>
              </a:rPr>
              <a:t>feof</a:t>
            </a:r>
            <a:r>
              <a:rPr lang="en-US" altLang="en-US" sz="2800">
                <a:latin typeface="Times New Roman" panose="02020603050405020304" pitchFamily="18" charset="0"/>
              </a:rPr>
              <a:t> function which returns a </a:t>
            </a:r>
            <a:r>
              <a:rPr lang="en-US" altLang="en-US" sz="2800">
                <a:solidFill>
                  <a:srgbClr val="FF0000"/>
                </a:solidFill>
                <a:latin typeface="Times New Roman" panose="02020603050405020304" pitchFamily="18" charset="0"/>
              </a:rPr>
              <a:t>true</a:t>
            </a:r>
            <a:r>
              <a:rPr lang="en-US" altLang="en-US" sz="2800">
                <a:latin typeface="Times New Roman" panose="02020603050405020304" pitchFamily="18" charset="0"/>
              </a:rPr>
              <a:t> or </a:t>
            </a:r>
            <a:r>
              <a:rPr lang="en-US" altLang="en-US" sz="2800">
                <a:solidFill>
                  <a:srgbClr val="FF0000"/>
                </a:solidFill>
                <a:latin typeface="Times New Roman" panose="02020603050405020304" pitchFamily="18" charset="0"/>
              </a:rPr>
              <a:t>false</a:t>
            </a:r>
            <a:r>
              <a:rPr lang="en-US" altLang="en-US" sz="2800">
                <a:latin typeface="Times New Roman" panose="02020603050405020304" pitchFamily="18" charset="0"/>
              </a:rPr>
              <a:t> condition:</a:t>
            </a:r>
          </a:p>
          <a:p>
            <a:pPr algn="just" eaLnBrk="1" hangingPunct="1">
              <a:lnSpc>
                <a:spcPct val="0"/>
              </a:lnSpc>
              <a:buFontTx/>
              <a:buNone/>
            </a:pPr>
            <a:r>
              <a:rPr lang="en-US" altLang="en-US" sz="2800">
                <a:latin typeface="Times New Roman" panose="02020603050405020304" pitchFamily="18" charset="0"/>
              </a:rPr>
              <a:t>		</a:t>
            </a:r>
          </a:p>
          <a:p>
            <a:pPr algn="just" eaLnBrk="1" hangingPunct="1">
              <a:lnSpc>
                <a:spcPct val="90000"/>
              </a:lnSpc>
              <a:buFontTx/>
              <a:buNone/>
            </a:pPr>
            <a:r>
              <a:rPr lang="en-US" altLang="en-US" sz="2800">
                <a:latin typeface="Times New Roman" panose="02020603050405020304" pitchFamily="18" charset="0"/>
              </a:rPr>
              <a:t>		fscanf (fptr1, "%d", &amp;var) ;</a:t>
            </a:r>
          </a:p>
          <a:p>
            <a:pPr algn="just" eaLnBrk="1" hangingPunct="1">
              <a:lnSpc>
                <a:spcPct val="90000"/>
              </a:lnSpc>
              <a:buFontTx/>
              <a:buNone/>
            </a:pPr>
            <a:r>
              <a:rPr lang="en-US" altLang="en-US" sz="2800">
                <a:latin typeface="Times New Roman" panose="02020603050405020304" pitchFamily="18" charset="0"/>
              </a:rPr>
              <a:t>		if ( feof (fptr1) )</a:t>
            </a:r>
          </a:p>
          <a:p>
            <a:pPr algn="just" eaLnBrk="1" hangingPunct="1">
              <a:lnSpc>
                <a:spcPct val="90000"/>
              </a:lnSpc>
              <a:buFontTx/>
              <a:buNone/>
            </a:pPr>
            <a:r>
              <a:rPr lang="en-US" altLang="en-US" sz="2800">
                <a:latin typeface="Times New Roman" panose="02020603050405020304" pitchFamily="18" charset="0"/>
              </a:rPr>
              <a:t>		{</a:t>
            </a:r>
          </a:p>
          <a:p>
            <a:pPr algn="just" eaLnBrk="1" hangingPunct="1">
              <a:lnSpc>
                <a:spcPct val="90000"/>
              </a:lnSpc>
              <a:buFontTx/>
              <a:buNone/>
            </a:pPr>
            <a:r>
              <a:rPr lang="en-US" altLang="en-US" sz="2800">
                <a:latin typeface="Times New Roman" panose="02020603050405020304" pitchFamily="18" charset="0"/>
              </a:rPr>
              <a:t>			printf ("End-of-file encountered.\n”);</a:t>
            </a:r>
          </a:p>
          <a:p>
            <a:pPr algn="just" eaLnBrk="1" hangingPunct="1">
              <a:lnSpc>
                <a:spcPct val="90000"/>
              </a:lnSpc>
              <a:buFontTx/>
              <a:buNone/>
            </a:pPr>
            <a:r>
              <a:rPr lang="en-US" altLang="en-US" sz="2800">
                <a:latin typeface="Times New Roman" panose="02020603050405020304" pitchFamily="18" charset="0"/>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a:extLst>
              <a:ext uri="{FF2B5EF4-FFF2-40B4-BE49-F238E27FC236}">
                <a16:creationId xmlns:a16="http://schemas.microsoft.com/office/drawing/2014/main" id="{2B949FC9-4ED3-2F61-D0E4-7912B274A5C2}"/>
              </a:ext>
            </a:extLst>
          </p:cNvPr>
          <p:cNvSpPr>
            <a:spLocks noGrp="1" noChangeArrowheads="1"/>
          </p:cNvSpPr>
          <p:nvPr>
            <p:ph type="body" idx="1"/>
          </p:nvPr>
        </p:nvSpPr>
        <p:spPr>
          <a:xfrm>
            <a:off x="457200" y="609600"/>
            <a:ext cx="8229600" cy="5516563"/>
          </a:xfrm>
        </p:spPr>
        <p:txBody>
          <a:bodyPr/>
          <a:lstStyle/>
          <a:p>
            <a:pPr algn="just" eaLnBrk="1" hangingPunct="1"/>
            <a:r>
              <a:rPr lang="en-US" altLang="en-US">
                <a:latin typeface="Times New Roman" panose="02020603050405020304" pitchFamily="18" charset="0"/>
              </a:rPr>
              <a:t> Another way  is to use the value returned by the </a:t>
            </a:r>
            <a:r>
              <a:rPr lang="en-US" altLang="en-US" i="1">
                <a:solidFill>
                  <a:srgbClr val="FF0000"/>
                </a:solidFill>
                <a:latin typeface="Times New Roman" panose="02020603050405020304" pitchFamily="18" charset="0"/>
              </a:rPr>
              <a:t>fscanf</a:t>
            </a:r>
            <a:r>
              <a:rPr lang="en-US" altLang="en-US">
                <a:latin typeface="Times New Roman" panose="02020603050405020304" pitchFamily="18" charset="0"/>
              </a:rPr>
              <a:t> function:</a:t>
            </a:r>
          </a:p>
          <a:p>
            <a:pPr algn="just" eaLnBrk="1" hangingPunct="1">
              <a:buFontTx/>
              <a:buNone/>
            </a:pPr>
            <a:r>
              <a:rPr lang="en-US" altLang="en-US">
                <a:latin typeface="Times New Roman" panose="02020603050405020304" pitchFamily="18" charset="0"/>
              </a:rPr>
              <a:t>		int istatus ;</a:t>
            </a:r>
          </a:p>
          <a:p>
            <a:pPr algn="just" eaLnBrk="1" hangingPunct="1">
              <a:buFontTx/>
              <a:buNone/>
            </a:pPr>
            <a:r>
              <a:rPr lang="en-US" altLang="en-US">
                <a:latin typeface="Times New Roman" panose="02020603050405020304" pitchFamily="18" charset="0"/>
              </a:rPr>
              <a:t>		istatus = fscanf (fptr1, "%d", &amp;var) ;</a:t>
            </a:r>
          </a:p>
          <a:p>
            <a:pPr algn="just" eaLnBrk="1" hangingPunct="1">
              <a:lnSpc>
                <a:spcPct val="90000"/>
              </a:lnSpc>
              <a:buFontTx/>
              <a:buNone/>
            </a:pPr>
            <a:r>
              <a:rPr lang="en-US" altLang="en-US">
                <a:latin typeface="Times New Roman" panose="02020603050405020304" pitchFamily="18" charset="0"/>
              </a:rPr>
              <a:t>		if ( istatus == EOF )</a:t>
            </a:r>
          </a:p>
          <a:p>
            <a:pPr algn="just" eaLnBrk="1" hangingPunct="1">
              <a:lnSpc>
                <a:spcPct val="90000"/>
              </a:lnSpc>
              <a:buFontTx/>
              <a:buNone/>
            </a:pPr>
            <a:r>
              <a:rPr lang="en-US" altLang="en-US">
                <a:latin typeface="Times New Roman" panose="02020603050405020304" pitchFamily="18" charset="0"/>
              </a:rPr>
              <a:t>		{</a:t>
            </a:r>
          </a:p>
          <a:p>
            <a:pPr algn="just" eaLnBrk="1" hangingPunct="1">
              <a:lnSpc>
                <a:spcPct val="90000"/>
              </a:lnSpc>
              <a:buFontTx/>
              <a:buNone/>
            </a:pPr>
            <a:r>
              <a:rPr lang="en-US" altLang="en-US">
                <a:latin typeface="Times New Roman" panose="02020603050405020304" pitchFamily="18" charset="0"/>
              </a:rPr>
              <a:t>			printf ("End-of-file encountered.\n”) ;</a:t>
            </a:r>
          </a:p>
          <a:p>
            <a:pPr algn="just" eaLnBrk="1" hangingPunct="1">
              <a:lnSpc>
                <a:spcPct val="90000"/>
              </a:lnSpc>
              <a:buFontTx/>
              <a:buNone/>
            </a:pPr>
            <a:r>
              <a:rPr lang="en-US" altLang="en-US">
                <a:latin typeface="Times New Roman" panose="02020603050405020304" pitchFamily="18" charset="0"/>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F500CC06-C409-3139-BD86-813DACFBD4FF}"/>
              </a:ext>
            </a:extLst>
          </p:cNvPr>
          <p:cNvSpPr>
            <a:spLocks noGrp="1" noChangeArrowheads="1"/>
          </p:cNvSpPr>
          <p:nvPr>
            <p:ph type="title"/>
          </p:nvPr>
        </p:nvSpPr>
        <p:spPr>
          <a:xfrm>
            <a:off x="457200" y="274638"/>
            <a:ext cx="8229600" cy="487362"/>
          </a:xfrm>
        </p:spPr>
        <p:txBody>
          <a:bodyPr/>
          <a:lstStyle/>
          <a:p>
            <a:pPr eaLnBrk="1" hangingPunct="1"/>
            <a:r>
              <a:rPr lang="en-US" altLang="en-US" sz="3600"/>
              <a:t>Writing To Files</a:t>
            </a:r>
          </a:p>
        </p:txBody>
      </p:sp>
      <p:sp>
        <p:nvSpPr>
          <p:cNvPr id="10243" name="Rectangle 3">
            <a:extLst>
              <a:ext uri="{FF2B5EF4-FFF2-40B4-BE49-F238E27FC236}">
                <a16:creationId xmlns:a16="http://schemas.microsoft.com/office/drawing/2014/main" id="{AAEF1419-39A5-A58E-9E80-5E7092931533}"/>
              </a:ext>
            </a:extLst>
          </p:cNvPr>
          <p:cNvSpPr>
            <a:spLocks noGrp="1" noChangeArrowheads="1"/>
          </p:cNvSpPr>
          <p:nvPr>
            <p:ph type="body" idx="1"/>
          </p:nvPr>
        </p:nvSpPr>
        <p:spPr>
          <a:xfrm>
            <a:off x="457200" y="914400"/>
            <a:ext cx="8229600" cy="5211763"/>
          </a:xfrm>
        </p:spPr>
        <p:txBody>
          <a:bodyPr/>
          <a:lstStyle/>
          <a:p>
            <a:pPr algn="just" eaLnBrk="1" hangingPunct="1"/>
            <a:r>
              <a:rPr lang="en-US" altLang="en-US">
                <a:latin typeface="Times New Roman" panose="02020603050405020304" pitchFamily="18" charset="0"/>
              </a:rPr>
              <a:t>Likewise in a similar way, in the following segment of C language code:</a:t>
            </a:r>
          </a:p>
          <a:p>
            <a:pPr algn="just" eaLnBrk="1" hangingPunct="1">
              <a:lnSpc>
                <a:spcPct val="40000"/>
              </a:lnSpc>
              <a:buFontTx/>
              <a:buNone/>
            </a:pPr>
            <a:r>
              <a:rPr lang="en-US" altLang="en-US">
                <a:latin typeface="Times New Roman" panose="02020603050405020304" pitchFamily="18" charset="0"/>
              </a:rPr>
              <a:t> </a:t>
            </a:r>
          </a:p>
          <a:p>
            <a:pPr algn="just" eaLnBrk="1" hangingPunct="1">
              <a:buFontTx/>
              <a:buNone/>
            </a:pPr>
            <a:r>
              <a:rPr lang="en-US" altLang="en-US">
                <a:latin typeface="Times New Roman" panose="02020603050405020304" pitchFamily="18" charset="0"/>
              </a:rPr>
              <a:t>		     	int a = 5, b = 20 ;</a:t>
            </a:r>
          </a:p>
          <a:p>
            <a:pPr algn="just" eaLnBrk="1" hangingPunct="1">
              <a:buFontTx/>
              <a:buNone/>
            </a:pPr>
            <a:r>
              <a:rPr lang="en-US" altLang="en-US">
                <a:latin typeface="Times New Roman" panose="02020603050405020304" pitchFamily="18" charset="0"/>
              </a:rPr>
              <a:t>			FILE  *fptr2 ;</a:t>
            </a:r>
          </a:p>
          <a:p>
            <a:pPr algn="just" eaLnBrk="1" hangingPunct="1">
              <a:buFontTx/>
              <a:buNone/>
            </a:pPr>
            <a:r>
              <a:rPr lang="en-US" altLang="en-US">
                <a:latin typeface="Times New Roman" panose="02020603050405020304" pitchFamily="18" charset="0"/>
              </a:rPr>
              <a:t>			fptr2 = fopen ( "results", "w" ) ;</a:t>
            </a:r>
          </a:p>
          <a:p>
            <a:pPr algn="just" eaLnBrk="1" hangingPunct="1">
              <a:buFontTx/>
              <a:buNone/>
            </a:pPr>
            <a:r>
              <a:rPr lang="en-US" altLang="en-US">
                <a:latin typeface="Times New Roman" panose="02020603050405020304" pitchFamily="18" charset="0"/>
              </a:rPr>
              <a:t>			fprintf ( fptr2, "%d %d\n", a, b ) ;</a:t>
            </a:r>
          </a:p>
          <a:p>
            <a:pPr algn="just" eaLnBrk="1" hangingPunct="1">
              <a:lnSpc>
                <a:spcPct val="50000"/>
              </a:lnSpc>
              <a:buFontTx/>
              <a:buNone/>
            </a:pPr>
            <a:endParaRPr lang="en-US" altLang="en-US">
              <a:latin typeface="Times New Roman" panose="02020603050405020304" pitchFamily="18" charset="0"/>
            </a:endParaRPr>
          </a:p>
          <a:p>
            <a:pPr algn="just" eaLnBrk="1" hangingPunct="1">
              <a:buFontTx/>
              <a:buNone/>
            </a:pPr>
            <a:r>
              <a:rPr lang="en-US" altLang="en-US">
                <a:latin typeface="Times New Roman" panose="02020603050405020304" pitchFamily="18" charset="0"/>
              </a:rPr>
              <a:t>	the </a:t>
            </a:r>
            <a:r>
              <a:rPr lang="en-US" altLang="en-US">
                <a:solidFill>
                  <a:srgbClr val="FF0000"/>
                </a:solidFill>
                <a:latin typeface="Times New Roman" panose="02020603050405020304" pitchFamily="18" charset="0"/>
              </a:rPr>
              <a:t>fprintf </a:t>
            </a:r>
            <a:r>
              <a:rPr lang="en-US" altLang="en-US">
                <a:latin typeface="Times New Roman" panose="02020603050405020304" pitchFamily="18" charset="0"/>
              </a:rPr>
              <a:t>functions would write the values stored in </a:t>
            </a:r>
            <a:r>
              <a:rPr lang="en-US" altLang="en-US" i="1">
                <a:solidFill>
                  <a:srgbClr val="FF0000"/>
                </a:solidFill>
                <a:latin typeface="Times New Roman" panose="02020603050405020304" pitchFamily="18" charset="0"/>
              </a:rPr>
              <a:t>a</a:t>
            </a:r>
            <a:r>
              <a:rPr lang="en-US" altLang="en-US">
                <a:latin typeface="Times New Roman" panose="02020603050405020304" pitchFamily="18" charset="0"/>
              </a:rPr>
              <a:t> and </a:t>
            </a:r>
            <a:r>
              <a:rPr lang="en-US" altLang="en-US" i="1">
                <a:solidFill>
                  <a:srgbClr val="FF0000"/>
                </a:solidFill>
                <a:latin typeface="Times New Roman" panose="02020603050405020304" pitchFamily="18" charset="0"/>
              </a:rPr>
              <a:t>b</a:t>
            </a:r>
            <a:r>
              <a:rPr lang="en-US" altLang="en-US">
                <a:latin typeface="Times New Roman" panose="02020603050405020304" pitchFamily="18" charset="0"/>
              </a:rPr>
              <a:t> to the file "pointed" to by </a:t>
            </a:r>
            <a:r>
              <a:rPr lang="en-US" altLang="en-US" i="1">
                <a:solidFill>
                  <a:srgbClr val="FF0000"/>
                </a:solidFill>
                <a:latin typeface="Times New Roman" panose="02020603050405020304" pitchFamily="18" charset="0"/>
              </a:rPr>
              <a:t>fptr2</a:t>
            </a:r>
            <a:r>
              <a:rPr lang="en-US" altLang="en-US">
                <a:latin typeface="Times New Roman" panose="02020603050405020304" pitchFamily="18" charset="0"/>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567B52AA-A92C-148A-3681-B3AF6C809CAD}"/>
              </a:ext>
            </a:extLst>
          </p:cNvPr>
          <p:cNvSpPr>
            <a:spLocks noGrp="1" noChangeArrowheads="1"/>
          </p:cNvSpPr>
          <p:nvPr>
            <p:ph type="title"/>
          </p:nvPr>
        </p:nvSpPr>
        <p:spPr>
          <a:xfrm>
            <a:off x="457200" y="274638"/>
            <a:ext cx="8229600" cy="487362"/>
          </a:xfrm>
        </p:spPr>
        <p:txBody>
          <a:bodyPr/>
          <a:lstStyle/>
          <a:p>
            <a:pPr eaLnBrk="1" hangingPunct="1"/>
            <a:r>
              <a:rPr lang="en-US" altLang="en-US" sz="4000"/>
              <a:t>Closing Files</a:t>
            </a:r>
          </a:p>
        </p:txBody>
      </p:sp>
      <p:sp>
        <p:nvSpPr>
          <p:cNvPr id="11267" name="Rectangle 3">
            <a:extLst>
              <a:ext uri="{FF2B5EF4-FFF2-40B4-BE49-F238E27FC236}">
                <a16:creationId xmlns:a16="http://schemas.microsoft.com/office/drawing/2014/main" id="{27F6D960-3CB9-C274-5E91-58DDA82E1C9A}"/>
              </a:ext>
            </a:extLst>
          </p:cNvPr>
          <p:cNvSpPr>
            <a:spLocks noGrp="1" noChangeArrowheads="1"/>
          </p:cNvSpPr>
          <p:nvPr>
            <p:ph type="body" idx="1"/>
          </p:nvPr>
        </p:nvSpPr>
        <p:spPr>
          <a:xfrm>
            <a:off x="457200" y="1143000"/>
            <a:ext cx="8229600" cy="4983163"/>
          </a:xfrm>
        </p:spPr>
        <p:txBody>
          <a:bodyPr/>
          <a:lstStyle/>
          <a:p>
            <a:pPr eaLnBrk="1" hangingPunct="1"/>
            <a:r>
              <a:rPr lang="en-US" altLang="en-US"/>
              <a:t>The statements:</a:t>
            </a:r>
          </a:p>
          <a:p>
            <a:pPr eaLnBrk="1" hangingPunct="1">
              <a:buFontTx/>
              <a:buNone/>
            </a:pPr>
            <a:r>
              <a:rPr lang="en-US" altLang="en-US"/>
              <a:t> </a:t>
            </a:r>
          </a:p>
          <a:p>
            <a:pPr eaLnBrk="1" hangingPunct="1">
              <a:buFontTx/>
              <a:buNone/>
            </a:pPr>
            <a:r>
              <a:rPr lang="en-US" altLang="en-US"/>
              <a:t>		fclose ( fptr1 ) ;</a:t>
            </a:r>
          </a:p>
          <a:p>
            <a:pPr eaLnBrk="1" hangingPunct="1">
              <a:buFontTx/>
              <a:buNone/>
            </a:pPr>
            <a:r>
              <a:rPr lang="en-US" altLang="en-US"/>
              <a:t>		fclose ( fptr2 ) ;</a:t>
            </a:r>
          </a:p>
          <a:p>
            <a:pPr eaLnBrk="1" hangingPunct="1">
              <a:buFontTx/>
              <a:buNone/>
            </a:pPr>
            <a:r>
              <a:rPr lang="en-US" altLang="en-US"/>
              <a:t> </a:t>
            </a:r>
          </a:p>
          <a:p>
            <a:pPr eaLnBrk="1" hangingPunct="1">
              <a:buFontTx/>
              <a:buNone/>
            </a:pPr>
            <a:r>
              <a:rPr lang="en-US" altLang="en-US"/>
              <a:t>	will close the files and release the file descriptor space and I/O buffer memory.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3E1F3C90-3BD1-D262-DA4A-5C6808C65702}"/>
              </a:ext>
            </a:extLst>
          </p:cNvPr>
          <p:cNvSpPr>
            <a:spLocks noGrp="1" noChangeArrowheads="1"/>
          </p:cNvSpPr>
          <p:nvPr>
            <p:ph type="title"/>
          </p:nvPr>
        </p:nvSpPr>
        <p:spPr>
          <a:xfrm>
            <a:off x="457200" y="274638"/>
            <a:ext cx="8229600" cy="182562"/>
          </a:xfrm>
        </p:spPr>
        <p:txBody>
          <a:bodyPr/>
          <a:lstStyle/>
          <a:p>
            <a:pPr eaLnBrk="1" hangingPunct="1"/>
            <a:r>
              <a:rPr lang="en-US" altLang="en-US" sz="4000">
                <a:latin typeface="Times New Roman" panose="02020603050405020304" pitchFamily="18" charset="0"/>
              </a:rPr>
              <a:t>Reading and Writing Files</a:t>
            </a:r>
          </a:p>
        </p:txBody>
      </p:sp>
      <p:sp>
        <p:nvSpPr>
          <p:cNvPr id="12291" name="Rectangle 3">
            <a:extLst>
              <a:ext uri="{FF2B5EF4-FFF2-40B4-BE49-F238E27FC236}">
                <a16:creationId xmlns:a16="http://schemas.microsoft.com/office/drawing/2014/main" id="{BA161059-32E1-626B-F6EA-27E81516327C}"/>
              </a:ext>
            </a:extLst>
          </p:cNvPr>
          <p:cNvSpPr>
            <a:spLocks noGrp="1" noChangeArrowheads="1"/>
          </p:cNvSpPr>
          <p:nvPr>
            <p:ph type="body" idx="1"/>
          </p:nvPr>
        </p:nvSpPr>
        <p:spPr>
          <a:xfrm>
            <a:off x="457200" y="990600"/>
            <a:ext cx="8382000" cy="5638800"/>
          </a:xfrm>
        </p:spPr>
        <p:txBody>
          <a:bodyPr/>
          <a:lstStyle/>
          <a:p>
            <a:pPr eaLnBrk="1" hangingPunct="1">
              <a:lnSpc>
                <a:spcPct val="80000"/>
              </a:lnSpc>
              <a:buFontTx/>
              <a:buNone/>
            </a:pPr>
            <a:r>
              <a:rPr lang="en-US" altLang="en-US" sz="1800" b="1">
                <a:latin typeface="Times New Roman" panose="02020603050405020304" pitchFamily="18" charset="0"/>
                <a:cs typeface="Times New Roman" panose="02020603050405020304" pitchFamily="18" charset="0"/>
              </a:rPr>
              <a:t>#include &lt;stdio.h&gt;</a:t>
            </a:r>
          </a:p>
          <a:p>
            <a:pPr eaLnBrk="1" hangingPunct="1">
              <a:lnSpc>
                <a:spcPct val="80000"/>
              </a:lnSpc>
              <a:buFontTx/>
              <a:buNone/>
            </a:pPr>
            <a:r>
              <a:rPr lang="en-US" altLang="en-US" sz="1800" b="1">
                <a:latin typeface="Times New Roman" panose="02020603050405020304" pitchFamily="18" charset="0"/>
                <a:cs typeface="Times New Roman" panose="02020603050405020304" pitchFamily="18" charset="0"/>
              </a:rPr>
              <a:t>int main ( )</a:t>
            </a:r>
          </a:p>
          <a:p>
            <a:pPr eaLnBrk="1" hangingPunct="1">
              <a:lnSpc>
                <a:spcPct val="80000"/>
              </a:lnSpc>
              <a:buFontTx/>
              <a:buNone/>
            </a:pPr>
            <a:r>
              <a:rPr lang="en-US" altLang="en-US" sz="1800" b="1">
                <a:latin typeface="Times New Roman" panose="02020603050405020304" pitchFamily="18" charset="0"/>
                <a:cs typeface="Times New Roman" panose="02020603050405020304" pitchFamily="18" charset="0"/>
              </a:rPr>
              <a:t>{</a:t>
            </a:r>
          </a:p>
          <a:p>
            <a:pPr eaLnBrk="1" hangingPunct="1">
              <a:lnSpc>
                <a:spcPct val="80000"/>
              </a:lnSpc>
              <a:buFontTx/>
              <a:buNone/>
            </a:pPr>
            <a:r>
              <a:rPr lang="en-US" altLang="en-US" sz="1800" b="1">
                <a:latin typeface="Times New Roman" panose="02020603050405020304" pitchFamily="18" charset="0"/>
                <a:cs typeface="Times New Roman" panose="02020603050405020304" pitchFamily="18" charset="0"/>
              </a:rPr>
              <a:t>   FILE *outfile, *infile ;</a:t>
            </a:r>
          </a:p>
          <a:p>
            <a:pPr eaLnBrk="1" hangingPunct="1">
              <a:lnSpc>
                <a:spcPct val="80000"/>
              </a:lnSpc>
              <a:buFontTx/>
              <a:buNone/>
            </a:pPr>
            <a:r>
              <a:rPr lang="en-US" altLang="en-US" sz="1800" b="1">
                <a:latin typeface="Times New Roman" panose="02020603050405020304" pitchFamily="18" charset="0"/>
                <a:cs typeface="Times New Roman" panose="02020603050405020304" pitchFamily="18" charset="0"/>
              </a:rPr>
              <a:t>   int b = 5, f ;</a:t>
            </a:r>
          </a:p>
          <a:p>
            <a:pPr eaLnBrk="1" hangingPunct="1">
              <a:lnSpc>
                <a:spcPct val="80000"/>
              </a:lnSpc>
              <a:buFontTx/>
              <a:buNone/>
            </a:pPr>
            <a:r>
              <a:rPr lang="en-US" altLang="en-US" sz="1800" b="1">
                <a:latin typeface="Times New Roman" panose="02020603050405020304" pitchFamily="18" charset="0"/>
                <a:cs typeface="Times New Roman" panose="02020603050405020304" pitchFamily="18" charset="0"/>
              </a:rPr>
              <a:t>   float a = 13.72, c = 6.68, e, g ;</a:t>
            </a:r>
          </a:p>
          <a:p>
            <a:pPr eaLnBrk="1" hangingPunct="1">
              <a:lnSpc>
                <a:spcPct val="50000"/>
              </a:lnSpc>
              <a:buFontTx/>
              <a:buNone/>
            </a:pPr>
            <a:endParaRPr lang="en-US" altLang="en-US" sz="1800" b="1">
              <a:latin typeface="Times New Roman" panose="02020603050405020304" pitchFamily="18" charset="0"/>
              <a:cs typeface="Times New Roman" panose="02020603050405020304" pitchFamily="18" charset="0"/>
            </a:endParaRPr>
          </a:p>
          <a:p>
            <a:pPr eaLnBrk="1" hangingPunct="1">
              <a:lnSpc>
                <a:spcPct val="80000"/>
              </a:lnSpc>
              <a:buFontTx/>
              <a:buNone/>
            </a:pPr>
            <a:r>
              <a:rPr lang="en-US" altLang="en-US" sz="1800" b="1">
                <a:latin typeface="Times New Roman" panose="02020603050405020304" pitchFamily="18" charset="0"/>
                <a:cs typeface="Times New Roman" panose="02020603050405020304" pitchFamily="18" charset="0"/>
              </a:rPr>
              <a:t>   outfile = fopen ("testdata", "w") ;</a:t>
            </a:r>
          </a:p>
          <a:p>
            <a:pPr eaLnBrk="1" hangingPunct="1">
              <a:lnSpc>
                <a:spcPct val="80000"/>
              </a:lnSpc>
              <a:buFontTx/>
              <a:buNone/>
            </a:pPr>
            <a:r>
              <a:rPr lang="en-US" altLang="en-US" sz="1800" b="1">
                <a:latin typeface="Times New Roman" panose="02020603050405020304" pitchFamily="18" charset="0"/>
                <a:cs typeface="Times New Roman" panose="02020603050405020304" pitchFamily="18" charset="0"/>
              </a:rPr>
              <a:t>   fprintf (outfile, "%6.2f%2d%5.2f", a, b, c) ;</a:t>
            </a:r>
          </a:p>
          <a:p>
            <a:pPr eaLnBrk="1" hangingPunct="1">
              <a:lnSpc>
                <a:spcPct val="80000"/>
              </a:lnSpc>
              <a:buFontTx/>
              <a:buNone/>
            </a:pPr>
            <a:r>
              <a:rPr lang="en-US" altLang="en-US" sz="1800" b="1">
                <a:latin typeface="Times New Roman" panose="02020603050405020304" pitchFamily="18" charset="0"/>
                <a:cs typeface="Times New Roman" panose="02020603050405020304" pitchFamily="18" charset="0"/>
              </a:rPr>
              <a:t>   fclose (outfile) ;</a:t>
            </a:r>
          </a:p>
          <a:p>
            <a:pPr eaLnBrk="1" hangingPunct="1">
              <a:lnSpc>
                <a:spcPct val="80000"/>
              </a:lnSpc>
              <a:buFontTx/>
              <a:buNone/>
            </a:pPr>
            <a:r>
              <a:rPr lang="en-US" altLang="en-US" sz="1800" b="1">
                <a:latin typeface="Times New Roman" panose="02020603050405020304" pitchFamily="18" charset="0"/>
                <a:cs typeface="Times New Roman" panose="02020603050405020304" pitchFamily="18" charset="0"/>
              </a:rPr>
              <a:t>    infile = fopen ("testdata", "r") ;</a:t>
            </a:r>
          </a:p>
          <a:p>
            <a:pPr eaLnBrk="1" hangingPunct="1">
              <a:lnSpc>
                <a:spcPct val="80000"/>
              </a:lnSpc>
              <a:buFontTx/>
              <a:buNone/>
            </a:pPr>
            <a:r>
              <a:rPr lang="en-US" altLang="en-US" sz="1800" b="1">
                <a:latin typeface="Times New Roman" panose="02020603050405020304" pitchFamily="18" charset="0"/>
                <a:cs typeface="Times New Roman" panose="02020603050405020304" pitchFamily="18" charset="0"/>
              </a:rPr>
              <a:t>   fscanf (infile,"%f %d %f", &amp;e, &amp;f, &amp;g) ;</a:t>
            </a:r>
          </a:p>
          <a:p>
            <a:pPr eaLnBrk="1" hangingPunct="1">
              <a:lnSpc>
                <a:spcPct val="80000"/>
              </a:lnSpc>
              <a:buFontTx/>
              <a:buNone/>
            </a:pPr>
            <a:endParaRPr lang="en-US" altLang="en-US" sz="1800" b="1">
              <a:latin typeface="Times New Roman" panose="02020603050405020304" pitchFamily="18" charset="0"/>
              <a:cs typeface="Times New Roman" panose="02020603050405020304" pitchFamily="18" charset="0"/>
            </a:endParaRPr>
          </a:p>
          <a:p>
            <a:pPr eaLnBrk="1" hangingPunct="1">
              <a:lnSpc>
                <a:spcPct val="80000"/>
              </a:lnSpc>
              <a:buFontTx/>
              <a:buNone/>
            </a:pPr>
            <a:r>
              <a:rPr lang="en-US" altLang="en-US" sz="1800" b="1">
                <a:latin typeface="Times New Roman" panose="02020603050405020304" pitchFamily="18" charset="0"/>
                <a:cs typeface="Times New Roman" panose="02020603050405020304" pitchFamily="18" charset="0"/>
              </a:rPr>
              <a:t>   printf ("%6.2f%2d%5.2f\n", a, b, c) ;</a:t>
            </a:r>
          </a:p>
          <a:p>
            <a:pPr eaLnBrk="1" hangingPunct="1">
              <a:lnSpc>
                <a:spcPct val="80000"/>
              </a:lnSpc>
              <a:buFontTx/>
              <a:buNone/>
            </a:pPr>
            <a:r>
              <a:rPr lang="en-US" altLang="en-US" sz="1800" b="1">
                <a:latin typeface="Times New Roman" panose="02020603050405020304" pitchFamily="18" charset="0"/>
                <a:cs typeface="Times New Roman" panose="02020603050405020304" pitchFamily="18" charset="0"/>
              </a:rPr>
              <a:t>   printf ("%6.2f</a:t>
            </a:r>
            <a:r>
              <a:rPr lang="en-US" altLang="en-US" sz="1800" b="1">
                <a:solidFill>
                  <a:srgbClr val="FF0000"/>
                </a:solidFill>
                <a:latin typeface="Times New Roman" panose="02020603050405020304" pitchFamily="18" charset="0"/>
                <a:cs typeface="Times New Roman" panose="02020603050405020304" pitchFamily="18" charset="0"/>
              </a:rPr>
              <a:t>,</a:t>
            </a:r>
            <a:r>
              <a:rPr lang="en-US" altLang="en-US" sz="1800" b="1">
                <a:latin typeface="Times New Roman" panose="02020603050405020304" pitchFamily="18" charset="0"/>
                <a:cs typeface="Times New Roman" panose="02020603050405020304" pitchFamily="18" charset="0"/>
              </a:rPr>
              <a:t>%2d</a:t>
            </a:r>
            <a:r>
              <a:rPr lang="en-US" altLang="en-US" sz="1800" b="1">
                <a:solidFill>
                  <a:srgbClr val="FF0000"/>
                </a:solidFill>
                <a:latin typeface="Times New Roman" panose="02020603050405020304" pitchFamily="18" charset="0"/>
                <a:cs typeface="Times New Roman" panose="02020603050405020304" pitchFamily="18" charset="0"/>
              </a:rPr>
              <a:t>,</a:t>
            </a:r>
            <a:r>
              <a:rPr lang="en-US" altLang="en-US" sz="1800" b="1">
                <a:latin typeface="Times New Roman" panose="02020603050405020304" pitchFamily="18" charset="0"/>
                <a:cs typeface="Times New Roman" panose="02020603050405020304" pitchFamily="18" charset="0"/>
              </a:rPr>
              <a:t>%5.2f\n", e, f, g) ;</a:t>
            </a:r>
          </a:p>
          <a:p>
            <a:pPr eaLnBrk="1" hangingPunct="1">
              <a:lnSpc>
                <a:spcPct val="80000"/>
              </a:lnSpc>
              <a:buFontTx/>
              <a:buNone/>
            </a:pPr>
            <a:r>
              <a:rPr lang="en-US" altLang="en-US" sz="1800" b="1">
                <a:latin typeface="Times New Roman" panose="02020603050405020304" pitchFamily="18" charset="0"/>
                <a:cs typeface="Times New Roman" panose="02020603050405020304" pitchFamily="18" charset="0"/>
              </a:rPr>
              <a:t>}</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2417</Words>
  <Application>Microsoft Office PowerPoint</Application>
  <PresentationFormat>On-screen Show (4:3)</PresentationFormat>
  <Paragraphs>160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Times New Roman</vt:lpstr>
      <vt:lpstr>Default Design</vt:lpstr>
      <vt:lpstr>File I/O in C</vt:lpstr>
      <vt:lpstr>Files in C </vt:lpstr>
      <vt:lpstr>PowerPoint Presentation</vt:lpstr>
      <vt:lpstr>Opening Files</vt:lpstr>
      <vt:lpstr>Testing for Successful Open </vt:lpstr>
      <vt:lpstr>Reading From Files</vt:lpstr>
      <vt:lpstr>End of File </vt:lpstr>
      <vt:lpstr>PowerPoint Presentation</vt:lpstr>
      <vt:lpstr>Writing To Files</vt:lpstr>
      <vt:lpstr>Closing Files</vt:lpstr>
      <vt:lpstr>Reading and Writing Files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 I/O in C</dc:title>
  <dc:creator>Kamalika</dc:creator>
  <cp:lastModifiedBy>S Bhavani</cp:lastModifiedBy>
  <cp:revision>22</cp:revision>
  <dcterms:created xsi:type="dcterms:W3CDTF">2011-11-28T06:00:16Z</dcterms:created>
  <dcterms:modified xsi:type="dcterms:W3CDTF">2026-04-07T06:31:13Z</dcterms:modified>
</cp:coreProperties>
</file>