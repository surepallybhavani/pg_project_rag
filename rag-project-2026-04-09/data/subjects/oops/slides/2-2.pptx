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3" r:id="rId15"/>
    <p:sldId id="304" r:id="rId16"/>
    <p:sldId id="305" r:id="rId17"/>
    <p:sldId id="306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5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BA4E00-8683-A14C-257D-519AD106C3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ADB57E-7833-076B-0C48-CB307F5C8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148EC4-602A-D1BE-C798-FAB8633B4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8A0E6-3F03-4596-AED9-D38CB11D23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82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37EDFF-DE15-C4D4-0F73-4AE7EB305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AECAD7-8693-4769-7A80-017DC97F8D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1DD0E1-B692-2CA1-E315-82885D7056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44F004-793F-4DD2-A313-04EFDC803F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740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1FEB1F-3F03-1692-3C36-2CDDA16C75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E53865-19E4-459A-7A8F-E1683DDF36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85DA41-33C6-ACC4-3A2E-8221BD20C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2CB3B3-6139-4545-96D4-677809C15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73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BB73A6-53AD-A312-D11A-BD968B3F1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8BA4B-00C8-C8A7-697D-E46636427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9F452-F69F-500F-3BCD-1FF70E271A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84F63-3189-4FDF-B8B9-47F3F622D7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31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6216C3-E61B-FAF4-AB35-7A139AA6E8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29AC09-4A4C-583A-E31A-84ED82CAA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0D35DB-CB1B-EB9E-1AA7-301F10AFA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77C836-092F-45EE-8E85-3B6B149667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15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F993D52-6942-5CF5-4A83-07241B3E00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2E5B134-0764-92B2-1C53-661F6D7DC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1348D6-8D70-BAEC-C4EC-F5EB19E861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EF986E-5193-4A67-930F-27EAC3C121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3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F8C1976-57EB-BDF9-DBE4-9FA035A0D9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D09980-E0FC-8BE6-E5A9-53252A28A2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BAF2F3-059C-B888-111E-19912D052C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08720-5BED-4DCE-8D5D-99FC354E78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51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24B78-CD5C-B420-FB0E-15BCAD3860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4F420-7731-A5D3-9D98-BC3914463F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56C78-DD0A-A059-6403-DFC6E6B88D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E6BE7-ED23-4B27-89DF-EA8316CB4A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84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6A6B3-2783-D15C-9392-9E8390F635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86DB8-0F8A-D808-81E1-3AFF0B7E6A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8D870-04EA-8D96-B99D-7EB4F7CA7C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395CF-5F73-4BAC-93A3-3400DA5886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35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337C12-5B8A-9C0D-1B09-8A656A6AC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9E3552-04A2-EDB1-A8A6-8F284431F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C99D3E-317E-8808-3ADD-78AE5C2821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57C29-23BD-40FC-BEA9-92942AB32F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4CF791-1DCB-0E88-77B0-29C3251B39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2CFA39-35FA-122B-419D-53F9324E4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B298A5-4E2C-5E1D-7AEB-4A3BE5629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EDC41-1FF6-4A28-93FC-4748B3C2EB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2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EC8D9B-260D-9065-4E23-F8131959E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3C6A920-A82F-C83E-24D5-844CAD85C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4410461-9DD6-C90B-C60A-C724956513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A14F50D-C288-EC75-F02E-0232A774A1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AF09473-33D5-A4D9-BA5A-B0275BF9E4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26F4016-5AC6-4C92-B4A6-2E51C8D9B65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0AB7B76-7AF6-43A6-AF2B-2B45708187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Static data members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AE349DE-D23E-2077-0472-18D6CCA55E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Special characteristics of static member variable are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It is initialized to zero when the first object of its class is created. No other initialization is permitted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Only one copy of the member is created for the entire class and is shared by all the objects of that class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It is visible only with in the class, but life time is the entire program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Eg : </a:t>
            </a:r>
            <a:r>
              <a:rPr lang="en-US" altLang="en-US" sz="2800">
                <a:solidFill>
                  <a:srgbClr val="0066CC"/>
                </a:solidFill>
                <a:latin typeface="Times New Roman" panose="02020603050405020304" pitchFamily="18" charset="0"/>
              </a:rPr>
              <a:t>static int count;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 type and scope of each static member variable must be </a:t>
            </a: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defined outside the class definition</a:t>
            </a:r>
            <a:r>
              <a:rPr lang="en-US" altLang="en-US" sz="2800">
                <a:latin typeface="Times New Roman" panose="02020603050405020304" pitchFamily="18" charset="0"/>
              </a:rPr>
              <a:t> because the they are stored separately rather than as a part of an object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They are also known as </a:t>
            </a:r>
            <a:r>
              <a:rPr lang="en-US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class variables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FFDF076C-BAAB-A28B-5E23-024D4BF585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5105400" cy="6477000"/>
          </a:xfrm>
        </p:spPr>
        <p:txBody>
          <a:bodyPr/>
          <a:lstStyle/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#include &lt;iostream&gt;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using namespace std;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class item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</a:t>
            </a:r>
            <a:r>
              <a:rPr lang="en-US" altLang="en-US" sz="2000">
                <a:solidFill>
                  <a:srgbClr val="CC3300"/>
                </a:solidFill>
                <a:latin typeface="Times New Roman" panose="02020603050405020304" pitchFamily="18" charset="0"/>
              </a:rPr>
              <a:t>static int count;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int number;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    public: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void getdata(int a)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number=a;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count++;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void getcount(void)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cout&lt;&lt;"count = "&lt;&lt;count&lt;&lt;"\n";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 marL="609600" indent="-6096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};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51A218A-A9D4-E2A6-F625-261259D5E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52400"/>
            <a:ext cx="29718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 err="1">
                <a:solidFill>
                  <a:srgbClr val="CC3300"/>
                </a:solidFill>
                <a:latin typeface="Times New Roman" pitchFamily="18" charset="0"/>
              </a:rPr>
              <a:t>int</a:t>
            </a:r>
            <a:r>
              <a:rPr lang="en-US" sz="2000" kern="0" dirty="0">
                <a:solidFill>
                  <a:srgbClr val="CC3300"/>
                </a:solidFill>
                <a:latin typeface="Times New Roman" pitchFamily="18" charset="0"/>
              </a:rPr>
              <a:t> item :: count;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 err="1">
                <a:latin typeface="Times New Roman" pitchFamily="18" charset="0"/>
              </a:rPr>
              <a:t>int</a:t>
            </a:r>
            <a:r>
              <a:rPr lang="en-US" sz="2000" kern="0" dirty="0">
                <a:latin typeface="Times New Roman" pitchFamily="18" charset="0"/>
              </a:rPr>
              <a:t> main()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{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item </a:t>
            </a:r>
            <a:r>
              <a:rPr lang="en-US" sz="2000" kern="0" dirty="0" err="1">
                <a:latin typeface="Times New Roman" pitchFamily="18" charset="0"/>
              </a:rPr>
              <a:t>a,b</a:t>
            </a:r>
            <a:r>
              <a:rPr lang="en-US" sz="2000" kern="0" dirty="0">
                <a:latin typeface="Times New Roman" pitchFamily="18" charset="0"/>
              </a:rPr>
              <a:t>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a.getcount</a:t>
            </a:r>
            <a:r>
              <a:rPr lang="en-US" sz="2000" kern="0" dirty="0">
                <a:latin typeface="Times New Roman" pitchFamily="18" charset="0"/>
              </a:rPr>
              <a:t>();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b.getcount</a:t>
            </a:r>
            <a:r>
              <a:rPr lang="en-US" sz="2000" kern="0" dirty="0">
                <a:latin typeface="Times New Roman" pitchFamily="18" charset="0"/>
              </a:rPr>
              <a:t>();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a.getdata</a:t>
            </a:r>
            <a:r>
              <a:rPr lang="en-US" sz="2000" kern="0" dirty="0">
                <a:latin typeface="Times New Roman" pitchFamily="18" charset="0"/>
              </a:rPr>
              <a:t>(10);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b.getdata</a:t>
            </a:r>
            <a:r>
              <a:rPr lang="en-US" sz="2000" kern="0" dirty="0">
                <a:latin typeface="Times New Roman" pitchFamily="18" charset="0"/>
              </a:rPr>
              <a:t>(20);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a.getcount</a:t>
            </a:r>
            <a:r>
              <a:rPr lang="en-US" sz="2000" kern="0" dirty="0">
                <a:latin typeface="Times New Roman" pitchFamily="18" charset="0"/>
              </a:rPr>
              <a:t>();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latin typeface="Times New Roman" pitchFamily="18" charset="0"/>
              </a:rPr>
              <a:t>b.getcount</a:t>
            </a:r>
            <a:r>
              <a:rPr lang="en-US" sz="2000" kern="0" dirty="0">
                <a:latin typeface="Times New Roman" pitchFamily="18" charset="0"/>
              </a:rPr>
              <a:t>();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	return 0;</a:t>
            </a:r>
          </a:p>
          <a:p>
            <a:pPr marL="609600" indent="-6096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73329D7-8D05-B54D-89A2-BBEB6DAC647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Static member functions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769BA93-56B5-6469-C268-B5E364832BA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Properties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 static function can have access to only other static members (functions or variables)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 static member function can be called using the class name (instead of its objects) as follows:</a:t>
            </a:r>
          </a:p>
          <a:p>
            <a:pPr marL="990600" lvl="1" indent="-533400" algn="just" eaLnBrk="1" hangingPunct="1"/>
            <a:r>
              <a:rPr lang="en-US" altLang="en-US" sz="2400">
                <a:latin typeface="Times New Roman" panose="02020603050405020304" pitchFamily="18" charset="0"/>
              </a:rPr>
              <a:t>class-name :: function- name(args);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D08879-196C-2FE9-D65C-24B099A365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4343400" cy="6477000"/>
          </a:xfrm>
        </p:spPr>
        <p:txBody>
          <a:bodyPr/>
          <a:lstStyle/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#include &lt;iostream&gt;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using namespace std;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class stateg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static int count;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int code;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int number;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    public: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void setcode(void)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code = ++count;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static void showcount(void)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{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cout&lt;&lt;"count = "&lt;&lt;count&lt;&lt;"\n";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}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};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086AAB-1FD5-6C3B-2C3D-9267276F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6200"/>
            <a:ext cx="43434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 err="1">
                <a:latin typeface="Times New Roman" pitchFamily="18" charset="0"/>
              </a:rPr>
              <a:t>int</a:t>
            </a:r>
            <a:r>
              <a:rPr lang="en-US" sz="2800" kern="0" dirty="0">
                <a:latin typeface="Times New Roman" pitchFamily="18" charset="0"/>
              </a:rPr>
              <a:t> </a:t>
            </a:r>
            <a:r>
              <a:rPr lang="en-US" sz="2800" kern="0" dirty="0" err="1">
                <a:latin typeface="Times New Roman" pitchFamily="18" charset="0"/>
              </a:rPr>
              <a:t>stateg</a:t>
            </a:r>
            <a:r>
              <a:rPr lang="en-US" sz="2800" kern="0" dirty="0">
                <a:latin typeface="Times New Roman" pitchFamily="18" charset="0"/>
              </a:rPr>
              <a:t> :: count;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 err="1">
                <a:latin typeface="Times New Roman" pitchFamily="18" charset="0"/>
              </a:rPr>
              <a:t>int</a:t>
            </a:r>
            <a:r>
              <a:rPr lang="en-US" sz="2800" kern="0" dirty="0">
                <a:latin typeface="Times New Roman" pitchFamily="18" charset="0"/>
              </a:rPr>
              <a:t> main()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{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</a:t>
            </a:r>
            <a:r>
              <a:rPr lang="en-US" sz="2800" kern="0" dirty="0" err="1">
                <a:latin typeface="Times New Roman" pitchFamily="18" charset="0"/>
              </a:rPr>
              <a:t>stateg</a:t>
            </a:r>
            <a:r>
              <a:rPr lang="en-US" sz="2800" kern="0" dirty="0">
                <a:latin typeface="Times New Roman" pitchFamily="18" charset="0"/>
              </a:rPr>
              <a:t> </a:t>
            </a:r>
            <a:r>
              <a:rPr lang="en-US" sz="2800" kern="0" dirty="0" err="1">
                <a:latin typeface="Times New Roman" pitchFamily="18" charset="0"/>
              </a:rPr>
              <a:t>a,b</a:t>
            </a:r>
            <a:r>
              <a:rPr lang="en-US" sz="2800" kern="0" dirty="0">
                <a:latin typeface="Times New Roman" pitchFamily="18" charset="0"/>
              </a:rPr>
              <a:t>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</a:t>
            </a:r>
            <a:r>
              <a:rPr lang="en-US" sz="2800" kern="0" dirty="0" err="1">
                <a:latin typeface="Times New Roman" pitchFamily="18" charset="0"/>
              </a:rPr>
              <a:t>a.setcode</a:t>
            </a:r>
            <a:r>
              <a:rPr lang="en-US" sz="2800" kern="0" dirty="0">
                <a:latin typeface="Times New Roman" pitchFamily="18" charset="0"/>
              </a:rPr>
              <a:t>();	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      </a:t>
            </a:r>
            <a:r>
              <a:rPr lang="en-US" sz="2800" kern="0" dirty="0" err="1">
                <a:latin typeface="Times New Roman" pitchFamily="18" charset="0"/>
              </a:rPr>
              <a:t>a.showcount</a:t>
            </a:r>
            <a:r>
              <a:rPr lang="en-US" sz="2800" kern="0" dirty="0">
                <a:latin typeface="Times New Roman" pitchFamily="18" charset="0"/>
              </a:rPr>
              <a:t>();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</a:t>
            </a:r>
            <a:r>
              <a:rPr lang="en-US" sz="2800" kern="0" dirty="0" err="1">
                <a:latin typeface="Times New Roman" pitchFamily="18" charset="0"/>
              </a:rPr>
              <a:t>b.setcode</a:t>
            </a:r>
            <a:r>
              <a:rPr lang="en-US" sz="2800" kern="0" dirty="0">
                <a:latin typeface="Times New Roman" pitchFamily="18" charset="0"/>
              </a:rPr>
              <a:t>();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</a:t>
            </a:r>
            <a:r>
              <a:rPr lang="en-US" sz="2800" kern="0" dirty="0" err="1">
                <a:solidFill>
                  <a:srgbClr val="0066CC"/>
                </a:solidFill>
                <a:latin typeface="Times New Roman" pitchFamily="18" charset="0"/>
              </a:rPr>
              <a:t>stateg</a:t>
            </a:r>
            <a:r>
              <a:rPr lang="en-US" sz="2800" kern="0" dirty="0">
                <a:solidFill>
                  <a:srgbClr val="0066CC"/>
                </a:solidFill>
                <a:latin typeface="Times New Roman" pitchFamily="18" charset="0"/>
              </a:rPr>
              <a:t>::</a:t>
            </a:r>
            <a:r>
              <a:rPr lang="en-US" sz="2800" kern="0" dirty="0" err="1">
                <a:solidFill>
                  <a:srgbClr val="0066CC"/>
                </a:solidFill>
                <a:latin typeface="Times New Roman" pitchFamily="18" charset="0"/>
              </a:rPr>
              <a:t>showcount</a:t>
            </a:r>
            <a:r>
              <a:rPr lang="en-US" sz="2800" kern="0" dirty="0">
                <a:solidFill>
                  <a:srgbClr val="0066CC"/>
                </a:solidFill>
                <a:latin typeface="Times New Roman" pitchFamily="18" charset="0"/>
              </a:rPr>
              <a:t>();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</a:t>
            </a:r>
            <a:r>
              <a:rPr lang="en-US" sz="2000" kern="0" dirty="0" err="1">
                <a:solidFill>
                  <a:srgbClr val="CC3300"/>
                </a:solidFill>
                <a:latin typeface="Times New Roman" pitchFamily="18" charset="0"/>
              </a:rPr>
              <a:t>stateg.showcount</a:t>
            </a:r>
            <a:r>
              <a:rPr lang="en-US" sz="2000" kern="0" dirty="0">
                <a:solidFill>
                  <a:srgbClr val="CC3300"/>
                </a:solidFill>
                <a:latin typeface="Times New Roman" pitchFamily="18" charset="0"/>
              </a:rPr>
              <a:t>()//illegal      </a:t>
            </a:r>
            <a:endParaRPr lang="en-US" sz="2800" kern="0" dirty="0">
              <a:solidFill>
                <a:srgbClr val="CC3300"/>
              </a:solidFill>
              <a:latin typeface="Times New Roman" pitchFamily="18" charset="0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	return 0;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93B0F67-9CBF-33A8-E9DE-1E3485719F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Array of Objects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D5D20AE-5D21-AC1C-EF4E-B7E0163E53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We can have arrays of variables that are of the type class, such variables are called arrays of objects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item table[5];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	table[1].getdata(10);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00703E0-76EB-923B-05C8-BBFD41E725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Objects as function arguments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F6BA90A-DD45-38B1-6B3B-54AF5391D6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An object may be used as a function argument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It can be done by 2 ways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 copy of the entire object is passed to the function (pass by value)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Only the address of the object is transferred to the function (pass-by-reference)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 pass-by-reference method is more efficient since it requires to pass only the address of the object and not the entire object</a:t>
            </a:r>
          </a:p>
          <a:p>
            <a:pPr marL="609600" indent="-609600" algn="just" eaLnBrk="1" hangingPunct="1">
              <a:buFontTx/>
              <a:buChar char="•"/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EAE4207-DF33-6B7E-ABE9-B36BE2E541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4191000" cy="6477000"/>
          </a:xfrm>
        </p:spPr>
        <p:txBody>
          <a:bodyPr/>
          <a:lstStyle/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#include&lt;iostream&gt;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using namespace std;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class mytime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int hrs;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int mins;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public: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void gettime(int h, int m)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{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hrs=h;	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       mins=m;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}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void puttime(void)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{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cout &lt;&lt;hrs&lt;&lt;" hours and "&lt;&lt;mins&lt;&lt;" minutes"&lt;&lt;"\n";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 }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         void addtimes(mytime,mytime);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};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void mytime :: addtimes(mytime t1, mytime t2)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mins = t1.mins+t2.mins;	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hrs=mins/60;	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mins=mins%60;	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	hrs=hrs+t1.hrs+t2.hrs;</a:t>
            </a:r>
          </a:p>
          <a:p>
            <a:pPr marL="0" lvl="1"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  <a:p>
            <a:pPr marL="0" lvl="1" algn="l" eaLnBrk="1" hangingPunct="1">
              <a:lnSpc>
                <a:spcPct val="80000"/>
              </a:lnSpc>
            </a:pPr>
            <a:endParaRPr lang="en-US" altLang="en-US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BF813-8ABD-C821-A1EE-291539238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52400"/>
            <a:ext cx="4191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main()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{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</a:t>
            </a:r>
            <a:r>
              <a:rPr lang="en-US" sz="2400" kern="0" dirty="0" err="1">
                <a:latin typeface="+mn-lt"/>
              </a:rPr>
              <a:t>mytime</a:t>
            </a:r>
            <a:r>
              <a:rPr lang="en-US" sz="2400" kern="0" dirty="0">
                <a:latin typeface="+mn-lt"/>
              </a:rPr>
              <a:t> t1, t2, t3;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t1.gettime(3,40);	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t2.gettime(2,50);	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t3.addtimes(t1,t2);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</a:t>
            </a:r>
            <a:r>
              <a:rPr lang="en-US" sz="2400" kern="0" dirty="0" err="1">
                <a:latin typeface="+mn-lt"/>
              </a:rPr>
              <a:t>cout</a:t>
            </a:r>
            <a:r>
              <a:rPr lang="en-US" sz="2400" kern="0" dirty="0">
                <a:latin typeface="+mn-lt"/>
              </a:rPr>
              <a:t> &lt;&lt; "t1="; 	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           t1.puttime();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</a:t>
            </a:r>
            <a:r>
              <a:rPr lang="en-US" sz="2400" kern="0" dirty="0" err="1">
                <a:latin typeface="+mn-lt"/>
              </a:rPr>
              <a:t>cout</a:t>
            </a:r>
            <a:r>
              <a:rPr lang="en-US" sz="2400" kern="0" dirty="0">
                <a:latin typeface="+mn-lt"/>
              </a:rPr>
              <a:t> &lt;&lt; "t2=";	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t2.puttime();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</a:t>
            </a:r>
            <a:r>
              <a:rPr lang="en-US" sz="2400" kern="0" dirty="0" err="1">
                <a:latin typeface="+mn-lt"/>
              </a:rPr>
              <a:t>cout</a:t>
            </a:r>
            <a:r>
              <a:rPr lang="en-US" sz="2400" kern="0" dirty="0">
                <a:latin typeface="+mn-lt"/>
              </a:rPr>
              <a:t> &lt;&lt; "t3=";	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t3.puttime();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	return 0;</a:t>
            </a:r>
          </a:p>
          <a:p>
            <a:pPr marL="0" lvl="1" indent="-533400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+mn-lt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A754AB2-9C5D-CF1D-7330-1C04D85C9D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Friendly functions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5549D12-C0EF-F13A-C7CB-BA3C98D1F7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If two classes want to share a particular function, it is possible through </a:t>
            </a:r>
            <a:r>
              <a:rPr lang="en-US" altLang="en-US" sz="2800">
                <a:solidFill>
                  <a:srgbClr val="0066CC"/>
                </a:solidFill>
                <a:latin typeface="Times New Roman" panose="02020603050405020304" pitchFamily="18" charset="0"/>
              </a:rPr>
              <a:t>friend key word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Eg:  two classes have been defined and we would like to use a function to operate on the objects of both these classes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C++ allows the common function to be made friendly with both the classes, thereby allowing the function to have access to the private data of these classes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Such a function need not be a member of any of these classes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To make outside function friendly to a class, we have to declare this function as friend of the class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B2E603-1D1E-D479-8981-A5F3D580AD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class A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{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	…..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	……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public: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	……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	……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	friend void xyz(void);	//declaration</a:t>
            </a:r>
          </a:p>
          <a:p>
            <a:pPr marL="990600" lvl="1" indent="-533400" algn="l" eaLnBrk="1" hangingPunct="1">
              <a:lnSpc>
                <a:spcPct val="80000"/>
              </a:lnSpc>
            </a:pPr>
            <a:r>
              <a:rPr lang="en-US" altLang="en-US" sz="2400"/>
              <a:t>};</a:t>
            </a:r>
          </a:p>
          <a:p>
            <a:pPr marL="609600" indent="-609600" algn="l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/>
              <a:t>The function is defined elsewhere in the program like a C++ normal function</a:t>
            </a:r>
          </a:p>
          <a:p>
            <a:pPr marL="609600" indent="-609600" algn="l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/>
              <a:t>The function definition does not use either the keyword friend or ::</a:t>
            </a:r>
          </a:p>
          <a:p>
            <a:pPr marL="609600" indent="-609600" algn="l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/>
              <a:t>A function can be declared as a friend in any number of classes</a:t>
            </a:r>
          </a:p>
          <a:p>
            <a:pPr marL="609600" indent="-609600" algn="l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800"/>
              <a:t>It has full access rights to private members of the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5B820E9-C4EE-AA0F-B7B8-464593F62E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990600" lvl="1" indent="-533400" algn="just" eaLnBrk="1" hangingPunct="1">
              <a:lnSpc>
                <a:spcPct val="90000"/>
              </a:lnSpc>
            </a:pPr>
            <a:r>
              <a:rPr lang="en-US" altLang="en-US"/>
              <a:t>Special characteristics of friend functions: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It is not in the scope of the class to which it has been declared as friend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It cannot be called using the object of that class because it is not with in the scope of the class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It can be invoked like a normal function without the help of object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It cannot access the member names directly and has to use object name and dot membership operator with each member name (eg:A.x)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It can be declared either in the public or the private part of a class without affecting the meaning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/>
              <a:t>Usually, it has the objects as arguments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D38D357-04E1-16AF-1DCC-308E2AE9D0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4191000" cy="6477000"/>
          </a:xfrm>
        </p:spPr>
        <p:txBody>
          <a:bodyPr/>
          <a:lstStyle/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#include &lt;iostream&gt;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using namespace std;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class sample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int a;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int b;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public: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void setVal() 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    a=10;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    b=15;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}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        friend float mean(sample s);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};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float mean(sample s)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return float(s.a+s.b)/2.0;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1BE49-5393-0AAA-306C-12A8596C7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52400"/>
            <a:ext cx="4191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 err="1">
                <a:latin typeface="+mn-lt"/>
              </a:rPr>
              <a:t>int</a:t>
            </a:r>
            <a:r>
              <a:rPr lang="en-US" sz="2000" kern="0" dirty="0">
                <a:latin typeface="+mn-lt"/>
              </a:rPr>
              <a:t> main()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sample X;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</a:t>
            </a:r>
            <a:r>
              <a:rPr lang="en-US" sz="2000" kern="0" dirty="0" err="1">
                <a:latin typeface="+mn-lt"/>
              </a:rPr>
              <a:t>X.setVal</a:t>
            </a:r>
            <a:r>
              <a:rPr lang="en-US" sz="2000" kern="0" dirty="0">
                <a:latin typeface="+mn-lt"/>
              </a:rPr>
              <a:t>();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</a:t>
            </a:r>
            <a:r>
              <a:rPr lang="en-US" sz="2000" kern="0" dirty="0" err="1">
                <a:latin typeface="+mn-lt"/>
              </a:rPr>
              <a:t>cout</a:t>
            </a:r>
            <a:r>
              <a:rPr lang="en-US" sz="2000" kern="0" dirty="0">
                <a:latin typeface="+mn-lt"/>
              </a:rPr>
              <a:t>&lt;&lt;"mean value = "&lt;&lt;mean(X) &lt;&lt; </a:t>
            </a:r>
            <a:r>
              <a:rPr lang="en-US" sz="2000" kern="0" dirty="0" err="1">
                <a:latin typeface="+mn-lt"/>
              </a:rPr>
              <a:t>endl</a:t>
            </a:r>
            <a:r>
              <a:rPr lang="en-US" sz="2000" kern="0" dirty="0">
                <a:latin typeface="+mn-lt"/>
              </a:rPr>
              <a:t>;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	return 0;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+mn-lt"/>
              </a:rPr>
              <a:t>}</a:t>
            </a:r>
          </a:p>
          <a:p>
            <a:pPr marL="990600" lvl="1" indent="-533400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E003956-DCF8-7BE9-2061-88081BBC81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990600" lvl="1" indent="-5334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1800"/>
              <a:t>Member functions of one class can be friend functions of another class. In such cases, they are defined using the :: operator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class X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….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int fun1();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……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};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class Y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….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friend int X :: fun1();	//fun1() of X is a friend of Y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……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};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1800"/>
              <a:t>We can declare all the member functions of one class as the friend functions of another class, the class is called a friend class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class Z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….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friend class X;	// all the member functions fof X are friends of Z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	……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1800"/>
              <a:t>};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endParaRPr lang="en-US" altLang="en-US" sz="1800"/>
          </a:p>
          <a:p>
            <a:pPr marL="990600" lvl="1" indent="-533400" algn="just" eaLnBrk="1" hangingPunct="1">
              <a:lnSpc>
                <a:spcPct val="80000"/>
              </a:lnSpc>
            </a:pP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3E8A07B-4047-47EE-00EF-C9906F7F35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4191000" cy="6477000"/>
          </a:xfrm>
        </p:spPr>
        <p:txBody>
          <a:bodyPr/>
          <a:lstStyle/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#include &lt;iostream&gt;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using namespace std;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class class2;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class class1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int v1;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public: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     void setVal(int a)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      {v1=a;}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     void disp(void)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     {cout&lt;&lt;v1&lt;&lt;endl;}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          </a:t>
            </a:r>
            <a:r>
              <a:rPr lang="en-US" altLang="en-US" sz="1800">
                <a:solidFill>
                  <a:srgbClr val="0066CC"/>
                </a:solidFill>
                <a:latin typeface="Times New Roman" panose="02020603050405020304" pitchFamily="18" charset="0"/>
              </a:rPr>
              <a:t>friend void exchange(class1 &amp;, class2 &amp;);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class class2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{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int v2;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public: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void setVal(int a) {v2=a;}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void disp(void){cout&lt;&lt;v2&lt;&lt;endl;}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</a:t>
            </a:r>
            <a:r>
              <a:rPr lang="en-US" altLang="en-US" sz="1800">
                <a:solidFill>
                  <a:srgbClr val="0066CC"/>
                </a:solidFill>
                <a:latin typeface="Times New Roman" panose="02020603050405020304" pitchFamily="18" charset="0"/>
              </a:rPr>
              <a:t>friend void exchange(class1 &amp;, class2 &amp;);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67F47-97AA-1CC6-E77C-F889D0FF7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"/>
            <a:ext cx="4191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void exchange(class1 &amp;x, class2 &amp;y)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{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</a:t>
            </a:r>
            <a:r>
              <a:rPr lang="en-US" kern="0" dirty="0" err="1">
                <a:latin typeface="Times New Roman" pitchFamily="18" charset="0"/>
              </a:rPr>
              <a:t>int</a:t>
            </a:r>
            <a:r>
              <a:rPr lang="en-US" kern="0" dirty="0">
                <a:latin typeface="Times New Roman" pitchFamily="18" charset="0"/>
              </a:rPr>
              <a:t> t = x.v1;	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                x.v1 = y.v2;	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                y.v2=t;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}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lang="en-US" kern="0" dirty="0">
              <a:latin typeface="Times New Roman" pitchFamily="18" charset="0"/>
            </a:endParaRP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 err="1">
                <a:latin typeface="Times New Roman" pitchFamily="18" charset="0"/>
              </a:rPr>
              <a:t>int</a:t>
            </a:r>
            <a:r>
              <a:rPr lang="en-US" kern="0" dirty="0">
                <a:latin typeface="Times New Roman" pitchFamily="18" charset="0"/>
              </a:rPr>
              <a:t> main()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{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class1 C1;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class2 C2;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C1.setVal(10);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C2.setVal(20);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</a:t>
            </a:r>
            <a:r>
              <a:rPr lang="en-US" kern="0" dirty="0" err="1">
                <a:latin typeface="Times New Roman" pitchFamily="18" charset="0"/>
              </a:rPr>
              <a:t>cout</a:t>
            </a:r>
            <a:r>
              <a:rPr lang="en-US" kern="0" dirty="0">
                <a:latin typeface="Times New Roman" pitchFamily="18" charset="0"/>
              </a:rPr>
              <a:t> &lt;&lt; "values before exchange  " &lt;&lt; </a:t>
            </a:r>
            <a:r>
              <a:rPr lang="en-US" kern="0" dirty="0" err="1">
                <a:latin typeface="Times New Roman" pitchFamily="18" charset="0"/>
              </a:rPr>
              <a:t>endl</a:t>
            </a:r>
            <a:r>
              <a:rPr lang="en-US" kern="0" dirty="0">
                <a:latin typeface="Times New Roman" pitchFamily="18" charset="0"/>
              </a:rPr>
              <a:t>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C1.disp();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C2.disp();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exchange(C1,C2);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</a:t>
            </a:r>
            <a:r>
              <a:rPr lang="en-US" kern="0" dirty="0" err="1">
                <a:latin typeface="Times New Roman" pitchFamily="18" charset="0"/>
              </a:rPr>
              <a:t>cout</a:t>
            </a:r>
            <a:r>
              <a:rPr lang="en-US" kern="0" dirty="0">
                <a:latin typeface="Times New Roman" pitchFamily="18" charset="0"/>
              </a:rPr>
              <a:t> &lt;&lt; "values after exchange " &lt;&lt; </a:t>
            </a:r>
            <a:r>
              <a:rPr lang="en-US" kern="0" dirty="0" err="1">
                <a:latin typeface="Times New Roman" pitchFamily="18" charset="0"/>
              </a:rPr>
              <a:t>endl</a:t>
            </a:r>
            <a:r>
              <a:rPr lang="en-US" kern="0" dirty="0">
                <a:latin typeface="Times New Roman" pitchFamily="18" charset="0"/>
              </a:rPr>
              <a:t>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C1.disp();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C2.disp();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	return 0;</a:t>
            </a:r>
          </a:p>
          <a:p>
            <a:pPr marL="0" lvl="1" algn="just" eaLnBrk="1" hangingPunct="1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C0EC565-B3BC-191B-8FCF-3D0C3754FE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Returning objects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0503A6B-2C1B-C2C9-F1F3-AC710851D9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7620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 function can return an object also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	X s(X,X); 	// X is a class </a:t>
            </a:r>
          </a:p>
          <a:p>
            <a:pPr marL="609600" indent="-609600" algn="just" eaLnBrk="1" hangingPunct="1"/>
            <a:r>
              <a:rPr lang="en-US" altLang="en-US" sz="2800"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BDA920E-DB8B-5E96-B636-1B0A15CB2C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constant member function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DA0A8E6-290F-4E73-B113-286EC40D3F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7620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3000"/>
              <a:t>A function becomes const when the const keyword is used in the function’s declaration. 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3000"/>
              <a:t>The idea of const functions is not to allow them to modify the object on which they are called.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3000"/>
              <a:t>It is recommended the practice to make as many functions const as possible so that accidental changes to objects are avoided.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3000"/>
              <a:t>When a function is declared as const, it can be called on any type of object. Non-const functions can only be called by non-const objects.</a:t>
            </a:r>
            <a:endParaRPr lang="en-US" altLang="en-US" sz="3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283BDAF-6E33-6142-0AF6-AE54034C5B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// constant member function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#include&lt;iostream&gt;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using namespace std;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class Test {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int value;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public: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void getv(int v) {value = v;}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 We get compiler error if we add a line like "value = 100;"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// in this function.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int getValue() const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{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    //this fn can use the data but can‘t modify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    return value;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 }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}; </a:t>
            </a:r>
          </a:p>
          <a:p>
            <a:pPr marL="0" lvl="1" algn="just" eaLnBrk="1" hangingPunct="1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int main() {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Test t;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t.getv(20);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cout&lt;&lt;t.getValue();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return 0;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8408397-C947-804A-23C7-05BA16AF48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#include&lt;iostream&gt;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using namespace std; </a:t>
            </a:r>
          </a:p>
          <a:p>
            <a:pPr marL="0" lvl="1" algn="just" eaLnBrk="1" hangingPunct="1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class Test {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int value;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public: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Test(int v = 0) {value = v;}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int getValue() const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{return value;}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}; </a:t>
            </a:r>
          </a:p>
          <a:p>
            <a:pPr marL="0" lvl="1" algn="just" eaLnBrk="1" hangingPunct="1">
              <a:lnSpc>
                <a:spcPct val="8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int main() {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const Test t;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Test t1;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cout &lt;&lt; t1.getValue();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cout &lt;&lt; t.getValue();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	return 0; </a:t>
            </a:r>
          </a:p>
          <a:p>
            <a:pPr marL="0" lvl="1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}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</TotalTime>
  <Words>1746</Words>
  <Application>Microsoft Office PowerPoint</Application>
  <PresentationFormat>On-screen Show (4:3)</PresentationFormat>
  <Paragraphs>284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Default Design</vt:lpstr>
      <vt:lpstr>Static data members</vt:lpstr>
      <vt:lpstr>PowerPoint Presentation</vt:lpstr>
      <vt:lpstr>Static member functions</vt:lpstr>
      <vt:lpstr>PowerPoint Presentation</vt:lpstr>
      <vt:lpstr>Array of Objects</vt:lpstr>
      <vt:lpstr>Objects as function arguments</vt:lpstr>
      <vt:lpstr>PowerPoint Presentation</vt:lpstr>
      <vt:lpstr>Friendly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Returning objects</vt:lpstr>
      <vt:lpstr>constant member function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612</cp:revision>
  <cp:lastPrinted>1601-01-01T00:00:00Z</cp:lastPrinted>
  <dcterms:created xsi:type="dcterms:W3CDTF">1601-01-01T00:00:00Z</dcterms:created>
  <dcterms:modified xsi:type="dcterms:W3CDTF">2026-04-07T06:27:28Z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