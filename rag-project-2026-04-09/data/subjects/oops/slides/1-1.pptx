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2"/>
  </p:handout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86" r:id="rId19"/>
    <p:sldId id="287" r:id="rId20"/>
    <p:sldId id="285" r:id="rId21"/>
  </p:sldIdLst>
  <p:sldSz cx="9144000" cy="6858000" type="screen4x3"/>
  <p:notesSz cx="6761163" cy="9942513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00CC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61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BB49CF2-5283-A741-C324-3E858354640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5B99F39-E37A-9AB3-CEF6-BF9764CFB07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305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E2481390-3EB4-0068-ED03-ACCA847D676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4038"/>
            <a:ext cx="293052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ECC2D95-495E-1729-FC15-16AB7EF8F3C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818808E-550A-4784-8880-0BFBC58F475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A07E80-81CD-2BD8-B6BD-9B1DC10B38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C5BF57-9FF6-1B72-7C19-BC2A9360B0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93F4B5-1C33-DC9B-A132-15741015CC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95BDC8-C646-4E24-A5D0-06AB0F847D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472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CF82EE-1411-F7F2-522A-14736E97EB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6D1E03-5A04-7DD1-CF4A-A8FBBADC38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25C5FE-F769-009F-1973-0CFCFAE721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9BB450-B925-429F-BCCC-9A2EC5AD13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2476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2B2B1D-81F4-B21B-EBAD-B6B8F519B9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88DFD4-BC8D-7958-32C8-7C3115956A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337AD4-87D2-122F-4F01-ABD074BF66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A51DE2-21D7-48F5-93E3-1A868ED8C2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6315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10136B-AD64-6551-89A4-D28D9C7A62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6EBEF3-60E3-A441-7C08-DB8414C5BA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894C67-A5EE-E4BE-E679-C9F47019EB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61D866-974E-4A76-B8EC-3F69B7BB5A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2108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54B4273-B459-8C88-B105-CEA8D22593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EB94F6D-A563-1D7B-6F34-95C11EF17D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F274293-39F2-1F7E-3DB5-056AF81529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09ACA4-FE54-48D2-9263-20FD50B284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751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281AC56-A569-6EAD-CB25-5327BE643A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A77751B-92E5-E205-5DE5-3F8431554A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1EF1ADB-506C-2B09-5087-580801068D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A632DD-7F9C-443F-97ED-9730EC21FE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2009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F207A25-72DC-C468-04B4-5FF9683DE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FAC3CF1-B83B-8451-3243-CCF1F9C1C6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2D1AAAE-EE06-52DA-5646-8A72B5E740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FDA6C-1CAD-4E89-B5E7-37D35BDED9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0454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0D12FC-EDEA-FBC1-ED25-7628832C30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0F606A-CA72-CBE2-0670-A2FFCD0485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E7949D-BF71-05C9-65A4-9AF3E7CBD1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98A13E-168D-401A-8642-8AF80AB310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663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4E10DA-86F3-1E5D-EF47-0C25714025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B5E6C-DA5D-BF27-19FE-68DF922EF7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614C39-C03D-5D14-FD0C-D76EAB2BB3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8468DF-2C4C-4A46-A0D9-83D9A9C956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1525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E23C63-1751-EDD4-4F16-E6010AF01E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F207BE-6001-61D1-5BDC-3E01552828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E417DE-8121-86DD-CB41-38A8DA0A85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044B60-E4E6-43B1-AA8A-F3B662467C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736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48F7C7-6801-B77F-907E-AE417A1FE5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C2569C-F6FD-93A9-7A74-BDCBCE6FF4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01A66E-BC0D-AFFB-259B-F0C11115E1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51E23E-61BE-4412-A359-49499612B1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65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F5EAF1D-73A9-CE2D-ED20-76CA8C5B4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D99803D-C226-C10A-8D12-D9645AB22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4B7B371-5F96-D4E5-1A78-E8D2B44C956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20A701B-B302-CCAB-82FA-E36DAC2A3B9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000A50E-9C47-F2A3-94D9-D03489CC95E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E9F2B5E5-159F-4ADC-8FA4-145F13E89C5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>
            <a:extLst>
              <a:ext uri="{FF2B5EF4-FFF2-40B4-BE49-F238E27FC236}">
                <a16:creationId xmlns:a16="http://schemas.microsoft.com/office/drawing/2014/main" id="{BF46D784-8378-F10F-7C3B-EC05A7C451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</p:spPr>
        <p:txBody>
          <a:bodyPr/>
          <a:lstStyle/>
          <a:p>
            <a:pPr algn="l" eaLnBrk="1" hangingPunct="1"/>
            <a:r>
              <a:rPr lang="en-US" altLang="en-US" sz="3600">
                <a:solidFill>
                  <a:srgbClr val="FF3300"/>
                </a:solidFill>
                <a:latin typeface="Times New Roman" panose="02020603050405020304" pitchFamily="18" charset="0"/>
              </a:rPr>
              <a:t>Two Paradigms</a:t>
            </a:r>
          </a:p>
        </p:txBody>
      </p:sp>
      <p:sp>
        <p:nvSpPr>
          <p:cNvPr id="2051" name="Rectangle 6">
            <a:extLst>
              <a:ext uri="{FF2B5EF4-FFF2-40B4-BE49-F238E27FC236}">
                <a16:creationId xmlns:a16="http://schemas.microsoft.com/office/drawing/2014/main" id="{9C8EE8A4-5047-26F0-F266-07EE00C4F9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763000" cy="6019800"/>
          </a:xfrm>
        </p:spPr>
        <p:txBody>
          <a:bodyPr/>
          <a:lstStyle/>
          <a:p>
            <a:pPr marL="609600" indent="-609600" algn="just" eaLnBrk="1" hangingPunct="1"/>
            <a:r>
              <a:rPr lang="en-US" altLang="en-US"/>
              <a:t>All computer programs consist of two elements: code and data. 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a program can be conceptually organized around its code or around its data.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some programs are written around “what is happening” and this model is called as </a:t>
            </a:r>
            <a:r>
              <a:rPr lang="en-US" altLang="en-US" i="1"/>
              <a:t>procedure-oriented model or programming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some programs are written around “who is being affected.” this model is called as </a:t>
            </a:r>
            <a:r>
              <a:rPr lang="en-US" altLang="en-US" i="1"/>
              <a:t>object-oriented programming</a:t>
            </a:r>
          </a:p>
          <a:p>
            <a:pPr marL="609600" indent="-609600" algn="just" eaLnBrk="1" hangingPunct="1">
              <a:buFontTx/>
              <a:buChar char="•"/>
            </a:pP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>
            <a:extLst>
              <a:ext uri="{FF2B5EF4-FFF2-40B4-BE49-F238E27FC236}">
                <a16:creationId xmlns:a16="http://schemas.microsoft.com/office/drawing/2014/main" id="{0D1BFA94-2ED1-5C2B-EBAE-B96D496198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22098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sz="2000"/>
              <a:t>This approach characterizes a program as a series of linear steps (that is, code).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000"/>
              <a:t>This Model can be thought of as </a:t>
            </a:r>
            <a:r>
              <a:rPr lang="en-US" altLang="en-US" sz="2000" i="1"/>
              <a:t>code acting on data.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000"/>
              <a:t>Procedural languages such as C employ this model to considerable success. However, problems with this approach appear as programs grow larger and more complex.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41D114D1-B339-945B-E4F4-6DC8BA99353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  <a:noFill/>
        </p:spPr>
        <p:txBody>
          <a:bodyPr/>
          <a:lstStyle/>
          <a:p>
            <a:pPr algn="l" eaLnBrk="1" hangingPunct="1"/>
            <a:r>
              <a:rPr lang="en-US" altLang="en-US" sz="3200" i="1">
                <a:solidFill>
                  <a:srgbClr val="FF3300"/>
                </a:solidFill>
              </a:rPr>
              <a:t>procedure-oriented programming</a:t>
            </a:r>
          </a:p>
        </p:txBody>
      </p:sp>
      <p:sp>
        <p:nvSpPr>
          <p:cNvPr id="3076" name="Oval 6">
            <a:extLst>
              <a:ext uri="{FF2B5EF4-FFF2-40B4-BE49-F238E27FC236}">
                <a16:creationId xmlns:a16="http://schemas.microsoft.com/office/drawing/2014/main" id="{BC8F10C9-299B-251B-30CA-6886E0DFC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743200"/>
            <a:ext cx="9906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/>
              <a:t>Main</a:t>
            </a:r>
          </a:p>
          <a:p>
            <a:r>
              <a:rPr lang="en-US" altLang="en-US" sz="1600"/>
              <a:t>Program</a:t>
            </a:r>
          </a:p>
        </p:txBody>
      </p:sp>
      <p:sp>
        <p:nvSpPr>
          <p:cNvPr id="3077" name="Oval 7">
            <a:extLst>
              <a:ext uri="{FF2B5EF4-FFF2-40B4-BE49-F238E27FC236}">
                <a16:creationId xmlns:a16="http://schemas.microsoft.com/office/drawing/2014/main" id="{DACB7A4C-DF6F-6D0E-4641-FA8FAD34B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657600"/>
            <a:ext cx="9906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/>
              <a:t>Function </a:t>
            </a:r>
          </a:p>
          <a:p>
            <a:r>
              <a:rPr lang="en-US" altLang="en-US" sz="1600"/>
              <a:t>1</a:t>
            </a:r>
          </a:p>
        </p:txBody>
      </p:sp>
      <p:sp>
        <p:nvSpPr>
          <p:cNvPr id="3078" name="Oval 8">
            <a:extLst>
              <a:ext uri="{FF2B5EF4-FFF2-40B4-BE49-F238E27FC236}">
                <a16:creationId xmlns:a16="http://schemas.microsoft.com/office/drawing/2014/main" id="{E94052D1-10D0-9726-D3CF-805F08F00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657600"/>
            <a:ext cx="9906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/>
              <a:t>Function</a:t>
            </a:r>
          </a:p>
          <a:p>
            <a:r>
              <a:rPr lang="en-US" altLang="en-US" sz="1600"/>
              <a:t>3</a:t>
            </a:r>
          </a:p>
        </p:txBody>
      </p:sp>
      <p:sp>
        <p:nvSpPr>
          <p:cNvPr id="3079" name="Oval 9">
            <a:extLst>
              <a:ext uri="{FF2B5EF4-FFF2-40B4-BE49-F238E27FC236}">
                <a16:creationId xmlns:a16="http://schemas.microsoft.com/office/drawing/2014/main" id="{6DA84EA3-3266-9AB5-7F0D-143458893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4343400"/>
            <a:ext cx="9906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/>
              <a:t>Function</a:t>
            </a:r>
          </a:p>
          <a:p>
            <a:r>
              <a:rPr lang="en-US" altLang="en-US" sz="1600"/>
              <a:t>2</a:t>
            </a:r>
          </a:p>
        </p:txBody>
      </p:sp>
      <p:sp>
        <p:nvSpPr>
          <p:cNvPr id="3080" name="Oval 10">
            <a:extLst>
              <a:ext uri="{FF2B5EF4-FFF2-40B4-BE49-F238E27FC236}">
                <a16:creationId xmlns:a16="http://schemas.microsoft.com/office/drawing/2014/main" id="{74707D60-F2C9-AAD7-C4E5-AB8BFF980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105400"/>
            <a:ext cx="9906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/>
              <a:t>Function</a:t>
            </a:r>
          </a:p>
          <a:p>
            <a:r>
              <a:rPr lang="en-US" altLang="en-US" sz="1600"/>
              <a:t>4</a:t>
            </a:r>
          </a:p>
        </p:txBody>
      </p:sp>
      <p:sp>
        <p:nvSpPr>
          <p:cNvPr id="3081" name="Oval 11">
            <a:extLst>
              <a:ext uri="{FF2B5EF4-FFF2-40B4-BE49-F238E27FC236}">
                <a16:creationId xmlns:a16="http://schemas.microsoft.com/office/drawing/2014/main" id="{87ED0410-628F-7EFF-C275-5BCF4C38C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105400"/>
            <a:ext cx="9906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/>
              <a:t>Function</a:t>
            </a:r>
          </a:p>
          <a:p>
            <a:r>
              <a:rPr lang="en-US" altLang="en-US" sz="1600"/>
              <a:t>5</a:t>
            </a:r>
          </a:p>
        </p:txBody>
      </p:sp>
      <p:sp>
        <p:nvSpPr>
          <p:cNvPr id="3082" name="Oval 12">
            <a:extLst>
              <a:ext uri="{FF2B5EF4-FFF2-40B4-BE49-F238E27FC236}">
                <a16:creationId xmlns:a16="http://schemas.microsoft.com/office/drawing/2014/main" id="{6B159508-A2DD-604E-951A-4AEC82236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943600"/>
            <a:ext cx="9906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/>
              <a:t>Function</a:t>
            </a:r>
          </a:p>
          <a:p>
            <a:r>
              <a:rPr lang="en-US" altLang="en-US" sz="1600"/>
              <a:t>7</a:t>
            </a:r>
          </a:p>
        </p:txBody>
      </p:sp>
      <p:sp>
        <p:nvSpPr>
          <p:cNvPr id="3083" name="Oval 13">
            <a:extLst>
              <a:ext uri="{FF2B5EF4-FFF2-40B4-BE49-F238E27FC236}">
                <a16:creationId xmlns:a16="http://schemas.microsoft.com/office/drawing/2014/main" id="{57C3FDBD-20D4-9E96-A102-9AE1FE418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943600"/>
            <a:ext cx="9906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/>
              <a:t>Function</a:t>
            </a:r>
          </a:p>
          <a:p>
            <a:r>
              <a:rPr lang="en-US" altLang="en-US" sz="1600"/>
              <a:t>8</a:t>
            </a:r>
          </a:p>
        </p:txBody>
      </p:sp>
      <p:sp>
        <p:nvSpPr>
          <p:cNvPr id="3084" name="Oval 14">
            <a:extLst>
              <a:ext uri="{FF2B5EF4-FFF2-40B4-BE49-F238E27FC236}">
                <a16:creationId xmlns:a16="http://schemas.microsoft.com/office/drawing/2014/main" id="{20D9BBAF-E91C-5A65-FB31-55A1B5227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943600"/>
            <a:ext cx="9906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/>
              <a:t>Function</a:t>
            </a:r>
          </a:p>
          <a:p>
            <a:r>
              <a:rPr lang="en-US" altLang="en-US" sz="1600"/>
              <a:t>6</a:t>
            </a:r>
          </a:p>
        </p:txBody>
      </p:sp>
      <p:sp>
        <p:nvSpPr>
          <p:cNvPr id="3085" name="Line 15">
            <a:extLst>
              <a:ext uri="{FF2B5EF4-FFF2-40B4-BE49-F238E27FC236}">
                <a16:creationId xmlns:a16="http://schemas.microsoft.com/office/drawing/2014/main" id="{66995165-34C4-ECA4-9CEA-22CB0B5447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3276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86" name="Line 16">
            <a:extLst>
              <a:ext uri="{FF2B5EF4-FFF2-40B4-BE49-F238E27FC236}">
                <a16:creationId xmlns:a16="http://schemas.microsoft.com/office/drawing/2014/main" id="{E3CCD781-CCA7-4ABE-4804-051AEA22E5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4876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87" name="Line 17">
            <a:extLst>
              <a:ext uri="{FF2B5EF4-FFF2-40B4-BE49-F238E27FC236}">
                <a16:creationId xmlns:a16="http://schemas.microsoft.com/office/drawing/2014/main" id="{F8645435-BC5B-5308-64B0-83A20F46B0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5715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88" name="Line 18">
            <a:extLst>
              <a:ext uri="{FF2B5EF4-FFF2-40B4-BE49-F238E27FC236}">
                <a16:creationId xmlns:a16="http://schemas.microsoft.com/office/drawing/2014/main" id="{3FBAD968-FFE6-12A5-A30A-6FFDE976BE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276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89" name="Line 19">
            <a:extLst>
              <a:ext uri="{FF2B5EF4-FFF2-40B4-BE49-F238E27FC236}">
                <a16:creationId xmlns:a16="http://schemas.microsoft.com/office/drawing/2014/main" id="{09718E6F-0CC8-4803-2652-E6286D69BA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429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90" name="Line 20">
            <a:extLst>
              <a:ext uri="{FF2B5EF4-FFF2-40B4-BE49-F238E27FC236}">
                <a16:creationId xmlns:a16="http://schemas.microsoft.com/office/drawing/2014/main" id="{11345087-C3F8-464D-670C-646A45B30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876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91" name="Line 21">
            <a:extLst>
              <a:ext uri="{FF2B5EF4-FFF2-40B4-BE49-F238E27FC236}">
                <a16:creationId xmlns:a16="http://schemas.microsoft.com/office/drawing/2014/main" id="{7A13220F-E996-E036-A958-9D7167475E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343400"/>
            <a:ext cx="152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92" name="Line 22">
            <a:extLst>
              <a:ext uri="{FF2B5EF4-FFF2-40B4-BE49-F238E27FC236}">
                <a16:creationId xmlns:a16="http://schemas.microsoft.com/office/drawing/2014/main" id="{DEA40EBF-5EB3-0141-6B41-13F441834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343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93" name="Line 23">
            <a:extLst>
              <a:ext uri="{FF2B5EF4-FFF2-40B4-BE49-F238E27FC236}">
                <a16:creationId xmlns:a16="http://schemas.microsoft.com/office/drawing/2014/main" id="{70ACCD14-5975-C268-3397-9ECA713EA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0292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94" name="Line 24">
            <a:extLst>
              <a:ext uri="{FF2B5EF4-FFF2-40B4-BE49-F238E27FC236}">
                <a16:creationId xmlns:a16="http://schemas.microsoft.com/office/drawing/2014/main" id="{7D88B350-CB47-A292-9584-9C28C2B72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56388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95" name="Line 25">
            <a:extLst>
              <a:ext uri="{FF2B5EF4-FFF2-40B4-BE49-F238E27FC236}">
                <a16:creationId xmlns:a16="http://schemas.microsoft.com/office/drawing/2014/main" id="{25876F8B-FCF4-1BE5-C967-00181DF2EB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5638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96" name="Line 26">
            <a:extLst>
              <a:ext uri="{FF2B5EF4-FFF2-40B4-BE49-F238E27FC236}">
                <a16:creationId xmlns:a16="http://schemas.microsoft.com/office/drawing/2014/main" id="{E330D9B8-6367-C7D6-2893-AB65D4DD26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56388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7E3E5B3-FAF7-52AB-8D1F-BCF1503EE6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5943600"/>
          </a:xfrm>
        </p:spPr>
        <p:txBody>
          <a:bodyPr/>
          <a:lstStyle/>
          <a:p>
            <a:pPr marL="609600" indent="-609600" eaLnBrk="1" hangingPunct="1"/>
            <a:r>
              <a:rPr lang="en-US" altLang="en-US" sz="2800"/>
              <a:t>Focus is on procedures</a:t>
            </a:r>
          </a:p>
          <a:p>
            <a:pPr marL="609600" indent="-609600" eaLnBrk="1" hangingPunct="1"/>
            <a:r>
              <a:rPr lang="en-US" altLang="en-US" sz="2800"/>
              <a:t>All data is shared: no protection</a:t>
            </a:r>
          </a:p>
          <a:p>
            <a:pPr marL="609600" indent="-609600" eaLnBrk="1" hangingPunct="1"/>
            <a:r>
              <a:rPr lang="en-US" altLang="en-US" sz="2800"/>
              <a:t>More difficult to modify</a:t>
            </a:r>
          </a:p>
          <a:p>
            <a:pPr marL="609600" indent="-609600" eaLnBrk="1" hangingPunct="1"/>
            <a:r>
              <a:rPr lang="en-US" altLang="en-US" sz="2800"/>
              <a:t>Hard to manage complexity</a:t>
            </a:r>
            <a:endParaRPr lang="en-US" altLang="en-US" sz="2800">
              <a:solidFill>
                <a:srgbClr val="FF3300"/>
              </a:solidFill>
            </a:endParaRPr>
          </a:p>
          <a:p>
            <a:pPr marL="609600" indent="-609600" algn="just" eaLnBrk="1" hangingPunct="1"/>
            <a:r>
              <a:rPr lang="en-US" altLang="en-US" sz="2800">
                <a:solidFill>
                  <a:srgbClr val="FF3300"/>
                </a:solidFill>
              </a:rPr>
              <a:t>Characteristics:</a:t>
            </a:r>
          </a:p>
          <a:p>
            <a:pPr marL="990600" lvl="1" indent="-533400" algn="just" eaLnBrk="1" hangingPunct="1">
              <a:buFontTx/>
              <a:buChar char="–"/>
            </a:pPr>
            <a:r>
              <a:rPr lang="en-US" altLang="en-US" sz="2400" i="1"/>
              <a:t>Emphasis is on doing things ie algorithms</a:t>
            </a:r>
          </a:p>
          <a:p>
            <a:pPr marL="990600" lvl="1" indent="-533400" algn="just" eaLnBrk="1" hangingPunct="1">
              <a:buFontTx/>
              <a:buChar char="–"/>
            </a:pPr>
            <a:r>
              <a:rPr lang="en-US" altLang="en-US" sz="2400" i="1"/>
              <a:t>Large programs are divided into smaller programs known as functions</a:t>
            </a:r>
          </a:p>
          <a:p>
            <a:pPr marL="990600" lvl="1" indent="-533400" algn="just" eaLnBrk="1" hangingPunct="1">
              <a:buFontTx/>
              <a:buChar char="–"/>
            </a:pPr>
            <a:r>
              <a:rPr lang="en-US" altLang="en-US" sz="2400" i="1"/>
              <a:t>Most of the functions share global data</a:t>
            </a:r>
          </a:p>
          <a:p>
            <a:pPr marL="990600" lvl="1" indent="-533400" algn="just" eaLnBrk="1" hangingPunct="1">
              <a:buFontTx/>
              <a:buChar char="–"/>
            </a:pPr>
            <a:r>
              <a:rPr lang="en-US" altLang="en-US" sz="2400" i="1"/>
              <a:t>Data move openly around the system from function to function</a:t>
            </a:r>
          </a:p>
          <a:p>
            <a:pPr marL="990600" lvl="1" indent="-533400" algn="just" eaLnBrk="1" hangingPunct="1">
              <a:buFontTx/>
              <a:buChar char="–"/>
            </a:pPr>
            <a:r>
              <a:rPr lang="en-US" altLang="en-US" sz="2400" i="1"/>
              <a:t>Functions transform data from one form to another</a:t>
            </a:r>
          </a:p>
          <a:p>
            <a:pPr marL="990600" lvl="1" indent="-533400" algn="just" eaLnBrk="1" hangingPunct="1">
              <a:buFontTx/>
              <a:buChar char="–"/>
            </a:pPr>
            <a:r>
              <a:rPr lang="en-US" altLang="en-US" sz="2400" i="1"/>
              <a:t>Employs top-down approach in program design</a:t>
            </a:r>
          </a:p>
          <a:p>
            <a:pPr marL="609600" indent="-609600" algn="just" eaLnBrk="1" hangingPunct="1">
              <a:buFontTx/>
              <a:buChar char="•"/>
            </a:pPr>
            <a:endParaRPr lang="en-US" altLang="en-US" sz="280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7447A34-9662-3A07-8B86-9E410E9805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  <a:noFill/>
        </p:spPr>
        <p:txBody>
          <a:bodyPr/>
          <a:lstStyle/>
          <a:p>
            <a:pPr algn="l" eaLnBrk="1" hangingPunct="1"/>
            <a:r>
              <a:rPr lang="en-US" altLang="en-US" sz="3200" i="1">
                <a:solidFill>
                  <a:srgbClr val="FF3300"/>
                </a:solidFill>
              </a:rPr>
              <a:t>procedure-oriented programming contd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FD7DEC6-04C2-2DD4-54AD-312385F4F7F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organizes a program around its data (that is, objects) and a set of well-defined interfaces to that data.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An object-oriented program can be characterized as </a:t>
            </a:r>
            <a:r>
              <a:rPr lang="en-US" altLang="en-US" i="1"/>
              <a:t>data controlling access to code.</a:t>
            </a:r>
          </a:p>
          <a:p>
            <a:pPr marL="609600" indent="-609600" algn="just" eaLnBrk="1" hangingPunct="1">
              <a:buFontTx/>
              <a:buChar char="•"/>
            </a:pPr>
            <a:endParaRPr lang="en-US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A397E89-75B2-1B9A-A948-0898374BF4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  <a:noFill/>
        </p:spPr>
        <p:txBody>
          <a:bodyPr/>
          <a:lstStyle/>
          <a:p>
            <a:pPr algn="l" eaLnBrk="1" hangingPunct="1"/>
            <a:r>
              <a:rPr lang="en-US" altLang="en-US" sz="3200" i="1">
                <a:solidFill>
                  <a:srgbClr val="FF3300"/>
                </a:solidFill>
              </a:rPr>
              <a:t>Object-oriented programming</a:t>
            </a:r>
          </a:p>
        </p:txBody>
      </p:sp>
      <p:sp>
        <p:nvSpPr>
          <p:cNvPr id="5124" name="Oval 4">
            <a:extLst>
              <a:ext uri="{FF2B5EF4-FFF2-40B4-BE49-F238E27FC236}">
                <a16:creationId xmlns:a16="http://schemas.microsoft.com/office/drawing/2014/main" id="{D90B71C4-3E38-347D-A7F7-3DD728309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657600"/>
            <a:ext cx="2819400" cy="2667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/>
              <a:t>Function    Function</a:t>
            </a:r>
          </a:p>
          <a:p>
            <a:pPr algn="l"/>
            <a:endParaRPr lang="en-US" altLang="en-US"/>
          </a:p>
          <a:p>
            <a:pPr algn="l"/>
            <a:endParaRPr lang="en-US" altLang="en-US"/>
          </a:p>
          <a:p>
            <a:pPr algn="l"/>
            <a:endParaRPr lang="en-US" altLang="en-US"/>
          </a:p>
          <a:p>
            <a:pPr algn="l"/>
            <a:endParaRPr lang="en-US" altLang="en-US"/>
          </a:p>
          <a:p>
            <a:pPr algn="l"/>
            <a:r>
              <a:rPr lang="en-US" altLang="en-US"/>
              <a:t>Function     Function</a:t>
            </a:r>
          </a:p>
        </p:txBody>
      </p:sp>
      <p:sp>
        <p:nvSpPr>
          <p:cNvPr id="5125" name="Oval 5">
            <a:extLst>
              <a:ext uri="{FF2B5EF4-FFF2-40B4-BE49-F238E27FC236}">
                <a16:creationId xmlns:a16="http://schemas.microsoft.com/office/drawing/2014/main" id="{F538F351-86C3-9ECA-437D-F9A9912CA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572000"/>
            <a:ext cx="8382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Data</a:t>
            </a:r>
          </a:p>
        </p:txBody>
      </p:sp>
      <p:sp>
        <p:nvSpPr>
          <p:cNvPr id="5126" name="Line 6">
            <a:extLst>
              <a:ext uri="{FF2B5EF4-FFF2-40B4-BE49-F238E27FC236}">
                <a16:creationId xmlns:a16="http://schemas.microsoft.com/office/drawing/2014/main" id="{0FBEA823-FA37-BE0E-82BC-B0C021B7A7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953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7" name="Line 7">
            <a:extLst>
              <a:ext uri="{FF2B5EF4-FFF2-40B4-BE49-F238E27FC236}">
                <a16:creationId xmlns:a16="http://schemas.microsoft.com/office/drawing/2014/main" id="{25AB6181-2167-DFE5-8497-87D1441358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54102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8" name="Line 9">
            <a:extLst>
              <a:ext uri="{FF2B5EF4-FFF2-40B4-BE49-F238E27FC236}">
                <a16:creationId xmlns:a16="http://schemas.microsoft.com/office/drawing/2014/main" id="{90F6CB3B-589E-3087-97ED-F953E2B52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657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9" name="Line 10">
            <a:extLst>
              <a:ext uri="{FF2B5EF4-FFF2-40B4-BE49-F238E27FC236}">
                <a16:creationId xmlns:a16="http://schemas.microsoft.com/office/drawing/2014/main" id="{7CF3A512-78D0-F9FF-B36F-58A688EA29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029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0" name="Rectangle 11">
            <a:extLst>
              <a:ext uri="{FF2B5EF4-FFF2-40B4-BE49-F238E27FC236}">
                <a16:creationId xmlns:a16="http://schemas.microsoft.com/office/drawing/2014/main" id="{F6388C9B-309A-C9F3-993C-2FD98EF91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60960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Object = Data +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5A258D4-B4A6-04F6-9C0D-E086074AEB7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5943600"/>
          </a:xfrm>
        </p:spPr>
        <p:txBody>
          <a:bodyPr/>
          <a:lstStyle/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/>
              <a:t>Languages that support OOP features include smalltalk, Objective C, C++, Java etc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/>
              <a:t>OOP treats data as a critical element in the program development 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/>
              <a:t>Features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Char char="–"/>
            </a:pPr>
            <a:r>
              <a:rPr lang="en-US" altLang="en-US" sz="2000"/>
              <a:t>Emphasis is on data rather than procedure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Char char="–"/>
            </a:pPr>
            <a:r>
              <a:rPr lang="en-US" altLang="en-US" sz="2000"/>
              <a:t>Programs are divided into what are known as objects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Char char="–"/>
            </a:pPr>
            <a:r>
              <a:rPr lang="en-US" altLang="en-US" sz="2000"/>
              <a:t>Data structures are designed such that they characterize the objects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Char char="–"/>
            </a:pPr>
            <a:r>
              <a:rPr lang="en-US" altLang="en-US" sz="2000"/>
              <a:t>Functions that operate on the data of an object are tied together in the data structure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Char char="–"/>
            </a:pPr>
            <a:r>
              <a:rPr lang="en-US" altLang="en-US" sz="2000"/>
              <a:t>Data is hidden and cannot be accessed by external functions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Char char="–"/>
            </a:pPr>
            <a:r>
              <a:rPr lang="en-US" altLang="en-US" sz="2000"/>
              <a:t>Objects may communicate with each other through functions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Char char="–"/>
            </a:pPr>
            <a:r>
              <a:rPr lang="en-US" altLang="en-US" sz="2000"/>
              <a:t>New data and functions can be added whenever necessary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Char char="–"/>
            </a:pPr>
            <a:r>
              <a:rPr lang="en-US" altLang="en-US" sz="2000"/>
              <a:t>Follows bottom-up approach in program design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C1B5B6F-E11C-3781-1446-802B0F4EEA1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  <a:noFill/>
        </p:spPr>
        <p:txBody>
          <a:bodyPr/>
          <a:lstStyle/>
          <a:p>
            <a:pPr algn="l" eaLnBrk="1" hangingPunct="1"/>
            <a:r>
              <a:rPr lang="en-US" altLang="en-US" sz="3200" i="1">
                <a:solidFill>
                  <a:srgbClr val="FF3300"/>
                </a:solidFill>
              </a:rPr>
              <a:t>Object-oriented programming contd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8995582-5ABD-45F1-DA9F-E0FA4C7FD6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solidFill>
                  <a:srgbClr val="00CC00"/>
                </a:solidFill>
              </a:rPr>
              <a:t>Objects and classes</a:t>
            </a:r>
          </a:p>
          <a:p>
            <a:pPr marL="609600" indent="-609600" eaLnBrk="1" hangingPunct="1"/>
            <a:r>
              <a:rPr lang="en-US" altLang="zh-CN" sz="2400" b="1" i="1">
                <a:ea typeface="宋体" panose="02010600030101010101" pitchFamily="2" charset="-122"/>
              </a:rPr>
              <a:t>“Object” is an instance of a class. Each object has a class which defines its data and behavior</a:t>
            </a:r>
          </a:p>
          <a:p>
            <a:pPr marL="990600" lvl="1" indent="-533400" algn="just" eaLnBrk="1" hangingPunct="1">
              <a:buFontTx/>
              <a:buChar char="–"/>
            </a:pPr>
            <a:r>
              <a:rPr lang="en-US" altLang="en-US" sz="2400"/>
              <a:t>Objects are basic run time entities in an object oriented system</a:t>
            </a:r>
          </a:p>
          <a:p>
            <a:pPr marL="990600" lvl="1" indent="-533400" algn="just" eaLnBrk="1" hangingPunct="1">
              <a:buFontTx/>
              <a:buChar char="–"/>
            </a:pPr>
            <a:r>
              <a:rPr lang="en-US" altLang="en-US" sz="2400"/>
              <a:t>They may represent person, place, bank account, user-defined data types such as vectors and lists etc</a:t>
            </a:r>
          </a:p>
          <a:p>
            <a:pPr marL="990600" lvl="1" indent="-533400" algn="just" eaLnBrk="1" hangingPunct="1">
              <a:buFontTx/>
              <a:buChar char="–"/>
            </a:pPr>
            <a:r>
              <a:rPr lang="en-US" altLang="en-US" sz="2400"/>
              <a:t>Program objects should be chosen such that they match closely with the real world objects.</a:t>
            </a:r>
          </a:p>
          <a:p>
            <a:pPr marL="990600" lvl="1" indent="-533400" algn="just" eaLnBrk="1" hangingPunct="1">
              <a:buFontTx/>
              <a:buChar char="–"/>
            </a:pPr>
            <a:r>
              <a:rPr lang="en-US" altLang="en-US" sz="2400"/>
              <a:t>When a program is executed the objects interact by sending messages to one another.</a:t>
            </a:r>
          </a:p>
          <a:p>
            <a:pPr marL="609600" indent="-609600" eaLnBrk="1" hangingPunct="1"/>
            <a:r>
              <a:rPr lang="en-US" altLang="zh-CN" sz="2400" b="1" i="1">
                <a:ea typeface="宋体" panose="02010600030101010101" pitchFamily="2" charset="-122"/>
              </a:rPr>
              <a:t>“Class” refers to a blueprint. It defines the variables and methods the objects support</a:t>
            </a:r>
          </a:p>
          <a:p>
            <a:pPr marL="609600" indent="-609600" eaLnBrk="1" hangingPunct="1"/>
            <a:endParaRPr lang="en-US" altLang="zh-CN" sz="2400" i="1">
              <a:ea typeface="宋体" panose="02010600030101010101" pitchFamily="2" charset="-122"/>
            </a:endParaRPr>
          </a:p>
          <a:p>
            <a:pPr marL="990600" lvl="1" indent="-533400" algn="just" eaLnBrk="1" hangingPunct="1"/>
            <a:endParaRPr lang="en-US" alt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BA4EA89-0872-7A3D-2783-3A07A1D6C9F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  <a:noFill/>
        </p:spPr>
        <p:txBody>
          <a:bodyPr/>
          <a:lstStyle/>
          <a:p>
            <a:pPr algn="l" eaLnBrk="1" hangingPunct="1"/>
            <a:r>
              <a:rPr lang="en-US" altLang="en-US" sz="3200" i="1">
                <a:solidFill>
                  <a:srgbClr val="FF3300"/>
                </a:solidFill>
              </a:rPr>
              <a:t>Basic concepts of OOPS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B68DF32-EF64-B4CC-61F8-28DC0AD4F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Objects</a:t>
            </a:r>
          </a:p>
        </p:txBody>
      </p:sp>
      <p:sp>
        <p:nvSpPr>
          <p:cNvPr id="8195" name="AutoShape 3">
            <a:extLst>
              <a:ext uri="{FF2B5EF4-FFF2-40B4-BE49-F238E27FC236}">
                <a16:creationId xmlns:a16="http://schemas.microsoft.com/office/drawing/2014/main" id="{76422D57-A804-EB6C-993B-EA88CAF60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1905000"/>
            <a:ext cx="5140325" cy="292100"/>
          </a:xfrm>
          <a:prstGeom prst="cube">
            <a:avLst>
              <a:gd name="adj" fmla="val 24995"/>
            </a:avLst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196" name="AutoShape 4">
            <a:extLst>
              <a:ext uri="{FF2B5EF4-FFF2-40B4-BE49-F238E27FC236}">
                <a16:creationId xmlns:a16="http://schemas.microsoft.com/office/drawing/2014/main" id="{5B012FB0-5926-B5E8-CF44-9A95CB31F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4038600"/>
            <a:ext cx="5140325" cy="292100"/>
          </a:xfrm>
          <a:prstGeom prst="cube">
            <a:avLst>
              <a:gd name="adj" fmla="val 24995"/>
            </a:avLst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1EDE7C37-A9E9-B019-2F06-3DA806569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2209800"/>
            <a:ext cx="5057775" cy="1892300"/>
          </a:xfrm>
          <a:prstGeom prst="rect">
            <a:avLst/>
          </a:prstGeom>
          <a:solidFill>
            <a:schemeClr val="bg1"/>
          </a:solidFill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06BB75F0-8E5C-76C6-00CF-77EAFEFC9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2279650"/>
            <a:ext cx="4659312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en-US" sz="2400" b="1">
                <a:solidFill>
                  <a:srgbClr val="FF33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hour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en-US" sz="2400" b="1">
                <a:solidFill>
                  <a:srgbClr val="FF33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minute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br>
              <a:rPr lang="en-US" altLang="en-US" sz="2400" b="1">
                <a:solidFill>
                  <a:srgbClr val="FF33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</a:br>
            <a:r>
              <a:rPr lang="en-US" altLang="en-US" sz="2400" b="1">
                <a:solidFill>
                  <a:srgbClr val="FF33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void addMinutes( int m )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5EBAE1CC-CE13-3651-2358-94DC2F840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1912938"/>
            <a:ext cx="73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b="1">
                <a:latin typeface="Book Antiqua" panose="02040602050305030304" pitchFamily="18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8200" name="Line 8">
            <a:extLst>
              <a:ext uri="{FF2B5EF4-FFF2-40B4-BE49-F238E27FC236}">
                <a16:creationId xmlns:a16="http://schemas.microsoft.com/office/drawing/2014/main" id="{46D9AA8C-ECF5-523E-274E-A1B56FE7EA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3195638"/>
            <a:ext cx="4787900" cy="0"/>
          </a:xfrm>
          <a:prstGeom prst="line">
            <a:avLst/>
          </a:prstGeom>
          <a:noFill/>
          <a:ln w="127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01" name="Rectangle 9">
            <a:extLst>
              <a:ext uri="{FF2B5EF4-FFF2-40B4-BE49-F238E27FC236}">
                <a16:creationId xmlns:a16="http://schemas.microsoft.com/office/drawing/2014/main" id="{5D62E16A-5C54-00AF-8111-014CF2035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00" y="2068513"/>
            <a:ext cx="3441700" cy="19161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02" name="AutoShape 10">
            <a:extLst>
              <a:ext uri="{FF2B5EF4-FFF2-40B4-BE49-F238E27FC236}">
                <a16:creationId xmlns:a16="http://schemas.microsoft.com/office/drawing/2014/main" id="{4D8E3E80-7E89-00FC-4BCF-4381165A2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2275" y="2051050"/>
            <a:ext cx="3565525" cy="292100"/>
          </a:xfrm>
          <a:prstGeom prst="cube">
            <a:avLst>
              <a:gd name="adj" fmla="val 24995"/>
            </a:avLst>
          </a:prstGeom>
          <a:solidFill>
            <a:schemeClr val="bg1"/>
          </a:solidFill>
          <a:ln w="12700">
            <a:solidFill>
              <a:srgbClr val="00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03" name="AutoShape 11">
            <a:extLst>
              <a:ext uri="{FF2B5EF4-FFF2-40B4-BE49-F238E27FC236}">
                <a16:creationId xmlns:a16="http://schemas.microsoft.com/office/drawing/2014/main" id="{76413CBD-D741-C4F5-C7A9-48C096ECD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563" y="3702050"/>
            <a:ext cx="3551237" cy="401638"/>
          </a:xfrm>
          <a:prstGeom prst="cube">
            <a:avLst>
              <a:gd name="adj" fmla="val 24995"/>
            </a:avLst>
          </a:prstGeom>
          <a:solidFill>
            <a:schemeClr val="bg1"/>
          </a:solidFill>
          <a:ln w="12700">
            <a:solidFill>
              <a:srgbClr val="00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04" name="Rectangle 12">
            <a:extLst>
              <a:ext uri="{FF2B5EF4-FFF2-40B4-BE49-F238E27FC236}">
                <a16:creationId xmlns:a16="http://schemas.microsoft.com/office/drawing/2014/main" id="{531BC39F-0BF8-76E3-FC89-331F47A4C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2065338"/>
            <a:ext cx="946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b="1">
                <a:latin typeface="Book Antiqua" panose="02040602050305030304" pitchFamily="18" charset="0"/>
                <a:cs typeface="Arial" panose="020B0604020202020204" pitchFamily="34" charset="0"/>
              </a:rPr>
              <a:t>inTime</a:t>
            </a:r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C9C00667-5A94-6B2A-FB3D-36AEAB752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050" y="2370138"/>
            <a:ext cx="3302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en-US" b="1">
                <a:solidFill>
                  <a:srgbClr val="0000FF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Attributes:</a:t>
            </a:r>
            <a:br>
              <a:rPr lang="en-US" altLang="en-US" b="1">
                <a:solidFill>
                  <a:srgbClr val="0099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</a:br>
            <a:r>
              <a:rPr lang="en-US" altLang="en-US" b="1">
                <a:solidFill>
                  <a:srgbClr val="0099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   hour = 8</a:t>
            </a:r>
            <a:br>
              <a:rPr lang="en-US" altLang="en-US" b="1">
                <a:solidFill>
                  <a:srgbClr val="0099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</a:br>
            <a:r>
              <a:rPr lang="en-US" altLang="en-US" b="1">
                <a:solidFill>
                  <a:srgbClr val="0099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   minute = 30</a:t>
            </a:r>
            <a:br>
              <a:rPr lang="en-US" altLang="en-US" b="1">
                <a:solidFill>
                  <a:srgbClr val="0099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</a:br>
            <a:r>
              <a:rPr lang="en-US" altLang="en-US" b="1">
                <a:solidFill>
                  <a:srgbClr val="0000FF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Methods:</a:t>
            </a:r>
            <a:br>
              <a:rPr lang="en-US" altLang="en-US" b="1">
                <a:solidFill>
                  <a:srgbClr val="0099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</a:br>
            <a:r>
              <a:rPr lang="en-US" altLang="en-US" b="1">
                <a:solidFill>
                  <a:srgbClr val="0099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   void addMinutes(int m)</a:t>
            </a:r>
          </a:p>
        </p:txBody>
      </p:sp>
      <p:sp>
        <p:nvSpPr>
          <p:cNvPr id="8206" name="Rectangle 14">
            <a:extLst>
              <a:ext uri="{FF2B5EF4-FFF2-40B4-BE49-F238E27FC236}">
                <a16:creationId xmlns:a16="http://schemas.microsoft.com/office/drawing/2014/main" id="{377F56D4-A438-63FB-D970-02CE1652D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3971925"/>
            <a:ext cx="3441700" cy="1916113"/>
          </a:xfrm>
          <a:prstGeom prst="rect">
            <a:avLst/>
          </a:prstGeom>
          <a:solidFill>
            <a:schemeClr val="bg1"/>
          </a:solidFill>
          <a:ln w="12700">
            <a:solidFill>
              <a:srgbClr val="00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07" name="AutoShape 15">
            <a:extLst>
              <a:ext uri="{FF2B5EF4-FFF2-40B4-BE49-F238E27FC236}">
                <a16:creationId xmlns:a16="http://schemas.microsoft.com/office/drawing/2014/main" id="{7AFDFD95-367D-3861-2A66-10F960D47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5" y="3954463"/>
            <a:ext cx="3565525" cy="292100"/>
          </a:xfrm>
          <a:prstGeom prst="cube">
            <a:avLst>
              <a:gd name="adj" fmla="val 24995"/>
            </a:avLst>
          </a:prstGeom>
          <a:solidFill>
            <a:schemeClr val="bg1"/>
          </a:solidFill>
          <a:ln w="12700">
            <a:solidFill>
              <a:srgbClr val="00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08" name="AutoShape 16">
            <a:extLst>
              <a:ext uri="{FF2B5EF4-FFF2-40B4-BE49-F238E27FC236}">
                <a16:creationId xmlns:a16="http://schemas.microsoft.com/office/drawing/2014/main" id="{7492B3A4-FC5C-8F85-833A-50BD91555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5213" y="5605463"/>
            <a:ext cx="3551237" cy="401637"/>
          </a:xfrm>
          <a:prstGeom prst="cube">
            <a:avLst>
              <a:gd name="adj" fmla="val 24995"/>
            </a:avLst>
          </a:prstGeom>
          <a:solidFill>
            <a:schemeClr val="bg1"/>
          </a:solidFill>
          <a:ln w="12700">
            <a:solidFill>
              <a:srgbClr val="00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32388700-2D73-AD62-3907-8D2E37D5B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150" y="3968750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b="1">
                <a:latin typeface="Book Antiqua" panose="02040602050305030304" pitchFamily="18" charset="0"/>
                <a:cs typeface="Arial" panose="020B0604020202020204" pitchFamily="34" charset="0"/>
              </a:rPr>
              <a:t>outTime</a:t>
            </a:r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CE94578E-9EA3-0127-5E05-1F0B3A54F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700" y="4273550"/>
            <a:ext cx="3302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en-US" b="1">
                <a:solidFill>
                  <a:srgbClr val="0000FF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Attributes:</a:t>
            </a:r>
            <a:br>
              <a:rPr lang="en-US" altLang="en-US" b="1">
                <a:solidFill>
                  <a:srgbClr val="0099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</a:br>
            <a:r>
              <a:rPr lang="en-US" altLang="en-US" b="1">
                <a:solidFill>
                  <a:srgbClr val="0099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   hour = 17</a:t>
            </a:r>
            <a:br>
              <a:rPr lang="en-US" altLang="en-US" b="1">
                <a:solidFill>
                  <a:srgbClr val="0099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</a:br>
            <a:r>
              <a:rPr lang="en-US" altLang="en-US" b="1">
                <a:solidFill>
                  <a:srgbClr val="0099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   minute = 35</a:t>
            </a:r>
            <a:br>
              <a:rPr lang="en-US" altLang="en-US" b="1">
                <a:solidFill>
                  <a:srgbClr val="0099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</a:br>
            <a:r>
              <a:rPr lang="en-US" altLang="en-US" b="1">
                <a:solidFill>
                  <a:srgbClr val="0000FF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Methods:</a:t>
            </a:r>
            <a:br>
              <a:rPr lang="en-US" altLang="en-US" b="1">
                <a:solidFill>
                  <a:srgbClr val="0099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</a:br>
            <a:r>
              <a:rPr lang="en-US" altLang="en-US" b="1">
                <a:solidFill>
                  <a:srgbClr val="0099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   void addMinutes(int m)</a:t>
            </a:r>
          </a:p>
        </p:txBody>
      </p:sp>
      <p:sp>
        <p:nvSpPr>
          <p:cNvPr id="8211" name="Text Box 19">
            <a:extLst>
              <a:ext uri="{FF2B5EF4-FFF2-40B4-BE49-F238E27FC236}">
                <a16:creationId xmlns:a16="http://schemas.microsoft.com/office/drawing/2014/main" id="{570FDED1-785A-3948-FDAD-FDE682648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066800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2800">
                <a:cs typeface="Arial" panose="020B0604020202020204" pitchFamily="34" charset="0"/>
              </a:rPr>
              <a:t>class</a:t>
            </a:r>
          </a:p>
        </p:txBody>
      </p:sp>
      <p:sp>
        <p:nvSpPr>
          <p:cNvPr id="8212" name="Line 20">
            <a:extLst>
              <a:ext uri="{FF2B5EF4-FFF2-40B4-BE49-F238E27FC236}">
                <a16:creationId xmlns:a16="http://schemas.microsoft.com/office/drawing/2014/main" id="{323634A4-9870-A947-4E64-3DBB8029D2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15240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3" name="Text Box 21">
            <a:extLst>
              <a:ext uri="{FF2B5EF4-FFF2-40B4-BE49-F238E27FC236}">
                <a16:creationId xmlns:a16="http://schemas.microsoft.com/office/drawing/2014/main" id="{55711D36-519A-4601-15F1-990447BFE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80060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2800">
                <a:cs typeface="Arial" panose="020B0604020202020204" pitchFamily="34" charset="0"/>
              </a:rPr>
              <a:t>objects</a:t>
            </a:r>
          </a:p>
        </p:txBody>
      </p:sp>
      <p:sp>
        <p:nvSpPr>
          <p:cNvPr id="8214" name="Line 22">
            <a:extLst>
              <a:ext uri="{FF2B5EF4-FFF2-40B4-BE49-F238E27FC236}">
                <a16:creationId xmlns:a16="http://schemas.microsoft.com/office/drawing/2014/main" id="{D68DCCE0-CB96-8D6C-C4F9-AF6CD8C452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24800" y="4191000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5" name="Line 23">
            <a:extLst>
              <a:ext uri="{FF2B5EF4-FFF2-40B4-BE49-F238E27FC236}">
                <a16:creationId xmlns:a16="http://schemas.microsoft.com/office/drawing/2014/main" id="{2B0621F8-DE69-99A1-8BBF-DA82A4A049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5105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3504CDF-F07E-BFE9-9562-87D7D76A2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809625"/>
            <a:ext cx="8229600" cy="608013"/>
          </a:xfrm>
        </p:spPr>
        <p:txBody>
          <a:bodyPr/>
          <a:lstStyle/>
          <a:p>
            <a:pPr eaLnBrk="1" hangingPunct="1"/>
            <a:r>
              <a:rPr lang="en-US" altLang="en-US"/>
              <a:t>Objects and Classes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1F41A19-93BF-DD67-568E-66D8613C2D3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2250" cy="4525963"/>
          </a:xfrm>
        </p:spPr>
        <p:txBody>
          <a:bodyPr/>
          <a:lstStyle/>
          <a:p>
            <a:pPr eaLnBrk="1" hangingPunct="1"/>
            <a:r>
              <a:rPr lang="en-US" altLang="en-US"/>
              <a:t>Class</a:t>
            </a:r>
          </a:p>
          <a:p>
            <a:pPr lvl="1" eaLnBrk="1" hangingPunct="1"/>
            <a:r>
              <a:rPr lang="en-US" altLang="en-US"/>
              <a:t>Visible in source code</a:t>
            </a:r>
          </a:p>
          <a:p>
            <a:pPr lvl="1" eaLnBrk="1" hangingPunct="1"/>
            <a:r>
              <a:rPr lang="en-US" altLang="en-US"/>
              <a:t>The code is not duplicated</a:t>
            </a:r>
          </a:p>
          <a:p>
            <a:pPr lvl="1" eaLnBrk="1" hangingPunct="1"/>
            <a:endParaRPr lang="en-US" alt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004A42A3-B7FC-C92A-FED5-CB5C017FE87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54550" y="1600200"/>
            <a:ext cx="4032250" cy="4022725"/>
          </a:xfrm>
        </p:spPr>
        <p:txBody>
          <a:bodyPr/>
          <a:lstStyle/>
          <a:p>
            <a:pPr eaLnBrk="1" hangingPunct="1"/>
            <a:r>
              <a:rPr lang="en-US" altLang="en-US"/>
              <a:t>Object</a:t>
            </a:r>
          </a:p>
          <a:p>
            <a:pPr lvl="1" eaLnBrk="1" hangingPunct="1"/>
            <a:r>
              <a:rPr lang="en-US" altLang="en-US"/>
              <a:t>Own copy of data</a:t>
            </a:r>
          </a:p>
          <a:p>
            <a:pPr lvl="1" eaLnBrk="1" hangingPunct="1"/>
            <a:r>
              <a:rPr lang="en-US" altLang="en-US"/>
              <a:t>Active in running program</a:t>
            </a:r>
          </a:p>
          <a:p>
            <a:pPr lvl="1" eaLnBrk="1" hangingPunct="1"/>
            <a:r>
              <a:rPr lang="en-US" altLang="en-US"/>
              <a:t>Occupies memory</a:t>
            </a:r>
          </a:p>
          <a:p>
            <a:pPr lvl="1" eaLnBrk="1" hangingPunct="1"/>
            <a:r>
              <a:rPr lang="en-US" altLang="en-US"/>
              <a:t>Has the set of operations given in the class</a:t>
            </a:r>
          </a:p>
          <a:p>
            <a:pPr lvl="1"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C4C9511-B6DD-D561-1086-505D33331C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5943600"/>
          </a:xfrm>
        </p:spPr>
        <p:txBody>
          <a:bodyPr/>
          <a:lstStyle/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/>
              <a:t>An essential element of object-oriented programming is </a:t>
            </a:r>
            <a:r>
              <a:rPr lang="en-US" altLang="en-US" sz="2800" i="1"/>
              <a:t>abstraction.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/>
              <a:t>Humans manage complexity through abstraction.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/>
              <a:t>Example, people do not think of a car as a set of tens of thousands of individual parts. They think of it as a well-defined object with its own unique behavior.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/>
              <a:t>A powerful way to manage abstraction is through the use of hierarchical classifications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/>
              <a:t>Abstraction refers to the act of representing essential features without including the background details or explanation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/>
              <a:t>Classes use the concept of abstraction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endParaRPr lang="en-US" altLang="en-US" sz="280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175414A-BC14-F867-C945-8464C07949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  <a:noFill/>
        </p:spPr>
        <p:txBody>
          <a:bodyPr/>
          <a:lstStyle/>
          <a:p>
            <a:pPr algn="l" eaLnBrk="1" hangingPunct="1"/>
            <a:r>
              <a:rPr lang="en-US" altLang="en-US" sz="3200" i="1">
                <a:solidFill>
                  <a:srgbClr val="FF3300"/>
                </a:solidFill>
              </a:rPr>
              <a:t>Abstraction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13F3F81-EFC9-EB18-F097-D53630F781F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The wrapping up of data and functions into a single unit called as class is known as encapsulation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The data is not accessible to the outside world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The functions defined in a class can access data</a:t>
            </a:r>
          </a:p>
          <a:p>
            <a:pPr marL="609600" indent="-609600" algn="just" eaLnBrk="1" hangingPunct="1">
              <a:buFontTx/>
              <a:buChar char="•"/>
            </a:pPr>
            <a:endParaRPr lang="en-US" alt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97830C4-EAC9-63CB-391D-C74EB598937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>
                <a:solidFill>
                  <a:srgbClr val="FF3300"/>
                </a:solidFill>
              </a:rPr>
              <a:t>Encapsulation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1E7D6063-DD94-F32F-1122-E4E4DD035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25" y="242888"/>
            <a:ext cx="7856538" cy="637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223DC66-9CE8-6A30-F754-58D955DFF2D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i="1"/>
              <a:t>Inheritance </a:t>
            </a:r>
            <a:r>
              <a:rPr lang="en-US" altLang="en-US"/>
              <a:t>is the process by which one object acquires the properties of another object.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This is important because it supports the concept of hierarchical classification.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Most people naturally view the world as made up of objects that are related to each other in a hierarchical way, such as animals, mammals, and dogs.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6C12B37-B18D-F24D-3D7E-5E685D24CE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>
                <a:solidFill>
                  <a:srgbClr val="FF3300"/>
                </a:solidFill>
              </a:rPr>
              <a:t>Inheritance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1E14DFAF-5FDE-0F59-8E04-63F12203E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213" y="1004888"/>
            <a:ext cx="6761162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4285985-4421-51F3-C108-7145D126B71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Inheritance interacts with encapsulation as well.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 If a given class encapsulates some attributes, then any subclass will have the same attributes </a:t>
            </a:r>
            <a:r>
              <a:rPr lang="en-US" altLang="en-US" i="1"/>
              <a:t>plus </a:t>
            </a:r>
            <a:r>
              <a:rPr lang="en-US" altLang="en-US"/>
              <a:t>any that it adds as part of its specialization. This is a key concept which lets object-oriented programs grow in complexity linearly rather than geometrically.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 A new subclass inherits all of the attributes of all of its ancestors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4860F99-EFF1-E0DC-968B-76B782B552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>
                <a:solidFill>
                  <a:srgbClr val="FF3300"/>
                </a:solidFill>
              </a:rPr>
              <a:t>Inheritance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9F4D35AF-1522-C1A9-201A-9AC3222B4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0"/>
            <a:ext cx="511968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FBA8AEE-6D84-7982-C1C3-90CCEE6DC80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sz="2800" i="1"/>
              <a:t>Polymorphism </a:t>
            </a:r>
            <a:r>
              <a:rPr lang="en-US" altLang="en-US" sz="2800"/>
              <a:t>(from the Greek, meaning “many forms”) is a feature that allows one interface to be used for a general class of actions.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/>
              <a:t>The specific action is determined by the exact nature of the situation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/>
              <a:t>More generally, the concept of polymorphism is often expressed by the phrase “one interface, multiple methods.”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/>
              <a:t>This helps reduce complexity by allowing the same interface to be used to specify a </a:t>
            </a:r>
            <a:r>
              <a:rPr lang="en-US" altLang="en-US" sz="2800" i="1"/>
              <a:t>general class of action. </a:t>
            </a:r>
            <a:r>
              <a:rPr lang="en-US" altLang="en-US" sz="2800"/>
              <a:t>It is the compiler’s job to select the </a:t>
            </a:r>
            <a:r>
              <a:rPr lang="en-US" altLang="en-US" sz="2800" i="1"/>
              <a:t>specific action </a:t>
            </a:r>
            <a:r>
              <a:rPr lang="en-US" altLang="en-US" sz="2800"/>
              <a:t>(that is, method) as it applies to each situation.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6D1EB6E-D5E4-60D9-8DEB-EC94C23102C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>
                <a:solidFill>
                  <a:srgbClr val="FF3300"/>
                </a:solidFill>
              </a:rPr>
              <a:t>Polymorphism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2445AB0-9220-B42C-C6A6-82D544EA5B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5943600"/>
          </a:xfrm>
        </p:spPr>
        <p:txBody>
          <a:bodyPr/>
          <a:lstStyle/>
          <a:p>
            <a:pPr marL="609600" indent="-609600" algn="just" eaLnBrk="1" hangingPunct="1"/>
            <a:r>
              <a:rPr lang="en-US" altLang="en-US" sz="2800"/>
              <a:t>Example</a:t>
            </a:r>
          </a:p>
          <a:p>
            <a:pPr marL="609600" indent="-609600" algn="just" eaLnBrk="1" hangingPunct="1">
              <a:buFontTx/>
              <a:buAutoNum type="arabicPeriod"/>
            </a:pPr>
            <a:r>
              <a:rPr lang="en-US" altLang="en-US" sz="2800"/>
              <a:t>One stack is used for integer values</a:t>
            </a:r>
          </a:p>
          <a:p>
            <a:pPr marL="609600" indent="-609600" algn="just" eaLnBrk="1" hangingPunct="1">
              <a:buFontTx/>
              <a:buAutoNum type="arabicPeriod"/>
            </a:pPr>
            <a:r>
              <a:rPr lang="en-US" altLang="en-US" sz="2800"/>
              <a:t>One for floating-point values</a:t>
            </a:r>
          </a:p>
          <a:p>
            <a:pPr marL="609600" indent="-609600" algn="just" eaLnBrk="1" hangingPunct="1">
              <a:buFontTx/>
              <a:buAutoNum type="arabicPeriod"/>
            </a:pPr>
            <a:r>
              <a:rPr lang="en-US" altLang="en-US" sz="2800"/>
              <a:t>One for characters.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/>
              <a:t> The algorithm that implements each stack is the same, even though the data being stored differs. In a non– object-oriented language, you would be required to create three different sets of stack routines, with each set using different names.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/>
              <a:t>However, because of polymorphism, inJava you can specify a general set of stack routines that all share the same names.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9FE3E6B-821F-DB35-D28C-7CA3713A267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>
                <a:solidFill>
                  <a:srgbClr val="FF3300"/>
                </a:solidFill>
              </a:rPr>
              <a:t>Polymorphism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1413D74-220B-15F8-4B75-B6C8C04BBAD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Binding refers to the linking of a procedure call to the code to be executed in response to the call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Dynamic binding means that the code assiciated with a given procedure call is not known until the time of the call at runtime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/>
              <a:t>It is associated with polymorphism and inheritance</a:t>
            </a:r>
          </a:p>
          <a:p>
            <a:pPr marL="609600" indent="-609600" algn="just" eaLnBrk="1" hangingPunct="1"/>
            <a:endParaRPr lang="en-US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7846DC1-2C3D-3037-4F7C-85A074CCA70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>
                <a:solidFill>
                  <a:srgbClr val="FF3300"/>
                </a:solidFill>
              </a:rPr>
              <a:t>Dynamic binding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5AA82B3-A221-66E1-1D5C-DF8A77AF9D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29718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/>
              <a:t>An OO program consists of objects that communicate with each other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/>
              <a:t>The process of programming in an OO language involves the following basic steps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1800"/>
              <a:t>Creating classes that define objects and their behavior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1800"/>
              <a:t>Creating objects from class definitions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1800"/>
              <a:t>Establishing communication among objects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/>
              <a:t>Objects communicate with one another by sending and receiving messages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/>
              <a:t>Message passing involves specifying the name of the object, the name of the function and the information to be sent</a:t>
            </a:r>
          </a:p>
          <a:p>
            <a:pPr marL="609600" indent="-609600" algn="just" eaLnBrk="1" hangingPunct="1">
              <a:lnSpc>
                <a:spcPct val="80000"/>
              </a:lnSpc>
            </a:pPr>
            <a:endParaRPr lang="en-US" altLang="en-US" sz="200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FF48FF9-3B93-BFE3-E254-3C8EA1D261D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>
                <a:solidFill>
                  <a:srgbClr val="FF3300"/>
                </a:solidFill>
              </a:rPr>
              <a:t>Message communication</a:t>
            </a:r>
          </a:p>
        </p:txBody>
      </p:sp>
      <p:sp>
        <p:nvSpPr>
          <p:cNvPr id="20484" name="Oval 4">
            <a:extLst>
              <a:ext uri="{FF2B5EF4-FFF2-40B4-BE49-F238E27FC236}">
                <a16:creationId xmlns:a16="http://schemas.microsoft.com/office/drawing/2014/main" id="{1E87824E-85A5-D825-79BA-7E7169201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581400"/>
            <a:ext cx="914400" cy="6096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Object 1</a:t>
            </a:r>
          </a:p>
        </p:txBody>
      </p:sp>
      <p:sp>
        <p:nvSpPr>
          <p:cNvPr id="20485" name="Oval 5">
            <a:extLst>
              <a:ext uri="{FF2B5EF4-FFF2-40B4-BE49-F238E27FC236}">
                <a16:creationId xmlns:a16="http://schemas.microsoft.com/office/drawing/2014/main" id="{DC85DCB1-F9C1-9B54-8F2E-B0CDD3D4C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343400"/>
            <a:ext cx="914400" cy="6096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Object 2</a:t>
            </a:r>
          </a:p>
        </p:txBody>
      </p:sp>
      <p:sp>
        <p:nvSpPr>
          <p:cNvPr id="20486" name="Oval 6">
            <a:extLst>
              <a:ext uri="{FF2B5EF4-FFF2-40B4-BE49-F238E27FC236}">
                <a16:creationId xmlns:a16="http://schemas.microsoft.com/office/drawing/2014/main" id="{E120C221-A67D-5944-6A98-5ECF9339B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343400"/>
            <a:ext cx="914400" cy="6096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Object 3</a:t>
            </a:r>
          </a:p>
        </p:txBody>
      </p:sp>
      <p:sp>
        <p:nvSpPr>
          <p:cNvPr id="20487" name="Oval 7">
            <a:extLst>
              <a:ext uri="{FF2B5EF4-FFF2-40B4-BE49-F238E27FC236}">
                <a16:creationId xmlns:a16="http://schemas.microsoft.com/office/drawing/2014/main" id="{0F40EF95-5535-8F41-7BF2-982A69244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334000"/>
            <a:ext cx="914400" cy="6096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Object 5</a:t>
            </a:r>
          </a:p>
        </p:txBody>
      </p:sp>
      <p:sp>
        <p:nvSpPr>
          <p:cNvPr id="20488" name="Oval 8">
            <a:extLst>
              <a:ext uri="{FF2B5EF4-FFF2-40B4-BE49-F238E27FC236}">
                <a16:creationId xmlns:a16="http://schemas.microsoft.com/office/drawing/2014/main" id="{E9A1380B-4267-C37F-03BD-2572542C8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486400"/>
            <a:ext cx="914400" cy="6096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Object 4</a:t>
            </a:r>
          </a:p>
        </p:txBody>
      </p:sp>
      <p:sp>
        <p:nvSpPr>
          <p:cNvPr id="20489" name="Line 9">
            <a:extLst>
              <a:ext uri="{FF2B5EF4-FFF2-40B4-BE49-F238E27FC236}">
                <a16:creationId xmlns:a16="http://schemas.microsoft.com/office/drawing/2014/main" id="{47805E89-6577-69B8-1F16-60FFF17932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4038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90" name="Line 11">
            <a:extLst>
              <a:ext uri="{FF2B5EF4-FFF2-40B4-BE49-F238E27FC236}">
                <a16:creationId xmlns:a16="http://schemas.microsoft.com/office/drawing/2014/main" id="{0698FBE9-3E52-FE66-C931-96C989CB4D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0" y="4191000"/>
            <a:ext cx="2286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91" name="Line 12">
            <a:extLst>
              <a:ext uri="{FF2B5EF4-FFF2-40B4-BE49-F238E27FC236}">
                <a16:creationId xmlns:a16="http://schemas.microsoft.com/office/drawing/2014/main" id="{72B2124A-F296-AE51-D280-94EE625DE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38862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92" name="Line 13">
            <a:extLst>
              <a:ext uri="{FF2B5EF4-FFF2-40B4-BE49-F238E27FC236}">
                <a16:creationId xmlns:a16="http://schemas.microsoft.com/office/drawing/2014/main" id="{305A16DB-F2C3-AAE3-5D5B-5EA7130515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953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93" name="Line 14">
            <a:extLst>
              <a:ext uri="{FF2B5EF4-FFF2-40B4-BE49-F238E27FC236}">
                <a16:creationId xmlns:a16="http://schemas.microsoft.com/office/drawing/2014/main" id="{C51AD201-D15F-3A8A-C500-BE9DE83009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5800" y="5638800"/>
            <a:ext cx="762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94" name="Line 15">
            <a:extLst>
              <a:ext uri="{FF2B5EF4-FFF2-40B4-BE49-F238E27FC236}">
                <a16:creationId xmlns:a16="http://schemas.microsoft.com/office/drawing/2014/main" id="{E4EC3F4C-DE63-1E3D-B6F4-0B247834DB9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29000" y="49530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495" name="Line 16">
            <a:extLst>
              <a:ext uri="{FF2B5EF4-FFF2-40B4-BE49-F238E27FC236}">
                <a16:creationId xmlns:a16="http://schemas.microsoft.com/office/drawing/2014/main" id="{2AD3F136-0BC9-0E68-D47F-3C8034DE26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72000" y="4114800"/>
            <a:ext cx="8382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DEC9223-734C-B0F7-BB8D-203E91CC969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59436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400"/>
              <a:t>Through inheritance, we can eliminate redundant code and extend the use of existing classes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400"/>
              <a:t>We can build programs from the standard working modules rather than having to start writing the code from scratch. This leads to saving of development time and higher productivity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400"/>
              <a:t>The principle of data hiding helps the programmer to build secure programs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400"/>
              <a:t>It is possible to have multiple objects to co-exist without any interference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400"/>
              <a:t>It is possible to map objects in the problem domain to those objects in the program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400"/>
              <a:t>It is easy to partition the work in a project based on objects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400"/>
              <a:t>OO systems can be easily upgraded from small to large systems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400"/>
              <a:t>Message passing techniques for communication between objects make the interface descriptions with external systems much easier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400"/>
              <a:t>Software complexity can easily managed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97BF841-7AA7-85CE-2998-B224286F8C5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>
                <a:solidFill>
                  <a:srgbClr val="FF3300"/>
                </a:solidFill>
              </a:rPr>
              <a:t>Benefits of 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</TotalTime>
  <Words>1273</Words>
  <Application>Microsoft Office PowerPoint</Application>
  <PresentationFormat>On-screen Show (4:3)</PresentationFormat>
  <Paragraphs>149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Times New Roman</vt:lpstr>
      <vt:lpstr>宋体</vt:lpstr>
      <vt:lpstr>Book Antiqua</vt:lpstr>
      <vt:lpstr>Default Design</vt:lpstr>
      <vt:lpstr>Two Paradigms</vt:lpstr>
      <vt:lpstr>procedure-oriented programming</vt:lpstr>
      <vt:lpstr>procedure-oriented programming contd</vt:lpstr>
      <vt:lpstr>Object-oriented programming</vt:lpstr>
      <vt:lpstr>Object-oriented programming contd</vt:lpstr>
      <vt:lpstr>Basic concepts of OOPS</vt:lpstr>
      <vt:lpstr>Objects</vt:lpstr>
      <vt:lpstr>Objects and Classes</vt:lpstr>
      <vt:lpstr>Abstraction</vt:lpstr>
      <vt:lpstr>Encapsulation</vt:lpstr>
      <vt:lpstr>PowerPoint Presentation</vt:lpstr>
      <vt:lpstr>Inheritance</vt:lpstr>
      <vt:lpstr>PowerPoint Presentation</vt:lpstr>
      <vt:lpstr>Inheritance</vt:lpstr>
      <vt:lpstr>PowerPoint Presentation</vt:lpstr>
      <vt:lpstr>Polymorphism </vt:lpstr>
      <vt:lpstr>Polymorphism </vt:lpstr>
      <vt:lpstr>Dynamic binding</vt:lpstr>
      <vt:lpstr>Message communication</vt:lpstr>
      <vt:lpstr>Benefits of 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 Bhavani</cp:lastModifiedBy>
  <cp:revision>167</cp:revision>
  <cp:lastPrinted>1601-01-01T00:00:00Z</cp:lastPrinted>
  <dcterms:created xsi:type="dcterms:W3CDTF">1601-01-01T00:00:00Z</dcterms:created>
  <dcterms:modified xsi:type="dcterms:W3CDTF">2026-04-07T06:21:45Z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