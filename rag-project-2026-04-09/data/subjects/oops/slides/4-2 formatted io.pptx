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80" r:id="rId2"/>
    <p:sldId id="282" r:id="rId3"/>
    <p:sldId id="285" r:id="rId4"/>
    <p:sldId id="287" r:id="rId5"/>
    <p:sldId id="289" r:id="rId6"/>
    <p:sldId id="291" r:id="rId7"/>
    <p:sldId id="292" r:id="rId8"/>
    <p:sldId id="294" r:id="rId9"/>
    <p:sldId id="293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CC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069" autoAdjust="0"/>
  </p:normalViewPr>
  <p:slideViewPr>
    <p:cSldViewPr>
      <p:cViewPr varScale="1">
        <p:scale>
          <a:sx n="76" d="100"/>
          <a:sy n="76" d="100"/>
        </p:scale>
        <p:origin x="1642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B47956-EAE1-01A0-69F6-5806290C5B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751C91-C35F-4EBA-3402-FA92DDDF9BA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BFB75A1-9BD4-403F-BC68-057754153115}" type="datetimeFigureOut">
              <a:rPr lang="en-US"/>
              <a:pPr>
                <a:defRPr/>
              </a:pPr>
              <a:t>4/7/2026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514183-1D6C-280A-8A5E-230D2E4627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06EA9CC-B425-EFC2-ACCC-140023C2E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24430-FA21-8AC0-3ED6-ED8EAA1466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AB4A4-1A28-7647-AAA6-A4232EEAD0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8331EC69-26E7-4588-B931-D9F2814C129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A7FADCCE-225F-CC78-380E-824CB34D17B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5023D37E-F698-9753-22A1-0B5BBEB0318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6461E24E-2C2E-3EC4-D402-6D78C3468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4E8C6A5-0127-443F-880B-3FC0B7A6B7F9}" type="slidenum">
              <a:rPr lang="en-US" altLang="en-US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76A9F6DF-F6B7-8A6E-5ACC-84BE544DC9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73E90D19-8618-1964-F3BD-2E8F2759E8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654E9EC3-3F6A-3FB9-B545-3BED45ACE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FDF3E62-881D-48E4-BFA1-82FC9B481D9B}" type="slidenum">
              <a:rPr lang="en-US" altLang="en-US"/>
              <a:pPr/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390D9D2-4A26-7471-3891-A8ECFF080C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9440FA-3577-9EF6-E32E-75D5ED7BE0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9097A8-A0F0-BC5F-2A54-2FD48D535A1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A62E34-1ACD-4C58-AAFE-6E0BE28846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47802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594CE7B-8592-046E-C530-23EAEFA408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C85A42-3609-2B90-AF19-D76363DE8C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8887651-7282-7E43-37F1-CE4194FA3C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7F810-2C98-4973-9CBD-0EE607E149F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366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B0355A8-931D-761E-2178-577A329D91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C38393-67DB-FF4A-ACF1-2C443E733A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C8A8C4-A9D7-B93C-5FBA-E4C744BB9C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5D3D83-B392-43D1-BD9C-86CBB42754A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64155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1C118C-FCB1-E096-0816-62C7DF1DEF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AD227B-6533-D99F-D367-DD984EE8ABB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7D2F92-C239-C400-55E0-108F54724E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FB0F29-2B3E-4805-A548-06DE174F13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70406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E34A9F2-2D96-52FF-E451-2DA38A930D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D1933E3-DC39-F0CB-D2F1-2F49710F6A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29D470F2-FCC3-7751-2722-A5DB62F609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4A209C-EE3F-4DFC-A02E-7485C8005B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387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F43BE1D-D36D-829E-3BEE-8C7A1B535D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290EF3-2942-B9D5-FBA4-F07664E50A6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F2FE422-3A7A-0E99-85AC-098868DE65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8FD119-1CE2-47D0-9656-366B8976BFE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7818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77CF5AA-BCAA-7FF2-91EB-482D6FAA14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93D5546-01E0-81C5-1289-C9CF0D3A790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B9C29C8-5158-D89A-3871-7C45F91FDA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DC1041-C9A5-46FB-827B-1FE62E3E6F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602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5BCB82-9743-9972-A1FE-416BA49BFE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5A8A38-4E96-8928-5524-C77E0EDCF1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AC927-99E4-6ED1-1C5B-BCC727FC7B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67231B-EB00-498E-9721-9B344E9F21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649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F19A70-EED7-870B-F13C-0B0993E271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0EF2A0-B35E-CF82-AFA6-0E26832CA3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DBBCCE-61F2-7336-0276-4F66FA4FA6B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9039B0-A8A5-4F80-A6F8-856D248FC1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5727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AD3094-035B-B62E-C2D4-A54703E3AC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1B3B99-522E-6BA3-DA0D-AAA118B8E45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40B9C7-244D-A003-FB35-178C1204C2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DA6305-6B74-4361-BE83-44CF447A50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776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752A3C8-D41A-AAAE-D095-214C1CFA54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9EDA25-BBC3-7FB0-B3D0-F79DDE8527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FE9F06-F2E3-FDF5-DC34-294372449A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222B5FC-29C2-42A1-A791-0728F3CB0D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5521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F390543-2221-409D-6E2C-B90C2A5F23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9299D15D-BBFD-14A0-9582-F2632BDD59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70DDB1E-5403-E0A3-70E1-D33EE1619F10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4A993BC-C233-29C9-95BB-828DFD1D036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45CEA2B-CADD-0E45-0474-E102567FB39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4A73316D-4781-4436-A616-62A912293D4E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7D966B9-6D9F-CBA2-2010-5825EEA1BF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Formatted console I/O operations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1638CC54-5D42-F766-4AA8-9564A48F4A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3600">
                <a:latin typeface="Times New Roman" panose="02020603050405020304" pitchFamily="18" charset="0"/>
              </a:rPr>
              <a:t>C++ supports many features to format the output and input</a:t>
            </a:r>
            <a:endParaRPr lang="en-US" altLang="en-US" sz="2000">
              <a:latin typeface="Times New Roman" panose="02020603050405020304" pitchFamily="18" charset="0"/>
            </a:endParaRPr>
          </a:p>
          <a:p>
            <a:pPr lvl="1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3200">
                <a:latin typeface="Times New Roman" panose="02020603050405020304" pitchFamily="18" charset="0"/>
              </a:rPr>
              <a:t>ios class functions and flags</a:t>
            </a:r>
          </a:p>
          <a:p>
            <a:pPr lvl="1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3200">
                <a:latin typeface="Times New Roman" panose="02020603050405020304" pitchFamily="18" charset="0"/>
              </a:rPr>
              <a:t>Manipulators</a:t>
            </a:r>
          </a:p>
          <a:p>
            <a:pPr lvl="1" algn="just" eaLnBrk="1" hangingPunct="1">
              <a:lnSpc>
                <a:spcPct val="90000"/>
              </a:lnSpc>
              <a:buFontTx/>
              <a:buChar char="•"/>
            </a:pPr>
            <a:r>
              <a:rPr lang="en-US" altLang="en-US" sz="3200">
                <a:latin typeface="Times New Roman" panose="02020603050405020304" pitchFamily="18" charset="0"/>
              </a:rPr>
              <a:t>User defined output functions (creating our own manipulators)</a:t>
            </a:r>
          </a:p>
          <a:p>
            <a:pPr algn="just" eaLnBrk="1" hangingPunct="1">
              <a:lnSpc>
                <a:spcPct val="90000"/>
              </a:lnSpc>
              <a:buFontTx/>
              <a:buChar char="•"/>
            </a:pPr>
            <a:endParaRPr lang="en-US" altLang="en-US" sz="36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9D7C21F-9466-721D-3D6A-16923829F74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ios format functions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1CD7E315-8936-F8D7-F590-2161FC48749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endParaRPr lang="en-US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689D639-D040-11F2-59D4-3DA0103D734E}"/>
              </a:ext>
            </a:extLst>
          </p:cNvPr>
          <p:cNvGraphicFramePr>
            <a:graphicFrameLocks noGrp="1"/>
          </p:cNvGraphicFramePr>
          <p:nvPr/>
        </p:nvGraphicFramePr>
        <p:xfrm>
          <a:off x="381000" y="1397000"/>
          <a:ext cx="8382000" cy="4116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75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Function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task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64">
                <a:tc>
                  <a:txBody>
                    <a:bodyPr/>
                    <a:lstStyle/>
                    <a:p>
                      <a:r>
                        <a:rPr lang="en-US" sz="1800" dirty="0"/>
                        <a:t>width()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 specify the required</a:t>
                      </a:r>
                      <a:r>
                        <a:rPr lang="en-US" sz="1800" baseline="0" dirty="0"/>
                        <a:t> field size for displaying output value</a:t>
                      </a:r>
                      <a:endParaRPr lang="en-US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376">
                <a:tc>
                  <a:txBody>
                    <a:bodyPr/>
                    <a:lstStyle/>
                    <a:p>
                      <a:r>
                        <a:rPr lang="en-US" sz="1800" dirty="0"/>
                        <a:t>precision()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 specify number of digits</a:t>
                      </a:r>
                      <a:r>
                        <a:rPr lang="en-US" sz="1800" baseline="0" dirty="0"/>
                        <a:t> to be displayed after the decimal point of float number</a:t>
                      </a:r>
                      <a:endParaRPr lang="en-US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64">
                <a:tc>
                  <a:txBody>
                    <a:bodyPr/>
                    <a:lstStyle/>
                    <a:p>
                      <a:r>
                        <a:rPr lang="en-US" sz="1800" dirty="0"/>
                        <a:t>fill()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 specify</a:t>
                      </a:r>
                      <a:r>
                        <a:rPr lang="en-US" sz="1800" baseline="0" dirty="0"/>
                        <a:t> a character used to fill the unused portion of a field</a:t>
                      </a:r>
                      <a:endParaRPr lang="en-US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376">
                <a:tc>
                  <a:txBody>
                    <a:bodyPr/>
                    <a:lstStyle/>
                    <a:p>
                      <a:r>
                        <a:rPr lang="en-US" sz="1800" dirty="0" err="1"/>
                        <a:t>setf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 specify</a:t>
                      </a:r>
                      <a:r>
                        <a:rPr lang="en-US" sz="1800" baseline="0" dirty="0"/>
                        <a:t> format flags to control the form of output display like left justification etc</a:t>
                      </a:r>
                      <a:endParaRPr lang="en-US" sz="1800" dirty="0"/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754">
                <a:tc>
                  <a:txBody>
                    <a:bodyPr/>
                    <a:lstStyle/>
                    <a:p>
                      <a:r>
                        <a:rPr lang="en-US" sz="1800" dirty="0" err="1"/>
                        <a:t>unsetf</a:t>
                      </a:r>
                      <a:r>
                        <a:rPr lang="en-US" sz="1800" dirty="0"/>
                        <a:t>()</a:t>
                      </a:r>
                    </a:p>
                  </a:txBody>
                  <a:tcPr marT="45719" marB="45719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To clear the flags specified</a:t>
                      </a:r>
                    </a:p>
                  </a:txBody>
                  <a:tcPr marT="45719" marB="45719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84CC7166-83B8-C09A-3B44-2CDA82FD0FD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width()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C56F1EA-9FA8-E2E8-445C-01B45706978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Used to define field width for the ouput of an item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It is a member function we need to use object to invoke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syntax : cout.width(w);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Here w is a number of columns. If the specified width is less than size of value c++ expands the field to fit value.</a:t>
            </a:r>
          </a:p>
          <a:p>
            <a:pPr algn="just" eaLnBrk="1" hangingPunct="1">
              <a:buFontTx/>
              <a:buChar char="•"/>
            </a:pPr>
            <a:r>
              <a:rPr lang="en-US" altLang="en-US" sz="2800">
                <a:latin typeface="Times New Roman" panose="02020603050405020304" pitchFamily="18" charset="0"/>
              </a:rPr>
              <a:t> it can be applied to only one item after that it will revert back to the default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Eg: cout.width(5);</a:t>
            </a: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       cout &lt;&lt; 123 &lt;&lt; 45&lt;&lt;endl;</a:t>
            </a:r>
          </a:p>
          <a:p>
            <a:pPr algn="just" eaLnBrk="1" hangingPunct="1"/>
            <a:endParaRPr lang="en-US" altLang="en-US" sz="280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sz="2800">
                <a:latin typeface="Times New Roman" panose="02020603050405020304" pitchFamily="18" charset="0"/>
              </a:rPr>
              <a:t>cout.width(5);   cout&lt;&lt; 123;  cout.width(5); cout&lt;&lt; 45;</a:t>
            </a:r>
          </a:p>
          <a:p>
            <a:pPr algn="just" eaLnBrk="1" hangingPunct="1"/>
            <a:endParaRPr lang="en-US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F49DFE-C05A-9BF4-0BE6-9C61D7AFC393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5114925"/>
          <a:ext cx="60960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7269886-64F9-06F4-DEB1-4332812385F3}"/>
              </a:ext>
            </a:extLst>
          </p:cNvPr>
          <p:cNvGraphicFramePr>
            <a:graphicFrameLocks noGrp="1"/>
          </p:cNvGraphicFramePr>
          <p:nvPr/>
        </p:nvGraphicFramePr>
        <p:xfrm>
          <a:off x="914400" y="6257925"/>
          <a:ext cx="6096000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endParaRPr lang="en-US" sz="1800"/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 marT="45798" marB="45798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T="45798" marB="4579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1F7826F-02DB-D367-A1F0-633C2685F3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precision()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57DDA0B-0AEA-48D1-29EA-C4FCE4C8434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/>
              <a:t>When outputting floating-point values, you can determine the number of digits of precision by using the </a:t>
            </a:r>
            <a:r>
              <a:rPr lang="en-US" altLang="en-US" b="1"/>
              <a:t>precision( ) function. </a:t>
            </a:r>
            <a:endParaRPr lang="en-US" altLang="en-US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altLang="en-US">
                <a:latin typeface="Times New Roman" panose="02020603050405020304" pitchFamily="18" charset="0"/>
              </a:rPr>
              <a:t>Syntax: cout.precision(d);</a:t>
            </a:r>
          </a:p>
          <a:p>
            <a:pPr algn="just" eaLnBrk="1" hangingPunct="1"/>
            <a:r>
              <a:rPr lang="en-US" altLang="en-US">
                <a:latin typeface="Times New Roman" panose="02020603050405020304" pitchFamily="18" charset="0"/>
              </a:rPr>
              <a:t>Eg: cout.precision(3);</a:t>
            </a:r>
          </a:p>
          <a:p>
            <a:pPr algn="just" eaLnBrk="1" hangingPunct="1"/>
            <a:r>
              <a:rPr lang="en-US" altLang="en-US">
                <a:latin typeface="Times New Roman" panose="02020603050405020304" pitchFamily="18" charset="0"/>
              </a:rPr>
              <a:t>cout &lt;&lt; 3.1234 &lt;&lt; endl;</a:t>
            </a:r>
          </a:p>
          <a:p>
            <a:pPr algn="just" eaLnBrk="1" hangingPunct="1"/>
            <a:r>
              <a:rPr lang="en-US" altLang="en-US">
                <a:latin typeface="Times New Roman" panose="02020603050405020304" pitchFamily="18" charset="0"/>
              </a:rPr>
              <a:t>cout &lt;&lt; 2.12345 &lt;&lt;endl;</a:t>
            </a:r>
          </a:p>
          <a:p>
            <a:pPr algn="just" eaLnBrk="1" hangingPunct="1"/>
            <a:endParaRPr lang="en-US" altLang="en-US">
              <a:latin typeface="Times New Roman" panose="02020603050405020304" pitchFamily="18" charset="0"/>
            </a:endParaRPr>
          </a:p>
          <a:p>
            <a:pPr algn="just" eaLnBrk="1" hangingPunct="1">
              <a:buFontTx/>
              <a:buChar char="•"/>
            </a:pPr>
            <a:r>
              <a:rPr lang="en-US" altLang="en-US"/>
              <a:t>The default precision is 6.</a:t>
            </a:r>
            <a:endParaRPr lang="en-US" altLang="en-US">
              <a:latin typeface="Times New Roman" panose="02020603050405020304" pitchFamily="18" charset="0"/>
            </a:endParaRPr>
          </a:p>
          <a:p>
            <a:pPr algn="just" eaLnBrk="1" hangingPunct="1"/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9A00B53-2B2B-0B33-DD90-B222FD572B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fill()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BC21CDC7-7783-07E2-A2A5-66EAD62043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marL="514350" indent="-514350" algn="just">
              <a:buFont typeface="Arial" pitchFamily="34" charset="0"/>
              <a:buChar char="•"/>
              <a:defRPr/>
            </a:pPr>
            <a:r>
              <a:rPr lang="en-US" dirty="0"/>
              <a:t>By default, when a field needs to be filled, it is filled with spaces. </a:t>
            </a:r>
          </a:p>
          <a:p>
            <a:pPr marL="514350" indent="-514350" algn="just">
              <a:buFont typeface="Arial" pitchFamily="34" charset="0"/>
              <a:buChar char="•"/>
              <a:defRPr/>
            </a:pPr>
            <a:r>
              <a:rPr lang="en-US" dirty="0"/>
              <a:t>We can specify the fill character by using the </a:t>
            </a:r>
            <a:r>
              <a:rPr lang="en-US" b="1" dirty="0"/>
              <a:t>fill( ) function. </a:t>
            </a:r>
          </a:p>
          <a:p>
            <a:pPr marL="514350" indent="-514350" algn="just">
              <a:buFont typeface="Arial" pitchFamily="34" charset="0"/>
              <a:buChar char="•"/>
              <a:defRPr/>
            </a:pPr>
            <a:r>
              <a:rPr lang="en-US" b="1" dirty="0"/>
              <a:t>Its prototype is</a:t>
            </a:r>
          </a:p>
          <a:p>
            <a:pPr>
              <a:defRPr/>
            </a:pPr>
            <a:r>
              <a:rPr lang="en-US" dirty="0"/>
              <a:t>char fill(char </a:t>
            </a:r>
            <a:r>
              <a:rPr lang="en-US" i="1" dirty="0" err="1"/>
              <a:t>ch</a:t>
            </a:r>
            <a:r>
              <a:rPr lang="en-US" i="1" dirty="0"/>
              <a:t>);</a:t>
            </a:r>
          </a:p>
          <a:p>
            <a:pPr>
              <a:defRPr/>
            </a:pPr>
            <a:r>
              <a:rPr lang="en-US" dirty="0"/>
              <a:t>After a call to </a:t>
            </a:r>
            <a:r>
              <a:rPr lang="en-US" b="1" dirty="0"/>
              <a:t>fill( ), </a:t>
            </a:r>
            <a:r>
              <a:rPr lang="en-US" b="1" i="1" dirty="0" err="1"/>
              <a:t>ch</a:t>
            </a:r>
            <a:r>
              <a:rPr lang="en-US" b="1" i="1" dirty="0"/>
              <a:t> becomes the new fill character, and the old one is returned.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US" b="1" i="1" dirty="0">
                <a:latin typeface="Times New Roman" pitchFamily="18" charset="0"/>
              </a:rPr>
              <a:t>Stays in effect till we change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CE975372-BE54-7EE3-A05F-5C79BE01F1E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Formatting Using the ios Members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44EDD071-252F-95D3-2AA4-E119955F646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800"/>
              <a:t>Each stream has associated with it a set of format flags that control the way information is formatted. </a:t>
            </a:r>
          </a:p>
          <a:p>
            <a:pPr algn="just">
              <a:buFontTx/>
              <a:buChar char="•"/>
            </a:pPr>
            <a:r>
              <a:rPr lang="en-US" altLang="en-US" sz="2800"/>
              <a:t>The ios class declares a bitmask enumeration called fmtflags in which the following values are defined. </a:t>
            </a:r>
          </a:p>
          <a:p>
            <a:pPr algn="just"/>
            <a:endParaRPr lang="en-US" altLang="en-US" sz="2800"/>
          </a:p>
          <a:p>
            <a:pPr algn="just"/>
            <a:r>
              <a:rPr lang="en-US" altLang="en-US" sz="2800"/>
              <a:t>adjustfield 	basefield 	boolalpha 	dec</a:t>
            </a:r>
          </a:p>
          <a:p>
            <a:pPr algn="just"/>
            <a:r>
              <a:rPr lang="en-US" altLang="en-US" sz="2800"/>
              <a:t>fixed 		floatfield 	internal	hex</a:t>
            </a:r>
          </a:p>
          <a:p>
            <a:pPr algn="just"/>
            <a:r>
              <a:rPr lang="en-US" altLang="en-US" sz="2800"/>
              <a:t>left 		oct 		right 		scientific</a:t>
            </a:r>
          </a:p>
          <a:p>
            <a:pPr algn="just"/>
            <a:r>
              <a:rPr lang="en-US" altLang="en-US" sz="2800"/>
              <a:t>showbase 	showpoint 	showpos 	skipws</a:t>
            </a:r>
          </a:p>
          <a:p>
            <a:pPr algn="just"/>
            <a:r>
              <a:rPr lang="en-US" altLang="en-US" sz="2800"/>
              <a:t>unitbuf 	uppercase</a:t>
            </a:r>
            <a:endParaRPr lang="en-US" altLang="en-US" sz="28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4A415381-483A-B266-11FC-F6FC5188C0B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152400"/>
            <a:ext cx="8686800" cy="64770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800"/>
              <a:t>When the skipws flag is set, leading white-space characters (spaces, tabs, and newlines) are discarded when performing input on a stream. </a:t>
            </a:r>
          </a:p>
          <a:p>
            <a:pPr algn="just">
              <a:buFontTx/>
              <a:buChar char="•"/>
            </a:pPr>
            <a:r>
              <a:rPr lang="en-US" altLang="en-US" sz="2800"/>
              <a:t>When skipws is cleared, white-space characters are not discarded.</a:t>
            </a:r>
          </a:p>
          <a:p>
            <a:pPr algn="just">
              <a:buFontTx/>
              <a:buChar char="•"/>
            </a:pPr>
            <a:r>
              <a:rPr lang="en-US" altLang="en-US" sz="2800"/>
              <a:t>When the left flag is set, output is left justified. </a:t>
            </a:r>
          </a:p>
          <a:p>
            <a:pPr algn="just">
              <a:buFontTx/>
              <a:buChar char="•"/>
            </a:pPr>
            <a:r>
              <a:rPr lang="en-US" altLang="en-US" sz="2800"/>
              <a:t>When right is set, output is right justified. </a:t>
            </a:r>
          </a:p>
          <a:p>
            <a:pPr algn="just">
              <a:buFontTx/>
              <a:buChar char="•"/>
            </a:pPr>
            <a:r>
              <a:rPr lang="en-US" altLang="en-US" sz="2800"/>
              <a:t>When the internal flag is set, a numeric value is padded to fill a field by inserting spaces between any sign or base character.</a:t>
            </a:r>
          </a:p>
          <a:p>
            <a:pPr algn="just">
              <a:buFontTx/>
              <a:buChar char="•"/>
            </a:pPr>
            <a:r>
              <a:rPr lang="en-US" altLang="en-US" sz="2800"/>
              <a:t>If none of these flags are set, output is right</a:t>
            </a:r>
          </a:p>
          <a:p>
            <a:pPr algn="just"/>
            <a:r>
              <a:rPr lang="en-US" altLang="en-US" sz="2800"/>
              <a:t>justified by default.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E146633B-597C-1608-5154-51CD0A706BA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6294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800"/>
              <a:t>By default, numeric values are output in decimal. </a:t>
            </a:r>
          </a:p>
          <a:p>
            <a:pPr algn="just">
              <a:buFontTx/>
              <a:buChar char="•"/>
            </a:pPr>
            <a:r>
              <a:rPr lang="en-US" altLang="en-US" sz="2800"/>
              <a:t>It is possible to change the number base. </a:t>
            </a:r>
          </a:p>
          <a:p>
            <a:pPr algn="just">
              <a:buFontTx/>
              <a:buChar char="•"/>
            </a:pPr>
            <a:r>
              <a:rPr lang="en-US" altLang="en-US" sz="2800"/>
              <a:t>Setting the oct flag causes output to be displayed in octal. </a:t>
            </a:r>
          </a:p>
          <a:p>
            <a:pPr algn="just">
              <a:buFontTx/>
              <a:buChar char="•"/>
            </a:pPr>
            <a:r>
              <a:rPr lang="en-US" altLang="en-US" sz="2800"/>
              <a:t>Setting the hex flag causes output to be displayed in hexadecimal. </a:t>
            </a:r>
          </a:p>
          <a:p>
            <a:pPr algn="just">
              <a:buFontTx/>
              <a:buChar char="•"/>
            </a:pPr>
            <a:r>
              <a:rPr lang="en-US" altLang="en-US" sz="2800"/>
              <a:t>To return output to decimal, set the dec flag.</a:t>
            </a:r>
          </a:p>
          <a:p>
            <a:pPr algn="just">
              <a:buFontTx/>
              <a:buChar char="•"/>
            </a:pPr>
            <a:r>
              <a:rPr lang="en-US" altLang="en-US" sz="2800"/>
              <a:t>Setting showbase causes the base of numeric values to be shown.</a:t>
            </a:r>
          </a:p>
          <a:p>
            <a:pPr algn="just">
              <a:buFontTx/>
              <a:buChar char="•"/>
            </a:pPr>
            <a:r>
              <a:rPr lang="en-US" altLang="en-US" sz="2800"/>
              <a:t>For example, if the conversion base is hexadecimal, the value 1F will be displayed as 0x1F.</a:t>
            </a:r>
          </a:p>
          <a:p>
            <a:pPr algn="just">
              <a:buFontTx/>
              <a:buChar char="•"/>
            </a:pPr>
            <a:r>
              <a:rPr lang="en-US" altLang="en-US" sz="2800"/>
              <a:t>By default, when scientific notation is displayed, the e is in lowercase. Also, when a hexadecimal value is displayed, the x is in lowercase.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>
            <a:extLst>
              <a:ext uri="{FF2B5EF4-FFF2-40B4-BE49-F238E27FC236}">
                <a16:creationId xmlns:a16="http://schemas.microsoft.com/office/drawing/2014/main" id="{3C0067DD-4AA6-44C8-F988-1D0DADCD155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6294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800"/>
              <a:t>When uppercase is set, these characters are displayed in uppercase.</a:t>
            </a:r>
          </a:p>
          <a:p>
            <a:pPr algn="just">
              <a:buFontTx/>
              <a:buChar char="•"/>
            </a:pPr>
            <a:r>
              <a:rPr lang="en-US" altLang="en-US" sz="2800"/>
              <a:t>Setting showpos causes a leading plus sign to be displayed before positive values.</a:t>
            </a:r>
          </a:p>
          <a:p>
            <a:pPr algn="just">
              <a:buFontTx/>
              <a:buChar char="•"/>
            </a:pPr>
            <a:r>
              <a:rPr lang="en-US" altLang="en-US" sz="2800"/>
              <a:t>Setting showpoint causes a decimal point and trailing zeros to be displayed for all floating-point output—whether needed or not.</a:t>
            </a:r>
          </a:p>
          <a:p>
            <a:pPr algn="just">
              <a:buFontTx/>
              <a:buChar char="•"/>
            </a:pPr>
            <a:r>
              <a:rPr lang="en-US" altLang="en-US" sz="2800"/>
              <a:t> By setting the scientific flag, floating-point numeric values are displayed using scientific notation. </a:t>
            </a:r>
          </a:p>
          <a:p>
            <a:pPr algn="just">
              <a:buFontTx/>
              <a:buChar char="•"/>
            </a:pPr>
            <a:r>
              <a:rPr lang="en-US" altLang="en-US" sz="2800"/>
              <a:t>When fixed is set, floating-point values are displayed using normal notation. </a:t>
            </a:r>
          </a:p>
          <a:p>
            <a:pPr algn="just">
              <a:buFontTx/>
              <a:buChar char="•"/>
            </a:pPr>
            <a:r>
              <a:rPr lang="en-US" altLang="en-US" sz="2800"/>
              <a:t>When neither flag is set, the compiler chooses an appropriate method.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AA95E970-898D-1B55-E262-8A6CEB2EC48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6294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800"/>
              <a:t>When unitbuf is set, the buffer is flushed after each insertion operation.</a:t>
            </a:r>
          </a:p>
          <a:p>
            <a:pPr algn="just">
              <a:buFontTx/>
              <a:buChar char="•"/>
            </a:pPr>
            <a:r>
              <a:rPr lang="en-US" altLang="en-US" sz="2800"/>
              <a:t>When boolalpha is set, Booleans can be input or output using the keywords true and false.</a:t>
            </a:r>
          </a:p>
          <a:p>
            <a:pPr algn="just">
              <a:buFontTx/>
              <a:buChar char="•"/>
            </a:pPr>
            <a:r>
              <a:rPr lang="en-US" altLang="en-US" sz="2800"/>
              <a:t>Since it is common to refer to the </a:t>
            </a:r>
            <a:r>
              <a:rPr lang="en-US" altLang="en-US" sz="2800" b="1"/>
              <a:t>oct, dec, and hex </a:t>
            </a:r>
            <a:r>
              <a:rPr lang="en-US" altLang="en-US" sz="2800"/>
              <a:t>fields, they can be collectively referred to as </a:t>
            </a:r>
            <a:r>
              <a:rPr lang="en-US" altLang="en-US" sz="2800" b="1"/>
              <a:t>basefield</a:t>
            </a:r>
            <a:r>
              <a:rPr lang="en-US" altLang="en-US" sz="2800"/>
              <a:t>. </a:t>
            </a:r>
          </a:p>
          <a:p>
            <a:pPr algn="just">
              <a:buFontTx/>
              <a:buChar char="•"/>
            </a:pPr>
            <a:r>
              <a:rPr lang="en-US" altLang="en-US" sz="2800"/>
              <a:t>Similarly, the </a:t>
            </a:r>
            <a:r>
              <a:rPr lang="en-US" altLang="en-US" sz="2800" b="1"/>
              <a:t>left, right, and internal </a:t>
            </a:r>
            <a:r>
              <a:rPr lang="en-US" altLang="en-US" sz="2800"/>
              <a:t>fields can be referred to as adjustfield. </a:t>
            </a:r>
          </a:p>
          <a:p>
            <a:pPr algn="just">
              <a:buFontTx/>
              <a:buChar char="•"/>
            </a:pPr>
            <a:r>
              <a:rPr lang="en-US" altLang="en-US" sz="2800"/>
              <a:t>Finally, the </a:t>
            </a:r>
            <a:r>
              <a:rPr lang="en-US" altLang="en-US" sz="2800" b="1"/>
              <a:t>scientific and fixed </a:t>
            </a:r>
            <a:r>
              <a:rPr lang="en-US" altLang="en-US" sz="2800"/>
              <a:t>fields can be referenced as </a:t>
            </a:r>
            <a:r>
              <a:rPr lang="en-US" altLang="en-US" sz="2800" b="1"/>
              <a:t>floatfield</a:t>
            </a:r>
            <a:r>
              <a:rPr lang="en-US" altLang="en-US" sz="2800"/>
              <a:t>.</a:t>
            </a:r>
            <a:endParaRPr lang="en-US" altLang="en-US" sz="20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EB1D242-A6F5-2D1B-84B3-D7005785018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Setting the format flags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5EEC8546-3A77-F4C2-1EE8-CB12E8B5D84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400"/>
              <a:t>To set a flag, use the setf( ) function. </a:t>
            </a:r>
          </a:p>
          <a:p>
            <a:pPr algn="just">
              <a:buFontTx/>
              <a:buChar char="•"/>
            </a:pPr>
            <a:r>
              <a:rPr lang="en-US" altLang="en-US" sz="2400"/>
              <a:t>This function is a member of ios.</a:t>
            </a:r>
          </a:p>
          <a:p>
            <a:pPr algn="just">
              <a:buFontTx/>
              <a:buChar char="•"/>
            </a:pPr>
            <a:r>
              <a:rPr lang="en-US" altLang="en-US" sz="2400"/>
              <a:t> Its most common form is shown here:</a:t>
            </a:r>
          </a:p>
          <a:p>
            <a:r>
              <a:rPr lang="en-US" altLang="en-US" sz="2400">
                <a:solidFill>
                  <a:srgbClr val="00B0F0"/>
                </a:solidFill>
              </a:rPr>
              <a:t>fmtflags setf(fmtflags </a:t>
            </a:r>
            <a:r>
              <a:rPr lang="en-US" altLang="en-US" sz="2400" i="1">
                <a:solidFill>
                  <a:srgbClr val="00B0F0"/>
                </a:solidFill>
              </a:rPr>
              <a:t>flags);</a:t>
            </a:r>
          </a:p>
          <a:p>
            <a:pPr algn="just">
              <a:buFontTx/>
              <a:buChar char="•"/>
            </a:pPr>
            <a:r>
              <a:rPr lang="en-US" altLang="en-US" sz="2400"/>
              <a:t>This function returns the previous settings of the format flags and turns on those flags specified by </a:t>
            </a:r>
            <a:r>
              <a:rPr lang="en-US" altLang="en-US" sz="2400" i="1"/>
              <a:t>flags. </a:t>
            </a:r>
          </a:p>
          <a:p>
            <a:pPr algn="just">
              <a:buFontTx/>
              <a:buChar char="•"/>
            </a:pPr>
            <a:r>
              <a:rPr lang="en-US" altLang="en-US" sz="2400" i="1"/>
              <a:t>For example, to turn on the showpos flag, you can use this statement:</a:t>
            </a:r>
          </a:p>
          <a:p>
            <a:r>
              <a:rPr lang="en-US" altLang="en-US" sz="2400"/>
              <a:t>stream.setf(ios::showpos);</a:t>
            </a:r>
          </a:p>
          <a:p>
            <a:pPr algn="just"/>
            <a:r>
              <a:rPr lang="en-US" altLang="en-US" sz="2400"/>
              <a:t>Here, </a:t>
            </a:r>
            <a:r>
              <a:rPr lang="en-US" altLang="en-US" sz="2400" i="1"/>
              <a:t>stream is the stream you wish to affect. </a:t>
            </a:r>
          </a:p>
          <a:p>
            <a:pPr algn="just"/>
            <a:r>
              <a:rPr lang="en-US" altLang="en-US" sz="2400" i="1"/>
              <a:t>***Notice the use of ios:: to qualify showpos. </a:t>
            </a:r>
            <a:r>
              <a:rPr lang="en-US" altLang="en-US" sz="2400"/>
              <a:t>Since showpos is an enumerated constant defined by the ios class, it must be qualified by ios when it is used.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B423F1DE-E30D-B009-670E-8CE4AB7E243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Clearing the format flags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B2D39B-1042-96CC-5ABB-2D3D3BA587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400" b="1"/>
              <a:t>unsetf( ) member function of ios is used to clear one </a:t>
            </a:r>
            <a:r>
              <a:rPr lang="en-US" altLang="en-US" sz="2400"/>
              <a:t>or more format flags.</a:t>
            </a:r>
          </a:p>
          <a:p>
            <a:pPr algn="just">
              <a:buFontTx/>
              <a:buChar char="•"/>
            </a:pPr>
            <a:r>
              <a:rPr lang="en-US" altLang="en-US" sz="2400"/>
              <a:t> Its general form is</a:t>
            </a:r>
          </a:p>
          <a:p>
            <a:r>
              <a:rPr lang="en-US" altLang="en-US" sz="2400">
                <a:solidFill>
                  <a:srgbClr val="00B0F0"/>
                </a:solidFill>
              </a:rPr>
              <a:t>void unsetf(fmtflags </a:t>
            </a:r>
            <a:r>
              <a:rPr lang="en-US" altLang="en-US" sz="2400" i="1">
                <a:solidFill>
                  <a:srgbClr val="00B0F0"/>
                </a:solidFill>
              </a:rPr>
              <a:t>flags);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flags specified by </a:t>
            </a:r>
            <a:r>
              <a:rPr lang="en-US" altLang="en-US" sz="2400" i="1"/>
              <a:t>flags are cleared. (All other flags are unaffected.)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1E64FB7-CEFE-38C0-3106-DE836D5B0E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Examining the flags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396D039-7C2D-899B-74D6-1BA3C1849C7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400"/>
              <a:t>There will be times when you only want to know the current format settings but not alter any. </a:t>
            </a:r>
          </a:p>
          <a:p>
            <a:pPr algn="just">
              <a:buFontTx/>
              <a:buChar char="•"/>
            </a:pPr>
            <a:r>
              <a:rPr lang="en-US" altLang="en-US" sz="2400"/>
              <a:t>To accomplish this goal, ios includes the member function flags( ), which simply returns the current setting of each format flag. </a:t>
            </a:r>
          </a:p>
          <a:p>
            <a:pPr algn="just">
              <a:buFontTx/>
              <a:buChar char="•"/>
            </a:pPr>
            <a:r>
              <a:rPr lang="en-US" altLang="en-US" sz="2400"/>
              <a:t>Its prototype is shown here:</a:t>
            </a:r>
          </a:p>
          <a:p>
            <a:r>
              <a:rPr lang="en-US" altLang="en-US" sz="2400">
                <a:solidFill>
                  <a:srgbClr val="00B0F0"/>
                </a:solidFill>
              </a:rPr>
              <a:t>fmtflags flags();</a:t>
            </a:r>
            <a:endParaRPr lang="en-US" altLang="en-US" sz="2400">
              <a:solidFill>
                <a:srgbClr val="00B0F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F9034C9-B090-B462-9C69-6444023107C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/>
              <a:t>Setting all flags</a:t>
            </a:r>
            <a:endParaRPr lang="en-US" altLang="en-US" sz="2800">
              <a:solidFill>
                <a:schemeClr val="accent2"/>
              </a:solidFill>
            </a:endParaRP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E399EC4-0128-BBE8-AD53-EAA072577E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400"/>
              <a:t>The flags( ) function has a second form that allows you to set all format flags associated with a stream.</a:t>
            </a:r>
          </a:p>
          <a:p>
            <a:pPr algn="just">
              <a:buFontTx/>
              <a:buChar char="•"/>
            </a:pPr>
            <a:r>
              <a:rPr lang="en-US" altLang="en-US" sz="2400"/>
              <a:t> The prototype for this version of flags( ) is shown here:</a:t>
            </a:r>
          </a:p>
          <a:p>
            <a:r>
              <a:rPr lang="en-US" altLang="en-US" sz="2400">
                <a:solidFill>
                  <a:srgbClr val="00B0F0"/>
                </a:solidFill>
              </a:rPr>
              <a:t>fmtflags flags(fmtflags </a:t>
            </a:r>
            <a:r>
              <a:rPr lang="en-US" altLang="en-US" sz="2400" i="1">
                <a:solidFill>
                  <a:srgbClr val="00B0F0"/>
                </a:solidFill>
              </a:rPr>
              <a:t>f);</a:t>
            </a:r>
          </a:p>
          <a:p>
            <a:pPr algn="just">
              <a:buFontTx/>
              <a:buChar char="•"/>
            </a:pPr>
            <a:r>
              <a:rPr lang="en-US" altLang="en-US" sz="2400"/>
              <a:t>When you use this version, the bit pattern found in </a:t>
            </a:r>
            <a:r>
              <a:rPr lang="en-US" altLang="en-US" sz="2400" i="1"/>
              <a:t>f is used to set the format flags </a:t>
            </a:r>
            <a:r>
              <a:rPr lang="en-US" altLang="en-US" sz="2400"/>
              <a:t>associated with the stream. </a:t>
            </a:r>
          </a:p>
          <a:p>
            <a:pPr algn="just">
              <a:buFontTx/>
              <a:buChar char="•"/>
            </a:pPr>
            <a:r>
              <a:rPr lang="en-US" altLang="en-US" sz="2400"/>
              <a:t>Thus, all format flags are affected. </a:t>
            </a:r>
          </a:p>
          <a:p>
            <a:pPr algn="just">
              <a:buFontTx/>
              <a:buChar char="•"/>
            </a:pPr>
            <a:r>
              <a:rPr lang="en-US" altLang="en-US" sz="2400"/>
              <a:t>The function returns the previous settings.</a:t>
            </a:r>
            <a:endParaRPr lang="en-US" altLang="en-US" sz="2400">
              <a:solidFill>
                <a:srgbClr val="00B0F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EC7F06A3-78AB-D393-81E7-D81ED781B62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Using manipulators to format I/O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E865347-4FBC-4F96-EB4A-0997F33A025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400"/>
              <a:t>The second way you can alter the format parameters of a stream is through the use of special functions called </a:t>
            </a:r>
            <a:r>
              <a:rPr lang="en-US" altLang="en-US" sz="2400" i="1"/>
              <a:t>manipulators that can be included in an I/O expression. </a:t>
            </a:r>
          </a:p>
          <a:p>
            <a:pPr algn="just">
              <a:buFontTx/>
              <a:buChar char="•"/>
            </a:pPr>
            <a:r>
              <a:rPr lang="en-US" altLang="en-US" sz="2400"/>
              <a:t>Many of the I/O manipulators parallel member functions of the ios class. </a:t>
            </a:r>
          </a:p>
          <a:p>
            <a:pPr algn="just">
              <a:buFontTx/>
              <a:buChar char="•"/>
            </a:pPr>
            <a:r>
              <a:rPr lang="en-US" altLang="en-US" sz="2400"/>
              <a:t>Many of the manipulators were added recently to C++ and will not be supported by older compilers.</a:t>
            </a:r>
            <a:endParaRPr lang="en-US" altLang="en-US" sz="2400">
              <a:solidFill>
                <a:srgbClr val="00B0F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>
            <a:extLst>
              <a:ext uri="{FF2B5EF4-FFF2-40B4-BE49-F238E27FC236}">
                <a16:creationId xmlns:a16="http://schemas.microsoft.com/office/drawing/2014/main" id="{27CD3B48-AA8D-0AE1-7BA8-3792489C73A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629400"/>
          </a:xfrm>
        </p:spPr>
        <p:txBody>
          <a:bodyPr/>
          <a:lstStyle/>
          <a:p>
            <a:pPr algn="just">
              <a:buFontTx/>
              <a:buChar char="•"/>
            </a:pPr>
            <a:endParaRPr lang="en-US" altLang="en-US" sz="2000">
              <a:latin typeface="Times New Roman" panose="02020603050405020304" pitchFamily="18" charset="0"/>
            </a:endParaRPr>
          </a:p>
        </p:txBody>
      </p:sp>
      <p:pic>
        <p:nvPicPr>
          <p:cNvPr id="17411" name="Picture 3">
            <a:extLst>
              <a:ext uri="{FF2B5EF4-FFF2-40B4-BE49-F238E27FC236}">
                <a16:creationId xmlns:a16="http://schemas.microsoft.com/office/drawing/2014/main" id="{AD39C4AF-BCB9-B7FD-C83E-7F2FACDF0B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285750"/>
            <a:ext cx="8896350" cy="628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>
            <a:extLst>
              <a:ext uri="{FF2B5EF4-FFF2-40B4-BE49-F238E27FC236}">
                <a16:creationId xmlns:a16="http://schemas.microsoft.com/office/drawing/2014/main" id="{206C5951-2914-3986-702D-30B7BEA2FD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629400"/>
          </a:xfrm>
        </p:spPr>
        <p:txBody>
          <a:bodyPr/>
          <a:lstStyle/>
          <a:p>
            <a:pPr algn="just"/>
            <a:endParaRPr lang="en-US" altLang="en-US" sz="2000">
              <a:latin typeface="Times New Roman" panose="02020603050405020304" pitchFamily="18" charset="0"/>
            </a:endParaRP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5201A6E5-0B3A-55B2-69E9-B64A3F0D4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533400"/>
            <a:ext cx="7707313" cy="599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3">
            <a:extLst>
              <a:ext uri="{FF2B5EF4-FFF2-40B4-BE49-F238E27FC236}">
                <a16:creationId xmlns:a16="http://schemas.microsoft.com/office/drawing/2014/main" id="{E578BC0B-1B35-AD11-82DA-F7D914F1DA9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228600"/>
            <a:ext cx="8686800" cy="6629400"/>
          </a:xfrm>
        </p:spPr>
        <p:txBody>
          <a:bodyPr/>
          <a:lstStyle/>
          <a:p>
            <a:pPr algn="just"/>
            <a:endParaRPr lang="en-US" altLang="en-US" sz="2000">
              <a:latin typeface="Times New Roman" panose="02020603050405020304" pitchFamily="18" charset="0"/>
            </a:endParaRPr>
          </a:p>
        </p:txBody>
      </p:sp>
      <p:pic>
        <p:nvPicPr>
          <p:cNvPr id="19459" name="Picture 3">
            <a:extLst>
              <a:ext uri="{FF2B5EF4-FFF2-40B4-BE49-F238E27FC236}">
                <a16:creationId xmlns:a16="http://schemas.microsoft.com/office/drawing/2014/main" id="{F865929B-8AF7-5E3B-E03A-D76DB419A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46275"/>
            <a:ext cx="8763000" cy="265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8935C96-296C-D18D-DE00-99C4EC2F05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en-US" altLang="en-US" sz="2800">
                <a:solidFill>
                  <a:schemeClr val="accent2"/>
                </a:solidFill>
              </a:rPr>
              <a:t>Creating our own manipulator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37804C4-7D0E-9A90-D50E-552C5CE5ED6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28600" y="609600"/>
            <a:ext cx="8686800" cy="6019800"/>
          </a:xfrm>
        </p:spPr>
        <p:txBody>
          <a:bodyPr/>
          <a:lstStyle/>
          <a:p>
            <a:pPr algn="just"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we can design our own manipulator for special purpose</a:t>
            </a:r>
          </a:p>
          <a:p>
            <a:pPr algn="just">
              <a:buFontTx/>
              <a:buChar char="•"/>
            </a:pPr>
            <a:r>
              <a:rPr lang="en-US" altLang="en-US" sz="2400">
                <a:latin typeface="Times New Roman" panose="02020603050405020304" pitchFamily="18" charset="0"/>
              </a:rPr>
              <a:t>The general form of manipulator without any args</a:t>
            </a:r>
          </a:p>
          <a:p>
            <a:pPr algn="just"/>
            <a:endParaRPr lang="en-US" altLang="en-US" sz="240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ostream &amp; manipulator (ostream &amp; output)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{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	-----------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	--------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	return output;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}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Eg: ostream &amp; unit (ostream &amp; output)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       {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	output&lt;&lt; “inches”;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	return output;</a:t>
            </a:r>
          </a:p>
          <a:p>
            <a:pPr algn="just"/>
            <a:r>
              <a:rPr lang="en-US" altLang="en-US" sz="2400">
                <a:latin typeface="Times New Roman" panose="02020603050405020304" pitchFamily="18" charset="0"/>
              </a:rPr>
              <a:t>        }	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</TotalTime>
  <Words>1280</Words>
  <Application>Microsoft Office PowerPoint</Application>
  <PresentationFormat>On-screen Show (4:3)</PresentationFormat>
  <Paragraphs>136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Default Design</vt:lpstr>
      <vt:lpstr>Formatted console I/O operations</vt:lpstr>
      <vt:lpstr>ios format functions</vt:lpstr>
      <vt:lpstr>width()</vt:lpstr>
      <vt:lpstr>precision()</vt:lpstr>
      <vt:lpstr>fill()</vt:lpstr>
      <vt:lpstr>Formatting Using the ios Members</vt:lpstr>
      <vt:lpstr>PowerPoint Presentation</vt:lpstr>
      <vt:lpstr>PowerPoint Presentation</vt:lpstr>
      <vt:lpstr>PowerPoint Presentation</vt:lpstr>
      <vt:lpstr>PowerPoint Presentation</vt:lpstr>
      <vt:lpstr>Setting the format flags</vt:lpstr>
      <vt:lpstr>Clearing the format flags</vt:lpstr>
      <vt:lpstr>Examining the flags</vt:lpstr>
      <vt:lpstr>Setting all flags</vt:lpstr>
      <vt:lpstr>Using manipulators to format I/O</vt:lpstr>
      <vt:lpstr>PowerPoint Presentation</vt:lpstr>
      <vt:lpstr>PowerPoint Presentation</vt:lpstr>
      <vt:lpstr>PowerPoint Presentation</vt:lpstr>
      <vt:lpstr>Creating our own manipulator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S Bhavani</cp:lastModifiedBy>
  <cp:revision>385</cp:revision>
  <cp:lastPrinted>1601-01-01T00:00:00Z</cp:lastPrinted>
  <dcterms:created xsi:type="dcterms:W3CDTF">1601-01-01T00:00:00Z</dcterms:created>
  <dcterms:modified xsi:type="dcterms:W3CDTF">2026-04-07T06:30:09Z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